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183"/>
  </p:notesMasterIdLst>
  <p:sldIdLst>
    <p:sldId id="356" r:id="rId2"/>
    <p:sldId id="357" r:id="rId3"/>
    <p:sldId id="358" r:id="rId4"/>
    <p:sldId id="359" r:id="rId5"/>
    <p:sldId id="360" r:id="rId6"/>
    <p:sldId id="361" r:id="rId7"/>
    <p:sldId id="362" r:id="rId8"/>
    <p:sldId id="363" r:id="rId9"/>
    <p:sldId id="364" r:id="rId10"/>
    <p:sldId id="365" r:id="rId11"/>
    <p:sldId id="366" r:id="rId12"/>
    <p:sldId id="367" r:id="rId13"/>
    <p:sldId id="368" r:id="rId14"/>
    <p:sldId id="369" r:id="rId15"/>
    <p:sldId id="370" r:id="rId16"/>
    <p:sldId id="371" r:id="rId17"/>
    <p:sldId id="372" r:id="rId18"/>
    <p:sldId id="373" r:id="rId19"/>
    <p:sldId id="374" r:id="rId20"/>
    <p:sldId id="375" r:id="rId21"/>
    <p:sldId id="376" r:id="rId22"/>
    <p:sldId id="377" r:id="rId23"/>
    <p:sldId id="378" r:id="rId24"/>
    <p:sldId id="379" r:id="rId25"/>
    <p:sldId id="380" r:id="rId26"/>
    <p:sldId id="381" r:id="rId27"/>
    <p:sldId id="382" r:id="rId28"/>
    <p:sldId id="383" r:id="rId29"/>
    <p:sldId id="384" r:id="rId30"/>
    <p:sldId id="385" r:id="rId31"/>
    <p:sldId id="386" r:id="rId32"/>
    <p:sldId id="387" r:id="rId33"/>
    <p:sldId id="388" r:id="rId34"/>
    <p:sldId id="389" r:id="rId35"/>
    <p:sldId id="390" r:id="rId36"/>
    <p:sldId id="391" r:id="rId37"/>
    <p:sldId id="392" r:id="rId38"/>
    <p:sldId id="393" r:id="rId39"/>
    <p:sldId id="394" r:id="rId40"/>
    <p:sldId id="395" r:id="rId41"/>
    <p:sldId id="396" r:id="rId42"/>
    <p:sldId id="397" r:id="rId43"/>
    <p:sldId id="398" r:id="rId44"/>
    <p:sldId id="399" r:id="rId45"/>
    <p:sldId id="400" r:id="rId46"/>
    <p:sldId id="401" r:id="rId47"/>
    <p:sldId id="402" r:id="rId48"/>
    <p:sldId id="403" r:id="rId49"/>
    <p:sldId id="404" r:id="rId50"/>
    <p:sldId id="405" r:id="rId51"/>
    <p:sldId id="406" r:id="rId52"/>
    <p:sldId id="407" r:id="rId53"/>
    <p:sldId id="408" r:id="rId54"/>
    <p:sldId id="409" r:id="rId55"/>
    <p:sldId id="410" r:id="rId56"/>
    <p:sldId id="411" r:id="rId57"/>
    <p:sldId id="412" r:id="rId58"/>
    <p:sldId id="413" r:id="rId59"/>
    <p:sldId id="414" r:id="rId60"/>
    <p:sldId id="415" r:id="rId61"/>
    <p:sldId id="416" r:id="rId62"/>
    <p:sldId id="417" r:id="rId63"/>
    <p:sldId id="418" r:id="rId64"/>
    <p:sldId id="419" r:id="rId65"/>
    <p:sldId id="420" r:id="rId66"/>
    <p:sldId id="421" r:id="rId67"/>
    <p:sldId id="422" r:id="rId68"/>
    <p:sldId id="423" r:id="rId69"/>
    <p:sldId id="424" r:id="rId70"/>
    <p:sldId id="425" r:id="rId71"/>
    <p:sldId id="426" r:id="rId72"/>
    <p:sldId id="427" r:id="rId73"/>
    <p:sldId id="428" r:id="rId74"/>
    <p:sldId id="429" r:id="rId75"/>
    <p:sldId id="430" r:id="rId76"/>
    <p:sldId id="431" r:id="rId77"/>
    <p:sldId id="432" r:id="rId78"/>
    <p:sldId id="433" r:id="rId79"/>
    <p:sldId id="434" r:id="rId80"/>
    <p:sldId id="435" r:id="rId81"/>
    <p:sldId id="436" r:id="rId82"/>
    <p:sldId id="437" r:id="rId83"/>
    <p:sldId id="438" r:id="rId84"/>
    <p:sldId id="439" r:id="rId85"/>
    <p:sldId id="440" r:id="rId86"/>
    <p:sldId id="441" r:id="rId87"/>
    <p:sldId id="442" r:id="rId88"/>
    <p:sldId id="443" r:id="rId89"/>
    <p:sldId id="444" r:id="rId90"/>
    <p:sldId id="445" r:id="rId91"/>
    <p:sldId id="446" r:id="rId92"/>
    <p:sldId id="447" r:id="rId93"/>
    <p:sldId id="448" r:id="rId94"/>
    <p:sldId id="449" r:id="rId95"/>
    <p:sldId id="450" r:id="rId96"/>
    <p:sldId id="451" r:id="rId97"/>
    <p:sldId id="452" r:id="rId98"/>
    <p:sldId id="453" r:id="rId99"/>
    <p:sldId id="454" r:id="rId100"/>
    <p:sldId id="543" r:id="rId101"/>
    <p:sldId id="456" r:id="rId102"/>
    <p:sldId id="457" r:id="rId103"/>
    <p:sldId id="458" r:id="rId104"/>
    <p:sldId id="459" r:id="rId105"/>
    <p:sldId id="460" r:id="rId106"/>
    <p:sldId id="461" r:id="rId107"/>
    <p:sldId id="462" r:id="rId108"/>
    <p:sldId id="463" r:id="rId109"/>
    <p:sldId id="464" r:id="rId110"/>
    <p:sldId id="465" r:id="rId111"/>
    <p:sldId id="466" r:id="rId112"/>
    <p:sldId id="467" r:id="rId113"/>
    <p:sldId id="468" r:id="rId114"/>
    <p:sldId id="469" r:id="rId115"/>
    <p:sldId id="470" r:id="rId116"/>
    <p:sldId id="471" r:id="rId117"/>
    <p:sldId id="472" r:id="rId118"/>
    <p:sldId id="473" r:id="rId119"/>
    <p:sldId id="474" r:id="rId120"/>
    <p:sldId id="475" r:id="rId121"/>
    <p:sldId id="476" r:id="rId122"/>
    <p:sldId id="477" r:id="rId123"/>
    <p:sldId id="478" r:id="rId124"/>
    <p:sldId id="479" r:id="rId125"/>
    <p:sldId id="480" r:id="rId126"/>
    <p:sldId id="481" r:id="rId127"/>
    <p:sldId id="482" r:id="rId128"/>
    <p:sldId id="483" r:id="rId129"/>
    <p:sldId id="484" r:id="rId130"/>
    <p:sldId id="485" r:id="rId131"/>
    <p:sldId id="486" r:id="rId132"/>
    <p:sldId id="487" r:id="rId133"/>
    <p:sldId id="488" r:id="rId134"/>
    <p:sldId id="489" r:id="rId135"/>
    <p:sldId id="490" r:id="rId136"/>
    <p:sldId id="491" r:id="rId137"/>
    <p:sldId id="492" r:id="rId138"/>
    <p:sldId id="493" r:id="rId139"/>
    <p:sldId id="494" r:id="rId140"/>
    <p:sldId id="495" r:id="rId141"/>
    <p:sldId id="496" r:id="rId142"/>
    <p:sldId id="497" r:id="rId143"/>
    <p:sldId id="498" r:id="rId144"/>
    <p:sldId id="499" r:id="rId145"/>
    <p:sldId id="500" r:id="rId146"/>
    <p:sldId id="501" r:id="rId147"/>
    <p:sldId id="502" r:id="rId148"/>
    <p:sldId id="503" r:id="rId149"/>
    <p:sldId id="504" r:id="rId150"/>
    <p:sldId id="505" r:id="rId151"/>
    <p:sldId id="506" r:id="rId152"/>
    <p:sldId id="507" r:id="rId153"/>
    <p:sldId id="508" r:id="rId154"/>
    <p:sldId id="510" r:id="rId155"/>
    <p:sldId id="511" r:id="rId156"/>
    <p:sldId id="512" r:id="rId157"/>
    <p:sldId id="513" r:id="rId158"/>
    <p:sldId id="514" r:id="rId159"/>
    <p:sldId id="515" r:id="rId160"/>
    <p:sldId id="516" r:id="rId161"/>
    <p:sldId id="517" r:id="rId162"/>
    <p:sldId id="518" r:id="rId163"/>
    <p:sldId id="519" r:id="rId164"/>
    <p:sldId id="520" r:id="rId165"/>
    <p:sldId id="521" r:id="rId166"/>
    <p:sldId id="522" r:id="rId167"/>
    <p:sldId id="523" r:id="rId168"/>
    <p:sldId id="524" r:id="rId169"/>
    <p:sldId id="525" r:id="rId170"/>
    <p:sldId id="526" r:id="rId171"/>
    <p:sldId id="527" r:id="rId172"/>
    <p:sldId id="528" r:id="rId173"/>
    <p:sldId id="529" r:id="rId174"/>
    <p:sldId id="530" r:id="rId175"/>
    <p:sldId id="531" r:id="rId176"/>
    <p:sldId id="532" r:id="rId177"/>
    <p:sldId id="533" r:id="rId178"/>
    <p:sldId id="534" r:id="rId179"/>
    <p:sldId id="535" r:id="rId180"/>
    <p:sldId id="536" r:id="rId181"/>
    <p:sldId id="537" r:id="rId182"/>
  </p:sldIdLst>
  <p:sldSz cx="9144000" cy="6858000" type="screen4x3"/>
  <p:notesSz cx="6858000" cy="9144000"/>
  <p:defaultTextStyle>
    <a:defPPr>
      <a:defRPr lang="zh-CN"/>
    </a:defPPr>
    <a:lvl1pPr algn="l" rtl="0" fontAlgn="base">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9900CC"/>
    <a:srgbClr val="CCCC00"/>
    <a:srgbClr val="FF9900"/>
    <a:srgbClr val="FF0000"/>
    <a:srgbClr val="FFFF99"/>
    <a:srgbClr val="666633"/>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46" autoAdjust="0"/>
    <p:restoredTop sz="95669" autoAdjust="0"/>
  </p:normalViewPr>
  <p:slideViewPr>
    <p:cSldViewPr>
      <p:cViewPr varScale="1">
        <p:scale>
          <a:sx n="64" d="100"/>
          <a:sy n="64" d="100"/>
        </p:scale>
        <p:origin x="1578" y="2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Lst>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tableStyles" Target="tableStyles.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_rels/viewProps.xml.rels><?xml version="1.0" encoding="UTF-8" standalone="yes"?>
<Relationships xmlns="http://schemas.openxmlformats.org/package/2006/relationships"><Relationship Id="rId13" Type="http://schemas.openxmlformats.org/officeDocument/2006/relationships/slide" Target="slides/slide56.xml"/><Relationship Id="rId18" Type="http://schemas.openxmlformats.org/officeDocument/2006/relationships/slide" Target="slides/slide74.xml"/><Relationship Id="rId26" Type="http://schemas.openxmlformats.org/officeDocument/2006/relationships/slide" Target="slides/slide120.xml"/><Relationship Id="rId39" Type="http://schemas.openxmlformats.org/officeDocument/2006/relationships/slide" Target="slides/slide164.xml"/><Relationship Id="rId21" Type="http://schemas.openxmlformats.org/officeDocument/2006/relationships/slide" Target="slides/slide96.xml"/><Relationship Id="rId34" Type="http://schemas.openxmlformats.org/officeDocument/2006/relationships/slide" Target="slides/slide151.xml"/><Relationship Id="rId42" Type="http://schemas.openxmlformats.org/officeDocument/2006/relationships/slide" Target="slides/slide170.xml"/><Relationship Id="rId47" Type="http://schemas.openxmlformats.org/officeDocument/2006/relationships/slide" Target="slides/slide177.xml"/><Relationship Id="rId50" Type="http://schemas.openxmlformats.org/officeDocument/2006/relationships/slide" Target="slides/slide180.xml"/><Relationship Id="rId7" Type="http://schemas.openxmlformats.org/officeDocument/2006/relationships/slide" Target="slides/slide44.xml"/><Relationship Id="rId2" Type="http://schemas.openxmlformats.org/officeDocument/2006/relationships/slide" Target="slides/slide4.xml"/><Relationship Id="rId16" Type="http://schemas.openxmlformats.org/officeDocument/2006/relationships/slide" Target="slides/slide65.xml"/><Relationship Id="rId29" Type="http://schemas.openxmlformats.org/officeDocument/2006/relationships/slide" Target="slides/slide135.xml"/><Relationship Id="rId11" Type="http://schemas.openxmlformats.org/officeDocument/2006/relationships/slide" Target="slides/slide54.xml"/><Relationship Id="rId24" Type="http://schemas.openxmlformats.org/officeDocument/2006/relationships/slide" Target="slides/slide109.xml"/><Relationship Id="rId32" Type="http://schemas.openxmlformats.org/officeDocument/2006/relationships/slide" Target="slides/slide148.xml"/><Relationship Id="rId37" Type="http://schemas.openxmlformats.org/officeDocument/2006/relationships/slide" Target="slides/slide159.xml"/><Relationship Id="rId40" Type="http://schemas.openxmlformats.org/officeDocument/2006/relationships/slide" Target="slides/slide166.xml"/><Relationship Id="rId45" Type="http://schemas.openxmlformats.org/officeDocument/2006/relationships/slide" Target="slides/slide175.xml"/><Relationship Id="rId5" Type="http://schemas.openxmlformats.org/officeDocument/2006/relationships/slide" Target="slides/slide9.xml"/><Relationship Id="rId15" Type="http://schemas.openxmlformats.org/officeDocument/2006/relationships/slide" Target="slides/slide63.xml"/><Relationship Id="rId23" Type="http://schemas.openxmlformats.org/officeDocument/2006/relationships/slide" Target="slides/slide106.xml"/><Relationship Id="rId28" Type="http://schemas.openxmlformats.org/officeDocument/2006/relationships/slide" Target="slides/slide131.xml"/><Relationship Id="rId36" Type="http://schemas.openxmlformats.org/officeDocument/2006/relationships/slide" Target="slides/slide158.xml"/><Relationship Id="rId49" Type="http://schemas.openxmlformats.org/officeDocument/2006/relationships/slide" Target="slides/slide179.xml"/><Relationship Id="rId10" Type="http://schemas.openxmlformats.org/officeDocument/2006/relationships/slide" Target="slides/slide47.xml"/><Relationship Id="rId19" Type="http://schemas.openxmlformats.org/officeDocument/2006/relationships/slide" Target="slides/slide76.xml"/><Relationship Id="rId31" Type="http://schemas.openxmlformats.org/officeDocument/2006/relationships/slide" Target="slides/slide147.xml"/><Relationship Id="rId44" Type="http://schemas.openxmlformats.org/officeDocument/2006/relationships/slide" Target="slides/slide173.xml"/><Relationship Id="rId4" Type="http://schemas.openxmlformats.org/officeDocument/2006/relationships/slide" Target="slides/slide8.xml"/><Relationship Id="rId9" Type="http://schemas.openxmlformats.org/officeDocument/2006/relationships/slide" Target="slides/slide46.xml"/><Relationship Id="rId14" Type="http://schemas.openxmlformats.org/officeDocument/2006/relationships/slide" Target="slides/slide60.xml"/><Relationship Id="rId22" Type="http://schemas.openxmlformats.org/officeDocument/2006/relationships/slide" Target="slides/slide97.xml"/><Relationship Id="rId27" Type="http://schemas.openxmlformats.org/officeDocument/2006/relationships/slide" Target="slides/slide129.xml"/><Relationship Id="rId30" Type="http://schemas.openxmlformats.org/officeDocument/2006/relationships/slide" Target="slides/slide142.xml"/><Relationship Id="rId35" Type="http://schemas.openxmlformats.org/officeDocument/2006/relationships/slide" Target="slides/slide152.xml"/><Relationship Id="rId43" Type="http://schemas.openxmlformats.org/officeDocument/2006/relationships/slide" Target="slides/slide172.xml"/><Relationship Id="rId48" Type="http://schemas.openxmlformats.org/officeDocument/2006/relationships/slide" Target="slides/slide178.xml"/><Relationship Id="rId8" Type="http://schemas.openxmlformats.org/officeDocument/2006/relationships/slide" Target="slides/slide45.xml"/><Relationship Id="rId51" Type="http://schemas.openxmlformats.org/officeDocument/2006/relationships/slide" Target="slides/slide181.xml"/><Relationship Id="rId3" Type="http://schemas.openxmlformats.org/officeDocument/2006/relationships/slide" Target="slides/slide6.xml"/><Relationship Id="rId12" Type="http://schemas.openxmlformats.org/officeDocument/2006/relationships/slide" Target="slides/slide55.xml"/><Relationship Id="rId17" Type="http://schemas.openxmlformats.org/officeDocument/2006/relationships/slide" Target="slides/slide69.xml"/><Relationship Id="rId25" Type="http://schemas.openxmlformats.org/officeDocument/2006/relationships/slide" Target="slides/slide117.xml"/><Relationship Id="rId33" Type="http://schemas.openxmlformats.org/officeDocument/2006/relationships/slide" Target="slides/slide149.xml"/><Relationship Id="rId38" Type="http://schemas.openxmlformats.org/officeDocument/2006/relationships/slide" Target="slides/slide160.xml"/><Relationship Id="rId46" Type="http://schemas.openxmlformats.org/officeDocument/2006/relationships/slide" Target="slides/slide176.xml"/><Relationship Id="rId20" Type="http://schemas.openxmlformats.org/officeDocument/2006/relationships/slide" Target="slides/slide80.xml"/><Relationship Id="rId41" Type="http://schemas.openxmlformats.org/officeDocument/2006/relationships/slide" Target="slides/slide168.xml"/><Relationship Id="rId1" Type="http://schemas.openxmlformats.org/officeDocument/2006/relationships/slide" Target="slides/slide3.xml"/><Relationship Id="rId6" Type="http://schemas.openxmlformats.org/officeDocument/2006/relationships/slide" Target="slides/slide4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png"/><Relationship Id="rId4"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064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935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5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065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065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BC96E6EC-6485-46BC-B4CA-4C0D434568CC}" type="slidenum">
              <a:rPr lang="en-US" altLang="zh-CN"/>
              <a:pPr/>
              <a:t>‹#›</a:t>
            </a:fld>
            <a:endParaRPr lang="en-US" altLang="zh-CN"/>
          </a:p>
        </p:txBody>
      </p:sp>
    </p:spTree>
    <p:extLst>
      <p:ext uri="{BB962C8B-B14F-4D97-AF65-F5344CB8AC3E}">
        <p14:creationId xmlns:p14="http://schemas.microsoft.com/office/powerpoint/2010/main" val="2685978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fld id="{99A13FAE-3D0A-4917-B278-63D933968519}" type="slidenum">
              <a:rPr lang="en-US" altLang="zh-CN"/>
              <a:pPr/>
              <a:t>‹#›</a:t>
            </a:fld>
            <a:endParaRPr lang="en-US" altLang="zh-CN"/>
          </a:p>
        </p:txBody>
      </p:sp>
    </p:spTree>
    <p:extLst>
      <p:ext uri="{BB962C8B-B14F-4D97-AF65-F5344CB8AC3E}">
        <p14:creationId xmlns:p14="http://schemas.microsoft.com/office/powerpoint/2010/main" val="2280764269"/>
      </p:ext>
    </p:extLst>
  </p:cSld>
  <p:clrMapOvr>
    <a:masterClrMapping/>
  </p:clrMapOvr>
  <p:transition spd="med">
    <p:pull dir="l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fld id="{D44900DF-AA7F-4902-9194-32273326E6D5}" type="slidenum">
              <a:rPr lang="en-US" altLang="zh-CN"/>
              <a:pPr/>
              <a:t>‹#›</a:t>
            </a:fld>
            <a:endParaRPr lang="en-US" altLang="zh-CN"/>
          </a:p>
        </p:txBody>
      </p:sp>
    </p:spTree>
    <p:extLst>
      <p:ext uri="{BB962C8B-B14F-4D97-AF65-F5344CB8AC3E}">
        <p14:creationId xmlns:p14="http://schemas.microsoft.com/office/powerpoint/2010/main" val="575668107"/>
      </p:ext>
    </p:extLst>
  </p:cSld>
  <p:clrMapOvr>
    <a:masterClrMapping/>
  </p:clrMapOvr>
  <p:transition spd="med">
    <p:pull dir="l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fld id="{B587E0C1-F54A-40C1-913E-68C37D131051}" type="slidenum">
              <a:rPr lang="en-US" altLang="zh-CN"/>
              <a:pPr/>
              <a:t>‹#›</a:t>
            </a:fld>
            <a:endParaRPr lang="en-US" altLang="zh-CN"/>
          </a:p>
        </p:txBody>
      </p:sp>
    </p:spTree>
    <p:extLst>
      <p:ext uri="{BB962C8B-B14F-4D97-AF65-F5344CB8AC3E}">
        <p14:creationId xmlns:p14="http://schemas.microsoft.com/office/powerpoint/2010/main" val="1979833515"/>
      </p:ext>
    </p:extLst>
  </p:cSld>
  <p:clrMapOvr>
    <a:masterClrMapping/>
  </p:clrMapOvr>
  <p:transition spd="med">
    <p:pull dir="l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
          <p:cNvSpPr>
            <a:spLocks noGrp="1" noChangeArrowheads="1"/>
          </p:cNvSpPr>
          <p:nvPr>
            <p:ph type="sldNum" sz="quarter" idx="12"/>
          </p:nvPr>
        </p:nvSpPr>
        <p:spPr>
          <a:ln/>
        </p:spPr>
        <p:txBody>
          <a:bodyPr/>
          <a:lstStyle>
            <a:lvl1pPr>
              <a:defRPr/>
            </a:lvl1pPr>
          </a:lstStyle>
          <a:p>
            <a:fld id="{59473DE3-E59C-41B9-9AAC-A7581B2C94A3}" type="slidenum">
              <a:rPr lang="en-US" altLang="zh-CN"/>
              <a:pPr/>
              <a:t>‹#›</a:t>
            </a:fld>
            <a:endParaRPr lang="en-US" altLang="zh-CN"/>
          </a:p>
        </p:txBody>
      </p:sp>
    </p:spTree>
    <p:extLst>
      <p:ext uri="{BB962C8B-B14F-4D97-AF65-F5344CB8AC3E}">
        <p14:creationId xmlns:p14="http://schemas.microsoft.com/office/powerpoint/2010/main" val="733835552"/>
      </p:ext>
    </p:extLst>
  </p:cSld>
  <p:clrMapOvr>
    <a:masterClrMapping/>
  </p:clrMapOvr>
  <p:transition spd="med">
    <p:pull dir="l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
          <p:cNvSpPr>
            <a:spLocks noGrp="1" noChangeArrowheads="1"/>
          </p:cNvSpPr>
          <p:nvPr>
            <p:ph type="sldNum" sz="quarter" idx="12"/>
          </p:nvPr>
        </p:nvSpPr>
        <p:spPr>
          <a:ln/>
        </p:spPr>
        <p:txBody>
          <a:bodyPr/>
          <a:lstStyle>
            <a:lvl1pPr>
              <a:defRPr/>
            </a:lvl1pPr>
          </a:lstStyle>
          <a:p>
            <a:fld id="{F7B1B3F0-32CB-46A9-B753-A53B993D475E}" type="slidenum">
              <a:rPr lang="en-US" altLang="zh-CN"/>
              <a:pPr/>
              <a:t>‹#›</a:t>
            </a:fld>
            <a:endParaRPr lang="en-US" altLang="zh-CN"/>
          </a:p>
        </p:txBody>
      </p:sp>
    </p:spTree>
    <p:extLst>
      <p:ext uri="{BB962C8B-B14F-4D97-AF65-F5344CB8AC3E}">
        <p14:creationId xmlns:p14="http://schemas.microsoft.com/office/powerpoint/2010/main" val="3892886955"/>
      </p:ext>
    </p:extLst>
  </p:cSld>
  <p:clrMapOvr>
    <a:masterClrMapping/>
  </p:clrMapOvr>
  <p:transition spd="med">
    <p:pull dir="l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
          <p:cNvSpPr>
            <a:spLocks noGrp="1" noChangeArrowheads="1"/>
          </p:cNvSpPr>
          <p:nvPr>
            <p:ph type="sldNum" sz="quarter" idx="12"/>
          </p:nvPr>
        </p:nvSpPr>
        <p:spPr>
          <a:ln/>
        </p:spPr>
        <p:txBody>
          <a:bodyPr/>
          <a:lstStyle>
            <a:lvl1pPr>
              <a:defRPr/>
            </a:lvl1pPr>
          </a:lstStyle>
          <a:p>
            <a:fld id="{EBE3E5FA-8BA7-4965-9920-657D71BCC4C5}" type="slidenum">
              <a:rPr lang="en-US" altLang="zh-CN"/>
              <a:pPr/>
              <a:t>‹#›</a:t>
            </a:fld>
            <a:endParaRPr lang="en-US" altLang="zh-CN"/>
          </a:p>
        </p:txBody>
      </p:sp>
    </p:spTree>
    <p:extLst>
      <p:ext uri="{BB962C8B-B14F-4D97-AF65-F5344CB8AC3E}">
        <p14:creationId xmlns:p14="http://schemas.microsoft.com/office/powerpoint/2010/main" val="402738508"/>
      </p:ext>
    </p:extLst>
  </p:cSld>
  <p:clrMapOvr>
    <a:masterClrMapping/>
  </p:clrMapOvr>
  <p:transition spd="med">
    <p:pull dir="l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
          <p:cNvSpPr>
            <a:spLocks noGrp="1" noChangeArrowheads="1"/>
          </p:cNvSpPr>
          <p:nvPr>
            <p:ph type="sldNum" sz="quarter" idx="12"/>
          </p:nvPr>
        </p:nvSpPr>
        <p:spPr>
          <a:ln/>
        </p:spPr>
        <p:txBody>
          <a:bodyPr/>
          <a:lstStyle>
            <a:lvl1pPr>
              <a:defRPr/>
            </a:lvl1pPr>
          </a:lstStyle>
          <a:p>
            <a:fld id="{110485BF-B6AE-4CEE-AC1A-28584E37B65C}" type="slidenum">
              <a:rPr lang="en-US" altLang="zh-CN"/>
              <a:pPr/>
              <a:t>‹#›</a:t>
            </a:fld>
            <a:endParaRPr lang="en-US" altLang="zh-CN"/>
          </a:p>
        </p:txBody>
      </p:sp>
    </p:spTree>
    <p:extLst>
      <p:ext uri="{BB962C8B-B14F-4D97-AF65-F5344CB8AC3E}">
        <p14:creationId xmlns:p14="http://schemas.microsoft.com/office/powerpoint/2010/main" val="3854997141"/>
      </p:ext>
    </p:extLst>
  </p:cSld>
  <p:clrMapOvr>
    <a:masterClrMapping/>
  </p:clrMapOvr>
  <p:transition spd="med">
    <p:pull dir="l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
          <p:cNvSpPr>
            <a:spLocks noGrp="1" noChangeArrowheads="1"/>
          </p:cNvSpPr>
          <p:nvPr>
            <p:ph type="sldNum" sz="quarter" idx="12"/>
          </p:nvPr>
        </p:nvSpPr>
        <p:spPr>
          <a:ln/>
        </p:spPr>
        <p:txBody>
          <a:bodyPr/>
          <a:lstStyle>
            <a:lvl1pPr>
              <a:defRPr/>
            </a:lvl1pPr>
          </a:lstStyle>
          <a:p>
            <a:fld id="{4E65FA90-F359-4A66-B935-6838D2F7E286}" type="slidenum">
              <a:rPr lang="en-US" altLang="zh-CN"/>
              <a:pPr/>
              <a:t>‹#›</a:t>
            </a:fld>
            <a:endParaRPr lang="en-US" altLang="zh-CN"/>
          </a:p>
        </p:txBody>
      </p:sp>
    </p:spTree>
    <p:extLst>
      <p:ext uri="{BB962C8B-B14F-4D97-AF65-F5344CB8AC3E}">
        <p14:creationId xmlns:p14="http://schemas.microsoft.com/office/powerpoint/2010/main" val="1570290011"/>
      </p:ext>
    </p:extLst>
  </p:cSld>
  <p:clrMapOvr>
    <a:masterClrMapping/>
  </p:clrMapOvr>
  <p:transition spd="med">
    <p:pull dir="l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
          <p:cNvSpPr>
            <a:spLocks noGrp="1" noChangeArrowheads="1"/>
          </p:cNvSpPr>
          <p:nvPr>
            <p:ph type="sldNum" sz="quarter" idx="12"/>
          </p:nvPr>
        </p:nvSpPr>
        <p:spPr>
          <a:ln/>
        </p:spPr>
        <p:txBody>
          <a:bodyPr/>
          <a:lstStyle>
            <a:lvl1pPr>
              <a:defRPr/>
            </a:lvl1pPr>
          </a:lstStyle>
          <a:p>
            <a:fld id="{044DA8FE-E363-4E0C-8CE0-520FFD3CA2FA}" type="slidenum">
              <a:rPr lang="en-US" altLang="zh-CN"/>
              <a:pPr/>
              <a:t>‹#›</a:t>
            </a:fld>
            <a:endParaRPr lang="en-US" altLang="zh-CN"/>
          </a:p>
        </p:txBody>
      </p:sp>
    </p:spTree>
    <p:extLst>
      <p:ext uri="{BB962C8B-B14F-4D97-AF65-F5344CB8AC3E}">
        <p14:creationId xmlns:p14="http://schemas.microsoft.com/office/powerpoint/2010/main" val="2777108962"/>
      </p:ext>
    </p:extLst>
  </p:cSld>
  <p:clrMapOvr>
    <a:masterClrMapping/>
  </p:clrMapOvr>
  <p:transition spd="med">
    <p:pull dir="l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fld id="{99C36A2B-1D22-4894-B81D-0A434948C4E0}" type="slidenum">
              <a:rPr lang="en-US" altLang="zh-CN"/>
              <a:pPr/>
              <a:t>‹#›</a:t>
            </a:fld>
            <a:endParaRPr lang="en-US" altLang="zh-CN"/>
          </a:p>
        </p:txBody>
      </p:sp>
    </p:spTree>
    <p:extLst>
      <p:ext uri="{BB962C8B-B14F-4D97-AF65-F5344CB8AC3E}">
        <p14:creationId xmlns:p14="http://schemas.microsoft.com/office/powerpoint/2010/main" val="1875607397"/>
      </p:ext>
    </p:extLst>
  </p:cSld>
  <p:clrMapOvr>
    <a:masterClrMapping/>
  </p:clrMapOvr>
  <p:transition spd="med">
    <p:pull dir="l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fld id="{9DAB0EF3-3ADC-4AB5-955E-3B40FE407C9A}" type="slidenum">
              <a:rPr lang="en-US" altLang="zh-CN"/>
              <a:pPr/>
              <a:t>‹#›</a:t>
            </a:fld>
            <a:endParaRPr lang="en-US" altLang="zh-CN"/>
          </a:p>
        </p:txBody>
      </p:sp>
    </p:spTree>
    <p:extLst>
      <p:ext uri="{BB962C8B-B14F-4D97-AF65-F5344CB8AC3E}">
        <p14:creationId xmlns:p14="http://schemas.microsoft.com/office/powerpoint/2010/main" val="71268678"/>
      </p:ext>
    </p:extLst>
  </p:cSld>
  <p:clrMapOvr>
    <a:masterClrMapping/>
  </p:clrMapOvr>
  <p:transition spd="med">
    <p:pull dir="l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a:prstGeom prst="rect">
            <a:avLst/>
          </a:prstGeom>
        </p:spPr>
        <p:txBody>
          <a:bodyPr/>
          <a:lstStyle/>
          <a:p>
            <a:pPr lvl="0"/>
            <a:endParaRPr lang="zh-CN" altLang="en-US" noProof="0"/>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fld id="{1208810E-1E1C-4C28-AB4A-C61D40C0687D}" type="slidenum">
              <a:rPr lang="en-US" altLang="zh-CN"/>
              <a:pPr/>
              <a:t>‹#›</a:t>
            </a:fld>
            <a:endParaRPr lang="en-US" altLang="zh-CN"/>
          </a:p>
        </p:txBody>
      </p:sp>
    </p:spTree>
    <p:extLst>
      <p:ext uri="{BB962C8B-B14F-4D97-AF65-F5344CB8AC3E}">
        <p14:creationId xmlns:p14="http://schemas.microsoft.com/office/powerpoint/2010/main" val="3339338185"/>
      </p:ext>
    </p:extLst>
  </p:cSld>
  <p:clrMapOvr>
    <a:masterClrMapping/>
  </p:clrMapOvr>
  <p:transition spd="med">
    <p:pull dir="l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dt" sz="half" idx="2"/>
          </p:nvPr>
        </p:nvSpPr>
        <p:spPr bwMode="auto">
          <a:xfrm>
            <a:off x="228600" y="61722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ltLang="zh-CN"/>
          </a:p>
        </p:txBody>
      </p:sp>
      <p:sp>
        <p:nvSpPr>
          <p:cNvPr id="110595" name="Rectangle 3"/>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ltLang="zh-CN"/>
          </a:p>
        </p:txBody>
      </p:sp>
      <p:sp>
        <p:nvSpPr>
          <p:cNvPr id="110596" name="Rectangle 4"/>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fld id="{FE71CC8B-817D-45FC-876F-DC6944FF5EDF}" type="slidenum">
              <a:rPr lang="en-US" altLang="zh-CN"/>
              <a:pPr/>
              <a:t>‹#›</a:t>
            </a:fld>
            <a:endParaRPr lang="en-US" altLang="zh-CN"/>
          </a:p>
        </p:txBody>
      </p:sp>
      <p:pic>
        <p:nvPicPr>
          <p:cNvPr id="3" name="图片 2">
            <a:extLst>
              <a:ext uri="{FF2B5EF4-FFF2-40B4-BE49-F238E27FC236}">
                <a16:creationId xmlns:a16="http://schemas.microsoft.com/office/drawing/2014/main" id="{C11DE7F0-22AC-426F-A807-DDB94FFB8E45}"/>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44000" cy="825661"/>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61" r:id="rId2"/>
    <p:sldLayoutId id="2147483660" r:id="rId3"/>
    <p:sldLayoutId id="2147483659" r:id="rId4"/>
    <p:sldLayoutId id="2147483658" r:id="rId5"/>
    <p:sldLayoutId id="2147483657" r:id="rId6"/>
    <p:sldLayoutId id="2147483656" r:id="rId7"/>
    <p:sldLayoutId id="2147483655" r:id="rId8"/>
    <p:sldLayoutId id="2147483654" r:id="rId9"/>
    <p:sldLayoutId id="2147483653" r:id="rId10"/>
    <p:sldLayoutId id="2147483652" r:id="rId11"/>
    <p:sldLayoutId id="2147483651" r:id="rId12"/>
  </p:sldLayoutIdLst>
  <p:transition spd="med">
    <p:pull dir="lu"/>
  </p:transition>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5.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oleObject" Target="../embeddings/oleObject4.bin"/><Relationship Id="rId7" Type="http://schemas.openxmlformats.org/officeDocument/2006/relationships/image" Target="../media/image8.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6.png"/><Relationship Id="rId4" Type="http://schemas.openxmlformats.org/officeDocument/2006/relationships/image" Target="../media/image7.wmf"/><Relationship Id="rId9" Type="http://schemas.openxmlformats.org/officeDocument/2006/relationships/image" Target="../media/image9.wmf"/></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0.png"/></Relationships>
</file>

<file path=ppt/slides/_rels/slide15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9.wmf"/></Relationships>
</file>

<file path=ppt/slides/_rels/slide15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8.vml"/><Relationship Id="rId5" Type="http://schemas.openxmlformats.org/officeDocument/2006/relationships/image" Target="../media/image13.png"/><Relationship Id="rId4" Type="http://schemas.openxmlformats.org/officeDocument/2006/relationships/image" Target="../media/image1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4.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B5A20121-662C-4F36-A570-85DDD8188811}" type="slidenum">
              <a:rPr lang="en-US" altLang="zh-CN" sz="1400" b="0"/>
              <a:pPr eaLnBrk="1" hangingPunct="1"/>
              <a:t>1</a:t>
            </a:fld>
            <a:endParaRPr lang="en-US" altLang="zh-CN" sz="1400" b="0"/>
          </a:p>
        </p:txBody>
      </p:sp>
      <p:sp>
        <p:nvSpPr>
          <p:cNvPr id="509954" name="Rectangle 2"/>
          <p:cNvSpPr>
            <a:spLocks noChangeArrowheads="1"/>
          </p:cNvSpPr>
          <p:nvPr/>
        </p:nvSpPr>
        <p:spPr bwMode="auto">
          <a:xfrm>
            <a:off x="1403350" y="1341438"/>
            <a:ext cx="65484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400">
                <a:solidFill>
                  <a:srgbClr val="FF0000"/>
                </a:solidFill>
              </a:rPr>
              <a:t>第二章  </a:t>
            </a:r>
            <a:r>
              <a:rPr lang="en-US" altLang="zh-CN" sz="4400">
                <a:solidFill>
                  <a:srgbClr val="FF0000"/>
                </a:solidFill>
              </a:rPr>
              <a:t>DSP</a:t>
            </a:r>
            <a:r>
              <a:rPr lang="zh-CN" altLang="en-US" sz="4400">
                <a:solidFill>
                  <a:srgbClr val="FF0000"/>
                </a:solidFill>
              </a:rPr>
              <a:t>芯片结构介绍</a:t>
            </a:r>
          </a:p>
        </p:txBody>
      </p:sp>
      <p:grpSp>
        <p:nvGrpSpPr>
          <p:cNvPr id="2" name="Group 3"/>
          <p:cNvGrpSpPr>
            <a:grpSpLocks/>
          </p:cNvGrpSpPr>
          <p:nvPr/>
        </p:nvGrpSpPr>
        <p:grpSpPr bwMode="auto">
          <a:xfrm>
            <a:off x="142875" y="2492375"/>
            <a:ext cx="8821738" cy="3270250"/>
            <a:chOff x="192" y="1584"/>
            <a:chExt cx="5424" cy="2060"/>
          </a:xfrm>
        </p:grpSpPr>
        <p:sp>
          <p:nvSpPr>
            <p:cNvPr id="509956" name="Rectangle 4" descr="小棋盘"/>
            <p:cNvSpPr>
              <a:spLocks noChangeArrowheads="1"/>
            </p:cNvSpPr>
            <p:nvPr/>
          </p:nvSpPr>
          <p:spPr bwMode="auto">
            <a:xfrm>
              <a:off x="192" y="1584"/>
              <a:ext cx="2688" cy="2060"/>
            </a:xfrm>
            <a:prstGeom prst="rect">
              <a:avLst/>
            </a:prstGeom>
            <a:pattFill prst="smCheck">
              <a:fgClr>
                <a:srgbClr val="FFFF00"/>
              </a:fgClr>
              <a:bgClr>
                <a:schemeClr val="bg1"/>
              </a:bgClr>
            </a:pattFill>
            <a:ln w="9525">
              <a:solidFill>
                <a:srgbClr val="CC3300"/>
              </a:solidFill>
              <a:miter lim="800000"/>
              <a:headEnd/>
              <a:tailEnd/>
            </a:ln>
            <a:effectLst/>
          </p:spPr>
          <p:txBody>
            <a:bodyPr>
              <a:spAutoFit/>
            </a:bodyPr>
            <a:lstStyle/>
            <a:p>
              <a:pPr>
                <a:lnSpc>
                  <a:spcPct val="90000"/>
                </a:lnSpc>
                <a:spcBef>
                  <a:spcPct val="50000"/>
                </a:spcBef>
                <a:defRPr/>
              </a:pPr>
              <a:r>
                <a:rPr lang="zh-CN" altLang="en-US" sz="3200">
                  <a:solidFill>
                    <a:schemeClr val="tx2"/>
                  </a:solidFill>
                  <a:effectLst>
                    <a:outerShdw blurRad="38100" dist="38100" dir="2700000" algn="tl">
                      <a:srgbClr val="C0C0C0"/>
                    </a:outerShdw>
                  </a:effectLst>
                  <a:latin typeface="宋体" pitchFamily="2" charset="-122"/>
                </a:rPr>
                <a:t>第一节  基本性能 </a:t>
              </a:r>
            </a:p>
            <a:p>
              <a:pPr>
                <a:lnSpc>
                  <a:spcPct val="90000"/>
                </a:lnSpc>
                <a:spcBef>
                  <a:spcPct val="50000"/>
                </a:spcBef>
                <a:defRPr/>
              </a:pPr>
              <a:r>
                <a:rPr lang="zh-CN" altLang="en-US" sz="3200">
                  <a:solidFill>
                    <a:schemeClr val="tx2"/>
                  </a:solidFill>
                  <a:effectLst>
                    <a:outerShdw blurRad="38100" dist="38100" dir="2700000" algn="tl">
                      <a:srgbClr val="C0C0C0"/>
                    </a:outerShdw>
                  </a:effectLst>
                  <a:latin typeface="宋体" pitchFamily="2" charset="-122"/>
                </a:rPr>
                <a:t>第二节  </a:t>
              </a:r>
              <a:r>
                <a:rPr lang="en-US" altLang="zh-CN" sz="3200">
                  <a:solidFill>
                    <a:schemeClr val="tx2"/>
                  </a:solidFill>
                  <a:effectLst>
                    <a:outerShdw blurRad="38100" dist="38100" dir="2700000" algn="tl">
                      <a:srgbClr val="C0C0C0"/>
                    </a:outerShdw>
                  </a:effectLst>
                  <a:latin typeface="宋体" pitchFamily="2" charset="-122"/>
                </a:rPr>
                <a:t>CPU</a:t>
              </a:r>
              <a:r>
                <a:rPr lang="zh-CN" altLang="en-US" sz="3200">
                  <a:solidFill>
                    <a:schemeClr val="tx2"/>
                  </a:solidFill>
                  <a:effectLst>
                    <a:outerShdw blurRad="38100" dist="38100" dir="2700000" algn="tl">
                      <a:srgbClr val="C0C0C0"/>
                    </a:outerShdw>
                  </a:effectLst>
                  <a:latin typeface="宋体" pitchFamily="2" charset="-122"/>
                </a:rPr>
                <a:t>结构</a:t>
              </a:r>
            </a:p>
            <a:p>
              <a:pPr>
                <a:lnSpc>
                  <a:spcPct val="90000"/>
                </a:lnSpc>
                <a:spcBef>
                  <a:spcPct val="50000"/>
                </a:spcBef>
                <a:defRPr/>
              </a:pPr>
              <a:r>
                <a:rPr lang="zh-CN" altLang="en-US" sz="3200">
                  <a:solidFill>
                    <a:schemeClr val="tx2"/>
                  </a:solidFill>
                  <a:effectLst>
                    <a:outerShdw blurRad="38100" dist="38100" dir="2700000" algn="tl">
                      <a:srgbClr val="C0C0C0"/>
                    </a:outerShdw>
                  </a:effectLst>
                  <a:latin typeface="宋体" pitchFamily="2" charset="-122"/>
                </a:rPr>
                <a:t>第三节  内部总线结构 </a:t>
              </a:r>
            </a:p>
            <a:p>
              <a:pPr>
                <a:lnSpc>
                  <a:spcPct val="90000"/>
                </a:lnSpc>
                <a:spcBef>
                  <a:spcPct val="50000"/>
                </a:spcBef>
                <a:defRPr/>
              </a:pPr>
              <a:r>
                <a:rPr lang="zh-CN" altLang="en-US" sz="3200">
                  <a:solidFill>
                    <a:schemeClr val="tx2"/>
                  </a:solidFill>
                  <a:effectLst>
                    <a:outerShdw blurRad="38100" dist="38100" dir="2700000" algn="tl">
                      <a:srgbClr val="C0C0C0"/>
                    </a:outerShdw>
                  </a:effectLst>
                  <a:latin typeface="宋体" pitchFamily="2" charset="-122"/>
                </a:rPr>
                <a:t>第四节  存储器结构 </a:t>
              </a:r>
            </a:p>
            <a:p>
              <a:pPr>
                <a:lnSpc>
                  <a:spcPct val="90000"/>
                </a:lnSpc>
                <a:spcBef>
                  <a:spcPct val="50000"/>
                </a:spcBef>
                <a:defRPr/>
              </a:pPr>
              <a:r>
                <a:rPr lang="zh-CN" altLang="en-US" sz="3200">
                  <a:solidFill>
                    <a:schemeClr val="tx2"/>
                  </a:solidFill>
                  <a:effectLst>
                    <a:outerShdw blurRad="38100" dist="38100" dir="2700000" algn="tl">
                      <a:srgbClr val="C0C0C0"/>
                    </a:outerShdw>
                  </a:effectLst>
                  <a:latin typeface="宋体" pitchFamily="2" charset="-122"/>
                </a:rPr>
                <a:t>第五节  在片外围电路</a:t>
              </a:r>
            </a:p>
          </p:txBody>
        </p:sp>
        <p:sp>
          <p:nvSpPr>
            <p:cNvPr id="509957" name="Rectangle 5" descr="小棋盘"/>
            <p:cNvSpPr>
              <a:spLocks noChangeArrowheads="1"/>
            </p:cNvSpPr>
            <p:nvPr/>
          </p:nvSpPr>
          <p:spPr bwMode="auto">
            <a:xfrm>
              <a:off x="2880" y="1584"/>
              <a:ext cx="2736" cy="2060"/>
            </a:xfrm>
            <a:prstGeom prst="rect">
              <a:avLst/>
            </a:prstGeom>
            <a:pattFill prst="smCheck">
              <a:fgClr>
                <a:srgbClr val="FFFF00"/>
              </a:fgClr>
              <a:bgClr>
                <a:schemeClr val="bg1"/>
              </a:bgClr>
            </a:pattFill>
            <a:ln w="9525">
              <a:solidFill>
                <a:srgbClr val="CC3300"/>
              </a:solidFill>
              <a:miter lim="800000"/>
              <a:headEnd/>
              <a:tailEnd/>
            </a:ln>
            <a:effectLst/>
          </p:spPr>
          <p:txBody>
            <a:bodyPr>
              <a:spAutoFit/>
            </a:bodyPr>
            <a:lstStyle/>
            <a:p>
              <a:pPr>
                <a:lnSpc>
                  <a:spcPct val="90000"/>
                </a:lnSpc>
                <a:spcBef>
                  <a:spcPct val="50000"/>
                </a:spcBef>
                <a:defRPr/>
              </a:pPr>
              <a:r>
                <a:rPr lang="zh-CN" altLang="en-US" sz="3200">
                  <a:solidFill>
                    <a:schemeClr val="tx2"/>
                  </a:solidFill>
                  <a:effectLst>
                    <a:outerShdw blurRad="38100" dist="38100" dir="2700000" algn="tl">
                      <a:srgbClr val="C0C0C0"/>
                    </a:outerShdw>
                  </a:effectLst>
                  <a:latin typeface="宋体" pitchFamily="2" charset="-122"/>
                </a:rPr>
                <a:t>第六节  串行口</a:t>
              </a:r>
            </a:p>
            <a:p>
              <a:pPr>
                <a:lnSpc>
                  <a:spcPct val="90000"/>
                </a:lnSpc>
                <a:spcBef>
                  <a:spcPct val="50000"/>
                </a:spcBef>
                <a:defRPr/>
              </a:pPr>
              <a:r>
                <a:rPr lang="zh-CN" altLang="en-US" sz="3200">
                  <a:solidFill>
                    <a:schemeClr val="tx2"/>
                  </a:solidFill>
                  <a:effectLst>
                    <a:outerShdw blurRad="38100" dist="38100" dir="2700000" algn="tl">
                      <a:srgbClr val="C0C0C0"/>
                    </a:outerShdw>
                  </a:effectLst>
                  <a:latin typeface="宋体" pitchFamily="2" charset="-122"/>
                </a:rPr>
                <a:t>第七节  与外设的接口 </a:t>
              </a:r>
            </a:p>
            <a:p>
              <a:pPr>
                <a:lnSpc>
                  <a:spcPct val="90000"/>
                </a:lnSpc>
                <a:spcBef>
                  <a:spcPct val="50000"/>
                </a:spcBef>
                <a:defRPr/>
              </a:pPr>
              <a:r>
                <a:rPr lang="zh-CN" altLang="en-US" sz="3200">
                  <a:solidFill>
                    <a:schemeClr val="tx2"/>
                  </a:solidFill>
                  <a:effectLst>
                    <a:outerShdw blurRad="38100" dist="38100" dir="2700000" algn="tl">
                      <a:srgbClr val="C0C0C0"/>
                    </a:outerShdw>
                  </a:effectLst>
                  <a:latin typeface="宋体" pitchFamily="2" charset="-122"/>
                </a:rPr>
                <a:t>第八节  复位与省电</a:t>
              </a:r>
            </a:p>
            <a:p>
              <a:pPr>
                <a:lnSpc>
                  <a:spcPct val="90000"/>
                </a:lnSpc>
                <a:spcBef>
                  <a:spcPct val="50000"/>
                </a:spcBef>
                <a:defRPr/>
              </a:pPr>
              <a:r>
                <a:rPr lang="zh-CN" altLang="en-US" sz="3200">
                  <a:solidFill>
                    <a:schemeClr val="tx2"/>
                  </a:solidFill>
                  <a:effectLst>
                    <a:outerShdw blurRad="38100" dist="38100" dir="2700000" algn="tl">
                      <a:srgbClr val="C0C0C0"/>
                    </a:outerShdw>
                  </a:effectLst>
                  <a:latin typeface="宋体" pitchFamily="2" charset="-122"/>
                </a:rPr>
                <a:t>第九节  中断 </a:t>
              </a:r>
            </a:p>
            <a:p>
              <a:pPr>
                <a:lnSpc>
                  <a:spcPct val="90000"/>
                </a:lnSpc>
                <a:spcBef>
                  <a:spcPct val="50000"/>
                </a:spcBef>
                <a:defRPr/>
              </a:pPr>
              <a:r>
                <a:rPr lang="zh-CN" altLang="en-US" sz="3200">
                  <a:solidFill>
                    <a:schemeClr val="tx2"/>
                  </a:solidFill>
                  <a:effectLst>
                    <a:outerShdw blurRad="38100" dist="38100" dir="2700000" algn="tl">
                      <a:srgbClr val="C0C0C0"/>
                    </a:outerShdw>
                  </a:effectLst>
                  <a:latin typeface="宋体" pitchFamily="2" charset="-122"/>
                </a:rPr>
                <a:t>第十节  自举加载</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09954"/>
                                        </p:tgtEl>
                                        <p:attrNameLst>
                                          <p:attrName>style.visibility</p:attrName>
                                        </p:attrNameLst>
                                      </p:cBhvr>
                                      <p:to>
                                        <p:strVal val="visible"/>
                                      </p:to>
                                    </p:set>
                                    <p:animEffect transition="in" filter="slide(fromLeft)">
                                      <p:cBhvr>
                                        <p:cTn id="7" dur="500"/>
                                        <p:tgtEl>
                                          <p:spTgt spid="509954"/>
                                        </p:tgtEl>
                                      </p:cBhvr>
                                    </p:animEffect>
                                  </p:childTnLst>
                                </p:cTn>
                              </p:par>
                            </p:childTnLst>
                          </p:cTn>
                        </p:par>
                        <p:par>
                          <p:cTn id="8" fill="hold" nodeType="afterGroup">
                            <p:stCondLst>
                              <p:cond delay="500"/>
                            </p:stCondLst>
                            <p:childTnLst>
                              <p:par>
                                <p:cTn id="9" presetID="3" presetClass="entr" presetSubtype="5"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4"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BB915AF7-CEDF-41EC-A652-A983607B6D5B}" type="slidenum">
              <a:rPr lang="en-US" altLang="zh-CN" sz="1400" b="0"/>
              <a:pPr eaLnBrk="1" hangingPunct="1"/>
              <a:t>2</a:t>
            </a:fld>
            <a:endParaRPr lang="en-US" altLang="zh-CN" sz="1400" b="0"/>
          </a:p>
        </p:txBody>
      </p:sp>
      <p:sp>
        <p:nvSpPr>
          <p:cNvPr id="510978" name="Rectangle 2"/>
          <p:cNvSpPr>
            <a:spLocks noChangeArrowheads="1"/>
          </p:cNvSpPr>
          <p:nvPr/>
        </p:nvSpPr>
        <p:spPr bwMode="auto">
          <a:xfrm>
            <a:off x="990600" y="2133600"/>
            <a:ext cx="7543800" cy="409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3600">
                <a:latin typeface="宋体" panose="02010600030101010101" pitchFamily="2" charset="-122"/>
              </a:rPr>
              <a:t>1</a:t>
            </a:r>
            <a:r>
              <a:rPr lang="zh-CN" altLang="en-US" sz="3600">
                <a:latin typeface="宋体" panose="02010600030101010101" pitchFamily="2" charset="-122"/>
              </a:rPr>
              <a:t>）多总线结构</a:t>
            </a:r>
          </a:p>
          <a:p>
            <a:pPr eaLnBrk="1" hangingPunct="1">
              <a:lnSpc>
                <a:spcPct val="90000"/>
              </a:lnSpc>
              <a:spcBef>
                <a:spcPct val="50000"/>
              </a:spcBef>
            </a:pPr>
            <a:r>
              <a:rPr lang="en-US" altLang="zh-CN" sz="3600">
                <a:latin typeface="宋体" panose="02010600030101010101" pitchFamily="2" charset="-122"/>
              </a:rPr>
              <a:t>2</a:t>
            </a:r>
            <a:r>
              <a:rPr lang="zh-CN" altLang="en-US" sz="3600">
                <a:latin typeface="宋体" panose="02010600030101010101" pitchFamily="2" charset="-122"/>
              </a:rPr>
              <a:t>）</a:t>
            </a:r>
            <a:r>
              <a:rPr lang="en-US" altLang="zh-CN" sz="3600">
                <a:latin typeface="宋体" panose="02010600030101010101" pitchFamily="2" charset="-122"/>
              </a:rPr>
              <a:t>40</a:t>
            </a:r>
            <a:r>
              <a:rPr lang="zh-CN" altLang="en-US" sz="3600">
                <a:latin typeface="宋体" panose="02010600030101010101" pitchFamily="2" charset="-122"/>
              </a:rPr>
              <a:t>位算术逻辑单元（</a:t>
            </a:r>
            <a:r>
              <a:rPr lang="en-US" altLang="zh-CN" sz="3600">
                <a:latin typeface="宋体" panose="02010600030101010101" pitchFamily="2" charset="-122"/>
              </a:rPr>
              <a:t>ALU</a:t>
            </a:r>
            <a:r>
              <a:rPr lang="zh-CN" altLang="en-US" sz="3600">
                <a:latin typeface="宋体" panose="02010600030101010101" pitchFamily="2" charset="-122"/>
              </a:rPr>
              <a:t>）</a:t>
            </a:r>
          </a:p>
          <a:p>
            <a:pPr eaLnBrk="1" hangingPunct="1">
              <a:lnSpc>
                <a:spcPct val="90000"/>
              </a:lnSpc>
              <a:spcBef>
                <a:spcPct val="50000"/>
              </a:spcBef>
            </a:pPr>
            <a:r>
              <a:rPr lang="en-US" altLang="zh-CN" sz="3600">
                <a:latin typeface="宋体" panose="02010600030101010101" pitchFamily="2" charset="-122"/>
              </a:rPr>
              <a:t>3</a:t>
            </a:r>
            <a:r>
              <a:rPr lang="zh-CN" altLang="en-US" sz="3600">
                <a:latin typeface="宋体" panose="02010600030101010101" pitchFamily="2" charset="-122"/>
              </a:rPr>
              <a:t>）</a:t>
            </a:r>
            <a:r>
              <a:rPr lang="en-US" altLang="zh-CN" sz="3600">
                <a:latin typeface="宋体" panose="02010600030101010101" pitchFamily="2" charset="-122"/>
              </a:rPr>
              <a:t>17×17</a:t>
            </a:r>
            <a:r>
              <a:rPr lang="zh-CN" altLang="en-US" sz="3600">
                <a:latin typeface="宋体" panose="02010600030101010101" pitchFamily="2" charset="-122"/>
              </a:rPr>
              <a:t>位并行乘法器</a:t>
            </a:r>
          </a:p>
          <a:p>
            <a:pPr eaLnBrk="1" hangingPunct="1">
              <a:lnSpc>
                <a:spcPct val="90000"/>
              </a:lnSpc>
              <a:spcBef>
                <a:spcPct val="50000"/>
              </a:spcBef>
            </a:pPr>
            <a:r>
              <a:rPr lang="en-US" altLang="zh-CN" sz="3600">
                <a:latin typeface="宋体" panose="02010600030101010101" pitchFamily="2" charset="-122"/>
              </a:rPr>
              <a:t>4</a:t>
            </a:r>
            <a:r>
              <a:rPr lang="zh-CN" altLang="en-US" sz="3600">
                <a:latin typeface="宋体" panose="02010600030101010101" pitchFamily="2" charset="-122"/>
              </a:rPr>
              <a:t>）比较、选择和存储单元（</a:t>
            </a:r>
            <a:r>
              <a:rPr lang="en-US" altLang="zh-CN" sz="3600">
                <a:latin typeface="宋体" panose="02010600030101010101" pitchFamily="2" charset="-122"/>
              </a:rPr>
              <a:t>CSSU</a:t>
            </a:r>
            <a:r>
              <a:rPr lang="zh-CN" altLang="en-US" sz="3600">
                <a:latin typeface="宋体" panose="02010600030101010101" pitchFamily="2" charset="-122"/>
              </a:rPr>
              <a:t>）</a:t>
            </a:r>
          </a:p>
          <a:p>
            <a:pPr algn="just" eaLnBrk="1" hangingPunct="1">
              <a:lnSpc>
                <a:spcPct val="90000"/>
              </a:lnSpc>
              <a:spcBef>
                <a:spcPct val="20000"/>
              </a:spcBef>
            </a:pPr>
            <a:r>
              <a:rPr lang="en-US" altLang="zh-CN" sz="3600">
                <a:latin typeface="宋体" panose="02010600030101010101" pitchFamily="2" charset="-122"/>
              </a:rPr>
              <a:t>5</a:t>
            </a:r>
            <a:r>
              <a:rPr lang="zh-CN" altLang="en-US" sz="3600">
                <a:latin typeface="宋体" panose="02010600030101010101" pitchFamily="2" charset="-122"/>
              </a:rPr>
              <a:t>）指数编码器</a:t>
            </a:r>
          </a:p>
          <a:p>
            <a:pPr algn="just" eaLnBrk="1" hangingPunct="1">
              <a:lnSpc>
                <a:spcPct val="90000"/>
              </a:lnSpc>
              <a:spcBef>
                <a:spcPct val="20000"/>
              </a:spcBef>
            </a:pPr>
            <a:r>
              <a:rPr lang="en-US" altLang="zh-CN" sz="3600">
                <a:latin typeface="宋体" panose="02010600030101010101" pitchFamily="2" charset="-122"/>
              </a:rPr>
              <a:t>6</a:t>
            </a:r>
            <a:r>
              <a:rPr lang="zh-CN" altLang="en-US" sz="3600">
                <a:latin typeface="宋体" panose="02010600030101010101" pitchFamily="2" charset="-122"/>
              </a:rPr>
              <a:t>）两个地址发生器</a:t>
            </a:r>
          </a:p>
        </p:txBody>
      </p:sp>
      <p:sp>
        <p:nvSpPr>
          <p:cNvPr id="510979" name="Rectangle 3"/>
          <p:cNvSpPr>
            <a:spLocks noChangeArrowheads="1"/>
          </p:cNvSpPr>
          <p:nvPr/>
        </p:nvSpPr>
        <p:spPr bwMode="auto">
          <a:xfrm>
            <a:off x="685800" y="1295400"/>
            <a:ext cx="7448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400">
                <a:solidFill>
                  <a:srgbClr val="FF0000"/>
                </a:solidFill>
                <a:latin typeface="宋体" panose="02010600030101010101" pitchFamily="2" charset="-122"/>
              </a:rPr>
              <a:t>第一节  </a:t>
            </a:r>
            <a:r>
              <a:rPr lang="en-US" altLang="zh-CN" sz="4400">
                <a:solidFill>
                  <a:srgbClr val="FF0000"/>
                </a:solidFill>
                <a:latin typeface="宋体" panose="02010600030101010101" pitchFamily="2" charset="-122"/>
              </a:rPr>
              <a:t>C54x</a:t>
            </a:r>
            <a:r>
              <a:rPr lang="zh-CN" altLang="en-US" sz="4400">
                <a:solidFill>
                  <a:srgbClr val="FF0000"/>
                </a:solidFill>
                <a:latin typeface="宋体" panose="02010600030101010101" pitchFamily="2" charset="-122"/>
              </a:rPr>
              <a:t>芯片的基本性能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10979"/>
                                        </p:tgtEl>
                                        <p:attrNameLst>
                                          <p:attrName>style.visibility</p:attrName>
                                        </p:attrNameLst>
                                      </p:cBhvr>
                                      <p:to>
                                        <p:strVal val="visible"/>
                                      </p:to>
                                    </p:set>
                                    <p:anim calcmode="lin" valueType="num">
                                      <p:cBhvr additive="base">
                                        <p:cTn id="7" dur="500" fill="hold"/>
                                        <p:tgtEl>
                                          <p:spTgt spid="510979"/>
                                        </p:tgtEl>
                                        <p:attrNameLst>
                                          <p:attrName>ppt_x</p:attrName>
                                        </p:attrNameLst>
                                      </p:cBhvr>
                                      <p:tavLst>
                                        <p:tav tm="0">
                                          <p:val>
                                            <p:strVal val="0-#ppt_w/2"/>
                                          </p:val>
                                        </p:tav>
                                        <p:tav tm="100000">
                                          <p:val>
                                            <p:strVal val="#ppt_x"/>
                                          </p:val>
                                        </p:tav>
                                      </p:tavLst>
                                    </p:anim>
                                    <p:anim calcmode="lin" valueType="num">
                                      <p:cBhvr additive="base">
                                        <p:cTn id="8" dur="500" fill="hold"/>
                                        <p:tgtEl>
                                          <p:spTgt spid="510979"/>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510978"/>
                                        </p:tgtEl>
                                        <p:attrNameLst>
                                          <p:attrName>style.visibility</p:attrName>
                                        </p:attrNameLst>
                                      </p:cBhvr>
                                      <p:to>
                                        <p:strVal val="visible"/>
                                      </p:to>
                                    </p:set>
                                    <p:animEffect transition="in" filter="wipe(up)">
                                      <p:cBhvr>
                                        <p:cTn id="12" dur="500"/>
                                        <p:tgtEl>
                                          <p:spTgt spid="510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78" grpId="0" autoUpdateAnimBg="0"/>
      <p:bldP spid="51097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B58407E-27D0-4E72-97C4-39F06743E0A3}" type="slidenum">
              <a:rPr lang="en-US" altLang="zh-CN" sz="1400" b="0"/>
              <a:pPr eaLnBrk="1" hangingPunct="1"/>
              <a:t>3</a:t>
            </a:fld>
            <a:endParaRPr lang="en-US" altLang="zh-CN" sz="1400" b="0"/>
          </a:p>
        </p:txBody>
      </p:sp>
      <p:sp>
        <p:nvSpPr>
          <p:cNvPr id="512002" name="Rectangle 2"/>
          <p:cNvSpPr>
            <a:spLocks noChangeArrowheads="1"/>
          </p:cNvSpPr>
          <p:nvPr/>
        </p:nvSpPr>
        <p:spPr bwMode="auto">
          <a:xfrm>
            <a:off x="1295400" y="1395413"/>
            <a:ext cx="6149975" cy="448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latin typeface="宋体" panose="02010600030101010101" pitchFamily="2" charset="-122"/>
              </a:rPr>
              <a:t>7</a:t>
            </a:r>
            <a:r>
              <a:rPr lang="zh-CN" altLang="en-US" sz="3600">
                <a:latin typeface="宋体" panose="02010600030101010101" pitchFamily="2" charset="-122"/>
              </a:rPr>
              <a:t>）数据总线</a:t>
            </a:r>
          </a:p>
          <a:p>
            <a:pPr eaLnBrk="1" hangingPunct="1"/>
            <a:r>
              <a:rPr lang="en-US" altLang="zh-CN" sz="3600">
                <a:latin typeface="宋体" panose="02010600030101010101" pitchFamily="2" charset="-122"/>
              </a:rPr>
              <a:t>8</a:t>
            </a:r>
            <a:r>
              <a:rPr lang="zh-CN" altLang="en-US" sz="3600">
                <a:latin typeface="宋体" panose="02010600030101010101" pitchFamily="2" charset="-122"/>
              </a:rPr>
              <a:t>）总线寻址空间</a:t>
            </a:r>
          </a:p>
          <a:p>
            <a:pPr eaLnBrk="1" hangingPunct="1"/>
            <a:r>
              <a:rPr lang="en-US" altLang="zh-CN" sz="3600">
                <a:latin typeface="宋体" panose="02010600030101010101" pitchFamily="2" charset="-122"/>
              </a:rPr>
              <a:t>9</a:t>
            </a:r>
            <a:r>
              <a:rPr lang="zh-CN" altLang="en-US" sz="3600">
                <a:latin typeface="宋体" panose="02010600030101010101" pitchFamily="2" charset="-122"/>
              </a:rPr>
              <a:t>）三种存储器空间</a:t>
            </a:r>
          </a:p>
          <a:p>
            <a:pPr eaLnBrk="1" hangingPunct="1"/>
            <a:r>
              <a:rPr lang="en-US" altLang="zh-CN" sz="3600">
                <a:latin typeface="宋体" panose="02010600030101010101" pitchFamily="2" charset="-122"/>
              </a:rPr>
              <a:t>10</a:t>
            </a:r>
            <a:r>
              <a:rPr lang="zh-CN" altLang="en-US" sz="3600">
                <a:latin typeface="宋体" panose="02010600030101010101" pitchFamily="2" charset="-122"/>
              </a:rPr>
              <a:t>）单指令循环和块循环</a:t>
            </a:r>
          </a:p>
          <a:p>
            <a:pPr eaLnBrk="1" hangingPunct="1"/>
            <a:r>
              <a:rPr lang="en-US" altLang="zh-CN" sz="3600">
                <a:latin typeface="宋体" panose="02010600030101010101" pitchFamily="2" charset="-122"/>
              </a:rPr>
              <a:t>11</a:t>
            </a:r>
            <a:r>
              <a:rPr lang="zh-CN" altLang="en-US" sz="3600">
                <a:latin typeface="宋体" panose="02010600030101010101" pitchFamily="2" charset="-122"/>
              </a:rPr>
              <a:t>）区分的存储块移动指令</a:t>
            </a:r>
          </a:p>
          <a:p>
            <a:pPr eaLnBrk="1" hangingPunct="1"/>
            <a:r>
              <a:rPr lang="en-US" altLang="zh-CN" sz="3600">
                <a:latin typeface="宋体" panose="02010600030101010101" pitchFamily="2" charset="-122"/>
              </a:rPr>
              <a:t>12</a:t>
            </a:r>
            <a:r>
              <a:rPr lang="zh-CN" altLang="en-US" sz="3600">
                <a:latin typeface="宋体" panose="02010600030101010101" pitchFamily="2" charset="-122"/>
              </a:rPr>
              <a:t>）</a:t>
            </a:r>
            <a:r>
              <a:rPr lang="en-US" altLang="zh-CN" sz="3600">
                <a:latin typeface="宋体" panose="02010600030101010101" pitchFamily="2" charset="-122"/>
              </a:rPr>
              <a:t>32</a:t>
            </a:r>
            <a:r>
              <a:rPr lang="zh-CN" altLang="en-US" sz="3600">
                <a:latin typeface="宋体" panose="02010600030101010101" pitchFamily="2" charset="-122"/>
              </a:rPr>
              <a:t>位长操作数指令 </a:t>
            </a:r>
          </a:p>
          <a:p>
            <a:pPr eaLnBrk="1" hangingPunct="1"/>
            <a:r>
              <a:rPr lang="en-US" altLang="zh-CN" sz="3600">
                <a:latin typeface="宋体" panose="02010600030101010101" pitchFamily="2" charset="-122"/>
              </a:rPr>
              <a:t>13</a:t>
            </a:r>
            <a:r>
              <a:rPr lang="zh-CN" altLang="en-US" sz="3600">
                <a:latin typeface="宋体" panose="02010600030101010101" pitchFamily="2" charset="-122"/>
              </a:rPr>
              <a:t>）可编程等待状态发生器和</a:t>
            </a:r>
          </a:p>
          <a:p>
            <a:pPr eaLnBrk="1" hangingPunct="1"/>
            <a:r>
              <a:rPr lang="zh-CN" altLang="en-US" sz="3600">
                <a:latin typeface="宋体" panose="02010600030101010101" pitchFamily="2" charset="-122"/>
              </a:rPr>
              <a:t>    可编程的存储单元转换</a:t>
            </a:r>
            <a:r>
              <a:rPr lang="zh-CN" altLang="en-US" sz="3200">
                <a:latin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512002"/>
                                        </p:tgtEl>
                                        <p:attrNameLst>
                                          <p:attrName>style.visibility</p:attrName>
                                        </p:attrNameLst>
                                      </p:cBhvr>
                                      <p:to>
                                        <p:strVal val="visible"/>
                                      </p:to>
                                    </p:set>
                                    <p:animEffect transition="in" filter="barn(outHorizontal)">
                                      <p:cBhvr>
                                        <p:cTn id="7" dur="500"/>
                                        <p:tgtEl>
                                          <p:spTgt spid="512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0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5311A20-2EFE-486A-9073-51369C438150}" type="slidenum">
              <a:rPr lang="en-US" altLang="zh-CN" sz="1400" b="0"/>
              <a:pPr eaLnBrk="1" hangingPunct="1"/>
              <a:t>4</a:t>
            </a:fld>
            <a:endParaRPr lang="en-US" altLang="zh-CN" sz="1400" b="0"/>
          </a:p>
        </p:txBody>
      </p:sp>
      <p:sp>
        <p:nvSpPr>
          <p:cNvPr id="16387" name="Rectangle 2"/>
          <p:cNvSpPr>
            <a:spLocks noChangeArrowheads="1"/>
          </p:cNvSpPr>
          <p:nvPr/>
        </p:nvSpPr>
        <p:spPr bwMode="auto">
          <a:xfrm>
            <a:off x="1916113" y="1423988"/>
            <a:ext cx="184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2800" b="0">
              <a:latin typeface="宋体" panose="02010600030101010101" pitchFamily="2" charset="-122"/>
            </a:endParaRPr>
          </a:p>
        </p:txBody>
      </p:sp>
      <p:sp>
        <p:nvSpPr>
          <p:cNvPr id="513027" name="Rectangle 3"/>
          <p:cNvSpPr>
            <a:spLocks noChangeArrowheads="1"/>
          </p:cNvSpPr>
          <p:nvPr/>
        </p:nvSpPr>
        <p:spPr bwMode="auto">
          <a:xfrm>
            <a:off x="685800" y="1371600"/>
            <a:ext cx="8001000" cy="448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latin typeface="宋体" panose="02010600030101010101" pitchFamily="2" charset="-122"/>
              </a:rPr>
              <a:t>14</a:t>
            </a:r>
            <a:r>
              <a:rPr lang="zh-CN" altLang="en-US" sz="3600">
                <a:latin typeface="宋体" panose="02010600030101010101" pitchFamily="2" charset="-122"/>
              </a:rPr>
              <a:t>）锁相环（</a:t>
            </a:r>
            <a:r>
              <a:rPr lang="en-US" altLang="zh-CN" sz="3600">
                <a:latin typeface="宋体" panose="02010600030101010101" pitchFamily="2" charset="-122"/>
              </a:rPr>
              <a:t>PLL</a:t>
            </a:r>
            <a:r>
              <a:rPr lang="zh-CN" altLang="en-US" sz="3600">
                <a:latin typeface="宋体" panose="02010600030101010101" pitchFamily="2" charset="-122"/>
              </a:rPr>
              <a:t>）发生器 </a:t>
            </a:r>
          </a:p>
          <a:p>
            <a:pPr eaLnBrk="1" hangingPunct="1"/>
            <a:r>
              <a:rPr lang="en-US" altLang="zh-CN" sz="3600">
                <a:latin typeface="宋体" panose="02010600030101010101" pitchFamily="2" charset="-122"/>
              </a:rPr>
              <a:t>15</a:t>
            </a:r>
            <a:r>
              <a:rPr lang="zh-CN" altLang="en-US" sz="3600">
                <a:latin typeface="宋体" panose="02010600030101010101" pitchFamily="2" charset="-122"/>
              </a:rPr>
              <a:t>）多通道缓冲串口（</a:t>
            </a:r>
            <a:r>
              <a:rPr lang="en-US" altLang="zh-CN" sz="3600">
                <a:latin typeface="宋体" panose="02010600030101010101" pitchFamily="2" charset="-122"/>
              </a:rPr>
              <a:t>McBSP</a:t>
            </a:r>
            <a:r>
              <a:rPr lang="zh-CN" altLang="en-US" sz="3600">
                <a:latin typeface="宋体" panose="02010600030101010101" pitchFamily="2" charset="-122"/>
              </a:rPr>
              <a:t>） </a:t>
            </a:r>
          </a:p>
          <a:p>
            <a:pPr eaLnBrk="1" hangingPunct="1"/>
            <a:r>
              <a:rPr lang="en-US" altLang="zh-CN" sz="3600">
                <a:latin typeface="宋体" panose="02010600030101010101" pitchFamily="2" charset="-122"/>
              </a:rPr>
              <a:t>16</a:t>
            </a:r>
            <a:r>
              <a:rPr lang="zh-CN" altLang="en-US" sz="3600">
                <a:latin typeface="宋体" panose="02010600030101010101" pitchFamily="2" charset="-122"/>
              </a:rPr>
              <a:t>）直接存储器访问（</a:t>
            </a:r>
            <a:r>
              <a:rPr lang="en-US" altLang="zh-CN" sz="3600">
                <a:latin typeface="宋体" panose="02010600030101010101" pitchFamily="2" charset="-122"/>
              </a:rPr>
              <a:t>DMA</a:t>
            </a:r>
            <a:r>
              <a:rPr lang="zh-CN" altLang="en-US" sz="3600">
                <a:latin typeface="宋体" panose="02010600030101010101" pitchFamily="2" charset="-122"/>
              </a:rPr>
              <a:t>）控制器 </a:t>
            </a:r>
          </a:p>
          <a:p>
            <a:pPr eaLnBrk="1" hangingPunct="1"/>
            <a:r>
              <a:rPr lang="en-US" altLang="zh-CN" sz="3600">
                <a:latin typeface="宋体" panose="02010600030101010101" pitchFamily="2" charset="-122"/>
              </a:rPr>
              <a:t>17</a:t>
            </a:r>
            <a:r>
              <a:rPr lang="zh-CN" altLang="en-US" sz="3600">
                <a:latin typeface="宋体" panose="02010600030101010101" pitchFamily="2" charset="-122"/>
              </a:rPr>
              <a:t>）主机接口（</a:t>
            </a:r>
            <a:r>
              <a:rPr lang="en-US" altLang="zh-CN" sz="3600">
                <a:latin typeface="宋体" panose="02010600030101010101" pitchFamily="2" charset="-122"/>
              </a:rPr>
              <a:t>HPI</a:t>
            </a:r>
            <a:r>
              <a:rPr lang="zh-CN" altLang="en-US" sz="3600">
                <a:latin typeface="宋体" panose="02010600030101010101" pitchFamily="2" charset="-122"/>
              </a:rPr>
              <a:t>） </a:t>
            </a:r>
          </a:p>
          <a:p>
            <a:pPr eaLnBrk="1" hangingPunct="1"/>
            <a:r>
              <a:rPr lang="en-US" altLang="zh-CN" sz="3600">
                <a:latin typeface="宋体" panose="02010600030101010101" pitchFamily="2" charset="-122"/>
              </a:rPr>
              <a:t>18</a:t>
            </a:r>
            <a:r>
              <a:rPr lang="zh-CN" altLang="en-US" sz="3600">
                <a:latin typeface="宋体" panose="02010600030101010101" pitchFamily="2" charset="-122"/>
              </a:rPr>
              <a:t>）定时器 </a:t>
            </a:r>
          </a:p>
          <a:p>
            <a:pPr eaLnBrk="1" hangingPunct="1"/>
            <a:r>
              <a:rPr lang="en-US" altLang="zh-CN" sz="3600">
                <a:latin typeface="宋体" panose="02010600030101010101" pitchFamily="2" charset="-122"/>
              </a:rPr>
              <a:t>19</a:t>
            </a:r>
            <a:r>
              <a:rPr lang="zh-CN" altLang="en-US" sz="3600">
                <a:latin typeface="宋体" panose="02010600030101010101" pitchFamily="2" charset="-122"/>
              </a:rPr>
              <a:t>）多种节电模式 </a:t>
            </a:r>
          </a:p>
          <a:p>
            <a:pPr eaLnBrk="1" hangingPunct="1"/>
            <a:r>
              <a:rPr lang="en-US" altLang="zh-CN" sz="3600">
                <a:latin typeface="宋体" panose="02010600030101010101" pitchFamily="2" charset="-122"/>
              </a:rPr>
              <a:t>20</a:t>
            </a:r>
            <a:r>
              <a:rPr lang="zh-CN" altLang="en-US" sz="3600">
                <a:latin typeface="宋体" panose="02010600030101010101" pitchFamily="2" charset="-122"/>
              </a:rPr>
              <a:t>）</a:t>
            </a:r>
            <a:r>
              <a:rPr lang="en-US" altLang="zh-CN" sz="3600">
                <a:latin typeface="宋体" panose="02010600030101010101" pitchFamily="2" charset="-122"/>
              </a:rPr>
              <a:t>JTAG</a:t>
            </a:r>
            <a:r>
              <a:rPr lang="zh-CN" altLang="en-US" sz="3600">
                <a:latin typeface="宋体" panose="02010600030101010101" pitchFamily="2" charset="-122"/>
              </a:rPr>
              <a:t>接口 </a:t>
            </a:r>
          </a:p>
          <a:p>
            <a:pPr eaLnBrk="1" hangingPunct="1"/>
            <a:r>
              <a:rPr lang="en-US" altLang="zh-CN" sz="3600">
                <a:latin typeface="宋体" panose="02010600030101010101" pitchFamily="2" charset="-122"/>
              </a:rPr>
              <a:t>21</a:t>
            </a:r>
            <a:r>
              <a:rPr lang="zh-CN" altLang="en-US" sz="3600">
                <a:latin typeface="宋体" panose="02010600030101010101" pitchFamily="2" charset="-122"/>
              </a:rPr>
              <a:t>）低电压工作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513027"/>
                                        </p:tgtEl>
                                        <p:attrNameLst>
                                          <p:attrName>style.visibility</p:attrName>
                                        </p:attrNameLst>
                                      </p:cBhvr>
                                      <p:to>
                                        <p:strVal val="visible"/>
                                      </p:to>
                                    </p:set>
                                    <p:animEffect transition="in" filter="barn(outVertical)">
                                      <p:cBhvr>
                                        <p:cTn id="7" dur="500"/>
                                        <p:tgtEl>
                                          <p:spTgt spid="513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8A3F7D0B-FACA-4EEB-9E19-FD5ABE0E26ED}" type="slidenum">
              <a:rPr lang="en-US" altLang="zh-CN" sz="1400" b="0"/>
              <a:pPr eaLnBrk="1" hangingPunct="1"/>
              <a:t>5</a:t>
            </a:fld>
            <a:endParaRPr lang="en-US" altLang="zh-CN" sz="1400" b="0"/>
          </a:p>
        </p:txBody>
      </p:sp>
      <p:sp>
        <p:nvSpPr>
          <p:cNvPr id="17411" name="Rectangle 3"/>
          <p:cNvSpPr>
            <a:spLocks noChangeArrowheads="1"/>
          </p:cNvSpPr>
          <p:nvPr/>
        </p:nvSpPr>
        <p:spPr bwMode="auto">
          <a:xfrm>
            <a:off x="2808288" y="5981700"/>
            <a:ext cx="475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latin typeface="宋体" panose="02010600030101010101" pitchFamily="2" charset="-122"/>
              </a:rPr>
              <a:t>TMS320C54x DSP</a:t>
            </a:r>
            <a:r>
              <a:rPr lang="zh-CN" altLang="en-US" sz="2400">
                <a:latin typeface="宋体" panose="02010600030101010101" pitchFamily="2" charset="-122"/>
              </a:rPr>
              <a:t>的内部硬件组成图</a:t>
            </a:r>
          </a:p>
        </p:txBody>
      </p:sp>
      <p:sp>
        <p:nvSpPr>
          <p:cNvPr id="17412" name="Text Box 5"/>
          <p:cNvSpPr txBox="1">
            <a:spLocks noChangeArrowheads="1"/>
          </p:cNvSpPr>
          <p:nvPr/>
        </p:nvSpPr>
        <p:spPr bwMode="auto">
          <a:xfrm>
            <a:off x="398463" y="1252538"/>
            <a:ext cx="10080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系统控制接口</a:t>
            </a:r>
          </a:p>
        </p:txBody>
      </p:sp>
      <p:sp>
        <p:nvSpPr>
          <p:cNvPr id="17413" name="Text Box 6"/>
          <p:cNvSpPr txBox="1">
            <a:spLocks noChangeArrowheads="1"/>
          </p:cNvSpPr>
          <p:nvPr/>
        </p:nvSpPr>
        <p:spPr bwMode="auto">
          <a:xfrm>
            <a:off x="2339975" y="1233488"/>
            <a:ext cx="10810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程序地址产生逻辑（</a:t>
            </a:r>
            <a:r>
              <a:rPr lang="en-US" altLang="zh-CN" sz="1200"/>
              <a:t>PAGEN</a:t>
            </a:r>
            <a:r>
              <a:rPr lang="zh-CN" altLang="en-US" sz="1200"/>
              <a:t>）</a:t>
            </a:r>
          </a:p>
        </p:txBody>
      </p:sp>
      <p:sp>
        <p:nvSpPr>
          <p:cNvPr id="17414" name="Text Box 7"/>
          <p:cNvSpPr txBox="1">
            <a:spLocks noChangeArrowheads="1"/>
          </p:cNvSpPr>
          <p:nvPr/>
        </p:nvSpPr>
        <p:spPr bwMode="auto">
          <a:xfrm>
            <a:off x="4751388" y="1233488"/>
            <a:ext cx="1081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数据地址产生逻辑（</a:t>
            </a:r>
            <a:r>
              <a:rPr lang="en-US" altLang="zh-CN" sz="1200"/>
              <a:t>DAGEN</a:t>
            </a:r>
            <a:r>
              <a:rPr lang="zh-CN" altLang="en-US" sz="1200"/>
              <a:t>）</a:t>
            </a:r>
          </a:p>
        </p:txBody>
      </p:sp>
      <p:sp>
        <p:nvSpPr>
          <p:cNvPr id="17415" name="Text Box 8"/>
          <p:cNvSpPr txBox="1">
            <a:spLocks noChangeArrowheads="1"/>
          </p:cNvSpPr>
          <p:nvPr/>
        </p:nvSpPr>
        <p:spPr bwMode="auto">
          <a:xfrm>
            <a:off x="7761288" y="1714500"/>
            <a:ext cx="719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存储器和外部接口</a:t>
            </a:r>
          </a:p>
        </p:txBody>
      </p:sp>
      <p:sp>
        <p:nvSpPr>
          <p:cNvPr id="17416" name="Text Box 9"/>
          <p:cNvSpPr txBox="1">
            <a:spLocks noChangeArrowheads="1"/>
          </p:cNvSpPr>
          <p:nvPr/>
        </p:nvSpPr>
        <p:spPr bwMode="auto">
          <a:xfrm>
            <a:off x="7775575" y="2889250"/>
            <a:ext cx="719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周边接口</a:t>
            </a:r>
          </a:p>
        </p:txBody>
      </p:sp>
      <p:sp>
        <p:nvSpPr>
          <p:cNvPr id="17417" name="Text Box 10"/>
          <p:cNvSpPr txBox="1">
            <a:spLocks noChangeArrowheads="1"/>
          </p:cNvSpPr>
          <p:nvPr/>
        </p:nvSpPr>
        <p:spPr bwMode="auto">
          <a:xfrm>
            <a:off x="284163" y="2097088"/>
            <a:ext cx="5032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FF0000"/>
                </a:solidFill>
              </a:rPr>
              <a:t>PAB</a:t>
            </a:r>
          </a:p>
        </p:txBody>
      </p:sp>
      <p:sp>
        <p:nvSpPr>
          <p:cNvPr id="17418" name="Text Box 11"/>
          <p:cNvSpPr txBox="1">
            <a:spLocks noChangeArrowheads="1"/>
          </p:cNvSpPr>
          <p:nvPr/>
        </p:nvSpPr>
        <p:spPr bwMode="auto">
          <a:xfrm>
            <a:off x="293688" y="2236788"/>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FF00FF"/>
                </a:solidFill>
              </a:rPr>
              <a:t>PB</a:t>
            </a:r>
          </a:p>
        </p:txBody>
      </p:sp>
      <p:sp>
        <p:nvSpPr>
          <p:cNvPr id="17419" name="Text Box 12"/>
          <p:cNvSpPr txBox="1">
            <a:spLocks noChangeArrowheads="1"/>
          </p:cNvSpPr>
          <p:nvPr/>
        </p:nvSpPr>
        <p:spPr bwMode="auto">
          <a:xfrm>
            <a:off x="303213" y="2373313"/>
            <a:ext cx="4413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tx2"/>
                </a:solidFill>
              </a:rPr>
              <a:t>CAB</a:t>
            </a:r>
          </a:p>
        </p:txBody>
      </p:sp>
      <p:sp>
        <p:nvSpPr>
          <p:cNvPr id="17420" name="Text Box 13"/>
          <p:cNvSpPr txBox="1">
            <a:spLocks noChangeArrowheads="1"/>
          </p:cNvSpPr>
          <p:nvPr/>
        </p:nvSpPr>
        <p:spPr bwMode="auto">
          <a:xfrm>
            <a:off x="298450" y="2525713"/>
            <a:ext cx="36036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hlink"/>
                </a:solidFill>
              </a:rPr>
              <a:t>CB</a:t>
            </a:r>
          </a:p>
        </p:txBody>
      </p:sp>
      <p:sp>
        <p:nvSpPr>
          <p:cNvPr id="17421" name="Text Box 14"/>
          <p:cNvSpPr txBox="1">
            <a:spLocks noChangeArrowheads="1"/>
          </p:cNvSpPr>
          <p:nvPr/>
        </p:nvSpPr>
        <p:spPr bwMode="auto">
          <a:xfrm>
            <a:off x="288925" y="2663825"/>
            <a:ext cx="5032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FF6600"/>
                </a:solidFill>
              </a:rPr>
              <a:t>DAB</a:t>
            </a:r>
          </a:p>
        </p:txBody>
      </p:sp>
      <p:sp>
        <p:nvSpPr>
          <p:cNvPr id="17422" name="Text Box 15"/>
          <p:cNvSpPr txBox="1">
            <a:spLocks noChangeArrowheads="1"/>
          </p:cNvSpPr>
          <p:nvPr/>
        </p:nvSpPr>
        <p:spPr bwMode="auto">
          <a:xfrm>
            <a:off x="331788" y="2803525"/>
            <a:ext cx="3079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FF9900"/>
                </a:solidFill>
              </a:rPr>
              <a:t>DB</a:t>
            </a:r>
          </a:p>
        </p:txBody>
      </p:sp>
      <p:sp>
        <p:nvSpPr>
          <p:cNvPr id="17423" name="Text Box 16"/>
          <p:cNvSpPr txBox="1">
            <a:spLocks noChangeArrowheads="1"/>
          </p:cNvSpPr>
          <p:nvPr/>
        </p:nvSpPr>
        <p:spPr bwMode="auto">
          <a:xfrm>
            <a:off x="279400" y="2947988"/>
            <a:ext cx="5127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00FFFF"/>
                </a:solidFill>
              </a:rPr>
              <a:t>EAB</a:t>
            </a:r>
          </a:p>
        </p:txBody>
      </p:sp>
      <p:sp>
        <p:nvSpPr>
          <p:cNvPr id="17424" name="Text Box 17"/>
          <p:cNvSpPr txBox="1">
            <a:spLocks noChangeArrowheads="1"/>
          </p:cNvSpPr>
          <p:nvPr/>
        </p:nvSpPr>
        <p:spPr bwMode="auto">
          <a:xfrm>
            <a:off x="307975" y="309086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66CCFF"/>
                </a:solidFill>
              </a:rPr>
              <a:t>EB</a:t>
            </a:r>
          </a:p>
        </p:txBody>
      </p:sp>
      <p:sp>
        <p:nvSpPr>
          <p:cNvPr id="17425" name="Line 18"/>
          <p:cNvSpPr>
            <a:spLocks noChangeShapeType="1"/>
          </p:cNvSpPr>
          <p:nvPr/>
        </p:nvSpPr>
        <p:spPr bwMode="auto">
          <a:xfrm flipV="1">
            <a:off x="719138" y="2168525"/>
            <a:ext cx="6805612" cy="1588"/>
          </a:xfrm>
          <a:prstGeom prst="line">
            <a:avLst/>
          </a:prstGeom>
          <a:noFill/>
          <a:ln w="7620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26" name="Line 19"/>
          <p:cNvSpPr>
            <a:spLocks noChangeShapeType="1"/>
          </p:cNvSpPr>
          <p:nvPr/>
        </p:nvSpPr>
        <p:spPr bwMode="auto">
          <a:xfrm>
            <a:off x="719138" y="2312988"/>
            <a:ext cx="6805612" cy="0"/>
          </a:xfrm>
          <a:prstGeom prst="line">
            <a:avLst/>
          </a:prstGeom>
          <a:noFill/>
          <a:ln w="7620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27" name="Line 20"/>
          <p:cNvSpPr>
            <a:spLocks noChangeShapeType="1"/>
          </p:cNvSpPr>
          <p:nvPr/>
        </p:nvSpPr>
        <p:spPr bwMode="auto">
          <a:xfrm>
            <a:off x="719138" y="2457450"/>
            <a:ext cx="6805612" cy="0"/>
          </a:xfrm>
          <a:prstGeom prst="line">
            <a:avLst/>
          </a:prstGeom>
          <a:noFill/>
          <a:ln w="76200">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28" name="Line 21"/>
          <p:cNvSpPr>
            <a:spLocks noChangeShapeType="1"/>
          </p:cNvSpPr>
          <p:nvPr/>
        </p:nvSpPr>
        <p:spPr bwMode="auto">
          <a:xfrm>
            <a:off x="684213" y="2601913"/>
            <a:ext cx="6805612" cy="0"/>
          </a:xfrm>
          <a:prstGeom prst="line">
            <a:avLst/>
          </a:prstGeom>
          <a:noFill/>
          <a:ln w="7620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29" name="Line 22"/>
          <p:cNvSpPr>
            <a:spLocks noChangeShapeType="1"/>
          </p:cNvSpPr>
          <p:nvPr/>
        </p:nvSpPr>
        <p:spPr bwMode="auto">
          <a:xfrm flipV="1">
            <a:off x="719138" y="2744788"/>
            <a:ext cx="6805612" cy="1587"/>
          </a:xfrm>
          <a:prstGeom prst="line">
            <a:avLst/>
          </a:prstGeom>
          <a:noFill/>
          <a:ln w="76200">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30" name="Line 23"/>
          <p:cNvSpPr>
            <a:spLocks noChangeShapeType="1"/>
          </p:cNvSpPr>
          <p:nvPr/>
        </p:nvSpPr>
        <p:spPr bwMode="auto">
          <a:xfrm>
            <a:off x="719138" y="2889250"/>
            <a:ext cx="6805612" cy="0"/>
          </a:xfrm>
          <a:prstGeom prst="line">
            <a:avLst/>
          </a:prstGeom>
          <a:noFill/>
          <a:ln w="76200">
            <a:solidFill>
              <a:srgbClr val="FFCC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31" name="Line 24"/>
          <p:cNvSpPr>
            <a:spLocks noChangeShapeType="1"/>
          </p:cNvSpPr>
          <p:nvPr/>
        </p:nvSpPr>
        <p:spPr bwMode="auto">
          <a:xfrm>
            <a:off x="719138" y="3033713"/>
            <a:ext cx="6805612" cy="0"/>
          </a:xfrm>
          <a:prstGeom prst="line">
            <a:avLst/>
          </a:prstGeom>
          <a:noFill/>
          <a:ln w="7620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32" name="Line 25"/>
          <p:cNvSpPr>
            <a:spLocks noChangeShapeType="1"/>
          </p:cNvSpPr>
          <p:nvPr/>
        </p:nvSpPr>
        <p:spPr bwMode="auto">
          <a:xfrm flipV="1">
            <a:off x="719138" y="3176588"/>
            <a:ext cx="6805612" cy="1587"/>
          </a:xfrm>
          <a:prstGeom prst="line">
            <a:avLst/>
          </a:prstGeom>
          <a:noFill/>
          <a:ln w="76200">
            <a:solidFill>
              <a:srgbClr val="99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33" name="Text Box 27"/>
          <p:cNvSpPr txBox="1">
            <a:spLocks noChangeArrowheads="1"/>
          </p:cNvSpPr>
          <p:nvPr/>
        </p:nvSpPr>
        <p:spPr bwMode="auto">
          <a:xfrm>
            <a:off x="896938" y="1593850"/>
            <a:ext cx="252412" cy="406400"/>
          </a:xfrm>
          <a:prstGeom prst="rect">
            <a:avLst/>
          </a:prstGeom>
          <a:solidFill>
            <a:srgbClr val="00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sp>
        <p:nvSpPr>
          <p:cNvPr id="17434" name="Text Box 33"/>
          <p:cNvSpPr txBox="1">
            <a:spLocks noChangeArrowheads="1"/>
          </p:cNvSpPr>
          <p:nvPr/>
        </p:nvSpPr>
        <p:spPr bwMode="auto">
          <a:xfrm>
            <a:off x="2268538" y="1593850"/>
            <a:ext cx="1238250" cy="406400"/>
          </a:xfrm>
          <a:prstGeom prst="rect">
            <a:avLst/>
          </a:prstGeom>
          <a:solidFill>
            <a:schemeClr val="folHlink"/>
          </a:solidFill>
          <a:ln w="9525">
            <a:solidFill>
              <a:schemeClr val="bg2"/>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000">
                <a:solidFill>
                  <a:schemeClr val="bg1"/>
                </a:solidFill>
              </a:rPr>
              <a:t>PC</a:t>
            </a:r>
            <a:r>
              <a:rPr lang="zh-CN" altLang="en-US" sz="1000">
                <a:solidFill>
                  <a:schemeClr val="bg1"/>
                </a:solidFill>
              </a:rPr>
              <a:t>，</a:t>
            </a:r>
            <a:r>
              <a:rPr lang="en-US" altLang="zh-CN" sz="1000">
                <a:solidFill>
                  <a:schemeClr val="bg1"/>
                </a:solidFill>
              </a:rPr>
              <a:t>IPTR</a:t>
            </a:r>
            <a:r>
              <a:rPr lang="zh-CN" altLang="en-US" sz="1000">
                <a:solidFill>
                  <a:schemeClr val="bg1"/>
                </a:solidFill>
              </a:rPr>
              <a:t>，</a:t>
            </a:r>
            <a:r>
              <a:rPr lang="en-US" altLang="zh-CN" sz="1000">
                <a:solidFill>
                  <a:schemeClr val="bg1"/>
                </a:solidFill>
              </a:rPr>
              <a:t>RC</a:t>
            </a:r>
            <a:r>
              <a:rPr lang="zh-CN" altLang="en-US" sz="1000">
                <a:solidFill>
                  <a:schemeClr val="bg1"/>
                </a:solidFill>
              </a:rPr>
              <a:t>，</a:t>
            </a:r>
          </a:p>
          <a:p>
            <a:pPr eaLnBrk="1" hangingPunct="1"/>
            <a:r>
              <a:rPr lang="en-US" altLang="zh-CN" sz="1000">
                <a:solidFill>
                  <a:schemeClr val="bg1"/>
                </a:solidFill>
              </a:rPr>
              <a:t>BRC</a:t>
            </a:r>
            <a:r>
              <a:rPr lang="zh-CN" altLang="en-US" sz="1000">
                <a:solidFill>
                  <a:schemeClr val="bg1"/>
                </a:solidFill>
              </a:rPr>
              <a:t>，</a:t>
            </a:r>
            <a:r>
              <a:rPr lang="en-US" altLang="zh-CN" sz="1000">
                <a:solidFill>
                  <a:schemeClr val="bg1"/>
                </a:solidFill>
              </a:rPr>
              <a:t>RSA</a:t>
            </a:r>
            <a:r>
              <a:rPr lang="zh-CN" altLang="en-US" sz="1000">
                <a:solidFill>
                  <a:schemeClr val="bg1"/>
                </a:solidFill>
              </a:rPr>
              <a:t>，</a:t>
            </a:r>
            <a:r>
              <a:rPr lang="en-US" altLang="zh-CN" sz="1000">
                <a:solidFill>
                  <a:schemeClr val="bg1"/>
                </a:solidFill>
              </a:rPr>
              <a:t>REA</a:t>
            </a:r>
          </a:p>
        </p:txBody>
      </p:sp>
      <p:sp>
        <p:nvSpPr>
          <p:cNvPr id="17435" name="Text Box 34"/>
          <p:cNvSpPr txBox="1">
            <a:spLocks noChangeArrowheads="1"/>
          </p:cNvSpPr>
          <p:nvPr/>
        </p:nvSpPr>
        <p:spPr bwMode="auto">
          <a:xfrm>
            <a:off x="4319588" y="1593850"/>
            <a:ext cx="1933575" cy="406400"/>
          </a:xfrm>
          <a:prstGeom prst="rect">
            <a:avLst/>
          </a:prstGeom>
          <a:solidFill>
            <a:schemeClr val="hlink"/>
          </a:solidFill>
          <a:ln w="9525">
            <a:solidFill>
              <a:srgbClr val="FF00FF"/>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000">
                <a:solidFill>
                  <a:srgbClr val="FF6600"/>
                </a:solidFill>
              </a:rPr>
              <a:t>ARAU0</a:t>
            </a:r>
            <a:r>
              <a:rPr lang="zh-CN" altLang="en-US" sz="1000">
                <a:solidFill>
                  <a:srgbClr val="FF6600"/>
                </a:solidFill>
              </a:rPr>
              <a:t>，</a:t>
            </a:r>
            <a:r>
              <a:rPr lang="en-US" altLang="zh-CN" sz="1000">
                <a:solidFill>
                  <a:srgbClr val="FF6600"/>
                </a:solidFill>
              </a:rPr>
              <a:t>ARAU1</a:t>
            </a:r>
            <a:r>
              <a:rPr lang="zh-CN" altLang="en-US" sz="1000">
                <a:solidFill>
                  <a:srgbClr val="FF6600"/>
                </a:solidFill>
              </a:rPr>
              <a:t>，</a:t>
            </a:r>
            <a:r>
              <a:rPr lang="en-US" altLang="zh-CN" sz="1000">
                <a:solidFill>
                  <a:srgbClr val="FF6600"/>
                </a:solidFill>
              </a:rPr>
              <a:t>AR0</a:t>
            </a:r>
            <a:r>
              <a:rPr lang="zh-CN" altLang="en-US" sz="1000">
                <a:solidFill>
                  <a:srgbClr val="FF6600"/>
                </a:solidFill>
              </a:rPr>
              <a:t>～</a:t>
            </a:r>
            <a:r>
              <a:rPr lang="en-US" altLang="zh-CN" sz="1000">
                <a:solidFill>
                  <a:srgbClr val="FF6600"/>
                </a:solidFill>
              </a:rPr>
              <a:t>AR7</a:t>
            </a:r>
          </a:p>
          <a:p>
            <a:pPr eaLnBrk="1" hangingPunct="1"/>
            <a:r>
              <a:rPr lang="en-US" altLang="zh-CN" sz="1000">
                <a:solidFill>
                  <a:srgbClr val="FF6600"/>
                </a:solidFill>
              </a:rPr>
              <a:t>ARP</a:t>
            </a:r>
            <a:r>
              <a:rPr lang="zh-CN" altLang="en-US" sz="1000">
                <a:solidFill>
                  <a:srgbClr val="FF6600"/>
                </a:solidFill>
              </a:rPr>
              <a:t>，</a:t>
            </a:r>
            <a:r>
              <a:rPr lang="en-US" altLang="zh-CN" sz="1000">
                <a:solidFill>
                  <a:srgbClr val="FF6600"/>
                </a:solidFill>
              </a:rPr>
              <a:t>BK</a:t>
            </a:r>
            <a:r>
              <a:rPr lang="zh-CN" altLang="en-US" sz="1000">
                <a:solidFill>
                  <a:srgbClr val="FF6600"/>
                </a:solidFill>
              </a:rPr>
              <a:t>，</a:t>
            </a:r>
            <a:r>
              <a:rPr lang="en-US" altLang="zh-CN" sz="1000">
                <a:solidFill>
                  <a:srgbClr val="FF6600"/>
                </a:solidFill>
              </a:rPr>
              <a:t>DP</a:t>
            </a:r>
            <a:r>
              <a:rPr lang="zh-CN" altLang="en-US" sz="1000">
                <a:solidFill>
                  <a:srgbClr val="FF6600"/>
                </a:solidFill>
              </a:rPr>
              <a:t>，</a:t>
            </a:r>
            <a:r>
              <a:rPr lang="en-US" altLang="zh-CN" sz="1000">
                <a:solidFill>
                  <a:srgbClr val="FF6600"/>
                </a:solidFill>
              </a:rPr>
              <a:t>SP</a:t>
            </a:r>
          </a:p>
        </p:txBody>
      </p:sp>
      <p:sp>
        <p:nvSpPr>
          <p:cNvPr id="17436" name="AutoShape 37"/>
          <p:cNvSpPr>
            <a:spLocks noChangeArrowheads="1"/>
          </p:cNvSpPr>
          <p:nvPr/>
        </p:nvSpPr>
        <p:spPr bwMode="auto">
          <a:xfrm>
            <a:off x="393700" y="1665288"/>
            <a:ext cx="493713" cy="269875"/>
          </a:xfrm>
          <a:prstGeom prst="leftRightArrow">
            <a:avLst>
              <a:gd name="adj1" fmla="val 50000"/>
              <a:gd name="adj2" fmla="val 36588"/>
            </a:avLst>
          </a:prstGeom>
          <a:solidFill>
            <a:srgbClr val="FF0000"/>
          </a:solidFill>
          <a:ln w="9525">
            <a:solidFill>
              <a:srgbClr val="FF66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437" name="Line 39"/>
          <p:cNvSpPr>
            <a:spLocks noChangeShapeType="1"/>
          </p:cNvSpPr>
          <p:nvPr/>
        </p:nvSpPr>
        <p:spPr bwMode="auto">
          <a:xfrm>
            <a:off x="1150938" y="1665288"/>
            <a:ext cx="1117600" cy="0"/>
          </a:xfrm>
          <a:prstGeom prst="line">
            <a:avLst/>
          </a:prstGeom>
          <a:noFill/>
          <a:ln w="28575">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38" name="Line 40"/>
          <p:cNvSpPr>
            <a:spLocks noChangeShapeType="1"/>
          </p:cNvSpPr>
          <p:nvPr/>
        </p:nvSpPr>
        <p:spPr bwMode="auto">
          <a:xfrm>
            <a:off x="1150938" y="1809750"/>
            <a:ext cx="1117600" cy="0"/>
          </a:xfrm>
          <a:prstGeom prst="line">
            <a:avLst/>
          </a:prstGeom>
          <a:noFill/>
          <a:ln w="1905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39" name="Line 41"/>
          <p:cNvSpPr>
            <a:spLocks noChangeShapeType="1"/>
          </p:cNvSpPr>
          <p:nvPr/>
        </p:nvSpPr>
        <p:spPr bwMode="auto">
          <a:xfrm>
            <a:off x="1150938" y="1954213"/>
            <a:ext cx="144462" cy="0"/>
          </a:xfrm>
          <a:prstGeom prst="line">
            <a:avLst/>
          </a:prstGeom>
          <a:noFill/>
          <a:ln w="19050">
            <a:solidFill>
              <a:srgbClr val="FF00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40" name="Line 44"/>
          <p:cNvSpPr>
            <a:spLocks noChangeShapeType="1"/>
          </p:cNvSpPr>
          <p:nvPr/>
        </p:nvSpPr>
        <p:spPr bwMode="auto">
          <a:xfrm>
            <a:off x="1295400" y="1954213"/>
            <a:ext cx="0" cy="358775"/>
          </a:xfrm>
          <a:prstGeom prst="line">
            <a:avLst/>
          </a:prstGeom>
          <a:noFill/>
          <a:ln w="190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41" name="Line 54"/>
          <p:cNvSpPr>
            <a:spLocks noChangeShapeType="1"/>
          </p:cNvSpPr>
          <p:nvPr/>
        </p:nvSpPr>
        <p:spPr bwMode="auto">
          <a:xfrm flipH="1">
            <a:off x="2339975" y="1989138"/>
            <a:ext cx="1588" cy="14446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42" name="Line 55"/>
          <p:cNvSpPr>
            <a:spLocks noChangeShapeType="1"/>
          </p:cNvSpPr>
          <p:nvPr/>
        </p:nvSpPr>
        <p:spPr bwMode="auto">
          <a:xfrm flipH="1">
            <a:off x="863600" y="3322638"/>
            <a:ext cx="1588" cy="144462"/>
          </a:xfrm>
          <a:prstGeom prst="line">
            <a:avLst/>
          </a:prstGeom>
          <a:noFill/>
          <a:ln w="19050">
            <a:solidFill>
              <a:srgbClr val="993366"/>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43" name="Line 56"/>
          <p:cNvSpPr>
            <a:spLocks noChangeShapeType="1"/>
          </p:cNvSpPr>
          <p:nvPr/>
        </p:nvSpPr>
        <p:spPr bwMode="auto">
          <a:xfrm flipH="1">
            <a:off x="1150938" y="3357563"/>
            <a:ext cx="0" cy="109537"/>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44" name="Text Box 57"/>
          <p:cNvSpPr txBox="1">
            <a:spLocks noChangeArrowheads="1"/>
          </p:cNvSpPr>
          <p:nvPr/>
        </p:nvSpPr>
        <p:spPr bwMode="auto">
          <a:xfrm>
            <a:off x="2339975" y="3286125"/>
            <a:ext cx="1368425" cy="254000"/>
          </a:xfrm>
          <a:prstGeom prst="rect">
            <a:avLst/>
          </a:prstGeom>
          <a:solidFill>
            <a:schemeClr val="folHlink"/>
          </a:solidFill>
          <a:ln w="9525">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000">
                <a:solidFill>
                  <a:schemeClr val="bg1"/>
                </a:solidFill>
              </a:rPr>
              <a:t>EXP</a:t>
            </a:r>
            <a:r>
              <a:rPr lang="zh-CN" altLang="en-US" sz="1000">
                <a:solidFill>
                  <a:schemeClr val="bg1"/>
                </a:solidFill>
              </a:rPr>
              <a:t>指数编码器</a:t>
            </a:r>
          </a:p>
        </p:txBody>
      </p:sp>
      <p:grpSp>
        <p:nvGrpSpPr>
          <p:cNvPr id="17445" name="Group 61"/>
          <p:cNvGrpSpPr>
            <a:grpSpLocks/>
          </p:cNvGrpSpPr>
          <p:nvPr/>
        </p:nvGrpSpPr>
        <p:grpSpPr bwMode="auto">
          <a:xfrm>
            <a:off x="544513" y="3465513"/>
            <a:ext cx="823912" cy="204787"/>
            <a:chOff x="-723" y="2568"/>
            <a:chExt cx="519" cy="91"/>
          </a:xfrm>
        </p:grpSpPr>
        <p:sp>
          <p:nvSpPr>
            <p:cNvPr id="17622" name="AutoShape 59"/>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7623" name="Text Box 60"/>
            <p:cNvSpPr txBox="1">
              <a:spLocks noChangeArrowheads="1"/>
            </p:cNvSpPr>
            <p:nvPr/>
          </p:nvSpPr>
          <p:spPr bwMode="auto">
            <a:xfrm>
              <a:off x="-682" y="2568"/>
              <a:ext cx="453"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MUX</a:t>
              </a:r>
            </a:p>
          </p:txBody>
        </p:sp>
      </p:grpSp>
      <p:sp>
        <p:nvSpPr>
          <p:cNvPr id="17446" name="Text Box 62"/>
          <p:cNvSpPr txBox="1">
            <a:spLocks noChangeArrowheads="1"/>
          </p:cNvSpPr>
          <p:nvPr/>
        </p:nvSpPr>
        <p:spPr bwMode="auto">
          <a:xfrm>
            <a:off x="614363" y="3783013"/>
            <a:ext cx="719137" cy="192087"/>
          </a:xfrm>
          <a:prstGeom prst="rect">
            <a:avLst/>
          </a:prstGeom>
          <a:solidFill>
            <a:schemeClr val="hlink"/>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T</a:t>
            </a:r>
            <a:r>
              <a:rPr lang="zh-CN" altLang="en-US" sz="1200"/>
              <a:t>寄存器</a:t>
            </a:r>
          </a:p>
        </p:txBody>
      </p:sp>
      <p:grpSp>
        <p:nvGrpSpPr>
          <p:cNvPr id="17447" name="Group 66"/>
          <p:cNvGrpSpPr>
            <a:grpSpLocks/>
          </p:cNvGrpSpPr>
          <p:nvPr/>
        </p:nvGrpSpPr>
        <p:grpSpPr bwMode="auto">
          <a:xfrm>
            <a:off x="1530350" y="4170363"/>
            <a:ext cx="895350" cy="195262"/>
            <a:chOff x="-723" y="2568"/>
            <a:chExt cx="519" cy="91"/>
          </a:xfrm>
        </p:grpSpPr>
        <p:sp>
          <p:nvSpPr>
            <p:cNvPr id="17620" name="AutoShape 67"/>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7621" name="Text Box 68"/>
            <p:cNvSpPr txBox="1">
              <a:spLocks noChangeArrowheads="1"/>
            </p:cNvSpPr>
            <p:nvPr/>
          </p:nvSpPr>
          <p:spPr bwMode="auto">
            <a:xfrm>
              <a:off x="-682" y="2568"/>
              <a:ext cx="453"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sp>
        <p:nvSpPr>
          <p:cNvPr id="17448" name="Text Box 69"/>
          <p:cNvSpPr txBox="1">
            <a:spLocks noChangeArrowheads="1"/>
          </p:cNvSpPr>
          <p:nvPr/>
        </p:nvSpPr>
        <p:spPr bwMode="auto">
          <a:xfrm>
            <a:off x="539750" y="4473575"/>
            <a:ext cx="1589088" cy="192088"/>
          </a:xfrm>
          <a:prstGeom prst="rect">
            <a:avLst/>
          </a:prstGeom>
          <a:solidFill>
            <a:srgbClr val="FF00FF"/>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accent1"/>
                </a:solidFill>
              </a:rPr>
              <a:t>17×17</a:t>
            </a:r>
            <a:r>
              <a:rPr lang="zh-CN" altLang="en-US" sz="1200">
                <a:solidFill>
                  <a:schemeClr val="accent1"/>
                </a:solidFill>
              </a:rPr>
              <a:t>乘法器</a:t>
            </a:r>
          </a:p>
        </p:txBody>
      </p:sp>
      <p:sp>
        <p:nvSpPr>
          <p:cNvPr id="17449" name="Text Box 70"/>
          <p:cNvSpPr txBox="1">
            <a:spLocks noChangeArrowheads="1"/>
          </p:cNvSpPr>
          <p:nvPr/>
        </p:nvSpPr>
        <p:spPr bwMode="auto">
          <a:xfrm>
            <a:off x="715963" y="4852988"/>
            <a:ext cx="1368425" cy="192087"/>
          </a:xfrm>
          <a:prstGeom prst="rect">
            <a:avLst/>
          </a:prstGeom>
          <a:solidFill>
            <a:schemeClr val="hlink"/>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chemeClr val="folHlink"/>
                </a:solidFill>
              </a:rPr>
              <a:t>小数</a:t>
            </a:r>
            <a:r>
              <a:rPr lang="en-US" altLang="zh-CN" sz="1200">
                <a:solidFill>
                  <a:schemeClr val="folHlink"/>
                </a:solidFill>
              </a:rPr>
              <a:t>/</a:t>
            </a:r>
            <a:r>
              <a:rPr lang="zh-CN" altLang="en-US" sz="1200">
                <a:solidFill>
                  <a:schemeClr val="folHlink"/>
                </a:solidFill>
              </a:rPr>
              <a:t>整数运算控制</a:t>
            </a:r>
          </a:p>
        </p:txBody>
      </p:sp>
      <p:grpSp>
        <p:nvGrpSpPr>
          <p:cNvPr id="17450" name="Group 93"/>
          <p:cNvGrpSpPr>
            <a:grpSpLocks/>
          </p:cNvGrpSpPr>
          <p:nvPr/>
        </p:nvGrpSpPr>
        <p:grpSpPr bwMode="auto">
          <a:xfrm>
            <a:off x="4567238" y="4618038"/>
            <a:ext cx="1871662" cy="347662"/>
            <a:chOff x="-567" y="3621"/>
            <a:chExt cx="1360" cy="219"/>
          </a:xfrm>
        </p:grpSpPr>
        <p:sp>
          <p:nvSpPr>
            <p:cNvPr id="17614" name="AutoShape 64"/>
            <p:cNvSpPr>
              <a:spLocks noChangeArrowheads="1"/>
            </p:cNvSpPr>
            <p:nvPr/>
          </p:nvSpPr>
          <p:spPr bwMode="auto">
            <a:xfrm>
              <a:off x="-567" y="3702"/>
              <a:ext cx="1360" cy="136"/>
            </a:xfrm>
            <a:custGeom>
              <a:avLst/>
              <a:gdLst>
                <a:gd name="T0" fmla="*/ 75 w 21600"/>
                <a:gd name="T1" fmla="*/ 0 h 21600"/>
                <a:gd name="T2" fmla="*/ 43 w 21600"/>
                <a:gd name="T3" fmla="*/ 1 h 21600"/>
                <a:gd name="T4" fmla="*/ 11 w 21600"/>
                <a:gd name="T5" fmla="*/ 0 h 21600"/>
                <a:gd name="T6" fmla="*/ 43 w 21600"/>
                <a:gd name="T7" fmla="*/ 0 h 21600"/>
                <a:gd name="T8" fmla="*/ 0 60000 65536"/>
                <a:gd name="T9" fmla="*/ 0 60000 65536"/>
                <a:gd name="T10" fmla="*/ 0 60000 65536"/>
                <a:gd name="T11" fmla="*/ 0 60000 65536"/>
                <a:gd name="T12" fmla="*/ 4495 w 21600"/>
                <a:gd name="T13" fmla="*/ 4447 h 21600"/>
                <a:gd name="T14" fmla="*/ 17105 w 21600"/>
                <a:gd name="T15" fmla="*/ 171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6600"/>
            </a:solidFill>
            <a:ln w="9525">
              <a:solidFill>
                <a:srgbClr val="FF6600"/>
              </a:solidFill>
              <a:miter lim="800000"/>
              <a:headEnd/>
              <a:tailEnd/>
            </a:ln>
          </p:spPr>
          <p:txBody>
            <a:bodyPr wrap="none" anchor="ctr"/>
            <a:lstStyle/>
            <a:p>
              <a:endParaRPr lang="zh-CN" altLang="en-US"/>
            </a:p>
          </p:txBody>
        </p:sp>
        <p:sp>
          <p:nvSpPr>
            <p:cNvPr id="17615" name="Text Box 65"/>
            <p:cNvSpPr txBox="1">
              <a:spLocks noChangeArrowheads="1"/>
            </p:cNvSpPr>
            <p:nvPr/>
          </p:nvSpPr>
          <p:spPr bwMode="auto">
            <a:xfrm>
              <a:off x="-409" y="3702"/>
              <a:ext cx="18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hlink"/>
                  </a:solidFill>
                </a:rPr>
                <a:t>Y</a:t>
              </a:r>
            </a:p>
          </p:txBody>
        </p:sp>
        <p:sp>
          <p:nvSpPr>
            <p:cNvPr id="17616" name="Text Box 72"/>
            <p:cNvSpPr txBox="1">
              <a:spLocks noChangeArrowheads="1"/>
            </p:cNvSpPr>
            <p:nvPr/>
          </p:nvSpPr>
          <p:spPr bwMode="auto">
            <a:xfrm>
              <a:off x="407" y="3702"/>
              <a:ext cx="18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hlink"/>
                  </a:solidFill>
                </a:rPr>
                <a:t>X</a:t>
              </a:r>
            </a:p>
          </p:txBody>
        </p:sp>
        <p:sp>
          <p:nvSpPr>
            <p:cNvPr id="17617" name="Rectangle 73"/>
            <p:cNvSpPr>
              <a:spLocks noChangeArrowheads="1"/>
            </p:cNvSpPr>
            <p:nvPr/>
          </p:nvSpPr>
          <p:spPr bwMode="auto">
            <a:xfrm>
              <a:off x="-250" y="3702"/>
              <a:ext cx="658" cy="23"/>
            </a:xfrm>
            <a:prstGeom prst="rect">
              <a:avLst/>
            </a:prstGeom>
            <a:solidFill>
              <a:schemeClr val="bg1"/>
            </a:solidFill>
            <a:ln w="9525">
              <a:solidFill>
                <a:srgbClr val="FF66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618" name="Rectangle 74"/>
            <p:cNvSpPr>
              <a:spLocks noChangeArrowheads="1"/>
            </p:cNvSpPr>
            <p:nvPr/>
          </p:nvSpPr>
          <p:spPr bwMode="auto">
            <a:xfrm>
              <a:off x="-250" y="3621"/>
              <a:ext cx="658"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619" name="Text Box 75"/>
            <p:cNvSpPr txBox="1">
              <a:spLocks noChangeArrowheads="1"/>
            </p:cNvSpPr>
            <p:nvPr/>
          </p:nvSpPr>
          <p:spPr bwMode="auto">
            <a:xfrm>
              <a:off x="-202" y="3725"/>
              <a:ext cx="568" cy="115"/>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hlink"/>
                  </a:solidFill>
                </a:rPr>
                <a:t>40</a:t>
              </a:r>
              <a:r>
                <a:rPr lang="zh-CN" altLang="en-US" sz="1200">
                  <a:solidFill>
                    <a:schemeClr val="hlink"/>
                  </a:solidFill>
                </a:rPr>
                <a:t>位</a:t>
              </a:r>
              <a:r>
                <a:rPr lang="en-US" altLang="zh-CN" sz="1200">
                  <a:solidFill>
                    <a:schemeClr val="hlink"/>
                  </a:solidFill>
                </a:rPr>
                <a:t>ALU</a:t>
              </a:r>
            </a:p>
          </p:txBody>
        </p:sp>
      </p:grpSp>
      <p:grpSp>
        <p:nvGrpSpPr>
          <p:cNvPr id="17451" name="Group 79"/>
          <p:cNvGrpSpPr>
            <a:grpSpLocks/>
          </p:cNvGrpSpPr>
          <p:nvPr/>
        </p:nvGrpSpPr>
        <p:grpSpPr bwMode="auto">
          <a:xfrm>
            <a:off x="1293813" y="5626100"/>
            <a:ext cx="1062037" cy="192088"/>
            <a:chOff x="-477" y="3929"/>
            <a:chExt cx="669" cy="121"/>
          </a:xfrm>
        </p:grpSpPr>
        <p:sp>
          <p:nvSpPr>
            <p:cNvPr id="17611" name="Text Box 76"/>
            <p:cNvSpPr txBox="1">
              <a:spLocks noChangeArrowheads="1"/>
            </p:cNvSpPr>
            <p:nvPr/>
          </p:nvSpPr>
          <p:spPr bwMode="auto">
            <a:xfrm>
              <a:off x="-477" y="3929"/>
              <a:ext cx="271" cy="121"/>
            </a:xfrm>
            <a:prstGeom prst="rect">
              <a:avLst/>
            </a:prstGeom>
            <a:solidFill>
              <a:srgbClr val="66CCFF"/>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零</a:t>
              </a:r>
            </a:p>
          </p:txBody>
        </p:sp>
        <p:sp>
          <p:nvSpPr>
            <p:cNvPr id="17612" name="Text Box 77"/>
            <p:cNvSpPr txBox="1">
              <a:spLocks noChangeArrowheads="1"/>
            </p:cNvSpPr>
            <p:nvPr/>
          </p:nvSpPr>
          <p:spPr bwMode="auto">
            <a:xfrm>
              <a:off x="-241" y="3929"/>
              <a:ext cx="227" cy="121"/>
            </a:xfrm>
            <a:prstGeom prst="rect">
              <a:avLst/>
            </a:prstGeom>
            <a:solidFill>
              <a:srgbClr val="66CCFF"/>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饱和</a:t>
              </a:r>
            </a:p>
          </p:txBody>
        </p:sp>
        <p:sp>
          <p:nvSpPr>
            <p:cNvPr id="17613" name="Text Box 78"/>
            <p:cNvSpPr txBox="1">
              <a:spLocks noChangeArrowheads="1"/>
            </p:cNvSpPr>
            <p:nvPr/>
          </p:nvSpPr>
          <p:spPr bwMode="auto">
            <a:xfrm>
              <a:off x="-12" y="3929"/>
              <a:ext cx="204" cy="121"/>
            </a:xfrm>
            <a:prstGeom prst="rect">
              <a:avLst/>
            </a:prstGeom>
            <a:solidFill>
              <a:srgbClr val="66CCFF"/>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取整</a:t>
              </a:r>
            </a:p>
          </p:txBody>
        </p:sp>
      </p:grpSp>
      <p:grpSp>
        <p:nvGrpSpPr>
          <p:cNvPr id="17452" name="Group 80"/>
          <p:cNvGrpSpPr>
            <a:grpSpLocks/>
          </p:cNvGrpSpPr>
          <p:nvPr/>
        </p:nvGrpSpPr>
        <p:grpSpPr bwMode="auto">
          <a:xfrm>
            <a:off x="2143125" y="4852988"/>
            <a:ext cx="823913" cy="204787"/>
            <a:chOff x="-723" y="2568"/>
            <a:chExt cx="519" cy="91"/>
          </a:xfrm>
        </p:grpSpPr>
        <p:sp>
          <p:nvSpPr>
            <p:cNvPr id="17609" name="AutoShape 81"/>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2"/>
            </a:solidFill>
            <a:ln w="9525">
              <a:solidFill>
                <a:schemeClr val="tx1"/>
              </a:solidFill>
              <a:miter lim="800000"/>
              <a:headEnd/>
              <a:tailEnd/>
            </a:ln>
          </p:spPr>
          <p:txBody>
            <a:bodyPr wrap="none" anchor="ctr"/>
            <a:lstStyle/>
            <a:p>
              <a:endParaRPr lang="zh-CN" altLang="en-US"/>
            </a:p>
          </p:txBody>
        </p:sp>
        <p:sp>
          <p:nvSpPr>
            <p:cNvPr id="17610" name="Text Box 82"/>
            <p:cNvSpPr txBox="1">
              <a:spLocks noChangeArrowheads="1"/>
            </p:cNvSpPr>
            <p:nvPr/>
          </p:nvSpPr>
          <p:spPr bwMode="auto">
            <a:xfrm>
              <a:off x="-682" y="2568"/>
              <a:ext cx="453"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MUX</a:t>
              </a:r>
            </a:p>
          </p:txBody>
        </p:sp>
      </p:grpSp>
      <p:grpSp>
        <p:nvGrpSpPr>
          <p:cNvPr id="17453" name="Group 83"/>
          <p:cNvGrpSpPr>
            <a:grpSpLocks/>
          </p:cNvGrpSpPr>
          <p:nvPr/>
        </p:nvGrpSpPr>
        <p:grpSpPr bwMode="auto">
          <a:xfrm>
            <a:off x="598488" y="4173538"/>
            <a:ext cx="895350" cy="195262"/>
            <a:chOff x="-723" y="2568"/>
            <a:chExt cx="519" cy="91"/>
          </a:xfrm>
        </p:grpSpPr>
        <p:sp>
          <p:nvSpPr>
            <p:cNvPr id="17607" name="AutoShape 84"/>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7608" name="Text Box 85"/>
            <p:cNvSpPr txBox="1">
              <a:spLocks noChangeArrowheads="1"/>
            </p:cNvSpPr>
            <p:nvPr/>
          </p:nvSpPr>
          <p:spPr bwMode="auto">
            <a:xfrm>
              <a:off x="-682" y="2568"/>
              <a:ext cx="453"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sp>
        <p:nvSpPr>
          <p:cNvPr id="17454" name="Text Box 86"/>
          <p:cNvSpPr txBox="1">
            <a:spLocks noChangeArrowheads="1"/>
          </p:cNvSpPr>
          <p:nvPr/>
        </p:nvSpPr>
        <p:spPr bwMode="auto">
          <a:xfrm>
            <a:off x="2627313" y="4132263"/>
            <a:ext cx="936625" cy="192087"/>
          </a:xfrm>
          <a:prstGeom prst="rect">
            <a:avLst/>
          </a:prstGeom>
          <a:solidFill>
            <a:srgbClr val="FF0000"/>
          </a:solidFill>
          <a:ln w="9525">
            <a:solidFill>
              <a:schemeClr val="accent1"/>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chemeClr val="hlink"/>
                </a:solidFill>
              </a:rPr>
              <a:t>累加器</a:t>
            </a:r>
            <a:r>
              <a:rPr lang="en-US" altLang="zh-CN" sz="1200">
                <a:solidFill>
                  <a:schemeClr val="hlink"/>
                </a:solidFill>
              </a:rPr>
              <a:t>A</a:t>
            </a:r>
            <a:r>
              <a:rPr lang="zh-CN" altLang="en-US" sz="1200">
                <a:solidFill>
                  <a:schemeClr val="hlink"/>
                </a:solidFill>
              </a:rPr>
              <a:t>（</a:t>
            </a:r>
            <a:r>
              <a:rPr lang="en-US" altLang="zh-CN" sz="1200">
                <a:solidFill>
                  <a:schemeClr val="hlink"/>
                </a:solidFill>
              </a:rPr>
              <a:t>40</a:t>
            </a:r>
            <a:r>
              <a:rPr lang="zh-CN" altLang="en-US" sz="1200">
                <a:solidFill>
                  <a:schemeClr val="hlink"/>
                </a:solidFill>
              </a:rPr>
              <a:t>）</a:t>
            </a:r>
          </a:p>
        </p:txBody>
      </p:sp>
      <p:sp>
        <p:nvSpPr>
          <p:cNvPr id="17455" name="Text Box 87"/>
          <p:cNvSpPr txBox="1">
            <a:spLocks noChangeArrowheads="1"/>
          </p:cNvSpPr>
          <p:nvPr/>
        </p:nvSpPr>
        <p:spPr bwMode="auto">
          <a:xfrm>
            <a:off x="3635375" y="4132263"/>
            <a:ext cx="936625" cy="192087"/>
          </a:xfrm>
          <a:prstGeom prst="rect">
            <a:avLst/>
          </a:prstGeom>
          <a:solidFill>
            <a:srgbClr val="FF00FF"/>
          </a:solidFill>
          <a:ln w="9525">
            <a:solidFill>
              <a:schemeClr val="accent1"/>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chemeClr val="hlink"/>
                </a:solidFill>
              </a:rPr>
              <a:t>累加器</a:t>
            </a:r>
            <a:r>
              <a:rPr lang="en-US" altLang="zh-CN" sz="1200">
                <a:solidFill>
                  <a:schemeClr val="hlink"/>
                </a:solidFill>
              </a:rPr>
              <a:t>B</a:t>
            </a:r>
            <a:r>
              <a:rPr lang="zh-CN" altLang="en-US" sz="1200">
                <a:solidFill>
                  <a:schemeClr val="hlink"/>
                </a:solidFill>
              </a:rPr>
              <a:t>（</a:t>
            </a:r>
            <a:r>
              <a:rPr lang="en-US" altLang="zh-CN" sz="1200">
                <a:solidFill>
                  <a:schemeClr val="hlink"/>
                </a:solidFill>
              </a:rPr>
              <a:t>40</a:t>
            </a:r>
            <a:r>
              <a:rPr lang="zh-CN" altLang="en-US" sz="1200">
                <a:solidFill>
                  <a:schemeClr val="hlink"/>
                </a:solidFill>
              </a:rPr>
              <a:t>）</a:t>
            </a:r>
          </a:p>
        </p:txBody>
      </p:sp>
      <p:grpSp>
        <p:nvGrpSpPr>
          <p:cNvPr id="17456" name="Group 91"/>
          <p:cNvGrpSpPr>
            <a:grpSpLocks/>
          </p:cNvGrpSpPr>
          <p:nvPr/>
        </p:nvGrpSpPr>
        <p:grpSpPr bwMode="auto">
          <a:xfrm>
            <a:off x="3168650" y="4476750"/>
            <a:ext cx="823913" cy="204788"/>
            <a:chOff x="907" y="3226"/>
            <a:chExt cx="519" cy="129"/>
          </a:xfrm>
        </p:grpSpPr>
        <p:sp>
          <p:nvSpPr>
            <p:cNvPr id="17605" name="AutoShape 89"/>
            <p:cNvSpPr>
              <a:spLocks noChangeArrowheads="1"/>
            </p:cNvSpPr>
            <p:nvPr/>
          </p:nvSpPr>
          <p:spPr bwMode="auto">
            <a:xfrm rot="10800000">
              <a:off x="907" y="3226"/>
              <a:ext cx="519" cy="129"/>
            </a:xfrm>
            <a:custGeom>
              <a:avLst/>
              <a:gdLst>
                <a:gd name="T0" fmla="*/ 11 w 21600"/>
                <a:gd name="T1" fmla="*/ 0 h 21600"/>
                <a:gd name="T2" fmla="*/ 6 w 21600"/>
                <a:gd name="T3" fmla="*/ 1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21 h 21600"/>
                <a:gd name="T14" fmla="*/ 17105 w 21600"/>
                <a:gd name="T15" fmla="*/ 1707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2"/>
            </a:solidFill>
            <a:ln w="9525">
              <a:solidFill>
                <a:schemeClr val="tx1"/>
              </a:solidFill>
              <a:miter lim="800000"/>
              <a:headEnd/>
              <a:tailEnd/>
            </a:ln>
          </p:spPr>
          <p:txBody>
            <a:bodyPr wrap="none" anchor="ctr"/>
            <a:lstStyle/>
            <a:p>
              <a:endParaRPr lang="zh-CN" altLang="en-US"/>
            </a:p>
          </p:txBody>
        </p:sp>
        <p:sp>
          <p:nvSpPr>
            <p:cNvPr id="17606" name="Text Box 90"/>
            <p:cNvSpPr txBox="1">
              <a:spLocks noChangeArrowheads="1"/>
            </p:cNvSpPr>
            <p:nvPr/>
          </p:nvSpPr>
          <p:spPr bwMode="auto">
            <a:xfrm>
              <a:off x="1019" y="3249"/>
              <a:ext cx="295"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MUX</a:t>
              </a:r>
            </a:p>
          </p:txBody>
        </p:sp>
      </p:grpSp>
      <p:grpSp>
        <p:nvGrpSpPr>
          <p:cNvPr id="17457" name="Group 94"/>
          <p:cNvGrpSpPr>
            <a:grpSpLocks/>
          </p:cNvGrpSpPr>
          <p:nvPr/>
        </p:nvGrpSpPr>
        <p:grpSpPr bwMode="auto">
          <a:xfrm>
            <a:off x="5499100" y="4233863"/>
            <a:ext cx="895350" cy="195262"/>
            <a:chOff x="-723" y="2568"/>
            <a:chExt cx="519" cy="91"/>
          </a:xfrm>
        </p:grpSpPr>
        <p:sp>
          <p:nvSpPr>
            <p:cNvPr id="17603" name="AutoShape 95"/>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7604" name="Text Box 96"/>
            <p:cNvSpPr txBox="1">
              <a:spLocks noChangeArrowheads="1"/>
            </p:cNvSpPr>
            <p:nvPr/>
          </p:nvSpPr>
          <p:spPr bwMode="auto">
            <a:xfrm>
              <a:off x="-682" y="2568"/>
              <a:ext cx="453"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grpSp>
        <p:nvGrpSpPr>
          <p:cNvPr id="17458" name="Group 97"/>
          <p:cNvGrpSpPr>
            <a:grpSpLocks/>
          </p:cNvGrpSpPr>
          <p:nvPr/>
        </p:nvGrpSpPr>
        <p:grpSpPr bwMode="auto">
          <a:xfrm>
            <a:off x="4586288" y="4237038"/>
            <a:ext cx="895350" cy="195262"/>
            <a:chOff x="-723" y="2568"/>
            <a:chExt cx="519" cy="91"/>
          </a:xfrm>
        </p:grpSpPr>
        <p:sp>
          <p:nvSpPr>
            <p:cNvPr id="17601" name="AutoShape 98"/>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7602" name="Text Box 99"/>
            <p:cNvSpPr txBox="1">
              <a:spLocks noChangeArrowheads="1"/>
            </p:cNvSpPr>
            <p:nvPr/>
          </p:nvSpPr>
          <p:spPr bwMode="auto">
            <a:xfrm>
              <a:off x="-682" y="2568"/>
              <a:ext cx="453"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grpSp>
        <p:nvGrpSpPr>
          <p:cNvPr id="17459" name="Group 100"/>
          <p:cNvGrpSpPr>
            <a:grpSpLocks/>
          </p:cNvGrpSpPr>
          <p:nvPr/>
        </p:nvGrpSpPr>
        <p:grpSpPr bwMode="auto">
          <a:xfrm>
            <a:off x="755650" y="5094288"/>
            <a:ext cx="2159000" cy="347662"/>
            <a:chOff x="-567" y="3621"/>
            <a:chExt cx="1360" cy="219"/>
          </a:xfrm>
        </p:grpSpPr>
        <p:sp>
          <p:nvSpPr>
            <p:cNvPr id="17595" name="AutoShape 101"/>
            <p:cNvSpPr>
              <a:spLocks noChangeArrowheads="1"/>
            </p:cNvSpPr>
            <p:nvPr/>
          </p:nvSpPr>
          <p:spPr bwMode="auto">
            <a:xfrm>
              <a:off x="-567" y="3702"/>
              <a:ext cx="1360" cy="136"/>
            </a:xfrm>
            <a:custGeom>
              <a:avLst/>
              <a:gdLst>
                <a:gd name="T0" fmla="*/ 75 w 21600"/>
                <a:gd name="T1" fmla="*/ 0 h 21600"/>
                <a:gd name="T2" fmla="*/ 43 w 21600"/>
                <a:gd name="T3" fmla="*/ 1 h 21600"/>
                <a:gd name="T4" fmla="*/ 11 w 21600"/>
                <a:gd name="T5" fmla="*/ 0 h 21600"/>
                <a:gd name="T6" fmla="*/ 43 w 21600"/>
                <a:gd name="T7" fmla="*/ 0 h 21600"/>
                <a:gd name="T8" fmla="*/ 0 60000 65536"/>
                <a:gd name="T9" fmla="*/ 0 60000 65536"/>
                <a:gd name="T10" fmla="*/ 0 60000 65536"/>
                <a:gd name="T11" fmla="*/ 0 60000 65536"/>
                <a:gd name="T12" fmla="*/ 4495 w 21600"/>
                <a:gd name="T13" fmla="*/ 4447 h 21600"/>
                <a:gd name="T14" fmla="*/ 17105 w 21600"/>
                <a:gd name="T15" fmla="*/ 171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rgbClr val="FF6600"/>
              </a:solidFill>
              <a:miter lim="800000"/>
              <a:headEnd/>
              <a:tailEnd/>
            </a:ln>
          </p:spPr>
          <p:txBody>
            <a:bodyPr wrap="none" anchor="ctr"/>
            <a:lstStyle/>
            <a:p>
              <a:endParaRPr lang="zh-CN" altLang="en-US"/>
            </a:p>
          </p:txBody>
        </p:sp>
        <p:sp>
          <p:nvSpPr>
            <p:cNvPr id="17596" name="Text Box 102"/>
            <p:cNvSpPr txBox="1">
              <a:spLocks noChangeArrowheads="1"/>
            </p:cNvSpPr>
            <p:nvPr/>
          </p:nvSpPr>
          <p:spPr bwMode="auto">
            <a:xfrm>
              <a:off x="-409" y="3702"/>
              <a:ext cx="18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tx2"/>
                  </a:solidFill>
                </a:rPr>
                <a:t>XA</a:t>
              </a:r>
            </a:p>
          </p:txBody>
        </p:sp>
        <p:sp>
          <p:nvSpPr>
            <p:cNvPr id="17597" name="Text Box 103"/>
            <p:cNvSpPr txBox="1">
              <a:spLocks noChangeArrowheads="1"/>
            </p:cNvSpPr>
            <p:nvPr/>
          </p:nvSpPr>
          <p:spPr bwMode="auto">
            <a:xfrm>
              <a:off x="407" y="3702"/>
              <a:ext cx="18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tx2"/>
                  </a:solidFill>
                </a:rPr>
                <a:t>YA</a:t>
              </a:r>
            </a:p>
          </p:txBody>
        </p:sp>
        <p:sp>
          <p:nvSpPr>
            <p:cNvPr id="17598" name="Rectangle 104"/>
            <p:cNvSpPr>
              <a:spLocks noChangeArrowheads="1"/>
            </p:cNvSpPr>
            <p:nvPr/>
          </p:nvSpPr>
          <p:spPr bwMode="auto">
            <a:xfrm>
              <a:off x="-250" y="3702"/>
              <a:ext cx="658" cy="23"/>
            </a:xfrm>
            <a:prstGeom prst="rect">
              <a:avLst/>
            </a:prstGeom>
            <a:solidFill>
              <a:schemeClr val="bg1"/>
            </a:solidFill>
            <a:ln w="9525">
              <a:solidFill>
                <a:srgbClr val="FF66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599" name="Rectangle 105"/>
            <p:cNvSpPr>
              <a:spLocks noChangeArrowheads="1"/>
            </p:cNvSpPr>
            <p:nvPr/>
          </p:nvSpPr>
          <p:spPr bwMode="auto">
            <a:xfrm>
              <a:off x="-250" y="3621"/>
              <a:ext cx="658"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600" name="Text Box 106"/>
            <p:cNvSpPr txBox="1">
              <a:spLocks noChangeArrowheads="1"/>
            </p:cNvSpPr>
            <p:nvPr/>
          </p:nvSpPr>
          <p:spPr bwMode="auto">
            <a:xfrm>
              <a:off x="-202" y="3725"/>
              <a:ext cx="56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tx2"/>
                  </a:solidFill>
                </a:rPr>
                <a:t>40</a:t>
              </a:r>
              <a:r>
                <a:rPr lang="zh-CN" altLang="en-US" sz="1200">
                  <a:solidFill>
                    <a:schemeClr val="tx2"/>
                  </a:solidFill>
                </a:rPr>
                <a:t>位加法器</a:t>
              </a:r>
            </a:p>
          </p:txBody>
        </p:sp>
      </p:grpSp>
      <p:grpSp>
        <p:nvGrpSpPr>
          <p:cNvPr id="17460" name="Group 107"/>
          <p:cNvGrpSpPr>
            <a:grpSpLocks/>
          </p:cNvGrpSpPr>
          <p:nvPr/>
        </p:nvGrpSpPr>
        <p:grpSpPr bwMode="auto">
          <a:xfrm>
            <a:off x="6472238" y="4665663"/>
            <a:ext cx="895350" cy="195262"/>
            <a:chOff x="-723" y="2568"/>
            <a:chExt cx="519" cy="91"/>
          </a:xfrm>
        </p:grpSpPr>
        <p:sp>
          <p:nvSpPr>
            <p:cNvPr id="17593" name="AutoShape 108"/>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tx2"/>
            </a:solidFill>
            <a:ln w="9525">
              <a:solidFill>
                <a:schemeClr val="tx1"/>
              </a:solidFill>
              <a:miter lim="800000"/>
              <a:headEnd/>
              <a:tailEnd/>
            </a:ln>
          </p:spPr>
          <p:txBody>
            <a:bodyPr wrap="none" anchor="ctr"/>
            <a:lstStyle/>
            <a:p>
              <a:endParaRPr lang="zh-CN" altLang="en-US"/>
            </a:p>
          </p:txBody>
        </p:sp>
        <p:sp>
          <p:nvSpPr>
            <p:cNvPr id="17594" name="Text Box 109"/>
            <p:cNvSpPr txBox="1">
              <a:spLocks noChangeArrowheads="1"/>
            </p:cNvSpPr>
            <p:nvPr/>
          </p:nvSpPr>
          <p:spPr bwMode="auto">
            <a:xfrm>
              <a:off x="-682" y="2568"/>
              <a:ext cx="453"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bg1"/>
                  </a:solidFill>
                </a:rPr>
                <a:t>MUX</a:t>
              </a:r>
            </a:p>
          </p:txBody>
        </p:sp>
      </p:grpSp>
      <p:sp>
        <p:nvSpPr>
          <p:cNvPr id="17461" name="Text Box 110"/>
          <p:cNvSpPr txBox="1">
            <a:spLocks noChangeArrowheads="1"/>
          </p:cNvSpPr>
          <p:nvPr/>
        </p:nvSpPr>
        <p:spPr bwMode="auto">
          <a:xfrm>
            <a:off x="6616700" y="5054600"/>
            <a:ext cx="719138" cy="192088"/>
          </a:xfrm>
          <a:prstGeom prst="rect">
            <a:avLst/>
          </a:prstGeom>
          <a:solidFill>
            <a:schemeClr val="accent2"/>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chemeClr val="accent1"/>
                </a:solidFill>
              </a:rPr>
              <a:t>比较器</a:t>
            </a:r>
          </a:p>
        </p:txBody>
      </p:sp>
      <p:sp>
        <p:nvSpPr>
          <p:cNvPr id="17462" name="Text Box 111"/>
          <p:cNvSpPr txBox="1">
            <a:spLocks noChangeArrowheads="1"/>
          </p:cNvSpPr>
          <p:nvPr/>
        </p:nvSpPr>
        <p:spPr bwMode="auto">
          <a:xfrm>
            <a:off x="6435725" y="5386388"/>
            <a:ext cx="1081088" cy="192087"/>
          </a:xfrm>
          <a:prstGeom prst="rect">
            <a:avLst/>
          </a:prstGeom>
          <a:solidFill>
            <a:schemeClr val="accent2"/>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rgbClr val="660066"/>
                </a:solidFill>
              </a:rPr>
              <a:t>状态转移寄存器</a:t>
            </a:r>
          </a:p>
        </p:txBody>
      </p:sp>
      <p:sp>
        <p:nvSpPr>
          <p:cNvPr id="17463" name="Text Box 112"/>
          <p:cNvSpPr txBox="1">
            <a:spLocks noChangeArrowheads="1"/>
          </p:cNvSpPr>
          <p:nvPr/>
        </p:nvSpPr>
        <p:spPr bwMode="auto">
          <a:xfrm>
            <a:off x="6435725" y="5783263"/>
            <a:ext cx="1081088" cy="192087"/>
          </a:xfrm>
          <a:prstGeom prst="rect">
            <a:avLst/>
          </a:prstGeom>
          <a:solidFill>
            <a:schemeClr val="accent2"/>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rgbClr val="6600CC"/>
                </a:solidFill>
              </a:rPr>
              <a:t>测试控制寄存器</a:t>
            </a:r>
          </a:p>
        </p:txBody>
      </p:sp>
      <p:grpSp>
        <p:nvGrpSpPr>
          <p:cNvPr id="17464" name="Group 113"/>
          <p:cNvGrpSpPr>
            <a:grpSpLocks/>
          </p:cNvGrpSpPr>
          <p:nvPr/>
        </p:nvGrpSpPr>
        <p:grpSpPr bwMode="auto">
          <a:xfrm>
            <a:off x="7667625" y="4113213"/>
            <a:ext cx="895350" cy="195262"/>
            <a:chOff x="-723" y="2568"/>
            <a:chExt cx="519" cy="91"/>
          </a:xfrm>
        </p:grpSpPr>
        <p:sp>
          <p:nvSpPr>
            <p:cNvPr id="17591" name="AutoShape 114"/>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7592" name="Text Box 115"/>
            <p:cNvSpPr txBox="1">
              <a:spLocks noChangeArrowheads="1"/>
            </p:cNvSpPr>
            <p:nvPr/>
          </p:nvSpPr>
          <p:spPr bwMode="auto">
            <a:xfrm>
              <a:off x="-682" y="2568"/>
              <a:ext cx="453"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sp>
        <p:nvSpPr>
          <p:cNvPr id="17465" name="Text Box 116"/>
          <p:cNvSpPr txBox="1">
            <a:spLocks noChangeArrowheads="1"/>
          </p:cNvSpPr>
          <p:nvPr/>
        </p:nvSpPr>
        <p:spPr bwMode="auto">
          <a:xfrm>
            <a:off x="7812088" y="4530725"/>
            <a:ext cx="719137" cy="374650"/>
          </a:xfrm>
          <a:prstGeom prst="rect">
            <a:avLst/>
          </a:prstGeom>
          <a:solidFill>
            <a:schemeClr val="accent2"/>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chemeClr val="accent1"/>
                </a:solidFill>
              </a:rPr>
              <a:t>桶形移位寄存器</a:t>
            </a:r>
          </a:p>
        </p:txBody>
      </p:sp>
      <p:sp>
        <p:nvSpPr>
          <p:cNvPr id="17466" name="Text Box 117"/>
          <p:cNvSpPr txBox="1">
            <a:spLocks noChangeArrowheads="1"/>
          </p:cNvSpPr>
          <p:nvPr/>
        </p:nvSpPr>
        <p:spPr bwMode="auto">
          <a:xfrm>
            <a:off x="7812088" y="5092700"/>
            <a:ext cx="755650" cy="476250"/>
          </a:xfrm>
          <a:prstGeom prst="rect">
            <a:avLst/>
          </a:prstGeom>
          <a:solidFill>
            <a:schemeClr val="accent2"/>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zh-CN" altLang="en-US" sz="1200">
                <a:solidFill>
                  <a:schemeClr val="accent1"/>
                </a:solidFill>
              </a:rPr>
              <a:t>最高</a:t>
            </a:r>
            <a:r>
              <a:rPr lang="en-US" altLang="zh-CN" sz="1200">
                <a:solidFill>
                  <a:schemeClr val="accent1"/>
                </a:solidFill>
              </a:rPr>
              <a:t>/</a:t>
            </a:r>
            <a:r>
              <a:rPr lang="zh-CN" altLang="en-US" sz="1200">
                <a:solidFill>
                  <a:schemeClr val="accent1"/>
                </a:solidFill>
              </a:rPr>
              <a:t>最低有效字</a:t>
            </a:r>
          </a:p>
          <a:p>
            <a:pPr algn="ctr" eaLnBrk="1" hangingPunct="1">
              <a:lnSpc>
                <a:spcPct val="85000"/>
              </a:lnSpc>
            </a:pPr>
            <a:r>
              <a:rPr lang="zh-CN" altLang="en-US" sz="1200">
                <a:solidFill>
                  <a:schemeClr val="accent1"/>
                </a:solidFill>
              </a:rPr>
              <a:t>选择</a:t>
            </a:r>
          </a:p>
        </p:txBody>
      </p:sp>
      <p:sp>
        <p:nvSpPr>
          <p:cNvPr id="17467" name="Text Box 118"/>
          <p:cNvSpPr txBox="1">
            <a:spLocks noChangeArrowheads="1"/>
          </p:cNvSpPr>
          <p:nvPr/>
        </p:nvSpPr>
        <p:spPr bwMode="auto">
          <a:xfrm>
            <a:off x="7508875" y="2074863"/>
            <a:ext cx="252413" cy="1320800"/>
          </a:xfrm>
          <a:prstGeom prst="rect">
            <a:avLst/>
          </a:prstGeom>
          <a:solidFill>
            <a:srgbClr val="00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p:txBody>
      </p:sp>
      <p:sp>
        <p:nvSpPr>
          <p:cNvPr id="17468" name="AutoShape 119"/>
          <p:cNvSpPr>
            <a:spLocks noChangeArrowheads="1"/>
          </p:cNvSpPr>
          <p:nvPr/>
        </p:nvSpPr>
        <p:spPr bwMode="auto">
          <a:xfrm>
            <a:off x="7761288" y="2146300"/>
            <a:ext cx="493712" cy="269875"/>
          </a:xfrm>
          <a:prstGeom prst="leftRightArrow">
            <a:avLst>
              <a:gd name="adj1" fmla="val 50000"/>
              <a:gd name="adj2" fmla="val 36588"/>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469" name="AutoShape 120"/>
          <p:cNvSpPr>
            <a:spLocks noChangeArrowheads="1"/>
          </p:cNvSpPr>
          <p:nvPr/>
        </p:nvSpPr>
        <p:spPr bwMode="auto">
          <a:xfrm>
            <a:off x="7761288" y="3046413"/>
            <a:ext cx="493712" cy="269875"/>
          </a:xfrm>
          <a:prstGeom prst="leftRightArrow">
            <a:avLst>
              <a:gd name="adj1" fmla="val 50000"/>
              <a:gd name="adj2" fmla="val 36588"/>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470" name="Line 121"/>
          <p:cNvSpPr>
            <a:spLocks noChangeShapeType="1"/>
          </p:cNvSpPr>
          <p:nvPr/>
        </p:nvSpPr>
        <p:spPr bwMode="auto">
          <a:xfrm flipH="1">
            <a:off x="2627313" y="1989138"/>
            <a:ext cx="1587" cy="720725"/>
          </a:xfrm>
          <a:prstGeom prst="line">
            <a:avLst/>
          </a:prstGeom>
          <a:noFill/>
          <a:ln w="19050">
            <a:solidFill>
              <a:srgbClr val="FF66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71" name="Line 122"/>
          <p:cNvSpPr>
            <a:spLocks noChangeShapeType="1"/>
          </p:cNvSpPr>
          <p:nvPr/>
        </p:nvSpPr>
        <p:spPr bwMode="auto">
          <a:xfrm flipH="1">
            <a:off x="2808288" y="1989138"/>
            <a:ext cx="1587" cy="863600"/>
          </a:xfrm>
          <a:prstGeom prst="line">
            <a:avLst/>
          </a:prstGeom>
          <a:noFill/>
          <a:ln w="19050">
            <a:solidFill>
              <a:srgbClr val="FFCC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72" name="Line 123"/>
          <p:cNvSpPr>
            <a:spLocks noChangeShapeType="1"/>
          </p:cNvSpPr>
          <p:nvPr/>
        </p:nvSpPr>
        <p:spPr bwMode="auto">
          <a:xfrm flipH="1">
            <a:off x="3095625" y="1989138"/>
            <a:ext cx="1588" cy="1008062"/>
          </a:xfrm>
          <a:prstGeom prst="line">
            <a:avLst/>
          </a:prstGeom>
          <a:noFill/>
          <a:ln w="19050">
            <a:solidFill>
              <a:srgbClr val="0099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73" name="Line 124"/>
          <p:cNvSpPr>
            <a:spLocks noChangeShapeType="1"/>
          </p:cNvSpPr>
          <p:nvPr/>
        </p:nvSpPr>
        <p:spPr bwMode="auto">
          <a:xfrm flipH="1">
            <a:off x="3311525" y="1989138"/>
            <a:ext cx="1588" cy="1187450"/>
          </a:xfrm>
          <a:prstGeom prst="line">
            <a:avLst/>
          </a:prstGeom>
          <a:noFill/>
          <a:ln w="19050">
            <a:solidFill>
              <a:srgbClr val="00CC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74" name="Line 125"/>
          <p:cNvSpPr>
            <a:spLocks noChangeShapeType="1"/>
          </p:cNvSpPr>
          <p:nvPr/>
        </p:nvSpPr>
        <p:spPr bwMode="auto">
          <a:xfrm flipH="1">
            <a:off x="4716463" y="1989138"/>
            <a:ext cx="1587" cy="431800"/>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75" name="Line 126"/>
          <p:cNvSpPr>
            <a:spLocks noChangeShapeType="1"/>
          </p:cNvSpPr>
          <p:nvPr/>
        </p:nvSpPr>
        <p:spPr bwMode="auto">
          <a:xfrm flipH="1">
            <a:off x="5183188" y="1989138"/>
            <a:ext cx="1587" cy="720725"/>
          </a:xfrm>
          <a:prstGeom prst="line">
            <a:avLst/>
          </a:prstGeom>
          <a:noFill/>
          <a:ln w="19050">
            <a:solidFill>
              <a:srgbClr val="FF6600"/>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76" name="Line 127"/>
          <p:cNvSpPr>
            <a:spLocks noChangeShapeType="1"/>
          </p:cNvSpPr>
          <p:nvPr/>
        </p:nvSpPr>
        <p:spPr bwMode="auto">
          <a:xfrm flipH="1">
            <a:off x="5364163" y="1989138"/>
            <a:ext cx="1587" cy="863600"/>
          </a:xfrm>
          <a:prstGeom prst="line">
            <a:avLst/>
          </a:prstGeom>
          <a:noFill/>
          <a:ln w="19050">
            <a:solidFill>
              <a:srgbClr val="FFCC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77" name="Line 128"/>
          <p:cNvSpPr>
            <a:spLocks noChangeShapeType="1"/>
          </p:cNvSpPr>
          <p:nvPr/>
        </p:nvSpPr>
        <p:spPr bwMode="auto">
          <a:xfrm flipH="1">
            <a:off x="5651500" y="1989138"/>
            <a:ext cx="1588" cy="1008062"/>
          </a:xfrm>
          <a:prstGeom prst="line">
            <a:avLst/>
          </a:prstGeom>
          <a:noFill/>
          <a:ln w="19050">
            <a:solidFill>
              <a:srgbClr val="0099FF"/>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78" name="Line 129"/>
          <p:cNvSpPr>
            <a:spLocks noChangeShapeType="1"/>
          </p:cNvSpPr>
          <p:nvPr/>
        </p:nvSpPr>
        <p:spPr bwMode="auto">
          <a:xfrm flipH="1">
            <a:off x="5867400" y="1989138"/>
            <a:ext cx="1588" cy="1187450"/>
          </a:xfrm>
          <a:prstGeom prst="line">
            <a:avLst/>
          </a:prstGeom>
          <a:noFill/>
          <a:ln w="19050">
            <a:solidFill>
              <a:srgbClr val="00CC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79" name="Line 130"/>
          <p:cNvSpPr>
            <a:spLocks noChangeShapeType="1"/>
          </p:cNvSpPr>
          <p:nvPr/>
        </p:nvSpPr>
        <p:spPr bwMode="auto">
          <a:xfrm flipH="1">
            <a:off x="1439863" y="2852738"/>
            <a:ext cx="1587" cy="1189037"/>
          </a:xfrm>
          <a:prstGeom prst="line">
            <a:avLst/>
          </a:prstGeom>
          <a:noFill/>
          <a:ln w="190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80" name="Line 131"/>
          <p:cNvSpPr>
            <a:spLocks noChangeShapeType="1"/>
          </p:cNvSpPr>
          <p:nvPr/>
        </p:nvSpPr>
        <p:spPr bwMode="auto">
          <a:xfrm>
            <a:off x="1150938" y="3357563"/>
            <a:ext cx="288925" cy="0"/>
          </a:xfrm>
          <a:prstGeom prst="line">
            <a:avLst/>
          </a:prstGeom>
          <a:noFill/>
          <a:ln w="190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81" name="Line 132"/>
          <p:cNvSpPr>
            <a:spLocks noChangeShapeType="1"/>
          </p:cNvSpPr>
          <p:nvPr/>
        </p:nvSpPr>
        <p:spPr bwMode="auto">
          <a:xfrm flipH="1">
            <a:off x="971550" y="3681413"/>
            <a:ext cx="1588" cy="107950"/>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82" name="Line 133"/>
          <p:cNvSpPr>
            <a:spLocks noChangeShapeType="1"/>
          </p:cNvSpPr>
          <p:nvPr/>
        </p:nvSpPr>
        <p:spPr bwMode="auto">
          <a:xfrm flipH="1">
            <a:off x="971550" y="3968750"/>
            <a:ext cx="0" cy="180975"/>
          </a:xfrm>
          <a:prstGeom prst="line">
            <a:avLst/>
          </a:prstGeom>
          <a:noFill/>
          <a:ln w="19050">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83" name="Line 134"/>
          <p:cNvSpPr>
            <a:spLocks noChangeShapeType="1"/>
          </p:cNvSpPr>
          <p:nvPr/>
        </p:nvSpPr>
        <p:spPr bwMode="auto">
          <a:xfrm flipV="1">
            <a:off x="1116013" y="4052888"/>
            <a:ext cx="323850" cy="7937"/>
          </a:xfrm>
          <a:prstGeom prst="line">
            <a:avLst/>
          </a:prstGeom>
          <a:noFill/>
          <a:ln w="190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84" name="Line 135"/>
          <p:cNvSpPr>
            <a:spLocks noChangeShapeType="1"/>
          </p:cNvSpPr>
          <p:nvPr/>
        </p:nvSpPr>
        <p:spPr bwMode="auto">
          <a:xfrm flipH="1">
            <a:off x="1116013" y="4060825"/>
            <a:ext cx="0" cy="107950"/>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85" name="Line 136"/>
          <p:cNvSpPr>
            <a:spLocks noChangeShapeType="1"/>
          </p:cNvSpPr>
          <p:nvPr/>
        </p:nvSpPr>
        <p:spPr bwMode="auto">
          <a:xfrm>
            <a:off x="1223963" y="4095750"/>
            <a:ext cx="395287" cy="0"/>
          </a:xfrm>
          <a:prstGeom prst="line">
            <a:avLst/>
          </a:prstGeom>
          <a:noFill/>
          <a:ln w="1905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86" name="Line 137"/>
          <p:cNvSpPr>
            <a:spLocks noChangeShapeType="1"/>
          </p:cNvSpPr>
          <p:nvPr/>
        </p:nvSpPr>
        <p:spPr bwMode="auto">
          <a:xfrm>
            <a:off x="971550" y="4005263"/>
            <a:ext cx="3816350" cy="0"/>
          </a:xfrm>
          <a:prstGeom prst="line">
            <a:avLst/>
          </a:prstGeom>
          <a:noFill/>
          <a:ln w="2857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87" name="Line 138"/>
          <p:cNvSpPr>
            <a:spLocks noChangeShapeType="1"/>
          </p:cNvSpPr>
          <p:nvPr/>
        </p:nvSpPr>
        <p:spPr bwMode="auto">
          <a:xfrm flipH="1">
            <a:off x="4787900" y="4005263"/>
            <a:ext cx="0" cy="215900"/>
          </a:xfrm>
          <a:prstGeom prst="line">
            <a:avLst/>
          </a:prstGeom>
          <a:noFill/>
          <a:ln w="19050">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88" name="Line 140"/>
          <p:cNvSpPr>
            <a:spLocks noChangeShapeType="1"/>
          </p:cNvSpPr>
          <p:nvPr/>
        </p:nvSpPr>
        <p:spPr bwMode="auto">
          <a:xfrm flipH="1">
            <a:off x="1258888" y="4095750"/>
            <a:ext cx="0" cy="7302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89" name="Line 141"/>
          <p:cNvSpPr>
            <a:spLocks noChangeShapeType="1"/>
          </p:cNvSpPr>
          <p:nvPr/>
        </p:nvSpPr>
        <p:spPr bwMode="auto">
          <a:xfrm flipH="1">
            <a:off x="1619250" y="4095750"/>
            <a:ext cx="0" cy="7302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90" name="Line 143"/>
          <p:cNvSpPr>
            <a:spLocks noChangeShapeType="1"/>
          </p:cNvSpPr>
          <p:nvPr/>
        </p:nvSpPr>
        <p:spPr bwMode="auto">
          <a:xfrm>
            <a:off x="1979613" y="4367213"/>
            <a:ext cx="0" cy="14605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91" name="Line 144"/>
          <p:cNvSpPr>
            <a:spLocks noChangeShapeType="1"/>
          </p:cNvSpPr>
          <p:nvPr/>
        </p:nvSpPr>
        <p:spPr bwMode="auto">
          <a:xfrm>
            <a:off x="1403350" y="4672013"/>
            <a:ext cx="0" cy="17462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92" name="Line 145"/>
          <p:cNvSpPr>
            <a:spLocks noChangeShapeType="1"/>
          </p:cNvSpPr>
          <p:nvPr/>
        </p:nvSpPr>
        <p:spPr bwMode="auto">
          <a:xfrm>
            <a:off x="1079500" y="5049838"/>
            <a:ext cx="0" cy="17462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93" name="Line 146"/>
          <p:cNvSpPr>
            <a:spLocks noChangeShapeType="1"/>
          </p:cNvSpPr>
          <p:nvPr/>
        </p:nvSpPr>
        <p:spPr bwMode="auto">
          <a:xfrm>
            <a:off x="1042988" y="4365625"/>
            <a:ext cx="0" cy="14605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94" name="Line 147"/>
          <p:cNvSpPr>
            <a:spLocks noChangeShapeType="1"/>
          </p:cNvSpPr>
          <p:nvPr/>
        </p:nvSpPr>
        <p:spPr bwMode="auto">
          <a:xfrm>
            <a:off x="2538413" y="5049838"/>
            <a:ext cx="0" cy="17462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95" name="Line 148"/>
          <p:cNvSpPr>
            <a:spLocks noChangeShapeType="1"/>
          </p:cNvSpPr>
          <p:nvPr/>
        </p:nvSpPr>
        <p:spPr bwMode="auto">
          <a:xfrm>
            <a:off x="1614488" y="3825875"/>
            <a:ext cx="6378575" cy="0"/>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96" name="Line 149"/>
          <p:cNvSpPr>
            <a:spLocks noChangeShapeType="1"/>
          </p:cNvSpPr>
          <p:nvPr/>
        </p:nvSpPr>
        <p:spPr bwMode="auto">
          <a:xfrm flipH="1">
            <a:off x="1619250" y="3825875"/>
            <a:ext cx="3175" cy="287338"/>
          </a:xfrm>
          <a:prstGeom prst="line">
            <a:avLst/>
          </a:prstGeom>
          <a:noFill/>
          <a:ln w="1905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97" name="Line 150"/>
          <p:cNvSpPr>
            <a:spLocks noChangeShapeType="1"/>
          </p:cNvSpPr>
          <p:nvPr/>
        </p:nvSpPr>
        <p:spPr bwMode="auto">
          <a:xfrm>
            <a:off x="1800225" y="5445125"/>
            <a:ext cx="0" cy="17462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98" name="Line 151"/>
          <p:cNvSpPr>
            <a:spLocks noChangeShapeType="1"/>
          </p:cNvSpPr>
          <p:nvPr/>
        </p:nvSpPr>
        <p:spPr bwMode="auto">
          <a:xfrm>
            <a:off x="1800225" y="5813425"/>
            <a:ext cx="0" cy="174625"/>
          </a:xfrm>
          <a:prstGeom prst="line">
            <a:avLst/>
          </a:prstGeom>
          <a:noFill/>
          <a:ln w="1905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99" name="Line 152"/>
          <p:cNvSpPr>
            <a:spLocks noChangeShapeType="1"/>
          </p:cNvSpPr>
          <p:nvPr/>
        </p:nvSpPr>
        <p:spPr bwMode="auto">
          <a:xfrm>
            <a:off x="1800225" y="5975350"/>
            <a:ext cx="1655763" cy="9525"/>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00" name="Line 153"/>
          <p:cNvSpPr>
            <a:spLocks noChangeShapeType="1"/>
          </p:cNvSpPr>
          <p:nvPr/>
        </p:nvSpPr>
        <p:spPr bwMode="auto">
          <a:xfrm flipH="1">
            <a:off x="3455988" y="4689475"/>
            <a:ext cx="0" cy="1295400"/>
          </a:xfrm>
          <a:prstGeom prst="line">
            <a:avLst/>
          </a:prstGeom>
          <a:noFill/>
          <a:ln w="19050">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01" name="Line 154"/>
          <p:cNvSpPr>
            <a:spLocks noChangeShapeType="1"/>
          </p:cNvSpPr>
          <p:nvPr/>
        </p:nvSpPr>
        <p:spPr bwMode="auto">
          <a:xfrm flipH="1">
            <a:off x="2987675" y="4329113"/>
            <a:ext cx="1588" cy="431800"/>
          </a:xfrm>
          <a:prstGeom prst="line">
            <a:avLst/>
          </a:prstGeom>
          <a:noFill/>
          <a:ln w="19050">
            <a:solidFill>
              <a:srgbClr val="33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02" name="Line 155"/>
          <p:cNvSpPr>
            <a:spLocks noChangeShapeType="1"/>
          </p:cNvSpPr>
          <p:nvPr/>
        </p:nvSpPr>
        <p:spPr bwMode="auto">
          <a:xfrm>
            <a:off x="2987675" y="4760913"/>
            <a:ext cx="323850" cy="0"/>
          </a:xfrm>
          <a:prstGeom prst="line">
            <a:avLst/>
          </a:prstGeom>
          <a:noFill/>
          <a:ln w="19050">
            <a:solidFill>
              <a:srgbClr val="33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03" name="Line 156"/>
          <p:cNvSpPr>
            <a:spLocks noChangeShapeType="1"/>
          </p:cNvSpPr>
          <p:nvPr/>
        </p:nvSpPr>
        <p:spPr bwMode="auto">
          <a:xfrm flipH="1">
            <a:off x="3297238" y="4668838"/>
            <a:ext cx="0" cy="107950"/>
          </a:xfrm>
          <a:prstGeom prst="line">
            <a:avLst/>
          </a:prstGeom>
          <a:noFill/>
          <a:ln w="19050">
            <a:solidFill>
              <a:srgbClr val="33CC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04" name="Line 157"/>
          <p:cNvSpPr>
            <a:spLocks noChangeShapeType="1"/>
          </p:cNvSpPr>
          <p:nvPr/>
        </p:nvSpPr>
        <p:spPr bwMode="auto">
          <a:xfrm flipH="1">
            <a:off x="4111625" y="4329113"/>
            <a:ext cx="1588" cy="431800"/>
          </a:xfrm>
          <a:prstGeom prst="line">
            <a:avLst/>
          </a:prstGeom>
          <a:noFill/>
          <a:ln w="190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05" name="Line 158"/>
          <p:cNvSpPr>
            <a:spLocks noChangeShapeType="1"/>
          </p:cNvSpPr>
          <p:nvPr/>
        </p:nvSpPr>
        <p:spPr bwMode="auto">
          <a:xfrm>
            <a:off x="3779838" y="4760913"/>
            <a:ext cx="323850" cy="0"/>
          </a:xfrm>
          <a:prstGeom prst="line">
            <a:avLst/>
          </a:prstGeom>
          <a:noFill/>
          <a:ln w="190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06" name="Line 159"/>
          <p:cNvSpPr>
            <a:spLocks noChangeShapeType="1"/>
          </p:cNvSpPr>
          <p:nvPr/>
        </p:nvSpPr>
        <p:spPr bwMode="auto">
          <a:xfrm flipH="1">
            <a:off x="3798888" y="4660900"/>
            <a:ext cx="0" cy="107950"/>
          </a:xfrm>
          <a:prstGeom prst="line">
            <a:avLst/>
          </a:prstGeom>
          <a:noFill/>
          <a:ln w="19050">
            <a:solidFill>
              <a:srgbClr val="FF00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07" name="Line 160"/>
          <p:cNvSpPr>
            <a:spLocks noChangeShapeType="1"/>
          </p:cNvSpPr>
          <p:nvPr/>
        </p:nvSpPr>
        <p:spPr bwMode="auto">
          <a:xfrm>
            <a:off x="3276600" y="4437063"/>
            <a:ext cx="539750" cy="0"/>
          </a:xfrm>
          <a:prstGeom prst="line">
            <a:avLst/>
          </a:prstGeom>
          <a:noFill/>
          <a:ln w="190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08" name="Line 161"/>
          <p:cNvSpPr>
            <a:spLocks noChangeShapeType="1"/>
          </p:cNvSpPr>
          <p:nvPr/>
        </p:nvSpPr>
        <p:spPr bwMode="auto">
          <a:xfrm flipH="1">
            <a:off x="3816350" y="4329113"/>
            <a:ext cx="0" cy="107950"/>
          </a:xfrm>
          <a:prstGeom prst="line">
            <a:avLst/>
          </a:prstGeom>
          <a:noFill/>
          <a:ln w="19050">
            <a:solidFill>
              <a:schemeClr val="accent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09" name="Line 162"/>
          <p:cNvSpPr>
            <a:spLocks noChangeShapeType="1"/>
          </p:cNvSpPr>
          <p:nvPr/>
        </p:nvSpPr>
        <p:spPr bwMode="auto">
          <a:xfrm flipH="1">
            <a:off x="3276600" y="4329113"/>
            <a:ext cx="0" cy="107950"/>
          </a:xfrm>
          <a:prstGeom prst="line">
            <a:avLst/>
          </a:prstGeom>
          <a:noFill/>
          <a:ln w="19050">
            <a:solidFill>
              <a:schemeClr val="accent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10" name="Line 163"/>
          <p:cNvSpPr>
            <a:spLocks noChangeShapeType="1"/>
          </p:cNvSpPr>
          <p:nvPr/>
        </p:nvSpPr>
        <p:spPr bwMode="auto">
          <a:xfrm>
            <a:off x="3600450" y="4438650"/>
            <a:ext cx="0" cy="71438"/>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11" name="Line 164"/>
          <p:cNvSpPr>
            <a:spLocks noChangeShapeType="1"/>
          </p:cNvSpPr>
          <p:nvPr/>
        </p:nvSpPr>
        <p:spPr bwMode="auto">
          <a:xfrm flipH="1">
            <a:off x="3165475" y="3816350"/>
            <a:ext cx="1588" cy="323850"/>
          </a:xfrm>
          <a:prstGeom prst="line">
            <a:avLst/>
          </a:prstGeom>
          <a:noFill/>
          <a:ln w="19050">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12" name="Line 165"/>
          <p:cNvSpPr>
            <a:spLocks noChangeShapeType="1"/>
          </p:cNvSpPr>
          <p:nvPr/>
        </p:nvSpPr>
        <p:spPr bwMode="auto">
          <a:xfrm>
            <a:off x="2605088" y="3897313"/>
            <a:ext cx="5243512"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13" name="Line 166"/>
          <p:cNvSpPr>
            <a:spLocks noChangeShapeType="1"/>
          </p:cNvSpPr>
          <p:nvPr/>
        </p:nvSpPr>
        <p:spPr bwMode="auto">
          <a:xfrm flipH="1">
            <a:off x="2592388" y="3897313"/>
            <a:ext cx="0" cy="936625"/>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14" name="Line 167"/>
          <p:cNvSpPr>
            <a:spLocks noChangeShapeType="1"/>
          </p:cNvSpPr>
          <p:nvPr/>
        </p:nvSpPr>
        <p:spPr bwMode="auto">
          <a:xfrm flipH="1">
            <a:off x="2447925" y="3825875"/>
            <a:ext cx="17463" cy="1008063"/>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15" name="Line 168"/>
          <p:cNvSpPr>
            <a:spLocks noChangeShapeType="1"/>
          </p:cNvSpPr>
          <p:nvPr/>
        </p:nvSpPr>
        <p:spPr bwMode="auto">
          <a:xfrm flipH="1">
            <a:off x="2735263" y="4545013"/>
            <a:ext cx="3175" cy="287337"/>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16" name="Text Box 169"/>
          <p:cNvSpPr txBox="1">
            <a:spLocks noChangeArrowheads="1"/>
          </p:cNvSpPr>
          <p:nvPr/>
        </p:nvSpPr>
        <p:spPr bwMode="auto">
          <a:xfrm>
            <a:off x="2563813" y="4376738"/>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0</a:t>
            </a:r>
          </a:p>
        </p:txBody>
      </p:sp>
      <p:sp>
        <p:nvSpPr>
          <p:cNvPr id="17517" name="Line 170"/>
          <p:cNvSpPr>
            <a:spLocks noChangeShapeType="1"/>
          </p:cNvSpPr>
          <p:nvPr/>
        </p:nvSpPr>
        <p:spPr bwMode="auto">
          <a:xfrm flipH="1">
            <a:off x="1800225" y="2349500"/>
            <a:ext cx="36513" cy="1808163"/>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18" name="Line 171"/>
          <p:cNvSpPr>
            <a:spLocks noChangeShapeType="1"/>
          </p:cNvSpPr>
          <p:nvPr/>
        </p:nvSpPr>
        <p:spPr bwMode="auto">
          <a:xfrm flipH="1">
            <a:off x="1943100" y="2601913"/>
            <a:ext cx="34925" cy="1555750"/>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19" name="Line 172"/>
          <p:cNvSpPr>
            <a:spLocks noChangeShapeType="1"/>
          </p:cNvSpPr>
          <p:nvPr/>
        </p:nvSpPr>
        <p:spPr bwMode="auto">
          <a:xfrm flipH="1">
            <a:off x="2087563" y="2889250"/>
            <a:ext cx="36512" cy="1260475"/>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20" name="Line 176"/>
          <p:cNvSpPr>
            <a:spLocks noChangeShapeType="1"/>
          </p:cNvSpPr>
          <p:nvPr/>
        </p:nvSpPr>
        <p:spPr bwMode="auto">
          <a:xfrm>
            <a:off x="863600" y="3321050"/>
            <a:ext cx="1476375" cy="0"/>
          </a:xfrm>
          <a:prstGeom prst="line">
            <a:avLst/>
          </a:prstGeom>
          <a:noFill/>
          <a:ln w="19050">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21" name="Line 180"/>
          <p:cNvSpPr>
            <a:spLocks noChangeShapeType="1"/>
          </p:cNvSpPr>
          <p:nvPr/>
        </p:nvSpPr>
        <p:spPr bwMode="auto">
          <a:xfrm flipH="1">
            <a:off x="3384550" y="3536950"/>
            <a:ext cx="3175" cy="360363"/>
          </a:xfrm>
          <a:prstGeom prst="line">
            <a:avLst/>
          </a:prstGeom>
          <a:noFill/>
          <a:ln w="19050">
            <a:solidFill>
              <a:srgbClr val="FF00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22" name="Text Box 181"/>
          <p:cNvSpPr txBox="1">
            <a:spLocks noChangeArrowheads="1"/>
          </p:cNvSpPr>
          <p:nvPr/>
        </p:nvSpPr>
        <p:spPr bwMode="auto">
          <a:xfrm>
            <a:off x="250825" y="4186238"/>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SXM</a:t>
            </a:r>
          </a:p>
        </p:txBody>
      </p:sp>
      <p:sp>
        <p:nvSpPr>
          <p:cNvPr id="17523" name="Line 182"/>
          <p:cNvSpPr>
            <a:spLocks noChangeShapeType="1"/>
          </p:cNvSpPr>
          <p:nvPr/>
        </p:nvSpPr>
        <p:spPr bwMode="auto">
          <a:xfrm>
            <a:off x="576263" y="4294188"/>
            <a:ext cx="142875"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24" name="Text Box 183"/>
          <p:cNvSpPr txBox="1">
            <a:spLocks noChangeArrowheads="1"/>
          </p:cNvSpPr>
          <p:nvPr/>
        </p:nvSpPr>
        <p:spPr bwMode="auto">
          <a:xfrm>
            <a:off x="1555750" y="357346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P</a:t>
            </a:r>
          </a:p>
        </p:txBody>
      </p:sp>
      <p:sp>
        <p:nvSpPr>
          <p:cNvPr id="17525" name="Text Box 184"/>
          <p:cNvSpPr txBox="1">
            <a:spLocks noChangeArrowheads="1"/>
          </p:cNvSpPr>
          <p:nvPr/>
        </p:nvSpPr>
        <p:spPr bwMode="auto">
          <a:xfrm>
            <a:off x="1716088" y="3573463"/>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C</a:t>
            </a:r>
          </a:p>
        </p:txBody>
      </p:sp>
      <p:sp>
        <p:nvSpPr>
          <p:cNvPr id="17526" name="Text Box 185"/>
          <p:cNvSpPr txBox="1">
            <a:spLocks noChangeArrowheads="1"/>
          </p:cNvSpPr>
          <p:nvPr/>
        </p:nvSpPr>
        <p:spPr bwMode="auto">
          <a:xfrm>
            <a:off x="2016125" y="357346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D</a:t>
            </a:r>
          </a:p>
        </p:txBody>
      </p:sp>
      <p:sp>
        <p:nvSpPr>
          <p:cNvPr id="17527" name="Text Box 186"/>
          <p:cNvSpPr txBox="1">
            <a:spLocks noChangeArrowheads="1"/>
          </p:cNvSpPr>
          <p:nvPr/>
        </p:nvSpPr>
        <p:spPr bwMode="auto">
          <a:xfrm>
            <a:off x="1187450" y="3321050"/>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D</a:t>
            </a:r>
          </a:p>
        </p:txBody>
      </p:sp>
      <p:sp>
        <p:nvSpPr>
          <p:cNvPr id="17528" name="Text Box 187"/>
          <p:cNvSpPr txBox="1">
            <a:spLocks noChangeArrowheads="1"/>
          </p:cNvSpPr>
          <p:nvPr/>
        </p:nvSpPr>
        <p:spPr bwMode="auto">
          <a:xfrm>
            <a:off x="539750" y="3321050"/>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X</a:t>
            </a:r>
          </a:p>
        </p:txBody>
      </p:sp>
      <p:sp>
        <p:nvSpPr>
          <p:cNvPr id="17529" name="Text Box 188"/>
          <p:cNvSpPr txBox="1">
            <a:spLocks noChangeArrowheads="1"/>
          </p:cNvSpPr>
          <p:nvPr/>
        </p:nvSpPr>
        <p:spPr bwMode="auto">
          <a:xfrm>
            <a:off x="576263" y="4005263"/>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T</a:t>
            </a:r>
          </a:p>
        </p:txBody>
      </p:sp>
      <p:sp>
        <p:nvSpPr>
          <p:cNvPr id="17530" name="Text Box 189"/>
          <p:cNvSpPr txBox="1">
            <a:spLocks noChangeArrowheads="1"/>
          </p:cNvSpPr>
          <p:nvPr/>
        </p:nvSpPr>
        <p:spPr bwMode="auto">
          <a:xfrm>
            <a:off x="1373188" y="3789363"/>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
        <p:nvSpPr>
          <p:cNvPr id="17531" name="Text Box 190"/>
          <p:cNvSpPr txBox="1">
            <a:spLocks noChangeArrowheads="1"/>
          </p:cNvSpPr>
          <p:nvPr/>
        </p:nvSpPr>
        <p:spPr bwMode="auto">
          <a:xfrm>
            <a:off x="755650" y="4365625"/>
            <a:ext cx="3603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XM</a:t>
            </a:r>
          </a:p>
        </p:txBody>
      </p:sp>
      <p:sp>
        <p:nvSpPr>
          <p:cNvPr id="17532" name="Text Box 191"/>
          <p:cNvSpPr txBox="1">
            <a:spLocks noChangeArrowheads="1"/>
          </p:cNvSpPr>
          <p:nvPr/>
        </p:nvSpPr>
        <p:spPr bwMode="auto">
          <a:xfrm>
            <a:off x="2016125" y="4365625"/>
            <a:ext cx="3603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YM</a:t>
            </a:r>
          </a:p>
        </p:txBody>
      </p:sp>
      <p:sp>
        <p:nvSpPr>
          <p:cNvPr id="17533" name="Text Box 192"/>
          <p:cNvSpPr txBox="1">
            <a:spLocks noChangeArrowheads="1"/>
          </p:cNvSpPr>
          <p:nvPr/>
        </p:nvSpPr>
        <p:spPr bwMode="auto">
          <a:xfrm>
            <a:off x="2916238" y="4437063"/>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
        <p:nvSpPr>
          <p:cNvPr id="17534" name="Text Box 193"/>
          <p:cNvSpPr txBox="1">
            <a:spLocks noChangeArrowheads="1"/>
          </p:cNvSpPr>
          <p:nvPr/>
        </p:nvSpPr>
        <p:spPr bwMode="auto">
          <a:xfrm>
            <a:off x="3816350" y="4473575"/>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B</a:t>
            </a:r>
          </a:p>
        </p:txBody>
      </p:sp>
      <p:sp>
        <p:nvSpPr>
          <p:cNvPr id="17535" name="Line 194"/>
          <p:cNvSpPr>
            <a:spLocks noChangeShapeType="1"/>
          </p:cNvSpPr>
          <p:nvPr/>
        </p:nvSpPr>
        <p:spPr bwMode="auto">
          <a:xfrm flipH="1">
            <a:off x="4103688" y="3897313"/>
            <a:ext cx="0" cy="252412"/>
          </a:xfrm>
          <a:prstGeom prst="line">
            <a:avLst/>
          </a:prstGeom>
          <a:noFill/>
          <a:ln w="19050">
            <a:solidFill>
              <a:srgbClr val="FF00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36" name="Text Box 195"/>
          <p:cNvSpPr txBox="1">
            <a:spLocks noChangeArrowheads="1"/>
          </p:cNvSpPr>
          <p:nvPr/>
        </p:nvSpPr>
        <p:spPr bwMode="auto">
          <a:xfrm>
            <a:off x="3167063" y="5049838"/>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M</a:t>
            </a:r>
          </a:p>
        </p:txBody>
      </p:sp>
      <p:sp>
        <p:nvSpPr>
          <p:cNvPr id="17537" name="Line 196"/>
          <p:cNvSpPr>
            <a:spLocks noChangeShapeType="1"/>
          </p:cNvSpPr>
          <p:nvPr/>
        </p:nvSpPr>
        <p:spPr bwMode="auto">
          <a:xfrm flipH="1">
            <a:off x="7019925" y="2636838"/>
            <a:ext cx="0" cy="1116012"/>
          </a:xfrm>
          <a:prstGeom prst="line">
            <a:avLst/>
          </a:prstGeom>
          <a:noFill/>
          <a:ln w="1905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38" name="Line 198"/>
          <p:cNvSpPr>
            <a:spLocks noChangeShapeType="1"/>
          </p:cNvSpPr>
          <p:nvPr/>
        </p:nvSpPr>
        <p:spPr bwMode="auto">
          <a:xfrm flipH="1">
            <a:off x="7235825" y="2889250"/>
            <a:ext cx="1588" cy="792163"/>
          </a:xfrm>
          <a:prstGeom prst="line">
            <a:avLst/>
          </a:prstGeom>
          <a:noFill/>
          <a:ln w="190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39" name="Line 199"/>
          <p:cNvSpPr>
            <a:spLocks noChangeShapeType="1"/>
          </p:cNvSpPr>
          <p:nvPr/>
        </p:nvSpPr>
        <p:spPr bwMode="auto">
          <a:xfrm flipH="1">
            <a:off x="7416800" y="3213100"/>
            <a:ext cx="1588" cy="396875"/>
          </a:xfrm>
          <a:prstGeom prst="line">
            <a:avLst/>
          </a:prstGeom>
          <a:noFill/>
          <a:ln w="19050">
            <a:solidFill>
              <a:srgbClr val="00CC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40" name="Line 200"/>
          <p:cNvSpPr>
            <a:spLocks noChangeShapeType="1"/>
          </p:cNvSpPr>
          <p:nvPr/>
        </p:nvSpPr>
        <p:spPr bwMode="auto">
          <a:xfrm flipH="1">
            <a:off x="8712200" y="3609975"/>
            <a:ext cx="1588" cy="2016125"/>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41" name="Line 201"/>
          <p:cNvSpPr>
            <a:spLocks noChangeShapeType="1"/>
          </p:cNvSpPr>
          <p:nvPr/>
        </p:nvSpPr>
        <p:spPr bwMode="auto">
          <a:xfrm flipH="1">
            <a:off x="7416800" y="3609975"/>
            <a:ext cx="1303338" cy="0"/>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42" name="Line 202"/>
          <p:cNvSpPr>
            <a:spLocks noChangeShapeType="1"/>
          </p:cNvSpPr>
          <p:nvPr/>
        </p:nvSpPr>
        <p:spPr bwMode="auto">
          <a:xfrm>
            <a:off x="8424863" y="3681413"/>
            <a:ext cx="0" cy="420687"/>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43" name="Line 203"/>
          <p:cNvSpPr>
            <a:spLocks noChangeShapeType="1"/>
          </p:cNvSpPr>
          <p:nvPr/>
        </p:nvSpPr>
        <p:spPr bwMode="auto">
          <a:xfrm flipH="1">
            <a:off x="8208963" y="3752850"/>
            <a:ext cx="0" cy="360363"/>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44" name="Line 204"/>
          <p:cNvSpPr>
            <a:spLocks noChangeShapeType="1"/>
          </p:cNvSpPr>
          <p:nvPr/>
        </p:nvSpPr>
        <p:spPr bwMode="auto">
          <a:xfrm flipH="1">
            <a:off x="7993063" y="3813175"/>
            <a:ext cx="3175" cy="28733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45" name="Line 205"/>
          <p:cNvSpPr>
            <a:spLocks noChangeShapeType="1"/>
          </p:cNvSpPr>
          <p:nvPr/>
        </p:nvSpPr>
        <p:spPr bwMode="auto">
          <a:xfrm>
            <a:off x="7848600" y="3897313"/>
            <a:ext cx="0" cy="212725"/>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46" name="Text Box 206"/>
          <p:cNvSpPr txBox="1">
            <a:spLocks noChangeArrowheads="1"/>
          </p:cNvSpPr>
          <p:nvPr/>
        </p:nvSpPr>
        <p:spPr bwMode="auto">
          <a:xfrm>
            <a:off x="7559675" y="389731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B</a:t>
            </a:r>
          </a:p>
        </p:txBody>
      </p:sp>
      <p:sp>
        <p:nvSpPr>
          <p:cNvPr id="17547" name="Text Box 207"/>
          <p:cNvSpPr txBox="1">
            <a:spLocks noChangeArrowheads="1"/>
          </p:cNvSpPr>
          <p:nvPr/>
        </p:nvSpPr>
        <p:spPr bwMode="auto">
          <a:xfrm>
            <a:off x="7747000" y="3886200"/>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
        <p:nvSpPr>
          <p:cNvPr id="17548" name="Text Box 208"/>
          <p:cNvSpPr txBox="1">
            <a:spLocks noChangeArrowheads="1"/>
          </p:cNvSpPr>
          <p:nvPr/>
        </p:nvSpPr>
        <p:spPr bwMode="auto">
          <a:xfrm>
            <a:off x="7920038" y="3897313"/>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C</a:t>
            </a:r>
          </a:p>
        </p:txBody>
      </p:sp>
      <p:sp>
        <p:nvSpPr>
          <p:cNvPr id="17549" name="Text Box 209"/>
          <p:cNvSpPr txBox="1">
            <a:spLocks noChangeArrowheads="1"/>
          </p:cNvSpPr>
          <p:nvPr/>
        </p:nvSpPr>
        <p:spPr bwMode="auto">
          <a:xfrm>
            <a:off x="8135938" y="3897313"/>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D</a:t>
            </a:r>
          </a:p>
        </p:txBody>
      </p:sp>
      <p:sp>
        <p:nvSpPr>
          <p:cNvPr id="17550" name="Line 210"/>
          <p:cNvSpPr>
            <a:spLocks noChangeShapeType="1"/>
          </p:cNvSpPr>
          <p:nvPr/>
        </p:nvSpPr>
        <p:spPr bwMode="auto">
          <a:xfrm>
            <a:off x="7235825" y="3681413"/>
            <a:ext cx="1189038" cy="0"/>
          </a:xfrm>
          <a:prstGeom prst="line">
            <a:avLst/>
          </a:prstGeom>
          <a:noFill/>
          <a:ln w="190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51" name="Line 211"/>
          <p:cNvSpPr>
            <a:spLocks noChangeShapeType="1"/>
          </p:cNvSpPr>
          <p:nvPr/>
        </p:nvSpPr>
        <p:spPr bwMode="auto">
          <a:xfrm flipH="1" flipV="1">
            <a:off x="7019925" y="3752850"/>
            <a:ext cx="1189038" cy="0"/>
          </a:xfrm>
          <a:prstGeom prst="line">
            <a:avLst/>
          </a:prstGeom>
          <a:noFill/>
          <a:ln w="1905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52" name="Line 212"/>
          <p:cNvSpPr>
            <a:spLocks noChangeShapeType="1"/>
          </p:cNvSpPr>
          <p:nvPr/>
        </p:nvSpPr>
        <p:spPr bwMode="auto">
          <a:xfrm flipH="1">
            <a:off x="8172450" y="5553075"/>
            <a:ext cx="0" cy="73025"/>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53" name="Line 213"/>
          <p:cNvSpPr>
            <a:spLocks noChangeShapeType="1"/>
          </p:cNvSpPr>
          <p:nvPr/>
        </p:nvSpPr>
        <p:spPr bwMode="auto">
          <a:xfrm flipH="1">
            <a:off x="8183563" y="5626100"/>
            <a:ext cx="528637" cy="0"/>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54" name="Line 214"/>
          <p:cNvSpPr>
            <a:spLocks noChangeShapeType="1"/>
          </p:cNvSpPr>
          <p:nvPr/>
        </p:nvSpPr>
        <p:spPr bwMode="auto">
          <a:xfrm flipH="1">
            <a:off x="4967288" y="4437063"/>
            <a:ext cx="3175" cy="287337"/>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55" name="Line 215"/>
          <p:cNvSpPr>
            <a:spLocks noChangeShapeType="1"/>
          </p:cNvSpPr>
          <p:nvPr/>
        </p:nvSpPr>
        <p:spPr bwMode="auto">
          <a:xfrm flipH="1">
            <a:off x="6011863" y="4437063"/>
            <a:ext cx="3175" cy="287337"/>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56" name="Line 216"/>
          <p:cNvSpPr>
            <a:spLocks noChangeShapeType="1"/>
          </p:cNvSpPr>
          <p:nvPr/>
        </p:nvSpPr>
        <p:spPr bwMode="auto">
          <a:xfrm>
            <a:off x="3635375" y="5265738"/>
            <a:ext cx="1800225" cy="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57" name="Line 217"/>
          <p:cNvSpPr>
            <a:spLocks noChangeShapeType="1"/>
          </p:cNvSpPr>
          <p:nvPr/>
        </p:nvSpPr>
        <p:spPr bwMode="auto">
          <a:xfrm flipH="1" flipV="1">
            <a:off x="3635375" y="4689475"/>
            <a:ext cx="0" cy="576263"/>
          </a:xfrm>
          <a:prstGeom prst="line">
            <a:avLst/>
          </a:prstGeom>
          <a:noFill/>
          <a:ln w="28575">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58" name="Line 218"/>
          <p:cNvSpPr>
            <a:spLocks noChangeShapeType="1"/>
          </p:cNvSpPr>
          <p:nvPr/>
        </p:nvSpPr>
        <p:spPr bwMode="auto">
          <a:xfrm flipH="1" flipV="1">
            <a:off x="5435600" y="4976813"/>
            <a:ext cx="0" cy="288925"/>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59" name="Text Box 219"/>
          <p:cNvSpPr txBox="1">
            <a:spLocks noChangeArrowheads="1"/>
          </p:cNvSpPr>
          <p:nvPr/>
        </p:nvSpPr>
        <p:spPr bwMode="auto">
          <a:xfrm>
            <a:off x="4500563" y="4510088"/>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Y</a:t>
            </a:r>
          </a:p>
        </p:txBody>
      </p:sp>
      <p:sp>
        <p:nvSpPr>
          <p:cNvPr id="17560" name="Text Box 220"/>
          <p:cNvSpPr txBox="1">
            <a:spLocks noChangeArrowheads="1"/>
          </p:cNvSpPr>
          <p:nvPr/>
        </p:nvSpPr>
        <p:spPr bwMode="auto">
          <a:xfrm>
            <a:off x="6011863" y="4510088"/>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X</a:t>
            </a:r>
          </a:p>
        </p:txBody>
      </p:sp>
      <p:sp>
        <p:nvSpPr>
          <p:cNvPr id="17561" name="Text Box 221"/>
          <p:cNvSpPr txBox="1">
            <a:spLocks noChangeArrowheads="1"/>
          </p:cNvSpPr>
          <p:nvPr/>
        </p:nvSpPr>
        <p:spPr bwMode="auto">
          <a:xfrm>
            <a:off x="4525963" y="4056063"/>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T</a:t>
            </a:r>
          </a:p>
        </p:txBody>
      </p:sp>
      <p:sp>
        <p:nvSpPr>
          <p:cNvPr id="17562" name="Text Box 222"/>
          <p:cNvSpPr txBox="1">
            <a:spLocks noChangeArrowheads="1"/>
          </p:cNvSpPr>
          <p:nvPr/>
        </p:nvSpPr>
        <p:spPr bwMode="auto">
          <a:xfrm>
            <a:off x="4716463" y="4048125"/>
            <a:ext cx="3603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
        <p:nvSpPr>
          <p:cNvPr id="17563" name="Line 223"/>
          <p:cNvSpPr>
            <a:spLocks noChangeShapeType="1"/>
          </p:cNvSpPr>
          <p:nvPr/>
        </p:nvSpPr>
        <p:spPr bwMode="auto">
          <a:xfrm flipH="1">
            <a:off x="4967288" y="3825875"/>
            <a:ext cx="0" cy="39528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64" name="Line 224"/>
          <p:cNvSpPr>
            <a:spLocks noChangeShapeType="1"/>
          </p:cNvSpPr>
          <p:nvPr/>
        </p:nvSpPr>
        <p:spPr bwMode="auto">
          <a:xfrm flipH="1">
            <a:off x="5111750" y="3897313"/>
            <a:ext cx="0" cy="323850"/>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65" name="Text Box 225"/>
          <p:cNvSpPr txBox="1">
            <a:spLocks noChangeArrowheads="1"/>
          </p:cNvSpPr>
          <p:nvPr/>
        </p:nvSpPr>
        <p:spPr bwMode="auto">
          <a:xfrm>
            <a:off x="4875213" y="4048125"/>
            <a:ext cx="3603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B</a:t>
            </a:r>
          </a:p>
        </p:txBody>
      </p:sp>
      <p:sp>
        <p:nvSpPr>
          <p:cNvPr id="17566" name="Line 226"/>
          <p:cNvSpPr>
            <a:spLocks noChangeShapeType="1"/>
          </p:cNvSpPr>
          <p:nvPr/>
        </p:nvSpPr>
        <p:spPr bwMode="auto">
          <a:xfrm flipH="1">
            <a:off x="5292725" y="2636838"/>
            <a:ext cx="0" cy="1620837"/>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67" name="Text Box 228"/>
          <p:cNvSpPr txBox="1">
            <a:spLocks noChangeArrowheads="1"/>
          </p:cNvSpPr>
          <p:nvPr/>
        </p:nvSpPr>
        <p:spPr bwMode="auto">
          <a:xfrm>
            <a:off x="5013325" y="4052888"/>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C</a:t>
            </a:r>
          </a:p>
        </p:txBody>
      </p:sp>
      <p:sp>
        <p:nvSpPr>
          <p:cNvPr id="17568" name="Line 229"/>
          <p:cNvSpPr>
            <a:spLocks noChangeShapeType="1"/>
          </p:cNvSpPr>
          <p:nvPr/>
        </p:nvSpPr>
        <p:spPr bwMode="auto">
          <a:xfrm flipH="1">
            <a:off x="5724525" y="2925763"/>
            <a:ext cx="1588" cy="1295400"/>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69" name="Text Box 230"/>
          <p:cNvSpPr txBox="1">
            <a:spLocks noChangeArrowheads="1"/>
          </p:cNvSpPr>
          <p:nvPr/>
        </p:nvSpPr>
        <p:spPr bwMode="auto">
          <a:xfrm>
            <a:off x="5400675" y="4022725"/>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D</a:t>
            </a:r>
          </a:p>
        </p:txBody>
      </p:sp>
      <p:sp>
        <p:nvSpPr>
          <p:cNvPr id="17570" name="Line 231"/>
          <p:cNvSpPr>
            <a:spLocks noChangeShapeType="1"/>
          </p:cNvSpPr>
          <p:nvPr/>
        </p:nvSpPr>
        <p:spPr bwMode="auto">
          <a:xfrm flipH="1">
            <a:off x="8172450" y="4905375"/>
            <a:ext cx="0" cy="209550"/>
          </a:xfrm>
          <a:prstGeom prst="line">
            <a:avLst/>
          </a:prstGeom>
          <a:noFill/>
          <a:ln w="19050">
            <a:solidFill>
              <a:srgbClr val="00CC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71" name="Line 232"/>
          <p:cNvSpPr>
            <a:spLocks noChangeShapeType="1"/>
          </p:cNvSpPr>
          <p:nvPr/>
        </p:nvSpPr>
        <p:spPr bwMode="auto">
          <a:xfrm flipH="1">
            <a:off x="8164513" y="4329113"/>
            <a:ext cx="1587" cy="217487"/>
          </a:xfrm>
          <a:prstGeom prst="line">
            <a:avLst/>
          </a:prstGeom>
          <a:noFill/>
          <a:ln w="19050">
            <a:solidFill>
              <a:srgbClr val="00CC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72" name="Text Box 233"/>
          <p:cNvSpPr txBox="1">
            <a:spLocks noChangeArrowheads="1"/>
          </p:cNvSpPr>
          <p:nvPr/>
        </p:nvSpPr>
        <p:spPr bwMode="auto">
          <a:xfrm>
            <a:off x="8105775" y="4941888"/>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S</a:t>
            </a:r>
          </a:p>
        </p:txBody>
      </p:sp>
      <p:sp>
        <p:nvSpPr>
          <p:cNvPr id="17573" name="Line 234"/>
          <p:cNvSpPr>
            <a:spLocks noChangeShapeType="1"/>
          </p:cNvSpPr>
          <p:nvPr/>
        </p:nvSpPr>
        <p:spPr bwMode="auto">
          <a:xfrm flipH="1" flipV="1">
            <a:off x="7596188" y="4976813"/>
            <a:ext cx="569912" cy="7937"/>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74" name="Line 235"/>
          <p:cNvSpPr>
            <a:spLocks noChangeShapeType="1"/>
          </p:cNvSpPr>
          <p:nvPr/>
        </p:nvSpPr>
        <p:spPr bwMode="auto">
          <a:xfrm>
            <a:off x="7596188" y="4005263"/>
            <a:ext cx="0" cy="971550"/>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75" name="Line 236"/>
          <p:cNvSpPr>
            <a:spLocks noChangeShapeType="1"/>
          </p:cNvSpPr>
          <p:nvPr/>
        </p:nvSpPr>
        <p:spPr bwMode="auto">
          <a:xfrm flipH="1" flipV="1">
            <a:off x="6156325" y="4014788"/>
            <a:ext cx="1427163" cy="7937"/>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76" name="Line 237"/>
          <p:cNvSpPr>
            <a:spLocks noChangeShapeType="1"/>
          </p:cNvSpPr>
          <p:nvPr/>
        </p:nvSpPr>
        <p:spPr bwMode="auto">
          <a:xfrm flipH="1">
            <a:off x="6156325" y="4005263"/>
            <a:ext cx="0" cy="254000"/>
          </a:xfrm>
          <a:prstGeom prst="line">
            <a:avLst/>
          </a:prstGeom>
          <a:noFill/>
          <a:ln w="19050">
            <a:solidFill>
              <a:srgbClr val="00CC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77" name="Line 238"/>
          <p:cNvSpPr>
            <a:spLocks noChangeShapeType="1"/>
          </p:cNvSpPr>
          <p:nvPr/>
        </p:nvSpPr>
        <p:spPr bwMode="auto">
          <a:xfrm>
            <a:off x="7343775" y="5121275"/>
            <a:ext cx="468313" cy="0"/>
          </a:xfrm>
          <a:prstGeom prst="line">
            <a:avLst/>
          </a:prstGeom>
          <a:noFill/>
          <a:ln w="19050">
            <a:solidFill>
              <a:schemeClr val="accent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78" name="Line 239"/>
          <p:cNvSpPr>
            <a:spLocks noChangeShapeType="1"/>
          </p:cNvSpPr>
          <p:nvPr/>
        </p:nvSpPr>
        <p:spPr bwMode="auto">
          <a:xfrm>
            <a:off x="7343775" y="5194300"/>
            <a:ext cx="323850" cy="0"/>
          </a:xfrm>
          <a:prstGeom prst="line">
            <a:avLst/>
          </a:prstGeom>
          <a:noFill/>
          <a:ln w="19050">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79" name="Line 240"/>
          <p:cNvSpPr>
            <a:spLocks noChangeShapeType="1"/>
          </p:cNvSpPr>
          <p:nvPr/>
        </p:nvSpPr>
        <p:spPr bwMode="auto">
          <a:xfrm>
            <a:off x="7524750" y="5481638"/>
            <a:ext cx="142875" cy="0"/>
          </a:xfrm>
          <a:prstGeom prst="line">
            <a:avLst/>
          </a:prstGeom>
          <a:noFill/>
          <a:ln w="19050">
            <a:solidFill>
              <a:schemeClr val="accent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80" name="Line 241"/>
          <p:cNvSpPr>
            <a:spLocks noChangeShapeType="1"/>
          </p:cNvSpPr>
          <p:nvPr/>
        </p:nvSpPr>
        <p:spPr bwMode="auto">
          <a:xfrm>
            <a:off x="7524750" y="5842000"/>
            <a:ext cx="142875" cy="0"/>
          </a:xfrm>
          <a:prstGeom prst="line">
            <a:avLst/>
          </a:prstGeom>
          <a:noFill/>
          <a:ln w="19050">
            <a:solidFill>
              <a:schemeClr val="accent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81" name="Line 242"/>
          <p:cNvSpPr>
            <a:spLocks noChangeShapeType="1"/>
          </p:cNvSpPr>
          <p:nvPr/>
        </p:nvSpPr>
        <p:spPr bwMode="auto">
          <a:xfrm flipV="1">
            <a:off x="7667625" y="5194300"/>
            <a:ext cx="0" cy="647700"/>
          </a:xfrm>
          <a:prstGeom prst="line">
            <a:avLst/>
          </a:prstGeom>
          <a:noFill/>
          <a:ln w="19050">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82" name="Line 243"/>
          <p:cNvSpPr>
            <a:spLocks noChangeShapeType="1"/>
          </p:cNvSpPr>
          <p:nvPr/>
        </p:nvSpPr>
        <p:spPr bwMode="auto">
          <a:xfrm flipH="1">
            <a:off x="6948488" y="4833938"/>
            <a:ext cx="3175" cy="215900"/>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83" name="Text Box 244"/>
          <p:cNvSpPr txBox="1">
            <a:spLocks noChangeArrowheads="1"/>
          </p:cNvSpPr>
          <p:nvPr/>
        </p:nvSpPr>
        <p:spPr bwMode="auto">
          <a:xfrm>
            <a:off x="5832475" y="4022725"/>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S</a:t>
            </a:r>
          </a:p>
        </p:txBody>
      </p:sp>
      <p:sp>
        <p:nvSpPr>
          <p:cNvPr id="17584" name="Line 245"/>
          <p:cNvSpPr>
            <a:spLocks noChangeShapeType="1"/>
          </p:cNvSpPr>
          <p:nvPr/>
        </p:nvSpPr>
        <p:spPr bwMode="auto">
          <a:xfrm flipH="1">
            <a:off x="7056438" y="3897313"/>
            <a:ext cx="0" cy="755650"/>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85" name="Line 246"/>
          <p:cNvSpPr>
            <a:spLocks noChangeShapeType="1"/>
          </p:cNvSpPr>
          <p:nvPr/>
        </p:nvSpPr>
        <p:spPr bwMode="auto">
          <a:xfrm flipH="1">
            <a:off x="6732588" y="3825875"/>
            <a:ext cx="0" cy="82708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586" name="Text Box 247"/>
          <p:cNvSpPr txBox="1">
            <a:spLocks noChangeArrowheads="1"/>
          </p:cNvSpPr>
          <p:nvPr/>
        </p:nvSpPr>
        <p:spPr bwMode="auto">
          <a:xfrm>
            <a:off x="6767513" y="4329113"/>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B</a:t>
            </a:r>
          </a:p>
        </p:txBody>
      </p:sp>
      <p:sp>
        <p:nvSpPr>
          <p:cNvPr id="17587" name="Text Box 248"/>
          <p:cNvSpPr txBox="1">
            <a:spLocks noChangeArrowheads="1"/>
          </p:cNvSpPr>
          <p:nvPr/>
        </p:nvSpPr>
        <p:spPr bwMode="auto">
          <a:xfrm>
            <a:off x="6410325" y="4337050"/>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
        <p:nvSpPr>
          <p:cNvPr id="17588" name="Line 251"/>
          <p:cNvSpPr>
            <a:spLocks noChangeShapeType="1"/>
          </p:cNvSpPr>
          <p:nvPr/>
        </p:nvSpPr>
        <p:spPr bwMode="auto">
          <a:xfrm flipH="1">
            <a:off x="2700338" y="3500438"/>
            <a:ext cx="1587" cy="323850"/>
          </a:xfrm>
          <a:prstGeom prst="line">
            <a:avLst/>
          </a:prstGeom>
          <a:noFill/>
          <a:ln w="19050">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89" name="Text Box 252"/>
          <p:cNvSpPr txBox="1">
            <a:spLocks noChangeArrowheads="1"/>
          </p:cNvSpPr>
          <p:nvPr/>
        </p:nvSpPr>
        <p:spPr bwMode="auto">
          <a:xfrm>
            <a:off x="2376488" y="4508500"/>
            <a:ext cx="3603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B</a:t>
            </a:r>
          </a:p>
        </p:txBody>
      </p:sp>
      <p:sp>
        <p:nvSpPr>
          <p:cNvPr id="17590" name="Text Box 253"/>
          <p:cNvSpPr txBox="1">
            <a:spLocks noChangeArrowheads="1"/>
          </p:cNvSpPr>
          <p:nvPr/>
        </p:nvSpPr>
        <p:spPr bwMode="auto">
          <a:xfrm>
            <a:off x="2232025" y="4581525"/>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Tree>
  </p:cSld>
  <p:clrMapOvr>
    <a:masterClrMapping/>
  </p:clrMapOvr>
  <p:transition spd="med">
    <p:pull dir="l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FAB6FB6-4A65-43AD-8985-858582F8F88C}" type="slidenum">
              <a:rPr lang="en-US" altLang="zh-CN" sz="1400" b="0"/>
              <a:pPr eaLnBrk="1" hangingPunct="1"/>
              <a:t>6</a:t>
            </a:fld>
            <a:endParaRPr lang="en-US" altLang="zh-CN" sz="1400" b="0"/>
          </a:p>
        </p:txBody>
      </p:sp>
      <p:sp>
        <p:nvSpPr>
          <p:cNvPr id="515074" name="Rectangle 2"/>
          <p:cNvSpPr>
            <a:spLocks noChangeArrowheads="1"/>
          </p:cNvSpPr>
          <p:nvPr/>
        </p:nvSpPr>
        <p:spPr bwMode="auto">
          <a:xfrm>
            <a:off x="1219200" y="1295400"/>
            <a:ext cx="7391400"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63480" bIns="6348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4400">
                <a:solidFill>
                  <a:srgbClr val="FF0000"/>
                </a:solidFill>
                <a:latin typeface="宋体" panose="02010600030101010101" pitchFamily="2" charset="-122"/>
              </a:rPr>
              <a:t>第二节  </a:t>
            </a:r>
            <a:r>
              <a:rPr lang="en-US" altLang="zh-CN" sz="4400">
                <a:solidFill>
                  <a:srgbClr val="FF0000"/>
                </a:solidFill>
                <a:latin typeface="宋体" panose="02010600030101010101" pitchFamily="2" charset="-122"/>
              </a:rPr>
              <a:t>C54x</a:t>
            </a:r>
            <a:r>
              <a:rPr lang="zh-CN" altLang="en-US" sz="4400">
                <a:solidFill>
                  <a:srgbClr val="FF0000"/>
                </a:solidFill>
                <a:latin typeface="宋体" panose="02010600030101010101" pitchFamily="2" charset="-122"/>
              </a:rPr>
              <a:t>芯片的</a:t>
            </a:r>
            <a:r>
              <a:rPr lang="en-US" altLang="zh-CN" sz="4400">
                <a:solidFill>
                  <a:srgbClr val="FF0000"/>
                </a:solidFill>
                <a:latin typeface="宋体" panose="02010600030101010101" pitchFamily="2" charset="-122"/>
              </a:rPr>
              <a:t>CPU</a:t>
            </a:r>
            <a:r>
              <a:rPr lang="zh-CN" altLang="en-US" sz="4400">
                <a:solidFill>
                  <a:srgbClr val="FF0000"/>
                </a:solidFill>
                <a:latin typeface="宋体" panose="02010600030101010101" pitchFamily="2" charset="-122"/>
              </a:rPr>
              <a:t>结构</a:t>
            </a:r>
          </a:p>
        </p:txBody>
      </p:sp>
      <p:sp>
        <p:nvSpPr>
          <p:cNvPr id="515075" name="Rectangle 3"/>
          <p:cNvSpPr>
            <a:spLocks noChangeArrowheads="1"/>
          </p:cNvSpPr>
          <p:nvPr/>
        </p:nvSpPr>
        <p:spPr bwMode="auto">
          <a:xfrm>
            <a:off x="1371600" y="2286000"/>
            <a:ext cx="7315200" cy="3975100"/>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3600" dirty="0">
                <a:latin typeface="宋体" panose="02010600030101010101" pitchFamily="2" charset="-122"/>
              </a:rPr>
              <a:t>40</a:t>
            </a:r>
            <a:r>
              <a:rPr lang="zh-CN" altLang="en-US" sz="3600" dirty="0">
                <a:latin typeface="宋体" panose="02010600030101010101" pitchFamily="2" charset="-122"/>
              </a:rPr>
              <a:t>位算术逻辑运算单元（</a:t>
            </a:r>
            <a:r>
              <a:rPr lang="en-US" altLang="zh-CN" sz="3600" dirty="0">
                <a:latin typeface="宋体" panose="02010600030101010101" pitchFamily="2" charset="-122"/>
              </a:rPr>
              <a:t>ALU</a:t>
            </a:r>
            <a:r>
              <a:rPr lang="zh-CN" altLang="en-US" sz="3600" dirty="0">
                <a:latin typeface="宋体" panose="02010600030101010101" pitchFamily="2" charset="-122"/>
              </a:rPr>
              <a:t>）</a:t>
            </a:r>
          </a:p>
          <a:p>
            <a:pPr algn="just" eaLnBrk="1" hangingPunct="1"/>
            <a:r>
              <a:rPr lang="en-US" altLang="zh-CN" sz="3600" dirty="0">
                <a:latin typeface="宋体" panose="02010600030101010101" pitchFamily="2" charset="-122"/>
              </a:rPr>
              <a:t>2</a:t>
            </a:r>
            <a:r>
              <a:rPr lang="zh-CN" altLang="en-US" sz="3600" dirty="0">
                <a:latin typeface="宋体" panose="02010600030101010101" pitchFamily="2" charset="-122"/>
              </a:rPr>
              <a:t>个</a:t>
            </a:r>
            <a:r>
              <a:rPr lang="en-US" altLang="zh-CN" sz="3600" dirty="0">
                <a:latin typeface="宋体" panose="02010600030101010101" pitchFamily="2" charset="-122"/>
              </a:rPr>
              <a:t>40</a:t>
            </a:r>
            <a:r>
              <a:rPr lang="zh-CN" altLang="en-US" sz="3600" dirty="0">
                <a:latin typeface="宋体" panose="02010600030101010101" pitchFamily="2" charset="-122"/>
              </a:rPr>
              <a:t>位累加器</a:t>
            </a:r>
            <a:r>
              <a:rPr lang="en-US" altLang="zh-CN" sz="3600" dirty="0">
                <a:latin typeface="宋体" panose="02010600030101010101" pitchFamily="2" charset="-122"/>
              </a:rPr>
              <a:t>A</a:t>
            </a:r>
            <a:r>
              <a:rPr lang="zh-CN" altLang="en-US" sz="3600" dirty="0">
                <a:latin typeface="宋体" panose="02010600030101010101" pitchFamily="2" charset="-122"/>
              </a:rPr>
              <a:t>和</a:t>
            </a:r>
            <a:r>
              <a:rPr lang="en-US" altLang="zh-CN" sz="3600" dirty="0">
                <a:latin typeface="宋体" panose="02010600030101010101" pitchFamily="2" charset="-122"/>
              </a:rPr>
              <a:t>B</a:t>
            </a:r>
          </a:p>
          <a:p>
            <a:pPr algn="just" eaLnBrk="1" hangingPunct="1"/>
            <a:r>
              <a:rPr lang="zh-CN" altLang="en-US" sz="3600" dirty="0">
                <a:latin typeface="宋体" panose="02010600030101010101" pitchFamily="2" charset="-122"/>
              </a:rPr>
              <a:t>移位</a:t>
            </a:r>
            <a:r>
              <a:rPr lang="en-US" altLang="zh-CN" sz="3600" dirty="0">
                <a:latin typeface="宋体" panose="02010600030101010101" pitchFamily="2" charset="-122"/>
              </a:rPr>
              <a:t>-16</a:t>
            </a:r>
            <a:r>
              <a:rPr lang="zh-CN" altLang="en-US" sz="3600" dirty="0">
                <a:latin typeface="宋体" panose="02010600030101010101" pitchFamily="2" charset="-122"/>
              </a:rPr>
              <a:t>～</a:t>
            </a:r>
            <a:r>
              <a:rPr lang="en-US" altLang="zh-CN" sz="3600" dirty="0">
                <a:latin typeface="宋体" panose="02010600030101010101" pitchFamily="2" charset="-122"/>
              </a:rPr>
              <a:t>31</a:t>
            </a:r>
            <a:r>
              <a:rPr lang="zh-CN" altLang="en-US" sz="3600" dirty="0">
                <a:latin typeface="宋体" panose="02010600030101010101" pitchFamily="2" charset="-122"/>
              </a:rPr>
              <a:t>位的桶形移位寄存器</a:t>
            </a:r>
          </a:p>
          <a:p>
            <a:pPr algn="just" eaLnBrk="1" hangingPunct="1"/>
            <a:r>
              <a:rPr lang="zh-CN" altLang="en-US" sz="3600" dirty="0">
                <a:latin typeface="宋体" panose="02010600030101010101" pitchFamily="2" charset="-122"/>
              </a:rPr>
              <a:t>乘法器</a:t>
            </a:r>
            <a:r>
              <a:rPr lang="en-US" altLang="zh-CN" sz="3600" dirty="0">
                <a:latin typeface="宋体" panose="02010600030101010101" pitchFamily="2" charset="-122"/>
              </a:rPr>
              <a:t>/</a:t>
            </a:r>
            <a:r>
              <a:rPr lang="zh-CN" altLang="en-US" sz="3600" dirty="0">
                <a:latin typeface="宋体" panose="02010600030101010101" pitchFamily="2" charset="-122"/>
              </a:rPr>
              <a:t>加法器单元</a:t>
            </a:r>
          </a:p>
          <a:p>
            <a:pPr algn="just" eaLnBrk="1" hangingPunct="1"/>
            <a:r>
              <a:rPr lang="zh-CN" altLang="en-US" sz="3600" dirty="0">
                <a:latin typeface="宋体" panose="02010600030101010101" pitchFamily="2" charset="-122"/>
              </a:rPr>
              <a:t>比较和选择及存储单元（</a:t>
            </a:r>
            <a:r>
              <a:rPr lang="en-US" altLang="zh-CN" sz="3600" dirty="0">
                <a:latin typeface="宋体" panose="02010600030101010101" pitchFamily="2" charset="-122"/>
              </a:rPr>
              <a:t>CSSU</a:t>
            </a:r>
            <a:r>
              <a:rPr lang="zh-CN" altLang="en-US" sz="3600" dirty="0">
                <a:latin typeface="宋体" panose="02010600030101010101" pitchFamily="2" charset="-122"/>
              </a:rPr>
              <a:t>）</a:t>
            </a:r>
          </a:p>
          <a:p>
            <a:pPr algn="just" eaLnBrk="1" hangingPunct="1"/>
            <a:r>
              <a:rPr lang="zh-CN" altLang="en-US" sz="3600" dirty="0">
                <a:latin typeface="宋体" panose="02010600030101010101" pitchFamily="2" charset="-122"/>
              </a:rPr>
              <a:t>指数编码器</a:t>
            </a:r>
          </a:p>
          <a:p>
            <a:pPr algn="just" eaLnBrk="1" hangingPunct="1"/>
            <a:r>
              <a:rPr lang="en-US" altLang="zh-CN" sz="3600" dirty="0">
                <a:latin typeface="宋体" panose="02010600030101010101" pitchFamily="2" charset="-122"/>
              </a:rPr>
              <a:t>CPU</a:t>
            </a:r>
            <a:r>
              <a:rPr lang="zh-CN" altLang="en-US" sz="3600" dirty="0">
                <a:latin typeface="宋体" panose="02010600030101010101" pitchFamily="2" charset="-122"/>
              </a:rPr>
              <a:t>状态和控制寄存器</a:t>
            </a:r>
          </a:p>
        </p:txBody>
      </p:sp>
      <p:sp>
        <p:nvSpPr>
          <p:cNvPr id="515076" name="Rectangle 4" descr="小棋盘"/>
          <p:cNvSpPr>
            <a:spLocks noChangeArrowheads="1"/>
          </p:cNvSpPr>
          <p:nvPr/>
        </p:nvSpPr>
        <p:spPr bwMode="auto">
          <a:xfrm>
            <a:off x="381000" y="3200400"/>
            <a:ext cx="717550" cy="1266825"/>
          </a:xfrm>
          <a:prstGeom prst="rect">
            <a:avLst/>
          </a:prstGeom>
          <a:pattFill prst="smCheck">
            <a:fgClr>
              <a:srgbClr val="FFFF00"/>
            </a:fgClr>
            <a:bgClr>
              <a:srgbClr val="FFFFFF"/>
            </a:bgClr>
          </a:pattFill>
          <a:ln w="76200">
            <a:solidFill>
              <a:srgbClr val="FF00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chemeClr val="tx2"/>
                </a:solidFill>
                <a:latin typeface="宋体" panose="02010600030101010101" pitchFamily="2" charset="-122"/>
              </a:rPr>
              <a:t>包</a:t>
            </a:r>
          </a:p>
          <a:p>
            <a:pPr eaLnBrk="1" hangingPunct="1"/>
            <a:r>
              <a:rPr lang="zh-CN" altLang="en-US" sz="3600">
                <a:solidFill>
                  <a:schemeClr val="tx2"/>
                </a:solidFill>
                <a:latin typeface="宋体" panose="02010600030101010101" pitchFamily="2" charset="-122"/>
              </a:rPr>
              <a:t>括</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5074"/>
                                        </p:tgtEl>
                                        <p:attrNameLst>
                                          <p:attrName>style.visibility</p:attrName>
                                        </p:attrNameLst>
                                      </p:cBhvr>
                                      <p:to>
                                        <p:strVal val="visible"/>
                                      </p:to>
                                    </p:set>
                                    <p:animEffect transition="in" filter="dissolve">
                                      <p:cBhvr>
                                        <p:cTn id="7" dur="500"/>
                                        <p:tgtEl>
                                          <p:spTgt spid="515074"/>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15076"/>
                                        </p:tgtEl>
                                        <p:attrNameLst>
                                          <p:attrName>style.visibility</p:attrName>
                                        </p:attrNameLst>
                                      </p:cBhvr>
                                      <p:to>
                                        <p:strVal val="visible"/>
                                      </p:to>
                                    </p:set>
                                    <p:animEffect transition="in" filter="wipe(up)">
                                      <p:cBhvr>
                                        <p:cTn id="11" dur="500"/>
                                        <p:tgtEl>
                                          <p:spTgt spid="515076"/>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515075"/>
                                        </p:tgtEl>
                                        <p:attrNameLst>
                                          <p:attrName>style.visibility</p:attrName>
                                        </p:attrNameLst>
                                      </p:cBhvr>
                                      <p:to>
                                        <p:strVal val="visible"/>
                                      </p:to>
                                    </p:set>
                                    <p:animEffect transition="in" filter="slide(fromBottom)">
                                      <p:cBhvr>
                                        <p:cTn id="15" dur="500"/>
                                        <p:tgtEl>
                                          <p:spTgt spid="515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4" grpId="0" autoUpdateAnimBg="0"/>
      <p:bldP spid="515075" grpId="0" animBg="1" autoUpdateAnimBg="0"/>
      <p:bldP spid="515076"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7E59AEDE-423B-4CF0-ACC0-A5A13455A238}" type="slidenum">
              <a:rPr lang="en-US" altLang="zh-CN" sz="1400" b="0"/>
              <a:pPr eaLnBrk="1" hangingPunct="1"/>
              <a:t>7</a:t>
            </a:fld>
            <a:endParaRPr lang="en-US" altLang="zh-CN" sz="1400" b="0"/>
          </a:p>
        </p:txBody>
      </p:sp>
      <p:sp>
        <p:nvSpPr>
          <p:cNvPr id="19459" name="Line 36"/>
          <p:cNvSpPr>
            <a:spLocks noChangeShapeType="1"/>
          </p:cNvSpPr>
          <p:nvPr/>
        </p:nvSpPr>
        <p:spPr bwMode="auto">
          <a:xfrm flipH="1">
            <a:off x="5111750" y="2024063"/>
            <a:ext cx="0" cy="39687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60" name="AutoShape 30"/>
          <p:cNvSpPr>
            <a:spLocks noChangeArrowheads="1"/>
          </p:cNvSpPr>
          <p:nvPr/>
        </p:nvSpPr>
        <p:spPr bwMode="auto">
          <a:xfrm rot="-5400000">
            <a:off x="1781969" y="1502569"/>
            <a:ext cx="4141787" cy="4537075"/>
          </a:xfrm>
          <a:custGeom>
            <a:avLst/>
            <a:gdLst>
              <a:gd name="T0" fmla="*/ 643657436 w 21600"/>
              <a:gd name="T1" fmla="*/ 0 h 21600"/>
              <a:gd name="T2" fmla="*/ 493129994 w 21600"/>
              <a:gd name="T3" fmla="*/ 0 h 21600"/>
              <a:gd name="T4" fmla="*/ 0 w 21600"/>
              <a:gd name="T5" fmla="*/ 929539206 h 21600"/>
              <a:gd name="T6" fmla="*/ 329954479 w 21600"/>
              <a:gd name="T7" fmla="*/ 953010999 h 21600"/>
              <a:gd name="T8" fmla="*/ 659908958 w 21600"/>
              <a:gd name="T9" fmla="*/ 476505919 h 21600"/>
              <a:gd name="T10" fmla="*/ 794184877 w 21600"/>
              <a:gd name="T11" fmla="*/ 0 h 21600"/>
              <a:gd name="T12" fmla="*/ 17694720 60000 65536"/>
              <a:gd name="T13" fmla="*/ 11796480 60000 65536"/>
              <a:gd name="T14" fmla="*/ 11796480 60000 65536"/>
              <a:gd name="T15" fmla="*/ 5898240 60000 65536"/>
              <a:gd name="T16" fmla="*/ 0 60000 65536"/>
              <a:gd name="T17" fmla="*/ 0 60000 65536"/>
              <a:gd name="T18" fmla="*/ 0 w 21600"/>
              <a:gd name="T19" fmla="*/ 20536 h 21600"/>
              <a:gd name="T20" fmla="*/ 17948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7506" y="0"/>
                </a:moveTo>
                <a:lnTo>
                  <a:pt x="13412" y="0"/>
                </a:lnTo>
                <a:lnTo>
                  <a:pt x="17064" y="0"/>
                </a:lnTo>
                <a:lnTo>
                  <a:pt x="17064" y="20536"/>
                </a:lnTo>
                <a:lnTo>
                  <a:pt x="0" y="20536"/>
                </a:lnTo>
                <a:lnTo>
                  <a:pt x="0" y="21600"/>
                </a:lnTo>
                <a:lnTo>
                  <a:pt x="17948" y="21600"/>
                </a:lnTo>
                <a:lnTo>
                  <a:pt x="17948" y="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9461" name="Text Box 4"/>
          <p:cNvSpPr txBox="1">
            <a:spLocks noChangeArrowheads="1"/>
          </p:cNvSpPr>
          <p:nvPr/>
        </p:nvSpPr>
        <p:spPr bwMode="auto">
          <a:xfrm>
            <a:off x="2601913" y="6113463"/>
            <a:ext cx="411480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sz="2400">
                <a:latin typeface="宋体" panose="02010600030101010101" pitchFamily="2" charset="-122"/>
              </a:rPr>
              <a:t>C542</a:t>
            </a:r>
            <a:r>
              <a:rPr kumimoji="0" lang="zh-CN" altLang="en-US" sz="2400">
                <a:latin typeface="宋体" panose="02010600030101010101" pitchFamily="2" charset="-122"/>
              </a:rPr>
              <a:t>的结构框图</a:t>
            </a:r>
            <a:endParaRPr kumimoji="0" lang="zh-CN" altLang="en-US" sz="2400"/>
          </a:p>
        </p:txBody>
      </p:sp>
      <p:sp>
        <p:nvSpPr>
          <p:cNvPr id="19462" name="Text Box 8"/>
          <p:cNvSpPr txBox="1">
            <a:spLocks noChangeArrowheads="1"/>
          </p:cNvSpPr>
          <p:nvPr/>
        </p:nvSpPr>
        <p:spPr bwMode="auto">
          <a:xfrm>
            <a:off x="6300788" y="1539875"/>
            <a:ext cx="1979612" cy="476250"/>
          </a:xfrm>
          <a:prstGeom prst="rect">
            <a:avLst/>
          </a:prstGeom>
          <a:solidFill>
            <a:schemeClr val="bg2"/>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800">
                <a:solidFill>
                  <a:srgbClr val="FF00FF"/>
                </a:solidFill>
                <a:latin typeface="宋体" panose="02010600030101010101" pitchFamily="2" charset="-122"/>
              </a:rPr>
              <a:t>IEEE 1149.1StdTest/EMU</a:t>
            </a:r>
          </a:p>
        </p:txBody>
      </p:sp>
      <p:sp>
        <p:nvSpPr>
          <p:cNvPr id="19463" name="Text Box 9"/>
          <p:cNvSpPr txBox="1">
            <a:spLocks noChangeArrowheads="1"/>
          </p:cNvSpPr>
          <p:nvPr/>
        </p:nvSpPr>
        <p:spPr bwMode="auto">
          <a:xfrm>
            <a:off x="6516688" y="2492375"/>
            <a:ext cx="1295400" cy="476250"/>
          </a:xfrm>
          <a:prstGeom prst="rect">
            <a:avLst/>
          </a:prstGeom>
          <a:solidFill>
            <a:schemeClr val="accent2"/>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zh-CN" altLang="en-US" sz="1800">
                <a:solidFill>
                  <a:srgbClr val="666633"/>
                </a:solidFill>
                <a:latin typeface="宋体" panose="02010600030101010101" pitchFamily="2" charset="-122"/>
              </a:rPr>
              <a:t>标准串行</a:t>
            </a:r>
          </a:p>
          <a:p>
            <a:pPr algn="ctr" eaLnBrk="1" hangingPunct="1">
              <a:lnSpc>
                <a:spcPct val="85000"/>
              </a:lnSpc>
            </a:pPr>
            <a:r>
              <a:rPr lang="zh-CN" altLang="en-US" sz="1800">
                <a:solidFill>
                  <a:srgbClr val="666633"/>
                </a:solidFill>
                <a:latin typeface="宋体" panose="02010600030101010101" pitchFamily="2" charset="-122"/>
              </a:rPr>
              <a:t>端口</a:t>
            </a:r>
            <a:r>
              <a:rPr lang="en-US" altLang="zh-CN" sz="1800">
                <a:solidFill>
                  <a:srgbClr val="666633"/>
                </a:solidFill>
                <a:latin typeface="宋体" panose="02010600030101010101" pitchFamily="2" charset="-122"/>
              </a:rPr>
              <a:t>0</a:t>
            </a:r>
          </a:p>
        </p:txBody>
      </p:sp>
      <p:sp>
        <p:nvSpPr>
          <p:cNvPr id="19464" name="Text Box 10"/>
          <p:cNvSpPr txBox="1">
            <a:spLocks noChangeArrowheads="1"/>
          </p:cNvSpPr>
          <p:nvPr/>
        </p:nvSpPr>
        <p:spPr bwMode="auto">
          <a:xfrm>
            <a:off x="6516688" y="3068638"/>
            <a:ext cx="1295400" cy="476250"/>
          </a:xfrm>
          <a:prstGeom prst="rect">
            <a:avLst/>
          </a:prstGeom>
          <a:solidFill>
            <a:schemeClr val="folHlink"/>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zh-CN" altLang="en-US" sz="1800">
                <a:solidFill>
                  <a:srgbClr val="FFFF99"/>
                </a:solidFill>
                <a:latin typeface="宋体" panose="02010600030101010101" pitchFamily="2" charset="-122"/>
              </a:rPr>
              <a:t>标准串行</a:t>
            </a:r>
          </a:p>
          <a:p>
            <a:pPr algn="ctr" eaLnBrk="1" hangingPunct="1">
              <a:lnSpc>
                <a:spcPct val="85000"/>
              </a:lnSpc>
            </a:pPr>
            <a:r>
              <a:rPr lang="zh-CN" altLang="en-US" sz="1800">
                <a:solidFill>
                  <a:srgbClr val="FFFF99"/>
                </a:solidFill>
                <a:latin typeface="宋体" panose="02010600030101010101" pitchFamily="2" charset="-122"/>
              </a:rPr>
              <a:t>端口</a:t>
            </a:r>
            <a:r>
              <a:rPr lang="en-US" altLang="zh-CN" sz="1800">
                <a:solidFill>
                  <a:srgbClr val="FFFF99"/>
                </a:solidFill>
                <a:latin typeface="宋体" panose="02010600030101010101" pitchFamily="2" charset="-122"/>
              </a:rPr>
              <a:t>1</a:t>
            </a:r>
          </a:p>
        </p:txBody>
      </p:sp>
      <p:sp>
        <p:nvSpPr>
          <p:cNvPr id="19465" name="Text Box 11"/>
          <p:cNvSpPr txBox="1">
            <a:spLocks noChangeArrowheads="1"/>
          </p:cNvSpPr>
          <p:nvPr/>
        </p:nvSpPr>
        <p:spPr bwMode="auto">
          <a:xfrm>
            <a:off x="6516688" y="3644900"/>
            <a:ext cx="1295400" cy="539750"/>
          </a:xfrm>
          <a:prstGeom prst="rect">
            <a:avLst/>
          </a:prstGeom>
          <a:solidFill>
            <a:srgbClr val="FF00FF"/>
          </a:solidFill>
          <a:ln w="9525">
            <a:solidFill>
              <a:srgbClr val="00CCFF"/>
            </a:solidFill>
            <a:miter lim="800000"/>
            <a:headEnd/>
            <a:tailEnd/>
          </a:ln>
        </p:spPr>
        <p:txBody>
          <a:bodyPr lIns="0" tIns="0" rIns="0" bIns="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zh-CN" altLang="en-US" sz="1800">
                <a:solidFill>
                  <a:srgbClr val="CCFF99"/>
                </a:solidFill>
                <a:latin typeface="宋体" panose="02010600030101010101" pitchFamily="2" charset="-122"/>
              </a:rPr>
              <a:t>定时器</a:t>
            </a:r>
          </a:p>
        </p:txBody>
      </p:sp>
      <p:sp>
        <p:nvSpPr>
          <p:cNvPr id="19466" name="Text Box 12"/>
          <p:cNvSpPr txBox="1">
            <a:spLocks noChangeArrowheads="1"/>
          </p:cNvSpPr>
          <p:nvPr/>
        </p:nvSpPr>
        <p:spPr bwMode="auto">
          <a:xfrm>
            <a:off x="6516688" y="4292600"/>
            <a:ext cx="1295400" cy="476250"/>
          </a:xfrm>
          <a:prstGeom prst="rect">
            <a:avLst/>
          </a:prstGeom>
          <a:solidFill>
            <a:srgbClr val="D60093"/>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zh-CN" altLang="en-US" sz="1800">
                <a:solidFill>
                  <a:srgbClr val="CCFFCC"/>
                </a:solidFill>
                <a:latin typeface="宋体" panose="02010600030101010101" pitchFamily="2" charset="-122"/>
              </a:rPr>
              <a:t>软件等待</a:t>
            </a:r>
          </a:p>
          <a:p>
            <a:pPr algn="ctr" eaLnBrk="1" hangingPunct="1">
              <a:lnSpc>
                <a:spcPct val="85000"/>
              </a:lnSpc>
            </a:pPr>
            <a:r>
              <a:rPr lang="zh-CN" altLang="en-US" sz="1800">
                <a:solidFill>
                  <a:srgbClr val="CCFFCC"/>
                </a:solidFill>
                <a:latin typeface="宋体" panose="02010600030101010101" pitchFamily="2" charset="-122"/>
              </a:rPr>
              <a:t>状态发生器</a:t>
            </a:r>
          </a:p>
        </p:txBody>
      </p:sp>
      <p:sp>
        <p:nvSpPr>
          <p:cNvPr id="19467" name="Text Box 13"/>
          <p:cNvSpPr txBox="1">
            <a:spLocks noChangeArrowheads="1"/>
          </p:cNvSpPr>
          <p:nvPr/>
        </p:nvSpPr>
        <p:spPr bwMode="auto">
          <a:xfrm>
            <a:off x="6264275" y="4905375"/>
            <a:ext cx="1584325" cy="838200"/>
          </a:xfrm>
          <a:prstGeom prst="rect">
            <a:avLst/>
          </a:prstGeom>
          <a:solidFill>
            <a:srgbClr val="00FFFF"/>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800">
                <a:solidFill>
                  <a:srgbClr val="FF00FF"/>
                </a:solidFill>
                <a:latin typeface="宋体" panose="02010600030101010101" pitchFamily="2" charset="-122"/>
              </a:rPr>
              <a:t>PLL</a:t>
            </a:r>
            <a:r>
              <a:rPr lang="zh-CN" altLang="en-US" sz="1800">
                <a:solidFill>
                  <a:srgbClr val="FF00FF"/>
                </a:solidFill>
                <a:latin typeface="宋体" panose="02010600030101010101" pitchFamily="2" charset="-122"/>
              </a:rPr>
              <a:t>锁相环</a:t>
            </a:r>
          </a:p>
          <a:p>
            <a:pPr algn="ctr" eaLnBrk="1" hangingPunct="1">
              <a:lnSpc>
                <a:spcPct val="85000"/>
              </a:lnSpc>
            </a:pPr>
            <a:r>
              <a:rPr lang="zh-CN" altLang="en-US" sz="1800">
                <a:solidFill>
                  <a:srgbClr val="FF00FF"/>
                </a:solidFill>
                <a:latin typeface="宋体" panose="02010600030101010101" pitchFamily="2" charset="-122"/>
              </a:rPr>
              <a:t>时钟发生器</a:t>
            </a:r>
          </a:p>
          <a:p>
            <a:pPr algn="ctr" eaLnBrk="1" hangingPunct="1">
              <a:lnSpc>
                <a:spcPct val="85000"/>
              </a:lnSpc>
            </a:pPr>
            <a:r>
              <a:rPr lang="en-US" altLang="zh-CN" sz="1400">
                <a:solidFill>
                  <a:srgbClr val="FF00FF"/>
                </a:solidFill>
                <a:latin typeface="宋体" panose="02010600030101010101" pitchFamily="2" charset="-122"/>
              </a:rPr>
              <a:t>Opt.1:×1,1.5,2,3</a:t>
            </a:r>
          </a:p>
          <a:p>
            <a:pPr algn="ctr" eaLnBrk="1" hangingPunct="1">
              <a:lnSpc>
                <a:spcPct val="85000"/>
              </a:lnSpc>
            </a:pPr>
            <a:r>
              <a:rPr lang="en-US" altLang="zh-CN" sz="1400">
                <a:solidFill>
                  <a:srgbClr val="FF00FF"/>
                </a:solidFill>
                <a:latin typeface="宋体" panose="02010600030101010101" pitchFamily="2" charset="-122"/>
              </a:rPr>
              <a:t>Opt.2:×1,4,4.5,5</a:t>
            </a:r>
          </a:p>
        </p:txBody>
      </p:sp>
      <p:sp>
        <p:nvSpPr>
          <p:cNvPr id="19468" name="Text Box 24"/>
          <p:cNvSpPr txBox="1">
            <a:spLocks noChangeArrowheads="1"/>
          </p:cNvSpPr>
          <p:nvPr/>
        </p:nvSpPr>
        <p:spPr bwMode="auto">
          <a:xfrm>
            <a:off x="611188" y="2060575"/>
            <a:ext cx="1152525"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800">
                <a:latin typeface="宋体" panose="02010600030101010101" pitchFamily="2" charset="-122"/>
              </a:rPr>
              <a:t>A(15-0)</a:t>
            </a:r>
          </a:p>
        </p:txBody>
      </p:sp>
      <p:sp>
        <p:nvSpPr>
          <p:cNvPr id="19469" name="Line 27"/>
          <p:cNvSpPr>
            <a:spLocks noChangeShapeType="1"/>
          </p:cNvSpPr>
          <p:nvPr/>
        </p:nvSpPr>
        <p:spPr bwMode="auto">
          <a:xfrm flipH="1">
            <a:off x="971550" y="2420938"/>
            <a:ext cx="504825"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0" name="Line 28"/>
          <p:cNvSpPr>
            <a:spLocks noChangeShapeType="1"/>
          </p:cNvSpPr>
          <p:nvPr/>
        </p:nvSpPr>
        <p:spPr bwMode="auto">
          <a:xfrm flipH="1">
            <a:off x="971550" y="2600325"/>
            <a:ext cx="504825"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1" name="Line 33"/>
          <p:cNvSpPr>
            <a:spLocks noChangeShapeType="1"/>
          </p:cNvSpPr>
          <p:nvPr/>
        </p:nvSpPr>
        <p:spPr bwMode="auto">
          <a:xfrm flipH="1">
            <a:off x="2051050" y="2024063"/>
            <a:ext cx="0" cy="39687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2" name="Line 34"/>
          <p:cNvSpPr>
            <a:spLocks noChangeShapeType="1"/>
          </p:cNvSpPr>
          <p:nvPr/>
        </p:nvSpPr>
        <p:spPr bwMode="auto">
          <a:xfrm flipH="1">
            <a:off x="3708400" y="2024063"/>
            <a:ext cx="0" cy="39687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3" name="Line 35"/>
          <p:cNvSpPr>
            <a:spLocks noChangeShapeType="1"/>
          </p:cNvSpPr>
          <p:nvPr/>
        </p:nvSpPr>
        <p:spPr bwMode="auto">
          <a:xfrm flipH="1">
            <a:off x="5580063" y="2024063"/>
            <a:ext cx="0" cy="396875"/>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4" name="Text Box 7"/>
          <p:cNvSpPr txBox="1">
            <a:spLocks noChangeArrowheads="1"/>
          </p:cNvSpPr>
          <p:nvPr/>
        </p:nvSpPr>
        <p:spPr bwMode="auto">
          <a:xfrm>
            <a:off x="4643438" y="1557338"/>
            <a:ext cx="1404937" cy="476250"/>
          </a:xfrm>
          <a:prstGeom prst="rect">
            <a:avLst/>
          </a:prstGeom>
          <a:solidFill>
            <a:schemeClr val="accent1"/>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800">
                <a:latin typeface="宋体" panose="02010600030101010101" pitchFamily="2" charset="-122"/>
              </a:rPr>
              <a:t>5K</a:t>
            </a:r>
            <a:r>
              <a:rPr lang="zh-CN" altLang="en-US" sz="1800">
                <a:latin typeface="宋体" panose="02010600030101010101" pitchFamily="2" charset="-122"/>
              </a:rPr>
              <a:t>字</a:t>
            </a:r>
          </a:p>
          <a:p>
            <a:pPr algn="ctr" eaLnBrk="1" hangingPunct="1">
              <a:lnSpc>
                <a:spcPct val="85000"/>
              </a:lnSpc>
            </a:pPr>
            <a:r>
              <a:rPr lang="zh-CN" altLang="en-US" sz="1800">
                <a:latin typeface="宋体" panose="02010600030101010101" pitchFamily="2" charset="-122"/>
              </a:rPr>
              <a:t>程序</a:t>
            </a:r>
            <a:r>
              <a:rPr lang="en-US" altLang="zh-CN" sz="1800">
                <a:latin typeface="宋体" panose="02010600030101010101" pitchFamily="2" charset="-122"/>
              </a:rPr>
              <a:t>/</a:t>
            </a:r>
            <a:r>
              <a:rPr lang="zh-CN" altLang="en-US" sz="1800">
                <a:latin typeface="宋体" panose="02010600030101010101" pitchFamily="2" charset="-122"/>
              </a:rPr>
              <a:t>数据</a:t>
            </a:r>
            <a:r>
              <a:rPr lang="en-US" altLang="zh-CN" sz="1800">
                <a:latin typeface="宋体" panose="02010600030101010101" pitchFamily="2" charset="-122"/>
              </a:rPr>
              <a:t>RAM</a:t>
            </a:r>
          </a:p>
        </p:txBody>
      </p:sp>
      <p:sp>
        <p:nvSpPr>
          <p:cNvPr id="19475" name="Text Box 6"/>
          <p:cNvSpPr txBox="1">
            <a:spLocks noChangeArrowheads="1"/>
          </p:cNvSpPr>
          <p:nvPr/>
        </p:nvSpPr>
        <p:spPr bwMode="auto">
          <a:xfrm>
            <a:off x="2987675" y="1557338"/>
            <a:ext cx="1476375" cy="476250"/>
          </a:xfrm>
          <a:prstGeom prst="rect">
            <a:avLst/>
          </a:prstGeom>
          <a:solidFill>
            <a:srgbClr val="FF9900"/>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800">
                <a:latin typeface="宋体" panose="02010600030101010101" pitchFamily="2" charset="-122"/>
              </a:rPr>
              <a:t>8K</a:t>
            </a:r>
            <a:r>
              <a:rPr lang="zh-CN" altLang="en-US" sz="1800">
                <a:latin typeface="宋体" panose="02010600030101010101" pitchFamily="2" charset="-122"/>
              </a:rPr>
              <a:t>字</a:t>
            </a:r>
          </a:p>
          <a:p>
            <a:pPr algn="ctr" eaLnBrk="1" hangingPunct="1">
              <a:lnSpc>
                <a:spcPct val="85000"/>
              </a:lnSpc>
            </a:pPr>
            <a:r>
              <a:rPr lang="zh-CN" altLang="en-US" sz="1800">
                <a:latin typeface="宋体" panose="02010600030101010101" pitchFamily="2" charset="-122"/>
              </a:rPr>
              <a:t>程序</a:t>
            </a:r>
            <a:r>
              <a:rPr lang="en-US" altLang="zh-CN" sz="1800">
                <a:latin typeface="宋体" panose="02010600030101010101" pitchFamily="2" charset="-122"/>
              </a:rPr>
              <a:t>/</a:t>
            </a:r>
            <a:r>
              <a:rPr lang="zh-CN" altLang="en-US" sz="1800">
                <a:latin typeface="宋体" panose="02010600030101010101" pitchFamily="2" charset="-122"/>
              </a:rPr>
              <a:t>数据</a:t>
            </a:r>
            <a:r>
              <a:rPr lang="en-US" altLang="zh-CN" sz="1800">
                <a:latin typeface="宋体" panose="02010600030101010101" pitchFamily="2" charset="-122"/>
              </a:rPr>
              <a:t>ROM</a:t>
            </a:r>
          </a:p>
        </p:txBody>
      </p:sp>
      <p:sp>
        <p:nvSpPr>
          <p:cNvPr id="19476" name="Line 37"/>
          <p:cNvSpPr>
            <a:spLocks noChangeShapeType="1"/>
          </p:cNvSpPr>
          <p:nvPr/>
        </p:nvSpPr>
        <p:spPr bwMode="auto">
          <a:xfrm flipH="1">
            <a:off x="6119813" y="2744788"/>
            <a:ext cx="396875"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7" name="Line 38"/>
          <p:cNvSpPr>
            <a:spLocks noChangeShapeType="1"/>
          </p:cNvSpPr>
          <p:nvPr/>
        </p:nvSpPr>
        <p:spPr bwMode="auto">
          <a:xfrm flipH="1">
            <a:off x="6119813" y="3357563"/>
            <a:ext cx="396875"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8" name="Line 39"/>
          <p:cNvSpPr>
            <a:spLocks noChangeShapeType="1"/>
          </p:cNvSpPr>
          <p:nvPr/>
        </p:nvSpPr>
        <p:spPr bwMode="auto">
          <a:xfrm flipH="1">
            <a:off x="6119813" y="3897313"/>
            <a:ext cx="396875"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9" name="Line 40"/>
          <p:cNvSpPr>
            <a:spLocks noChangeShapeType="1"/>
          </p:cNvSpPr>
          <p:nvPr/>
        </p:nvSpPr>
        <p:spPr bwMode="auto">
          <a:xfrm flipH="1">
            <a:off x="6119813" y="4508500"/>
            <a:ext cx="396875"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80" name="Line 41"/>
          <p:cNvSpPr>
            <a:spLocks noChangeShapeType="1"/>
          </p:cNvSpPr>
          <p:nvPr/>
        </p:nvSpPr>
        <p:spPr bwMode="auto">
          <a:xfrm flipH="1">
            <a:off x="6119813" y="5373688"/>
            <a:ext cx="14446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81" name="Line 42"/>
          <p:cNvSpPr>
            <a:spLocks noChangeShapeType="1"/>
          </p:cNvSpPr>
          <p:nvPr/>
        </p:nvSpPr>
        <p:spPr bwMode="auto">
          <a:xfrm flipH="1">
            <a:off x="7848600" y="5373688"/>
            <a:ext cx="287338"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82" name="Line 43"/>
          <p:cNvSpPr>
            <a:spLocks noChangeShapeType="1"/>
          </p:cNvSpPr>
          <p:nvPr/>
        </p:nvSpPr>
        <p:spPr bwMode="auto">
          <a:xfrm flipH="1">
            <a:off x="7812088" y="4508500"/>
            <a:ext cx="325437"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83" name="Line 44"/>
          <p:cNvSpPr>
            <a:spLocks noChangeShapeType="1"/>
          </p:cNvSpPr>
          <p:nvPr/>
        </p:nvSpPr>
        <p:spPr bwMode="auto">
          <a:xfrm flipH="1" flipV="1">
            <a:off x="7775575" y="3933825"/>
            <a:ext cx="360363"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84" name="Line 45"/>
          <p:cNvSpPr>
            <a:spLocks noChangeShapeType="1"/>
          </p:cNvSpPr>
          <p:nvPr/>
        </p:nvSpPr>
        <p:spPr bwMode="auto">
          <a:xfrm flipH="1">
            <a:off x="7812088" y="3321050"/>
            <a:ext cx="323850"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85" name="Line 46"/>
          <p:cNvSpPr>
            <a:spLocks noChangeShapeType="1"/>
          </p:cNvSpPr>
          <p:nvPr/>
        </p:nvSpPr>
        <p:spPr bwMode="auto">
          <a:xfrm flipH="1">
            <a:off x="7812088" y="2744788"/>
            <a:ext cx="323850"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86" name="Line 48"/>
          <p:cNvSpPr>
            <a:spLocks noChangeShapeType="1"/>
          </p:cNvSpPr>
          <p:nvPr/>
        </p:nvSpPr>
        <p:spPr bwMode="auto">
          <a:xfrm flipH="1">
            <a:off x="2592388" y="2565400"/>
            <a:ext cx="0" cy="32385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87" name="Line 49"/>
          <p:cNvSpPr>
            <a:spLocks noChangeShapeType="1"/>
          </p:cNvSpPr>
          <p:nvPr/>
        </p:nvSpPr>
        <p:spPr bwMode="auto">
          <a:xfrm flipH="1">
            <a:off x="4679950" y="2565400"/>
            <a:ext cx="0" cy="32385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88" name="Line 50"/>
          <p:cNvSpPr>
            <a:spLocks noChangeShapeType="1"/>
          </p:cNvSpPr>
          <p:nvPr/>
        </p:nvSpPr>
        <p:spPr bwMode="auto">
          <a:xfrm flipH="1">
            <a:off x="1584325" y="1989138"/>
            <a:ext cx="0" cy="1403350"/>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89" name="AutoShape 26"/>
          <p:cNvSpPr>
            <a:spLocks noChangeArrowheads="1"/>
          </p:cNvSpPr>
          <p:nvPr/>
        </p:nvSpPr>
        <p:spPr bwMode="auto">
          <a:xfrm rot="5400000">
            <a:off x="1296194" y="2385219"/>
            <a:ext cx="576262" cy="215900"/>
          </a:xfrm>
          <a:custGeom>
            <a:avLst/>
            <a:gdLst>
              <a:gd name="T0" fmla="*/ 13452221 w 21600"/>
              <a:gd name="T1" fmla="*/ 1079000 h 21600"/>
              <a:gd name="T2" fmla="*/ 7686989 w 21600"/>
              <a:gd name="T3" fmla="*/ 2158000 h 21600"/>
              <a:gd name="T4" fmla="*/ 1921754 w 21600"/>
              <a:gd name="T5" fmla="*/ 1079000 h 21600"/>
              <a:gd name="T6" fmla="*/ 768698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9490" name="Text Box 5"/>
          <p:cNvSpPr txBox="1">
            <a:spLocks noChangeArrowheads="1"/>
          </p:cNvSpPr>
          <p:nvPr/>
        </p:nvSpPr>
        <p:spPr bwMode="auto">
          <a:xfrm>
            <a:off x="1368425" y="1557338"/>
            <a:ext cx="1439863" cy="476250"/>
          </a:xfrm>
          <a:prstGeom prst="rect">
            <a:avLst/>
          </a:prstGeom>
          <a:solidFill>
            <a:srgbClr val="FFCC00"/>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800">
                <a:latin typeface="宋体" panose="02010600030101010101" pitchFamily="2" charset="-122"/>
              </a:rPr>
              <a:t>20K</a:t>
            </a:r>
            <a:r>
              <a:rPr lang="zh-CN" altLang="en-US" sz="1800">
                <a:latin typeface="宋体" panose="02010600030101010101" pitchFamily="2" charset="-122"/>
              </a:rPr>
              <a:t>字</a:t>
            </a:r>
          </a:p>
          <a:p>
            <a:pPr algn="ctr" eaLnBrk="1" hangingPunct="1">
              <a:lnSpc>
                <a:spcPct val="85000"/>
              </a:lnSpc>
            </a:pPr>
            <a:r>
              <a:rPr lang="zh-CN" altLang="en-US" sz="1800">
                <a:latin typeface="宋体" panose="02010600030101010101" pitchFamily="2" charset="-122"/>
              </a:rPr>
              <a:t>程序</a:t>
            </a:r>
            <a:r>
              <a:rPr lang="en-US" altLang="zh-CN" sz="1800">
                <a:latin typeface="宋体" panose="02010600030101010101" pitchFamily="2" charset="-122"/>
              </a:rPr>
              <a:t>ROM</a:t>
            </a:r>
          </a:p>
        </p:txBody>
      </p:sp>
      <p:sp>
        <p:nvSpPr>
          <p:cNvPr id="19491" name="Text Box 47"/>
          <p:cNvSpPr txBox="1">
            <a:spLocks noChangeArrowheads="1"/>
          </p:cNvSpPr>
          <p:nvPr/>
        </p:nvSpPr>
        <p:spPr bwMode="auto">
          <a:xfrm>
            <a:off x="1511300" y="2889250"/>
            <a:ext cx="4176713" cy="3140075"/>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p:txBody>
      </p:sp>
      <p:grpSp>
        <p:nvGrpSpPr>
          <p:cNvPr id="19492" name="Group 51"/>
          <p:cNvGrpSpPr>
            <a:grpSpLocks/>
          </p:cNvGrpSpPr>
          <p:nvPr/>
        </p:nvGrpSpPr>
        <p:grpSpPr bwMode="auto">
          <a:xfrm>
            <a:off x="1655763" y="2997200"/>
            <a:ext cx="3924300" cy="2836863"/>
            <a:chOff x="1043" y="1888"/>
            <a:chExt cx="2472" cy="1787"/>
          </a:xfrm>
        </p:grpSpPr>
        <p:sp>
          <p:nvSpPr>
            <p:cNvPr id="19494" name="Text Box 14"/>
            <p:cNvSpPr txBox="1">
              <a:spLocks noChangeArrowheads="1"/>
            </p:cNvSpPr>
            <p:nvPr/>
          </p:nvSpPr>
          <p:spPr bwMode="auto">
            <a:xfrm>
              <a:off x="1043" y="2115"/>
              <a:ext cx="1134" cy="521"/>
            </a:xfrm>
            <a:prstGeom prst="rect">
              <a:avLst/>
            </a:prstGeom>
            <a:solidFill>
              <a:srgbClr val="669900"/>
            </a:solidFill>
            <a:ln w="9525">
              <a:solidFill>
                <a:srgbClr val="00CCFF"/>
              </a:solidFill>
              <a:miter lim="800000"/>
              <a:headEnd/>
              <a:tailEnd/>
            </a:ln>
          </p:spPr>
          <p:txBody>
            <a:bodyPr lIns="0" tIns="0" rIns="0" bIns="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600">
                  <a:solidFill>
                    <a:schemeClr val="bg1"/>
                  </a:solidFill>
                  <a:latin typeface="宋体" panose="02010600030101010101" pitchFamily="2" charset="-122"/>
                </a:rPr>
                <a:t>17×17</a:t>
              </a:r>
              <a:r>
                <a:rPr lang="zh-CN" altLang="en-US" sz="1600">
                  <a:solidFill>
                    <a:schemeClr val="bg1"/>
                  </a:solidFill>
                  <a:latin typeface="宋体" panose="02010600030101010101" pitchFamily="2" charset="-122"/>
                </a:rPr>
                <a:t>乘法器</a:t>
              </a:r>
            </a:p>
            <a:p>
              <a:pPr algn="ctr" eaLnBrk="1" hangingPunct="1">
                <a:lnSpc>
                  <a:spcPct val="85000"/>
                </a:lnSpc>
              </a:pPr>
              <a:r>
                <a:rPr lang="en-US" altLang="zh-CN" sz="1600">
                  <a:solidFill>
                    <a:schemeClr val="bg1"/>
                  </a:solidFill>
                  <a:latin typeface="宋体" panose="02010600030101010101" pitchFamily="2" charset="-122"/>
                </a:rPr>
                <a:t>40</a:t>
              </a:r>
              <a:r>
                <a:rPr lang="zh-CN" altLang="en-US" sz="1600">
                  <a:solidFill>
                    <a:schemeClr val="bg1"/>
                  </a:solidFill>
                  <a:latin typeface="宋体" panose="02010600030101010101" pitchFamily="2" charset="-122"/>
                </a:rPr>
                <a:t>位加法器</a:t>
              </a:r>
            </a:p>
            <a:p>
              <a:pPr algn="ctr" eaLnBrk="1" hangingPunct="1">
                <a:lnSpc>
                  <a:spcPct val="85000"/>
                </a:lnSpc>
              </a:pPr>
              <a:r>
                <a:rPr lang="zh-CN" altLang="en-US" sz="1600">
                  <a:solidFill>
                    <a:schemeClr val="bg1"/>
                  </a:solidFill>
                  <a:latin typeface="宋体" panose="02010600030101010101" pitchFamily="2" charset="-122"/>
                </a:rPr>
                <a:t>凑整，保和运算</a:t>
              </a:r>
            </a:p>
          </p:txBody>
        </p:sp>
        <p:sp>
          <p:nvSpPr>
            <p:cNvPr id="19495" name="Text Box 15"/>
            <p:cNvSpPr txBox="1">
              <a:spLocks noChangeArrowheads="1"/>
            </p:cNvSpPr>
            <p:nvPr/>
          </p:nvSpPr>
          <p:spPr bwMode="auto">
            <a:xfrm>
              <a:off x="2222" y="2115"/>
              <a:ext cx="1292" cy="530"/>
            </a:xfrm>
            <a:prstGeom prst="rect">
              <a:avLst/>
            </a:prstGeom>
            <a:solidFill>
              <a:srgbClr val="99CC00"/>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600">
                  <a:solidFill>
                    <a:schemeClr val="bg1"/>
                  </a:solidFill>
                  <a:latin typeface="宋体" panose="02010600030101010101" pitchFamily="2" charset="-122"/>
                </a:rPr>
                <a:t>40</a:t>
              </a:r>
              <a:r>
                <a:rPr lang="zh-CN" altLang="en-US" sz="1600">
                  <a:solidFill>
                    <a:schemeClr val="bg1"/>
                  </a:solidFill>
                  <a:latin typeface="宋体" panose="02010600030101010101" pitchFamily="2" charset="-122"/>
                </a:rPr>
                <a:t>位</a:t>
              </a:r>
              <a:r>
                <a:rPr lang="en-US" altLang="zh-CN" sz="1600">
                  <a:solidFill>
                    <a:schemeClr val="bg1"/>
                  </a:solidFill>
                  <a:latin typeface="宋体" panose="02010600030101010101" pitchFamily="2" charset="-122"/>
                </a:rPr>
                <a:t>ALU</a:t>
              </a:r>
            </a:p>
            <a:p>
              <a:pPr algn="ctr" eaLnBrk="1" hangingPunct="1">
                <a:lnSpc>
                  <a:spcPct val="85000"/>
                </a:lnSpc>
              </a:pPr>
              <a:r>
                <a:rPr lang="en-US" altLang="zh-CN" sz="1600">
                  <a:solidFill>
                    <a:schemeClr val="bg1"/>
                  </a:solidFill>
                  <a:latin typeface="宋体" panose="02010600030101010101" pitchFamily="2" charset="-122"/>
                </a:rPr>
                <a:t>COMP</a:t>
              </a:r>
              <a:r>
                <a:rPr lang="zh-CN" altLang="en-US" sz="1600">
                  <a:solidFill>
                    <a:schemeClr val="bg1"/>
                  </a:solidFill>
                  <a:latin typeface="宋体" panose="02010600030101010101" pitchFamily="2" charset="-122"/>
                </a:rPr>
                <a:t>比较运算单元</a:t>
              </a:r>
            </a:p>
            <a:p>
              <a:pPr algn="ctr" eaLnBrk="1" hangingPunct="1">
                <a:lnSpc>
                  <a:spcPct val="85000"/>
                </a:lnSpc>
              </a:pPr>
              <a:r>
                <a:rPr lang="en-US" altLang="zh-CN" sz="1600">
                  <a:solidFill>
                    <a:schemeClr val="bg1"/>
                  </a:solidFill>
                  <a:latin typeface="宋体" panose="02010600030101010101" pitchFamily="2" charset="-122"/>
                </a:rPr>
                <a:t>(Viterbi</a:t>
              </a:r>
              <a:r>
                <a:rPr lang="zh-CN" altLang="en-US" sz="1600">
                  <a:solidFill>
                    <a:schemeClr val="bg1"/>
                  </a:solidFill>
                  <a:latin typeface="宋体" panose="02010600030101010101" pitchFamily="2" charset="-122"/>
                </a:rPr>
                <a:t>算法加速器</a:t>
              </a:r>
              <a:r>
                <a:rPr lang="en-US" altLang="zh-CN" sz="1600">
                  <a:solidFill>
                    <a:schemeClr val="bg1"/>
                  </a:solidFill>
                  <a:latin typeface="宋体" panose="02010600030101010101" pitchFamily="2" charset="-122"/>
                </a:rPr>
                <a:t>)</a:t>
              </a:r>
            </a:p>
            <a:p>
              <a:pPr algn="ctr" eaLnBrk="1" hangingPunct="1">
                <a:lnSpc>
                  <a:spcPct val="85000"/>
                </a:lnSpc>
              </a:pPr>
              <a:r>
                <a:rPr lang="en-US" altLang="zh-CN" sz="1600">
                  <a:solidFill>
                    <a:schemeClr val="bg1"/>
                  </a:solidFill>
                  <a:latin typeface="宋体" panose="02010600030101010101" pitchFamily="2" charset="-122"/>
                </a:rPr>
                <a:t>EXP</a:t>
              </a:r>
              <a:r>
                <a:rPr lang="zh-CN" altLang="en-US" sz="1600">
                  <a:solidFill>
                    <a:schemeClr val="bg1"/>
                  </a:solidFill>
                  <a:latin typeface="宋体" panose="02010600030101010101" pitchFamily="2" charset="-122"/>
                </a:rPr>
                <a:t>指数编码器</a:t>
              </a:r>
            </a:p>
          </p:txBody>
        </p:sp>
        <p:sp>
          <p:nvSpPr>
            <p:cNvPr id="19496" name="Text Box 16"/>
            <p:cNvSpPr txBox="1">
              <a:spLocks noChangeArrowheads="1"/>
            </p:cNvSpPr>
            <p:nvPr/>
          </p:nvSpPr>
          <p:spPr bwMode="auto">
            <a:xfrm>
              <a:off x="1043" y="2886"/>
              <a:ext cx="1134" cy="268"/>
            </a:xfrm>
            <a:prstGeom prst="rect">
              <a:avLst/>
            </a:prstGeom>
            <a:solidFill>
              <a:srgbClr val="00CC66"/>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600">
                  <a:solidFill>
                    <a:schemeClr val="bg1"/>
                  </a:solidFill>
                  <a:latin typeface="宋体" panose="02010600030101010101" pitchFamily="2" charset="-122"/>
                </a:rPr>
                <a:t>40</a:t>
              </a:r>
              <a:r>
                <a:rPr lang="zh-CN" altLang="en-US" sz="1600">
                  <a:solidFill>
                    <a:schemeClr val="bg1"/>
                  </a:solidFill>
                  <a:latin typeface="宋体" panose="02010600030101010101" pitchFamily="2" charset="-122"/>
                </a:rPr>
                <a:t>位桶开移位</a:t>
              </a:r>
            </a:p>
            <a:p>
              <a:pPr algn="ctr" eaLnBrk="1" hangingPunct="1">
                <a:lnSpc>
                  <a:spcPct val="85000"/>
                </a:lnSpc>
              </a:pPr>
              <a:r>
                <a:rPr lang="zh-CN" altLang="en-US" sz="1600">
                  <a:solidFill>
                    <a:schemeClr val="bg1"/>
                  </a:solidFill>
                  <a:latin typeface="宋体" panose="02010600030101010101" pitchFamily="2" charset="-122"/>
                </a:rPr>
                <a:t>寄存器</a:t>
              </a:r>
              <a:r>
                <a:rPr lang="en-US" altLang="zh-CN" sz="1600">
                  <a:solidFill>
                    <a:schemeClr val="bg1"/>
                  </a:solidFill>
                  <a:latin typeface="宋体" panose="02010600030101010101" pitchFamily="2" charset="-122"/>
                </a:rPr>
                <a:t>(-16,31)</a:t>
              </a:r>
            </a:p>
          </p:txBody>
        </p:sp>
        <p:sp>
          <p:nvSpPr>
            <p:cNvPr id="19497" name="Text Box 17"/>
            <p:cNvSpPr txBox="1">
              <a:spLocks noChangeArrowheads="1"/>
            </p:cNvSpPr>
            <p:nvPr/>
          </p:nvSpPr>
          <p:spPr bwMode="auto">
            <a:xfrm>
              <a:off x="2177" y="2886"/>
              <a:ext cx="1338" cy="268"/>
            </a:xfrm>
            <a:prstGeom prst="rect">
              <a:avLst/>
            </a:prstGeom>
            <a:solidFill>
              <a:srgbClr val="00CC66"/>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600">
                  <a:solidFill>
                    <a:schemeClr val="bg1"/>
                  </a:solidFill>
                  <a:latin typeface="宋体" panose="02010600030101010101" pitchFamily="2" charset="-122"/>
                </a:rPr>
                <a:t>40</a:t>
              </a:r>
              <a:r>
                <a:rPr lang="zh-CN" altLang="en-US" sz="1600">
                  <a:solidFill>
                    <a:schemeClr val="bg1"/>
                  </a:solidFill>
                  <a:latin typeface="宋体" panose="02010600030101010101" pitchFamily="2" charset="-122"/>
                </a:rPr>
                <a:t>位累加器</a:t>
              </a:r>
              <a:r>
                <a:rPr lang="en-US" altLang="zh-CN" sz="1600">
                  <a:solidFill>
                    <a:schemeClr val="bg1"/>
                  </a:solidFill>
                  <a:latin typeface="宋体" panose="02010600030101010101" pitchFamily="2" charset="-122"/>
                </a:rPr>
                <a:t>A</a:t>
              </a:r>
            </a:p>
            <a:p>
              <a:pPr algn="ctr" eaLnBrk="1" hangingPunct="1">
                <a:lnSpc>
                  <a:spcPct val="85000"/>
                </a:lnSpc>
              </a:pPr>
              <a:r>
                <a:rPr lang="en-US" altLang="zh-CN" sz="1600">
                  <a:solidFill>
                    <a:schemeClr val="bg1"/>
                  </a:solidFill>
                  <a:latin typeface="宋体" panose="02010600030101010101" pitchFamily="2" charset="-122"/>
                </a:rPr>
                <a:t>40</a:t>
              </a:r>
              <a:r>
                <a:rPr lang="zh-CN" altLang="en-US" sz="1600">
                  <a:solidFill>
                    <a:schemeClr val="bg1"/>
                  </a:solidFill>
                  <a:latin typeface="宋体" panose="02010600030101010101" pitchFamily="2" charset="-122"/>
                </a:rPr>
                <a:t>位累加器</a:t>
              </a:r>
              <a:r>
                <a:rPr lang="en-US" altLang="zh-CN" sz="1600">
                  <a:solidFill>
                    <a:schemeClr val="bg1"/>
                  </a:solidFill>
                  <a:latin typeface="宋体" panose="02010600030101010101" pitchFamily="2" charset="-122"/>
                </a:rPr>
                <a:t>B</a:t>
              </a:r>
            </a:p>
          </p:txBody>
        </p:sp>
        <p:sp>
          <p:nvSpPr>
            <p:cNvPr id="19498" name="Text Box 18"/>
            <p:cNvSpPr txBox="1">
              <a:spLocks noChangeArrowheads="1"/>
            </p:cNvSpPr>
            <p:nvPr/>
          </p:nvSpPr>
          <p:spPr bwMode="auto">
            <a:xfrm>
              <a:off x="1451" y="3407"/>
              <a:ext cx="1701" cy="268"/>
            </a:xfrm>
            <a:prstGeom prst="rect">
              <a:avLst/>
            </a:prstGeom>
            <a:solidFill>
              <a:srgbClr val="993300"/>
            </a:solidFill>
            <a:ln w="9525">
              <a:solidFill>
                <a:srgbClr val="00CC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600">
                  <a:solidFill>
                    <a:schemeClr val="bg1"/>
                  </a:solidFill>
                  <a:latin typeface="宋体" panose="02010600030101010101" pitchFamily="2" charset="-122"/>
                </a:rPr>
                <a:t>8</a:t>
              </a:r>
              <a:r>
                <a:rPr lang="zh-CN" altLang="en-US" sz="1600">
                  <a:solidFill>
                    <a:schemeClr val="bg1"/>
                  </a:solidFill>
                  <a:latin typeface="宋体" panose="02010600030101010101" pitchFamily="2" charset="-122"/>
                </a:rPr>
                <a:t>个辅助寄存器</a:t>
              </a:r>
            </a:p>
            <a:p>
              <a:pPr algn="ctr" eaLnBrk="1" hangingPunct="1">
                <a:lnSpc>
                  <a:spcPct val="85000"/>
                </a:lnSpc>
              </a:pPr>
              <a:r>
                <a:rPr lang="en-US" altLang="zh-CN" sz="1600">
                  <a:solidFill>
                    <a:schemeClr val="bg1"/>
                  </a:solidFill>
                  <a:latin typeface="宋体" panose="02010600030101010101" pitchFamily="2" charset="-122"/>
                </a:rPr>
                <a:t>2</a:t>
              </a:r>
              <a:r>
                <a:rPr lang="zh-CN" altLang="en-US" sz="1600">
                  <a:solidFill>
                    <a:schemeClr val="bg1"/>
                  </a:solidFill>
                  <a:latin typeface="宋体" panose="02010600030101010101" pitchFamily="2" charset="-122"/>
                </a:rPr>
                <a:t>个辅助寄存器算术单元</a:t>
              </a:r>
            </a:p>
          </p:txBody>
        </p:sp>
        <p:sp>
          <p:nvSpPr>
            <p:cNvPr id="19499" name="Text Box 19"/>
            <p:cNvSpPr txBox="1">
              <a:spLocks noChangeArrowheads="1"/>
            </p:cNvSpPr>
            <p:nvPr/>
          </p:nvSpPr>
          <p:spPr bwMode="auto">
            <a:xfrm>
              <a:off x="1406" y="1888"/>
              <a:ext cx="40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800">
                  <a:solidFill>
                    <a:srgbClr val="FF0000"/>
                  </a:solidFill>
                  <a:latin typeface="宋体" panose="02010600030101010101" pitchFamily="2" charset="-122"/>
                </a:rPr>
                <a:t>MAC</a:t>
              </a:r>
            </a:p>
          </p:txBody>
        </p:sp>
        <p:sp>
          <p:nvSpPr>
            <p:cNvPr id="19500" name="Text Box 20"/>
            <p:cNvSpPr txBox="1">
              <a:spLocks noChangeArrowheads="1"/>
            </p:cNvSpPr>
            <p:nvPr/>
          </p:nvSpPr>
          <p:spPr bwMode="auto">
            <a:xfrm>
              <a:off x="2744" y="1888"/>
              <a:ext cx="40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800">
                  <a:solidFill>
                    <a:srgbClr val="FF0000"/>
                  </a:solidFill>
                  <a:latin typeface="宋体" panose="02010600030101010101" pitchFamily="2" charset="-122"/>
                </a:rPr>
                <a:t>ALU</a:t>
              </a:r>
            </a:p>
          </p:txBody>
        </p:sp>
        <p:sp>
          <p:nvSpPr>
            <p:cNvPr id="19501" name="Text Box 21"/>
            <p:cNvSpPr txBox="1">
              <a:spLocks noChangeArrowheads="1"/>
            </p:cNvSpPr>
            <p:nvPr/>
          </p:nvSpPr>
          <p:spPr bwMode="auto">
            <a:xfrm>
              <a:off x="2585" y="2682"/>
              <a:ext cx="545"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zh-CN" altLang="en-US" sz="1800">
                  <a:solidFill>
                    <a:srgbClr val="FF0000"/>
                  </a:solidFill>
                  <a:latin typeface="宋体" panose="02010600030101010101" pitchFamily="2" charset="-122"/>
                </a:rPr>
                <a:t>累加器</a:t>
              </a:r>
            </a:p>
          </p:txBody>
        </p:sp>
        <p:sp>
          <p:nvSpPr>
            <p:cNvPr id="19502" name="Text Box 22"/>
            <p:cNvSpPr txBox="1">
              <a:spLocks noChangeArrowheads="1"/>
            </p:cNvSpPr>
            <p:nvPr/>
          </p:nvSpPr>
          <p:spPr bwMode="auto">
            <a:xfrm>
              <a:off x="1360" y="2682"/>
              <a:ext cx="545"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zh-CN" altLang="en-US" sz="1800">
                  <a:solidFill>
                    <a:srgbClr val="FF0000"/>
                  </a:solidFill>
                  <a:latin typeface="宋体" panose="02010600030101010101" pitchFamily="2" charset="-122"/>
                </a:rPr>
                <a:t>移位器</a:t>
              </a:r>
            </a:p>
          </p:txBody>
        </p:sp>
        <p:sp>
          <p:nvSpPr>
            <p:cNvPr id="19503" name="Text Box 23"/>
            <p:cNvSpPr txBox="1">
              <a:spLocks noChangeArrowheads="1"/>
            </p:cNvSpPr>
            <p:nvPr/>
          </p:nvSpPr>
          <p:spPr bwMode="auto">
            <a:xfrm>
              <a:off x="1746" y="3226"/>
              <a:ext cx="120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zh-CN" altLang="en-US" sz="1800">
                  <a:solidFill>
                    <a:srgbClr val="FF0000"/>
                  </a:solidFill>
                  <a:latin typeface="宋体" panose="02010600030101010101" pitchFamily="2" charset="-122"/>
                </a:rPr>
                <a:t>地址产生单元</a:t>
              </a:r>
            </a:p>
          </p:txBody>
        </p:sp>
      </p:grpSp>
      <p:sp>
        <p:nvSpPr>
          <p:cNvPr id="19493" name="Text Box 25"/>
          <p:cNvSpPr txBox="1">
            <a:spLocks noChangeArrowheads="1"/>
          </p:cNvSpPr>
          <p:nvPr/>
        </p:nvSpPr>
        <p:spPr bwMode="auto">
          <a:xfrm>
            <a:off x="611188" y="2673350"/>
            <a:ext cx="1152525"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en-US" altLang="zh-CN" sz="1800">
                <a:latin typeface="宋体" panose="02010600030101010101" pitchFamily="2" charset="-122"/>
              </a:rPr>
              <a:t>D(15-0)</a:t>
            </a:r>
          </a:p>
        </p:txBody>
      </p:sp>
    </p:spTree>
  </p:cSld>
  <p:clrMapOvr>
    <a:masterClrMapping/>
  </p:clrMapOvr>
  <p:transition spd="med">
    <p:pull dir="l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2433D37-8FB5-48D8-9657-20522ED16963}" type="slidenum">
              <a:rPr lang="en-US" altLang="zh-CN" sz="1400" b="0"/>
              <a:pPr eaLnBrk="1" hangingPunct="1"/>
              <a:t>8</a:t>
            </a:fld>
            <a:endParaRPr lang="en-US" altLang="zh-CN" sz="1400" b="0"/>
          </a:p>
        </p:txBody>
      </p:sp>
      <p:sp>
        <p:nvSpPr>
          <p:cNvPr id="20483" name="Rectangle 4"/>
          <p:cNvSpPr>
            <a:spLocks noChangeArrowheads="1"/>
          </p:cNvSpPr>
          <p:nvPr/>
        </p:nvSpPr>
        <p:spPr bwMode="auto">
          <a:xfrm>
            <a:off x="1476375" y="5984875"/>
            <a:ext cx="1828800" cy="495300"/>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a:latin typeface="宋体" panose="02010600030101010101" pitchFamily="2" charset="-122"/>
              </a:rPr>
              <a:t>CPU</a:t>
            </a:r>
            <a:r>
              <a:rPr lang="zh-CN" altLang="en-US" sz="2400">
                <a:latin typeface="宋体" panose="02010600030101010101" pitchFamily="2" charset="-122"/>
              </a:rPr>
              <a:t>结构</a:t>
            </a:r>
          </a:p>
        </p:txBody>
      </p:sp>
      <p:sp>
        <p:nvSpPr>
          <p:cNvPr id="20484" name="Line 38"/>
          <p:cNvSpPr>
            <a:spLocks noChangeShapeType="1"/>
          </p:cNvSpPr>
          <p:nvPr/>
        </p:nvSpPr>
        <p:spPr bwMode="auto">
          <a:xfrm flipH="1">
            <a:off x="863600" y="1879600"/>
            <a:ext cx="1588" cy="220663"/>
          </a:xfrm>
          <a:prstGeom prst="line">
            <a:avLst/>
          </a:prstGeom>
          <a:noFill/>
          <a:ln w="19050">
            <a:solidFill>
              <a:srgbClr val="993366"/>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485" name="Line 39"/>
          <p:cNvSpPr>
            <a:spLocks noChangeShapeType="1"/>
          </p:cNvSpPr>
          <p:nvPr/>
        </p:nvSpPr>
        <p:spPr bwMode="auto">
          <a:xfrm flipH="1">
            <a:off x="1150938" y="1931988"/>
            <a:ext cx="0" cy="168275"/>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486" name="Text Box 40"/>
          <p:cNvSpPr txBox="1">
            <a:spLocks noChangeArrowheads="1"/>
          </p:cNvSpPr>
          <p:nvPr/>
        </p:nvSpPr>
        <p:spPr bwMode="auto">
          <a:xfrm>
            <a:off x="2339975" y="1825625"/>
            <a:ext cx="1368425" cy="252413"/>
          </a:xfrm>
          <a:prstGeom prst="rect">
            <a:avLst/>
          </a:prstGeom>
          <a:solidFill>
            <a:schemeClr val="folHlink"/>
          </a:solidFill>
          <a:ln w="9525">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000">
                <a:solidFill>
                  <a:schemeClr val="bg1"/>
                </a:solidFill>
              </a:rPr>
              <a:t>EXP</a:t>
            </a:r>
            <a:r>
              <a:rPr lang="zh-CN" altLang="en-US" sz="1000">
                <a:solidFill>
                  <a:schemeClr val="bg1"/>
                </a:solidFill>
              </a:rPr>
              <a:t>指数编码器</a:t>
            </a:r>
          </a:p>
        </p:txBody>
      </p:sp>
      <p:grpSp>
        <p:nvGrpSpPr>
          <p:cNvPr id="20487" name="Group 41"/>
          <p:cNvGrpSpPr>
            <a:grpSpLocks/>
          </p:cNvGrpSpPr>
          <p:nvPr/>
        </p:nvGrpSpPr>
        <p:grpSpPr bwMode="auto">
          <a:xfrm>
            <a:off x="544513" y="2098675"/>
            <a:ext cx="823912" cy="309563"/>
            <a:chOff x="-723" y="2568"/>
            <a:chExt cx="519" cy="91"/>
          </a:xfrm>
        </p:grpSpPr>
        <p:sp>
          <p:nvSpPr>
            <p:cNvPr id="20653" name="AutoShape 42"/>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20654" name="Text Box 43"/>
            <p:cNvSpPr txBox="1">
              <a:spLocks noChangeArrowheads="1"/>
            </p:cNvSpPr>
            <p:nvPr/>
          </p:nvSpPr>
          <p:spPr bwMode="auto">
            <a:xfrm>
              <a:off x="-682" y="2568"/>
              <a:ext cx="453" cy="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MUX</a:t>
              </a:r>
            </a:p>
          </p:txBody>
        </p:sp>
      </p:grpSp>
      <p:sp>
        <p:nvSpPr>
          <p:cNvPr id="20488" name="Text Box 44"/>
          <p:cNvSpPr txBox="1">
            <a:spLocks noChangeArrowheads="1"/>
          </p:cNvSpPr>
          <p:nvPr/>
        </p:nvSpPr>
        <p:spPr bwMode="auto">
          <a:xfrm>
            <a:off x="614363" y="2579688"/>
            <a:ext cx="719137" cy="190500"/>
          </a:xfrm>
          <a:prstGeom prst="rect">
            <a:avLst/>
          </a:prstGeom>
          <a:solidFill>
            <a:schemeClr val="hlink"/>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T</a:t>
            </a:r>
            <a:r>
              <a:rPr lang="zh-CN" altLang="en-US" sz="1200"/>
              <a:t>寄存器</a:t>
            </a:r>
          </a:p>
        </p:txBody>
      </p:sp>
      <p:grpSp>
        <p:nvGrpSpPr>
          <p:cNvPr id="20489" name="Group 45"/>
          <p:cNvGrpSpPr>
            <a:grpSpLocks/>
          </p:cNvGrpSpPr>
          <p:nvPr/>
        </p:nvGrpSpPr>
        <p:grpSpPr bwMode="auto">
          <a:xfrm>
            <a:off x="1530350" y="3168650"/>
            <a:ext cx="895350" cy="296863"/>
            <a:chOff x="-723" y="2568"/>
            <a:chExt cx="519" cy="91"/>
          </a:xfrm>
        </p:grpSpPr>
        <p:sp>
          <p:nvSpPr>
            <p:cNvPr id="20651" name="AutoShape 46"/>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20652" name="Text Box 47"/>
            <p:cNvSpPr txBox="1">
              <a:spLocks noChangeArrowheads="1"/>
            </p:cNvSpPr>
            <p:nvPr/>
          </p:nvSpPr>
          <p:spPr bwMode="auto">
            <a:xfrm>
              <a:off x="-682" y="2568"/>
              <a:ext cx="45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sp>
        <p:nvSpPr>
          <p:cNvPr id="20490" name="Text Box 48"/>
          <p:cNvSpPr txBox="1">
            <a:spLocks noChangeArrowheads="1"/>
          </p:cNvSpPr>
          <p:nvPr/>
        </p:nvSpPr>
        <p:spPr bwMode="auto">
          <a:xfrm>
            <a:off x="611188" y="3681413"/>
            <a:ext cx="1589087" cy="192087"/>
          </a:xfrm>
          <a:prstGeom prst="rect">
            <a:avLst/>
          </a:prstGeom>
          <a:solidFill>
            <a:srgbClr val="FF00FF"/>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accent1"/>
                </a:solidFill>
              </a:rPr>
              <a:t>17×17</a:t>
            </a:r>
            <a:r>
              <a:rPr lang="zh-CN" altLang="en-US" sz="1200">
                <a:solidFill>
                  <a:schemeClr val="accent1"/>
                </a:solidFill>
              </a:rPr>
              <a:t>乘法器</a:t>
            </a:r>
          </a:p>
        </p:txBody>
      </p:sp>
      <p:sp>
        <p:nvSpPr>
          <p:cNvPr id="20491" name="Text Box 49"/>
          <p:cNvSpPr txBox="1">
            <a:spLocks noChangeArrowheads="1"/>
          </p:cNvSpPr>
          <p:nvPr/>
        </p:nvSpPr>
        <p:spPr bwMode="auto">
          <a:xfrm>
            <a:off x="715963" y="4205288"/>
            <a:ext cx="1368425" cy="192087"/>
          </a:xfrm>
          <a:prstGeom prst="rect">
            <a:avLst/>
          </a:prstGeom>
          <a:solidFill>
            <a:schemeClr val="hlink"/>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chemeClr val="folHlink"/>
                </a:solidFill>
              </a:rPr>
              <a:t>小数</a:t>
            </a:r>
            <a:r>
              <a:rPr lang="en-US" altLang="zh-CN" sz="1200">
                <a:solidFill>
                  <a:schemeClr val="folHlink"/>
                </a:solidFill>
              </a:rPr>
              <a:t>/</a:t>
            </a:r>
            <a:r>
              <a:rPr lang="zh-CN" altLang="en-US" sz="1200">
                <a:solidFill>
                  <a:schemeClr val="folHlink"/>
                </a:solidFill>
              </a:rPr>
              <a:t>整数运算控制</a:t>
            </a:r>
          </a:p>
        </p:txBody>
      </p:sp>
      <p:grpSp>
        <p:nvGrpSpPr>
          <p:cNvPr id="20492" name="Group 50"/>
          <p:cNvGrpSpPr>
            <a:grpSpLocks/>
          </p:cNvGrpSpPr>
          <p:nvPr/>
        </p:nvGrpSpPr>
        <p:grpSpPr bwMode="auto">
          <a:xfrm>
            <a:off x="4567238" y="3849688"/>
            <a:ext cx="1871662" cy="522287"/>
            <a:chOff x="-567" y="3621"/>
            <a:chExt cx="1360" cy="217"/>
          </a:xfrm>
        </p:grpSpPr>
        <p:sp>
          <p:nvSpPr>
            <p:cNvPr id="20645" name="AutoShape 51"/>
            <p:cNvSpPr>
              <a:spLocks noChangeArrowheads="1"/>
            </p:cNvSpPr>
            <p:nvPr/>
          </p:nvSpPr>
          <p:spPr bwMode="auto">
            <a:xfrm>
              <a:off x="-567" y="3702"/>
              <a:ext cx="1360" cy="136"/>
            </a:xfrm>
            <a:custGeom>
              <a:avLst/>
              <a:gdLst>
                <a:gd name="T0" fmla="*/ 75 w 21600"/>
                <a:gd name="T1" fmla="*/ 0 h 21600"/>
                <a:gd name="T2" fmla="*/ 43 w 21600"/>
                <a:gd name="T3" fmla="*/ 1 h 21600"/>
                <a:gd name="T4" fmla="*/ 11 w 21600"/>
                <a:gd name="T5" fmla="*/ 0 h 21600"/>
                <a:gd name="T6" fmla="*/ 43 w 21600"/>
                <a:gd name="T7" fmla="*/ 0 h 21600"/>
                <a:gd name="T8" fmla="*/ 0 60000 65536"/>
                <a:gd name="T9" fmla="*/ 0 60000 65536"/>
                <a:gd name="T10" fmla="*/ 0 60000 65536"/>
                <a:gd name="T11" fmla="*/ 0 60000 65536"/>
                <a:gd name="T12" fmla="*/ 4495 w 21600"/>
                <a:gd name="T13" fmla="*/ 4447 h 21600"/>
                <a:gd name="T14" fmla="*/ 17105 w 21600"/>
                <a:gd name="T15" fmla="*/ 171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6600"/>
            </a:solidFill>
            <a:ln w="9525">
              <a:solidFill>
                <a:srgbClr val="FF6600"/>
              </a:solidFill>
              <a:miter lim="800000"/>
              <a:headEnd/>
              <a:tailEnd/>
            </a:ln>
          </p:spPr>
          <p:txBody>
            <a:bodyPr wrap="none" anchor="ctr"/>
            <a:lstStyle/>
            <a:p>
              <a:endParaRPr lang="zh-CN" altLang="en-US"/>
            </a:p>
          </p:txBody>
        </p:sp>
        <p:sp>
          <p:nvSpPr>
            <p:cNvPr id="20646" name="Text Box 52"/>
            <p:cNvSpPr txBox="1">
              <a:spLocks noChangeArrowheads="1"/>
            </p:cNvSpPr>
            <p:nvPr/>
          </p:nvSpPr>
          <p:spPr bwMode="auto">
            <a:xfrm>
              <a:off x="-409" y="3702"/>
              <a:ext cx="182"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hlink"/>
                  </a:solidFill>
                </a:rPr>
                <a:t>Y</a:t>
              </a:r>
            </a:p>
          </p:txBody>
        </p:sp>
        <p:sp>
          <p:nvSpPr>
            <p:cNvPr id="20647" name="Text Box 53"/>
            <p:cNvSpPr txBox="1">
              <a:spLocks noChangeArrowheads="1"/>
            </p:cNvSpPr>
            <p:nvPr/>
          </p:nvSpPr>
          <p:spPr bwMode="auto">
            <a:xfrm>
              <a:off x="407" y="3702"/>
              <a:ext cx="182"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hlink"/>
                  </a:solidFill>
                </a:rPr>
                <a:t>X</a:t>
              </a:r>
            </a:p>
          </p:txBody>
        </p:sp>
        <p:sp>
          <p:nvSpPr>
            <p:cNvPr id="20648" name="Rectangle 54"/>
            <p:cNvSpPr>
              <a:spLocks noChangeArrowheads="1"/>
            </p:cNvSpPr>
            <p:nvPr/>
          </p:nvSpPr>
          <p:spPr bwMode="auto">
            <a:xfrm>
              <a:off x="-250" y="3702"/>
              <a:ext cx="658" cy="23"/>
            </a:xfrm>
            <a:prstGeom prst="rect">
              <a:avLst/>
            </a:prstGeom>
            <a:solidFill>
              <a:schemeClr val="bg1"/>
            </a:solidFill>
            <a:ln w="9525">
              <a:solidFill>
                <a:srgbClr val="FF66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649" name="Rectangle 55"/>
            <p:cNvSpPr>
              <a:spLocks noChangeArrowheads="1"/>
            </p:cNvSpPr>
            <p:nvPr/>
          </p:nvSpPr>
          <p:spPr bwMode="auto">
            <a:xfrm>
              <a:off x="-250" y="3621"/>
              <a:ext cx="658"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650" name="Text Box 56"/>
            <p:cNvSpPr txBox="1">
              <a:spLocks noChangeArrowheads="1"/>
            </p:cNvSpPr>
            <p:nvPr/>
          </p:nvSpPr>
          <p:spPr bwMode="auto">
            <a:xfrm>
              <a:off x="-202" y="3725"/>
              <a:ext cx="568" cy="76"/>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hlink"/>
                  </a:solidFill>
                </a:rPr>
                <a:t>40</a:t>
              </a:r>
              <a:r>
                <a:rPr lang="zh-CN" altLang="en-US" sz="1200">
                  <a:solidFill>
                    <a:schemeClr val="hlink"/>
                  </a:solidFill>
                </a:rPr>
                <a:t>位</a:t>
              </a:r>
              <a:r>
                <a:rPr lang="en-US" altLang="zh-CN" sz="1200">
                  <a:solidFill>
                    <a:schemeClr val="hlink"/>
                  </a:solidFill>
                </a:rPr>
                <a:t>ALU</a:t>
              </a:r>
            </a:p>
          </p:txBody>
        </p:sp>
      </p:grpSp>
      <p:grpSp>
        <p:nvGrpSpPr>
          <p:cNvPr id="20493" name="Group 57"/>
          <p:cNvGrpSpPr>
            <a:grpSpLocks/>
          </p:cNvGrpSpPr>
          <p:nvPr/>
        </p:nvGrpSpPr>
        <p:grpSpPr bwMode="auto">
          <a:xfrm>
            <a:off x="1293813" y="5380038"/>
            <a:ext cx="1062037" cy="192087"/>
            <a:chOff x="-477" y="3929"/>
            <a:chExt cx="669" cy="80"/>
          </a:xfrm>
        </p:grpSpPr>
        <p:sp>
          <p:nvSpPr>
            <p:cNvPr id="20642" name="Text Box 58"/>
            <p:cNvSpPr txBox="1">
              <a:spLocks noChangeArrowheads="1"/>
            </p:cNvSpPr>
            <p:nvPr/>
          </p:nvSpPr>
          <p:spPr bwMode="auto">
            <a:xfrm>
              <a:off x="-477" y="3929"/>
              <a:ext cx="271" cy="80"/>
            </a:xfrm>
            <a:prstGeom prst="rect">
              <a:avLst/>
            </a:prstGeom>
            <a:solidFill>
              <a:srgbClr val="66CCFF"/>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零</a:t>
              </a:r>
            </a:p>
          </p:txBody>
        </p:sp>
        <p:sp>
          <p:nvSpPr>
            <p:cNvPr id="20643" name="Text Box 59"/>
            <p:cNvSpPr txBox="1">
              <a:spLocks noChangeArrowheads="1"/>
            </p:cNvSpPr>
            <p:nvPr/>
          </p:nvSpPr>
          <p:spPr bwMode="auto">
            <a:xfrm>
              <a:off x="-241" y="3929"/>
              <a:ext cx="227" cy="80"/>
            </a:xfrm>
            <a:prstGeom prst="rect">
              <a:avLst/>
            </a:prstGeom>
            <a:solidFill>
              <a:srgbClr val="66CCFF"/>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饱和</a:t>
              </a:r>
            </a:p>
          </p:txBody>
        </p:sp>
        <p:sp>
          <p:nvSpPr>
            <p:cNvPr id="20644" name="Text Box 60"/>
            <p:cNvSpPr txBox="1">
              <a:spLocks noChangeArrowheads="1"/>
            </p:cNvSpPr>
            <p:nvPr/>
          </p:nvSpPr>
          <p:spPr bwMode="auto">
            <a:xfrm>
              <a:off x="-12" y="3929"/>
              <a:ext cx="204" cy="80"/>
            </a:xfrm>
            <a:prstGeom prst="rect">
              <a:avLst/>
            </a:prstGeom>
            <a:solidFill>
              <a:srgbClr val="66CCFF"/>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取整</a:t>
              </a:r>
            </a:p>
          </p:txBody>
        </p:sp>
      </p:grpSp>
      <p:grpSp>
        <p:nvGrpSpPr>
          <p:cNvPr id="20494" name="Group 61"/>
          <p:cNvGrpSpPr>
            <a:grpSpLocks/>
          </p:cNvGrpSpPr>
          <p:nvPr/>
        </p:nvGrpSpPr>
        <p:grpSpPr bwMode="auto">
          <a:xfrm>
            <a:off x="2143125" y="4205288"/>
            <a:ext cx="823913" cy="311150"/>
            <a:chOff x="-723" y="2568"/>
            <a:chExt cx="519" cy="91"/>
          </a:xfrm>
        </p:grpSpPr>
        <p:sp>
          <p:nvSpPr>
            <p:cNvPr id="20640" name="AutoShape 62"/>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2"/>
            </a:solidFill>
            <a:ln w="9525">
              <a:solidFill>
                <a:schemeClr val="tx1"/>
              </a:solidFill>
              <a:miter lim="800000"/>
              <a:headEnd/>
              <a:tailEnd/>
            </a:ln>
          </p:spPr>
          <p:txBody>
            <a:bodyPr wrap="none" anchor="ctr"/>
            <a:lstStyle/>
            <a:p>
              <a:endParaRPr lang="zh-CN" altLang="en-US"/>
            </a:p>
          </p:txBody>
        </p:sp>
        <p:sp>
          <p:nvSpPr>
            <p:cNvPr id="20641" name="Text Box 63"/>
            <p:cNvSpPr txBox="1">
              <a:spLocks noChangeArrowheads="1"/>
            </p:cNvSpPr>
            <p:nvPr/>
          </p:nvSpPr>
          <p:spPr bwMode="auto">
            <a:xfrm>
              <a:off x="-682" y="2568"/>
              <a:ext cx="453" cy="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MUX</a:t>
              </a:r>
            </a:p>
          </p:txBody>
        </p:sp>
      </p:grpSp>
      <p:grpSp>
        <p:nvGrpSpPr>
          <p:cNvPr id="20495" name="Group 64"/>
          <p:cNvGrpSpPr>
            <a:grpSpLocks/>
          </p:cNvGrpSpPr>
          <p:nvPr/>
        </p:nvGrpSpPr>
        <p:grpSpPr bwMode="auto">
          <a:xfrm>
            <a:off x="598488" y="3171825"/>
            <a:ext cx="895350" cy="296863"/>
            <a:chOff x="-723" y="2568"/>
            <a:chExt cx="519" cy="91"/>
          </a:xfrm>
        </p:grpSpPr>
        <p:sp>
          <p:nvSpPr>
            <p:cNvPr id="20638" name="AutoShape 65"/>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20639" name="Text Box 66"/>
            <p:cNvSpPr txBox="1">
              <a:spLocks noChangeArrowheads="1"/>
            </p:cNvSpPr>
            <p:nvPr/>
          </p:nvSpPr>
          <p:spPr bwMode="auto">
            <a:xfrm>
              <a:off x="-682" y="2568"/>
              <a:ext cx="45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sp>
        <p:nvSpPr>
          <p:cNvPr id="20496" name="Text Box 67"/>
          <p:cNvSpPr txBox="1">
            <a:spLocks noChangeArrowheads="1"/>
          </p:cNvSpPr>
          <p:nvPr/>
        </p:nvSpPr>
        <p:spPr bwMode="auto">
          <a:xfrm>
            <a:off x="2627313" y="3109913"/>
            <a:ext cx="936625" cy="190500"/>
          </a:xfrm>
          <a:prstGeom prst="rect">
            <a:avLst/>
          </a:prstGeom>
          <a:solidFill>
            <a:srgbClr val="FF0000"/>
          </a:solidFill>
          <a:ln w="9525">
            <a:solidFill>
              <a:schemeClr val="accent1"/>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chemeClr val="hlink"/>
                </a:solidFill>
              </a:rPr>
              <a:t>累加器</a:t>
            </a:r>
            <a:r>
              <a:rPr lang="en-US" altLang="zh-CN" sz="1200">
                <a:solidFill>
                  <a:schemeClr val="hlink"/>
                </a:solidFill>
              </a:rPr>
              <a:t>A</a:t>
            </a:r>
            <a:r>
              <a:rPr lang="zh-CN" altLang="en-US" sz="1200">
                <a:solidFill>
                  <a:schemeClr val="hlink"/>
                </a:solidFill>
              </a:rPr>
              <a:t>（</a:t>
            </a:r>
            <a:r>
              <a:rPr lang="en-US" altLang="zh-CN" sz="1200">
                <a:solidFill>
                  <a:schemeClr val="hlink"/>
                </a:solidFill>
              </a:rPr>
              <a:t>40</a:t>
            </a:r>
            <a:r>
              <a:rPr lang="zh-CN" altLang="en-US" sz="1200">
                <a:solidFill>
                  <a:schemeClr val="hlink"/>
                </a:solidFill>
              </a:rPr>
              <a:t>）</a:t>
            </a:r>
          </a:p>
        </p:txBody>
      </p:sp>
      <p:sp>
        <p:nvSpPr>
          <p:cNvPr id="20497" name="Text Box 68"/>
          <p:cNvSpPr txBox="1">
            <a:spLocks noChangeArrowheads="1"/>
          </p:cNvSpPr>
          <p:nvPr/>
        </p:nvSpPr>
        <p:spPr bwMode="auto">
          <a:xfrm>
            <a:off x="3635375" y="3109913"/>
            <a:ext cx="936625" cy="190500"/>
          </a:xfrm>
          <a:prstGeom prst="rect">
            <a:avLst/>
          </a:prstGeom>
          <a:solidFill>
            <a:srgbClr val="FF00FF"/>
          </a:solidFill>
          <a:ln w="9525">
            <a:solidFill>
              <a:schemeClr val="accent1"/>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chemeClr val="hlink"/>
                </a:solidFill>
              </a:rPr>
              <a:t>累加器</a:t>
            </a:r>
            <a:r>
              <a:rPr lang="en-US" altLang="zh-CN" sz="1200">
                <a:solidFill>
                  <a:schemeClr val="hlink"/>
                </a:solidFill>
              </a:rPr>
              <a:t>B</a:t>
            </a:r>
            <a:r>
              <a:rPr lang="zh-CN" altLang="en-US" sz="1200">
                <a:solidFill>
                  <a:schemeClr val="hlink"/>
                </a:solidFill>
              </a:rPr>
              <a:t>（</a:t>
            </a:r>
            <a:r>
              <a:rPr lang="en-US" altLang="zh-CN" sz="1200">
                <a:solidFill>
                  <a:schemeClr val="hlink"/>
                </a:solidFill>
              </a:rPr>
              <a:t>40</a:t>
            </a:r>
            <a:r>
              <a:rPr lang="zh-CN" altLang="en-US" sz="1200">
                <a:solidFill>
                  <a:schemeClr val="hlink"/>
                </a:solidFill>
              </a:rPr>
              <a:t>）</a:t>
            </a:r>
          </a:p>
        </p:txBody>
      </p:sp>
      <p:grpSp>
        <p:nvGrpSpPr>
          <p:cNvPr id="20498" name="Group 69"/>
          <p:cNvGrpSpPr>
            <a:grpSpLocks/>
          </p:cNvGrpSpPr>
          <p:nvPr/>
        </p:nvGrpSpPr>
        <p:grpSpPr bwMode="auto">
          <a:xfrm>
            <a:off x="3168650" y="3632200"/>
            <a:ext cx="823913" cy="312738"/>
            <a:chOff x="907" y="3226"/>
            <a:chExt cx="519" cy="129"/>
          </a:xfrm>
        </p:grpSpPr>
        <p:sp>
          <p:nvSpPr>
            <p:cNvPr id="20636" name="AutoShape 70"/>
            <p:cNvSpPr>
              <a:spLocks noChangeArrowheads="1"/>
            </p:cNvSpPr>
            <p:nvPr/>
          </p:nvSpPr>
          <p:spPr bwMode="auto">
            <a:xfrm rot="10800000">
              <a:off x="907" y="3226"/>
              <a:ext cx="519" cy="129"/>
            </a:xfrm>
            <a:custGeom>
              <a:avLst/>
              <a:gdLst>
                <a:gd name="T0" fmla="*/ 11 w 21600"/>
                <a:gd name="T1" fmla="*/ 0 h 21600"/>
                <a:gd name="T2" fmla="*/ 6 w 21600"/>
                <a:gd name="T3" fmla="*/ 1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21 h 21600"/>
                <a:gd name="T14" fmla="*/ 17105 w 21600"/>
                <a:gd name="T15" fmla="*/ 1707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2"/>
            </a:solidFill>
            <a:ln w="9525">
              <a:solidFill>
                <a:schemeClr val="tx1"/>
              </a:solidFill>
              <a:miter lim="800000"/>
              <a:headEnd/>
              <a:tailEnd/>
            </a:ln>
          </p:spPr>
          <p:txBody>
            <a:bodyPr wrap="none" anchor="ctr"/>
            <a:lstStyle/>
            <a:p>
              <a:endParaRPr lang="zh-CN" altLang="en-US"/>
            </a:p>
          </p:txBody>
        </p:sp>
        <p:sp>
          <p:nvSpPr>
            <p:cNvPr id="20637" name="Text Box 71"/>
            <p:cNvSpPr txBox="1">
              <a:spLocks noChangeArrowheads="1"/>
            </p:cNvSpPr>
            <p:nvPr/>
          </p:nvSpPr>
          <p:spPr bwMode="auto">
            <a:xfrm>
              <a:off x="1019" y="3249"/>
              <a:ext cx="295"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MUX</a:t>
              </a:r>
            </a:p>
          </p:txBody>
        </p:sp>
      </p:grpSp>
      <p:grpSp>
        <p:nvGrpSpPr>
          <p:cNvPr id="20499" name="Group 72"/>
          <p:cNvGrpSpPr>
            <a:grpSpLocks/>
          </p:cNvGrpSpPr>
          <p:nvPr/>
        </p:nvGrpSpPr>
        <p:grpSpPr bwMode="auto">
          <a:xfrm>
            <a:off x="5499100" y="3263900"/>
            <a:ext cx="895350" cy="296863"/>
            <a:chOff x="-723" y="2568"/>
            <a:chExt cx="519" cy="91"/>
          </a:xfrm>
        </p:grpSpPr>
        <p:sp>
          <p:nvSpPr>
            <p:cNvPr id="20634" name="AutoShape 73"/>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20635" name="Text Box 74"/>
            <p:cNvSpPr txBox="1">
              <a:spLocks noChangeArrowheads="1"/>
            </p:cNvSpPr>
            <p:nvPr/>
          </p:nvSpPr>
          <p:spPr bwMode="auto">
            <a:xfrm>
              <a:off x="-682" y="2568"/>
              <a:ext cx="45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grpSp>
        <p:nvGrpSpPr>
          <p:cNvPr id="20500" name="Group 75"/>
          <p:cNvGrpSpPr>
            <a:grpSpLocks/>
          </p:cNvGrpSpPr>
          <p:nvPr/>
        </p:nvGrpSpPr>
        <p:grpSpPr bwMode="auto">
          <a:xfrm>
            <a:off x="4586288" y="3270250"/>
            <a:ext cx="895350" cy="296863"/>
            <a:chOff x="-723" y="2568"/>
            <a:chExt cx="519" cy="91"/>
          </a:xfrm>
        </p:grpSpPr>
        <p:sp>
          <p:nvSpPr>
            <p:cNvPr id="20632" name="AutoShape 76"/>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20633" name="Text Box 77"/>
            <p:cNvSpPr txBox="1">
              <a:spLocks noChangeArrowheads="1"/>
            </p:cNvSpPr>
            <p:nvPr/>
          </p:nvSpPr>
          <p:spPr bwMode="auto">
            <a:xfrm>
              <a:off x="-682" y="2568"/>
              <a:ext cx="45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grpSp>
        <p:nvGrpSpPr>
          <p:cNvPr id="20501" name="Group 78"/>
          <p:cNvGrpSpPr>
            <a:grpSpLocks/>
          </p:cNvGrpSpPr>
          <p:nvPr/>
        </p:nvGrpSpPr>
        <p:grpSpPr bwMode="auto">
          <a:xfrm>
            <a:off x="755650" y="4572000"/>
            <a:ext cx="2159000" cy="522288"/>
            <a:chOff x="-567" y="3621"/>
            <a:chExt cx="1360" cy="217"/>
          </a:xfrm>
        </p:grpSpPr>
        <p:sp>
          <p:nvSpPr>
            <p:cNvPr id="20626" name="AutoShape 79"/>
            <p:cNvSpPr>
              <a:spLocks noChangeArrowheads="1"/>
            </p:cNvSpPr>
            <p:nvPr/>
          </p:nvSpPr>
          <p:spPr bwMode="auto">
            <a:xfrm>
              <a:off x="-567" y="3702"/>
              <a:ext cx="1360" cy="136"/>
            </a:xfrm>
            <a:custGeom>
              <a:avLst/>
              <a:gdLst>
                <a:gd name="T0" fmla="*/ 75 w 21600"/>
                <a:gd name="T1" fmla="*/ 0 h 21600"/>
                <a:gd name="T2" fmla="*/ 43 w 21600"/>
                <a:gd name="T3" fmla="*/ 1 h 21600"/>
                <a:gd name="T4" fmla="*/ 11 w 21600"/>
                <a:gd name="T5" fmla="*/ 0 h 21600"/>
                <a:gd name="T6" fmla="*/ 43 w 21600"/>
                <a:gd name="T7" fmla="*/ 0 h 21600"/>
                <a:gd name="T8" fmla="*/ 0 60000 65536"/>
                <a:gd name="T9" fmla="*/ 0 60000 65536"/>
                <a:gd name="T10" fmla="*/ 0 60000 65536"/>
                <a:gd name="T11" fmla="*/ 0 60000 65536"/>
                <a:gd name="T12" fmla="*/ 4495 w 21600"/>
                <a:gd name="T13" fmla="*/ 4447 h 21600"/>
                <a:gd name="T14" fmla="*/ 17105 w 21600"/>
                <a:gd name="T15" fmla="*/ 171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rgbClr val="FF6600"/>
              </a:solidFill>
              <a:miter lim="800000"/>
              <a:headEnd/>
              <a:tailEnd/>
            </a:ln>
          </p:spPr>
          <p:txBody>
            <a:bodyPr wrap="none" anchor="ctr"/>
            <a:lstStyle/>
            <a:p>
              <a:endParaRPr lang="zh-CN" altLang="en-US"/>
            </a:p>
          </p:txBody>
        </p:sp>
        <p:sp>
          <p:nvSpPr>
            <p:cNvPr id="20627" name="Text Box 80"/>
            <p:cNvSpPr txBox="1">
              <a:spLocks noChangeArrowheads="1"/>
            </p:cNvSpPr>
            <p:nvPr/>
          </p:nvSpPr>
          <p:spPr bwMode="auto">
            <a:xfrm>
              <a:off x="-409" y="3702"/>
              <a:ext cx="182"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tx2"/>
                  </a:solidFill>
                </a:rPr>
                <a:t>XA</a:t>
              </a:r>
            </a:p>
          </p:txBody>
        </p:sp>
        <p:sp>
          <p:nvSpPr>
            <p:cNvPr id="20628" name="Text Box 81"/>
            <p:cNvSpPr txBox="1">
              <a:spLocks noChangeArrowheads="1"/>
            </p:cNvSpPr>
            <p:nvPr/>
          </p:nvSpPr>
          <p:spPr bwMode="auto">
            <a:xfrm>
              <a:off x="407" y="3702"/>
              <a:ext cx="182"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tx2"/>
                  </a:solidFill>
                </a:rPr>
                <a:t>YA</a:t>
              </a:r>
            </a:p>
          </p:txBody>
        </p:sp>
        <p:sp>
          <p:nvSpPr>
            <p:cNvPr id="20629" name="Rectangle 82"/>
            <p:cNvSpPr>
              <a:spLocks noChangeArrowheads="1"/>
            </p:cNvSpPr>
            <p:nvPr/>
          </p:nvSpPr>
          <p:spPr bwMode="auto">
            <a:xfrm>
              <a:off x="-250" y="3702"/>
              <a:ext cx="658" cy="23"/>
            </a:xfrm>
            <a:prstGeom prst="rect">
              <a:avLst/>
            </a:prstGeom>
            <a:solidFill>
              <a:schemeClr val="bg1"/>
            </a:solidFill>
            <a:ln w="9525">
              <a:solidFill>
                <a:srgbClr val="FF66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630" name="Rectangle 83"/>
            <p:cNvSpPr>
              <a:spLocks noChangeArrowheads="1"/>
            </p:cNvSpPr>
            <p:nvPr/>
          </p:nvSpPr>
          <p:spPr bwMode="auto">
            <a:xfrm>
              <a:off x="-250" y="3621"/>
              <a:ext cx="658"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631" name="Text Box 84"/>
            <p:cNvSpPr txBox="1">
              <a:spLocks noChangeArrowheads="1"/>
            </p:cNvSpPr>
            <p:nvPr/>
          </p:nvSpPr>
          <p:spPr bwMode="auto">
            <a:xfrm>
              <a:off x="-202" y="3725"/>
              <a:ext cx="568"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tx2"/>
                  </a:solidFill>
                </a:rPr>
                <a:t>40</a:t>
              </a:r>
              <a:r>
                <a:rPr lang="zh-CN" altLang="en-US" sz="1200">
                  <a:solidFill>
                    <a:schemeClr val="tx2"/>
                  </a:solidFill>
                </a:rPr>
                <a:t>位加法器</a:t>
              </a:r>
            </a:p>
          </p:txBody>
        </p:sp>
      </p:grpSp>
      <p:grpSp>
        <p:nvGrpSpPr>
          <p:cNvPr id="20502" name="Group 85"/>
          <p:cNvGrpSpPr>
            <a:grpSpLocks/>
          </p:cNvGrpSpPr>
          <p:nvPr/>
        </p:nvGrpSpPr>
        <p:grpSpPr bwMode="auto">
          <a:xfrm>
            <a:off x="6472238" y="3921125"/>
            <a:ext cx="895350" cy="296863"/>
            <a:chOff x="-723" y="2568"/>
            <a:chExt cx="519" cy="91"/>
          </a:xfrm>
        </p:grpSpPr>
        <p:sp>
          <p:nvSpPr>
            <p:cNvPr id="20624" name="AutoShape 86"/>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tx2"/>
            </a:solidFill>
            <a:ln w="9525">
              <a:solidFill>
                <a:schemeClr val="tx1"/>
              </a:solidFill>
              <a:miter lim="800000"/>
              <a:headEnd/>
              <a:tailEnd/>
            </a:ln>
          </p:spPr>
          <p:txBody>
            <a:bodyPr wrap="none" anchor="ctr"/>
            <a:lstStyle/>
            <a:p>
              <a:endParaRPr lang="zh-CN" altLang="en-US"/>
            </a:p>
          </p:txBody>
        </p:sp>
        <p:sp>
          <p:nvSpPr>
            <p:cNvPr id="20625" name="Text Box 87"/>
            <p:cNvSpPr txBox="1">
              <a:spLocks noChangeArrowheads="1"/>
            </p:cNvSpPr>
            <p:nvPr/>
          </p:nvSpPr>
          <p:spPr bwMode="auto">
            <a:xfrm>
              <a:off x="-682" y="2568"/>
              <a:ext cx="45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bg1"/>
                  </a:solidFill>
                </a:rPr>
                <a:t>MUX</a:t>
              </a:r>
            </a:p>
          </p:txBody>
        </p:sp>
      </p:grpSp>
      <p:sp>
        <p:nvSpPr>
          <p:cNvPr id="20503" name="Text Box 88"/>
          <p:cNvSpPr txBox="1">
            <a:spLocks noChangeArrowheads="1"/>
          </p:cNvSpPr>
          <p:nvPr/>
        </p:nvSpPr>
        <p:spPr bwMode="auto">
          <a:xfrm>
            <a:off x="6616700" y="4511675"/>
            <a:ext cx="719138" cy="285750"/>
          </a:xfrm>
          <a:prstGeom prst="rect">
            <a:avLst/>
          </a:prstGeom>
          <a:solidFill>
            <a:schemeClr val="accent2"/>
          </a:solidFill>
          <a:ln w="9525">
            <a:solidFill>
              <a:srgbClr val="FF0000"/>
            </a:solidFill>
            <a:miter lim="800000"/>
            <a:headEnd/>
            <a:tailEnd/>
          </a:ln>
        </p:spPr>
        <p:txBody>
          <a:bodyPr lIns="0" tIns="0" rIns="0" bIns="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chemeClr val="accent1"/>
                </a:solidFill>
              </a:rPr>
              <a:t>比较器</a:t>
            </a:r>
          </a:p>
        </p:txBody>
      </p:sp>
      <p:sp>
        <p:nvSpPr>
          <p:cNvPr id="20504" name="Text Box 89"/>
          <p:cNvSpPr txBox="1">
            <a:spLocks noChangeArrowheads="1"/>
          </p:cNvSpPr>
          <p:nvPr/>
        </p:nvSpPr>
        <p:spPr bwMode="auto">
          <a:xfrm>
            <a:off x="6435725" y="5014913"/>
            <a:ext cx="1081088" cy="193675"/>
          </a:xfrm>
          <a:prstGeom prst="rect">
            <a:avLst/>
          </a:prstGeom>
          <a:solidFill>
            <a:schemeClr val="accent2"/>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rgbClr val="660066"/>
                </a:solidFill>
              </a:rPr>
              <a:t>状态转移寄存器</a:t>
            </a:r>
          </a:p>
        </p:txBody>
      </p:sp>
      <p:sp>
        <p:nvSpPr>
          <p:cNvPr id="20505" name="Text Box 90"/>
          <p:cNvSpPr txBox="1">
            <a:spLocks noChangeArrowheads="1"/>
          </p:cNvSpPr>
          <p:nvPr/>
        </p:nvSpPr>
        <p:spPr bwMode="auto">
          <a:xfrm>
            <a:off x="6435725" y="5616575"/>
            <a:ext cx="1081088" cy="192088"/>
          </a:xfrm>
          <a:prstGeom prst="rect">
            <a:avLst/>
          </a:prstGeom>
          <a:solidFill>
            <a:schemeClr val="accent2"/>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rgbClr val="6600CC"/>
                </a:solidFill>
              </a:rPr>
              <a:t>测试控制寄存器</a:t>
            </a:r>
          </a:p>
        </p:txBody>
      </p:sp>
      <p:grpSp>
        <p:nvGrpSpPr>
          <p:cNvPr id="20506" name="Group 91"/>
          <p:cNvGrpSpPr>
            <a:grpSpLocks/>
          </p:cNvGrpSpPr>
          <p:nvPr/>
        </p:nvGrpSpPr>
        <p:grpSpPr bwMode="auto">
          <a:xfrm>
            <a:off x="7667625" y="3081338"/>
            <a:ext cx="895350" cy="295275"/>
            <a:chOff x="-723" y="2568"/>
            <a:chExt cx="519" cy="91"/>
          </a:xfrm>
        </p:grpSpPr>
        <p:sp>
          <p:nvSpPr>
            <p:cNvPr id="20622" name="AutoShape 92"/>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20623" name="Text Box 93"/>
            <p:cNvSpPr txBox="1">
              <a:spLocks noChangeArrowheads="1"/>
            </p:cNvSpPr>
            <p:nvPr/>
          </p:nvSpPr>
          <p:spPr bwMode="auto">
            <a:xfrm>
              <a:off x="-682" y="2568"/>
              <a:ext cx="45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sp>
        <p:nvSpPr>
          <p:cNvPr id="20507" name="Text Box 94"/>
          <p:cNvSpPr txBox="1">
            <a:spLocks noChangeArrowheads="1"/>
          </p:cNvSpPr>
          <p:nvPr/>
        </p:nvSpPr>
        <p:spPr bwMode="auto">
          <a:xfrm>
            <a:off x="7812088" y="3716338"/>
            <a:ext cx="719137" cy="374650"/>
          </a:xfrm>
          <a:prstGeom prst="rect">
            <a:avLst/>
          </a:prstGeom>
          <a:solidFill>
            <a:schemeClr val="accent2"/>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chemeClr val="accent1"/>
                </a:solidFill>
              </a:rPr>
              <a:t>桶形移位寄存器</a:t>
            </a:r>
          </a:p>
        </p:txBody>
      </p:sp>
      <p:sp>
        <p:nvSpPr>
          <p:cNvPr id="20508" name="Text Box 95"/>
          <p:cNvSpPr txBox="1">
            <a:spLocks noChangeArrowheads="1"/>
          </p:cNvSpPr>
          <p:nvPr/>
        </p:nvSpPr>
        <p:spPr bwMode="auto">
          <a:xfrm>
            <a:off x="7812088" y="4568825"/>
            <a:ext cx="755650" cy="474663"/>
          </a:xfrm>
          <a:prstGeom prst="rect">
            <a:avLst/>
          </a:prstGeom>
          <a:solidFill>
            <a:schemeClr val="accent2"/>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zh-CN" altLang="en-US" sz="1200">
                <a:solidFill>
                  <a:schemeClr val="accent1"/>
                </a:solidFill>
              </a:rPr>
              <a:t>最高</a:t>
            </a:r>
            <a:r>
              <a:rPr lang="en-US" altLang="zh-CN" sz="1200">
                <a:solidFill>
                  <a:schemeClr val="accent1"/>
                </a:solidFill>
              </a:rPr>
              <a:t>/</a:t>
            </a:r>
            <a:r>
              <a:rPr lang="zh-CN" altLang="en-US" sz="1200">
                <a:solidFill>
                  <a:schemeClr val="accent1"/>
                </a:solidFill>
              </a:rPr>
              <a:t>最低有效字</a:t>
            </a:r>
          </a:p>
          <a:p>
            <a:pPr algn="ctr" eaLnBrk="1" hangingPunct="1">
              <a:lnSpc>
                <a:spcPct val="85000"/>
              </a:lnSpc>
            </a:pPr>
            <a:r>
              <a:rPr lang="zh-CN" altLang="en-US" sz="1200">
                <a:solidFill>
                  <a:schemeClr val="accent1"/>
                </a:solidFill>
              </a:rPr>
              <a:t>选择</a:t>
            </a:r>
          </a:p>
        </p:txBody>
      </p:sp>
      <p:sp>
        <p:nvSpPr>
          <p:cNvPr id="20509" name="Line 108"/>
          <p:cNvSpPr>
            <a:spLocks noChangeShapeType="1"/>
          </p:cNvSpPr>
          <p:nvPr/>
        </p:nvSpPr>
        <p:spPr bwMode="auto">
          <a:xfrm flipH="1">
            <a:off x="1439863" y="1166813"/>
            <a:ext cx="1587" cy="1806575"/>
          </a:xfrm>
          <a:prstGeom prst="line">
            <a:avLst/>
          </a:prstGeom>
          <a:noFill/>
          <a:ln w="190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10" name="Line 109"/>
          <p:cNvSpPr>
            <a:spLocks noChangeShapeType="1"/>
          </p:cNvSpPr>
          <p:nvPr/>
        </p:nvSpPr>
        <p:spPr bwMode="auto">
          <a:xfrm>
            <a:off x="1150938" y="1931988"/>
            <a:ext cx="288925" cy="0"/>
          </a:xfrm>
          <a:prstGeom prst="line">
            <a:avLst/>
          </a:prstGeom>
          <a:noFill/>
          <a:ln w="190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11" name="Line 110"/>
          <p:cNvSpPr>
            <a:spLocks noChangeShapeType="1"/>
          </p:cNvSpPr>
          <p:nvPr/>
        </p:nvSpPr>
        <p:spPr bwMode="auto">
          <a:xfrm flipH="1">
            <a:off x="971550" y="2425700"/>
            <a:ext cx="1588" cy="163513"/>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12" name="Line 111"/>
          <p:cNvSpPr>
            <a:spLocks noChangeShapeType="1"/>
          </p:cNvSpPr>
          <p:nvPr/>
        </p:nvSpPr>
        <p:spPr bwMode="auto">
          <a:xfrm flipH="1">
            <a:off x="971550" y="2781300"/>
            <a:ext cx="0" cy="395288"/>
          </a:xfrm>
          <a:prstGeom prst="line">
            <a:avLst/>
          </a:prstGeom>
          <a:noFill/>
          <a:ln w="19050">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13" name="Line 112"/>
          <p:cNvSpPr>
            <a:spLocks noChangeShapeType="1"/>
          </p:cNvSpPr>
          <p:nvPr/>
        </p:nvSpPr>
        <p:spPr bwMode="auto">
          <a:xfrm flipV="1">
            <a:off x="1116013" y="2989263"/>
            <a:ext cx="323850" cy="11112"/>
          </a:xfrm>
          <a:prstGeom prst="line">
            <a:avLst/>
          </a:prstGeom>
          <a:noFill/>
          <a:ln w="190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14" name="Line 113"/>
          <p:cNvSpPr>
            <a:spLocks noChangeShapeType="1"/>
          </p:cNvSpPr>
          <p:nvPr/>
        </p:nvSpPr>
        <p:spPr bwMode="auto">
          <a:xfrm flipH="1">
            <a:off x="1116013" y="3000375"/>
            <a:ext cx="0" cy="166688"/>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15" name="Line 114"/>
          <p:cNvSpPr>
            <a:spLocks noChangeShapeType="1"/>
          </p:cNvSpPr>
          <p:nvPr/>
        </p:nvSpPr>
        <p:spPr bwMode="auto">
          <a:xfrm>
            <a:off x="1223963" y="3055938"/>
            <a:ext cx="395287" cy="0"/>
          </a:xfrm>
          <a:prstGeom prst="line">
            <a:avLst/>
          </a:prstGeom>
          <a:noFill/>
          <a:ln w="1905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16" name="Line 115"/>
          <p:cNvSpPr>
            <a:spLocks noChangeShapeType="1"/>
          </p:cNvSpPr>
          <p:nvPr/>
        </p:nvSpPr>
        <p:spPr bwMode="auto">
          <a:xfrm>
            <a:off x="971550" y="2917825"/>
            <a:ext cx="3816350" cy="0"/>
          </a:xfrm>
          <a:prstGeom prst="line">
            <a:avLst/>
          </a:prstGeom>
          <a:noFill/>
          <a:ln w="2857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17" name="Line 116"/>
          <p:cNvSpPr>
            <a:spLocks noChangeShapeType="1"/>
          </p:cNvSpPr>
          <p:nvPr/>
        </p:nvSpPr>
        <p:spPr bwMode="auto">
          <a:xfrm flipH="1">
            <a:off x="4787900" y="2917825"/>
            <a:ext cx="0" cy="366713"/>
          </a:xfrm>
          <a:prstGeom prst="line">
            <a:avLst/>
          </a:prstGeom>
          <a:noFill/>
          <a:ln w="19050">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18" name="Line 117"/>
          <p:cNvSpPr>
            <a:spLocks noChangeShapeType="1"/>
          </p:cNvSpPr>
          <p:nvPr/>
        </p:nvSpPr>
        <p:spPr bwMode="auto">
          <a:xfrm flipH="1">
            <a:off x="1239838" y="3055938"/>
            <a:ext cx="0" cy="11112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19" name="Line 118"/>
          <p:cNvSpPr>
            <a:spLocks noChangeShapeType="1"/>
          </p:cNvSpPr>
          <p:nvPr/>
        </p:nvSpPr>
        <p:spPr bwMode="auto">
          <a:xfrm flipH="1">
            <a:off x="1619250" y="3055938"/>
            <a:ext cx="0" cy="11112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20" name="Line 119"/>
          <p:cNvSpPr>
            <a:spLocks noChangeShapeType="1"/>
          </p:cNvSpPr>
          <p:nvPr/>
        </p:nvSpPr>
        <p:spPr bwMode="auto">
          <a:xfrm>
            <a:off x="1979613" y="3467100"/>
            <a:ext cx="0" cy="22225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21" name="Line 120"/>
          <p:cNvSpPr>
            <a:spLocks noChangeShapeType="1"/>
          </p:cNvSpPr>
          <p:nvPr/>
        </p:nvSpPr>
        <p:spPr bwMode="auto">
          <a:xfrm>
            <a:off x="1403350" y="3860800"/>
            <a:ext cx="0" cy="334963"/>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22" name="Line 121"/>
          <p:cNvSpPr>
            <a:spLocks noChangeShapeType="1"/>
          </p:cNvSpPr>
          <p:nvPr/>
        </p:nvSpPr>
        <p:spPr bwMode="auto">
          <a:xfrm>
            <a:off x="1079500" y="4400550"/>
            <a:ext cx="0" cy="36830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23" name="Line 122"/>
          <p:cNvSpPr>
            <a:spLocks noChangeShapeType="1"/>
          </p:cNvSpPr>
          <p:nvPr/>
        </p:nvSpPr>
        <p:spPr bwMode="auto">
          <a:xfrm>
            <a:off x="1042988" y="3465513"/>
            <a:ext cx="0" cy="22225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24" name="Line 123"/>
          <p:cNvSpPr>
            <a:spLocks noChangeShapeType="1"/>
          </p:cNvSpPr>
          <p:nvPr/>
        </p:nvSpPr>
        <p:spPr bwMode="auto">
          <a:xfrm>
            <a:off x="2538413" y="4503738"/>
            <a:ext cx="0" cy="26511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25" name="Line 124"/>
          <p:cNvSpPr>
            <a:spLocks noChangeShapeType="1"/>
          </p:cNvSpPr>
          <p:nvPr/>
        </p:nvSpPr>
        <p:spPr bwMode="auto">
          <a:xfrm>
            <a:off x="1614488" y="2644775"/>
            <a:ext cx="6378575" cy="0"/>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26" name="Line 125"/>
          <p:cNvSpPr>
            <a:spLocks noChangeShapeType="1"/>
          </p:cNvSpPr>
          <p:nvPr/>
        </p:nvSpPr>
        <p:spPr bwMode="auto">
          <a:xfrm flipH="1">
            <a:off x="1619250" y="2644775"/>
            <a:ext cx="3175" cy="436563"/>
          </a:xfrm>
          <a:prstGeom prst="line">
            <a:avLst/>
          </a:prstGeom>
          <a:noFill/>
          <a:ln w="1905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27" name="Line 126"/>
          <p:cNvSpPr>
            <a:spLocks noChangeShapeType="1"/>
          </p:cNvSpPr>
          <p:nvPr/>
        </p:nvSpPr>
        <p:spPr bwMode="auto">
          <a:xfrm>
            <a:off x="1800225" y="5105400"/>
            <a:ext cx="0" cy="303213"/>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28" name="Line 127"/>
          <p:cNvSpPr>
            <a:spLocks noChangeShapeType="1"/>
          </p:cNvSpPr>
          <p:nvPr/>
        </p:nvSpPr>
        <p:spPr bwMode="auto">
          <a:xfrm>
            <a:off x="1800225" y="5553075"/>
            <a:ext cx="0" cy="376238"/>
          </a:xfrm>
          <a:prstGeom prst="line">
            <a:avLst/>
          </a:prstGeom>
          <a:noFill/>
          <a:ln w="1905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29" name="Line 128"/>
          <p:cNvSpPr>
            <a:spLocks noChangeShapeType="1"/>
          </p:cNvSpPr>
          <p:nvPr/>
        </p:nvSpPr>
        <p:spPr bwMode="auto">
          <a:xfrm>
            <a:off x="1800225" y="5910263"/>
            <a:ext cx="1655763" cy="15875"/>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30" name="Line 129"/>
          <p:cNvSpPr>
            <a:spLocks noChangeShapeType="1"/>
          </p:cNvSpPr>
          <p:nvPr/>
        </p:nvSpPr>
        <p:spPr bwMode="auto">
          <a:xfrm flipH="1">
            <a:off x="3455988" y="3956050"/>
            <a:ext cx="0" cy="1970088"/>
          </a:xfrm>
          <a:prstGeom prst="line">
            <a:avLst/>
          </a:prstGeom>
          <a:noFill/>
          <a:ln w="19050">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31" name="Line 130"/>
          <p:cNvSpPr>
            <a:spLocks noChangeShapeType="1"/>
          </p:cNvSpPr>
          <p:nvPr/>
        </p:nvSpPr>
        <p:spPr bwMode="auto">
          <a:xfrm flipH="1">
            <a:off x="2987675" y="3284538"/>
            <a:ext cx="0" cy="781050"/>
          </a:xfrm>
          <a:prstGeom prst="line">
            <a:avLst/>
          </a:prstGeom>
          <a:noFill/>
          <a:ln w="19050">
            <a:solidFill>
              <a:srgbClr val="33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32" name="Line 131"/>
          <p:cNvSpPr>
            <a:spLocks noChangeShapeType="1"/>
          </p:cNvSpPr>
          <p:nvPr/>
        </p:nvSpPr>
        <p:spPr bwMode="auto">
          <a:xfrm>
            <a:off x="2987675" y="4065588"/>
            <a:ext cx="323850" cy="0"/>
          </a:xfrm>
          <a:prstGeom prst="line">
            <a:avLst/>
          </a:prstGeom>
          <a:noFill/>
          <a:ln w="19050">
            <a:solidFill>
              <a:srgbClr val="33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33" name="Line 132"/>
          <p:cNvSpPr>
            <a:spLocks noChangeShapeType="1"/>
          </p:cNvSpPr>
          <p:nvPr/>
        </p:nvSpPr>
        <p:spPr bwMode="auto">
          <a:xfrm flipH="1">
            <a:off x="3297238" y="3924300"/>
            <a:ext cx="0" cy="165100"/>
          </a:xfrm>
          <a:prstGeom prst="line">
            <a:avLst/>
          </a:prstGeom>
          <a:noFill/>
          <a:ln w="19050">
            <a:solidFill>
              <a:srgbClr val="33CC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34" name="Line 133"/>
          <p:cNvSpPr>
            <a:spLocks noChangeShapeType="1"/>
          </p:cNvSpPr>
          <p:nvPr/>
        </p:nvSpPr>
        <p:spPr bwMode="auto">
          <a:xfrm>
            <a:off x="4103688" y="3284538"/>
            <a:ext cx="7937" cy="781050"/>
          </a:xfrm>
          <a:prstGeom prst="line">
            <a:avLst/>
          </a:prstGeom>
          <a:noFill/>
          <a:ln w="190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35" name="Line 134"/>
          <p:cNvSpPr>
            <a:spLocks noChangeShapeType="1"/>
          </p:cNvSpPr>
          <p:nvPr/>
        </p:nvSpPr>
        <p:spPr bwMode="auto">
          <a:xfrm>
            <a:off x="3789363" y="4065588"/>
            <a:ext cx="323850" cy="0"/>
          </a:xfrm>
          <a:prstGeom prst="line">
            <a:avLst/>
          </a:prstGeom>
          <a:noFill/>
          <a:ln w="190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36" name="Line 135"/>
          <p:cNvSpPr>
            <a:spLocks noChangeShapeType="1"/>
          </p:cNvSpPr>
          <p:nvPr/>
        </p:nvSpPr>
        <p:spPr bwMode="auto">
          <a:xfrm flipH="1">
            <a:off x="3798888" y="3913188"/>
            <a:ext cx="0" cy="163512"/>
          </a:xfrm>
          <a:prstGeom prst="line">
            <a:avLst/>
          </a:prstGeom>
          <a:noFill/>
          <a:ln w="19050">
            <a:solidFill>
              <a:srgbClr val="FF00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37" name="Line 136"/>
          <p:cNvSpPr>
            <a:spLocks noChangeShapeType="1"/>
          </p:cNvSpPr>
          <p:nvPr/>
        </p:nvSpPr>
        <p:spPr bwMode="auto">
          <a:xfrm>
            <a:off x="3276600" y="3573463"/>
            <a:ext cx="539750" cy="0"/>
          </a:xfrm>
          <a:prstGeom prst="line">
            <a:avLst/>
          </a:prstGeom>
          <a:noFill/>
          <a:ln w="190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38" name="Line 137"/>
          <p:cNvSpPr>
            <a:spLocks noChangeShapeType="1"/>
          </p:cNvSpPr>
          <p:nvPr/>
        </p:nvSpPr>
        <p:spPr bwMode="auto">
          <a:xfrm flipH="1">
            <a:off x="3816350" y="3284538"/>
            <a:ext cx="0" cy="288925"/>
          </a:xfrm>
          <a:prstGeom prst="line">
            <a:avLst/>
          </a:prstGeom>
          <a:noFill/>
          <a:ln w="19050">
            <a:solidFill>
              <a:schemeClr val="accent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39" name="Line 138"/>
          <p:cNvSpPr>
            <a:spLocks noChangeShapeType="1"/>
          </p:cNvSpPr>
          <p:nvPr/>
        </p:nvSpPr>
        <p:spPr bwMode="auto">
          <a:xfrm flipH="1">
            <a:off x="3276600" y="3284538"/>
            <a:ext cx="0" cy="288925"/>
          </a:xfrm>
          <a:prstGeom prst="line">
            <a:avLst/>
          </a:prstGeom>
          <a:noFill/>
          <a:ln w="19050">
            <a:solidFill>
              <a:schemeClr val="accent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40" name="Line 139"/>
          <p:cNvSpPr>
            <a:spLocks noChangeShapeType="1"/>
          </p:cNvSpPr>
          <p:nvPr/>
        </p:nvSpPr>
        <p:spPr bwMode="auto">
          <a:xfrm>
            <a:off x="3600450" y="3576638"/>
            <a:ext cx="0" cy="106362"/>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41" name="Line 140"/>
          <p:cNvSpPr>
            <a:spLocks noChangeShapeType="1"/>
          </p:cNvSpPr>
          <p:nvPr/>
        </p:nvSpPr>
        <p:spPr bwMode="auto">
          <a:xfrm flipH="1">
            <a:off x="3165475" y="2630488"/>
            <a:ext cx="1588" cy="490537"/>
          </a:xfrm>
          <a:prstGeom prst="line">
            <a:avLst/>
          </a:prstGeom>
          <a:noFill/>
          <a:ln w="19050">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42" name="Line 141"/>
          <p:cNvSpPr>
            <a:spLocks noChangeShapeType="1"/>
          </p:cNvSpPr>
          <p:nvPr/>
        </p:nvSpPr>
        <p:spPr bwMode="auto">
          <a:xfrm>
            <a:off x="2605088" y="2752725"/>
            <a:ext cx="5243512"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43" name="Line 142"/>
          <p:cNvSpPr>
            <a:spLocks noChangeShapeType="1"/>
          </p:cNvSpPr>
          <p:nvPr/>
        </p:nvSpPr>
        <p:spPr bwMode="auto">
          <a:xfrm flipH="1">
            <a:off x="2592388" y="2752725"/>
            <a:ext cx="0" cy="1423988"/>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44" name="Line 143"/>
          <p:cNvSpPr>
            <a:spLocks noChangeShapeType="1"/>
          </p:cNvSpPr>
          <p:nvPr/>
        </p:nvSpPr>
        <p:spPr bwMode="auto">
          <a:xfrm flipH="1">
            <a:off x="2447925" y="2644775"/>
            <a:ext cx="17463" cy="153193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45" name="Line 144"/>
          <p:cNvSpPr>
            <a:spLocks noChangeShapeType="1"/>
          </p:cNvSpPr>
          <p:nvPr/>
        </p:nvSpPr>
        <p:spPr bwMode="auto">
          <a:xfrm flipH="1">
            <a:off x="2735263" y="3738563"/>
            <a:ext cx="3175" cy="436562"/>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46" name="Text Box 145"/>
          <p:cNvSpPr txBox="1">
            <a:spLocks noChangeArrowheads="1"/>
          </p:cNvSpPr>
          <p:nvPr/>
        </p:nvSpPr>
        <p:spPr bwMode="auto">
          <a:xfrm>
            <a:off x="2563813" y="3482975"/>
            <a:ext cx="3603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0</a:t>
            </a:r>
          </a:p>
        </p:txBody>
      </p:sp>
      <p:sp>
        <p:nvSpPr>
          <p:cNvPr id="20547" name="Line 146"/>
          <p:cNvSpPr>
            <a:spLocks noChangeShapeType="1"/>
          </p:cNvSpPr>
          <p:nvPr/>
        </p:nvSpPr>
        <p:spPr bwMode="auto">
          <a:xfrm flipH="1">
            <a:off x="1800225" y="1160463"/>
            <a:ext cx="12700" cy="1989137"/>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48" name="Line 147"/>
          <p:cNvSpPr>
            <a:spLocks noChangeShapeType="1"/>
          </p:cNvSpPr>
          <p:nvPr/>
        </p:nvSpPr>
        <p:spPr bwMode="auto">
          <a:xfrm flipH="1">
            <a:off x="1943100" y="1160463"/>
            <a:ext cx="12700" cy="1989137"/>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49" name="Line 148"/>
          <p:cNvSpPr>
            <a:spLocks noChangeShapeType="1"/>
          </p:cNvSpPr>
          <p:nvPr/>
        </p:nvSpPr>
        <p:spPr bwMode="auto">
          <a:xfrm flipH="1">
            <a:off x="2087563" y="1160463"/>
            <a:ext cx="12700" cy="1976437"/>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50" name="Line 149"/>
          <p:cNvSpPr>
            <a:spLocks noChangeShapeType="1"/>
          </p:cNvSpPr>
          <p:nvPr/>
        </p:nvSpPr>
        <p:spPr bwMode="auto">
          <a:xfrm>
            <a:off x="863600" y="1878013"/>
            <a:ext cx="1476375" cy="0"/>
          </a:xfrm>
          <a:prstGeom prst="line">
            <a:avLst/>
          </a:prstGeom>
          <a:noFill/>
          <a:ln w="19050">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51" name="Line 150"/>
          <p:cNvSpPr>
            <a:spLocks noChangeShapeType="1"/>
          </p:cNvSpPr>
          <p:nvPr/>
        </p:nvSpPr>
        <p:spPr bwMode="auto">
          <a:xfrm flipH="1">
            <a:off x="2573338" y="2060575"/>
            <a:ext cx="19050" cy="581025"/>
          </a:xfrm>
          <a:prstGeom prst="line">
            <a:avLst/>
          </a:prstGeom>
          <a:noFill/>
          <a:ln w="19050">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52" name="Line 151"/>
          <p:cNvSpPr>
            <a:spLocks noChangeShapeType="1"/>
          </p:cNvSpPr>
          <p:nvPr/>
        </p:nvSpPr>
        <p:spPr bwMode="auto">
          <a:xfrm flipH="1">
            <a:off x="3384550" y="2060575"/>
            <a:ext cx="0" cy="692150"/>
          </a:xfrm>
          <a:prstGeom prst="line">
            <a:avLst/>
          </a:prstGeom>
          <a:noFill/>
          <a:ln w="19050">
            <a:solidFill>
              <a:srgbClr val="FF00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53" name="Text Box 154"/>
          <p:cNvSpPr txBox="1">
            <a:spLocks noChangeArrowheads="1"/>
          </p:cNvSpPr>
          <p:nvPr/>
        </p:nvSpPr>
        <p:spPr bwMode="auto">
          <a:xfrm>
            <a:off x="1555750" y="2262188"/>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P</a:t>
            </a:r>
          </a:p>
        </p:txBody>
      </p:sp>
      <p:sp>
        <p:nvSpPr>
          <p:cNvPr id="20554" name="Text Box 155"/>
          <p:cNvSpPr txBox="1">
            <a:spLocks noChangeArrowheads="1"/>
          </p:cNvSpPr>
          <p:nvPr/>
        </p:nvSpPr>
        <p:spPr bwMode="auto">
          <a:xfrm>
            <a:off x="1716088" y="2262188"/>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C</a:t>
            </a:r>
          </a:p>
        </p:txBody>
      </p:sp>
      <p:sp>
        <p:nvSpPr>
          <p:cNvPr id="20555" name="Text Box 156"/>
          <p:cNvSpPr txBox="1">
            <a:spLocks noChangeArrowheads="1"/>
          </p:cNvSpPr>
          <p:nvPr/>
        </p:nvSpPr>
        <p:spPr bwMode="auto">
          <a:xfrm>
            <a:off x="2016125" y="2262188"/>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D</a:t>
            </a:r>
          </a:p>
        </p:txBody>
      </p:sp>
      <p:sp>
        <p:nvSpPr>
          <p:cNvPr id="20556" name="Text Box 157"/>
          <p:cNvSpPr txBox="1">
            <a:spLocks noChangeArrowheads="1"/>
          </p:cNvSpPr>
          <p:nvPr/>
        </p:nvSpPr>
        <p:spPr bwMode="auto">
          <a:xfrm>
            <a:off x="1187450" y="187801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D</a:t>
            </a:r>
          </a:p>
        </p:txBody>
      </p:sp>
      <p:sp>
        <p:nvSpPr>
          <p:cNvPr id="20557" name="Text Box 158"/>
          <p:cNvSpPr txBox="1">
            <a:spLocks noChangeArrowheads="1"/>
          </p:cNvSpPr>
          <p:nvPr/>
        </p:nvSpPr>
        <p:spPr bwMode="auto">
          <a:xfrm>
            <a:off x="539750" y="187801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X</a:t>
            </a:r>
          </a:p>
        </p:txBody>
      </p:sp>
      <p:sp>
        <p:nvSpPr>
          <p:cNvPr id="20558" name="Text Box 159"/>
          <p:cNvSpPr txBox="1">
            <a:spLocks noChangeArrowheads="1"/>
          </p:cNvSpPr>
          <p:nvPr/>
        </p:nvSpPr>
        <p:spPr bwMode="auto">
          <a:xfrm>
            <a:off x="576263" y="2917825"/>
            <a:ext cx="3603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T</a:t>
            </a:r>
          </a:p>
        </p:txBody>
      </p:sp>
      <p:sp>
        <p:nvSpPr>
          <p:cNvPr id="20559" name="Text Box 160"/>
          <p:cNvSpPr txBox="1">
            <a:spLocks noChangeArrowheads="1"/>
          </p:cNvSpPr>
          <p:nvPr/>
        </p:nvSpPr>
        <p:spPr bwMode="auto">
          <a:xfrm>
            <a:off x="1373188" y="2589213"/>
            <a:ext cx="360362"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
        <p:nvSpPr>
          <p:cNvPr id="20560" name="Text Box 161"/>
          <p:cNvSpPr txBox="1">
            <a:spLocks noChangeArrowheads="1"/>
          </p:cNvSpPr>
          <p:nvPr/>
        </p:nvSpPr>
        <p:spPr bwMode="auto">
          <a:xfrm>
            <a:off x="611188" y="3500438"/>
            <a:ext cx="360362" cy="15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XM</a:t>
            </a:r>
          </a:p>
        </p:txBody>
      </p:sp>
      <p:sp>
        <p:nvSpPr>
          <p:cNvPr id="20561" name="Text Box 162"/>
          <p:cNvSpPr txBox="1">
            <a:spLocks noChangeArrowheads="1"/>
          </p:cNvSpPr>
          <p:nvPr/>
        </p:nvSpPr>
        <p:spPr bwMode="auto">
          <a:xfrm>
            <a:off x="2016125" y="3500438"/>
            <a:ext cx="360363" cy="15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YM</a:t>
            </a:r>
          </a:p>
        </p:txBody>
      </p:sp>
      <p:sp>
        <p:nvSpPr>
          <p:cNvPr id="20562" name="Text Box 163"/>
          <p:cNvSpPr txBox="1">
            <a:spLocks noChangeArrowheads="1"/>
          </p:cNvSpPr>
          <p:nvPr/>
        </p:nvSpPr>
        <p:spPr bwMode="auto">
          <a:xfrm>
            <a:off x="2916238" y="3573463"/>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
        <p:nvSpPr>
          <p:cNvPr id="20563" name="Text Box 164"/>
          <p:cNvSpPr txBox="1">
            <a:spLocks noChangeArrowheads="1"/>
          </p:cNvSpPr>
          <p:nvPr/>
        </p:nvSpPr>
        <p:spPr bwMode="auto">
          <a:xfrm>
            <a:off x="3816350" y="3629025"/>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B</a:t>
            </a:r>
          </a:p>
        </p:txBody>
      </p:sp>
      <p:sp>
        <p:nvSpPr>
          <p:cNvPr id="20564" name="Line 165"/>
          <p:cNvSpPr>
            <a:spLocks noChangeShapeType="1"/>
          </p:cNvSpPr>
          <p:nvPr/>
        </p:nvSpPr>
        <p:spPr bwMode="auto">
          <a:xfrm flipH="1">
            <a:off x="4103688" y="2752725"/>
            <a:ext cx="0" cy="384175"/>
          </a:xfrm>
          <a:prstGeom prst="line">
            <a:avLst/>
          </a:prstGeom>
          <a:noFill/>
          <a:ln w="19050">
            <a:solidFill>
              <a:srgbClr val="FF00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65" name="Text Box 166"/>
          <p:cNvSpPr txBox="1">
            <a:spLocks noChangeArrowheads="1"/>
          </p:cNvSpPr>
          <p:nvPr/>
        </p:nvSpPr>
        <p:spPr bwMode="auto">
          <a:xfrm>
            <a:off x="3167063" y="4503738"/>
            <a:ext cx="360362"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M</a:t>
            </a:r>
          </a:p>
        </p:txBody>
      </p:sp>
      <p:sp>
        <p:nvSpPr>
          <p:cNvPr id="20566" name="Line 167"/>
          <p:cNvSpPr>
            <a:spLocks noChangeShapeType="1"/>
          </p:cNvSpPr>
          <p:nvPr/>
        </p:nvSpPr>
        <p:spPr bwMode="auto">
          <a:xfrm flipH="1">
            <a:off x="7019925" y="1293813"/>
            <a:ext cx="12700" cy="1239837"/>
          </a:xfrm>
          <a:prstGeom prst="line">
            <a:avLst/>
          </a:prstGeom>
          <a:noFill/>
          <a:ln w="1905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67" name="Line 168"/>
          <p:cNvSpPr>
            <a:spLocks noChangeShapeType="1"/>
          </p:cNvSpPr>
          <p:nvPr/>
        </p:nvSpPr>
        <p:spPr bwMode="auto">
          <a:xfrm flipH="1">
            <a:off x="7235825" y="1293813"/>
            <a:ext cx="12700" cy="1131887"/>
          </a:xfrm>
          <a:prstGeom prst="line">
            <a:avLst/>
          </a:prstGeom>
          <a:noFill/>
          <a:ln w="190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68" name="Line 169"/>
          <p:cNvSpPr>
            <a:spLocks noChangeShapeType="1"/>
          </p:cNvSpPr>
          <p:nvPr/>
        </p:nvSpPr>
        <p:spPr bwMode="auto">
          <a:xfrm flipH="1">
            <a:off x="7416800" y="1293813"/>
            <a:ext cx="12700" cy="1022350"/>
          </a:xfrm>
          <a:prstGeom prst="line">
            <a:avLst/>
          </a:prstGeom>
          <a:noFill/>
          <a:ln w="19050">
            <a:solidFill>
              <a:srgbClr val="00CC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69" name="Line 170"/>
          <p:cNvSpPr>
            <a:spLocks noChangeShapeType="1"/>
          </p:cNvSpPr>
          <p:nvPr/>
        </p:nvSpPr>
        <p:spPr bwMode="auto">
          <a:xfrm flipH="1">
            <a:off x="8712200" y="2316163"/>
            <a:ext cx="1588" cy="3063875"/>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70" name="Line 171"/>
          <p:cNvSpPr>
            <a:spLocks noChangeShapeType="1"/>
          </p:cNvSpPr>
          <p:nvPr/>
        </p:nvSpPr>
        <p:spPr bwMode="auto">
          <a:xfrm flipH="1">
            <a:off x="7416800" y="2316163"/>
            <a:ext cx="1303338" cy="0"/>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71" name="Line 172"/>
          <p:cNvSpPr>
            <a:spLocks noChangeShapeType="1"/>
          </p:cNvSpPr>
          <p:nvPr/>
        </p:nvSpPr>
        <p:spPr bwMode="auto">
          <a:xfrm>
            <a:off x="8424863" y="2425700"/>
            <a:ext cx="0" cy="639763"/>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72" name="Line 173"/>
          <p:cNvSpPr>
            <a:spLocks noChangeShapeType="1"/>
          </p:cNvSpPr>
          <p:nvPr/>
        </p:nvSpPr>
        <p:spPr bwMode="auto">
          <a:xfrm flipH="1">
            <a:off x="8208963" y="2533650"/>
            <a:ext cx="0" cy="547688"/>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73" name="Line 174"/>
          <p:cNvSpPr>
            <a:spLocks noChangeShapeType="1"/>
          </p:cNvSpPr>
          <p:nvPr/>
        </p:nvSpPr>
        <p:spPr bwMode="auto">
          <a:xfrm flipH="1">
            <a:off x="7993063" y="2624138"/>
            <a:ext cx="3175" cy="43656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74" name="Line 175"/>
          <p:cNvSpPr>
            <a:spLocks noChangeShapeType="1"/>
          </p:cNvSpPr>
          <p:nvPr/>
        </p:nvSpPr>
        <p:spPr bwMode="auto">
          <a:xfrm>
            <a:off x="7848600" y="2752725"/>
            <a:ext cx="0" cy="323850"/>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75" name="Text Box 176"/>
          <p:cNvSpPr txBox="1">
            <a:spLocks noChangeArrowheads="1"/>
          </p:cNvSpPr>
          <p:nvPr/>
        </p:nvSpPr>
        <p:spPr bwMode="auto">
          <a:xfrm>
            <a:off x="7559675" y="2752725"/>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B</a:t>
            </a:r>
          </a:p>
        </p:txBody>
      </p:sp>
      <p:sp>
        <p:nvSpPr>
          <p:cNvPr id="20576" name="Text Box 177"/>
          <p:cNvSpPr txBox="1">
            <a:spLocks noChangeArrowheads="1"/>
          </p:cNvSpPr>
          <p:nvPr/>
        </p:nvSpPr>
        <p:spPr bwMode="auto">
          <a:xfrm>
            <a:off x="7747000" y="273526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
        <p:nvSpPr>
          <p:cNvPr id="20577" name="Text Box 178"/>
          <p:cNvSpPr txBox="1">
            <a:spLocks noChangeArrowheads="1"/>
          </p:cNvSpPr>
          <p:nvPr/>
        </p:nvSpPr>
        <p:spPr bwMode="auto">
          <a:xfrm>
            <a:off x="7920038" y="2752725"/>
            <a:ext cx="3603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C</a:t>
            </a:r>
          </a:p>
        </p:txBody>
      </p:sp>
      <p:sp>
        <p:nvSpPr>
          <p:cNvPr id="20578" name="Text Box 179"/>
          <p:cNvSpPr txBox="1">
            <a:spLocks noChangeArrowheads="1"/>
          </p:cNvSpPr>
          <p:nvPr/>
        </p:nvSpPr>
        <p:spPr bwMode="auto">
          <a:xfrm>
            <a:off x="8135938" y="2752725"/>
            <a:ext cx="3603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D</a:t>
            </a:r>
          </a:p>
        </p:txBody>
      </p:sp>
      <p:sp>
        <p:nvSpPr>
          <p:cNvPr id="20579" name="Line 180"/>
          <p:cNvSpPr>
            <a:spLocks noChangeShapeType="1"/>
          </p:cNvSpPr>
          <p:nvPr/>
        </p:nvSpPr>
        <p:spPr bwMode="auto">
          <a:xfrm>
            <a:off x="7235825" y="2425700"/>
            <a:ext cx="1189038" cy="0"/>
          </a:xfrm>
          <a:prstGeom prst="line">
            <a:avLst/>
          </a:prstGeom>
          <a:noFill/>
          <a:ln w="190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80" name="Line 181"/>
          <p:cNvSpPr>
            <a:spLocks noChangeShapeType="1"/>
          </p:cNvSpPr>
          <p:nvPr/>
        </p:nvSpPr>
        <p:spPr bwMode="auto">
          <a:xfrm flipH="1" flipV="1">
            <a:off x="7019925" y="2533650"/>
            <a:ext cx="1189038" cy="0"/>
          </a:xfrm>
          <a:prstGeom prst="line">
            <a:avLst/>
          </a:prstGeom>
          <a:noFill/>
          <a:ln w="1905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81" name="Line 182"/>
          <p:cNvSpPr>
            <a:spLocks noChangeShapeType="1"/>
          </p:cNvSpPr>
          <p:nvPr/>
        </p:nvSpPr>
        <p:spPr bwMode="auto">
          <a:xfrm flipH="1">
            <a:off x="8172450" y="5049838"/>
            <a:ext cx="0" cy="330200"/>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82" name="Line 183"/>
          <p:cNvSpPr>
            <a:spLocks noChangeShapeType="1"/>
          </p:cNvSpPr>
          <p:nvPr/>
        </p:nvSpPr>
        <p:spPr bwMode="auto">
          <a:xfrm flipH="1">
            <a:off x="8183563" y="5380038"/>
            <a:ext cx="528637" cy="0"/>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83" name="Line 184"/>
          <p:cNvSpPr>
            <a:spLocks noChangeShapeType="1"/>
          </p:cNvSpPr>
          <p:nvPr/>
        </p:nvSpPr>
        <p:spPr bwMode="auto">
          <a:xfrm flipH="1">
            <a:off x="4967288" y="3573463"/>
            <a:ext cx="3175" cy="468312"/>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84" name="Line 185"/>
          <p:cNvSpPr>
            <a:spLocks noChangeShapeType="1"/>
          </p:cNvSpPr>
          <p:nvPr/>
        </p:nvSpPr>
        <p:spPr bwMode="auto">
          <a:xfrm flipH="1">
            <a:off x="6011863" y="3573463"/>
            <a:ext cx="0" cy="468312"/>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85" name="Line 186"/>
          <p:cNvSpPr>
            <a:spLocks noChangeShapeType="1"/>
          </p:cNvSpPr>
          <p:nvPr/>
        </p:nvSpPr>
        <p:spPr bwMode="auto">
          <a:xfrm>
            <a:off x="3635375" y="4498975"/>
            <a:ext cx="1873250" cy="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86" name="Line 187"/>
          <p:cNvSpPr>
            <a:spLocks noChangeShapeType="1"/>
          </p:cNvSpPr>
          <p:nvPr/>
        </p:nvSpPr>
        <p:spPr bwMode="auto">
          <a:xfrm flipH="1" flipV="1">
            <a:off x="3635375" y="3956050"/>
            <a:ext cx="0" cy="552450"/>
          </a:xfrm>
          <a:prstGeom prst="line">
            <a:avLst/>
          </a:prstGeom>
          <a:noFill/>
          <a:ln w="28575">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87" name="Line 188"/>
          <p:cNvSpPr>
            <a:spLocks noChangeShapeType="1"/>
          </p:cNvSpPr>
          <p:nvPr/>
        </p:nvSpPr>
        <p:spPr bwMode="auto">
          <a:xfrm flipH="1" flipV="1">
            <a:off x="5508625" y="4365625"/>
            <a:ext cx="0" cy="142875"/>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88" name="Text Box 189"/>
          <p:cNvSpPr txBox="1">
            <a:spLocks noChangeArrowheads="1"/>
          </p:cNvSpPr>
          <p:nvPr/>
        </p:nvSpPr>
        <p:spPr bwMode="auto">
          <a:xfrm>
            <a:off x="4500563" y="3683000"/>
            <a:ext cx="360362"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Y</a:t>
            </a:r>
          </a:p>
        </p:txBody>
      </p:sp>
      <p:sp>
        <p:nvSpPr>
          <p:cNvPr id="20589" name="Text Box 190"/>
          <p:cNvSpPr txBox="1">
            <a:spLocks noChangeArrowheads="1"/>
          </p:cNvSpPr>
          <p:nvPr/>
        </p:nvSpPr>
        <p:spPr bwMode="auto">
          <a:xfrm>
            <a:off x="6011863" y="3683000"/>
            <a:ext cx="360362"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X</a:t>
            </a:r>
          </a:p>
        </p:txBody>
      </p:sp>
      <p:sp>
        <p:nvSpPr>
          <p:cNvPr id="20590" name="Text Box 191"/>
          <p:cNvSpPr txBox="1">
            <a:spLocks noChangeArrowheads="1"/>
          </p:cNvSpPr>
          <p:nvPr/>
        </p:nvSpPr>
        <p:spPr bwMode="auto">
          <a:xfrm>
            <a:off x="4525963" y="2995613"/>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T</a:t>
            </a:r>
          </a:p>
        </p:txBody>
      </p:sp>
      <p:sp>
        <p:nvSpPr>
          <p:cNvPr id="20591" name="Text Box 192"/>
          <p:cNvSpPr txBox="1">
            <a:spLocks noChangeArrowheads="1"/>
          </p:cNvSpPr>
          <p:nvPr/>
        </p:nvSpPr>
        <p:spPr bwMode="auto">
          <a:xfrm>
            <a:off x="4716463" y="2981325"/>
            <a:ext cx="360362"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
        <p:nvSpPr>
          <p:cNvPr id="20592" name="Line 193"/>
          <p:cNvSpPr>
            <a:spLocks noChangeShapeType="1"/>
          </p:cNvSpPr>
          <p:nvPr/>
        </p:nvSpPr>
        <p:spPr bwMode="auto">
          <a:xfrm flipH="1">
            <a:off x="4967288" y="2644775"/>
            <a:ext cx="0" cy="639763"/>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93" name="Line 194"/>
          <p:cNvSpPr>
            <a:spLocks noChangeShapeType="1"/>
          </p:cNvSpPr>
          <p:nvPr/>
        </p:nvSpPr>
        <p:spPr bwMode="auto">
          <a:xfrm flipH="1">
            <a:off x="5111750" y="2752725"/>
            <a:ext cx="0" cy="531813"/>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94" name="Text Box 195"/>
          <p:cNvSpPr txBox="1">
            <a:spLocks noChangeArrowheads="1"/>
          </p:cNvSpPr>
          <p:nvPr/>
        </p:nvSpPr>
        <p:spPr bwMode="auto">
          <a:xfrm>
            <a:off x="4875213" y="2981325"/>
            <a:ext cx="360362"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B</a:t>
            </a:r>
          </a:p>
        </p:txBody>
      </p:sp>
      <p:sp>
        <p:nvSpPr>
          <p:cNvPr id="20595" name="Line 196"/>
          <p:cNvSpPr>
            <a:spLocks noChangeShapeType="1"/>
          </p:cNvSpPr>
          <p:nvPr/>
        </p:nvSpPr>
        <p:spPr bwMode="auto">
          <a:xfrm flipH="1">
            <a:off x="5256213" y="1233488"/>
            <a:ext cx="12700" cy="2052637"/>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96" name="Text Box 197"/>
          <p:cNvSpPr txBox="1">
            <a:spLocks noChangeArrowheads="1"/>
          </p:cNvSpPr>
          <p:nvPr/>
        </p:nvSpPr>
        <p:spPr bwMode="auto">
          <a:xfrm>
            <a:off x="5013325" y="298926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C</a:t>
            </a:r>
          </a:p>
        </p:txBody>
      </p:sp>
      <p:sp>
        <p:nvSpPr>
          <p:cNvPr id="20597" name="Line 198"/>
          <p:cNvSpPr>
            <a:spLocks noChangeShapeType="1"/>
          </p:cNvSpPr>
          <p:nvPr/>
        </p:nvSpPr>
        <p:spPr bwMode="auto">
          <a:xfrm flipH="1">
            <a:off x="5724525" y="1277938"/>
            <a:ext cx="1588" cy="1966912"/>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598" name="Text Box 199"/>
          <p:cNvSpPr txBox="1">
            <a:spLocks noChangeArrowheads="1"/>
          </p:cNvSpPr>
          <p:nvPr/>
        </p:nvSpPr>
        <p:spPr bwMode="auto">
          <a:xfrm>
            <a:off x="5400675" y="294481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D</a:t>
            </a:r>
          </a:p>
        </p:txBody>
      </p:sp>
      <p:sp>
        <p:nvSpPr>
          <p:cNvPr id="20599" name="Line 200"/>
          <p:cNvSpPr>
            <a:spLocks noChangeShapeType="1"/>
          </p:cNvSpPr>
          <p:nvPr/>
        </p:nvSpPr>
        <p:spPr bwMode="auto">
          <a:xfrm flipH="1">
            <a:off x="8172450" y="4076700"/>
            <a:ext cx="0" cy="527050"/>
          </a:xfrm>
          <a:prstGeom prst="line">
            <a:avLst/>
          </a:prstGeom>
          <a:noFill/>
          <a:ln w="19050">
            <a:solidFill>
              <a:srgbClr val="00CC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600" name="Line 201"/>
          <p:cNvSpPr>
            <a:spLocks noChangeShapeType="1"/>
          </p:cNvSpPr>
          <p:nvPr/>
        </p:nvSpPr>
        <p:spPr bwMode="auto">
          <a:xfrm flipH="1">
            <a:off x="8164513" y="3392488"/>
            <a:ext cx="7937" cy="347662"/>
          </a:xfrm>
          <a:prstGeom prst="line">
            <a:avLst/>
          </a:prstGeom>
          <a:noFill/>
          <a:ln w="19050">
            <a:solidFill>
              <a:srgbClr val="00CC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601" name="Text Box 202"/>
          <p:cNvSpPr txBox="1">
            <a:spLocks noChangeArrowheads="1"/>
          </p:cNvSpPr>
          <p:nvPr/>
        </p:nvSpPr>
        <p:spPr bwMode="auto">
          <a:xfrm>
            <a:off x="8243888" y="4329113"/>
            <a:ext cx="360362"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S</a:t>
            </a:r>
          </a:p>
        </p:txBody>
      </p:sp>
      <p:sp>
        <p:nvSpPr>
          <p:cNvPr id="20602" name="Line 203"/>
          <p:cNvSpPr>
            <a:spLocks noChangeShapeType="1"/>
          </p:cNvSpPr>
          <p:nvPr/>
        </p:nvSpPr>
        <p:spPr bwMode="auto">
          <a:xfrm flipH="1" flipV="1">
            <a:off x="7596188" y="4392613"/>
            <a:ext cx="569912" cy="12700"/>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603" name="Line 204"/>
          <p:cNvSpPr>
            <a:spLocks noChangeShapeType="1"/>
          </p:cNvSpPr>
          <p:nvPr/>
        </p:nvSpPr>
        <p:spPr bwMode="auto">
          <a:xfrm>
            <a:off x="7596188" y="2917825"/>
            <a:ext cx="0" cy="1474788"/>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604" name="Line 205"/>
          <p:cNvSpPr>
            <a:spLocks noChangeShapeType="1"/>
          </p:cNvSpPr>
          <p:nvPr/>
        </p:nvSpPr>
        <p:spPr bwMode="auto">
          <a:xfrm flipH="1" flipV="1">
            <a:off x="6156325" y="2932113"/>
            <a:ext cx="1427163" cy="12700"/>
          </a:xfrm>
          <a:prstGeom prst="line">
            <a:avLst/>
          </a:prstGeom>
          <a:noFill/>
          <a:ln w="190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605" name="Line 206"/>
          <p:cNvSpPr>
            <a:spLocks noChangeShapeType="1"/>
          </p:cNvSpPr>
          <p:nvPr/>
        </p:nvSpPr>
        <p:spPr bwMode="auto">
          <a:xfrm flipH="1">
            <a:off x="6156325" y="2917825"/>
            <a:ext cx="0" cy="385763"/>
          </a:xfrm>
          <a:prstGeom prst="line">
            <a:avLst/>
          </a:prstGeom>
          <a:noFill/>
          <a:ln w="19050">
            <a:solidFill>
              <a:srgbClr val="00CC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606" name="Line 207"/>
          <p:cNvSpPr>
            <a:spLocks noChangeShapeType="1"/>
          </p:cNvSpPr>
          <p:nvPr/>
        </p:nvSpPr>
        <p:spPr bwMode="auto">
          <a:xfrm>
            <a:off x="7343775" y="4613275"/>
            <a:ext cx="468313" cy="0"/>
          </a:xfrm>
          <a:prstGeom prst="line">
            <a:avLst/>
          </a:prstGeom>
          <a:noFill/>
          <a:ln w="19050">
            <a:solidFill>
              <a:schemeClr val="accent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607" name="Line 208"/>
          <p:cNvSpPr>
            <a:spLocks noChangeShapeType="1"/>
          </p:cNvSpPr>
          <p:nvPr/>
        </p:nvSpPr>
        <p:spPr bwMode="auto">
          <a:xfrm>
            <a:off x="7343775" y="4724400"/>
            <a:ext cx="323850" cy="0"/>
          </a:xfrm>
          <a:prstGeom prst="line">
            <a:avLst/>
          </a:prstGeom>
          <a:noFill/>
          <a:ln w="19050">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608" name="Line 209"/>
          <p:cNvSpPr>
            <a:spLocks noChangeShapeType="1"/>
          </p:cNvSpPr>
          <p:nvPr/>
        </p:nvSpPr>
        <p:spPr bwMode="auto">
          <a:xfrm>
            <a:off x="7524750" y="5159375"/>
            <a:ext cx="142875" cy="0"/>
          </a:xfrm>
          <a:prstGeom prst="line">
            <a:avLst/>
          </a:prstGeom>
          <a:noFill/>
          <a:ln w="19050">
            <a:solidFill>
              <a:schemeClr val="accent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609" name="Line 210"/>
          <p:cNvSpPr>
            <a:spLocks noChangeShapeType="1"/>
          </p:cNvSpPr>
          <p:nvPr/>
        </p:nvSpPr>
        <p:spPr bwMode="auto">
          <a:xfrm>
            <a:off x="7524750" y="5707063"/>
            <a:ext cx="142875" cy="0"/>
          </a:xfrm>
          <a:prstGeom prst="line">
            <a:avLst/>
          </a:prstGeom>
          <a:noFill/>
          <a:ln w="19050">
            <a:solidFill>
              <a:schemeClr val="accent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610" name="Line 211"/>
          <p:cNvSpPr>
            <a:spLocks noChangeShapeType="1"/>
          </p:cNvSpPr>
          <p:nvPr/>
        </p:nvSpPr>
        <p:spPr bwMode="auto">
          <a:xfrm flipV="1">
            <a:off x="7667625" y="4724400"/>
            <a:ext cx="0" cy="982663"/>
          </a:xfrm>
          <a:prstGeom prst="line">
            <a:avLst/>
          </a:prstGeom>
          <a:noFill/>
          <a:ln w="19050">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611" name="Line 212"/>
          <p:cNvSpPr>
            <a:spLocks noChangeShapeType="1"/>
          </p:cNvSpPr>
          <p:nvPr/>
        </p:nvSpPr>
        <p:spPr bwMode="auto">
          <a:xfrm flipH="1">
            <a:off x="6948488" y="4176713"/>
            <a:ext cx="3175" cy="327025"/>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612" name="Text Box 213"/>
          <p:cNvSpPr txBox="1">
            <a:spLocks noChangeArrowheads="1"/>
          </p:cNvSpPr>
          <p:nvPr/>
        </p:nvSpPr>
        <p:spPr bwMode="auto">
          <a:xfrm>
            <a:off x="5832475" y="294481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S</a:t>
            </a:r>
          </a:p>
        </p:txBody>
      </p:sp>
      <p:sp>
        <p:nvSpPr>
          <p:cNvPr id="20613" name="Line 214"/>
          <p:cNvSpPr>
            <a:spLocks noChangeShapeType="1"/>
          </p:cNvSpPr>
          <p:nvPr/>
        </p:nvSpPr>
        <p:spPr bwMode="auto">
          <a:xfrm flipH="1">
            <a:off x="7056438" y="2752725"/>
            <a:ext cx="0" cy="1149350"/>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614" name="Line 215"/>
          <p:cNvSpPr>
            <a:spLocks noChangeShapeType="1"/>
          </p:cNvSpPr>
          <p:nvPr/>
        </p:nvSpPr>
        <p:spPr bwMode="auto">
          <a:xfrm flipH="1">
            <a:off x="6732588" y="2644775"/>
            <a:ext cx="0" cy="125730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615" name="Text Box 216"/>
          <p:cNvSpPr txBox="1">
            <a:spLocks noChangeArrowheads="1"/>
          </p:cNvSpPr>
          <p:nvPr/>
        </p:nvSpPr>
        <p:spPr bwMode="auto">
          <a:xfrm>
            <a:off x="6767513" y="3408363"/>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B</a:t>
            </a:r>
          </a:p>
        </p:txBody>
      </p:sp>
      <p:sp>
        <p:nvSpPr>
          <p:cNvPr id="20616" name="Text Box 217"/>
          <p:cNvSpPr txBox="1">
            <a:spLocks noChangeArrowheads="1"/>
          </p:cNvSpPr>
          <p:nvPr/>
        </p:nvSpPr>
        <p:spPr bwMode="auto">
          <a:xfrm>
            <a:off x="6410325" y="3422650"/>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
        <p:nvSpPr>
          <p:cNvPr id="20617" name="Text Box 219"/>
          <p:cNvSpPr txBox="1">
            <a:spLocks noChangeArrowheads="1"/>
          </p:cNvSpPr>
          <p:nvPr/>
        </p:nvSpPr>
        <p:spPr bwMode="auto">
          <a:xfrm>
            <a:off x="3846513" y="4516438"/>
            <a:ext cx="3603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U</a:t>
            </a:r>
          </a:p>
        </p:txBody>
      </p:sp>
      <p:sp>
        <p:nvSpPr>
          <p:cNvPr id="20618" name="Text Box 220"/>
          <p:cNvSpPr txBox="1">
            <a:spLocks noChangeArrowheads="1"/>
          </p:cNvSpPr>
          <p:nvPr/>
        </p:nvSpPr>
        <p:spPr bwMode="auto">
          <a:xfrm>
            <a:off x="8310563" y="5133975"/>
            <a:ext cx="3603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E</a:t>
            </a:r>
          </a:p>
        </p:txBody>
      </p:sp>
      <p:sp>
        <p:nvSpPr>
          <p:cNvPr id="20619" name="Text Box 221"/>
          <p:cNvSpPr txBox="1">
            <a:spLocks noChangeArrowheads="1"/>
          </p:cNvSpPr>
          <p:nvPr/>
        </p:nvSpPr>
        <p:spPr bwMode="auto">
          <a:xfrm>
            <a:off x="4716463" y="4760913"/>
            <a:ext cx="1260475" cy="192722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latin typeface="宋体" panose="02010600030101010101" pitchFamily="2" charset="-122"/>
              </a:rPr>
              <a:t>A  </a:t>
            </a:r>
            <a:r>
              <a:rPr lang="zh-CN" altLang="en-US" sz="1200">
                <a:latin typeface="宋体" panose="02010600030101010101" pitchFamily="2" charset="-122"/>
              </a:rPr>
              <a:t>累加器</a:t>
            </a:r>
            <a:r>
              <a:rPr lang="en-US" altLang="zh-CN" sz="1200">
                <a:latin typeface="宋体" panose="02010600030101010101" pitchFamily="2" charset="-122"/>
              </a:rPr>
              <a:t>A</a:t>
            </a:r>
          </a:p>
          <a:p>
            <a:pPr eaLnBrk="1" hangingPunct="1"/>
            <a:r>
              <a:rPr lang="en-US" altLang="zh-CN" sz="1200">
                <a:latin typeface="宋体" panose="02010600030101010101" pitchFamily="2" charset="-122"/>
              </a:rPr>
              <a:t>B  </a:t>
            </a:r>
            <a:r>
              <a:rPr lang="zh-CN" altLang="en-US" sz="1200">
                <a:latin typeface="宋体" panose="02010600030101010101" pitchFamily="2" charset="-122"/>
              </a:rPr>
              <a:t>累加器</a:t>
            </a:r>
            <a:r>
              <a:rPr lang="en-US" altLang="zh-CN" sz="1200">
                <a:latin typeface="宋体" panose="02010600030101010101" pitchFamily="2" charset="-122"/>
              </a:rPr>
              <a:t>B</a:t>
            </a:r>
          </a:p>
          <a:p>
            <a:pPr eaLnBrk="1" hangingPunct="1"/>
            <a:r>
              <a:rPr lang="en-US" altLang="zh-CN" sz="1200">
                <a:latin typeface="宋体" panose="02010600030101010101" pitchFamily="2" charset="-122"/>
              </a:rPr>
              <a:t>C  CB</a:t>
            </a:r>
            <a:r>
              <a:rPr lang="zh-CN" altLang="en-US" sz="1200">
                <a:latin typeface="宋体" panose="02010600030101010101" pitchFamily="2" charset="-122"/>
              </a:rPr>
              <a:t>数据总线</a:t>
            </a:r>
          </a:p>
          <a:p>
            <a:pPr eaLnBrk="1" hangingPunct="1"/>
            <a:r>
              <a:rPr lang="en-US" altLang="zh-CN" sz="1200">
                <a:latin typeface="宋体" panose="02010600030101010101" pitchFamily="2" charset="-122"/>
              </a:rPr>
              <a:t>D  DB</a:t>
            </a:r>
            <a:r>
              <a:rPr lang="zh-CN" altLang="en-US" sz="1200">
                <a:latin typeface="宋体" panose="02010600030101010101" pitchFamily="2" charset="-122"/>
              </a:rPr>
              <a:t>数据总线</a:t>
            </a:r>
          </a:p>
          <a:p>
            <a:pPr eaLnBrk="1" hangingPunct="1"/>
            <a:r>
              <a:rPr lang="en-US" altLang="zh-CN" sz="1200">
                <a:latin typeface="宋体" panose="02010600030101010101" pitchFamily="2" charset="-122"/>
              </a:rPr>
              <a:t>E  EB</a:t>
            </a:r>
            <a:r>
              <a:rPr lang="zh-CN" altLang="en-US" sz="1200">
                <a:latin typeface="宋体" panose="02010600030101010101" pitchFamily="2" charset="-122"/>
              </a:rPr>
              <a:t>数据总线</a:t>
            </a:r>
          </a:p>
          <a:p>
            <a:pPr eaLnBrk="1" hangingPunct="1"/>
            <a:r>
              <a:rPr lang="en-US" altLang="zh-CN" sz="1200">
                <a:latin typeface="宋体" panose="02010600030101010101" pitchFamily="2" charset="-122"/>
              </a:rPr>
              <a:t>M  MAC</a:t>
            </a:r>
            <a:r>
              <a:rPr lang="zh-CN" altLang="en-US" sz="1200">
                <a:latin typeface="宋体" panose="02010600030101010101" pitchFamily="2" charset="-122"/>
              </a:rPr>
              <a:t>单元</a:t>
            </a:r>
          </a:p>
          <a:p>
            <a:pPr eaLnBrk="1" hangingPunct="1"/>
            <a:r>
              <a:rPr lang="en-US" altLang="zh-CN" sz="1200">
                <a:latin typeface="宋体" panose="02010600030101010101" pitchFamily="2" charset="-122"/>
              </a:rPr>
              <a:t>P  PB</a:t>
            </a:r>
            <a:r>
              <a:rPr lang="zh-CN" altLang="en-US" sz="1200">
                <a:latin typeface="宋体" panose="02010600030101010101" pitchFamily="2" charset="-122"/>
              </a:rPr>
              <a:t>程序总线</a:t>
            </a:r>
          </a:p>
          <a:p>
            <a:pPr eaLnBrk="1" hangingPunct="1"/>
            <a:r>
              <a:rPr lang="en-US" altLang="zh-CN" sz="1200">
                <a:latin typeface="宋体" panose="02010600030101010101" pitchFamily="2" charset="-122"/>
              </a:rPr>
              <a:t>S  </a:t>
            </a:r>
            <a:r>
              <a:rPr lang="zh-CN" altLang="en-US" sz="1200">
                <a:latin typeface="宋体" panose="02010600030101010101" pitchFamily="2" charset="-122"/>
              </a:rPr>
              <a:t>桶形移位</a:t>
            </a:r>
          </a:p>
          <a:p>
            <a:pPr eaLnBrk="1" hangingPunct="1"/>
            <a:r>
              <a:rPr lang="en-US" altLang="zh-CN" sz="1200">
                <a:latin typeface="宋体" panose="02010600030101010101" pitchFamily="2" charset="-122"/>
              </a:rPr>
              <a:t>T  T</a:t>
            </a:r>
            <a:r>
              <a:rPr lang="zh-CN" altLang="en-US" sz="1200">
                <a:latin typeface="宋体" panose="02010600030101010101" pitchFamily="2" charset="-122"/>
              </a:rPr>
              <a:t>寄存器</a:t>
            </a:r>
          </a:p>
          <a:p>
            <a:pPr eaLnBrk="1" hangingPunct="1"/>
            <a:r>
              <a:rPr lang="en-US" altLang="zh-CN" sz="1200">
                <a:latin typeface="宋体" panose="02010600030101010101" pitchFamily="2" charset="-122"/>
              </a:rPr>
              <a:t>U  ALU</a:t>
            </a:r>
          </a:p>
        </p:txBody>
      </p:sp>
      <p:sp>
        <p:nvSpPr>
          <p:cNvPr id="20620" name="Text Box 223"/>
          <p:cNvSpPr txBox="1">
            <a:spLocks noChangeArrowheads="1"/>
          </p:cNvSpPr>
          <p:nvPr/>
        </p:nvSpPr>
        <p:spPr bwMode="auto">
          <a:xfrm>
            <a:off x="2447925" y="3789363"/>
            <a:ext cx="3603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B</a:t>
            </a:r>
          </a:p>
        </p:txBody>
      </p:sp>
      <p:sp>
        <p:nvSpPr>
          <p:cNvPr id="20621" name="Text Box 224"/>
          <p:cNvSpPr txBox="1">
            <a:spLocks noChangeArrowheads="1"/>
          </p:cNvSpPr>
          <p:nvPr/>
        </p:nvSpPr>
        <p:spPr bwMode="auto">
          <a:xfrm>
            <a:off x="2195513" y="3897313"/>
            <a:ext cx="360362"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bwMode="auto">
          <a:xfrm>
            <a:off x="1371600" y="1143000"/>
            <a:ext cx="64008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ea typeface="仿宋_GB2312" pitchFamily="49" charset="-122"/>
              </a:rPr>
              <a:t>1. </a:t>
            </a:r>
            <a:r>
              <a:rPr lang="zh-CN" altLang="en-US" b="1">
                <a:solidFill>
                  <a:srgbClr val="FF0000"/>
                </a:solidFill>
                <a:ea typeface="仿宋_GB2312" pitchFamily="49" charset="-122"/>
              </a:rPr>
              <a:t>算术逻辑运算单元</a:t>
            </a:r>
            <a:r>
              <a:rPr lang="zh-CN" altLang="en-US"/>
              <a:t> </a:t>
            </a:r>
          </a:p>
        </p:txBody>
      </p:sp>
      <p:sp>
        <p:nvSpPr>
          <p:cNvPr id="21507" name="Rectangle 3"/>
          <p:cNvSpPr>
            <a:spLocks noGrp="1" noChangeArrowheads="1"/>
          </p:cNvSpPr>
          <p:nvPr>
            <p:ph idx="1"/>
          </p:nvPr>
        </p:nvSpPr>
        <p:spPr bwMode="auto">
          <a:xfrm>
            <a:off x="1371600" y="2362200"/>
            <a:ext cx="5410200" cy="3352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b="1">
                <a:latin typeface="宋体" panose="02010600030101010101" pitchFamily="2" charset="-122"/>
              </a:rPr>
              <a:t>ALU</a:t>
            </a:r>
            <a:r>
              <a:rPr lang="zh-CN" altLang="en-US" sz="3600" b="1">
                <a:latin typeface="宋体" panose="02010600030101010101" pitchFamily="2" charset="-122"/>
              </a:rPr>
              <a:t>如何获取数据</a:t>
            </a:r>
            <a:r>
              <a:rPr lang="zh-CN" altLang="en-US" sz="3600" b="1"/>
              <a:t> </a:t>
            </a:r>
          </a:p>
          <a:p>
            <a:pPr eaLnBrk="1" hangingPunct="1"/>
            <a:r>
              <a:rPr lang="en-US" altLang="zh-CN" sz="3600" b="1">
                <a:latin typeface="宋体" panose="02010600030101010101" pitchFamily="2" charset="-122"/>
              </a:rPr>
              <a:t>ALU</a:t>
            </a:r>
            <a:r>
              <a:rPr lang="zh-CN" altLang="en-US" sz="3600" b="1">
                <a:latin typeface="宋体" panose="02010600030101010101" pitchFamily="2" charset="-122"/>
              </a:rPr>
              <a:t>输出送往何方</a:t>
            </a:r>
            <a:r>
              <a:rPr lang="zh-CN" altLang="en-US" sz="3600" b="1"/>
              <a:t> </a:t>
            </a:r>
          </a:p>
          <a:p>
            <a:pPr eaLnBrk="1" hangingPunct="1"/>
            <a:r>
              <a:rPr lang="zh-CN" altLang="en-US" sz="3600" b="1">
                <a:latin typeface="宋体" panose="02010600030101010101" pitchFamily="2" charset="-122"/>
              </a:rPr>
              <a:t>溢出怎么办</a:t>
            </a:r>
            <a:r>
              <a:rPr lang="zh-CN" altLang="en-US" sz="3600" b="1"/>
              <a:t> </a:t>
            </a:r>
          </a:p>
          <a:p>
            <a:pPr eaLnBrk="1" hangingPunct="1"/>
            <a:r>
              <a:rPr lang="zh-CN" altLang="en-US" sz="3600" b="1">
                <a:latin typeface="宋体" panose="02010600030101010101" pitchFamily="2" charset="-122"/>
              </a:rPr>
              <a:t>进位位的作用</a:t>
            </a:r>
            <a:r>
              <a:rPr lang="zh-CN" altLang="en-US" sz="3600" b="1"/>
              <a:t> </a:t>
            </a:r>
          </a:p>
          <a:p>
            <a:pPr eaLnBrk="1" hangingPunct="1"/>
            <a:r>
              <a:rPr lang="zh-CN" altLang="en-US" sz="3600" b="1">
                <a:latin typeface="宋体" panose="02010600030101010101" pitchFamily="2" charset="-122"/>
              </a:rPr>
              <a:t>什么是双</a:t>
            </a:r>
            <a:r>
              <a:rPr lang="en-US" altLang="zh-CN" sz="3600" b="1">
                <a:latin typeface="宋体" panose="02010600030101010101" pitchFamily="2" charset="-122"/>
              </a:rPr>
              <a:t>16</a:t>
            </a:r>
            <a:r>
              <a:rPr lang="zh-CN" altLang="en-US" sz="3600" b="1">
                <a:latin typeface="宋体" panose="02010600030101010101" pitchFamily="2" charset="-122"/>
              </a:rPr>
              <a:t>位算术运算</a:t>
            </a:r>
            <a:r>
              <a:rPr lang="zh-CN" altLang="en-US" sz="3600"/>
              <a:t> </a:t>
            </a:r>
          </a:p>
        </p:txBody>
      </p:sp>
      <p:sp>
        <p:nvSpPr>
          <p:cNvPr id="2150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BA94A9C-2D23-425C-8922-D383675308DA}" type="slidenum">
              <a:rPr lang="en-US" altLang="zh-CN" sz="1400" b="0"/>
              <a:pPr eaLnBrk="1" hangingPunct="1"/>
              <a:t>9</a:t>
            </a:fld>
            <a:endParaRPr lang="en-US" altLang="zh-CN" sz="1400" b="0"/>
          </a:p>
        </p:txBody>
      </p:sp>
      <p:sp>
        <p:nvSpPr>
          <p:cNvPr id="518149" name="AutoShape 5" descr="小棋盘"/>
          <p:cNvSpPr>
            <a:spLocks noChangeArrowheads="1"/>
          </p:cNvSpPr>
          <p:nvPr/>
        </p:nvSpPr>
        <p:spPr bwMode="auto">
          <a:xfrm>
            <a:off x="5867400" y="2438400"/>
            <a:ext cx="1981200" cy="1143000"/>
          </a:xfrm>
          <a:prstGeom prst="wedgeRoundRectCallout">
            <a:avLst>
              <a:gd name="adj1" fmla="val -77245"/>
              <a:gd name="adj2" fmla="val -17083"/>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solidFill>
                  <a:schemeClr val="tx2"/>
                </a:solidFill>
              </a:rPr>
              <a:t>X</a:t>
            </a:r>
            <a:r>
              <a:rPr lang="zh-CN" altLang="en-US" sz="2800">
                <a:solidFill>
                  <a:schemeClr val="tx2"/>
                </a:solidFill>
              </a:rPr>
              <a:t>输入</a:t>
            </a:r>
            <a:r>
              <a:rPr lang="zh-CN" altLang="en-US" sz="2800"/>
              <a:t>端</a:t>
            </a:r>
          </a:p>
          <a:p>
            <a:pPr algn="ctr" eaLnBrk="1" hangingPunct="1"/>
            <a:r>
              <a:rPr lang="en-US" altLang="zh-CN" sz="2800">
                <a:solidFill>
                  <a:schemeClr val="tx2"/>
                </a:solidFill>
              </a:rPr>
              <a:t>Y</a:t>
            </a:r>
            <a:r>
              <a:rPr lang="zh-CN" altLang="en-US" sz="2800">
                <a:solidFill>
                  <a:schemeClr val="tx2"/>
                </a:solidFill>
              </a:rPr>
              <a:t>输入</a:t>
            </a:r>
            <a:r>
              <a:rPr lang="zh-CN" altLang="en-US" sz="2800"/>
              <a:t>端</a:t>
            </a:r>
          </a:p>
        </p:txBody>
      </p:sp>
      <p:sp>
        <p:nvSpPr>
          <p:cNvPr id="518150" name="AutoShape 6" descr="小棋盘"/>
          <p:cNvSpPr>
            <a:spLocks noChangeArrowheads="1"/>
          </p:cNvSpPr>
          <p:nvPr/>
        </p:nvSpPr>
        <p:spPr bwMode="auto">
          <a:xfrm>
            <a:off x="6580188" y="3886200"/>
            <a:ext cx="2106612" cy="2057400"/>
          </a:xfrm>
          <a:prstGeom prst="wedgeRoundRectCallout">
            <a:avLst>
              <a:gd name="adj1" fmla="val -127245"/>
              <a:gd name="adj2" fmla="val -69676"/>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a:solidFill>
                  <a:srgbClr val="FF0066"/>
                </a:solidFill>
              </a:rPr>
              <a:t>输出为</a:t>
            </a:r>
            <a:r>
              <a:rPr lang="en-US" altLang="zh-CN" sz="3200">
                <a:solidFill>
                  <a:srgbClr val="FF0066"/>
                </a:solidFill>
              </a:rPr>
              <a:t>40</a:t>
            </a:r>
            <a:r>
              <a:rPr lang="zh-CN" altLang="en-US" sz="3200">
                <a:solidFill>
                  <a:srgbClr val="FF0066"/>
                </a:solidFill>
              </a:rPr>
              <a:t>位，被送往累加器</a:t>
            </a:r>
            <a:r>
              <a:rPr lang="en-US" altLang="zh-CN" sz="3200">
                <a:solidFill>
                  <a:schemeClr val="tx2"/>
                </a:solidFill>
              </a:rPr>
              <a:t>A</a:t>
            </a:r>
            <a:r>
              <a:rPr lang="zh-CN" altLang="en-US" sz="3200">
                <a:solidFill>
                  <a:schemeClr val="tx2"/>
                </a:solidFill>
              </a:rPr>
              <a:t>或</a:t>
            </a:r>
            <a:r>
              <a:rPr lang="en-US" altLang="zh-CN" sz="3200">
                <a:solidFill>
                  <a:schemeClr val="tx2"/>
                </a:solidFill>
              </a:rPr>
              <a:t>B</a:t>
            </a:r>
            <a:endParaRPr lang="en-US" altLang="zh-CN" sz="2800"/>
          </a:p>
        </p:txBody>
      </p:sp>
      <p:sp>
        <p:nvSpPr>
          <p:cNvPr id="518151" name="Rectangle 7" descr="小棋盘"/>
          <p:cNvSpPr>
            <a:spLocks noChangeArrowheads="1"/>
          </p:cNvSpPr>
          <p:nvPr/>
        </p:nvSpPr>
        <p:spPr bwMode="auto">
          <a:xfrm>
            <a:off x="395288" y="2565400"/>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18146"/>
                                        </p:tgtEl>
                                        <p:attrNameLst>
                                          <p:attrName>style.visibility</p:attrName>
                                        </p:attrNameLst>
                                      </p:cBhvr>
                                      <p:to>
                                        <p:strVal val="visible"/>
                                      </p:to>
                                    </p:set>
                                    <p:anim calcmode="lin" valueType="num">
                                      <p:cBhvr additive="base">
                                        <p:cTn id="7" dur="500" fill="hold"/>
                                        <p:tgtEl>
                                          <p:spTgt spid="518146"/>
                                        </p:tgtEl>
                                        <p:attrNameLst>
                                          <p:attrName>ppt_x</p:attrName>
                                        </p:attrNameLst>
                                      </p:cBhvr>
                                      <p:tavLst>
                                        <p:tav tm="0">
                                          <p:val>
                                            <p:strVal val="0-#ppt_w/2"/>
                                          </p:val>
                                        </p:tav>
                                        <p:tav tm="100000">
                                          <p:val>
                                            <p:strVal val="#ppt_x"/>
                                          </p:val>
                                        </p:tav>
                                      </p:tavLst>
                                    </p:anim>
                                    <p:anim calcmode="lin" valueType="num">
                                      <p:cBhvr additive="base">
                                        <p:cTn id="8" dur="500" fill="hold"/>
                                        <p:tgtEl>
                                          <p:spTgt spid="51814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518149"/>
                                        </p:tgtEl>
                                        <p:attrNameLst>
                                          <p:attrName>style.visibility</p:attrName>
                                        </p:attrNameLst>
                                      </p:cBhvr>
                                      <p:to>
                                        <p:strVal val="visible"/>
                                      </p:to>
                                    </p:set>
                                    <p:anim calcmode="lin" valueType="num">
                                      <p:cBhvr additive="base">
                                        <p:cTn id="12" dur="500" fill="hold"/>
                                        <p:tgtEl>
                                          <p:spTgt spid="518149"/>
                                        </p:tgtEl>
                                        <p:attrNameLst>
                                          <p:attrName>ppt_x</p:attrName>
                                        </p:attrNameLst>
                                      </p:cBhvr>
                                      <p:tavLst>
                                        <p:tav tm="0">
                                          <p:val>
                                            <p:strVal val="1+#ppt_w/2"/>
                                          </p:val>
                                        </p:tav>
                                        <p:tav tm="100000">
                                          <p:val>
                                            <p:strVal val="#ppt_x"/>
                                          </p:val>
                                        </p:tav>
                                      </p:tavLst>
                                    </p:anim>
                                    <p:anim calcmode="lin" valueType="num">
                                      <p:cBhvr additive="base">
                                        <p:cTn id="13" dur="500" fill="hold"/>
                                        <p:tgtEl>
                                          <p:spTgt spid="51814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518150"/>
                                        </p:tgtEl>
                                        <p:attrNameLst>
                                          <p:attrName>style.visibility</p:attrName>
                                        </p:attrNameLst>
                                      </p:cBhvr>
                                      <p:to>
                                        <p:strVal val="visible"/>
                                      </p:to>
                                    </p:set>
                                    <p:anim calcmode="lin" valueType="num">
                                      <p:cBhvr additive="base">
                                        <p:cTn id="17" dur="500" fill="hold"/>
                                        <p:tgtEl>
                                          <p:spTgt spid="518150"/>
                                        </p:tgtEl>
                                        <p:attrNameLst>
                                          <p:attrName>ppt_x</p:attrName>
                                        </p:attrNameLst>
                                      </p:cBhvr>
                                      <p:tavLst>
                                        <p:tav tm="0">
                                          <p:val>
                                            <p:strVal val="1+#ppt_w/2"/>
                                          </p:val>
                                        </p:tav>
                                        <p:tav tm="100000">
                                          <p:val>
                                            <p:strVal val="#ppt_x"/>
                                          </p:val>
                                        </p:tav>
                                      </p:tavLst>
                                    </p:anim>
                                    <p:anim calcmode="lin" valueType="num">
                                      <p:cBhvr additive="base">
                                        <p:cTn id="18" dur="500" fill="hold"/>
                                        <p:tgtEl>
                                          <p:spTgt spid="518150"/>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12" presetClass="entr" presetSubtype="4" fill="hold" grpId="0" nodeType="afterEffect">
                                  <p:stCondLst>
                                    <p:cond delay="0"/>
                                  </p:stCondLst>
                                  <p:childTnLst>
                                    <p:set>
                                      <p:cBhvr>
                                        <p:cTn id="21" dur="1" fill="hold">
                                          <p:stCondLst>
                                            <p:cond delay="0"/>
                                          </p:stCondLst>
                                        </p:cTn>
                                        <p:tgtEl>
                                          <p:spTgt spid="518151">
                                            <p:txEl>
                                              <p:charRg st="4294967295" end="4294967295"/>
                                            </p:txEl>
                                          </p:spTgt>
                                        </p:tgtEl>
                                        <p:attrNameLst>
                                          <p:attrName>style.visibility</p:attrName>
                                        </p:attrNameLst>
                                      </p:cBhvr>
                                      <p:to>
                                        <p:strVal val="visible"/>
                                      </p:to>
                                    </p:set>
                                    <p:animEffect transition="in" filter="slide(fromBottom)">
                                      <p:cBhvr>
                                        <p:cTn id="22" dur="500"/>
                                        <p:tgtEl>
                                          <p:spTgt spid="518151">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46" grpId="0" autoUpdateAnimBg="0"/>
      <p:bldP spid="518149" grpId="0" animBg="1" autoUpdateAnimBg="0"/>
      <p:bldP spid="518150" grpId="0" animBg="1" autoUpdateAnimBg="0"/>
      <p:bldP spid="51815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A7620192-DEEA-4963-A86D-06859DA53E54}" type="slidenum">
              <a:rPr lang="en-US" altLang="zh-CN" sz="1400" b="0"/>
              <a:pPr eaLnBrk="1" hangingPunct="1"/>
              <a:t>10</a:t>
            </a:fld>
            <a:endParaRPr lang="en-US" altLang="zh-CN" sz="1400" b="0"/>
          </a:p>
        </p:txBody>
      </p:sp>
      <p:sp>
        <p:nvSpPr>
          <p:cNvPr id="22531" name="AutoShape 17"/>
          <p:cNvSpPr>
            <a:spLocks noChangeArrowheads="1"/>
          </p:cNvSpPr>
          <p:nvPr/>
        </p:nvSpPr>
        <p:spPr bwMode="auto">
          <a:xfrm>
            <a:off x="3552825" y="4699000"/>
            <a:ext cx="2481263" cy="1285875"/>
          </a:xfrm>
          <a:custGeom>
            <a:avLst/>
            <a:gdLst>
              <a:gd name="T0" fmla="*/ 249401878 w 21600"/>
              <a:gd name="T1" fmla="*/ 38274904 h 21600"/>
              <a:gd name="T2" fmla="*/ 142515482 w 21600"/>
              <a:gd name="T3" fmla="*/ 76549748 h 21600"/>
              <a:gd name="T4" fmla="*/ 35628870 w 21600"/>
              <a:gd name="T5" fmla="*/ 38274904 h 21600"/>
              <a:gd name="T6" fmla="*/ 142515482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6600"/>
          </a:solidFill>
          <a:ln w="9525">
            <a:solidFill>
              <a:srgbClr val="FF6600"/>
            </a:solidFill>
            <a:miter lim="800000"/>
            <a:headEnd/>
            <a:tailEnd/>
          </a:ln>
        </p:spPr>
        <p:txBody>
          <a:bodyPr wrap="none" anchor="ctr"/>
          <a:lstStyle/>
          <a:p>
            <a:endParaRPr lang="zh-CN" altLang="en-US"/>
          </a:p>
        </p:txBody>
      </p:sp>
      <p:sp>
        <p:nvSpPr>
          <p:cNvPr id="22532" name="Text Box 18"/>
          <p:cNvSpPr txBox="1">
            <a:spLocks noChangeArrowheads="1"/>
          </p:cNvSpPr>
          <p:nvPr/>
        </p:nvSpPr>
        <p:spPr bwMode="auto">
          <a:xfrm>
            <a:off x="3851275" y="4760913"/>
            <a:ext cx="323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solidFill>
                  <a:schemeClr val="hlink"/>
                </a:solidFill>
              </a:rPr>
              <a:t>Y</a:t>
            </a:r>
          </a:p>
        </p:txBody>
      </p:sp>
      <p:sp>
        <p:nvSpPr>
          <p:cNvPr id="22533" name="Text Box 19"/>
          <p:cNvSpPr txBox="1">
            <a:spLocks noChangeArrowheads="1"/>
          </p:cNvSpPr>
          <p:nvPr/>
        </p:nvSpPr>
        <p:spPr bwMode="auto">
          <a:xfrm>
            <a:off x="5364163" y="4760913"/>
            <a:ext cx="3333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solidFill>
                  <a:schemeClr val="hlink"/>
                </a:solidFill>
              </a:rPr>
              <a:t>X</a:t>
            </a:r>
          </a:p>
        </p:txBody>
      </p:sp>
      <p:sp>
        <p:nvSpPr>
          <p:cNvPr id="22534" name="Rectangle 20"/>
          <p:cNvSpPr>
            <a:spLocks noChangeArrowheads="1"/>
          </p:cNvSpPr>
          <p:nvPr/>
        </p:nvSpPr>
        <p:spPr bwMode="auto">
          <a:xfrm>
            <a:off x="4171950" y="4652963"/>
            <a:ext cx="1201738" cy="263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35" name="Text Box 22"/>
          <p:cNvSpPr txBox="1">
            <a:spLocks noChangeArrowheads="1"/>
          </p:cNvSpPr>
          <p:nvPr/>
        </p:nvSpPr>
        <p:spPr bwMode="auto">
          <a:xfrm>
            <a:off x="4284663" y="5265738"/>
            <a:ext cx="1036637" cy="212725"/>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solidFill>
                  <a:schemeClr val="hlink"/>
                </a:solidFill>
              </a:rPr>
              <a:t>40</a:t>
            </a:r>
            <a:r>
              <a:rPr lang="zh-CN" altLang="en-US" sz="1400">
                <a:solidFill>
                  <a:schemeClr val="hlink"/>
                </a:solidFill>
              </a:rPr>
              <a:t>位</a:t>
            </a:r>
            <a:r>
              <a:rPr lang="en-US" altLang="zh-CN" sz="1400">
                <a:solidFill>
                  <a:schemeClr val="hlink"/>
                </a:solidFill>
              </a:rPr>
              <a:t>ALU</a:t>
            </a:r>
          </a:p>
        </p:txBody>
      </p:sp>
      <p:sp>
        <p:nvSpPr>
          <p:cNvPr id="22536" name="Text Box 33"/>
          <p:cNvSpPr txBox="1">
            <a:spLocks noChangeArrowheads="1"/>
          </p:cNvSpPr>
          <p:nvPr/>
        </p:nvSpPr>
        <p:spPr bwMode="auto">
          <a:xfrm>
            <a:off x="719138" y="2673350"/>
            <a:ext cx="1243012" cy="406400"/>
          </a:xfrm>
          <a:prstGeom prst="rect">
            <a:avLst/>
          </a:prstGeom>
          <a:solidFill>
            <a:srgbClr val="FF0000"/>
          </a:solidFill>
          <a:ln w="9525">
            <a:solidFill>
              <a:schemeClr val="accent1"/>
            </a:solidFill>
            <a:miter lim="800000"/>
            <a:headEnd/>
            <a:tailEnd/>
          </a:ln>
        </p:spPr>
        <p:txBody>
          <a:bodyPr lIns="0" tIns="0" rIns="0" bIns="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400">
                <a:solidFill>
                  <a:schemeClr val="hlink"/>
                </a:solidFill>
              </a:rPr>
              <a:t>累加器</a:t>
            </a:r>
            <a:r>
              <a:rPr lang="en-US" altLang="zh-CN" sz="1400">
                <a:solidFill>
                  <a:schemeClr val="hlink"/>
                </a:solidFill>
              </a:rPr>
              <a:t>A</a:t>
            </a:r>
            <a:r>
              <a:rPr lang="zh-CN" altLang="en-US" sz="1400">
                <a:solidFill>
                  <a:schemeClr val="hlink"/>
                </a:solidFill>
              </a:rPr>
              <a:t>（</a:t>
            </a:r>
            <a:r>
              <a:rPr lang="en-US" altLang="zh-CN" sz="1400">
                <a:solidFill>
                  <a:schemeClr val="hlink"/>
                </a:solidFill>
              </a:rPr>
              <a:t>40</a:t>
            </a:r>
            <a:r>
              <a:rPr lang="zh-CN" altLang="en-US" sz="1400">
                <a:solidFill>
                  <a:schemeClr val="hlink"/>
                </a:solidFill>
              </a:rPr>
              <a:t>）</a:t>
            </a:r>
          </a:p>
        </p:txBody>
      </p:sp>
      <p:sp>
        <p:nvSpPr>
          <p:cNvPr id="22537" name="Text Box 34"/>
          <p:cNvSpPr txBox="1">
            <a:spLocks noChangeArrowheads="1"/>
          </p:cNvSpPr>
          <p:nvPr/>
        </p:nvSpPr>
        <p:spPr bwMode="auto">
          <a:xfrm>
            <a:off x="2087563" y="2673350"/>
            <a:ext cx="1241425" cy="406400"/>
          </a:xfrm>
          <a:prstGeom prst="rect">
            <a:avLst/>
          </a:prstGeom>
          <a:solidFill>
            <a:srgbClr val="FF00FF"/>
          </a:solidFill>
          <a:ln w="9525">
            <a:solidFill>
              <a:schemeClr val="accent1"/>
            </a:solidFill>
            <a:miter lim="800000"/>
            <a:headEnd/>
            <a:tailEnd/>
          </a:ln>
        </p:spPr>
        <p:txBody>
          <a:bodyPr lIns="0" tIns="0" rIns="0" bIns="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400">
                <a:solidFill>
                  <a:schemeClr val="hlink"/>
                </a:solidFill>
              </a:rPr>
              <a:t>累加器</a:t>
            </a:r>
            <a:r>
              <a:rPr lang="en-US" altLang="zh-CN" sz="1400">
                <a:solidFill>
                  <a:schemeClr val="hlink"/>
                </a:solidFill>
              </a:rPr>
              <a:t>B</a:t>
            </a:r>
            <a:r>
              <a:rPr lang="zh-CN" altLang="en-US" sz="1400">
                <a:solidFill>
                  <a:schemeClr val="hlink"/>
                </a:solidFill>
              </a:rPr>
              <a:t>（</a:t>
            </a:r>
            <a:r>
              <a:rPr lang="en-US" altLang="zh-CN" sz="1400">
                <a:solidFill>
                  <a:schemeClr val="hlink"/>
                </a:solidFill>
              </a:rPr>
              <a:t>40</a:t>
            </a:r>
            <a:r>
              <a:rPr lang="zh-CN" altLang="en-US" sz="1400">
                <a:solidFill>
                  <a:schemeClr val="hlink"/>
                </a:solidFill>
              </a:rPr>
              <a:t>）</a:t>
            </a:r>
          </a:p>
        </p:txBody>
      </p:sp>
      <p:grpSp>
        <p:nvGrpSpPr>
          <p:cNvPr id="22538" name="Group 35"/>
          <p:cNvGrpSpPr>
            <a:grpSpLocks/>
          </p:cNvGrpSpPr>
          <p:nvPr/>
        </p:nvGrpSpPr>
        <p:grpSpPr bwMode="auto">
          <a:xfrm>
            <a:off x="1079500" y="3933825"/>
            <a:ext cx="1728788" cy="434975"/>
            <a:chOff x="907" y="3226"/>
            <a:chExt cx="519" cy="129"/>
          </a:xfrm>
        </p:grpSpPr>
        <p:sp>
          <p:nvSpPr>
            <p:cNvPr id="22617" name="AutoShape 36"/>
            <p:cNvSpPr>
              <a:spLocks noChangeArrowheads="1"/>
            </p:cNvSpPr>
            <p:nvPr/>
          </p:nvSpPr>
          <p:spPr bwMode="auto">
            <a:xfrm rot="10800000">
              <a:off x="907" y="3226"/>
              <a:ext cx="519" cy="129"/>
            </a:xfrm>
            <a:custGeom>
              <a:avLst/>
              <a:gdLst>
                <a:gd name="T0" fmla="*/ 11 w 21600"/>
                <a:gd name="T1" fmla="*/ 0 h 21600"/>
                <a:gd name="T2" fmla="*/ 6 w 21600"/>
                <a:gd name="T3" fmla="*/ 1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21 h 21600"/>
                <a:gd name="T14" fmla="*/ 17105 w 21600"/>
                <a:gd name="T15" fmla="*/ 1707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2"/>
            </a:solidFill>
            <a:ln w="9525">
              <a:solidFill>
                <a:schemeClr val="tx1"/>
              </a:solidFill>
              <a:miter lim="800000"/>
              <a:headEnd/>
              <a:tailEnd/>
            </a:ln>
          </p:spPr>
          <p:txBody>
            <a:bodyPr wrap="none" anchor="ctr"/>
            <a:lstStyle/>
            <a:p>
              <a:endParaRPr lang="zh-CN" altLang="en-US"/>
            </a:p>
          </p:txBody>
        </p:sp>
        <p:sp>
          <p:nvSpPr>
            <p:cNvPr id="22618" name="Text Box 37"/>
            <p:cNvSpPr txBox="1">
              <a:spLocks noChangeArrowheads="1"/>
            </p:cNvSpPr>
            <p:nvPr/>
          </p:nvSpPr>
          <p:spPr bwMode="auto">
            <a:xfrm>
              <a:off x="1019" y="3249"/>
              <a:ext cx="295"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MUX</a:t>
              </a:r>
            </a:p>
          </p:txBody>
        </p:sp>
      </p:grpSp>
      <p:grpSp>
        <p:nvGrpSpPr>
          <p:cNvPr id="22539" name="Group 187"/>
          <p:cNvGrpSpPr>
            <a:grpSpLocks/>
          </p:cNvGrpSpPr>
          <p:nvPr/>
        </p:nvGrpSpPr>
        <p:grpSpPr bwMode="auto">
          <a:xfrm>
            <a:off x="3527425" y="3033713"/>
            <a:ext cx="1187450" cy="323850"/>
            <a:chOff x="2245" y="1956"/>
            <a:chExt cx="748" cy="204"/>
          </a:xfrm>
        </p:grpSpPr>
        <p:sp>
          <p:nvSpPr>
            <p:cNvPr id="22615" name="AutoShape 42"/>
            <p:cNvSpPr>
              <a:spLocks noChangeArrowheads="1"/>
            </p:cNvSpPr>
            <p:nvPr/>
          </p:nvSpPr>
          <p:spPr bwMode="auto">
            <a:xfrm>
              <a:off x="2245" y="1956"/>
              <a:ext cx="748" cy="204"/>
            </a:xfrm>
            <a:custGeom>
              <a:avLst/>
              <a:gdLst>
                <a:gd name="T0" fmla="*/ 23 w 21600"/>
                <a:gd name="T1" fmla="*/ 1 h 21600"/>
                <a:gd name="T2" fmla="*/ 13 w 21600"/>
                <a:gd name="T3" fmla="*/ 2 h 21600"/>
                <a:gd name="T4" fmla="*/ 3 w 21600"/>
                <a:gd name="T5" fmla="*/ 1 h 21600"/>
                <a:gd name="T6" fmla="*/ 13 w 21600"/>
                <a:gd name="T7" fmla="*/ 0 h 21600"/>
                <a:gd name="T8" fmla="*/ 0 60000 65536"/>
                <a:gd name="T9" fmla="*/ 0 60000 65536"/>
                <a:gd name="T10" fmla="*/ 0 60000 65536"/>
                <a:gd name="T11" fmla="*/ 0 60000 65536"/>
                <a:gd name="T12" fmla="*/ 4505 w 21600"/>
                <a:gd name="T13" fmla="*/ 4553 h 21600"/>
                <a:gd name="T14" fmla="*/ 17095 w 21600"/>
                <a:gd name="T15" fmla="*/ 171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22616" name="Text Box 43"/>
            <p:cNvSpPr txBox="1">
              <a:spLocks noChangeArrowheads="1"/>
            </p:cNvSpPr>
            <p:nvPr/>
          </p:nvSpPr>
          <p:spPr bwMode="auto">
            <a:xfrm>
              <a:off x="2426" y="2001"/>
              <a:ext cx="39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solidFill>
                    <a:schemeClr val="tx2"/>
                  </a:solidFill>
                </a:rPr>
                <a:t>MUX</a:t>
              </a:r>
            </a:p>
          </p:txBody>
        </p:sp>
      </p:grpSp>
      <p:sp>
        <p:nvSpPr>
          <p:cNvPr id="22540" name="Line 70"/>
          <p:cNvSpPr>
            <a:spLocks noChangeShapeType="1"/>
          </p:cNvSpPr>
          <p:nvPr/>
        </p:nvSpPr>
        <p:spPr bwMode="auto">
          <a:xfrm flipH="1">
            <a:off x="3779838" y="1376363"/>
            <a:ext cx="6350" cy="1670050"/>
          </a:xfrm>
          <a:prstGeom prst="line">
            <a:avLst/>
          </a:prstGeom>
          <a:noFill/>
          <a:ln w="28575">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41" name="Line 78"/>
          <p:cNvSpPr>
            <a:spLocks noChangeShapeType="1"/>
          </p:cNvSpPr>
          <p:nvPr/>
        </p:nvSpPr>
        <p:spPr bwMode="auto">
          <a:xfrm>
            <a:off x="1331913" y="1592263"/>
            <a:ext cx="6192837" cy="0"/>
          </a:xfrm>
          <a:prstGeom prst="line">
            <a:avLst/>
          </a:prstGeom>
          <a:noFill/>
          <a:ln w="571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42" name="Line 83"/>
          <p:cNvSpPr>
            <a:spLocks noChangeShapeType="1"/>
          </p:cNvSpPr>
          <p:nvPr/>
        </p:nvSpPr>
        <p:spPr bwMode="auto">
          <a:xfrm flipH="1">
            <a:off x="1763713" y="4365625"/>
            <a:ext cx="0" cy="1212850"/>
          </a:xfrm>
          <a:prstGeom prst="line">
            <a:avLst/>
          </a:prstGeom>
          <a:noFill/>
          <a:ln w="57150">
            <a:solidFill>
              <a:srgbClr val="666633"/>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3" name="Line 84"/>
          <p:cNvSpPr>
            <a:spLocks noChangeShapeType="1"/>
          </p:cNvSpPr>
          <p:nvPr/>
        </p:nvSpPr>
        <p:spPr bwMode="auto">
          <a:xfrm flipH="1">
            <a:off x="647700" y="2312988"/>
            <a:ext cx="0" cy="2663825"/>
          </a:xfrm>
          <a:prstGeom prst="line">
            <a:avLst/>
          </a:prstGeom>
          <a:noFill/>
          <a:ln w="5715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4" name="Line 85"/>
          <p:cNvSpPr>
            <a:spLocks noChangeShapeType="1"/>
          </p:cNvSpPr>
          <p:nvPr/>
        </p:nvSpPr>
        <p:spPr bwMode="auto">
          <a:xfrm flipV="1">
            <a:off x="647700" y="4941888"/>
            <a:ext cx="684213" cy="0"/>
          </a:xfrm>
          <a:prstGeom prst="line">
            <a:avLst/>
          </a:prstGeom>
          <a:noFill/>
          <a:ln w="5715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5" name="Line 86"/>
          <p:cNvSpPr>
            <a:spLocks noChangeShapeType="1"/>
          </p:cNvSpPr>
          <p:nvPr/>
        </p:nvSpPr>
        <p:spPr bwMode="auto">
          <a:xfrm flipH="1">
            <a:off x="1331913" y="4365625"/>
            <a:ext cx="0" cy="612775"/>
          </a:xfrm>
          <a:prstGeom prst="line">
            <a:avLst/>
          </a:prstGeom>
          <a:noFill/>
          <a:ln w="57150">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6" name="Line 88"/>
          <p:cNvSpPr>
            <a:spLocks noChangeShapeType="1"/>
          </p:cNvSpPr>
          <p:nvPr/>
        </p:nvSpPr>
        <p:spPr bwMode="auto">
          <a:xfrm flipV="1">
            <a:off x="2555875" y="4941888"/>
            <a:ext cx="865188" cy="0"/>
          </a:xfrm>
          <a:prstGeom prst="line">
            <a:avLst/>
          </a:prstGeom>
          <a:noFill/>
          <a:ln w="571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7" name="Line 89"/>
          <p:cNvSpPr>
            <a:spLocks noChangeShapeType="1"/>
          </p:cNvSpPr>
          <p:nvPr/>
        </p:nvSpPr>
        <p:spPr bwMode="auto">
          <a:xfrm flipH="1">
            <a:off x="2555875" y="4365625"/>
            <a:ext cx="0" cy="611188"/>
          </a:xfrm>
          <a:prstGeom prst="line">
            <a:avLst/>
          </a:prstGeom>
          <a:noFill/>
          <a:ln w="57150">
            <a:solidFill>
              <a:srgbClr val="FF00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8" name="Line 90"/>
          <p:cNvSpPr>
            <a:spLocks noChangeShapeType="1"/>
          </p:cNvSpPr>
          <p:nvPr/>
        </p:nvSpPr>
        <p:spPr bwMode="auto">
          <a:xfrm>
            <a:off x="1331913" y="3681413"/>
            <a:ext cx="1368425" cy="0"/>
          </a:xfrm>
          <a:prstGeom prst="line">
            <a:avLst/>
          </a:prstGeom>
          <a:noFill/>
          <a:ln w="57150">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9" name="Line 91"/>
          <p:cNvSpPr>
            <a:spLocks noChangeShapeType="1"/>
          </p:cNvSpPr>
          <p:nvPr/>
        </p:nvSpPr>
        <p:spPr bwMode="auto">
          <a:xfrm flipH="1">
            <a:off x="2700338" y="3068638"/>
            <a:ext cx="0" cy="633412"/>
          </a:xfrm>
          <a:prstGeom prst="line">
            <a:avLst/>
          </a:prstGeom>
          <a:noFill/>
          <a:ln w="57150">
            <a:solidFill>
              <a:schemeClr val="accent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50" name="Line 92"/>
          <p:cNvSpPr>
            <a:spLocks noChangeShapeType="1"/>
          </p:cNvSpPr>
          <p:nvPr/>
        </p:nvSpPr>
        <p:spPr bwMode="auto">
          <a:xfrm flipH="1">
            <a:off x="1331913" y="3068638"/>
            <a:ext cx="0" cy="633412"/>
          </a:xfrm>
          <a:prstGeom prst="line">
            <a:avLst/>
          </a:prstGeom>
          <a:noFill/>
          <a:ln w="57150">
            <a:solidFill>
              <a:schemeClr val="accent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51" name="Line 93"/>
          <p:cNvSpPr>
            <a:spLocks noChangeShapeType="1"/>
          </p:cNvSpPr>
          <p:nvPr/>
        </p:nvSpPr>
        <p:spPr bwMode="auto">
          <a:xfrm>
            <a:off x="2016125" y="3681413"/>
            <a:ext cx="0" cy="252412"/>
          </a:xfrm>
          <a:prstGeom prst="line">
            <a:avLst/>
          </a:prstGeom>
          <a:noFill/>
          <a:ln w="57150">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52" name="Line 94"/>
          <p:cNvSpPr>
            <a:spLocks noChangeShapeType="1"/>
          </p:cNvSpPr>
          <p:nvPr/>
        </p:nvSpPr>
        <p:spPr bwMode="auto">
          <a:xfrm flipH="1">
            <a:off x="1331913" y="1592263"/>
            <a:ext cx="1587" cy="1077912"/>
          </a:xfrm>
          <a:prstGeom prst="line">
            <a:avLst/>
          </a:prstGeom>
          <a:noFill/>
          <a:ln w="5715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53" name="Line 95"/>
          <p:cNvSpPr>
            <a:spLocks noChangeShapeType="1"/>
          </p:cNvSpPr>
          <p:nvPr/>
        </p:nvSpPr>
        <p:spPr bwMode="auto">
          <a:xfrm>
            <a:off x="2700338" y="1844675"/>
            <a:ext cx="4824412" cy="0"/>
          </a:xfrm>
          <a:prstGeom prst="line">
            <a:avLst/>
          </a:prstGeom>
          <a:noFill/>
          <a:ln w="571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54" name="Text Box 115"/>
          <p:cNvSpPr txBox="1">
            <a:spLocks noChangeArrowheads="1"/>
          </p:cNvSpPr>
          <p:nvPr/>
        </p:nvSpPr>
        <p:spPr bwMode="auto">
          <a:xfrm>
            <a:off x="1223963" y="3681413"/>
            <a:ext cx="4778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A</a:t>
            </a:r>
          </a:p>
        </p:txBody>
      </p:sp>
      <p:sp>
        <p:nvSpPr>
          <p:cNvPr id="22555" name="Text Box 116"/>
          <p:cNvSpPr txBox="1">
            <a:spLocks noChangeArrowheads="1"/>
          </p:cNvSpPr>
          <p:nvPr/>
        </p:nvSpPr>
        <p:spPr bwMode="auto">
          <a:xfrm>
            <a:off x="2592388" y="4581525"/>
            <a:ext cx="323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B</a:t>
            </a:r>
          </a:p>
        </p:txBody>
      </p:sp>
      <p:sp>
        <p:nvSpPr>
          <p:cNvPr id="22556" name="Line 117"/>
          <p:cNvSpPr>
            <a:spLocks noChangeShapeType="1"/>
          </p:cNvSpPr>
          <p:nvPr/>
        </p:nvSpPr>
        <p:spPr bwMode="auto">
          <a:xfrm flipH="1">
            <a:off x="2700338" y="1844675"/>
            <a:ext cx="0" cy="842963"/>
          </a:xfrm>
          <a:prstGeom prst="line">
            <a:avLst/>
          </a:prstGeom>
          <a:noFill/>
          <a:ln w="571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57" name="Text Box 118"/>
          <p:cNvSpPr txBox="1">
            <a:spLocks noChangeArrowheads="1"/>
          </p:cNvSpPr>
          <p:nvPr/>
        </p:nvSpPr>
        <p:spPr bwMode="auto">
          <a:xfrm>
            <a:off x="684213" y="5337175"/>
            <a:ext cx="10985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MAC</a:t>
            </a:r>
            <a:r>
              <a:rPr lang="zh-CN" altLang="en-US" sz="1400"/>
              <a:t>输出</a:t>
            </a:r>
          </a:p>
        </p:txBody>
      </p:sp>
      <p:sp>
        <p:nvSpPr>
          <p:cNvPr id="22558" name="Line 136"/>
          <p:cNvSpPr>
            <a:spLocks noChangeShapeType="1"/>
          </p:cNvSpPr>
          <p:nvPr/>
        </p:nvSpPr>
        <p:spPr bwMode="auto">
          <a:xfrm flipH="1">
            <a:off x="4083050" y="3357563"/>
            <a:ext cx="20638" cy="1350962"/>
          </a:xfrm>
          <a:prstGeom prst="line">
            <a:avLst/>
          </a:prstGeom>
          <a:noFill/>
          <a:ln w="38100">
            <a:solidFill>
              <a:srgbClr val="CCCC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59" name="Line 137"/>
          <p:cNvSpPr>
            <a:spLocks noChangeShapeType="1"/>
          </p:cNvSpPr>
          <p:nvPr/>
        </p:nvSpPr>
        <p:spPr bwMode="auto">
          <a:xfrm flipH="1">
            <a:off x="5467350" y="3321050"/>
            <a:ext cx="4763" cy="1387475"/>
          </a:xfrm>
          <a:prstGeom prst="line">
            <a:avLst/>
          </a:prstGeom>
          <a:noFill/>
          <a:ln w="38100">
            <a:solidFill>
              <a:srgbClr val="CCCC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60" name="Line 138"/>
          <p:cNvSpPr>
            <a:spLocks noChangeShapeType="1"/>
          </p:cNvSpPr>
          <p:nvPr/>
        </p:nvSpPr>
        <p:spPr bwMode="auto">
          <a:xfrm>
            <a:off x="2159000" y="6308725"/>
            <a:ext cx="2628900" cy="0"/>
          </a:xfrm>
          <a:prstGeom prst="line">
            <a:avLst/>
          </a:prstGeom>
          <a:noFill/>
          <a:ln w="571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61" name="Line 139"/>
          <p:cNvSpPr>
            <a:spLocks noChangeShapeType="1"/>
          </p:cNvSpPr>
          <p:nvPr/>
        </p:nvSpPr>
        <p:spPr bwMode="auto">
          <a:xfrm flipH="1" flipV="1">
            <a:off x="2159000" y="4365625"/>
            <a:ext cx="0" cy="1943100"/>
          </a:xfrm>
          <a:prstGeom prst="line">
            <a:avLst/>
          </a:prstGeom>
          <a:noFill/>
          <a:ln w="571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62" name="Line 140"/>
          <p:cNvSpPr>
            <a:spLocks noChangeShapeType="1"/>
          </p:cNvSpPr>
          <p:nvPr/>
        </p:nvSpPr>
        <p:spPr bwMode="auto">
          <a:xfrm flipH="1" flipV="1">
            <a:off x="4787900" y="5984875"/>
            <a:ext cx="0" cy="360363"/>
          </a:xfrm>
          <a:prstGeom prst="line">
            <a:avLst/>
          </a:prstGeom>
          <a:noFill/>
          <a:ln w="57150">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63" name="Text Box 141"/>
          <p:cNvSpPr txBox="1">
            <a:spLocks noChangeArrowheads="1"/>
          </p:cNvSpPr>
          <p:nvPr/>
        </p:nvSpPr>
        <p:spPr bwMode="auto">
          <a:xfrm>
            <a:off x="3455988" y="3644900"/>
            <a:ext cx="4778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SXM</a:t>
            </a:r>
          </a:p>
        </p:txBody>
      </p:sp>
      <p:sp>
        <p:nvSpPr>
          <p:cNvPr id="22564" name="Text Box 142"/>
          <p:cNvSpPr txBox="1">
            <a:spLocks noChangeArrowheads="1"/>
          </p:cNvSpPr>
          <p:nvPr/>
        </p:nvSpPr>
        <p:spPr bwMode="auto">
          <a:xfrm>
            <a:off x="5795963" y="3644900"/>
            <a:ext cx="4778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SXM</a:t>
            </a:r>
          </a:p>
        </p:txBody>
      </p:sp>
      <p:sp>
        <p:nvSpPr>
          <p:cNvPr id="22565" name="Text Box 143"/>
          <p:cNvSpPr txBox="1">
            <a:spLocks noChangeArrowheads="1"/>
          </p:cNvSpPr>
          <p:nvPr/>
        </p:nvSpPr>
        <p:spPr bwMode="auto">
          <a:xfrm>
            <a:off x="3600450" y="2708275"/>
            <a:ext cx="2460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T</a:t>
            </a:r>
          </a:p>
        </p:txBody>
      </p:sp>
      <p:sp>
        <p:nvSpPr>
          <p:cNvPr id="22566" name="Text Box 144"/>
          <p:cNvSpPr txBox="1">
            <a:spLocks noChangeArrowheads="1"/>
          </p:cNvSpPr>
          <p:nvPr/>
        </p:nvSpPr>
        <p:spPr bwMode="auto">
          <a:xfrm>
            <a:off x="3851275" y="2708275"/>
            <a:ext cx="2270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A</a:t>
            </a:r>
          </a:p>
        </p:txBody>
      </p:sp>
      <p:sp>
        <p:nvSpPr>
          <p:cNvPr id="22567" name="Line 145"/>
          <p:cNvSpPr>
            <a:spLocks noChangeShapeType="1"/>
          </p:cNvSpPr>
          <p:nvPr/>
        </p:nvSpPr>
        <p:spPr bwMode="auto">
          <a:xfrm flipH="1">
            <a:off x="4032250" y="1592263"/>
            <a:ext cx="20638" cy="1454150"/>
          </a:xfrm>
          <a:prstGeom prst="line">
            <a:avLst/>
          </a:prstGeom>
          <a:noFill/>
          <a:ln w="571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68" name="Line 146"/>
          <p:cNvSpPr>
            <a:spLocks noChangeShapeType="1"/>
          </p:cNvSpPr>
          <p:nvPr/>
        </p:nvSpPr>
        <p:spPr bwMode="auto">
          <a:xfrm flipH="1">
            <a:off x="4284663" y="1844675"/>
            <a:ext cx="11112" cy="1201738"/>
          </a:xfrm>
          <a:prstGeom prst="line">
            <a:avLst/>
          </a:prstGeom>
          <a:noFill/>
          <a:ln w="571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69" name="Text Box 147"/>
          <p:cNvSpPr txBox="1">
            <a:spLocks noChangeArrowheads="1"/>
          </p:cNvSpPr>
          <p:nvPr/>
        </p:nvSpPr>
        <p:spPr bwMode="auto">
          <a:xfrm>
            <a:off x="4103688" y="2708275"/>
            <a:ext cx="2270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B</a:t>
            </a:r>
          </a:p>
        </p:txBody>
      </p:sp>
      <p:sp>
        <p:nvSpPr>
          <p:cNvPr id="22570" name="Line 148"/>
          <p:cNvSpPr>
            <a:spLocks noChangeShapeType="1"/>
          </p:cNvSpPr>
          <p:nvPr/>
        </p:nvSpPr>
        <p:spPr bwMode="auto">
          <a:xfrm>
            <a:off x="4500563" y="1268413"/>
            <a:ext cx="1587" cy="1781175"/>
          </a:xfrm>
          <a:prstGeom prst="line">
            <a:avLst/>
          </a:prstGeom>
          <a:noFill/>
          <a:ln w="28575">
            <a:solidFill>
              <a:srgbClr val="66FF33"/>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71" name="Text Box 149"/>
          <p:cNvSpPr txBox="1">
            <a:spLocks noChangeArrowheads="1"/>
          </p:cNvSpPr>
          <p:nvPr/>
        </p:nvSpPr>
        <p:spPr bwMode="auto">
          <a:xfrm>
            <a:off x="4319588" y="2708275"/>
            <a:ext cx="1762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C</a:t>
            </a:r>
          </a:p>
        </p:txBody>
      </p:sp>
      <p:sp>
        <p:nvSpPr>
          <p:cNvPr id="22572" name="Line 150"/>
          <p:cNvSpPr>
            <a:spLocks noChangeShapeType="1"/>
          </p:cNvSpPr>
          <p:nvPr/>
        </p:nvSpPr>
        <p:spPr bwMode="auto">
          <a:xfrm flipH="1">
            <a:off x="5184775" y="1449388"/>
            <a:ext cx="0" cy="1584325"/>
          </a:xfrm>
          <a:prstGeom prst="line">
            <a:avLst/>
          </a:prstGeom>
          <a:noFill/>
          <a:ln w="28575">
            <a:solidFill>
              <a:srgbClr val="666633"/>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73" name="Text Box 151"/>
          <p:cNvSpPr txBox="1">
            <a:spLocks noChangeArrowheads="1"/>
          </p:cNvSpPr>
          <p:nvPr/>
        </p:nvSpPr>
        <p:spPr bwMode="auto">
          <a:xfrm>
            <a:off x="5003800" y="2708275"/>
            <a:ext cx="1666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D</a:t>
            </a:r>
          </a:p>
        </p:txBody>
      </p:sp>
      <p:sp>
        <p:nvSpPr>
          <p:cNvPr id="22574" name="Line 157"/>
          <p:cNvSpPr>
            <a:spLocks noChangeShapeType="1"/>
          </p:cNvSpPr>
          <p:nvPr/>
        </p:nvSpPr>
        <p:spPr bwMode="auto">
          <a:xfrm flipH="1" flipV="1">
            <a:off x="5634038" y="2271713"/>
            <a:ext cx="1890712" cy="4762"/>
          </a:xfrm>
          <a:prstGeom prst="line">
            <a:avLst/>
          </a:prstGeom>
          <a:noFill/>
          <a:ln w="5715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75" name="Line 158"/>
          <p:cNvSpPr>
            <a:spLocks noChangeShapeType="1"/>
          </p:cNvSpPr>
          <p:nvPr/>
        </p:nvSpPr>
        <p:spPr bwMode="auto">
          <a:xfrm flipH="1">
            <a:off x="5651500" y="2276475"/>
            <a:ext cx="7938" cy="757238"/>
          </a:xfrm>
          <a:prstGeom prst="line">
            <a:avLst/>
          </a:prstGeom>
          <a:noFill/>
          <a:ln w="57150">
            <a:solidFill>
              <a:srgbClr val="00CC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76" name="Text Box 165"/>
          <p:cNvSpPr txBox="1">
            <a:spLocks noChangeArrowheads="1"/>
          </p:cNvSpPr>
          <p:nvPr/>
        </p:nvSpPr>
        <p:spPr bwMode="auto">
          <a:xfrm>
            <a:off x="5435600" y="2708275"/>
            <a:ext cx="1635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S</a:t>
            </a:r>
          </a:p>
        </p:txBody>
      </p:sp>
      <p:sp>
        <p:nvSpPr>
          <p:cNvPr id="22577" name="Text Box 170"/>
          <p:cNvSpPr txBox="1">
            <a:spLocks noChangeArrowheads="1"/>
          </p:cNvSpPr>
          <p:nvPr/>
        </p:nvSpPr>
        <p:spPr bwMode="auto">
          <a:xfrm>
            <a:off x="2195513" y="4581525"/>
            <a:ext cx="2159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U</a:t>
            </a:r>
          </a:p>
        </p:txBody>
      </p:sp>
      <p:sp>
        <p:nvSpPr>
          <p:cNvPr id="22578" name="Text Box 172"/>
          <p:cNvSpPr txBox="1">
            <a:spLocks noChangeArrowheads="1"/>
          </p:cNvSpPr>
          <p:nvPr/>
        </p:nvSpPr>
        <p:spPr bwMode="auto">
          <a:xfrm>
            <a:off x="7164388" y="3284538"/>
            <a:ext cx="1331912" cy="15621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latin typeface="宋体" panose="02010600030101010101" pitchFamily="2" charset="-122"/>
              </a:rPr>
              <a:t>A  </a:t>
            </a:r>
            <a:r>
              <a:rPr lang="zh-CN" altLang="en-US" sz="1200">
                <a:latin typeface="宋体" panose="02010600030101010101" pitchFamily="2" charset="-122"/>
              </a:rPr>
              <a:t>累加器</a:t>
            </a:r>
            <a:r>
              <a:rPr lang="en-US" altLang="zh-CN" sz="1200">
                <a:latin typeface="宋体" panose="02010600030101010101" pitchFamily="2" charset="-122"/>
              </a:rPr>
              <a:t>A</a:t>
            </a:r>
          </a:p>
          <a:p>
            <a:pPr eaLnBrk="1" hangingPunct="1"/>
            <a:r>
              <a:rPr lang="en-US" altLang="zh-CN" sz="1200">
                <a:latin typeface="宋体" panose="02010600030101010101" pitchFamily="2" charset="-122"/>
              </a:rPr>
              <a:t>B  </a:t>
            </a:r>
            <a:r>
              <a:rPr lang="zh-CN" altLang="en-US" sz="1200">
                <a:latin typeface="宋体" panose="02010600030101010101" pitchFamily="2" charset="-122"/>
              </a:rPr>
              <a:t>累加器</a:t>
            </a:r>
            <a:r>
              <a:rPr lang="en-US" altLang="zh-CN" sz="1200">
                <a:latin typeface="宋体" panose="02010600030101010101" pitchFamily="2" charset="-122"/>
              </a:rPr>
              <a:t>B</a:t>
            </a:r>
          </a:p>
          <a:p>
            <a:pPr eaLnBrk="1" hangingPunct="1"/>
            <a:r>
              <a:rPr lang="en-US" altLang="zh-CN" sz="1200">
                <a:latin typeface="宋体" panose="02010600030101010101" pitchFamily="2" charset="-122"/>
              </a:rPr>
              <a:t>C  CB</a:t>
            </a:r>
            <a:r>
              <a:rPr lang="zh-CN" altLang="en-US" sz="1200">
                <a:latin typeface="宋体" panose="02010600030101010101" pitchFamily="2" charset="-122"/>
              </a:rPr>
              <a:t>数据总线</a:t>
            </a:r>
          </a:p>
          <a:p>
            <a:pPr eaLnBrk="1" hangingPunct="1"/>
            <a:r>
              <a:rPr lang="en-US" altLang="zh-CN" sz="1200">
                <a:latin typeface="宋体" panose="02010600030101010101" pitchFamily="2" charset="-122"/>
              </a:rPr>
              <a:t>D  DB</a:t>
            </a:r>
            <a:r>
              <a:rPr lang="zh-CN" altLang="en-US" sz="1200">
                <a:latin typeface="宋体" panose="02010600030101010101" pitchFamily="2" charset="-122"/>
              </a:rPr>
              <a:t>数据总线</a:t>
            </a:r>
          </a:p>
          <a:p>
            <a:pPr eaLnBrk="1" hangingPunct="1"/>
            <a:r>
              <a:rPr lang="en-US" altLang="zh-CN" sz="1200">
                <a:latin typeface="宋体" panose="02010600030101010101" pitchFamily="2" charset="-122"/>
              </a:rPr>
              <a:t>M  MAC</a:t>
            </a:r>
            <a:r>
              <a:rPr lang="zh-CN" altLang="en-US" sz="1200">
                <a:latin typeface="宋体" panose="02010600030101010101" pitchFamily="2" charset="-122"/>
              </a:rPr>
              <a:t>单元</a:t>
            </a:r>
          </a:p>
          <a:p>
            <a:pPr eaLnBrk="1" hangingPunct="1"/>
            <a:r>
              <a:rPr lang="en-US" altLang="zh-CN" sz="1200">
                <a:latin typeface="宋体" panose="02010600030101010101" pitchFamily="2" charset="-122"/>
              </a:rPr>
              <a:t>S  </a:t>
            </a:r>
            <a:r>
              <a:rPr lang="zh-CN" altLang="en-US" sz="1200">
                <a:latin typeface="宋体" panose="02010600030101010101" pitchFamily="2" charset="-122"/>
              </a:rPr>
              <a:t>桶形移位</a:t>
            </a:r>
          </a:p>
          <a:p>
            <a:pPr eaLnBrk="1" hangingPunct="1"/>
            <a:r>
              <a:rPr lang="en-US" altLang="zh-CN" sz="1200">
                <a:latin typeface="宋体" panose="02010600030101010101" pitchFamily="2" charset="-122"/>
              </a:rPr>
              <a:t>T  T</a:t>
            </a:r>
            <a:r>
              <a:rPr lang="zh-CN" altLang="en-US" sz="1200">
                <a:latin typeface="宋体" panose="02010600030101010101" pitchFamily="2" charset="-122"/>
              </a:rPr>
              <a:t>寄存器</a:t>
            </a:r>
          </a:p>
          <a:p>
            <a:pPr eaLnBrk="1" hangingPunct="1"/>
            <a:r>
              <a:rPr lang="en-US" altLang="zh-CN" sz="1200">
                <a:latin typeface="宋体" panose="02010600030101010101" pitchFamily="2" charset="-122"/>
              </a:rPr>
              <a:t>U  ALU</a:t>
            </a:r>
          </a:p>
        </p:txBody>
      </p:sp>
      <p:sp>
        <p:nvSpPr>
          <p:cNvPr id="22579" name="Line 173"/>
          <p:cNvSpPr>
            <a:spLocks noChangeShapeType="1"/>
          </p:cNvSpPr>
          <p:nvPr/>
        </p:nvSpPr>
        <p:spPr bwMode="auto">
          <a:xfrm flipH="1">
            <a:off x="935038" y="5553075"/>
            <a:ext cx="812800" cy="0"/>
          </a:xfrm>
          <a:prstGeom prst="line">
            <a:avLst/>
          </a:prstGeom>
          <a:noFill/>
          <a:ln w="57150">
            <a:solidFill>
              <a:srgbClr val="666633"/>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80" name="Line 174"/>
          <p:cNvSpPr>
            <a:spLocks noChangeShapeType="1"/>
          </p:cNvSpPr>
          <p:nvPr/>
        </p:nvSpPr>
        <p:spPr bwMode="auto">
          <a:xfrm flipV="1">
            <a:off x="611188" y="2349500"/>
            <a:ext cx="720725" cy="0"/>
          </a:xfrm>
          <a:prstGeom prst="line">
            <a:avLst/>
          </a:prstGeom>
          <a:noFill/>
          <a:ln w="5715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81" name="Line 176"/>
          <p:cNvSpPr>
            <a:spLocks noChangeShapeType="1"/>
          </p:cNvSpPr>
          <p:nvPr/>
        </p:nvSpPr>
        <p:spPr bwMode="auto">
          <a:xfrm>
            <a:off x="3419475" y="2312988"/>
            <a:ext cx="0" cy="2663825"/>
          </a:xfrm>
          <a:prstGeom prst="line">
            <a:avLst/>
          </a:prstGeom>
          <a:noFill/>
          <a:ln w="571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82" name="Line 177"/>
          <p:cNvSpPr>
            <a:spLocks noChangeShapeType="1"/>
          </p:cNvSpPr>
          <p:nvPr/>
        </p:nvSpPr>
        <p:spPr bwMode="auto">
          <a:xfrm flipV="1">
            <a:off x="2700338" y="2349500"/>
            <a:ext cx="719137" cy="0"/>
          </a:xfrm>
          <a:prstGeom prst="line">
            <a:avLst/>
          </a:prstGeom>
          <a:noFill/>
          <a:ln w="571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83" name="Text Box 179"/>
          <p:cNvSpPr txBox="1">
            <a:spLocks noChangeArrowheads="1"/>
          </p:cNvSpPr>
          <p:nvPr/>
        </p:nvSpPr>
        <p:spPr bwMode="auto">
          <a:xfrm>
            <a:off x="3708400" y="3860800"/>
            <a:ext cx="827088" cy="222250"/>
          </a:xfrm>
          <a:prstGeom prst="rect">
            <a:avLst/>
          </a:prstGeom>
          <a:solidFill>
            <a:srgbClr val="FFFF99"/>
          </a:solidFill>
          <a:ln w="9525">
            <a:solidFill>
              <a:srgbClr val="66FF33"/>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400">
                <a:solidFill>
                  <a:srgbClr val="9900CC"/>
                </a:solidFill>
              </a:rPr>
              <a:t>符号控制</a:t>
            </a:r>
          </a:p>
        </p:txBody>
      </p:sp>
      <p:sp>
        <p:nvSpPr>
          <p:cNvPr id="22584" name="Text Box 181"/>
          <p:cNvSpPr txBox="1">
            <a:spLocks noChangeArrowheads="1"/>
          </p:cNvSpPr>
          <p:nvPr/>
        </p:nvSpPr>
        <p:spPr bwMode="auto">
          <a:xfrm>
            <a:off x="3492500" y="1341438"/>
            <a:ext cx="3333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T</a:t>
            </a:r>
          </a:p>
        </p:txBody>
      </p:sp>
      <p:sp>
        <p:nvSpPr>
          <p:cNvPr id="22585" name="Text Box 182"/>
          <p:cNvSpPr txBox="1">
            <a:spLocks noChangeArrowheads="1"/>
          </p:cNvSpPr>
          <p:nvPr/>
        </p:nvSpPr>
        <p:spPr bwMode="auto">
          <a:xfrm>
            <a:off x="3743325" y="1052513"/>
            <a:ext cx="1241425" cy="192087"/>
          </a:xfrm>
          <a:prstGeom prst="rect">
            <a:avLst/>
          </a:prstGeom>
          <a:solidFill>
            <a:srgbClr val="66FF33"/>
          </a:solidFill>
          <a:ln w="9525">
            <a:solidFill>
              <a:schemeClr val="accent1"/>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9900CC"/>
                </a:solidFill>
              </a:rPr>
              <a:t>CB15-CB0</a:t>
            </a:r>
          </a:p>
        </p:txBody>
      </p:sp>
      <p:sp>
        <p:nvSpPr>
          <p:cNvPr id="22586" name="Text Box 183"/>
          <p:cNvSpPr txBox="1">
            <a:spLocks noChangeArrowheads="1"/>
          </p:cNvSpPr>
          <p:nvPr/>
        </p:nvSpPr>
        <p:spPr bwMode="auto">
          <a:xfrm>
            <a:off x="5111750" y="1196975"/>
            <a:ext cx="1241425" cy="192088"/>
          </a:xfrm>
          <a:prstGeom prst="rect">
            <a:avLst/>
          </a:prstGeom>
          <a:solidFill>
            <a:srgbClr val="666633"/>
          </a:solidFill>
          <a:ln w="9525">
            <a:solidFill>
              <a:schemeClr val="accent1"/>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hlink"/>
                </a:solidFill>
              </a:rPr>
              <a:t>DB15-DB0</a:t>
            </a:r>
          </a:p>
        </p:txBody>
      </p:sp>
      <p:sp>
        <p:nvSpPr>
          <p:cNvPr id="22587" name="Text Box 184"/>
          <p:cNvSpPr txBox="1">
            <a:spLocks noChangeArrowheads="1"/>
          </p:cNvSpPr>
          <p:nvPr/>
        </p:nvSpPr>
        <p:spPr bwMode="auto">
          <a:xfrm>
            <a:off x="6443663" y="2312988"/>
            <a:ext cx="1241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400"/>
              <a:t>移位器输出</a:t>
            </a:r>
            <a:r>
              <a:rPr lang="en-US" altLang="zh-CN" sz="1400"/>
              <a:t>(40)</a:t>
            </a:r>
          </a:p>
        </p:txBody>
      </p:sp>
      <p:sp>
        <p:nvSpPr>
          <p:cNvPr id="22588" name="Text Box 186"/>
          <p:cNvSpPr txBox="1">
            <a:spLocks noChangeArrowheads="1"/>
          </p:cNvSpPr>
          <p:nvPr/>
        </p:nvSpPr>
        <p:spPr bwMode="auto">
          <a:xfrm>
            <a:off x="5111750" y="3860800"/>
            <a:ext cx="812800" cy="222250"/>
          </a:xfrm>
          <a:prstGeom prst="rect">
            <a:avLst/>
          </a:prstGeom>
          <a:solidFill>
            <a:srgbClr val="FFFF99"/>
          </a:solidFill>
          <a:ln w="9525">
            <a:solidFill>
              <a:srgbClr val="66FF33"/>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400">
                <a:solidFill>
                  <a:srgbClr val="9900CC"/>
                </a:solidFill>
              </a:rPr>
              <a:t>符号控制</a:t>
            </a:r>
          </a:p>
        </p:txBody>
      </p:sp>
      <p:grpSp>
        <p:nvGrpSpPr>
          <p:cNvPr id="22589" name="Group 188"/>
          <p:cNvGrpSpPr>
            <a:grpSpLocks/>
          </p:cNvGrpSpPr>
          <p:nvPr/>
        </p:nvGrpSpPr>
        <p:grpSpPr bwMode="auto">
          <a:xfrm>
            <a:off x="4824413" y="3033713"/>
            <a:ext cx="1187450" cy="323850"/>
            <a:chOff x="2245" y="1956"/>
            <a:chExt cx="748" cy="204"/>
          </a:xfrm>
        </p:grpSpPr>
        <p:sp>
          <p:nvSpPr>
            <p:cNvPr id="22613" name="AutoShape 189"/>
            <p:cNvSpPr>
              <a:spLocks noChangeArrowheads="1"/>
            </p:cNvSpPr>
            <p:nvPr/>
          </p:nvSpPr>
          <p:spPr bwMode="auto">
            <a:xfrm>
              <a:off x="2245" y="1956"/>
              <a:ext cx="748" cy="204"/>
            </a:xfrm>
            <a:custGeom>
              <a:avLst/>
              <a:gdLst>
                <a:gd name="T0" fmla="*/ 23 w 21600"/>
                <a:gd name="T1" fmla="*/ 1 h 21600"/>
                <a:gd name="T2" fmla="*/ 13 w 21600"/>
                <a:gd name="T3" fmla="*/ 2 h 21600"/>
                <a:gd name="T4" fmla="*/ 3 w 21600"/>
                <a:gd name="T5" fmla="*/ 1 h 21600"/>
                <a:gd name="T6" fmla="*/ 13 w 21600"/>
                <a:gd name="T7" fmla="*/ 0 h 21600"/>
                <a:gd name="T8" fmla="*/ 0 60000 65536"/>
                <a:gd name="T9" fmla="*/ 0 60000 65536"/>
                <a:gd name="T10" fmla="*/ 0 60000 65536"/>
                <a:gd name="T11" fmla="*/ 0 60000 65536"/>
                <a:gd name="T12" fmla="*/ 4505 w 21600"/>
                <a:gd name="T13" fmla="*/ 4553 h 21600"/>
                <a:gd name="T14" fmla="*/ 17095 w 21600"/>
                <a:gd name="T15" fmla="*/ 171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22614" name="Text Box 190"/>
            <p:cNvSpPr txBox="1">
              <a:spLocks noChangeArrowheads="1"/>
            </p:cNvSpPr>
            <p:nvPr/>
          </p:nvSpPr>
          <p:spPr bwMode="auto">
            <a:xfrm>
              <a:off x="2426" y="2001"/>
              <a:ext cx="39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solidFill>
                    <a:schemeClr val="tx2"/>
                  </a:solidFill>
                </a:rPr>
                <a:t>MUX</a:t>
              </a:r>
            </a:p>
          </p:txBody>
        </p:sp>
      </p:grpSp>
      <p:sp>
        <p:nvSpPr>
          <p:cNvPr id="22590" name="Text Box 191"/>
          <p:cNvSpPr txBox="1">
            <a:spLocks noChangeArrowheads="1"/>
          </p:cNvSpPr>
          <p:nvPr/>
        </p:nvSpPr>
        <p:spPr bwMode="auto">
          <a:xfrm>
            <a:off x="1800225" y="3429000"/>
            <a:ext cx="4778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ACC</a:t>
            </a:r>
          </a:p>
        </p:txBody>
      </p:sp>
      <p:sp>
        <p:nvSpPr>
          <p:cNvPr id="22591" name="Text Box 192"/>
          <p:cNvSpPr txBox="1">
            <a:spLocks noChangeArrowheads="1"/>
          </p:cNvSpPr>
          <p:nvPr/>
        </p:nvSpPr>
        <p:spPr bwMode="auto">
          <a:xfrm>
            <a:off x="1835150" y="4581525"/>
            <a:ext cx="2159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M</a:t>
            </a:r>
          </a:p>
        </p:txBody>
      </p:sp>
      <p:sp>
        <p:nvSpPr>
          <p:cNvPr id="22592" name="Text Box 193"/>
          <p:cNvSpPr txBox="1">
            <a:spLocks noChangeArrowheads="1"/>
          </p:cNvSpPr>
          <p:nvPr/>
        </p:nvSpPr>
        <p:spPr bwMode="auto">
          <a:xfrm>
            <a:off x="1403350" y="4581525"/>
            <a:ext cx="2159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A</a:t>
            </a:r>
          </a:p>
        </p:txBody>
      </p:sp>
      <p:sp>
        <p:nvSpPr>
          <p:cNvPr id="22593" name="Line 194"/>
          <p:cNvSpPr>
            <a:spLocks noChangeShapeType="1"/>
          </p:cNvSpPr>
          <p:nvPr/>
        </p:nvSpPr>
        <p:spPr bwMode="auto">
          <a:xfrm flipH="1">
            <a:off x="3527425" y="3968750"/>
            <a:ext cx="180975" cy="0"/>
          </a:xfrm>
          <a:prstGeom prst="line">
            <a:avLst/>
          </a:prstGeom>
          <a:noFill/>
          <a:ln w="19050">
            <a:solidFill>
              <a:srgbClr val="666633"/>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94" name="Line 195"/>
          <p:cNvSpPr>
            <a:spLocks noChangeShapeType="1"/>
          </p:cNvSpPr>
          <p:nvPr/>
        </p:nvSpPr>
        <p:spPr bwMode="auto">
          <a:xfrm>
            <a:off x="5940425" y="3968750"/>
            <a:ext cx="179388" cy="0"/>
          </a:xfrm>
          <a:prstGeom prst="line">
            <a:avLst/>
          </a:prstGeom>
          <a:noFill/>
          <a:ln w="19050">
            <a:solidFill>
              <a:srgbClr val="666633"/>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95" name="Line 196"/>
          <p:cNvSpPr>
            <a:spLocks noChangeShapeType="1"/>
          </p:cNvSpPr>
          <p:nvPr/>
        </p:nvSpPr>
        <p:spPr bwMode="auto">
          <a:xfrm flipH="1">
            <a:off x="1260475" y="2493963"/>
            <a:ext cx="180975" cy="71437"/>
          </a:xfrm>
          <a:prstGeom prst="line">
            <a:avLst/>
          </a:prstGeom>
          <a:noFill/>
          <a:ln w="31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96" name="Text Box 197"/>
          <p:cNvSpPr txBox="1">
            <a:spLocks noChangeArrowheads="1"/>
          </p:cNvSpPr>
          <p:nvPr/>
        </p:nvSpPr>
        <p:spPr bwMode="auto">
          <a:xfrm>
            <a:off x="1079500" y="2351088"/>
            <a:ext cx="2968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40</a:t>
            </a:r>
          </a:p>
        </p:txBody>
      </p:sp>
      <p:sp>
        <p:nvSpPr>
          <p:cNvPr id="22597" name="Line 198"/>
          <p:cNvSpPr>
            <a:spLocks noChangeShapeType="1"/>
          </p:cNvSpPr>
          <p:nvPr/>
        </p:nvSpPr>
        <p:spPr bwMode="auto">
          <a:xfrm flipH="1">
            <a:off x="2628900" y="2492375"/>
            <a:ext cx="180975" cy="71438"/>
          </a:xfrm>
          <a:prstGeom prst="line">
            <a:avLst/>
          </a:prstGeom>
          <a:noFill/>
          <a:ln w="31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98" name="Text Box 199"/>
          <p:cNvSpPr txBox="1">
            <a:spLocks noChangeArrowheads="1"/>
          </p:cNvSpPr>
          <p:nvPr/>
        </p:nvSpPr>
        <p:spPr bwMode="auto">
          <a:xfrm>
            <a:off x="2447925" y="2349500"/>
            <a:ext cx="2968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40</a:t>
            </a:r>
          </a:p>
        </p:txBody>
      </p:sp>
      <p:sp>
        <p:nvSpPr>
          <p:cNvPr id="22599" name="Line 200"/>
          <p:cNvSpPr>
            <a:spLocks noChangeShapeType="1"/>
          </p:cNvSpPr>
          <p:nvPr/>
        </p:nvSpPr>
        <p:spPr bwMode="auto">
          <a:xfrm flipH="1">
            <a:off x="2089150" y="6056313"/>
            <a:ext cx="180975" cy="71437"/>
          </a:xfrm>
          <a:prstGeom prst="line">
            <a:avLst/>
          </a:prstGeom>
          <a:noFill/>
          <a:ln w="31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600" name="Text Box 201"/>
          <p:cNvSpPr txBox="1">
            <a:spLocks noChangeArrowheads="1"/>
          </p:cNvSpPr>
          <p:nvPr/>
        </p:nvSpPr>
        <p:spPr bwMode="auto">
          <a:xfrm>
            <a:off x="1908175" y="5913438"/>
            <a:ext cx="2968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40</a:t>
            </a:r>
          </a:p>
        </p:txBody>
      </p:sp>
      <p:sp>
        <p:nvSpPr>
          <p:cNvPr id="22601" name="Line 202"/>
          <p:cNvSpPr>
            <a:spLocks noChangeShapeType="1"/>
          </p:cNvSpPr>
          <p:nvPr/>
        </p:nvSpPr>
        <p:spPr bwMode="auto">
          <a:xfrm>
            <a:off x="5940425" y="4905375"/>
            <a:ext cx="179388" cy="0"/>
          </a:xfrm>
          <a:prstGeom prst="line">
            <a:avLst/>
          </a:prstGeom>
          <a:noFill/>
          <a:ln w="19050">
            <a:solidFill>
              <a:schemeClr val="folHlink"/>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602" name="Line 203"/>
          <p:cNvSpPr>
            <a:spLocks noChangeShapeType="1"/>
          </p:cNvSpPr>
          <p:nvPr/>
        </p:nvSpPr>
        <p:spPr bwMode="auto">
          <a:xfrm>
            <a:off x="5832475" y="5121275"/>
            <a:ext cx="287338" cy="0"/>
          </a:xfrm>
          <a:prstGeom prst="line">
            <a:avLst/>
          </a:prstGeom>
          <a:noFill/>
          <a:ln w="19050">
            <a:solidFill>
              <a:schemeClr val="folHlink"/>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603" name="Line 204"/>
          <p:cNvSpPr>
            <a:spLocks noChangeShapeType="1"/>
          </p:cNvSpPr>
          <p:nvPr/>
        </p:nvSpPr>
        <p:spPr bwMode="auto">
          <a:xfrm>
            <a:off x="5759450" y="5300663"/>
            <a:ext cx="396875" cy="0"/>
          </a:xfrm>
          <a:prstGeom prst="line">
            <a:avLst/>
          </a:prstGeom>
          <a:noFill/>
          <a:ln w="19050">
            <a:solidFill>
              <a:schemeClr val="folHlink"/>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604" name="Line 205"/>
          <p:cNvSpPr>
            <a:spLocks noChangeShapeType="1"/>
          </p:cNvSpPr>
          <p:nvPr/>
        </p:nvSpPr>
        <p:spPr bwMode="auto">
          <a:xfrm>
            <a:off x="5651500" y="5481638"/>
            <a:ext cx="504825" cy="0"/>
          </a:xfrm>
          <a:prstGeom prst="line">
            <a:avLst/>
          </a:prstGeom>
          <a:noFill/>
          <a:ln w="1905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605" name="Line 206"/>
          <p:cNvSpPr>
            <a:spLocks noChangeShapeType="1"/>
          </p:cNvSpPr>
          <p:nvPr/>
        </p:nvSpPr>
        <p:spPr bwMode="auto">
          <a:xfrm flipV="1">
            <a:off x="5472113" y="5842000"/>
            <a:ext cx="684212" cy="0"/>
          </a:xfrm>
          <a:prstGeom prst="line">
            <a:avLst/>
          </a:prstGeom>
          <a:noFill/>
          <a:ln w="1905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606" name="Line 207"/>
          <p:cNvSpPr>
            <a:spLocks noChangeShapeType="1"/>
          </p:cNvSpPr>
          <p:nvPr/>
        </p:nvSpPr>
        <p:spPr bwMode="auto">
          <a:xfrm>
            <a:off x="5580063" y="5661025"/>
            <a:ext cx="576262" cy="0"/>
          </a:xfrm>
          <a:prstGeom prst="line">
            <a:avLst/>
          </a:prstGeom>
          <a:noFill/>
          <a:ln w="1905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607" name="Text Box 208"/>
          <p:cNvSpPr txBox="1">
            <a:spLocks noChangeArrowheads="1"/>
          </p:cNvSpPr>
          <p:nvPr/>
        </p:nvSpPr>
        <p:spPr bwMode="auto">
          <a:xfrm>
            <a:off x="6192838" y="4760913"/>
            <a:ext cx="5397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OVM</a:t>
            </a:r>
          </a:p>
        </p:txBody>
      </p:sp>
      <p:sp>
        <p:nvSpPr>
          <p:cNvPr id="22608" name="Text Box 209"/>
          <p:cNvSpPr txBox="1">
            <a:spLocks noChangeArrowheads="1"/>
          </p:cNvSpPr>
          <p:nvPr/>
        </p:nvSpPr>
        <p:spPr bwMode="auto">
          <a:xfrm>
            <a:off x="6227763" y="4976813"/>
            <a:ext cx="3603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C16</a:t>
            </a:r>
          </a:p>
        </p:txBody>
      </p:sp>
      <p:sp>
        <p:nvSpPr>
          <p:cNvPr id="22609" name="Text Box 210"/>
          <p:cNvSpPr txBox="1">
            <a:spLocks noChangeArrowheads="1"/>
          </p:cNvSpPr>
          <p:nvPr/>
        </p:nvSpPr>
        <p:spPr bwMode="auto">
          <a:xfrm>
            <a:off x="6156325" y="5192713"/>
            <a:ext cx="3603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C</a:t>
            </a:r>
          </a:p>
        </p:txBody>
      </p:sp>
      <p:sp>
        <p:nvSpPr>
          <p:cNvPr id="22610" name="Text Box 211"/>
          <p:cNvSpPr txBox="1">
            <a:spLocks noChangeArrowheads="1"/>
          </p:cNvSpPr>
          <p:nvPr/>
        </p:nvSpPr>
        <p:spPr bwMode="auto">
          <a:xfrm>
            <a:off x="6192838" y="5373688"/>
            <a:ext cx="9366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OVA/OVB</a:t>
            </a:r>
          </a:p>
        </p:txBody>
      </p:sp>
      <p:sp>
        <p:nvSpPr>
          <p:cNvPr id="22611" name="Text Box 212"/>
          <p:cNvSpPr txBox="1">
            <a:spLocks noChangeArrowheads="1"/>
          </p:cNvSpPr>
          <p:nvPr/>
        </p:nvSpPr>
        <p:spPr bwMode="auto">
          <a:xfrm>
            <a:off x="6192838" y="5553075"/>
            <a:ext cx="6842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ZA/ZB</a:t>
            </a:r>
          </a:p>
        </p:txBody>
      </p:sp>
      <p:sp>
        <p:nvSpPr>
          <p:cNvPr id="22612" name="Text Box 213"/>
          <p:cNvSpPr txBox="1">
            <a:spLocks noChangeArrowheads="1"/>
          </p:cNvSpPr>
          <p:nvPr/>
        </p:nvSpPr>
        <p:spPr bwMode="auto">
          <a:xfrm>
            <a:off x="6156325" y="5734050"/>
            <a:ext cx="4778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400"/>
              <a:t>TC</a:t>
            </a:r>
          </a:p>
        </p:txBody>
      </p:sp>
    </p:spTree>
  </p:cSld>
  <p:clrMapOvr>
    <a:masterClrMapping/>
  </p:clrMapOvr>
  <p:transition spd="med">
    <p:pull dir="l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5392C47-D821-4B02-858A-91C89990C803}" type="slidenum">
              <a:rPr lang="en-US" altLang="zh-CN" sz="1400" b="0"/>
              <a:pPr eaLnBrk="1" hangingPunct="1"/>
              <a:t>11</a:t>
            </a:fld>
            <a:endParaRPr lang="en-US" altLang="zh-CN" sz="1400" b="0"/>
          </a:p>
        </p:txBody>
      </p:sp>
      <p:sp>
        <p:nvSpPr>
          <p:cNvPr id="23555" name="Rectangle 2"/>
          <p:cNvSpPr>
            <a:spLocks noChangeArrowheads="1"/>
          </p:cNvSpPr>
          <p:nvPr/>
        </p:nvSpPr>
        <p:spPr bwMode="auto">
          <a:xfrm>
            <a:off x="381000" y="1219200"/>
            <a:ext cx="8305800"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solidFill>
                  <a:schemeClr val="tx2"/>
                </a:solidFill>
              </a:rPr>
              <a:t>       ALU</a:t>
            </a:r>
            <a:r>
              <a:rPr lang="zh-CN" altLang="en-US" sz="2800">
                <a:solidFill>
                  <a:schemeClr val="tx2"/>
                </a:solidFill>
              </a:rPr>
              <a:t>的输入</a:t>
            </a:r>
            <a:r>
              <a:rPr lang="zh-CN" altLang="en-US" sz="2800"/>
              <a:t>：</a:t>
            </a:r>
            <a:r>
              <a:rPr lang="en-US" altLang="zh-CN" sz="2800"/>
              <a:t>ALU</a:t>
            </a:r>
            <a:r>
              <a:rPr lang="zh-CN" altLang="en-US" sz="2800"/>
              <a:t>有两个输入端，</a:t>
            </a:r>
            <a:r>
              <a:rPr lang="en-US" altLang="zh-CN" sz="2800">
                <a:solidFill>
                  <a:schemeClr val="tx2"/>
                </a:solidFill>
              </a:rPr>
              <a:t>X</a:t>
            </a:r>
            <a:r>
              <a:rPr lang="zh-CN" altLang="en-US" sz="2800">
                <a:solidFill>
                  <a:schemeClr val="tx2"/>
                </a:solidFill>
              </a:rPr>
              <a:t>输入</a:t>
            </a:r>
            <a:r>
              <a:rPr lang="zh-CN" altLang="en-US" sz="2800"/>
              <a:t>端的数据来源于移位寄存器的输出（</a:t>
            </a:r>
            <a:r>
              <a:rPr lang="en-US" altLang="zh-CN" sz="2800"/>
              <a:t>32</a:t>
            </a:r>
            <a:r>
              <a:rPr lang="zh-CN" altLang="en-US" sz="2800"/>
              <a:t>位或</a:t>
            </a:r>
            <a:r>
              <a:rPr lang="en-US" altLang="zh-CN" sz="2800"/>
              <a:t>16</a:t>
            </a:r>
            <a:r>
              <a:rPr lang="zh-CN" altLang="en-US" sz="2800"/>
              <a:t>位数据存储器操作数以及累加器中的数值，经移位寄存器移位后输出）或来自数据总线</a:t>
            </a:r>
            <a:r>
              <a:rPr lang="en-US" altLang="zh-CN" sz="2800"/>
              <a:t>DB </a:t>
            </a:r>
            <a:r>
              <a:rPr lang="zh-CN" altLang="en-US" sz="2800"/>
              <a:t>的数据存储器操作数。</a:t>
            </a:r>
          </a:p>
          <a:p>
            <a:pPr eaLnBrk="1" hangingPunct="1">
              <a:spcBef>
                <a:spcPct val="50000"/>
              </a:spcBef>
            </a:pPr>
            <a:r>
              <a:rPr lang="zh-CN" altLang="en-US" sz="2800"/>
              <a:t>         </a:t>
            </a:r>
            <a:r>
              <a:rPr lang="en-US" altLang="zh-CN" sz="2800">
                <a:solidFill>
                  <a:schemeClr val="tx2"/>
                </a:solidFill>
              </a:rPr>
              <a:t>Y</a:t>
            </a:r>
            <a:r>
              <a:rPr lang="zh-CN" altLang="en-US" sz="2800">
                <a:solidFill>
                  <a:schemeClr val="tx2"/>
                </a:solidFill>
              </a:rPr>
              <a:t>输入</a:t>
            </a:r>
            <a:r>
              <a:rPr lang="zh-CN" altLang="en-US" sz="2800"/>
              <a:t>端的数据来源于累加器</a:t>
            </a:r>
            <a:r>
              <a:rPr lang="en-US" altLang="zh-CN" sz="2800"/>
              <a:t>A</a:t>
            </a:r>
            <a:r>
              <a:rPr lang="zh-CN" altLang="en-US" sz="2800"/>
              <a:t>中的数据，或累加器</a:t>
            </a:r>
            <a:r>
              <a:rPr lang="en-US" altLang="zh-CN" sz="2800"/>
              <a:t>B</a:t>
            </a:r>
            <a:r>
              <a:rPr lang="zh-CN" altLang="en-US" sz="2800"/>
              <a:t>中的数据，或来自数据总线</a:t>
            </a:r>
            <a:r>
              <a:rPr lang="en-US" altLang="zh-CN" sz="2800"/>
              <a:t>CB</a:t>
            </a:r>
            <a:r>
              <a:rPr lang="zh-CN" altLang="en-US" sz="2800"/>
              <a:t>的数据存储器操作数，或来自</a:t>
            </a:r>
            <a:r>
              <a:rPr lang="en-US" altLang="zh-CN" sz="2800"/>
              <a:t>T</a:t>
            </a:r>
            <a:r>
              <a:rPr lang="zh-CN" altLang="en-US" sz="2800"/>
              <a:t>寄存器中的数据。</a:t>
            </a:r>
          </a:p>
          <a:p>
            <a:pPr eaLnBrk="1" hangingPunct="1">
              <a:spcBef>
                <a:spcPct val="50000"/>
              </a:spcBef>
            </a:pPr>
            <a:r>
              <a:rPr lang="zh-CN" altLang="en-US" sz="2800"/>
              <a:t>          </a:t>
            </a:r>
            <a:r>
              <a:rPr lang="zh-CN" altLang="en-US" sz="2800">
                <a:solidFill>
                  <a:srgbClr val="FF00FF"/>
                </a:solidFill>
                <a:latin typeface="宋体" panose="02010600030101010101" pitchFamily="2" charset="-122"/>
              </a:rPr>
              <a:t>当一个</a:t>
            </a:r>
            <a:r>
              <a:rPr lang="en-US" altLang="zh-CN" sz="2800">
                <a:solidFill>
                  <a:srgbClr val="FF00FF"/>
                </a:solidFill>
                <a:latin typeface="宋体" panose="02010600030101010101" pitchFamily="2" charset="-122"/>
              </a:rPr>
              <a:t>16</a:t>
            </a:r>
            <a:r>
              <a:rPr lang="zh-CN" altLang="en-US" sz="2800">
                <a:solidFill>
                  <a:srgbClr val="FF00FF"/>
                </a:solidFill>
                <a:latin typeface="宋体" panose="02010600030101010101" pitchFamily="2" charset="-122"/>
              </a:rPr>
              <a:t>位数据存储器操作数加到</a:t>
            </a:r>
            <a:r>
              <a:rPr lang="en-US" altLang="zh-CN" sz="2800">
                <a:solidFill>
                  <a:srgbClr val="FF00FF"/>
                </a:solidFill>
                <a:latin typeface="宋体" panose="02010600030101010101" pitchFamily="2" charset="-122"/>
              </a:rPr>
              <a:t>40</a:t>
            </a:r>
            <a:r>
              <a:rPr lang="zh-CN" altLang="en-US" sz="2800">
                <a:solidFill>
                  <a:srgbClr val="FF00FF"/>
                </a:solidFill>
                <a:latin typeface="宋体" panose="02010600030101010101" pitchFamily="2" charset="-122"/>
              </a:rPr>
              <a:t>位</a:t>
            </a:r>
            <a:r>
              <a:rPr lang="en-US" altLang="zh-CN" sz="2800">
                <a:solidFill>
                  <a:srgbClr val="FF00FF"/>
                </a:solidFill>
                <a:latin typeface="宋体" panose="02010600030101010101" pitchFamily="2" charset="-122"/>
              </a:rPr>
              <a:t>ALU</a:t>
            </a:r>
            <a:r>
              <a:rPr lang="zh-CN" altLang="en-US" sz="2800">
                <a:solidFill>
                  <a:srgbClr val="FF00FF"/>
                </a:solidFill>
                <a:latin typeface="宋体" panose="02010600030101010101" pitchFamily="2" charset="-122"/>
              </a:rPr>
              <a:t>的输入端时，若状态寄存器</a:t>
            </a:r>
            <a:r>
              <a:rPr lang="en-US" altLang="zh-CN" sz="2800">
                <a:solidFill>
                  <a:srgbClr val="FF00FF"/>
                </a:solidFill>
                <a:latin typeface="宋体" panose="02010600030101010101" pitchFamily="2" charset="-122"/>
              </a:rPr>
              <a:t>ST1</a:t>
            </a:r>
            <a:r>
              <a:rPr lang="zh-CN" altLang="en-US" sz="2800">
                <a:solidFill>
                  <a:srgbClr val="FF00FF"/>
                </a:solidFill>
                <a:latin typeface="宋体" panose="02010600030101010101" pitchFamily="2" charset="-122"/>
              </a:rPr>
              <a:t>的</a:t>
            </a:r>
            <a:r>
              <a:rPr lang="en-US" altLang="zh-CN" sz="2800">
                <a:solidFill>
                  <a:srgbClr val="FF00FF"/>
                </a:solidFill>
                <a:latin typeface="宋体" panose="02010600030101010101" pitchFamily="2" charset="-122"/>
              </a:rPr>
              <a:t>SXM=0</a:t>
            </a:r>
            <a:r>
              <a:rPr lang="zh-CN" altLang="en-US" sz="2800">
                <a:solidFill>
                  <a:srgbClr val="FF00FF"/>
                </a:solidFill>
                <a:latin typeface="宋体" panose="02010600030101010101" pitchFamily="2" charset="-122"/>
              </a:rPr>
              <a:t>，则高位添</a:t>
            </a:r>
            <a:r>
              <a:rPr lang="en-US" altLang="zh-CN" sz="2800">
                <a:solidFill>
                  <a:srgbClr val="FF00FF"/>
                </a:solidFill>
                <a:latin typeface="宋体" panose="02010600030101010101" pitchFamily="2" charset="-122"/>
              </a:rPr>
              <a:t>0</a:t>
            </a:r>
            <a:r>
              <a:rPr lang="zh-CN" altLang="en-US" sz="2800">
                <a:solidFill>
                  <a:srgbClr val="FF00FF"/>
                </a:solidFill>
                <a:latin typeface="宋体" panose="02010600030101010101" pitchFamily="2" charset="-122"/>
              </a:rPr>
              <a:t>，若</a:t>
            </a:r>
            <a:r>
              <a:rPr lang="en-US" altLang="zh-CN" sz="2800">
                <a:solidFill>
                  <a:srgbClr val="FF00FF"/>
                </a:solidFill>
                <a:latin typeface="宋体" panose="02010600030101010101" pitchFamily="2" charset="-122"/>
              </a:rPr>
              <a:t>SXM=1</a:t>
            </a:r>
            <a:r>
              <a:rPr lang="zh-CN" altLang="en-US" sz="2800">
                <a:solidFill>
                  <a:srgbClr val="FF00FF"/>
                </a:solidFill>
                <a:latin typeface="宋体" panose="02010600030101010101" pitchFamily="2" charset="-122"/>
              </a:rPr>
              <a:t>，则符号位扩展。</a:t>
            </a:r>
          </a:p>
        </p:txBody>
      </p:sp>
    </p:spTree>
  </p:cSld>
  <p:clrMapOvr>
    <a:masterClrMapping/>
  </p:clrMapOvr>
  <p:transition spd="med">
    <p:pull dir="lu"/>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idx="1"/>
          </p:nvPr>
        </p:nvSpPr>
        <p:spPr bwMode="auto">
          <a:xfrm>
            <a:off x="1371600" y="1676400"/>
            <a:ext cx="5410200" cy="3352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b="1">
                <a:latin typeface="宋体" panose="02010600030101010101" pitchFamily="2" charset="-122"/>
              </a:rPr>
              <a:t>ALU</a:t>
            </a:r>
            <a:r>
              <a:rPr lang="zh-CN" altLang="en-US" sz="3600" b="1">
                <a:latin typeface="宋体" panose="02010600030101010101" pitchFamily="2" charset="-122"/>
              </a:rPr>
              <a:t>如何获取数据</a:t>
            </a:r>
            <a:r>
              <a:rPr lang="zh-CN" altLang="en-US" sz="3600" b="1"/>
              <a:t> </a:t>
            </a:r>
          </a:p>
          <a:p>
            <a:pPr eaLnBrk="1" hangingPunct="1"/>
            <a:r>
              <a:rPr lang="en-US" altLang="zh-CN" sz="3600" b="1">
                <a:latin typeface="宋体" panose="02010600030101010101" pitchFamily="2" charset="-122"/>
              </a:rPr>
              <a:t>ALU</a:t>
            </a:r>
            <a:r>
              <a:rPr lang="zh-CN" altLang="en-US" sz="3600" b="1">
                <a:latin typeface="宋体" panose="02010600030101010101" pitchFamily="2" charset="-122"/>
              </a:rPr>
              <a:t>输出送往何方</a:t>
            </a:r>
            <a:r>
              <a:rPr lang="zh-CN" altLang="en-US" sz="3600" b="1"/>
              <a:t> </a:t>
            </a:r>
          </a:p>
          <a:p>
            <a:pPr eaLnBrk="1" hangingPunct="1"/>
            <a:r>
              <a:rPr lang="zh-CN" altLang="en-US" sz="3600" b="1">
                <a:latin typeface="宋体" panose="02010600030101010101" pitchFamily="2" charset="-122"/>
              </a:rPr>
              <a:t>溢出怎么办</a:t>
            </a:r>
            <a:r>
              <a:rPr lang="zh-CN" altLang="en-US" sz="3600" b="1"/>
              <a:t> </a:t>
            </a:r>
          </a:p>
          <a:p>
            <a:pPr eaLnBrk="1" hangingPunct="1"/>
            <a:r>
              <a:rPr lang="zh-CN" altLang="en-US" sz="3600" b="1">
                <a:latin typeface="宋体" panose="02010600030101010101" pitchFamily="2" charset="-122"/>
              </a:rPr>
              <a:t>进位位的作用</a:t>
            </a:r>
            <a:r>
              <a:rPr lang="zh-CN" altLang="en-US" sz="3600" b="1"/>
              <a:t> </a:t>
            </a:r>
          </a:p>
          <a:p>
            <a:pPr eaLnBrk="1" hangingPunct="1"/>
            <a:r>
              <a:rPr lang="zh-CN" altLang="en-US" sz="3600" b="1">
                <a:latin typeface="宋体" panose="02010600030101010101" pitchFamily="2" charset="-122"/>
              </a:rPr>
              <a:t>什么是双</a:t>
            </a:r>
            <a:r>
              <a:rPr lang="en-US" altLang="zh-CN" sz="3600" b="1">
                <a:latin typeface="宋体" panose="02010600030101010101" pitchFamily="2" charset="-122"/>
              </a:rPr>
              <a:t>16</a:t>
            </a:r>
            <a:r>
              <a:rPr lang="zh-CN" altLang="en-US" sz="3600" b="1">
                <a:latin typeface="宋体" panose="02010600030101010101" pitchFamily="2" charset="-122"/>
              </a:rPr>
              <a:t>位算术运算</a:t>
            </a:r>
            <a:r>
              <a:rPr lang="zh-CN" altLang="en-US" sz="3600"/>
              <a:t> </a:t>
            </a:r>
          </a:p>
        </p:txBody>
      </p:sp>
      <p:sp>
        <p:nvSpPr>
          <p:cNvPr id="2457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5730735-C4D6-4B2E-BD28-76A5FB8F5A71}" type="slidenum">
              <a:rPr lang="en-US" altLang="zh-CN" sz="1400" b="0"/>
              <a:pPr eaLnBrk="1" hangingPunct="1"/>
              <a:t>12</a:t>
            </a:fld>
            <a:endParaRPr lang="en-US" altLang="zh-CN" sz="1400" b="0"/>
          </a:p>
        </p:txBody>
      </p:sp>
      <p:sp>
        <p:nvSpPr>
          <p:cNvPr id="521220" name="AutoShape 4" descr="小棋盘"/>
          <p:cNvSpPr>
            <a:spLocks noChangeArrowheads="1"/>
          </p:cNvSpPr>
          <p:nvPr/>
        </p:nvSpPr>
        <p:spPr bwMode="auto">
          <a:xfrm>
            <a:off x="6477000" y="2819400"/>
            <a:ext cx="2438400" cy="1447800"/>
          </a:xfrm>
          <a:prstGeom prst="wedgeRoundRectCallout">
            <a:avLst>
              <a:gd name="adj1" fmla="val -122722"/>
              <a:gd name="adj2" fmla="val -18310"/>
              <a:gd name="adj3" fmla="val 16667"/>
            </a:avLst>
          </a:prstGeom>
          <a:pattFill prst="smCheck">
            <a:fgClr>
              <a:srgbClr val="FFFF00"/>
            </a:fgClr>
            <a:bgClr>
              <a:srgbClr val="FFFFFF"/>
            </a:bgClr>
          </a:pattFill>
          <a:ln w="9525">
            <a:solidFill>
              <a:schemeClr val="folHlink"/>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a:solidFill>
                  <a:schemeClr val="tx2"/>
                </a:solidFill>
              </a:rPr>
              <a:t>根据</a:t>
            </a:r>
            <a:r>
              <a:rPr lang="en-US" altLang="zh-CN" sz="3200"/>
              <a:t>ST1</a:t>
            </a:r>
            <a:r>
              <a:rPr lang="zh-CN" altLang="en-US" sz="3200"/>
              <a:t>的</a:t>
            </a:r>
            <a:r>
              <a:rPr lang="en-US" altLang="zh-CN" sz="3200">
                <a:solidFill>
                  <a:schemeClr val="tx2"/>
                </a:solidFill>
              </a:rPr>
              <a:t>OVM</a:t>
            </a:r>
            <a:r>
              <a:rPr lang="zh-CN" altLang="en-US" sz="3200">
                <a:solidFill>
                  <a:schemeClr val="tx2"/>
                </a:solidFill>
              </a:rPr>
              <a:t>位进行处理</a:t>
            </a:r>
          </a:p>
        </p:txBody>
      </p:sp>
      <p:sp>
        <p:nvSpPr>
          <p:cNvPr id="521221" name="Rectangle 5" descr="小棋盘"/>
          <p:cNvSpPr>
            <a:spLocks noChangeArrowheads="1"/>
          </p:cNvSpPr>
          <p:nvPr/>
        </p:nvSpPr>
        <p:spPr bwMode="auto">
          <a:xfrm>
            <a:off x="395288" y="2565400"/>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21220"/>
                                        </p:tgtEl>
                                        <p:attrNameLst>
                                          <p:attrName>style.visibility</p:attrName>
                                        </p:attrNameLst>
                                      </p:cBhvr>
                                      <p:to>
                                        <p:strVal val="visible"/>
                                      </p:to>
                                    </p:set>
                                    <p:anim calcmode="lin" valueType="num">
                                      <p:cBhvr additive="base">
                                        <p:cTn id="7" dur="500" fill="hold"/>
                                        <p:tgtEl>
                                          <p:spTgt spid="521220"/>
                                        </p:tgtEl>
                                        <p:attrNameLst>
                                          <p:attrName>ppt_x</p:attrName>
                                        </p:attrNameLst>
                                      </p:cBhvr>
                                      <p:tavLst>
                                        <p:tav tm="0">
                                          <p:val>
                                            <p:strVal val="1+#ppt_w/2"/>
                                          </p:val>
                                        </p:tav>
                                        <p:tav tm="100000">
                                          <p:val>
                                            <p:strVal val="#ppt_x"/>
                                          </p:val>
                                        </p:tav>
                                      </p:tavLst>
                                    </p:anim>
                                    <p:anim calcmode="lin" valueType="num">
                                      <p:cBhvr additive="base">
                                        <p:cTn id="8" dur="500" fill="hold"/>
                                        <p:tgtEl>
                                          <p:spTgt spid="52122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521221">
                                            <p:txEl>
                                              <p:charRg st="4294967295" end="4294967295"/>
                                            </p:txEl>
                                          </p:spTgt>
                                        </p:tgtEl>
                                        <p:attrNameLst>
                                          <p:attrName>style.visibility</p:attrName>
                                        </p:attrNameLst>
                                      </p:cBhvr>
                                      <p:to>
                                        <p:strVal val="visible"/>
                                      </p:to>
                                    </p:set>
                                    <p:animEffect transition="in" filter="slide(fromBottom)">
                                      <p:cBhvr>
                                        <p:cTn id="12" dur="500"/>
                                        <p:tgtEl>
                                          <p:spTgt spid="521221">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20" grpId="0" animBg="1" autoUpdateAnimBg="0"/>
      <p:bldP spid="52122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64F8C2F7-58F1-48D6-B1CB-E25FE4F6AAFA}" type="slidenum">
              <a:rPr lang="en-US" altLang="zh-CN" sz="1400" b="0"/>
              <a:pPr eaLnBrk="1" hangingPunct="1"/>
              <a:t>13</a:t>
            </a:fld>
            <a:endParaRPr lang="en-US" altLang="zh-CN" sz="1400" b="0"/>
          </a:p>
        </p:txBody>
      </p:sp>
      <p:sp>
        <p:nvSpPr>
          <p:cNvPr id="25603" name="Rectangle 2"/>
          <p:cNvSpPr>
            <a:spLocks noChangeArrowheads="1"/>
          </p:cNvSpPr>
          <p:nvPr/>
        </p:nvSpPr>
        <p:spPr bwMode="auto">
          <a:xfrm>
            <a:off x="609600" y="1219200"/>
            <a:ext cx="8153400"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zh-CN" altLang="en-US" sz="3200">
                <a:solidFill>
                  <a:srgbClr val="FF00FF"/>
                </a:solidFill>
              </a:rPr>
              <a:t>溢出处理：</a:t>
            </a:r>
            <a:r>
              <a:rPr lang="en-US" altLang="zh-CN" sz="3200"/>
              <a:t>ALU</a:t>
            </a:r>
            <a:r>
              <a:rPr lang="zh-CN" altLang="en-US" sz="3200"/>
              <a:t>的饱和逻辑可以处理溢出。当发生溢出、且状态寄存器</a:t>
            </a:r>
            <a:r>
              <a:rPr lang="en-US" altLang="zh-CN" sz="3200"/>
              <a:t>ST1</a:t>
            </a:r>
            <a:r>
              <a:rPr lang="zh-CN" altLang="en-US" sz="3200"/>
              <a:t>的</a:t>
            </a:r>
            <a:r>
              <a:rPr lang="en-US" altLang="zh-CN" sz="3200">
                <a:solidFill>
                  <a:schemeClr val="tx2"/>
                </a:solidFill>
              </a:rPr>
              <a:t>OVM=1</a:t>
            </a:r>
            <a:r>
              <a:rPr lang="zh-CN" altLang="en-US" sz="3200"/>
              <a:t>时，则</a:t>
            </a:r>
            <a:r>
              <a:rPr lang="zh-CN" altLang="en-US" sz="3200">
                <a:solidFill>
                  <a:schemeClr val="tx2"/>
                </a:solidFill>
              </a:rPr>
              <a:t>用</a:t>
            </a:r>
            <a:r>
              <a:rPr lang="en-US" altLang="zh-CN" sz="3200">
                <a:solidFill>
                  <a:schemeClr val="tx2"/>
                </a:solidFill>
              </a:rPr>
              <a:t>32</a:t>
            </a:r>
            <a:r>
              <a:rPr lang="zh-CN" altLang="en-US" sz="3200">
                <a:solidFill>
                  <a:schemeClr val="tx2"/>
                </a:solidFill>
              </a:rPr>
              <a:t>位最大正数</a:t>
            </a:r>
            <a:r>
              <a:rPr lang="en-US" altLang="zh-CN" sz="3200"/>
              <a:t>00 7FFFFFFFh</a:t>
            </a:r>
            <a:r>
              <a:rPr lang="zh-CN" altLang="en-US" sz="3200"/>
              <a:t>（正向溢出）</a:t>
            </a:r>
            <a:r>
              <a:rPr lang="zh-CN" altLang="en-US" sz="3200">
                <a:solidFill>
                  <a:schemeClr val="tx2"/>
                </a:solidFill>
              </a:rPr>
              <a:t>或最大负数</a:t>
            </a:r>
            <a:r>
              <a:rPr lang="en-US" altLang="zh-CN" sz="3200"/>
              <a:t>FF 80000000h</a:t>
            </a:r>
            <a:r>
              <a:rPr lang="zh-CN" altLang="en-US" sz="3200"/>
              <a:t>（负向溢出）</a:t>
            </a:r>
            <a:r>
              <a:rPr lang="zh-CN" altLang="en-US" sz="3200">
                <a:solidFill>
                  <a:schemeClr val="tx2"/>
                </a:solidFill>
              </a:rPr>
              <a:t>加载累加器</a:t>
            </a:r>
            <a:r>
              <a:rPr lang="zh-CN" altLang="en-US" sz="3200">
                <a:solidFill>
                  <a:schemeClr val="folHlink"/>
                </a:solidFill>
              </a:rPr>
              <a:t>。</a:t>
            </a:r>
          </a:p>
          <a:p>
            <a:pPr eaLnBrk="1" hangingPunct="1">
              <a:lnSpc>
                <a:spcPct val="90000"/>
              </a:lnSpc>
              <a:spcBef>
                <a:spcPct val="50000"/>
              </a:spcBef>
            </a:pPr>
            <a:r>
              <a:rPr lang="zh-CN" altLang="en-US" sz="3200"/>
              <a:t>        溢出发生后，相应的溢出标志位（</a:t>
            </a:r>
            <a:r>
              <a:rPr lang="en-US" altLang="zh-CN" sz="3200"/>
              <a:t>OVA</a:t>
            </a:r>
            <a:r>
              <a:rPr lang="zh-CN" altLang="en-US" sz="3200"/>
              <a:t>或</a:t>
            </a:r>
            <a:r>
              <a:rPr lang="en-US" altLang="zh-CN" sz="3200"/>
              <a:t>OVB</a:t>
            </a:r>
            <a:r>
              <a:rPr lang="zh-CN" altLang="en-US" sz="3200"/>
              <a:t>）置</a:t>
            </a:r>
            <a:r>
              <a:rPr lang="en-US" altLang="zh-CN" sz="3200"/>
              <a:t>1</a:t>
            </a:r>
            <a:r>
              <a:rPr lang="zh-CN" altLang="en-US" sz="3200"/>
              <a:t>，直到复位或执行溢出条件指令。也可用</a:t>
            </a:r>
            <a:r>
              <a:rPr lang="en-US" altLang="zh-CN" sz="3200"/>
              <a:t>SAT</a:t>
            </a:r>
            <a:r>
              <a:rPr lang="zh-CN" altLang="en-US" sz="3200"/>
              <a:t>指令对累加器进行饱和处理而不必考虑</a:t>
            </a:r>
            <a:r>
              <a:rPr lang="en-US" altLang="zh-CN" sz="3200"/>
              <a:t>OVM</a:t>
            </a:r>
            <a:r>
              <a:rPr lang="zh-CN" altLang="en-US" sz="3200"/>
              <a:t>值。</a:t>
            </a:r>
          </a:p>
          <a:p>
            <a:pPr eaLnBrk="1" hangingPunct="1">
              <a:lnSpc>
                <a:spcPct val="90000"/>
              </a:lnSpc>
              <a:spcBef>
                <a:spcPct val="50000"/>
              </a:spcBef>
            </a:pPr>
            <a:r>
              <a:rPr lang="zh-CN" altLang="en-US" sz="3200"/>
              <a:t>        若</a:t>
            </a:r>
            <a:r>
              <a:rPr lang="en-US" altLang="zh-CN" sz="3200">
                <a:solidFill>
                  <a:schemeClr val="tx2"/>
                </a:solidFill>
              </a:rPr>
              <a:t>OVM=0</a:t>
            </a:r>
            <a:r>
              <a:rPr lang="zh-CN" altLang="en-US" sz="3200">
                <a:solidFill>
                  <a:schemeClr val="tx2"/>
                </a:solidFill>
              </a:rPr>
              <a:t>，</a:t>
            </a:r>
            <a:r>
              <a:rPr lang="zh-CN" altLang="en-US" sz="3200"/>
              <a:t>直接将结果送回到累加器。</a:t>
            </a:r>
          </a:p>
        </p:txBody>
      </p:sp>
    </p:spTree>
  </p:cSld>
  <p:clrMapOvr>
    <a:masterClrMapping/>
  </p:clrMapOvr>
  <p:transition spd="med">
    <p:pull dir="lu"/>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idx="1"/>
          </p:nvPr>
        </p:nvSpPr>
        <p:spPr bwMode="auto">
          <a:xfrm>
            <a:off x="1116013" y="1844675"/>
            <a:ext cx="5410200" cy="3352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b="1">
                <a:latin typeface="宋体" panose="02010600030101010101" pitchFamily="2" charset="-122"/>
              </a:rPr>
              <a:t>ALU</a:t>
            </a:r>
            <a:r>
              <a:rPr lang="zh-CN" altLang="en-US" sz="3600" b="1">
                <a:latin typeface="宋体" panose="02010600030101010101" pitchFamily="2" charset="-122"/>
              </a:rPr>
              <a:t>如何获取数据</a:t>
            </a:r>
            <a:r>
              <a:rPr lang="zh-CN" altLang="en-US" sz="3600" b="1"/>
              <a:t> </a:t>
            </a:r>
          </a:p>
          <a:p>
            <a:pPr eaLnBrk="1" hangingPunct="1"/>
            <a:r>
              <a:rPr lang="en-US" altLang="zh-CN" sz="3600" b="1">
                <a:latin typeface="宋体" panose="02010600030101010101" pitchFamily="2" charset="-122"/>
              </a:rPr>
              <a:t>ALU</a:t>
            </a:r>
            <a:r>
              <a:rPr lang="zh-CN" altLang="en-US" sz="3600" b="1">
                <a:latin typeface="宋体" panose="02010600030101010101" pitchFamily="2" charset="-122"/>
              </a:rPr>
              <a:t>输出送往何方</a:t>
            </a:r>
            <a:r>
              <a:rPr lang="zh-CN" altLang="en-US" sz="3600" b="1"/>
              <a:t> </a:t>
            </a:r>
          </a:p>
          <a:p>
            <a:pPr eaLnBrk="1" hangingPunct="1"/>
            <a:r>
              <a:rPr lang="zh-CN" altLang="en-US" sz="3600" b="1">
                <a:latin typeface="宋体" panose="02010600030101010101" pitchFamily="2" charset="-122"/>
              </a:rPr>
              <a:t>溢出怎么办</a:t>
            </a:r>
            <a:r>
              <a:rPr lang="zh-CN" altLang="en-US" sz="3600" b="1"/>
              <a:t> </a:t>
            </a:r>
          </a:p>
          <a:p>
            <a:pPr eaLnBrk="1" hangingPunct="1"/>
            <a:r>
              <a:rPr lang="zh-CN" altLang="en-US" sz="3600" b="1">
                <a:latin typeface="宋体" panose="02010600030101010101" pitchFamily="2" charset="-122"/>
              </a:rPr>
              <a:t>进位位的作用</a:t>
            </a:r>
            <a:r>
              <a:rPr lang="zh-CN" altLang="en-US" sz="3600" b="1"/>
              <a:t> </a:t>
            </a:r>
          </a:p>
          <a:p>
            <a:pPr eaLnBrk="1" hangingPunct="1"/>
            <a:r>
              <a:rPr lang="zh-CN" altLang="en-US" sz="3600" b="1">
                <a:latin typeface="宋体" panose="02010600030101010101" pitchFamily="2" charset="-122"/>
              </a:rPr>
              <a:t>什么是双</a:t>
            </a:r>
            <a:r>
              <a:rPr lang="en-US" altLang="zh-CN" sz="3600" b="1">
                <a:latin typeface="宋体" panose="02010600030101010101" pitchFamily="2" charset="-122"/>
              </a:rPr>
              <a:t>16</a:t>
            </a:r>
            <a:r>
              <a:rPr lang="zh-CN" altLang="en-US" sz="3600" b="1">
                <a:latin typeface="宋体" panose="02010600030101010101" pitchFamily="2" charset="-122"/>
              </a:rPr>
              <a:t>位算术运算</a:t>
            </a:r>
            <a:r>
              <a:rPr lang="zh-CN" altLang="en-US" sz="3600"/>
              <a:t> </a:t>
            </a:r>
          </a:p>
        </p:txBody>
      </p:sp>
      <p:sp>
        <p:nvSpPr>
          <p:cNvPr id="2662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31613437-CB19-4A79-A071-D1DDB4FB7A47}" type="slidenum">
              <a:rPr lang="en-US" altLang="zh-CN" sz="1400" b="0"/>
              <a:pPr eaLnBrk="1" hangingPunct="1"/>
              <a:t>14</a:t>
            </a:fld>
            <a:endParaRPr lang="en-US" altLang="zh-CN" sz="1400" b="0"/>
          </a:p>
        </p:txBody>
      </p:sp>
      <p:sp>
        <p:nvSpPr>
          <p:cNvPr id="523268" name="AutoShape 4" descr="小棋盘"/>
          <p:cNvSpPr>
            <a:spLocks noChangeArrowheads="1"/>
          </p:cNvSpPr>
          <p:nvPr/>
        </p:nvSpPr>
        <p:spPr bwMode="auto">
          <a:xfrm>
            <a:off x="5410200" y="1295400"/>
            <a:ext cx="3429000" cy="2971800"/>
          </a:xfrm>
          <a:prstGeom prst="wedgeRoundRectCallout">
            <a:avLst>
              <a:gd name="adj1" fmla="val -78241"/>
              <a:gd name="adj2" fmla="val 44713"/>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a:solidFill>
                  <a:schemeClr val="tx2"/>
                </a:solidFill>
              </a:rPr>
              <a:t>可以用来支持扩展精度的算术运算，</a:t>
            </a:r>
            <a:r>
              <a:rPr lang="zh-CN" altLang="en-US" sz="2800">
                <a:solidFill>
                  <a:srgbClr val="CC00CC"/>
                </a:solidFill>
              </a:rPr>
              <a:t>利用两个条件操作数</a:t>
            </a:r>
            <a:r>
              <a:rPr lang="en-US" altLang="zh-CN" sz="2800">
                <a:solidFill>
                  <a:srgbClr val="CC00CC"/>
                </a:solidFill>
              </a:rPr>
              <a:t>C</a:t>
            </a:r>
            <a:r>
              <a:rPr lang="zh-CN" altLang="en-US" sz="2800">
                <a:solidFill>
                  <a:srgbClr val="CC00CC"/>
                </a:solidFill>
              </a:rPr>
              <a:t>和</a:t>
            </a:r>
            <a:r>
              <a:rPr lang="en-US" altLang="zh-CN" sz="2800">
                <a:solidFill>
                  <a:srgbClr val="CC00CC"/>
                </a:solidFill>
              </a:rPr>
              <a:t>NC</a:t>
            </a:r>
            <a:r>
              <a:rPr lang="zh-CN" altLang="en-US" sz="2800">
                <a:solidFill>
                  <a:srgbClr val="CC00CC"/>
                </a:solidFill>
              </a:rPr>
              <a:t>，可以根据进位位的状态，进行分支转移、调用与返回操作。</a:t>
            </a:r>
          </a:p>
        </p:txBody>
      </p:sp>
      <p:sp>
        <p:nvSpPr>
          <p:cNvPr id="523269" name="Rectangle 5" descr="小棋盘"/>
          <p:cNvSpPr>
            <a:spLocks noChangeArrowheads="1"/>
          </p:cNvSpPr>
          <p:nvPr/>
        </p:nvSpPr>
        <p:spPr bwMode="auto">
          <a:xfrm>
            <a:off x="179388" y="2492375"/>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23268"/>
                                        </p:tgtEl>
                                        <p:attrNameLst>
                                          <p:attrName>style.visibility</p:attrName>
                                        </p:attrNameLst>
                                      </p:cBhvr>
                                      <p:to>
                                        <p:strVal val="visible"/>
                                      </p:to>
                                    </p:set>
                                    <p:anim calcmode="lin" valueType="num">
                                      <p:cBhvr additive="base">
                                        <p:cTn id="7" dur="500" fill="hold"/>
                                        <p:tgtEl>
                                          <p:spTgt spid="523268"/>
                                        </p:tgtEl>
                                        <p:attrNameLst>
                                          <p:attrName>ppt_x</p:attrName>
                                        </p:attrNameLst>
                                      </p:cBhvr>
                                      <p:tavLst>
                                        <p:tav tm="0">
                                          <p:val>
                                            <p:strVal val="1+#ppt_w/2"/>
                                          </p:val>
                                        </p:tav>
                                        <p:tav tm="100000">
                                          <p:val>
                                            <p:strVal val="#ppt_x"/>
                                          </p:val>
                                        </p:tav>
                                      </p:tavLst>
                                    </p:anim>
                                    <p:anim calcmode="lin" valueType="num">
                                      <p:cBhvr additive="base">
                                        <p:cTn id="8" dur="500" fill="hold"/>
                                        <p:tgtEl>
                                          <p:spTgt spid="52326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523269">
                                            <p:txEl>
                                              <p:charRg st="4294967295" end="4294967295"/>
                                            </p:txEl>
                                          </p:spTgt>
                                        </p:tgtEl>
                                        <p:attrNameLst>
                                          <p:attrName>style.visibility</p:attrName>
                                        </p:attrNameLst>
                                      </p:cBhvr>
                                      <p:to>
                                        <p:strVal val="visible"/>
                                      </p:to>
                                    </p:set>
                                    <p:animEffect transition="in" filter="slide(fromBottom)">
                                      <p:cBhvr>
                                        <p:cTn id="12" dur="500"/>
                                        <p:tgtEl>
                                          <p:spTgt spid="523269">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68" grpId="0" animBg="1" autoUpdateAnimBg="0"/>
      <p:bldP spid="523269"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idx="1"/>
          </p:nvPr>
        </p:nvSpPr>
        <p:spPr bwMode="auto">
          <a:xfrm>
            <a:off x="1371600" y="1447800"/>
            <a:ext cx="5410200" cy="3352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b="1">
                <a:latin typeface="宋体" panose="02010600030101010101" pitchFamily="2" charset="-122"/>
              </a:rPr>
              <a:t>ALU</a:t>
            </a:r>
            <a:r>
              <a:rPr lang="zh-CN" altLang="en-US" sz="3600" b="1">
                <a:latin typeface="宋体" panose="02010600030101010101" pitchFamily="2" charset="-122"/>
              </a:rPr>
              <a:t>如何获取数据</a:t>
            </a:r>
            <a:r>
              <a:rPr lang="zh-CN" altLang="en-US" sz="3600" b="1"/>
              <a:t> </a:t>
            </a:r>
          </a:p>
          <a:p>
            <a:pPr eaLnBrk="1" hangingPunct="1"/>
            <a:r>
              <a:rPr lang="en-US" altLang="zh-CN" sz="3600" b="1">
                <a:latin typeface="宋体" panose="02010600030101010101" pitchFamily="2" charset="-122"/>
              </a:rPr>
              <a:t>ALU</a:t>
            </a:r>
            <a:r>
              <a:rPr lang="zh-CN" altLang="en-US" sz="3600" b="1">
                <a:latin typeface="宋体" panose="02010600030101010101" pitchFamily="2" charset="-122"/>
              </a:rPr>
              <a:t>输出送往何方</a:t>
            </a:r>
            <a:r>
              <a:rPr lang="zh-CN" altLang="en-US" sz="3600" b="1"/>
              <a:t> </a:t>
            </a:r>
          </a:p>
          <a:p>
            <a:pPr eaLnBrk="1" hangingPunct="1"/>
            <a:r>
              <a:rPr lang="zh-CN" altLang="en-US" sz="3600" b="1">
                <a:latin typeface="宋体" panose="02010600030101010101" pitchFamily="2" charset="-122"/>
              </a:rPr>
              <a:t>溢出怎么办</a:t>
            </a:r>
            <a:r>
              <a:rPr lang="zh-CN" altLang="en-US" sz="3600" b="1"/>
              <a:t> </a:t>
            </a:r>
          </a:p>
          <a:p>
            <a:pPr eaLnBrk="1" hangingPunct="1"/>
            <a:r>
              <a:rPr lang="zh-CN" altLang="en-US" sz="3600" b="1">
                <a:latin typeface="宋体" panose="02010600030101010101" pitchFamily="2" charset="-122"/>
              </a:rPr>
              <a:t>进位位的作用</a:t>
            </a:r>
            <a:r>
              <a:rPr lang="zh-CN" altLang="en-US" sz="3600" b="1"/>
              <a:t> </a:t>
            </a:r>
          </a:p>
          <a:p>
            <a:pPr eaLnBrk="1" hangingPunct="1"/>
            <a:r>
              <a:rPr lang="zh-CN" altLang="en-US" sz="3600" b="1">
                <a:latin typeface="宋体" panose="02010600030101010101" pitchFamily="2" charset="-122"/>
              </a:rPr>
              <a:t>什么是双</a:t>
            </a:r>
            <a:r>
              <a:rPr lang="en-US" altLang="zh-CN" sz="3600" b="1">
                <a:latin typeface="宋体" panose="02010600030101010101" pitchFamily="2" charset="-122"/>
              </a:rPr>
              <a:t>16</a:t>
            </a:r>
            <a:r>
              <a:rPr lang="zh-CN" altLang="en-US" sz="3600" b="1">
                <a:latin typeface="宋体" panose="02010600030101010101" pitchFamily="2" charset="-122"/>
              </a:rPr>
              <a:t>位算术运算</a:t>
            </a:r>
            <a:r>
              <a:rPr lang="zh-CN" altLang="en-US" sz="3600"/>
              <a:t> </a:t>
            </a:r>
          </a:p>
        </p:txBody>
      </p:sp>
      <p:sp>
        <p:nvSpPr>
          <p:cNvPr id="2765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6A067E1-E29B-46BF-B416-D53869E38B1A}" type="slidenum">
              <a:rPr lang="en-US" altLang="zh-CN" sz="1400" b="0"/>
              <a:pPr eaLnBrk="1" hangingPunct="1"/>
              <a:t>15</a:t>
            </a:fld>
            <a:endParaRPr lang="en-US" altLang="zh-CN" sz="1400" b="0"/>
          </a:p>
        </p:txBody>
      </p:sp>
      <p:sp>
        <p:nvSpPr>
          <p:cNvPr id="524292" name="AutoShape 4" descr="小棋盘"/>
          <p:cNvSpPr>
            <a:spLocks noChangeArrowheads="1"/>
          </p:cNvSpPr>
          <p:nvPr/>
        </p:nvSpPr>
        <p:spPr bwMode="auto">
          <a:xfrm>
            <a:off x="6705600" y="1600200"/>
            <a:ext cx="2209800" cy="4852988"/>
          </a:xfrm>
          <a:prstGeom prst="wedgeRoundRectCallout">
            <a:avLst>
              <a:gd name="adj1" fmla="val -78736"/>
              <a:gd name="adj2" fmla="val -2894"/>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a:solidFill>
                  <a:srgbClr val="FF00FF"/>
                </a:solidFill>
              </a:rPr>
              <a:t>只要置位</a:t>
            </a:r>
            <a:r>
              <a:rPr lang="en-US" altLang="zh-CN" sz="2800">
                <a:solidFill>
                  <a:srgbClr val="FF00FF"/>
                </a:solidFill>
              </a:rPr>
              <a:t>ST1</a:t>
            </a:r>
            <a:r>
              <a:rPr lang="zh-CN" altLang="en-US" sz="2800">
                <a:solidFill>
                  <a:srgbClr val="FF00FF"/>
                </a:solidFill>
              </a:rPr>
              <a:t>的</a:t>
            </a:r>
            <a:r>
              <a:rPr lang="en-US" altLang="zh-CN" sz="2800">
                <a:solidFill>
                  <a:srgbClr val="FF00FF"/>
                </a:solidFill>
              </a:rPr>
              <a:t>C16</a:t>
            </a:r>
            <a:r>
              <a:rPr lang="zh-CN" altLang="en-US" sz="2800">
                <a:solidFill>
                  <a:srgbClr val="FF00FF"/>
                </a:solidFill>
              </a:rPr>
              <a:t>状态位，就可让</a:t>
            </a:r>
            <a:r>
              <a:rPr lang="en-US" altLang="zh-CN" sz="2800">
                <a:solidFill>
                  <a:srgbClr val="FF00FF"/>
                </a:solidFill>
              </a:rPr>
              <a:t>ALU</a:t>
            </a:r>
            <a:r>
              <a:rPr lang="zh-CN" altLang="en-US" sz="2800">
                <a:solidFill>
                  <a:srgbClr val="FF00FF"/>
                </a:solidFill>
              </a:rPr>
              <a:t>在单个周期内进行特殊的双</a:t>
            </a:r>
            <a:r>
              <a:rPr lang="en-US" altLang="zh-CN" sz="2800">
                <a:solidFill>
                  <a:srgbClr val="FF00FF"/>
                </a:solidFill>
              </a:rPr>
              <a:t>16</a:t>
            </a:r>
            <a:r>
              <a:rPr lang="zh-CN" altLang="en-US" sz="2800">
                <a:solidFill>
                  <a:srgbClr val="FF00FF"/>
                </a:solidFill>
              </a:rPr>
              <a:t>位算术运算，亦即</a:t>
            </a:r>
            <a:r>
              <a:rPr lang="zh-CN" altLang="en-US" sz="2800">
                <a:solidFill>
                  <a:schemeClr val="tx2"/>
                </a:solidFill>
              </a:rPr>
              <a:t>进行两次</a:t>
            </a:r>
            <a:r>
              <a:rPr lang="en-US" altLang="zh-CN" sz="2800">
                <a:solidFill>
                  <a:schemeClr val="tx2"/>
                </a:solidFill>
              </a:rPr>
              <a:t>16</a:t>
            </a:r>
            <a:r>
              <a:rPr lang="zh-CN" altLang="en-US" sz="2800">
                <a:solidFill>
                  <a:schemeClr val="tx2"/>
                </a:solidFill>
              </a:rPr>
              <a:t>位加法或两次</a:t>
            </a:r>
            <a:r>
              <a:rPr lang="en-US" altLang="zh-CN" sz="2800">
                <a:solidFill>
                  <a:schemeClr val="tx2"/>
                </a:solidFill>
              </a:rPr>
              <a:t>16</a:t>
            </a:r>
            <a:r>
              <a:rPr lang="zh-CN" altLang="en-US" sz="2800">
                <a:solidFill>
                  <a:schemeClr val="tx2"/>
                </a:solidFill>
              </a:rPr>
              <a:t>位减法。</a:t>
            </a:r>
            <a:endParaRPr lang="zh-CN" altLang="en-US" sz="2800">
              <a:solidFill>
                <a:srgbClr val="CC00CC"/>
              </a:solidFill>
            </a:endParaRPr>
          </a:p>
        </p:txBody>
      </p:sp>
      <p:sp>
        <p:nvSpPr>
          <p:cNvPr id="524293" name="Rectangle 5" descr="小棋盘"/>
          <p:cNvSpPr>
            <a:spLocks noChangeArrowheads="1"/>
          </p:cNvSpPr>
          <p:nvPr/>
        </p:nvSpPr>
        <p:spPr bwMode="auto">
          <a:xfrm>
            <a:off x="395288" y="2349500"/>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24292"/>
                                        </p:tgtEl>
                                        <p:attrNameLst>
                                          <p:attrName>style.visibility</p:attrName>
                                        </p:attrNameLst>
                                      </p:cBhvr>
                                      <p:to>
                                        <p:strVal val="visible"/>
                                      </p:to>
                                    </p:set>
                                    <p:anim calcmode="lin" valueType="num">
                                      <p:cBhvr additive="base">
                                        <p:cTn id="7" dur="500" fill="hold"/>
                                        <p:tgtEl>
                                          <p:spTgt spid="524292"/>
                                        </p:tgtEl>
                                        <p:attrNameLst>
                                          <p:attrName>ppt_x</p:attrName>
                                        </p:attrNameLst>
                                      </p:cBhvr>
                                      <p:tavLst>
                                        <p:tav tm="0">
                                          <p:val>
                                            <p:strVal val="1+#ppt_w/2"/>
                                          </p:val>
                                        </p:tav>
                                        <p:tav tm="100000">
                                          <p:val>
                                            <p:strVal val="#ppt_x"/>
                                          </p:val>
                                        </p:tav>
                                      </p:tavLst>
                                    </p:anim>
                                    <p:anim calcmode="lin" valueType="num">
                                      <p:cBhvr additive="base">
                                        <p:cTn id="8" dur="500" fill="hold"/>
                                        <p:tgtEl>
                                          <p:spTgt spid="52429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524293">
                                            <p:txEl>
                                              <p:charRg st="4294967295" end="4294967295"/>
                                            </p:txEl>
                                          </p:spTgt>
                                        </p:tgtEl>
                                        <p:attrNameLst>
                                          <p:attrName>style.visibility</p:attrName>
                                        </p:attrNameLst>
                                      </p:cBhvr>
                                      <p:to>
                                        <p:strVal val="visible"/>
                                      </p:to>
                                    </p:set>
                                    <p:animEffect transition="in" filter="slide(fromBottom)">
                                      <p:cBhvr>
                                        <p:cTn id="12" dur="500"/>
                                        <p:tgtEl>
                                          <p:spTgt spid="524293">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2" grpId="0" animBg="1" autoUpdateAnimBg="0"/>
      <p:bldP spid="52429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bwMode="auto">
          <a:xfrm>
            <a:off x="685800" y="9144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latin typeface="Arial" panose="020B0604020202020204" pitchFamily="34" charset="0"/>
                <a:ea typeface="仿宋_GB2312" pitchFamily="49" charset="-122"/>
              </a:rPr>
              <a:t>2. </a:t>
            </a:r>
            <a:r>
              <a:rPr lang="zh-CN" altLang="en-US" b="1">
                <a:solidFill>
                  <a:srgbClr val="FF0000"/>
                </a:solidFill>
                <a:latin typeface="Arial" panose="020B0604020202020204" pitchFamily="34" charset="0"/>
                <a:ea typeface="仿宋_GB2312" pitchFamily="49" charset="-122"/>
              </a:rPr>
              <a:t>累加器</a:t>
            </a:r>
            <a:r>
              <a:rPr lang="en-US" altLang="zh-CN" b="1">
                <a:solidFill>
                  <a:srgbClr val="FF0000"/>
                </a:solidFill>
                <a:latin typeface="Arial" panose="020B0604020202020204" pitchFamily="34" charset="0"/>
                <a:ea typeface="仿宋_GB2312" pitchFamily="49" charset="-122"/>
              </a:rPr>
              <a:t>A</a:t>
            </a:r>
            <a:r>
              <a:rPr lang="zh-CN" altLang="en-US" b="1">
                <a:solidFill>
                  <a:srgbClr val="FF0000"/>
                </a:solidFill>
                <a:latin typeface="Arial" panose="020B0604020202020204" pitchFamily="34" charset="0"/>
                <a:ea typeface="仿宋_GB2312" pitchFamily="49" charset="-122"/>
              </a:rPr>
              <a:t>和</a:t>
            </a:r>
            <a:r>
              <a:rPr lang="en-US" altLang="zh-CN" b="1">
                <a:solidFill>
                  <a:srgbClr val="FF0000"/>
                </a:solidFill>
                <a:latin typeface="Arial" panose="020B0604020202020204" pitchFamily="34" charset="0"/>
                <a:ea typeface="仿宋_GB2312" pitchFamily="49" charset="-122"/>
              </a:rPr>
              <a:t>B</a:t>
            </a:r>
            <a:endParaRPr lang="en-US" altLang="zh-CN" b="1">
              <a:solidFill>
                <a:srgbClr val="FF0000"/>
              </a:solidFill>
              <a:latin typeface="Arial" panose="020B0604020202020204" pitchFamily="34" charset="0"/>
              <a:cs typeface="Arial" panose="020B0604020202020204" pitchFamily="34" charset="0"/>
            </a:endParaRPr>
          </a:p>
        </p:txBody>
      </p:sp>
      <p:sp>
        <p:nvSpPr>
          <p:cNvPr id="28675" name="Rectangle 3"/>
          <p:cNvSpPr>
            <a:spLocks noGrp="1" noChangeArrowheads="1"/>
          </p:cNvSpPr>
          <p:nvPr>
            <p:ph idx="1"/>
          </p:nvPr>
        </p:nvSpPr>
        <p:spPr bwMode="auto">
          <a:xfrm>
            <a:off x="2209800" y="1905000"/>
            <a:ext cx="4419600" cy="2362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作用</a:t>
            </a:r>
            <a:r>
              <a:rPr lang="zh-CN" altLang="en-US" b="1"/>
              <a:t> </a:t>
            </a:r>
          </a:p>
          <a:p>
            <a:pPr eaLnBrk="1" hangingPunct="1"/>
            <a:r>
              <a:rPr lang="zh-CN" altLang="en-US" b="1">
                <a:latin typeface="宋体" panose="02010600030101010101" pitchFamily="2" charset="-122"/>
              </a:rPr>
              <a:t>结构与位置 </a:t>
            </a:r>
          </a:p>
          <a:p>
            <a:pPr eaLnBrk="1" hangingPunct="1"/>
            <a:r>
              <a:rPr lang="zh-CN" altLang="en-US" b="1">
                <a:latin typeface="宋体" panose="02010600030101010101" pitchFamily="2" charset="-122"/>
              </a:rPr>
              <a:t>Ａ和Ｂ的异同</a:t>
            </a:r>
            <a:r>
              <a:rPr lang="zh-CN" altLang="en-US" b="1"/>
              <a:t> </a:t>
            </a:r>
          </a:p>
          <a:p>
            <a:pPr eaLnBrk="1" hangingPunct="1"/>
            <a:r>
              <a:rPr lang="zh-CN" altLang="en-US" b="1">
                <a:latin typeface="宋体" panose="02010600030101010101" pitchFamily="2" charset="-122"/>
              </a:rPr>
              <a:t>加载与存储中的移位</a:t>
            </a:r>
            <a:r>
              <a:rPr lang="zh-CN" altLang="en-US" b="1"/>
              <a:t> </a:t>
            </a:r>
          </a:p>
        </p:txBody>
      </p:sp>
      <p:sp>
        <p:nvSpPr>
          <p:cNvPr id="2867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B0924667-7BB1-48ED-A4AA-E5C2FA58BFAE}" type="slidenum">
              <a:rPr lang="en-US" altLang="zh-CN" sz="1400" b="0"/>
              <a:pPr eaLnBrk="1" hangingPunct="1"/>
              <a:t>16</a:t>
            </a:fld>
            <a:endParaRPr lang="en-US" altLang="zh-CN" sz="1400" b="0"/>
          </a:p>
        </p:txBody>
      </p:sp>
      <p:grpSp>
        <p:nvGrpSpPr>
          <p:cNvPr id="2" name="Group 4"/>
          <p:cNvGrpSpPr>
            <a:grpSpLocks/>
          </p:cNvGrpSpPr>
          <p:nvPr/>
        </p:nvGrpSpPr>
        <p:grpSpPr bwMode="auto">
          <a:xfrm>
            <a:off x="685800" y="4572000"/>
            <a:ext cx="6400800" cy="1951038"/>
            <a:chOff x="912" y="2352"/>
            <a:chExt cx="4032" cy="1229"/>
          </a:xfrm>
        </p:grpSpPr>
        <p:grpSp>
          <p:nvGrpSpPr>
            <p:cNvPr id="28705" name="Group 5"/>
            <p:cNvGrpSpPr>
              <a:grpSpLocks/>
            </p:cNvGrpSpPr>
            <p:nvPr/>
          </p:nvGrpSpPr>
          <p:grpSpPr bwMode="auto">
            <a:xfrm>
              <a:off x="912" y="2352"/>
              <a:ext cx="1344" cy="1229"/>
              <a:chOff x="1104" y="2256"/>
              <a:chExt cx="1344" cy="1229"/>
            </a:xfrm>
          </p:grpSpPr>
          <p:sp>
            <p:nvSpPr>
              <p:cNvPr id="28714" name="Text Box 6"/>
              <p:cNvSpPr txBox="1">
                <a:spLocks noChangeArrowheads="1"/>
              </p:cNvSpPr>
              <p:nvPr/>
            </p:nvSpPr>
            <p:spPr bwMode="auto">
              <a:xfrm>
                <a:off x="1104" y="2688"/>
                <a:ext cx="1344" cy="371"/>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a:solidFill>
                      <a:schemeClr val="tx2"/>
                    </a:solidFill>
                  </a:rPr>
                  <a:t>AG</a:t>
                </a:r>
              </a:p>
            </p:txBody>
          </p:sp>
          <p:sp>
            <p:nvSpPr>
              <p:cNvPr id="28715" name="Text Box 7"/>
              <p:cNvSpPr txBox="1">
                <a:spLocks noChangeArrowheads="1"/>
              </p:cNvSpPr>
              <p:nvPr/>
            </p:nvSpPr>
            <p:spPr bwMode="auto">
              <a:xfrm>
                <a:off x="1344" y="3120"/>
                <a:ext cx="9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solidFill>
                      <a:schemeClr val="tx2"/>
                    </a:solidFill>
                  </a:rPr>
                  <a:t>保护位</a:t>
                </a:r>
              </a:p>
            </p:txBody>
          </p:sp>
          <p:sp>
            <p:nvSpPr>
              <p:cNvPr id="28716" name="Text Box 8"/>
              <p:cNvSpPr txBox="1">
                <a:spLocks noChangeArrowheads="1"/>
              </p:cNvSpPr>
              <p:nvPr/>
            </p:nvSpPr>
            <p:spPr bwMode="auto">
              <a:xfrm>
                <a:off x="1296" y="2256"/>
                <a:ext cx="10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a:solidFill>
                      <a:schemeClr val="tx2"/>
                    </a:solidFill>
                  </a:rPr>
                  <a:t>39</a:t>
                </a:r>
                <a:r>
                  <a:rPr lang="zh-CN" altLang="en-US" sz="3200">
                    <a:solidFill>
                      <a:schemeClr val="tx2"/>
                    </a:solidFill>
                    <a:latin typeface="宋体" panose="02010600030101010101" pitchFamily="2" charset="-122"/>
                  </a:rPr>
                  <a:t>～</a:t>
                </a:r>
                <a:r>
                  <a:rPr lang="zh-CN" altLang="en-US" sz="3200">
                    <a:solidFill>
                      <a:schemeClr val="tx2"/>
                    </a:solidFill>
                  </a:rPr>
                  <a:t> </a:t>
                </a:r>
                <a:r>
                  <a:rPr lang="en-US" altLang="zh-CN" sz="3200">
                    <a:solidFill>
                      <a:schemeClr val="tx2"/>
                    </a:solidFill>
                  </a:rPr>
                  <a:t>32</a:t>
                </a:r>
              </a:p>
            </p:txBody>
          </p:sp>
        </p:grpSp>
        <p:grpSp>
          <p:nvGrpSpPr>
            <p:cNvPr id="28706" name="Group 9"/>
            <p:cNvGrpSpPr>
              <a:grpSpLocks/>
            </p:cNvGrpSpPr>
            <p:nvPr/>
          </p:nvGrpSpPr>
          <p:grpSpPr bwMode="auto">
            <a:xfrm>
              <a:off x="2256" y="2352"/>
              <a:ext cx="1344" cy="1229"/>
              <a:chOff x="1104" y="2256"/>
              <a:chExt cx="1344" cy="1229"/>
            </a:xfrm>
          </p:grpSpPr>
          <p:sp>
            <p:nvSpPr>
              <p:cNvPr id="28711" name="Text Box 10"/>
              <p:cNvSpPr txBox="1">
                <a:spLocks noChangeArrowheads="1"/>
              </p:cNvSpPr>
              <p:nvPr/>
            </p:nvSpPr>
            <p:spPr bwMode="auto">
              <a:xfrm>
                <a:off x="1104" y="2688"/>
                <a:ext cx="1344" cy="371"/>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a:solidFill>
                      <a:schemeClr val="tx2"/>
                    </a:solidFill>
                  </a:rPr>
                  <a:t>AH</a:t>
                </a:r>
              </a:p>
            </p:txBody>
          </p:sp>
          <p:sp>
            <p:nvSpPr>
              <p:cNvPr id="28712" name="Text Box 11"/>
              <p:cNvSpPr txBox="1">
                <a:spLocks noChangeArrowheads="1"/>
              </p:cNvSpPr>
              <p:nvPr/>
            </p:nvSpPr>
            <p:spPr bwMode="auto">
              <a:xfrm>
                <a:off x="1344" y="3120"/>
                <a:ext cx="9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solidFill>
                      <a:schemeClr val="tx2"/>
                    </a:solidFill>
                  </a:rPr>
                  <a:t>高阶位</a:t>
                </a:r>
              </a:p>
            </p:txBody>
          </p:sp>
          <p:sp>
            <p:nvSpPr>
              <p:cNvPr id="28713" name="Text Box 12"/>
              <p:cNvSpPr txBox="1">
                <a:spLocks noChangeArrowheads="1"/>
              </p:cNvSpPr>
              <p:nvPr/>
            </p:nvSpPr>
            <p:spPr bwMode="auto">
              <a:xfrm>
                <a:off x="1296" y="2256"/>
                <a:ext cx="10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a:solidFill>
                      <a:schemeClr val="tx2"/>
                    </a:solidFill>
                  </a:rPr>
                  <a:t>31</a:t>
                </a:r>
                <a:r>
                  <a:rPr lang="zh-CN" altLang="en-US" sz="3200">
                    <a:solidFill>
                      <a:schemeClr val="tx2"/>
                    </a:solidFill>
                    <a:latin typeface="宋体" panose="02010600030101010101" pitchFamily="2" charset="-122"/>
                  </a:rPr>
                  <a:t>～</a:t>
                </a:r>
                <a:r>
                  <a:rPr lang="zh-CN" altLang="en-US" sz="3200">
                    <a:solidFill>
                      <a:schemeClr val="tx2"/>
                    </a:solidFill>
                  </a:rPr>
                  <a:t> </a:t>
                </a:r>
                <a:r>
                  <a:rPr lang="en-US" altLang="zh-CN" sz="3200">
                    <a:solidFill>
                      <a:schemeClr val="tx2"/>
                    </a:solidFill>
                  </a:rPr>
                  <a:t>16</a:t>
                </a:r>
              </a:p>
            </p:txBody>
          </p:sp>
        </p:grpSp>
        <p:grpSp>
          <p:nvGrpSpPr>
            <p:cNvPr id="28707" name="Group 13"/>
            <p:cNvGrpSpPr>
              <a:grpSpLocks/>
            </p:cNvGrpSpPr>
            <p:nvPr/>
          </p:nvGrpSpPr>
          <p:grpSpPr bwMode="auto">
            <a:xfrm>
              <a:off x="3600" y="2352"/>
              <a:ext cx="1344" cy="1229"/>
              <a:chOff x="1104" y="2256"/>
              <a:chExt cx="1344" cy="1229"/>
            </a:xfrm>
          </p:grpSpPr>
          <p:sp>
            <p:nvSpPr>
              <p:cNvPr id="28708" name="Text Box 14"/>
              <p:cNvSpPr txBox="1">
                <a:spLocks noChangeArrowheads="1"/>
              </p:cNvSpPr>
              <p:nvPr/>
            </p:nvSpPr>
            <p:spPr bwMode="auto">
              <a:xfrm>
                <a:off x="1104" y="2688"/>
                <a:ext cx="1344" cy="371"/>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a:solidFill>
                      <a:schemeClr val="tx2"/>
                    </a:solidFill>
                  </a:rPr>
                  <a:t>AL</a:t>
                </a:r>
              </a:p>
            </p:txBody>
          </p:sp>
          <p:sp>
            <p:nvSpPr>
              <p:cNvPr id="28709" name="Text Box 15"/>
              <p:cNvSpPr txBox="1">
                <a:spLocks noChangeArrowheads="1"/>
              </p:cNvSpPr>
              <p:nvPr/>
            </p:nvSpPr>
            <p:spPr bwMode="auto">
              <a:xfrm>
                <a:off x="1344" y="3120"/>
                <a:ext cx="9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solidFill>
                      <a:schemeClr val="tx2"/>
                    </a:solidFill>
                  </a:rPr>
                  <a:t>低阶位</a:t>
                </a:r>
              </a:p>
            </p:txBody>
          </p:sp>
          <p:sp>
            <p:nvSpPr>
              <p:cNvPr id="28710" name="Text Box 16"/>
              <p:cNvSpPr txBox="1">
                <a:spLocks noChangeArrowheads="1"/>
              </p:cNvSpPr>
              <p:nvPr/>
            </p:nvSpPr>
            <p:spPr bwMode="auto">
              <a:xfrm>
                <a:off x="1296" y="2256"/>
                <a:ext cx="10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a:solidFill>
                      <a:schemeClr val="tx2"/>
                    </a:solidFill>
                  </a:rPr>
                  <a:t>15</a:t>
                </a:r>
                <a:r>
                  <a:rPr lang="zh-CN" altLang="en-US" sz="3200">
                    <a:solidFill>
                      <a:schemeClr val="tx2"/>
                    </a:solidFill>
                    <a:latin typeface="宋体" panose="02010600030101010101" pitchFamily="2" charset="-122"/>
                  </a:rPr>
                  <a:t>～</a:t>
                </a:r>
                <a:r>
                  <a:rPr lang="zh-CN" altLang="en-US" sz="3200">
                    <a:solidFill>
                      <a:schemeClr val="tx2"/>
                    </a:solidFill>
                  </a:rPr>
                  <a:t> </a:t>
                </a:r>
                <a:r>
                  <a:rPr lang="en-US" altLang="zh-CN" sz="3200">
                    <a:solidFill>
                      <a:schemeClr val="tx2"/>
                    </a:solidFill>
                  </a:rPr>
                  <a:t>0</a:t>
                </a:r>
              </a:p>
            </p:txBody>
          </p:sp>
        </p:grpSp>
      </p:grpSp>
      <p:sp>
        <p:nvSpPr>
          <p:cNvPr id="525329" name="Rectangle 17" descr="小棋盘"/>
          <p:cNvSpPr>
            <a:spLocks noChangeArrowheads="1"/>
          </p:cNvSpPr>
          <p:nvPr/>
        </p:nvSpPr>
        <p:spPr bwMode="auto">
          <a:xfrm>
            <a:off x="762000" y="2362200"/>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
        <p:nvSpPr>
          <p:cNvPr id="28679" name="Rectangle 19"/>
          <p:cNvSpPr>
            <a:spLocks noChangeArrowheads="1"/>
          </p:cNvSpPr>
          <p:nvPr/>
        </p:nvSpPr>
        <p:spPr bwMode="auto">
          <a:xfrm>
            <a:off x="7315200" y="2209800"/>
            <a:ext cx="1447800" cy="228600"/>
          </a:xfrm>
          <a:prstGeom prst="rect">
            <a:avLst/>
          </a:prstGeom>
          <a:solidFill>
            <a:schemeClr val="bg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680" name="Rectangle 20"/>
          <p:cNvSpPr>
            <a:spLocks noChangeArrowheads="1"/>
          </p:cNvSpPr>
          <p:nvPr/>
        </p:nvSpPr>
        <p:spPr bwMode="auto">
          <a:xfrm>
            <a:off x="7315200" y="2438400"/>
            <a:ext cx="1447800" cy="228600"/>
          </a:xfrm>
          <a:prstGeom prst="rect">
            <a:avLst/>
          </a:prstGeom>
          <a:solidFill>
            <a:schemeClr val="bg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681" name="Rectangle 21"/>
          <p:cNvSpPr>
            <a:spLocks noChangeArrowheads="1"/>
          </p:cNvSpPr>
          <p:nvPr/>
        </p:nvSpPr>
        <p:spPr bwMode="auto">
          <a:xfrm>
            <a:off x="7315200" y="3352800"/>
            <a:ext cx="1447800" cy="228600"/>
          </a:xfrm>
          <a:prstGeom prst="rect">
            <a:avLst/>
          </a:prstGeom>
          <a:solidFill>
            <a:schemeClr val="bg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682" name="Rectangle 22"/>
          <p:cNvSpPr>
            <a:spLocks noChangeArrowheads="1"/>
          </p:cNvSpPr>
          <p:nvPr/>
        </p:nvSpPr>
        <p:spPr bwMode="auto">
          <a:xfrm>
            <a:off x="7315200" y="1676400"/>
            <a:ext cx="1447800" cy="3048000"/>
          </a:xfrm>
          <a:prstGeom prst="rect">
            <a:avLst/>
          </a:prstGeom>
          <a:solidFill>
            <a:srgbClr val="CCFF99"/>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683" name="Line 23"/>
          <p:cNvSpPr>
            <a:spLocks noChangeShapeType="1"/>
          </p:cNvSpPr>
          <p:nvPr/>
        </p:nvSpPr>
        <p:spPr bwMode="auto">
          <a:xfrm>
            <a:off x="7315200" y="2438400"/>
            <a:ext cx="1447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4" name="Line 24"/>
          <p:cNvSpPr>
            <a:spLocks noChangeShapeType="1"/>
          </p:cNvSpPr>
          <p:nvPr/>
        </p:nvSpPr>
        <p:spPr bwMode="auto">
          <a:xfrm>
            <a:off x="7315200" y="2667000"/>
            <a:ext cx="1447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5" name="Line 25"/>
          <p:cNvSpPr>
            <a:spLocks noChangeShapeType="1"/>
          </p:cNvSpPr>
          <p:nvPr/>
        </p:nvSpPr>
        <p:spPr bwMode="auto">
          <a:xfrm>
            <a:off x="7315200" y="3352800"/>
            <a:ext cx="1447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6" name="Line 26"/>
          <p:cNvSpPr>
            <a:spLocks noChangeShapeType="1"/>
          </p:cNvSpPr>
          <p:nvPr/>
        </p:nvSpPr>
        <p:spPr bwMode="auto">
          <a:xfrm>
            <a:off x="7315200" y="3581400"/>
            <a:ext cx="1447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7" name="Line 27"/>
          <p:cNvSpPr>
            <a:spLocks noChangeShapeType="1"/>
          </p:cNvSpPr>
          <p:nvPr/>
        </p:nvSpPr>
        <p:spPr bwMode="auto">
          <a:xfrm>
            <a:off x="7315200" y="2209800"/>
            <a:ext cx="1447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8" name="Text Box 28"/>
          <p:cNvSpPr txBox="1">
            <a:spLocks noChangeArrowheads="1"/>
          </p:cNvSpPr>
          <p:nvPr/>
        </p:nvSpPr>
        <p:spPr bwMode="auto">
          <a:xfrm>
            <a:off x="6858000" y="21336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9900CC"/>
                </a:solidFill>
              </a:rPr>
              <a:t>8</a:t>
            </a:r>
          </a:p>
        </p:txBody>
      </p:sp>
      <p:sp>
        <p:nvSpPr>
          <p:cNvPr id="28689" name="Text Box 29"/>
          <p:cNvSpPr txBox="1">
            <a:spLocks noChangeArrowheads="1"/>
          </p:cNvSpPr>
          <p:nvPr/>
        </p:nvSpPr>
        <p:spPr bwMode="auto">
          <a:xfrm>
            <a:off x="6858000" y="23622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9900CC"/>
                </a:solidFill>
              </a:rPr>
              <a:t>9</a:t>
            </a:r>
          </a:p>
        </p:txBody>
      </p:sp>
      <p:sp>
        <p:nvSpPr>
          <p:cNvPr id="28690" name="Text Box 30"/>
          <p:cNvSpPr txBox="1">
            <a:spLocks noChangeArrowheads="1"/>
          </p:cNvSpPr>
          <p:nvPr/>
        </p:nvSpPr>
        <p:spPr bwMode="auto">
          <a:xfrm>
            <a:off x="6858000" y="32766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9900CC"/>
                </a:solidFill>
              </a:rPr>
              <a:t>D</a:t>
            </a:r>
          </a:p>
        </p:txBody>
      </p:sp>
      <p:sp>
        <p:nvSpPr>
          <p:cNvPr id="28691" name="Text Box 31"/>
          <p:cNvSpPr txBox="1">
            <a:spLocks noChangeArrowheads="1"/>
          </p:cNvSpPr>
          <p:nvPr/>
        </p:nvSpPr>
        <p:spPr bwMode="auto">
          <a:xfrm>
            <a:off x="7239000" y="48768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9900CC"/>
                </a:solidFill>
              </a:rPr>
              <a:t>O</a:t>
            </a:r>
            <a:r>
              <a:rPr lang="zh-CN" altLang="en-US">
                <a:solidFill>
                  <a:srgbClr val="9900CC"/>
                </a:solidFill>
              </a:rPr>
              <a:t>页存储器</a:t>
            </a:r>
          </a:p>
        </p:txBody>
      </p:sp>
      <p:sp>
        <p:nvSpPr>
          <p:cNvPr id="28692" name="Line 32"/>
          <p:cNvSpPr>
            <a:spLocks noChangeShapeType="1"/>
          </p:cNvSpPr>
          <p:nvPr/>
        </p:nvSpPr>
        <p:spPr bwMode="auto">
          <a:xfrm>
            <a:off x="7010400" y="2743200"/>
            <a:ext cx="0" cy="533400"/>
          </a:xfrm>
          <a:prstGeom prst="line">
            <a:avLst/>
          </a:prstGeom>
          <a:noFill/>
          <a:ln w="19050">
            <a:solidFill>
              <a:srgbClr val="9900CC"/>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93" name="Text Box 33"/>
          <p:cNvSpPr txBox="1">
            <a:spLocks noChangeArrowheads="1"/>
          </p:cNvSpPr>
          <p:nvPr/>
        </p:nvSpPr>
        <p:spPr bwMode="auto">
          <a:xfrm>
            <a:off x="7620000" y="220980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200">
                <a:solidFill>
                  <a:srgbClr val="FF6600"/>
                </a:solidFill>
              </a:rPr>
              <a:t>AL</a:t>
            </a:r>
          </a:p>
        </p:txBody>
      </p:sp>
      <p:sp>
        <p:nvSpPr>
          <p:cNvPr id="28694" name="Text Box 34"/>
          <p:cNvSpPr txBox="1">
            <a:spLocks noChangeArrowheads="1"/>
          </p:cNvSpPr>
          <p:nvPr/>
        </p:nvSpPr>
        <p:spPr bwMode="auto">
          <a:xfrm>
            <a:off x="7620000" y="243840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200">
                <a:solidFill>
                  <a:srgbClr val="FF6600"/>
                </a:solidFill>
              </a:rPr>
              <a:t>AH</a:t>
            </a:r>
          </a:p>
        </p:txBody>
      </p:sp>
      <p:sp>
        <p:nvSpPr>
          <p:cNvPr id="28695" name="Text Box 35"/>
          <p:cNvSpPr txBox="1">
            <a:spLocks noChangeArrowheads="1"/>
          </p:cNvSpPr>
          <p:nvPr/>
        </p:nvSpPr>
        <p:spPr bwMode="auto">
          <a:xfrm>
            <a:off x="7620000" y="335280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200">
                <a:solidFill>
                  <a:srgbClr val="FF0000"/>
                </a:solidFill>
              </a:rPr>
              <a:t>BG</a:t>
            </a:r>
          </a:p>
        </p:txBody>
      </p:sp>
      <p:sp>
        <p:nvSpPr>
          <p:cNvPr id="28696" name="Line 36"/>
          <p:cNvSpPr>
            <a:spLocks noChangeShapeType="1"/>
          </p:cNvSpPr>
          <p:nvPr/>
        </p:nvSpPr>
        <p:spPr bwMode="auto">
          <a:xfrm>
            <a:off x="7315200" y="2895600"/>
            <a:ext cx="1447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97" name="Text Box 37"/>
          <p:cNvSpPr txBox="1">
            <a:spLocks noChangeArrowheads="1"/>
          </p:cNvSpPr>
          <p:nvPr/>
        </p:nvSpPr>
        <p:spPr bwMode="auto">
          <a:xfrm>
            <a:off x="7620000" y="266700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200">
                <a:solidFill>
                  <a:srgbClr val="FF6600"/>
                </a:solidFill>
              </a:rPr>
              <a:t>AG</a:t>
            </a:r>
          </a:p>
        </p:txBody>
      </p:sp>
      <p:sp>
        <p:nvSpPr>
          <p:cNvPr id="28698" name="Line 38"/>
          <p:cNvSpPr>
            <a:spLocks noChangeShapeType="1"/>
          </p:cNvSpPr>
          <p:nvPr/>
        </p:nvSpPr>
        <p:spPr bwMode="auto">
          <a:xfrm>
            <a:off x="7315200" y="3124200"/>
            <a:ext cx="1447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99" name="Text Box 39"/>
          <p:cNvSpPr txBox="1">
            <a:spLocks noChangeArrowheads="1"/>
          </p:cNvSpPr>
          <p:nvPr/>
        </p:nvSpPr>
        <p:spPr bwMode="auto">
          <a:xfrm>
            <a:off x="7620000" y="289560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200">
                <a:solidFill>
                  <a:srgbClr val="FF0000"/>
                </a:solidFill>
              </a:rPr>
              <a:t>BL</a:t>
            </a:r>
          </a:p>
        </p:txBody>
      </p:sp>
      <p:sp>
        <p:nvSpPr>
          <p:cNvPr id="28700" name="Text Box 40"/>
          <p:cNvSpPr txBox="1">
            <a:spLocks noChangeArrowheads="1"/>
          </p:cNvSpPr>
          <p:nvPr/>
        </p:nvSpPr>
        <p:spPr bwMode="auto">
          <a:xfrm>
            <a:off x="7620000" y="312420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200">
                <a:solidFill>
                  <a:srgbClr val="FF0000"/>
                </a:solidFill>
              </a:rPr>
              <a:t>BH</a:t>
            </a:r>
          </a:p>
        </p:txBody>
      </p:sp>
      <p:sp>
        <p:nvSpPr>
          <p:cNvPr id="525353" name="AutoShape 41" descr="小棋盘"/>
          <p:cNvSpPr>
            <a:spLocks noChangeArrowheads="1"/>
          </p:cNvSpPr>
          <p:nvPr/>
        </p:nvSpPr>
        <p:spPr bwMode="auto">
          <a:xfrm>
            <a:off x="4716463" y="1844675"/>
            <a:ext cx="1981200" cy="990600"/>
          </a:xfrm>
          <a:prstGeom prst="wedgeRoundRectCallout">
            <a:avLst>
              <a:gd name="adj1" fmla="val -108815"/>
              <a:gd name="adj2" fmla="val -10255"/>
              <a:gd name="adj3" fmla="val 16667"/>
            </a:avLst>
          </a:prstGeom>
          <a:pattFill prst="smCheck">
            <a:fgClr>
              <a:srgbClr val="FFFF00"/>
            </a:fgClr>
            <a:bgClr>
              <a:srgbClr val="FFFFFF"/>
            </a:bgClr>
          </a:pattFill>
          <a:ln w="9525">
            <a:solidFill>
              <a:srgbClr val="FF00FF"/>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a:solidFill>
                  <a:schemeClr val="tx2"/>
                </a:solidFill>
              </a:rPr>
              <a:t>存放运算前后数据</a:t>
            </a:r>
            <a:endParaRPr lang="zh-CN" altLang="en-US" sz="2800">
              <a:solidFill>
                <a:schemeClr val="tx2"/>
              </a:solidFill>
            </a:endParaRPr>
          </a:p>
        </p:txBody>
      </p:sp>
      <p:sp>
        <p:nvSpPr>
          <p:cNvPr id="525354" name="Line 42"/>
          <p:cNvSpPr>
            <a:spLocks noChangeShapeType="1"/>
          </p:cNvSpPr>
          <p:nvPr/>
        </p:nvSpPr>
        <p:spPr bwMode="auto">
          <a:xfrm>
            <a:off x="4876800" y="2971800"/>
            <a:ext cx="1905000" cy="152400"/>
          </a:xfrm>
          <a:prstGeom prst="line">
            <a:avLst/>
          </a:prstGeom>
          <a:noFill/>
          <a:ln w="57150">
            <a:solidFill>
              <a:schemeClr val="bg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25355" name="Line 43"/>
          <p:cNvSpPr>
            <a:spLocks noChangeShapeType="1"/>
          </p:cNvSpPr>
          <p:nvPr/>
        </p:nvSpPr>
        <p:spPr bwMode="auto">
          <a:xfrm>
            <a:off x="6477000" y="3124200"/>
            <a:ext cx="0" cy="1447800"/>
          </a:xfrm>
          <a:prstGeom prst="line">
            <a:avLst/>
          </a:prstGeom>
          <a:noFill/>
          <a:ln w="571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704" name="Text Box 44"/>
          <p:cNvSpPr txBox="1">
            <a:spLocks noChangeArrowheads="1"/>
          </p:cNvSpPr>
          <p:nvPr/>
        </p:nvSpPr>
        <p:spPr bwMode="auto">
          <a:xfrm>
            <a:off x="6767513" y="1412875"/>
            <a:ext cx="457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9900CC"/>
                </a:solidFill>
              </a:rPr>
              <a:t>地址</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25314"/>
                                        </p:tgtEl>
                                        <p:attrNameLst>
                                          <p:attrName>style.visibility</p:attrName>
                                        </p:attrNameLst>
                                      </p:cBhvr>
                                      <p:to>
                                        <p:strVal val="visible"/>
                                      </p:to>
                                    </p:set>
                                    <p:animEffect transition="in" filter="dissolve">
                                      <p:cBhvr>
                                        <p:cTn id="7" dur="500"/>
                                        <p:tgtEl>
                                          <p:spTgt spid="525314"/>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525329">
                                            <p:txEl>
                                              <p:charRg st="4294967295" end="4294967295"/>
                                            </p:txEl>
                                          </p:spTgt>
                                        </p:tgtEl>
                                        <p:attrNameLst>
                                          <p:attrName>style.visibility</p:attrName>
                                        </p:attrNameLst>
                                      </p:cBhvr>
                                      <p:to>
                                        <p:strVal val="visible"/>
                                      </p:to>
                                    </p:set>
                                    <p:animEffect transition="in" filter="slide(fromBottom)">
                                      <p:cBhvr>
                                        <p:cTn id="11" dur="500"/>
                                        <p:tgtEl>
                                          <p:spTgt spid="525329">
                                            <p:txEl>
                                              <p:charRg st="4294967295" end="4294967295"/>
                                            </p:txEl>
                                          </p:spTgt>
                                        </p:tgtEl>
                                      </p:cBhvr>
                                    </p:animEffect>
                                  </p:childTnLst>
                                </p:cTn>
                              </p:par>
                            </p:childTnLst>
                          </p:cTn>
                        </p:par>
                        <p:par>
                          <p:cTn id="12" fill="hold" nodeType="afterGroup">
                            <p:stCondLst>
                              <p:cond delay="1000"/>
                            </p:stCondLst>
                            <p:childTnLst>
                              <p:par>
                                <p:cTn id="13" presetID="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par>
                          <p:cTn id="17" fill="hold" nodeType="afterGroup">
                            <p:stCondLst>
                              <p:cond delay="1500"/>
                            </p:stCondLst>
                            <p:childTnLst>
                              <p:par>
                                <p:cTn id="18" presetID="2" presetClass="entr" presetSubtype="2" fill="hold" grpId="0" nodeType="afterEffect">
                                  <p:stCondLst>
                                    <p:cond delay="0"/>
                                  </p:stCondLst>
                                  <p:childTnLst>
                                    <p:set>
                                      <p:cBhvr>
                                        <p:cTn id="19" dur="1" fill="hold">
                                          <p:stCondLst>
                                            <p:cond delay="0"/>
                                          </p:stCondLst>
                                        </p:cTn>
                                        <p:tgtEl>
                                          <p:spTgt spid="525353"/>
                                        </p:tgtEl>
                                        <p:attrNameLst>
                                          <p:attrName>style.visibility</p:attrName>
                                        </p:attrNameLst>
                                      </p:cBhvr>
                                      <p:to>
                                        <p:strVal val="visible"/>
                                      </p:to>
                                    </p:set>
                                    <p:anim calcmode="lin" valueType="num">
                                      <p:cBhvr additive="base">
                                        <p:cTn id="20" dur="500" fill="hold"/>
                                        <p:tgtEl>
                                          <p:spTgt spid="525353"/>
                                        </p:tgtEl>
                                        <p:attrNameLst>
                                          <p:attrName>ppt_x</p:attrName>
                                        </p:attrNameLst>
                                      </p:cBhvr>
                                      <p:tavLst>
                                        <p:tav tm="0">
                                          <p:val>
                                            <p:strVal val="1+#ppt_w/2"/>
                                          </p:val>
                                        </p:tav>
                                        <p:tav tm="100000">
                                          <p:val>
                                            <p:strVal val="#ppt_x"/>
                                          </p:val>
                                        </p:tav>
                                      </p:tavLst>
                                    </p:anim>
                                    <p:anim calcmode="lin" valueType="num">
                                      <p:cBhvr additive="base">
                                        <p:cTn id="21" dur="500" fill="hold"/>
                                        <p:tgtEl>
                                          <p:spTgt spid="525353"/>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2000"/>
                            </p:stCondLst>
                            <p:childTnLst>
                              <p:par>
                                <p:cTn id="23" presetID="2" presetClass="entr" presetSubtype="2" fill="hold" grpId="0" nodeType="afterEffect">
                                  <p:stCondLst>
                                    <p:cond delay="0"/>
                                  </p:stCondLst>
                                  <p:childTnLst>
                                    <p:set>
                                      <p:cBhvr>
                                        <p:cTn id="24" dur="1" fill="hold">
                                          <p:stCondLst>
                                            <p:cond delay="0"/>
                                          </p:stCondLst>
                                        </p:cTn>
                                        <p:tgtEl>
                                          <p:spTgt spid="525354"/>
                                        </p:tgtEl>
                                        <p:attrNameLst>
                                          <p:attrName>style.visibility</p:attrName>
                                        </p:attrNameLst>
                                      </p:cBhvr>
                                      <p:to>
                                        <p:strVal val="visible"/>
                                      </p:to>
                                    </p:set>
                                    <p:anim calcmode="lin" valueType="num">
                                      <p:cBhvr additive="base">
                                        <p:cTn id="25" dur="500" fill="hold"/>
                                        <p:tgtEl>
                                          <p:spTgt spid="525354"/>
                                        </p:tgtEl>
                                        <p:attrNameLst>
                                          <p:attrName>ppt_x</p:attrName>
                                        </p:attrNameLst>
                                      </p:cBhvr>
                                      <p:tavLst>
                                        <p:tav tm="0">
                                          <p:val>
                                            <p:strVal val="1+#ppt_w/2"/>
                                          </p:val>
                                        </p:tav>
                                        <p:tav tm="100000">
                                          <p:val>
                                            <p:strVal val="#ppt_x"/>
                                          </p:val>
                                        </p:tav>
                                      </p:tavLst>
                                    </p:anim>
                                    <p:anim calcmode="lin" valueType="num">
                                      <p:cBhvr additive="base">
                                        <p:cTn id="26" dur="500" fill="hold"/>
                                        <p:tgtEl>
                                          <p:spTgt spid="525354"/>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2500"/>
                            </p:stCondLst>
                            <p:childTnLst>
                              <p:par>
                                <p:cTn id="28" presetID="2" presetClass="entr" presetSubtype="2" fill="hold" grpId="0" nodeType="afterEffect">
                                  <p:stCondLst>
                                    <p:cond delay="0"/>
                                  </p:stCondLst>
                                  <p:childTnLst>
                                    <p:set>
                                      <p:cBhvr>
                                        <p:cTn id="29" dur="1" fill="hold">
                                          <p:stCondLst>
                                            <p:cond delay="0"/>
                                          </p:stCondLst>
                                        </p:cTn>
                                        <p:tgtEl>
                                          <p:spTgt spid="525355"/>
                                        </p:tgtEl>
                                        <p:attrNameLst>
                                          <p:attrName>style.visibility</p:attrName>
                                        </p:attrNameLst>
                                      </p:cBhvr>
                                      <p:to>
                                        <p:strVal val="visible"/>
                                      </p:to>
                                    </p:set>
                                    <p:anim calcmode="lin" valueType="num">
                                      <p:cBhvr additive="base">
                                        <p:cTn id="30" dur="500" fill="hold"/>
                                        <p:tgtEl>
                                          <p:spTgt spid="525355"/>
                                        </p:tgtEl>
                                        <p:attrNameLst>
                                          <p:attrName>ppt_x</p:attrName>
                                        </p:attrNameLst>
                                      </p:cBhvr>
                                      <p:tavLst>
                                        <p:tav tm="0">
                                          <p:val>
                                            <p:strVal val="1+#ppt_w/2"/>
                                          </p:val>
                                        </p:tav>
                                        <p:tav tm="100000">
                                          <p:val>
                                            <p:strVal val="#ppt_x"/>
                                          </p:val>
                                        </p:tav>
                                      </p:tavLst>
                                    </p:anim>
                                    <p:anim calcmode="lin" valueType="num">
                                      <p:cBhvr additive="base">
                                        <p:cTn id="31" dur="500" fill="hold"/>
                                        <p:tgtEl>
                                          <p:spTgt spid="5253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4" grpId="0" autoUpdateAnimBg="0"/>
      <p:bldP spid="525329" grpId="0" autoUpdateAnimBg="0"/>
      <p:bldP spid="525353" grpId="0" animBg="1" autoUpdateAnimBg="0"/>
      <p:bldP spid="525354" grpId="0" animBg="1"/>
      <p:bldP spid="525355"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idx="1"/>
          </p:nvPr>
        </p:nvSpPr>
        <p:spPr bwMode="auto">
          <a:xfrm>
            <a:off x="1524000" y="1447800"/>
            <a:ext cx="4419600" cy="2362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作用</a:t>
            </a:r>
            <a:r>
              <a:rPr lang="zh-CN" altLang="en-US" b="1"/>
              <a:t> </a:t>
            </a:r>
          </a:p>
          <a:p>
            <a:pPr eaLnBrk="1" hangingPunct="1"/>
            <a:r>
              <a:rPr lang="zh-CN" altLang="en-US" b="1">
                <a:latin typeface="宋体" panose="02010600030101010101" pitchFamily="2" charset="-122"/>
              </a:rPr>
              <a:t>结构与位置 </a:t>
            </a:r>
          </a:p>
          <a:p>
            <a:pPr eaLnBrk="1" hangingPunct="1"/>
            <a:r>
              <a:rPr lang="zh-CN" altLang="en-US" b="1">
                <a:latin typeface="宋体" panose="02010600030101010101" pitchFamily="2" charset="-122"/>
              </a:rPr>
              <a:t>Ａ和Ｂ的异同</a:t>
            </a:r>
            <a:r>
              <a:rPr lang="zh-CN" altLang="en-US" b="1"/>
              <a:t> </a:t>
            </a:r>
          </a:p>
          <a:p>
            <a:pPr eaLnBrk="1" hangingPunct="1"/>
            <a:r>
              <a:rPr lang="zh-CN" altLang="en-US" b="1">
                <a:latin typeface="宋体" panose="02010600030101010101" pitchFamily="2" charset="-122"/>
              </a:rPr>
              <a:t>加载与存储中的移位</a:t>
            </a:r>
            <a:r>
              <a:rPr lang="zh-CN" altLang="en-US" b="1"/>
              <a:t> </a:t>
            </a:r>
          </a:p>
        </p:txBody>
      </p:sp>
      <p:sp>
        <p:nvSpPr>
          <p:cNvPr id="2969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92FFDADB-F7B8-46F1-A368-3B8D03CDF69F}" type="slidenum">
              <a:rPr lang="en-US" altLang="zh-CN" sz="1400" b="0"/>
              <a:pPr eaLnBrk="1" hangingPunct="1"/>
              <a:t>17</a:t>
            </a:fld>
            <a:endParaRPr lang="en-US" altLang="zh-CN" sz="1400" b="0"/>
          </a:p>
        </p:txBody>
      </p:sp>
      <p:sp>
        <p:nvSpPr>
          <p:cNvPr id="526339" name="Rectangle 3" descr="小棋盘"/>
          <p:cNvSpPr>
            <a:spLocks noChangeArrowheads="1"/>
          </p:cNvSpPr>
          <p:nvPr/>
        </p:nvSpPr>
        <p:spPr bwMode="auto">
          <a:xfrm>
            <a:off x="304800" y="2514600"/>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chemeClr val="tx2"/>
                </a:solidFill>
                <a:latin typeface="宋体" panose="02010600030101010101" pitchFamily="2" charset="-122"/>
              </a:rPr>
              <a:t>要</a:t>
            </a:r>
          </a:p>
          <a:p>
            <a:pPr algn="ctr" eaLnBrk="1" hangingPunct="1"/>
            <a:r>
              <a:rPr lang="zh-CN" altLang="en-US" sz="3600">
                <a:solidFill>
                  <a:schemeClr val="tx2"/>
                </a:solidFill>
                <a:latin typeface="宋体" panose="02010600030101010101" pitchFamily="2" charset="-122"/>
              </a:rPr>
              <a:t>点</a:t>
            </a:r>
          </a:p>
        </p:txBody>
      </p:sp>
      <p:sp>
        <p:nvSpPr>
          <p:cNvPr id="526340" name="AutoShape 4" descr="小棋盘"/>
          <p:cNvSpPr>
            <a:spLocks noChangeArrowheads="1"/>
          </p:cNvSpPr>
          <p:nvPr/>
        </p:nvSpPr>
        <p:spPr bwMode="auto">
          <a:xfrm>
            <a:off x="6324600" y="1371600"/>
            <a:ext cx="2514600" cy="3733800"/>
          </a:xfrm>
          <a:prstGeom prst="wedgeRoundRectCallout">
            <a:avLst>
              <a:gd name="adj1" fmla="val -109468"/>
              <a:gd name="adj2" fmla="val -6421"/>
              <a:gd name="adj3" fmla="val 16667"/>
            </a:avLst>
          </a:prstGeom>
          <a:pattFill prst="smCheck">
            <a:fgClr>
              <a:srgbClr val="FFFF00"/>
            </a:fgClr>
            <a:bgClr>
              <a:srgbClr val="FFFFFF"/>
            </a:bgClr>
          </a:pattFill>
          <a:ln w="9525">
            <a:solidFill>
              <a:srgbClr val="FF00FF"/>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3200">
                <a:solidFill>
                  <a:schemeClr val="folHlink"/>
                </a:solidFill>
              </a:rPr>
              <a:t>累加器Ａ和Ｂ的差别仅在于累加器Ａ的</a:t>
            </a:r>
            <a:r>
              <a:rPr lang="en-US" altLang="zh-CN" sz="3200">
                <a:solidFill>
                  <a:schemeClr val="folHlink"/>
                </a:solidFill>
              </a:rPr>
              <a:t>31~16</a:t>
            </a:r>
            <a:r>
              <a:rPr lang="zh-CN" altLang="en-US" sz="3200">
                <a:solidFill>
                  <a:schemeClr val="folHlink"/>
                </a:solidFill>
              </a:rPr>
              <a:t>位可以用作乘法器的一个输入。</a:t>
            </a:r>
            <a:endParaRPr lang="zh-CN" altLang="en-US" sz="2800">
              <a:solidFill>
                <a:schemeClr val="folHlink"/>
              </a:solidFill>
            </a:endParaRPr>
          </a:p>
        </p:txBody>
      </p:sp>
      <p:sp>
        <p:nvSpPr>
          <p:cNvPr id="526341" name="AutoShape 5" descr="小棋盘"/>
          <p:cNvSpPr>
            <a:spLocks noChangeArrowheads="1"/>
          </p:cNvSpPr>
          <p:nvPr/>
        </p:nvSpPr>
        <p:spPr bwMode="auto">
          <a:xfrm>
            <a:off x="2286000" y="5257800"/>
            <a:ext cx="2514600" cy="609600"/>
          </a:xfrm>
          <a:prstGeom prst="wedgeRoundRectCallout">
            <a:avLst>
              <a:gd name="adj1" fmla="val 67616"/>
              <a:gd name="adj2" fmla="val -265884"/>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a:solidFill>
                  <a:schemeClr val="tx2"/>
                </a:solidFill>
              </a:rPr>
              <a:t>依指令而定</a:t>
            </a:r>
            <a:endParaRPr lang="zh-CN" altLang="en-US" sz="2800">
              <a:solidFill>
                <a:schemeClr val="tx2"/>
              </a:solidFill>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26339"/>
                                        </p:tgtEl>
                                        <p:attrNameLst>
                                          <p:attrName>style.visibility</p:attrName>
                                        </p:attrNameLst>
                                      </p:cBhvr>
                                      <p:to>
                                        <p:strVal val="visible"/>
                                      </p:to>
                                    </p:set>
                                    <p:animEffect transition="in" filter="slide(fromBottom)">
                                      <p:cBhvr>
                                        <p:cTn id="7" dur="500"/>
                                        <p:tgtEl>
                                          <p:spTgt spid="526339"/>
                                        </p:tgtEl>
                                      </p:cBhvr>
                                    </p:animEffect>
                                  </p:childTnLst>
                                </p:cTn>
                              </p:par>
                            </p:childTnLst>
                          </p:cTn>
                        </p:par>
                        <p:par>
                          <p:cTn id="8" fill="hold" nodeType="afterGroup">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526340"/>
                                        </p:tgtEl>
                                        <p:attrNameLst>
                                          <p:attrName>style.visibility</p:attrName>
                                        </p:attrNameLst>
                                      </p:cBhvr>
                                      <p:to>
                                        <p:strVal val="visible"/>
                                      </p:to>
                                    </p:set>
                                    <p:anim calcmode="lin" valueType="num">
                                      <p:cBhvr additive="base">
                                        <p:cTn id="11" dur="500" fill="hold"/>
                                        <p:tgtEl>
                                          <p:spTgt spid="526340"/>
                                        </p:tgtEl>
                                        <p:attrNameLst>
                                          <p:attrName>ppt_x</p:attrName>
                                        </p:attrNameLst>
                                      </p:cBhvr>
                                      <p:tavLst>
                                        <p:tav tm="0">
                                          <p:val>
                                            <p:strVal val="1+#ppt_w/2"/>
                                          </p:val>
                                        </p:tav>
                                        <p:tav tm="100000">
                                          <p:val>
                                            <p:strVal val="#ppt_x"/>
                                          </p:val>
                                        </p:tav>
                                      </p:tavLst>
                                    </p:anim>
                                    <p:anim calcmode="lin" valueType="num">
                                      <p:cBhvr additive="base">
                                        <p:cTn id="12" dur="500" fill="hold"/>
                                        <p:tgtEl>
                                          <p:spTgt spid="526340"/>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526341"/>
                                        </p:tgtEl>
                                        <p:attrNameLst>
                                          <p:attrName>style.visibility</p:attrName>
                                        </p:attrNameLst>
                                      </p:cBhvr>
                                      <p:to>
                                        <p:strVal val="visible"/>
                                      </p:to>
                                    </p:set>
                                    <p:anim calcmode="lin" valueType="num">
                                      <p:cBhvr additive="base">
                                        <p:cTn id="16" dur="500" fill="hold"/>
                                        <p:tgtEl>
                                          <p:spTgt spid="526341"/>
                                        </p:tgtEl>
                                        <p:attrNameLst>
                                          <p:attrName>ppt_x</p:attrName>
                                        </p:attrNameLst>
                                      </p:cBhvr>
                                      <p:tavLst>
                                        <p:tav tm="0">
                                          <p:val>
                                            <p:strVal val="1+#ppt_w/2"/>
                                          </p:val>
                                        </p:tav>
                                        <p:tav tm="100000">
                                          <p:val>
                                            <p:strVal val="#ppt_x"/>
                                          </p:val>
                                        </p:tav>
                                      </p:tavLst>
                                    </p:anim>
                                    <p:anim calcmode="lin" valueType="num">
                                      <p:cBhvr additive="base">
                                        <p:cTn id="17" dur="500" fill="hold"/>
                                        <p:tgtEl>
                                          <p:spTgt spid="5263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9" grpId="0" animBg="1" autoUpdateAnimBg="0"/>
      <p:bldP spid="526340" grpId="0" animBg="1" autoUpdateAnimBg="0"/>
      <p:bldP spid="526341"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D9C92E7-840B-4C75-8BF5-031BB1AA11C1}" type="slidenum">
              <a:rPr lang="en-US" altLang="zh-CN" sz="1400" b="0"/>
              <a:pPr eaLnBrk="1" hangingPunct="1"/>
              <a:t>18</a:t>
            </a:fld>
            <a:endParaRPr lang="en-US" altLang="zh-CN" sz="1400" b="0"/>
          </a:p>
        </p:txBody>
      </p:sp>
      <p:sp>
        <p:nvSpPr>
          <p:cNvPr id="30723" name="Rectangle 2"/>
          <p:cNvSpPr>
            <a:spLocks noChangeArrowheads="1"/>
          </p:cNvSpPr>
          <p:nvPr/>
        </p:nvSpPr>
        <p:spPr bwMode="auto">
          <a:xfrm>
            <a:off x="838200" y="1143000"/>
            <a:ext cx="7924800" cy="531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solidFill>
                  <a:srgbClr val="FF00FF"/>
                </a:solidFill>
              </a:rPr>
              <a:t>保存累加器的内容：</a:t>
            </a:r>
            <a:r>
              <a:rPr lang="zh-CN" altLang="en-US" sz="3600"/>
              <a:t>用户可以利用</a:t>
            </a:r>
            <a:r>
              <a:rPr lang="en-US" altLang="zh-CN" sz="3600"/>
              <a:t>STH</a:t>
            </a:r>
            <a:r>
              <a:rPr lang="zh-CN" altLang="en-US" sz="3600"/>
              <a:t>、</a:t>
            </a:r>
            <a:r>
              <a:rPr lang="en-US" altLang="zh-CN" sz="3600"/>
              <a:t>STL</a:t>
            </a:r>
            <a:r>
              <a:rPr lang="zh-CN" altLang="en-US" sz="3600"/>
              <a:t>、</a:t>
            </a:r>
            <a:r>
              <a:rPr lang="en-US" altLang="zh-CN" sz="3600"/>
              <a:t>STLM</a:t>
            </a:r>
            <a:r>
              <a:rPr lang="zh-CN" altLang="en-US" sz="3600"/>
              <a:t>和</a:t>
            </a:r>
            <a:r>
              <a:rPr lang="en-US" altLang="zh-CN" sz="3600"/>
              <a:t>SACCD</a:t>
            </a:r>
            <a:r>
              <a:rPr lang="zh-CN" altLang="en-US" sz="3600"/>
              <a:t>等指令或者用并行存储指令，将累加器的内容存放到数据存储器中。</a:t>
            </a:r>
          </a:p>
          <a:p>
            <a:pPr eaLnBrk="1" hangingPunct="1">
              <a:spcBef>
                <a:spcPct val="50000"/>
              </a:spcBef>
            </a:pPr>
            <a:r>
              <a:rPr lang="zh-CN" altLang="en-US" sz="3600"/>
              <a:t>在存储前，有时需要对累加器的内容进行移位操作。</a:t>
            </a:r>
            <a:r>
              <a:rPr lang="zh-CN" altLang="en-US" sz="3600">
                <a:solidFill>
                  <a:schemeClr val="tx2"/>
                </a:solidFill>
              </a:rPr>
              <a:t>右移时，</a:t>
            </a:r>
            <a:r>
              <a:rPr lang="en-US" altLang="zh-CN" sz="3600">
                <a:solidFill>
                  <a:schemeClr val="tx2"/>
                </a:solidFill>
              </a:rPr>
              <a:t>AG</a:t>
            </a:r>
            <a:r>
              <a:rPr lang="zh-CN" altLang="en-US" sz="3600">
                <a:solidFill>
                  <a:schemeClr val="tx2"/>
                </a:solidFill>
              </a:rPr>
              <a:t>和</a:t>
            </a:r>
            <a:r>
              <a:rPr lang="en-US" altLang="zh-CN" sz="3600">
                <a:solidFill>
                  <a:schemeClr val="tx2"/>
                </a:solidFill>
              </a:rPr>
              <a:t>BG</a:t>
            </a:r>
            <a:r>
              <a:rPr lang="zh-CN" altLang="en-US" sz="3600">
                <a:solidFill>
                  <a:schemeClr val="tx2"/>
                </a:solidFill>
              </a:rPr>
              <a:t>中的各数据位分别移至</a:t>
            </a:r>
            <a:r>
              <a:rPr lang="en-US" altLang="zh-CN" sz="3600">
                <a:solidFill>
                  <a:schemeClr val="tx2"/>
                </a:solidFill>
              </a:rPr>
              <a:t>AH</a:t>
            </a:r>
            <a:r>
              <a:rPr lang="zh-CN" altLang="en-US" sz="3600">
                <a:solidFill>
                  <a:schemeClr val="tx2"/>
                </a:solidFill>
              </a:rPr>
              <a:t>和</a:t>
            </a:r>
            <a:r>
              <a:rPr lang="en-US" altLang="zh-CN" sz="3600">
                <a:solidFill>
                  <a:schemeClr val="tx2"/>
                </a:solidFill>
              </a:rPr>
              <a:t>BH</a:t>
            </a:r>
            <a:r>
              <a:rPr lang="zh-CN" altLang="en-US" sz="3600">
                <a:solidFill>
                  <a:schemeClr val="tx2"/>
                </a:solidFill>
              </a:rPr>
              <a:t>；左移时，</a:t>
            </a:r>
            <a:r>
              <a:rPr lang="en-US" altLang="zh-CN" sz="3600">
                <a:solidFill>
                  <a:schemeClr val="tx2"/>
                </a:solidFill>
              </a:rPr>
              <a:t>AL</a:t>
            </a:r>
            <a:r>
              <a:rPr lang="zh-CN" altLang="en-US" sz="3600">
                <a:solidFill>
                  <a:schemeClr val="tx2"/>
                </a:solidFill>
              </a:rPr>
              <a:t>和</a:t>
            </a:r>
            <a:r>
              <a:rPr lang="en-US" altLang="zh-CN" sz="3600">
                <a:solidFill>
                  <a:schemeClr val="tx2"/>
                </a:solidFill>
              </a:rPr>
              <a:t>BL</a:t>
            </a:r>
            <a:r>
              <a:rPr lang="zh-CN" altLang="en-US" sz="3600">
                <a:solidFill>
                  <a:schemeClr val="tx2"/>
                </a:solidFill>
              </a:rPr>
              <a:t>中的各数据分别移至</a:t>
            </a:r>
            <a:r>
              <a:rPr lang="en-US" altLang="zh-CN" sz="3600">
                <a:solidFill>
                  <a:schemeClr val="tx2"/>
                </a:solidFill>
              </a:rPr>
              <a:t>AH</a:t>
            </a:r>
            <a:r>
              <a:rPr lang="zh-CN" altLang="en-US" sz="3600">
                <a:solidFill>
                  <a:schemeClr val="tx2"/>
                </a:solidFill>
              </a:rPr>
              <a:t>和</a:t>
            </a:r>
            <a:r>
              <a:rPr lang="en-US" altLang="zh-CN" sz="3600">
                <a:solidFill>
                  <a:schemeClr val="tx2"/>
                </a:solidFill>
              </a:rPr>
              <a:t>BH</a:t>
            </a:r>
            <a:r>
              <a:rPr lang="zh-CN" altLang="en-US" sz="3600">
                <a:solidFill>
                  <a:schemeClr val="tx2"/>
                </a:solidFill>
              </a:rPr>
              <a:t>，低位添</a:t>
            </a:r>
            <a:r>
              <a:rPr lang="en-US" altLang="zh-CN" sz="3600">
                <a:solidFill>
                  <a:schemeClr val="tx2"/>
                </a:solidFill>
              </a:rPr>
              <a:t>0</a:t>
            </a:r>
            <a:r>
              <a:rPr lang="zh-CN" altLang="en-US" sz="3600">
                <a:solidFill>
                  <a:schemeClr val="tx2"/>
                </a:solidFill>
              </a:rPr>
              <a:t>。</a:t>
            </a:r>
          </a:p>
        </p:txBody>
      </p:sp>
    </p:spTree>
  </p:cSld>
  <p:clrMapOvr>
    <a:masterClrMapping/>
  </p:clrMapOvr>
  <p:transition spd="med">
    <p:pull dir="l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6AE356E9-D86D-4A08-88D3-45708C40643E}" type="slidenum">
              <a:rPr lang="en-US" altLang="zh-CN" sz="1400" b="0"/>
              <a:pPr eaLnBrk="1" hangingPunct="1"/>
              <a:t>19</a:t>
            </a:fld>
            <a:endParaRPr lang="en-US" altLang="zh-CN" sz="1400" b="0"/>
          </a:p>
        </p:txBody>
      </p:sp>
      <p:sp>
        <p:nvSpPr>
          <p:cNvPr id="31747" name="Rectangle 2"/>
          <p:cNvSpPr>
            <a:spLocks noChangeArrowheads="1"/>
          </p:cNvSpPr>
          <p:nvPr/>
        </p:nvSpPr>
        <p:spPr bwMode="auto">
          <a:xfrm>
            <a:off x="228600" y="1066800"/>
            <a:ext cx="8686800" cy="531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20000"/>
              </a:spcBef>
            </a:pPr>
            <a:r>
              <a:rPr lang="zh-CN" altLang="en-US" sz="2800"/>
              <a:t>例如：累加器</a:t>
            </a:r>
            <a:r>
              <a:rPr lang="en-US" altLang="zh-CN" sz="2800"/>
              <a:t>A=FF 4321 1234h</a:t>
            </a:r>
            <a:r>
              <a:rPr lang="zh-CN" altLang="en-US" sz="2800"/>
              <a:t>，求执行带移位的</a:t>
            </a:r>
            <a:r>
              <a:rPr lang="en-US" altLang="zh-CN" sz="2800"/>
              <a:t>STH</a:t>
            </a:r>
            <a:r>
              <a:rPr lang="zh-CN" altLang="en-US" sz="2800"/>
              <a:t>和</a:t>
            </a:r>
            <a:r>
              <a:rPr lang="en-US" altLang="zh-CN" sz="2800"/>
              <a:t>STL</a:t>
            </a:r>
            <a:r>
              <a:rPr lang="zh-CN" altLang="en-US" sz="2800"/>
              <a:t>指令后，数据存储单元的</a:t>
            </a:r>
            <a:r>
              <a:rPr lang="en-US" altLang="zh-CN" sz="2800"/>
              <a:t>TEMP</a:t>
            </a:r>
            <a:r>
              <a:rPr lang="zh-CN" altLang="en-US" sz="2800"/>
              <a:t>中的结果。</a:t>
            </a:r>
          </a:p>
          <a:p>
            <a:pPr eaLnBrk="1" hangingPunct="1">
              <a:lnSpc>
                <a:spcPct val="85000"/>
              </a:lnSpc>
              <a:spcBef>
                <a:spcPct val="20000"/>
              </a:spcBef>
            </a:pPr>
            <a:r>
              <a:rPr lang="en-US" altLang="zh-CN" sz="2800"/>
              <a:t>STH   A</a:t>
            </a:r>
            <a:r>
              <a:rPr lang="zh-CN" altLang="en-US" sz="2800"/>
              <a:t>， </a:t>
            </a:r>
            <a:r>
              <a:rPr lang="en-US" altLang="zh-CN" sz="2800"/>
              <a:t>8</a:t>
            </a:r>
            <a:r>
              <a:rPr lang="zh-CN" altLang="en-US" sz="2800"/>
              <a:t>，</a:t>
            </a:r>
            <a:r>
              <a:rPr lang="en-US" altLang="zh-CN" sz="2800"/>
              <a:t>TEMP    </a:t>
            </a:r>
            <a:r>
              <a:rPr lang="zh-CN" altLang="en-US" sz="2800"/>
              <a:t>；</a:t>
            </a:r>
            <a:r>
              <a:rPr lang="en-US" altLang="zh-CN" sz="2800"/>
              <a:t>A</a:t>
            </a:r>
            <a:r>
              <a:rPr lang="zh-CN" altLang="en-US" sz="2800"/>
              <a:t>中的内容左移</a:t>
            </a:r>
            <a:r>
              <a:rPr lang="en-US" altLang="zh-CN" sz="2800"/>
              <a:t>8    </a:t>
            </a:r>
          </a:p>
          <a:p>
            <a:pPr eaLnBrk="1" hangingPunct="1">
              <a:lnSpc>
                <a:spcPct val="85000"/>
              </a:lnSpc>
              <a:spcBef>
                <a:spcPct val="20000"/>
              </a:spcBef>
            </a:pPr>
            <a:r>
              <a:rPr lang="en-US" altLang="zh-CN" sz="2800"/>
              <a:t>                               </a:t>
            </a:r>
            <a:r>
              <a:rPr lang="zh-CN" altLang="en-US" sz="2800"/>
              <a:t>　　 ； 位后高位字存入</a:t>
            </a:r>
            <a:r>
              <a:rPr lang="en-US" altLang="zh-CN" sz="2800"/>
              <a:t>TEMP</a:t>
            </a:r>
            <a:r>
              <a:rPr lang="zh-CN" altLang="en-US" sz="2800"/>
              <a:t>，</a:t>
            </a:r>
          </a:p>
          <a:p>
            <a:pPr eaLnBrk="1" hangingPunct="1">
              <a:lnSpc>
                <a:spcPct val="85000"/>
              </a:lnSpc>
              <a:spcBef>
                <a:spcPct val="20000"/>
              </a:spcBef>
            </a:pPr>
            <a:r>
              <a:rPr lang="zh-CN" altLang="en-US" sz="2800"/>
              <a:t>                               　　 ；</a:t>
            </a:r>
            <a:r>
              <a:rPr lang="en-US" altLang="zh-CN" sz="2800">
                <a:solidFill>
                  <a:schemeClr val="tx2"/>
                </a:solidFill>
              </a:rPr>
              <a:t>TEMP=2112h</a:t>
            </a:r>
          </a:p>
          <a:p>
            <a:pPr eaLnBrk="1" hangingPunct="1">
              <a:lnSpc>
                <a:spcPct val="85000"/>
              </a:lnSpc>
              <a:spcBef>
                <a:spcPct val="20000"/>
              </a:spcBef>
            </a:pPr>
            <a:r>
              <a:rPr lang="en-US" altLang="zh-CN" sz="2800"/>
              <a:t>STH A</a:t>
            </a:r>
            <a:r>
              <a:rPr lang="zh-CN" altLang="en-US" sz="2800"/>
              <a:t>，</a:t>
            </a:r>
            <a:r>
              <a:rPr lang="en-US" altLang="zh-CN" sz="2800"/>
              <a:t>-8</a:t>
            </a:r>
            <a:r>
              <a:rPr lang="zh-CN" altLang="en-US" sz="2800"/>
              <a:t>，</a:t>
            </a:r>
            <a:r>
              <a:rPr lang="en-US" altLang="zh-CN" sz="2800"/>
              <a:t>TEMP     </a:t>
            </a:r>
            <a:r>
              <a:rPr lang="zh-CN" altLang="en-US" sz="2800"/>
              <a:t>；</a:t>
            </a:r>
            <a:r>
              <a:rPr lang="en-US" altLang="zh-CN" sz="2800"/>
              <a:t>A</a:t>
            </a:r>
            <a:r>
              <a:rPr lang="zh-CN" altLang="en-US" sz="2800"/>
              <a:t>中的内容右移</a:t>
            </a:r>
            <a:r>
              <a:rPr lang="en-US" altLang="zh-CN" sz="2800"/>
              <a:t>8</a:t>
            </a:r>
            <a:r>
              <a:rPr lang="zh-CN" altLang="en-US" sz="2800"/>
              <a:t>位后 </a:t>
            </a:r>
          </a:p>
          <a:p>
            <a:pPr eaLnBrk="1" hangingPunct="1">
              <a:lnSpc>
                <a:spcPct val="85000"/>
              </a:lnSpc>
              <a:spcBef>
                <a:spcPct val="20000"/>
              </a:spcBef>
            </a:pPr>
            <a:r>
              <a:rPr lang="zh-CN" altLang="en-US" sz="2800"/>
              <a:t>                               　　 ；高位字存入</a:t>
            </a:r>
            <a:r>
              <a:rPr lang="en-US" altLang="zh-CN" sz="2800"/>
              <a:t>TEMP</a:t>
            </a:r>
            <a:r>
              <a:rPr lang="zh-CN" altLang="en-US" sz="2800"/>
              <a:t>，</a:t>
            </a:r>
          </a:p>
          <a:p>
            <a:pPr eaLnBrk="1" hangingPunct="1">
              <a:lnSpc>
                <a:spcPct val="85000"/>
              </a:lnSpc>
              <a:spcBef>
                <a:spcPct val="20000"/>
              </a:spcBef>
            </a:pPr>
            <a:r>
              <a:rPr lang="zh-CN" altLang="en-US" sz="2800"/>
              <a:t>                                　　；</a:t>
            </a:r>
            <a:r>
              <a:rPr lang="en-US" altLang="zh-CN" sz="2800">
                <a:solidFill>
                  <a:schemeClr val="tx2"/>
                </a:solidFill>
              </a:rPr>
              <a:t>TEMP=FF43h</a:t>
            </a:r>
          </a:p>
          <a:p>
            <a:pPr eaLnBrk="1" hangingPunct="1">
              <a:lnSpc>
                <a:spcPct val="85000"/>
              </a:lnSpc>
              <a:spcBef>
                <a:spcPct val="20000"/>
              </a:spcBef>
            </a:pPr>
            <a:r>
              <a:rPr lang="en-US" altLang="zh-CN" sz="2800"/>
              <a:t>STL   A</a:t>
            </a:r>
            <a:r>
              <a:rPr lang="zh-CN" altLang="en-US" sz="2800"/>
              <a:t>， </a:t>
            </a:r>
            <a:r>
              <a:rPr lang="en-US" altLang="zh-CN" sz="2800"/>
              <a:t>8</a:t>
            </a:r>
            <a:r>
              <a:rPr lang="zh-CN" altLang="en-US" sz="2800"/>
              <a:t>，</a:t>
            </a:r>
            <a:r>
              <a:rPr lang="en-US" altLang="zh-CN" sz="2800"/>
              <a:t>TEMP    </a:t>
            </a:r>
            <a:r>
              <a:rPr lang="zh-CN" altLang="en-US" sz="2800"/>
              <a:t>；</a:t>
            </a:r>
            <a:r>
              <a:rPr lang="en-US" altLang="zh-CN" sz="2800"/>
              <a:t>A</a:t>
            </a:r>
            <a:r>
              <a:rPr lang="zh-CN" altLang="en-US" sz="2800"/>
              <a:t>中的内容左移</a:t>
            </a:r>
            <a:r>
              <a:rPr lang="en-US" altLang="zh-CN" sz="2800"/>
              <a:t>8</a:t>
            </a:r>
            <a:r>
              <a:rPr lang="zh-CN" altLang="en-US" sz="2800"/>
              <a:t>位后低位</a:t>
            </a:r>
          </a:p>
          <a:p>
            <a:pPr eaLnBrk="1" hangingPunct="1">
              <a:lnSpc>
                <a:spcPct val="85000"/>
              </a:lnSpc>
              <a:spcBef>
                <a:spcPct val="20000"/>
              </a:spcBef>
            </a:pPr>
            <a:r>
              <a:rPr lang="zh-CN" altLang="en-US" sz="2800"/>
              <a:t>                        　　　 ；字存入</a:t>
            </a:r>
            <a:r>
              <a:rPr lang="en-US" altLang="zh-CN" sz="2800"/>
              <a:t>TEMP</a:t>
            </a:r>
            <a:r>
              <a:rPr lang="zh-CN" altLang="en-US" sz="2800"/>
              <a:t>， </a:t>
            </a:r>
            <a:r>
              <a:rPr lang="en-US" altLang="zh-CN" sz="2800">
                <a:solidFill>
                  <a:schemeClr val="tx2"/>
                </a:solidFill>
              </a:rPr>
              <a:t>TEMP=3400h</a:t>
            </a:r>
          </a:p>
          <a:p>
            <a:pPr eaLnBrk="1" hangingPunct="1">
              <a:lnSpc>
                <a:spcPct val="85000"/>
              </a:lnSpc>
              <a:spcBef>
                <a:spcPct val="20000"/>
              </a:spcBef>
            </a:pPr>
            <a:r>
              <a:rPr lang="en-US" altLang="zh-CN" sz="2800"/>
              <a:t>STL   A</a:t>
            </a:r>
            <a:r>
              <a:rPr lang="zh-CN" altLang="en-US" sz="2800"/>
              <a:t>，</a:t>
            </a:r>
            <a:r>
              <a:rPr lang="en-US" altLang="zh-CN" sz="2800"/>
              <a:t>-8</a:t>
            </a:r>
            <a:r>
              <a:rPr lang="zh-CN" altLang="en-US" sz="2800"/>
              <a:t>，</a:t>
            </a:r>
            <a:r>
              <a:rPr lang="en-US" altLang="zh-CN" sz="2800"/>
              <a:t>TEMP    </a:t>
            </a:r>
            <a:r>
              <a:rPr lang="zh-CN" altLang="en-US" sz="2800"/>
              <a:t>；</a:t>
            </a:r>
            <a:r>
              <a:rPr lang="en-US" altLang="zh-CN" sz="2800"/>
              <a:t>A</a:t>
            </a:r>
            <a:r>
              <a:rPr lang="zh-CN" altLang="en-US" sz="2800"/>
              <a:t>中的内容右移</a:t>
            </a:r>
            <a:r>
              <a:rPr lang="en-US" altLang="zh-CN" sz="2800"/>
              <a:t>8</a:t>
            </a:r>
            <a:r>
              <a:rPr lang="zh-CN" altLang="en-US" sz="2800"/>
              <a:t>位后低位</a:t>
            </a:r>
          </a:p>
          <a:p>
            <a:pPr eaLnBrk="1" hangingPunct="1">
              <a:lnSpc>
                <a:spcPct val="85000"/>
              </a:lnSpc>
              <a:spcBef>
                <a:spcPct val="20000"/>
              </a:spcBef>
            </a:pPr>
            <a:r>
              <a:rPr lang="zh-CN" altLang="en-US" sz="2800"/>
              <a:t>　　                        　 ；字存入</a:t>
            </a:r>
            <a:r>
              <a:rPr lang="en-US" altLang="zh-CN" sz="2800"/>
              <a:t>TEMP</a:t>
            </a:r>
            <a:r>
              <a:rPr lang="zh-CN" altLang="en-US" sz="2800"/>
              <a:t>，</a:t>
            </a:r>
            <a:r>
              <a:rPr lang="en-US" altLang="zh-CN" sz="2800">
                <a:solidFill>
                  <a:schemeClr val="tx2"/>
                </a:solidFill>
              </a:rPr>
              <a:t>TEMP=2112h</a:t>
            </a:r>
          </a:p>
        </p:txBody>
      </p:sp>
    </p:spTree>
  </p:cSld>
  <p:clrMapOvr>
    <a:masterClrMapping/>
  </p:clrMapOvr>
  <p:transition spd="med">
    <p:pull dir="lu"/>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bwMode="auto">
          <a:xfrm>
            <a:off x="1828800" y="1447800"/>
            <a:ext cx="57912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latin typeface="宋体" panose="02010600030101010101" pitchFamily="2" charset="-122"/>
              </a:rPr>
              <a:t>3</a:t>
            </a:r>
            <a:r>
              <a:rPr lang="zh-CN" altLang="en-US" b="1">
                <a:solidFill>
                  <a:srgbClr val="FF0000"/>
                </a:solidFill>
                <a:latin typeface="宋体" panose="02010600030101010101" pitchFamily="2" charset="-122"/>
              </a:rPr>
              <a:t>．桶形移位器的功能</a:t>
            </a:r>
            <a:r>
              <a:rPr lang="zh-CN" altLang="en-US" b="1">
                <a:ea typeface="仿宋_GB2312" pitchFamily="49" charset="-122"/>
              </a:rPr>
              <a:t> </a:t>
            </a:r>
            <a:r>
              <a:rPr lang="zh-CN" altLang="en-US"/>
              <a:t> </a:t>
            </a:r>
          </a:p>
        </p:txBody>
      </p:sp>
      <p:sp>
        <p:nvSpPr>
          <p:cNvPr id="32771" name="Rectangle 3"/>
          <p:cNvSpPr>
            <a:spLocks noGrp="1" noChangeArrowheads="1"/>
          </p:cNvSpPr>
          <p:nvPr>
            <p:ph idx="1"/>
          </p:nvPr>
        </p:nvSpPr>
        <p:spPr bwMode="auto">
          <a:xfrm>
            <a:off x="1828800" y="2590800"/>
            <a:ext cx="4038600" cy="281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什么是定标</a:t>
            </a:r>
          </a:p>
          <a:p>
            <a:pPr eaLnBrk="1" hangingPunct="1"/>
            <a:r>
              <a:rPr lang="zh-CN" altLang="en-US" b="1">
                <a:latin typeface="宋体" panose="02010600030101010101" pitchFamily="2" charset="-122"/>
              </a:rPr>
              <a:t>移位处理的作用 </a:t>
            </a:r>
          </a:p>
          <a:p>
            <a:pPr eaLnBrk="1" hangingPunct="1"/>
            <a:r>
              <a:rPr lang="zh-CN" altLang="en-US" b="1">
                <a:latin typeface="宋体" panose="02010600030101010101" pitchFamily="2" charset="-122"/>
              </a:rPr>
              <a:t>归一化的作用 </a:t>
            </a:r>
          </a:p>
          <a:p>
            <a:pPr eaLnBrk="1" hangingPunct="1"/>
            <a:r>
              <a:rPr lang="zh-CN" altLang="en-US" b="1">
                <a:latin typeface="宋体" panose="02010600030101010101" pitchFamily="2" charset="-122"/>
              </a:rPr>
              <a:t>为何要扩展符号位</a:t>
            </a:r>
          </a:p>
        </p:txBody>
      </p:sp>
      <p:sp>
        <p:nvSpPr>
          <p:cNvPr id="3277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02A07B4-B86D-49D9-820A-DAFE1EF71FF7}" type="slidenum">
              <a:rPr lang="en-US" altLang="zh-CN" sz="1400" b="0"/>
              <a:pPr eaLnBrk="1" hangingPunct="1"/>
              <a:t>20</a:t>
            </a:fld>
            <a:endParaRPr lang="en-US" altLang="zh-CN" sz="1400" b="0"/>
          </a:p>
        </p:txBody>
      </p:sp>
      <p:grpSp>
        <p:nvGrpSpPr>
          <p:cNvPr id="32773" name="Group 5"/>
          <p:cNvGrpSpPr>
            <a:grpSpLocks/>
          </p:cNvGrpSpPr>
          <p:nvPr/>
        </p:nvGrpSpPr>
        <p:grpSpPr bwMode="auto">
          <a:xfrm>
            <a:off x="6019800" y="2209800"/>
            <a:ext cx="2944813" cy="3886200"/>
            <a:chOff x="3792" y="1392"/>
            <a:chExt cx="1728" cy="2448"/>
          </a:xfrm>
        </p:grpSpPr>
        <p:sp>
          <p:nvSpPr>
            <p:cNvPr id="32775" name="AutoShape 6"/>
            <p:cNvSpPr>
              <a:spLocks noChangeArrowheads="1"/>
            </p:cNvSpPr>
            <p:nvPr/>
          </p:nvSpPr>
          <p:spPr bwMode="auto">
            <a:xfrm>
              <a:off x="4608" y="1392"/>
              <a:ext cx="624" cy="432"/>
            </a:xfrm>
            <a:prstGeom prst="downArrow">
              <a:avLst>
                <a:gd name="adj1" fmla="val 50000"/>
                <a:gd name="adj2" fmla="val 25000"/>
              </a:avLst>
            </a:prstGeom>
            <a:solidFill>
              <a:srgbClr val="CED78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2776" name="AutoShape 7"/>
            <p:cNvSpPr>
              <a:spLocks noChangeArrowheads="1"/>
            </p:cNvSpPr>
            <p:nvPr/>
          </p:nvSpPr>
          <p:spPr bwMode="auto">
            <a:xfrm>
              <a:off x="4176" y="1824"/>
              <a:ext cx="1056" cy="288"/>
            </a:xfrm>
            <a:custGeom>
              <a:avLst/>
              <a:gdLst>
                <a:gd name="T0" fmla="*/ 45 w 21600"/>
                <a:gd name="T1" fmla="*/ 2 h 21600"/>
                <a:gd name="T2" fmla="*/ 26 w 21600"/>
                <a:gd name="T3" fmla="*/ 4 h 21600"/>
                <a:gd name="T4" fmla="*/ 6 w 21600"/>
                <a:gd name="T5" fmla="*/ 2 h 21600"/>
                <a:gd name="T6" fmla="*/ 2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2"/>
            </a:solidFill>
            <a:ln w="9525">
              <a:solidFill>
                <a:schemeClr val="tx1"/>
              </a:solidFill>
              <a:miter lim="800000"/>
              <a:headEnd/>
              <a:tailEnd/>
            </a:ln>
          </p:spPr>
          <p:txBody>
            <a:bodyPr wrap="none" anchor="ctr"/>
            <a:lstStyle/>
            <a:p>
              <a:endParaRPr lang="zh-CN" altLang="en-US"/>
            </a:p>
          </p:txBody>
        </p:sp>
        <p:sp>
          <p:nvSpPr>
            <p:cNvPr id="32777" name="Line 8"/>
            <p:cNvSpPr>
              <a:spLocks noChangeShapeType="1"/>
            </p:cNvSpPr>
            <p:nvPr/>
          </p:nvSpPr>
          <p:spPr bwMode="auto">
            <a:xfrm>
              <a:off x="4368" y="1536"/>
              <a:ext cx="0" cy="288"/>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78" name="Line 9"/>
            <p:cNvSpPr>
              <a:spLocks noChangeShapeType="1"/>
            </p:cNvSpPr>
            <p:nvPr/>
          </p:nvSpPr>
          <p:spPr bwMode="auto">
            <a:xfrm>
              <a:off x="4608" y="1536"/>
              <a:ext cx="0" cy="288"/>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79" name="Line 10"/>
            <p:cNvSpPr>
              <a:spLocks noChangeShapeType="1"/>
            </p:cNvSpPr>
            <p:nvPr/>
          </p:nvSpPr>
          <p:spPr bwMode="auto">
            <a:xfrm>
              <a:off x="4800" y="1536"/>
              <a:ext cx="0"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80" name="Line 11"/>
            <p:cNvSpPr>
              <a:spLocks noChangeShapeType="1"/>
            </p:cNvSpPr>
            <p:nvPr/>
          </p:nvSpPr>
          <p:spPr bwMode="auto">
            <a:xfrm>
              <a:off x="5040" y="1536"/>
              <a:ext cx="0"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81" name="Text Box 12"/>
            <p:cNvSpPr txBox="1">
              <a:spLocks noChangeArrowheads="1"/>
            </p:cNvSpPr>
            <p:nvPr/>
          </p:nvSpPr>
          <p:spPr bwMode="auto">
            <a:xfrm>
              <a:off x="4224" y="1584"/>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b="0"/>
                <a:t>B</a:t>
              </a:r>
            </a:p>
          </p:txBody>
        </p:sp>
        <p:sp>
          <p:nvSpPr>
            <p:cNvPr id="32782" name="Text Box 13"/>
            <p:cNvSpPr txBox="1">
              <a:spLocks noChangeArrowheads="1"/>
            </p:cNvSpPr>
            <p:nvPr/>
          </p:nvSpPr>
          <p:spPr bwMode="auto">
            <a:xfrm>
              <a:off x="4416" y="1584"/>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b="0"/>
                <a:t>A</a:t>
              </a:r>
            </a:p>
          </p:txBody>
        </p:sp>
        <p:sp>
          <p:nvSpPr>
            <p:cNvPr id="32783" name="Text Box 14"/>
            <p:cNvSpPr txBox="1">
              <a:spLocks noChangeArrowheads="1"/>
            </p:cNvSpPr>
            <p:nvPr/>
          </p:nvSpPr>
          <p:spPr bwMode="auto">
            <a:xfrm>
              <a:off x="4656" y="1584"/>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b="0"/>
                <a:t>C</a:t>
              </a:r>
            </a:p>
          </p:txBody>
        </p:sp>
        <p:sp>
          <p:nvSpPr>
            <p:cNvPr id="32784" name="Text Box 15"/>
            <p:cNvSpPr txBox="1">
              <a:spLocks noChangeArrowheads="1"/>
            </p:cNvSpPr>
            <p:nvPr/>
          </p:nvSpPr>
          <p:spPr bwMode="auto">
            <a:xfrm>
              <a:off x="4848" y="1584"/>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b="0"/>
                <a:t>D</a:t>
              </a:r>
            </a:p>
          </p:txBody>
        </p:sp>
        <p:sp>
          <p:nvSpPr>
            <p:cNvPr id="32785" name="Line 16"/>
            <p:cNvSpPr>
              <a:spLocks noChangeShapeType="1"/>
            </p:cNvSpPr>
            <p:nvPr/>
          </p:nvSpPr>
          <p:spPr bwMode="auto">
            <a:xfrm>
              <a:off x="4704" y="2112"/>
              <a:ext cx="0" cy="288"/>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86" name="Line 17"/>
            <p:cNvSpPr>
              <a:spLocks noChangeShapeType="1"/>
            </p:cNvSpPr>
            <p:nvPr/>
          </p:nvSpPr>
          <p:spPr bwMode="auto">
            <a:xfrm>
              <a:off x="4704" y="2640"/>
              <a:ext cx="0" cy="432"/>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87" name="Line 18"/>
            <p:cNvSpPr>
              <a:spLocks noChangeShapeType="1"/>
            </p:cNvSpPr>
            <p:nvPr/>
          </p:nvSpPr>
          <p:spPr bwMode="auto">
            <a:xfrm>
              <a:off x="4704" y="3552"/>
              <a:ext cx="0"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88" name="Text Box 19"/>
            <p:cNvSpPr txBox="1">
              <a:spLocks noChangeArrowheads="1"/>
            </p:cNvSpPr>
            <p:nvPr/>
          </p:nvSpPr>
          <p:spPr bwMode="auto">
            <a:xfrm>
              <a:off x="4704" y="3504"/>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b="0"/>
                <a:t>E</a:t>
              </a:r>
            </a:p>
          </p:txBody>
        </p:sp>
        <p:sp>
          <p:nvSpPr>
            <p:cNvPr id="32789" name="Line 20"/>
            <p:cNvSpPr>
              <a:spLocks noChangeShapeType="1"/>
            </p:cNvSpPr>
            <p:nvPr/>
          </p:nvSpPr>
          <p:spPr bwMode="auto">
            <a:xfrm flipH="1">
              <a:off x="4176" y="2880"/>
              <a:ext cx="528" cy="0"/>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90" name="Text Box 21"/>
            <p:cNvSpPr txBox="1">
              <a:spLocks noChangeArrowheads="1"/>
            </p:cNvSpPr>
            <p:nvPr/>
          </p:nvSpPr>
          <p:spPr bwMode="auto">
            <a:xfrm>
              <a:off x="4224" y="2688"/>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b="0"/>
                <a:t>S</a:t>
              </a:r>
            </a:p>
          </p:txBody>
        </p:sp>
        <p:sp>
          <p:nvSpPr>
            <p:cNvPr id="32791" name="Text Box 22"/>
            <p:cNvSpPr txBox="1">
              <a:spLocks noChangeArrowheads="1"/>
            </p:cNvSpPr>
            <p:nvPr/>
          </p:nvSpPr>
          <p:spPr bwMode="auto">
            <a:xfrm>
              <a:off x="3792" y="2784"/>
              <a:ext cx="384" cy="218"/>
            </a:xfrm>
            <a:prstGeom prst="rect">
              <a:avLst/>
            </a:prstGeom>
            <a:solidFill>
              <a:srgbClr val="CED78F"/>
            </a:solid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a:t>ALU</a:t>
              </a:r>
            </a:p>
          </p:txBody>
        </p:sp>
        <p:sp>
          <p:nvSpPr>
            <p:cNvPr id="32792" name="Text Box 23"/>
            <p:cNvSpPr txBox="1">
              <a:spLocks noChangeArrowheads="1"/>
            </p:cNvSpPr>
            <p:nvPr/>
          </p:nvSpPr>
          <p:spPr bwMode="auto">
            <a:xfrm>
              <a:off x="3984" y="2400"/>
              <a:ext cx="1536" cy="256"/>
            </a:xfrm>
            <a:prstGeom prst="rect">
              <a:avLst/>
            </a:prstGeom>
            <a:solidFill>
              <a:schemeClr val="tx2"/>
            </a:solid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accent2"/>
                  </a:solidFill>
                  <a:latin typeface="宋体" panose="02010600030101010101" pitchFamily="2" charset="-122"/>
                </a:rPr>
                <a:t>桶形移位器</a:t>
              </a:r>
              <a:r>
                <a:rPr lang="zh-CN" altLang="en-US">
                  <a:solidFill>
                    <a:schemeClr val="bg1"/>
                  </a:solidFill>
                  <a:latin typeface="宋体" panose="02010600030101010101" pitchFamily="2" charset="-122"/>
                </a:rPr>
                <a:t>（</a:t>
              </a:r>
              <a:r>
                <a:rPr lang="en-US" altLang="zh-CN">
                  <a:solidFill>
                    <a:schemeClr val="bg1"/>
                  </a:solidFill>
                </a:rPr>
                <a:t>40</a:t>
              </a:r>
              <a:r>
                <a:rPr lang="zh-CN" altLang="en-US">
                  <a:solidFill>
                    <a:schemeClr val="bg1"/>
                  </a:solidFill>
                </a:rPr>
                <a:t>位</a:t>
              </a:r>
              <a:r>
                <a:rPr lang="zh-CN" altLang="en-US">
                  <a:solidFill>
                    <a:schemeClr val="bg1"/>
                  </a:solidFill>
                  <a:latin typeface="宋体" panose="02010600030101010101" pitchFamily="2" charset="-122"/>
                </a:rPr>
                <a:t>）</a:t>
              </a:r>
            </a:p>
          </p:txBody>
        </p:sp>
        <p:sp>
          <p:nvSpPr>
            <p:cNvPr id="32793" name="Text Box 24"/>
            <p:cNvSpPr txBox="1">
              <a:spLocks noChangeArrowheads="1"/>
            </p:cNvSpPr>
            <p:nvPr/>
          </p:nvSpPr>
          <p:spPr bwMode="auto">
            <a:xfrm>
              <a:off x="4320" y="182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00FF"/>
                  </a:solidFill>
                  <a:latin typeface="宋体" panose="02010600030101010101" pitchFamily="2" charset="-122"/>
                </a:rPr>
                <a:t>信号控制</a:t>
              </a:r>
            </a:p>
          </p:txBody>
        </p:sp>
        <p:sp>
          <p:nvSpPr>
            <p:cNvPr id="32794" name="Text Box 25"/>
            <p:cNvSpPr txBox="1">
              <a:spLocks noChangeArrowheads="1"/>
            </p:cNvSpPr>
            <p:nvPr/>
          </p:nvSpPr>
          <p:spPr bwMode="auto">
            <a:xfrm>
              <a:off x="4224" y="3072"/>
              <a:ext cx="960" cy="448"/>
            </a:xfrm>
            <a:prstGeom prst="rect">
              <a:avLst/>
            </a:prstGeom>
            <a:solidFill>
              <a:schemeClr val="hlink"/>
            </a:solid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folHlink"/>
                  </a:solidFill>
                  <a:latin typeface="宋体" panose="02010600030101010101" pitchFamily="2" charset="-122"/>
                </a:rPr>
                <a:t>最高</a:t>
              </a:r>
              <a:r>
                <a:rPr lang="en-US" altLang="zh-CN">
                  <a:solidFill>
                    <a:schemeClr val="folHlink"/>
                  </a:solidFill>
                  <a:latin typeface="宋体" panose="02010600030101010101" pitchFamily="2" charset="-122"/>
                </a:rPr>
                <a:t>/</a:t>
              </a:r>
              <a:r>
                <a:rPr lang="zh-CN" altLang="en-US">
                  <a:solidFill>
                    <a:schemeClr val="folHlink"/>
                  </a:solidFill>
                  <a:latin typeface="宋体" panose="02010600030101010101" pitchFamily="2" charset="-122"/>
                </a:rPr>
                <a:t>最低有效字选择</a:t>
              </a:r>
            </a:p>
          </p:txBody>
        </p:sp>
      </p:grpSp>
      <p:sp>
        <p:nvSpPr>
          <p:cNvPr id="529434" name="Rectangle 26" descr="小棋盘"/>
          <p:cNvSpPr>
            <a:spLocks noChangeArrowheads="1"/>
          </p:cNvSpPr>
          <p:nvPr/>
        </p:nvSpPr>
        <p:spPr bwMode="auto">
          <a:xfrm>
            <a:off x="395288" y="2852738"/>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529410"/>
                                        </p:tgtEl>
                                        <p:attrNameLst>
                                          <p:attrName>style.visibility</p:attrName>
                                        </p:attrNameLst>
                                      </p:cBhvr>
                                      <p:to>
                                        <p:strVal val="visible"/>
                                      </p:to>
                                    </p:set>
                                    <p:animEffect transition="in" filter="barn(outHorizontal)">
                                      <p:cBhvr>
                                        <p:cTn id="7" dur="500"/>
                                        <p:tgtEl>
                                          <p:spTgt spid="529410"/>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529434">
                                            <p:txEl>
                                              <p:charRg st="4294967295" end="4294967295"/>
                                            </p:txEl>
                                          </p:spTgt>
                                        </p:tgtEl>
                                        <p:attrNameLst>
                                          <p:attrName>style.visibility</p:attrName>
                                        </p:attrNameLst>
                                      </p:cBhvr>
                                      <p:to>
                                        <p:strVal val="visible"/>
                                      </p:to>
                                    </p:set>
                                    <p:animEffect transition="in" filter="slide(fromBottom)">
                                      <p:cBhvr>
                                        <p:cTn id="11" dur="500"/>
                                        <p:tgtEl>
                                          <p:spTgt spid="529434">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0" grpId="0" autoUpdateAnimBg="0"/>
      <p:bldP spid="529434"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idx="1"/>
          </p:nvPr>
        </p:nvSpPr>
        <p:spPr bwMode="auto">
          <a:xfrm>
            <a:off x="1828800" y="1752600"/>
            <a:ext cx="4038600" cy="281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什么是定标</a:t>
            </a:r>
          </a:p>
          <a:p>
            <a:pPr eaLnBrk="1" hangingPunct="1"/>
            <a:r>
              <a:rPr lang="zh-CN" altLang="en-US" b="1">
                <a:latin typeface="宋体" panose="02010600030101010101" pitchFamily="2" charset="-122"/>
              </a:rPr>
              <a:t>移位处理的作用 </a:t>
            </a:r>
          </a:p>
          <a:p>
            <a:pPr eaLnBrk="1" hangingPunct="1"/>
            <a:r>
              <a:rPr lang="zh-CN" altLang="en-US" b="1">
                <a:latin typeface="宋体" panose="02010600030101010101" pitchFamily="2" charset="-122"/>
              </a:rPr>
              <a:t>归一化的作用 </a:t>
            </a:r>
          </a:p>
          <a:p>
            <a:pPr eaLnBrk="1" hangingPunct="1"/>
            <a:r>
              <a:rPr lang="zh-CN" altLang="en-US" b="1">
                <a:latin typeface="宋体" panose="02010600030101010101" pitchFamily="2" charset="-122"/>
              </a:rPr>
              <a:t>为何要扩展符号位</a:t>
            </a:r>
          </a:p>
        </p:txBody>
      </p:sp>
      <p:sp>
        <p:nvSpPr>
          <p:cNvPr id="3379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C9253B5-45D9-4E8E-B7CA-C11ECE14C6BF}" type="slidenum">
              <a:rPr lang="en-US" altLang="zh-CN" sz="1400" b="0"/>
              <a:pPr eaLnBrk="1" hangingPunct="1"/>
              <a:t>21</a:t>
            </a:fld>
            <a:endParaRPr lang="en-US" altLang="zh-CN" sz="1400" b="0"/>
          </a:p>
        </p:txBody>
      </p:sp>
      <p:sp>
        <p:nvSpPr>
          <p:cNvPr id="530436" name="AutoShape 4" descr="小棋盘"/>
          <p:cNvSpPr>
            <a:spLocks noChangeArrowheads="1"/>
          </p:cNvSpPr>
          <p:nvPr/>
        </p:nvSpPr>
        <p:spPr bwMode="auto">
          <a:xfrm>
            <a:off x="5886450" y="1371600"/>
            <a:ext cx="3028950" cy="3517900"/>
          </a:xfrm>
          <a:prstGeom prst="wedgeRoundRectCallout">
            <a:avLst>
              <a:gd name="adj1" fmla="val -91995"/>
              <a:gd name="adj2" fmla="val -31574"/>
              <a:gd name="adj3" fmla="val 16667"/>
            </a:avLst>
          </a:prstGeom>
          <a:pattFill prst="smCheck">
            <a:fgClr>
              <a:srgbClr val="FFFF00"/>
            </a:fgClr>
            <a:bgClr>
              <a:srgbClr val="FFFFFF"/>
            </a:bgClr>
          </a:pattFill>
          <a:ln w="9525">
            <a:solidFill>
              <a:schemeClr val="folHlink"/>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r>
              <a:rPr lang="zh-CN" altLang="en-US" sz="2800" dirty="0">
                <a:solidFill>
                  <a:schemeClr val="tx2"/>
                </a:solidFill>
              </a:rPr>
              <a:t>当数据存储器的数据送入累加器或与累加器中的数据进行运算时，先通过它进行</a:t>
            </a:r>
            <a:r>
              <a:rPr lang="en-US" altLang="zh-CN" sz="2800" dirty="0">
                <a:latin typeface="宋体" panose="02010600030101010101" pitchFamily="2" charset="-122"/>
              </a:rPr>
              <a:t>-16</a:t>
            </a:r>
            <a:r>
              <a:rPr lang="zh-CN" altLang="en-US" sz="2800" dirty="0">
                <a:latin typeface="宋体" panose="02010600030101010101" pitchFamily="2" charset="-122"/>
              </a:rPr>
              <a:t>～</a:t>
            </a:r>
            <a:r>
              <a:rPr lang="en-US" altLang="zh-CN" sz="2800">
                <a:latin typeface="宋体" panose="02010600030101010101" pitchFamily="2" charset="-122"/>
              </a:rPr>
              <a:t>31</a:t>
            </a:r>
            <a:r>
              <a:rPr lang="zh-CN" altLang="en-US" sz="2800">
                <a:solidFill>
                  <a:schemeClr val="tx2"/>
                </a:solidFill>
              </a:rPr>
              <a:t>位左移然后再进行运算。</a:t>
            </a:r>
          </a:p>
        </p:txBody>
      </p:sp>
      <p:sp>
        <p:nvSpPr>
          <p:cNvPr id="530437" name="Rectangle 5" descr="小棋盘"/>
          <p:cNvSpPr>
            <a:spLocks noChangeArrowheads="1"/>
          </p:cNvSpPr>
          <p:nvPr/>
        </p:nvSpPr>
        <p:spPr bwMode="auto">
          <a:xfrm>
            <a:off x="611188" y="2349500"/>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30436"/>
                                        </p:tgtEl>
                                        <p:attrNameLst>
                                          <p:attrName>style.visibility</p:attrName>
                                        </p:attrNameLst>
                                      </p:cBhvr>
                                      <p:to>
                                        <p:strVal val="visible"/>
                                      </p:to>
                                    </p:set>
                                    <p:anim calcmode="lin" valueType="num">
                                      <p:cBhvr additive="base">
                                        <p:cTn id="7" dur="500" fill="hold"/>
                                        <p:tgtEl>
                                          <p:spTgt spid="530436"/>
                                        </p:tgtEl>
                                        <p:attrNameLst>
                                          <p:attrName>ppt_x</p:attrName>
                                        </p:attrNameLst>
                                      </p:cBhvr>
                                      <p:tavLst>
                                        <p:tav tm="0">
                                          <p:val>
                                            <p:strVal val="1+#ppt_w/2"/>
                                          </p:val>
                                        </p:tav>
                                        <p:tav tm="100000">
                                          <p:val>
                                            <p:strVal val="#ppt_x"/>
                                          </p:val>
                                        </p:tav>
                                      </p:tavLst>
                                    </p:anim>
                                    <p:anim calcmode="lin" valueType="num">
                                      <p:cBhvr additive="base">
                                        <p:cTn id="8" dur="500" fill="hold"/>
                                        <p:tgtEl>
                                          <p:spTgt spid="53043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530437">
                                            <p:txEl>
                                              <p:charRg st="4294967295" end="4294967295"/>
                                            </p:txEl>
                                          </p:spTgt>
                                        </p:tgtEl>
                                        <p:attrNameLst>
                                          <p:attrName>style.visibility</p:attrName>
                                        </p:attrNameLst>
                                      </p:cBhvr>
                                      <p:to>
                                        <p:strVal val="visible"/>
                                      </p:to>
                                    </p:set>
                                    <p:animEffect transition="in" filter="slide(fromBottom)">
                                      <p:cBhvr>
                                        <p:cTn id="12" dur="500"/>
                                        <p:tgtEl>
                                          <p:spTgt spid="530437">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436" grpId="0" animBg="1" autoUpdateAnimBg="0"/>
      <p:bldP spid="53043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idx="1"/>
          </p:nvPr>
        </p:nvSpPr>
        <p:spPr bwMode="auto">
          <a:xfrm>
            <a:off x="1676400" y="1828800"/>
            <a:ext cx="4038600" cy="281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什么是定标</a:t>
            </a:r>
          </a:p>
          <a:p>
            <a:pPr eaLnBrk="1" hangingPunct="1"/>
            <a:r>
              <a:rPr lang="zh-CN" altLang="en-US" b="1">
                <a:latin typeface="宋体" panose="02010600030101010101" pitchFamily="2" charset="-122"/>
              </a:rPr>
              <a:t>移位处理的作用 </a:t>
            </a:r>
          </a:p>
          <a:p>
            <a:pPr eaLnBrk="1" hangingPunct="1"/>
            <a:r>
              <a:rPr lang="zh-CN" altLang="en-US" b="1">
                <a:latin typeface="宋体" panose="02010600030101010101" pitchFamily="2" charset="-122"/>
              </a:rPr>
              <a:t>归一化的作用 </a:t>
            </a:r>
          </a:p>
          <a:p>
            <a:pPr eaLnBrk="1" hangingPunct="1"/>
            <a:r>
              <a:rPr lang="zh-CN" altLang="en-US" b="1">
                <a:latin typeface="宋体" panose="02010600030101010101" pitchFamily="2" charset="-122"/>
              </a:rPr>
              <a:t>为何要扩展符号位</a:t>
            </a:r>
          </a:p>
        </p:txBody>
      </p:sp>
      <p:sp>
        <p:nvSpPr>
          <p:cNvPr id="3481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86F165F7-FF4B-4B07-8619-95FFCCF23D87}" type="slidenum">
              <a:rPr lang="en-US" altLang="zh-CN" sz="1400" b="0"/>
              <a:pPr eaLnBrk="1" hangingPunct="1"/>
              <a:t>22</a:t>
            </a:fld>
            <a:endParaRPr lang="en-US" altLang="zh-CN" sz="1400" b="0"/>
          </a:p>
        </p:txBody>
      </p:sp>
      <p:sp>
        <p:nvSpPr>
          <p:cNvPr id="531460" name="AutoShape 4" descr="小棋盘"/>
          <p:cNvSpPr>
            <a:spLocks noChangeArrowheads="1"/>
          </p:cNvSpPr>
          <p:nvPr/>
        </p:nvSpPr>
        <p:spPr bwMode="auto">
          <a:xfrm>
            <a:off x="6629400" y="1905000"/>
            <a:ext cx="1600200" cy="990600"/>
          </a:xfrm>
          <a:prstGeom prst="wedgeRoundRectCallout">
            <a:avLst>
              <a:gd name="adj1" fmla="val -156449"/>
              <a:gd name="adj2" fmla="val 84935"/>
              <a:gd name="adj3" fmla="val 16667"/>
            </a:avLst>
          </a:prstGeom>
          <a:pattFill prst="smCheck">
            <a:fgClr>
              <a:srgbClr val="FFFF00"/>
            </a:fgClr>
            <a:bgClr>
              <a:srgbClr val="FFFFFF"/>
            </a:bgClr>
          </a:pattFill>
          <a:ln w="9525">
            <a:solidFill>
              <a:schemeClr val="folHlink"/>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r>
              <a:rPr lang="zh-CN" altLang="en-US" sz="2800">
                <a:solidFill>
                  <a:srgbClr val="006600"/>
                </a:solidFill>
              </a:rPr>
              <a:t>方便指数运算</a:t>
            </a:r>
          </a:p>
        </p:txBody>
      </p:sp>
      <p:sp>
        <p:nvSpPr>
          <p:cNvPr id="531461" name="AutoShape 5" descr="小棋盘"/>
          <p:cNvSpPr>
            <a:spLocks noChangeArrowheads="1"/>
          </p:cNvSpPr>
          <p:nvPr/>
        </p:nvSpPr>
        <p:spPr bwMode="auto">
          <a:xfrm>
            <a:off x="4319588" y="4800600"/>
            <a:ext cx="3852862" cy="990600"/>
          </a:xfrm>
          <a:prstGeom prst="wedgeRoundRectCallout">
            <a:avLst>
              <a:gd name="adj1" fmla="val -22190"/>
              <a:gd name="adj2" fmla="val -118912"/>
              <a:gd name="adj3" fmla="val 16667"/>
            </a:avLst>
          </a:prstGeom>
          <a:pattFill prst="smCheck">
            <a:fgClr>
              <a:srgbClr val="FFFF00"/>
            </a:fgClr>
            <a:bgClr>
              <a:srgbClr val="FFFFFF"/>
            </a:bgClr>
          </a:pattFill>
          <a:ln w="9525">
            <a:solidFill>
              <a:schemeClr val="folHlink"/>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r>
              <a:rPr lang="zh-CN" altLang="en-US" sz="2800">
                <a:solidFill>
                  <a:schemeClr val="tx2"/>
                </a:solidFill>
              </a:rPr>
              <a:t>进行符号位保护可防止数据的符号变化</a:t>
            </a:r>
          </a:p>
        </p:txBody>
      </p:sp>
      <p:sp>
        <p:nvSpPr>
          <p:cNvPr id="531462" name="Rectangle 6" descr="小棋盘"/>
          <p:cNvSpPr>
            <a:spLocks noChangeArrowheads="1"/>
          </p:cNvSpPr>
          <p:nvPr/>
        </p:nvSpPr>
        <p:spPr bwMode="auto">
          <a:xfrm>
            <a:off x="539750" y="2349500"/>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31460"/>
                                        </p:tgtEl>
                                        <p:attrNameLst>
                                          <p:attrName>style.visibility</p:attrName>
                                        </p:attrNameLst>
                                      </p:cBhvr>
                                      <p:to>
                                        <p:strVal val="visible"/>
                                      </p:to>
                                    </p:set>
                                    <p:anim calcmode="lin" valueType="num">
                                      <p:cBhvr additive="base">
                                        <p:cTn id="7" dur="500" fill="hold"/>
                                        <p:tgtEl>
                                          <p:spTgt spid="531460"/>
                                        </p:tgtEl>
                                        <p:attrNameLst>
                                          <p:attrName>ppt_x</p:attrName>
                                        </p:attrNameLst>
                                      </p:cBhvr>
                                      <p:tavLst>
                                        <p:tav tm="0">
                                          <p:val>
                                            <p:strVal val="1+#ppt_w/2"/>
                                          </p:val>
                                        </p:tav>
                                        <p:tav tm="100000">
                                          <p:val>
                                            <p:strVal val="#ppt_x"/>
                                          </p:val>
                                        </p:tav>
                                      </p:tavLst>
                                    </p:anim>
                                    <p:anim calcmode="lin" valueType="num">
                                      <p:cBhvr additive="base">
                                        <p:cTn id="8" dur="500" fill="hold"/>
                                        <p:tgtEl>
                                          <p:spTgt spid="53146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531461"/>
                                        </p:tgtEl>
                                        <p:attrNameLst>
                                          <p:attrName>style.visibility</p:attrName>
                                        </p:attrNameLst>
                                      </p:cBhvr>
                                      <p:to>
                                        <p:strVal val="visible"/>
                                      </p:to>
                                    </p:set>
                                    <p:anim calcmode="lin" valueType="num">
                                      <p:cBhvr additive="base">
                                        <p:cTn id="12" dur="500" fill="hold"/>
                                        <p:tgtEl>
                                          <p:spTgt spid="531461"/>
                                        </p:tgtEl>
                                        <p:attrNameLst>
                                          <p:attrName>ppt_x</p:attrName>
                                        </p:attrNameLst>
                                      </p:cBhvr>
                                      <p:tavLst>
                                        <p:tav tm="0">
                                          <p:val>
                                            <p:strVal val="1+#ppt_w/2"/>
                                          </p:val>
                                        </p:tav>
                                        <p:tav tm="100000">
                                          <p:val>
                                            <p:strVal val="#ppt_x"/>
                                          </p:val>
                                        </p:tav>
                                      </p:tavLst>
                                    </p:anim>
                                    <p:anim calcmode="lin" valueType="num">
                                      <p:cBhvr additive="base">
                                        <p:cTn id="13" dur="500" fill="hold"/>
                                        <p:tgtEl>
                                          <p:spTgt spid="531461"/>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12" presetClass="entr" presetSubtype="4" fill="hold" grpId="0" nodeType="afterEffect">
                                  <p:stCondLst>
                                    <p:cond delay="0"/>
                                  </p:stCondLst>
                                  <p:childTnLst>
                                    <p:set>
                                      <p:cBhvr>
                                        <p:cTn id="16" dur="1" fill="hold">
                                          <p:stCondLst>
                                            <p:cond delay="0"/>
                                          </p:stCondLst>
                                        </p:cTn>
                                        <p:tgtEl>
                                          <p:spTgt spid="531462">
                                            <p:txEl>
                                              <p:charRg st="4294967295" end="4294967295"/>
                                            </p:txEl>
                                          </p:spTgt>
                                        </p:tgtEl>
                                        <p:attrNameLst>
                                          <p:attrName>style.visibility</p:attrName>
                                        </p:attrNameLst>
                                      </p:cBhvr>
                                      <p:to>
                                        <p:strVal val="visible"/>
                                      </p:to>
                                    </p:set>
                                    <p:animEffect transition="in" filter="slide(fromBottom)">
                                      <p:cBhvr>
                                        <p:cTn id="17" dur="500"/>
                                        <p:tgtEl>
                                          <p:spTgt spid="531462">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60" grpId="0" animBg="1" autoUpdateAnimBg="0"/>
      <p:bldP spid="531461" grpId="0" animBg="1" autoUpdateAnimBg="0"/>
      <p:bldP spid="53146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23241DB-0E4E-48F1-B6E5-2EBDFD3E13E1}" type="slidenum">
              <a:rPr lang="en-US" altLang="zh-CN" sz="1400" b="0"/>
              <a:pPr eaLnBrk="1" hangingPunct="1"/>
              <a:t>23</a:t>
            </a:fld>
            <a:endParaRPr lang="en-US" altLang="zh-CN" sz="1400" b="0"/>
          </a:p>
        </p:txBody>
      </p:sp>
      <p:sp>
        <p:nvSpPr>
          <p:cNvPr id="532482" name="Rectangle 2"/>
          <p:cNvSpPr>
            <a:spLocks noChangeArrowheads="1"/>
          </p:cNvSpPr>
          <p:nvPr/>
        </p:nvSpPr>
        <p:spPr bwMode="auto">
          <a:xfrm>
            <a:off x="228600" y="1066800"/>
            <a:ext cx="8686800" cy="5411788"/>
          </a:xfrm>
          <a:prstGeom prst="rect">
            <a:avLst/>
          </a:prstGeom>
          <a:noFill/>
          <a:ln w="9525">
            <a:noFill/>
            <a:miter lim="800000"/>
            <a:headEnd/>
            <a:tailEnd/>
          </a:ln>
          <a:effectLst/>
        </p:spPr>
        <p:txBody>
          <a:bodyPr>
            <a:spAutoFit/>
          </a:bodyPr>
          <a:lstStyle/>
          <a:p>
            <a:pPr>
              <a:lnSpc>
                <a:spcPct val="85000"/>
              </a:lnSpc>
              <a:spcBef>
                <a:spcPct val="25000"/>
              </a:spcBef>
              <a:defRPr/>
            </a:pPr>
            <a:r>
              <a:rPr lang="zh-CN" altLang="en-US" sz="2800">
                <a:solidFill>
                  <a:srgbClr val="FF0000"/>
                </a:solidFill>
                <a:effectLst>
                  <a:outerShdw blurRad="38100" dist="38100" dir="2700000" algn="tl">
                    <a:srgbClr val="C0C0C0"/>
                  </a:outerShdw>
                </a:effectLst>
              </a:rPr>
              <a:t>移位处理</a:t>
            </a:r>
            <a:r>
              <a:rPr lang="zh-CN" altLang="en-US" sz="2800">
                <a:solidFill>
                  <a:srgbClr val="FF00FF"/>
                </a:solidFill>
                <a:effectLst>
                  <a:outerShdw blurRad="38100" dist="38100" dir="2700000" algn="tl">
                    <a:srgbClr val="C0C0C0"/>
                  </a:outerShdw>
                </a:effectLst>
              </a:rPr>
              <a:t>包括在</a:t>
            </a:r>
            <a:r>
              <a:rPr lang="en-US" altLang="zh-CN" sz="2800">
                <a:solidFill>
                  <a:srgbClr val="FF00FF"/>
                </a:solidFill>
                <a:effectLst>
                  <a:outerShdw blurRad="38100" dist="38100" dir="2700000" algn="tl">
                    <a:srgbClr val="C0C0C0"/>
                  </a:outerShdw>
                </a:effectLst>
              </a:rPr>
              <a:t>ALU</a:t>
            </a:r>
            <a:r>
              <a:rPr lang="zh-CN" altLang="en-US" sz="2800">
                <a:solidFill>
                  <a:srgbClr val="FF00FF"/>
                </a:solidFill>
                <a:effectLst>
                  <a:outerShdw blurRad="38100" dist="38100" dir="2700000" algn="tl">
                    <a:srgbClr val="C0C0C0"/>
                  </a:outerShdw>
                </a:effectLst>
              </a:rPr>
              <a:t>运算前</a:t>
            </a:r>
            <a:r>
              <a:rPr lang="en-US" altLang="zh-CN" sz="2800">
                <a:solidFill>
                  <a:srgbClr val="FF00FF"/>
                </a:solidFill>
                <a:effectLst>
                  <a:outerShdw blurRad="38100" dist="38100" dir="2700000" algn="tl">
                    <a:srgbClr val="C0C0C0"/>
                  </a:outerShdw>
                </a:effectLst>
              </a:rPr>
              <a:t>:</a:t>
            </a:r>
          </a:p>
          <a:p>
            <a:pPr>
              <a:lnSpc>
                <a:spcPct val="85000"/>
              </a:lnSpc>
              <a:spcBef>
                <a:spcPct val="25000"/>
              </a:spcBef>
              <a:defRPr/>
            </a:pPr>
            <a:r>
              <a:rPr lang="en-US" altLang="zh-CN" sz="2800">
                <a:solidFill>
                  <a:srgbClr val="FF00FF"/>
                </a:solidFill>
                <a:effectLst>
                  <a:outerShdw blurRad="38100" dist="38100" dir="2700000" algn="tl">
                    <a:srgbClr val="C0C0C0"/>
                  </a:outerShdw>
                </a:effectLst>
              </a:rPr>
              <a:t>         </a:t>
            </a:r>
            <a:r>
              <a:rPr lang="zh-CN" altLang="en-US" sz="2800">
                <a:solidFill>
                  <a:srgbClr val="FF00FF"/>
                </a:solidFill>
                <a:effectLst>
                  <a:outerShdw blurRad="38100" dist="38100" dir="2700000" algn="tl">
                    <a:srgbClr val="C0C0C0"/>
                  </a:outerShdw>
                </a:effectLst>
              </a:rPr>
              <a:t>对来自数据存储器的操作数或者累加器的值进行定标；</a:t>
            </a:r>
          </a:p>
          <a:p>
            <a:pPr>
              <a:lnSpc>
                <a:spcPct val="85000"/>
              </a:lnSpc>
              <a:spcBef>
                <a:spcPct val="25000"/>
              </a:spcBef>
              <a:defRPr/>
            </a:pPr>
            <a:r>
              <a:rPr lang="zh-CN" altLang="en-US" sz="2800">
                <a:solidFill>
                  <a:srgbClr val="FF00FF"/>
                </a:solidFill>
                <a:effectLst>
                  <a:outerShdw blurRad="38100" dist="38100" dir="2700000" algn="tl">
                    <a:srgbClr val="C0C0C0"/>
                  </a:outerShdw>
                </a:effectLst>
              </a:rPr>
              <a:t>        对累加器的值进行算术或逻辑移位；对累加器归一化处理；</a:t>
            </a:r>
          </a:p>
          <a:p>
            <a:pPr>
              <a:lnSpc>
                <a:spcPct val="85000"/>
              </a:lnSpc>
              <a:spcBef>
                <a:spcPct val="25000"/>
              </a:spcBef>
              <a:defRPr/>
            </a:pPr>
            <a:r>
              <a:rPr lang="zh-CN" altLang="en-US" sz="2800">
                <a:solidFill>
                  <a:srgbClr val="FF00FF"/>
                </a:solidFill>
                <a:effectLst>
                  <a:outerShdw blurRad="38100" dist="38100" dir="2700000" algn="tl">
                    <a:srgbClr val="C0C0C0"/>
                  </a:outerShdw>
                </a:effectLst>
              </a:rPr>
              <a:t>        对累加器的值存储到数据存储器之前进行定标。</a:t>
            </a:r>
          </a:p>
          <a:p>
            <a:pPr algn="just">
              <a:lnSpc>
                <a:spcPct val="90000"/>
              </a:lnSpc>
              <a:spcBef>
                <a:spcPct val="20000"/>
              </a:spcBef>
              <a:defRPr/>
            </a:pPr>
            <a:r>
              <a:rPr lang="zh-CN" altLang="en-US" sz="2800"/>
              <a:t>例如：</a:t>
            </a:r>
          </a:p>
          <a:p>
            <a:pPr algn="just">
              <a:lnSpc>
                <a:spcPct val="90000"/>
              </a:lnSpc>
              <a:spcBef>
                <a:spcPct val="20000"/>
              </a:spcBef>
              <a:defRPr/>
            </a:pPr>
            <a:r>
              <a:rPr lang="zh-CN" altLang="en-US" sz="2800"/>
              <a:t>   </a:t>
            </a:r>
            <a:r>
              <a:rPr lang="en-US" altLang="zh-CN" sz="2800"/>
              <a:t>ADD   A</a:t>
            </a:r>
            <a:r>
              <a:rPr lang="zh-CN" altLang="en-US" sz="2800"/>
              <a:t>， </a:t>
            </a:r>
            <a:r>
              <a:rPr lang="en-US" altLang="zh-CN" sz="2800"/>
              <a:t>-4</a:t>
            </a:r>
            <a:r>
              <a:rPr lang="zh-CN" altLang="en-US" sz="2800"/>
              <a:t>， </a:t>
            </a:r>
            <a:r>
              <a:rPr lang="en-US" altLang="zh-CN" sz="2800"/>
              <a:t>B    </a:t>
            </a:r>
            <a:r>
              <a:rPr lang="zh-CN" altLang="en-US" sz="2800"/>
              <a:t>　 ；累加器</a:t>
            </a:r>
            <a:r>
              <a:rPr lang="en-US" altLang="zh-CN" sz="2800"/>
              <a:t>A</a:t>
            </a:r>
            <a:r>
              <a:rPr lang="zh-CN" altLang="en-US" sz="2800"/>
              <a:t>右移</a:t>
            </a:r>
            <a:r>
              <a:rPr lang="en-US" altLang="zh-CN" sz="2800"/>
              <a:t>4</a:t>
            </a:r>
            <a:r>
              <a:rPr lang="zh-CN" altLang="en-US" sz="2800"/>
              <a:t>位</a:t>
            </a:r>
          </a:p>
          <a:p>
            <a:pPr algn="just">
              <a:lnSpc>
                <a:spcPct val="90000"/>
              </a:lnSpc>
              <a:spcBef>
                <a:spcPct val="20000"/>
              </a:spcBef>
              <a:defRPr/>
            </a:pPr>
            <a:r>
              <a:rPr lang="zh-CN" altLang="en-US" sz="2800"/>
              <a:t>　　                              　 ；后加到累加器</a:t>
            </a:r>
            <a:r>
              <a:rPr lang="en-US" altLang="zh-CN" sz="2800"/>
              <a:t>B</a:t>
            </a:r>
          </a:p>
          <a:p>
            <a:pPr algn="just">
              <a:lnSpc>
                <a:spcPct val="90000"/>
              </a:lnSpc>
              <a:spcBef>
                <a:spcPct val="20000"/>
              </a:spcBef>
              <a:defRPr/>
            </a:pPr>
            <a:r>
              <a:rPr lang="en-US" altLang="zh-CN" sz="2800"/>
              <a:t>   ADD   A</a:t>
            </a:r>
            <a:r>
              <a:rPr lang="zh-CN" altLang="en-US" sz="2800"/>
              <a:t>， </a:t>
            </a:r>
            <a:r>
              <a:rPr lang="en-US" altLang="zh-CN" sz="2800"/>
              <a:t>ASM</a:t>
            </a:r>
            <a:r>
              <a:rPr lang="zh-CN" altLang="en-US" sz="2800"/>
              <a:t>， </a:t>
            </a:r>
            <a:r>
              <a:rPr lang="en-US" altLang="zh-CN" sz="2800"/>
              <a:t>B </a:t>
            </a:r>
            <a:r>
              <a:rPr lang="zh-CN" altLang="en-US" sz="2800"/>
              <a:t>　；累加器</a:t>
            </a:r>
            <a:r>
              <a:rPr lang="en-US" altLang="zh-CN" sz="2800"/>
              <a:t>A</a:t>
            </a:r>
            <a:r>
              <a:rPr lang="zh-CN" altLang="en-US" sz="2800"/>
              <a:t>按</a:t>
            </a:r>
            <a:r>
              <a:rPr lang="en-US" altLang="zh-CN" sz="2800"/>
              <a:t>ASM</a:t>
            </a:r>
            <a:r>
              <a:rPr lang="zh-CN" altLang="en-US" sz="2800"/>
              <a:t>规</a:t>
            </a:r>
          </a:p>
          <a:p>
            <a:pPr algn="just">
              <a:lnSpc>
                <a:spcPct val="90000"/>
              </a:lnSpc>
              <a:spcBef>
                <a:spcPct val="20000"/>
              </a:spcBef>
              <a:defRPr/>
            </a:pPr>
            <a:r>
              <a:rPr lang="zh-CN" altLang="en-US" sz="2800"/>
              <a:t>　　              ；定的移位数移位后加到累加器</a:t>
            </a:r>
            <a:r>
              <a:rPr lang="en-US" altLang="zh-CN" sz="2800"/>
              <a:t>B    </a:t>
            </a:r>
          </a:p>
          <a:p>
            <a:pPr algn="just">
              <a:lnSpc>
                <a:spcPct val="90000"/>
              </a:lnSpc>
              <a:spcBef>
                <a:spcPct val="20000"/>
              </a:spcBef>
              <a:defRPr/>
            </a:pPr>
            <a:r>
              <a:rPr lang="en-US" altLang="zh-CN" sz="2800"/>
              <a:t>   NORM  A  </a:t>
            </a:r>
            <a:r>
              <a:rPr lang="zh-CN" altLang="en-US" sz="2800"/>
              <a:t>；按</a:t>
            </a:r>
            <a:r>
              <a:rPr lang="en-US" altLang="zh-CN" sz="2800"/>
              <a:t>T</a:t>
            </a:r>
            <a:r>
              <a:rPr lang="zh-CN" altLang="en-US" sz="2800"/>
              <a:t>寄存器中的数值对累加器归一化</a:t>
            </a:r>
          </a:p>
        </p:txBody>
      </p:sp>
    </p:spTree>
  </p:cSld>
  <p:clrMapOvr>
    <a:masterClrMapping/>
  </p:clrMapOvr>
  <p:transition spd="med">
    <p:pull dir="lu"/>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3507" name="Rectangle 3"/>
          <p:cNvSpPr>
            <a:spLocks noGrp="1" noChangeArrowheads="1"/>
          </p:cNvSpPr>
          <p:nvPr>
            <p:ph type="title"/>
          </p:nvPr>
        </p:nvSpPr>
        <p:spPr bwMode="auto">
          <a:xfrm>
            <a:off x="1676400" y="1143000"/>
            <a:ext cx="5486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ea typeface="仿宋_GB2312" pitchFamily="49" charset="-122"/>
              </a:rPr>
              <a:t>4</a:t>
            </a:r>
            <a:r>
              <a:rPr lang="zh-CN" altLang="en-US" b="1">
                <a:solidFill>
                  <a:srgbClr val="FF0000"/>
                </a:solidFill>
                <a:ea typeface="仿宋_GB2312" pitchFamily="49" charset="-122"/>
              </a:rPr>
              <a:t>．乘法器</a:t>
            </a:r>
            <a:r>
              <a:rPr lang="en-US" altLang="zh-CN" b="1">
                <a:solidFill>
                  <a:srgbClr val="FF0000"/>
                </a:solidFill>
                <a:ea typeface="仿宋_GB2312" pitchFamily="49" charset="-122"/>
              </a:rPr>
              <a:t>/</a:t>
            </a:r>
            <a:r>
              <a:rPr lang="zh-CN" altLang="en-US" b="1">
                <a:solidFill>
                  <a:srgbClr val="FF0000"/>
                </a:solidFill>
                <a:ea typeface="仿宋_GB2312" pitchFamily="49" charset="-122"/>
              </a:rPr>
              <a:t>加法器</a:t>
            </a:r>
            <a:r>
              <a:rPr lang="zh-CN" altLang="en-US"/>
              <a:t> </a:t>
            </a:r>
          </a:p>
        </p:txBody>
      </p:sp>
      <p:sp>
        <p:nvSpPr>
          <p:cNvPr id="36867" name="Rectangle 4"/>
          <p:cNvSpPr>
            <a:spLocks noGrp="1" noChangeArrowheads="1"/>
          </p:cNvSpPr>
          <p:nvPr>
            <p:ph idx="1"/>
          </p:nvPr>
        </p:nvSpPr>
        <p:spPr bwMode="auto">
          <a:xfrm>
            <a:off x="1295400" y="2514600"/>
            <a:ext cx="3657600" cy="2895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zh-CN" altLang="en-US" b="1">
                <a:latin typeface="宋体" panose="02010600030101010101" pitchFamily="2" charset="-122"/>
              </a:rPr>
              <a:t>结构</a:t>
            </a:r>
            <a:r>
              <a:rPr lang="zh-CN" altLang="en-US" b="1"/>
              <a:t> </a:t>
            </a:r>
          </a:p>
          <a:p>
            <a:pPr eaLnBrk="1" hangingPunct="1">
              <a:lnSpc>
                <a:spcPct val="90000"/>
              </a:lnSpc>
            </a:pPr>
            <a:r>
              <a:rPr lang="zh-CN" altLang="en-US" b="1">
                <a:latin typeface="宋体" panose="02010600030101010101" pitchFamily="2" charset="-122"/>
              </a:rPr>
              <a:t>功能</a:t>
            </a:r>
            <a:r>
              <a:rPr lang="zh-CN" altLang="en-US" b="1"/>
              <a:t> </a:t>
            </a:r>
          </a:p>
          <a:p>
            <a:pPr eaLnBrk="1" hangingPunct="1">
              <a:lnSpc>
                <a:spcPct val="90000"/>
              </a:lnSpc>
            </a:pPr>
            <a:r>
              <a:rPr lang="zh-CN" altLang="en-US" b="1">
                <a:latin typeface="宋体" panose="02010600030101010101" pitchFamily="2" charset="-122"/>
              </a:rPr>
              <a:t>什么是舍入处理</a:t>
            </a:r>
            <a:r>
              <a:rPr lang="zh-CN" altLang="en-US" b="1"/>
              <a:t> </a:t>
            </a:r>
          </a:p>
          <a:p>
            <a:pPr eaLnBrk="1" hangingPunct="1">
              <a:lnSpc>
                <a:spcPct val="90000"/>
              </a:lnSpc>
            </a:pPr>
            <a:r>
              <a:rPr lang="zh-CN" altLang="en-US" b="1">
                <a:latin typeface="宋体" panose="02010600030101010101" pitchFamily="2" charset="-122"/>
              </a:rPr>
              <a:t>饱和处理的优点</a:t>
            </a:r>
          </a:p>
          <a:p>
            <a:pPr eaLnBrk="1" hangingPunct="1">
              <a:lnSpc>
                <a:spcPct val="90000"/>
              </a:lnSpc>
            </a:pPr>
            <a:r>
              <a:rPr lang="zh-CN" altLang="en-US" b="1">
                <a:latin typeface="宋体" panose="02010600030101010101" pitchFamily="2" charset="-122"/>
              </a:rPr>
              <a:t>数据流向</a:t>
            </a:r>
            <a:r>
              <a:rPr lang="zh-CN" altLang="en-US" b="1"/>
              <a:t> </a:t>
            </a:r>
          </a:p>
        </p:txBody>
      </p:sp>
      <p:sp>
        <p:nvSpPr>
          <p:cNvPr id="3686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B28427B-2D20-44CB-AA8F-34C3C39219DB}" type="slidenum">
              <a:rPr lang="en-US" altLang="zh-CN" sz="1400" b="0"/>
              <a:pPr eaLnBrk="1" hangingPunct="1"/>
              <a:t>24</a:t>
            </a:fld>
            <a:endParaRPr lang="en-US" altLang="zh-CN" sz="1400" b="0"/>
          </a:p>
        </p:txBody>
      </p:sp>
      <p:sp>
        <p:nvSpPr>
          <p:cNvPr id="533506" name="AutoShape 2"/>
          <p:cNvSpPr>
            <a:spLocks noChangeArrowheads="1"/>
          </p:cNvSpPr>
          <p:nvPr/>
        </p:nvSpPr>
        <p:spPr bwMode="auto">
          <a:xfrm rot="5420581">
            <a:off x="6248400" y="5562600"/>
            <a:ext cx="838200" cy="685800"/>
          </a:xfrm>
          <a:custGeom>
            <a:avLst/>
            <a:gdLst>
              <a:gd name="T0" fmla="*/ 23234090 w 21600"/>
              <a:gd name="T1" fmla="*/ 0 h 21600"/>
              <a:gd name="T2" fmla="*/ 13939848 w 21600"/>
              <a:gd name="T3" fmla="*/ 7258049 h 21600"/>
              <a:gd name="T4" fmla="*/ 0 w 21600"/>
              <a:gd name="T5" fmla="*/ 18146142 h 21600"/>
              <a:gd name="T6" fmla="*/ 13939848 w 21600"/>
              <a:gd name="T7" fmla="*/ 21774150 h 21600"/>
              <a:gd name="T8" fmla="*/ 27879696 w 21600"/>
              <a:gd name="T9" fmla="*/ 15120936 h 21600"/>
              <a:gd name="T10" fmla="*/ 32526815 w 21600"/>
              <a:gd name="T11" fmla="*/ 7258049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533509" name="AutoShape 5"/>
          <p:cNvSpPr>
            <a:spLocks noChangeArrowheads="1"/>
          </p:cNvSpPr>
          <p:nvPr/>
        </p:nvSpPr>
        <p:spPr bwMode="auto">
          <a:xfrm>
            <a:off x="4716463" y="2924175"/>
            <a:ext cx="2438400" cy="914400"/>
          </a:xfrm>
          <a:custGeom>
            <a:avLst/>
            <a:gdLst>
              <a:gd name="T0" fmla="*/ 240859759 w 21600"/>
              <a:gd name="T1" fmla="*/ 19354798 h 21600"/>
              <a:gd name="T2" fmla="*/ 137634140 w 21600"/>
              <a:gd name="T3" fmla="*/ 38709597 h 21600"/>
              <a:gd name="T4" fmla="*/ 34408535 w 21600"/>
              <a:gd name="T5" fmla="*/ 19354798 h 21600"/>
              <a:gd name="T6" fmla="*/ 13763414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9900"/>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t>17X17</a:t>
            </a:r>
            <a:r>
              <a:rPr lang="zh-CN" altLang="en-US" sz="2800"/>
              <a:t>乘法</a:t>
            </a:r>
          </a:p>
        </p:txBody>
      </p:sp>
      <p:sp>
        <p:nvSpPr>
          <p:cNvPr id="533510" name="AutoShape 6"/>
          <p:cNvSpPr>
            <a:spLocks noChangeArrowheads="1"/>
          </p:cNvSpPr>
          <p:nvPr/>
        </p:nvSpPr>
        <p:spPr bwMode="auto">
          <a:xfrm>
            <a:off x="5219700" y="2565400"/>
            <a:ext cx="457200" cy="381000"/>
          </a:xfrm>
          <a:prstGeom prst="downArrow">
            <a:avLst>
              <a:gd name="adj1" fmla="val 50000"/>
              <a:gd name="adj2" fmla="val 25000"/>
            </a:avLst>
          </a:prstGeom>
          <a:solidFill>
            <a:schemeClr val="bg2"/>
          </a:solidFill>
          <a:ln w="9525">
            <a:solidFill>
              <a:schemeClr val="bg2"/>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3511" name="AutoShape 7"/>
          <p:cNvSpPr>
            <a:spLocks noChangeArrowheads="1"/>
          </p:cNvSpPr>
          <p:nvPr/>
        </p:nvSpPr>
        <p:spPr bwMode="auto">
          <a:xfrm>
            <a:off x="6227763" y="2565400"/>
            <a:ext cx="457200" cy="381000"/>
          </a:xfrm>
          <a:prstGeom prst="downArrow">
            <a:avLst>
              <a:gd name="adj1" fmla="val 50000"/>
              <a:gd name="adj2" fmla="val 25000"/>
            </a:avLst>
          </a:prstGeom>
          <a:solidFill>
            <a:schemeClr val="hlink"/>
          </a:solidFill>
          <a:ln w="9525">
            <a:solidFill>
              <a:schemeClr val="hlink"/>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3512" name="Rectangle 8"/>
          <p:cNvSpPr>
            <a:spLocks noChangeArrowheads="1"/>
          </p:cNvSpPr>
          <p:nvPr/>
        </p:nvSpPr>
        <p:spPr bwMode="auto">
          <a:xfrm>
            <a:off x="4953000" y="4191000"/>
            <a:ext cx="3124200" cy="457200"/>
          </a:xfrm>
          <a:prstGeom prst="rect">
            <a:avLst/>
          </a:prstGeom>
          <a:solidFill>
            <a:srgbClr val="CC99FF"/>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t>40</a:t>
            </a:r>
            <a:r>
              <a:rPr lang="zh-CN" altLang="en-US" sz="2800"/>
              <a:t>位加法</a:t>
            </a:r>
          </a:p>
        </p:txBody>
      </p:sp>
      <p:sp>
        <p:nvSpPr>
          <p:cNvPr id="533513" name="AutoShape 9"/>
          <p:cNvSpPr>
            <a:spLocks noChangeArrowheads="1"/>
          </p:cNvSpPr>
          <p:nvPr/>
        </p:nvSpPr>
        <p:spPr bwMode="auto">
          <a:xfrm>
            <a:off x="5724525" y="3860800"/>
            <a:ext cx="457200" cy="381000"/>
          </a:xfrm>
          <a:prstGeom prst="downArrow">
            <a:avLst>
              <a:gd name="adj1" fmla="val 50000"/>
              <a:gd name="adj2" fmla="val 25000"/>
            </a:avLst>
          </a:prstGeom>
          <a:solidFill>
            <a:schemeClr val="tx2"/>
          </a:solidFill>
          <a:ln w="9525">
            <a:solidFill>
              <a:schemeClr val="hlink"/>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3514" name="AutoShape 10"/>
          <p:cNvSpPr>
            <a:spLocks noChangeArrowheads="1"/>
          </p:cNvSpPr>
          <p:nvPr/>
        </p:nvSpPr>
        <p:spPr bwMode="auto">
          <a:xfrm>
            <a:off x="6172200" y="4648200"/>
            <a:ext cx="457200" cy="381000"/>
          </a:xfrm>
          <a:prstGeom prst="downArrow">
            <a:avLst>
              <a:gd name="adj1" fmla="val 50000"/>
              <a:gd name="adj2" fmla="val 25000"/>
            </a:avLst>
          </a:prstGeom>
          <a:solidFill>
            <a:schemeClr val="accent2"/>
          </a:solidFill>
          <a:ln w="9525">
            <a:solidFill>
              <a:schemeClr val="hlink"/>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 name="Group 12"/>
          <p:cNvGrpSpPr>
            <a:grpSpLocks/>
          </p:cNvGrpSpPr>
          <p:nvPr/>
        </p:nvGrpSpPr>
        <p:grpSpPr bwMode="auto">
          <a:xfrm>
            <a:off x="5029200" y="5029200"/>
            <a:ext cx="2971800" cy="528638"/>
            <a:chOff x="3168" y="3552"/>
            <a:chExt cx="1872" cy="333"/>
          </a:xfrm>
        </p:grpSpPr>
        <p:sp>
          <p:nvSpPr>
            <p:cNvPr id="36892" name="Text Box 13"/>
            <p:cNvSpPr txBox="1">
              <a:spLocks noChangeArrowheads="1"/>
            </p:cNvSpPr>
            <p:nvPr/>
          </p:nvSpPr>
          <p:spPr bwMode="auto">
            <a:xfrm>
              <a:off x="3168" y="3552"/>
              <a:ext cx="624" cy="333"/>
            </a:xfrm>
            <a:prstGeom prst="rect">
              <a:avLst/>
            </a:prstGeom>
            <a:solidFill>
              <a:srgbClr val="FFFF00"/>
            </a:solidFill>
            <a:ln w="9525">
              <a:solidFill>
                <a:srgbClr val="008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a:t>检零</a:t>
              </a:r>
            </a:p>
          </p:txBody>
        </p:sp>
        <p:sp>
          <p:nvSpPr>
            <p:cNvPr id="36893" name="Text Box 14"/>
            <p:cNvSpPr txBox="1">
              <a:spLocks noChangeArrowheads="1"/>
            </p:cNvSpPr>
            <p:nvPr/>
          </p:nvSpPr>
          <p:spPr bwMode="auto">
            <a:xfrm>
              <a:off x="3792" y="3552"/>
              <a:ext cx="624" cy="333"/>
            </a:xfrm>
            <a:prstGeom prst="rect">
              <a:avLst/>
            </a:prstGeom>
            <a:solidFill>
              <a:srgbClr val="FFFF00"/>
            </a:solidFill>
            <a:ln w="9525">
              <a:solidFill>
                <a:srgbClr val="008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a:t>饱和</a:t>
              </a:r>
            </a:p>
          </p:txBody>
        </p:sp>
        <p:sp>
          <p:nvSpPr>
            <p:cNvPr id="36894" name="Text Box 15"/>
            <p:cNvSpPr txBox="1">
              <a:spLocks noChangeArrowheads="1"/>
            </p:cNvSpPr>
            <p:nvPr/>
          </p:nvSpPr>
          <p:spPr bwMode="auto">
            <a:xfrm>
              <a:off x="4416" y="3552"/>
              <a:ext cx="624" cy="333"/>
            </a:xfrm>
            <a:prstGeom prst="rect">
              <a:avLst/>
            </a:prstGeom>
            <a:solidFill>
              <a:srgbClr val="FFFF00"/>
            </a:solidFill>
            <a:ln w="9525">
              <a:solidFill>
                <a:srgbClr val="008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a:t>取整</a:t>
              </a:r>
            </a:p>
          </p:txBody>
        </p:sp>
      </p:grpSp>
      <p:sp>
        <p:nvSpPr>
          <p:cNvPr id="533521" name="Rectangle 17" descr="小棋盘"/>
          <p:cNvSpPr>
            <a:spLocks noChangeArrowheads="1"/>
          </p:cNvSpPr>
          <p:nvPr/>
        </p:nvSpPr>
        <p:spPr bwMode="auto">
          <a:xfrm>
            <a:off x="323850" y="2852738"/>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
        <p:nvSpPr>
          <p:cNvPr id="36878" name="Line 18"/>
          <p:cNvSpPr>
            <a:spLocks noChangeShapeType="1"/>
          </p:cNvSpPr>
          <p:nvPr/>
        </p:nvSpPr>
        <p:spPr bwMode="auto">
          <a:xfrm>
            <a:off x="2771775" y="2708275"/>
            <a:ext cx="1871663" cy="144463"/>
          </a:xfrm>
          <a:prstGeom prst="line">
            <a:avLst/>
          </a:prstGeom>
          <a:noFill/>
          <a:ln w="76200">
            <a:solidFill>
              <a:srgbClr val="FF0066"/>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3523" name="AutoShape 19"/>
          <p:cNvSpPr>
            <a:spLocks noChangeArrowheads="1"/>
          </p:cNvSpPr>
          <p:nvPr/>
        </p:nvSpPr>
        <p:spPr bwMode="auto">
          <a:xfrm>
            <a:off x="7308850" y="3824288"/>
            <a:ext cx="457200" cy="381000"/>
          </a:xfrm>
          <a:prstGeom prst="downArrow">
            <a:avLst>
              <a:gd name="adj1" fmla="val 50000"/>
              <a:gd name="adj2" fmla="val 25000"/>
            </a:avLst>
          </a:prstGeom>
          <a:solidFill>
            <a:schemeClr val="tx2"/>
          </a:solidFill>
          <a:ln w="9525">
            <a:solidFill>
              <a:schemeClr val="hlink"/>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880" name="Rectangle 20"/>
          <p:cNvSpPr>
            <a:spLocks noChangeArrowheads="1"/>
          </p:cNvSpPr>
          <p:nvPr/>
        </p:nvSpPr>
        <p:spPr bwMode="auto">
          <a:xfrm>
            <a:off x="4859338" y="2060575"/>
            <a:ext cx="12239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en-US" altLang="zh-CN" sz="3200">
                <a:solidFill>
                  <a:srgbClr val="FF00FF"/>
                </a:solidFill>
              </a:rPr>
              <a:t>XM</a:t>
            </a:r>
          </a:p>
        </p:txBody>
      </p:sp>
      <p:sp>
        <p:nvSpPr>
          <p:cNvPr id="36881" name="Rectangle 21"/>
          <p:cNvSpPr>
            <a:spLocks noChangeArrowheads="1"/>
          </p:cNvSpPr>
          <p:nvPr/>
        </p:nvSpPr>
        <p:spPr bwMode="auto">
          <a:xfrm>
            <a:off x="6084888" y="2060575"/>
            <a:ext cx="12239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en-US" altLang="zh-CN" sz="3200">
                <a:solidFill>
                  <a:srgbClr val="FF00FF"/>
                </a:solidFill>
              </a:rPr>
              <a:t>YM</a:t>
            </a:r>
          </a:p>
        </p:txBody>
      </p:sp>
      <p:grpSp>
        <p:nvGrpSpPr>
          <p:cNvPr id="36882" name="Group 34"/>
          <p:cNvGrpSpPr>
            <a:grpSpLocks/>
          </p:cNvGrpSpPr>
          <p:nvPr/>
        </p:nvGrpSpPr>
        <p:grpSpPr bwMode="auto">
          <a:xfrm>
            <a:off x="7127875" y="3033713"/>
            <a:ext cx="917575" cy="792162"/>
            <a:chOff x="4661" y="1774"/>
            <a:chExt cx="578" cy="499"/>
          </a:xfrm>
        </p:grpSpPr>
        <p:grpSp>
          <p:nvGrpSpPr>
            <p:cNvPr id="36883" name="Group 22"/>
            <p:cNvGrpSpPr>
              <a:grpSpLocks/>
            </p:cNvGrpSpPr>
            <p:nvPr/>
          </p:nvGrpSpPr>
          <p:grpSpPr bwMode="auto">
            <a:xfrm>
              <a:off x="4661" y="2077"/>
              <a:ext cx="519" cy="196"/>
              <a:chOff x="-723" y="2568"/>
              <a:chExt cx="519" cy="91"/>
            </a:xfrm>
          </p:grpSpPr>
          <p:sp>
            <p:nvSpPr>
              <p:cNvPr id="36890" name="AutoShape 23"/>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2"/>
              </a:solidFill>
              <a:ln w="9525">
                <a:solidFill>
                  <a:schemeClr val="tx1"/>
                </a:solidFill>
                <a:miter lim="800000"/>
                <a:headEnd/>
                <a:tailEnd/>
              </a:ln>
            </p:spPr>
            <p:txBody>
              <a:bodyPr wrap="none" anchor="ctr"/>
              <a:lstStyle/>
              <a:p>
                <a:endParaRPr lang="zh-CN" altLang="en-US"/>
              </a:p>
            </p:txBody>
          </p:sp>
          <p:sp>
            <p:nvSpPr>
              <p:cNvPr id="36891" name="Text Box 24"/>
              <p:cNvSpPr txBox="1">
                <a:spLocks noChangeArrowheads="1"/>
              </p:cNvSpPr>
              <p:nvPr/>
            </p:nvSpPr>
            <p:spPr bwMode="auto">
              <a:xfrm>
                <a:off x="-682" y="2568"/>
                <a:ext cx="453" cy="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MUX</a:t>
                </a:r>
              </a:p>
            </p:txBody>
          </p:sp>
        </p:grpSp>
        <p:sp>
          <p:nvSpPr>
            <p:cNvPr id="36884" name="Line 27"/>
            <p:cNvSpPr>
              <a:spLocks noChangeShapeType="1"/>
            </p:cNvSpPr>
            <p:nvPr/>
          </p:nvSpPr>
          <p:spPr bwMode="auto">
            <a:xfrm flipH="1">
              <a:off x="4944" y="1888"/>
              <a:ext cx="0" cy="171"/>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6885" name="Line 28"/>
            <p:cNvSpPr>
              <a:spLocks noChangeShapeType="1"/>
            </p:cNvSpPr>
            <p:nvPr/>
          </p:nvSpPr>
          <p:spPr bwMode="auto">
            <a:xfrm flipH="1">
              <a:off x="4853" y="1888"/>
              <a:ext cx="0" cy="171"/>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6886" name="Line 29"/>
            <p:cNvSpPr>
              <a:spLocks noChangeShapeType="1"/>
            </p:cNvSpPr>
            <p:nvPr/>
          </p:nvSpPr>
          <p:spPr bwMode="auto">
            <a:xfrm flipH="1">
              <a:off x="5034" y="1888"/>
              <a:ext cx="1" cy="17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6887" name="Text Box 30"/>
            <p:cNvSpPr txBox="1">
              <a:spLocks noChangeArrowheads="1"/>
            </p:cNvSpPr>
            <p:nvPr/>
          </p:nvSpPr>
          <p:spPr bwMode="auto">
            <a:xfrm>
              <a:off x="5012" y="1865"/>
              <a:ext cx="2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0</a:t>
              </a:r>
            </a:p>
          </p:txBody>
        </p:sp>
        <p:sp>
          <p:nvSpPr>
            <p:cNvPr id="36888" name="Text Box 32"/>
            <p:cNvSpPr txBox="1">
              <a:spLocks noChangeArrowheads="1"/>
            </p:cNvSpPr>
            <p:nvPr/>
          </p:nvSpPr>
          <p:spPr bwMode="auto">
            <a:xfrm>
              <a:off x="4830" y="1774"/>
              <a:ext cx="2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B</a:t>
              </a:r>
            </a:p>
          </p:txBody>
        </p:sp>
        <p:sp>
          <p:nvSpPr>
            <p:cNvPr id="36889" name="Text Box 33"/>
            <p:cNvSpPr txBox="1">
              <a:spLocks noChangeArrowheads="1"/>
            </p:cNvSpPr>
            <p:nvPr/>
          </p:nvSpPr>
          <p:spPr bwMode="auto">
            <a:xfrm>
              <a:off x="4694" y="1883"/>
              <a:ext cx="2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A</a:t>
              </a:r>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33507"/>
                                        </p:tgtEl>
                                        <p:attrNameLst>
                                          <p:attrName>style.visibility</p:attrName>
                                        </p:attrNameLst>
                                      </p:cBhvr>
                                      <p:to>
                                        <p:strVal val="visible"/>
                                      </p:to>
                                    </p:set>
                                    <p:anim calcmode="lin" valueType="num">
                                      <p:cBhvr additive="base">
                                        <p:cTn id="7" dur="500" fill="hold"/>
                                        <p:tgtEl>
                                          <p:spTgt spid="533507"/>
                                        </p:tgtEl>
                                        <p:attrNameLst>
                                          <p:attrName>ppt_x</p:attrName>
                                        </p:attrNameLst>
                                      </p:cBhvr>
                                      <p:tavLst>
                                        <p:tav tm="0">
                                          <p:val>
                                            <p:strVal val="0-#ppt_w/2"/>
                                          </p:val>
                                        </p:tav>
                                        <p:tav tm="100000">
                                          <p:val>
                                            <p:strVal val="#ppt_x"/>
                                          </p:val>
                                        </p:tav>
                                      </p:tavLst>
                                    </p:anim>
                                    <p:anim calcmode="lin" valueType="num">
                                      <p:cBhvr additive="base">
                                        <p:cTn id="8" dur="500" fill="hold"/>
                                        <p:tgtEl>
                                          <p:spTgt spid="533507"/>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533510"/>
                                        </p:tgtEl>
                                        <p:attrNameLst>
                                          <p:attrName>style.visibility</p:attrName>
                                        </p:attrNameLst>
                                      </p:cBhvr>
                                      <p:to>
                                        <p:strVal val="visible"/>
                                      </p:to>
                                    </p:set>
                                    <p:animEffect transition="in" filter="slide(fromTop)">
                                      <p:cBhvr>
                                        <p:cTn id="12" dur="500"/>
                                        <p:tgtEl>
                                          <p:spTgt spid="533510"/>
                                        </p:tgtEl>
                                      </p:cBhvr>
                                    </p:animEffect>
                                  </p:childTnLst>
                                </p:cTn>
                              </p:par>
                            </p:childTnLst>
                          </p:cTn>
                        </p:par>
                        <p:par>
                          <p:cTn id="13" fill="hold" nodeType="afterGroup">
                            <p:stCondLst>
                              <p:cond delay="1000"/>
                            </p:stCondLst>
                            <p:childTnLst>
                              <p:par>
                                <p:cTn id="14" presetID="12" presetClass="entr" presetSubtype="1" fill="hold" grpId="0" nodeType="afterEffect">
                                  <p:stCondLst>
                                    <p:cond delay="0"/>
                                  </p:stCondLst>
                                  <p:childTnLst>
                                    <p:set>
                                      <p:cBhvr>
                                        <p:cTn id="15" dur="1" fill="hold">
                                          <p:stCondLst>
                                            <p:cond delay="0"/>
                                          </p:stCondLst>
                                        </p:cTn>
                                        <p:tgtEl>
                                          <p:spTgt spid="533511"/>
                                        </p:tgtEl>
                                        <p:attrNameLst>
                                          <p:attrName>style.visibility</p:attrName>
                                        </p:attrNameLst>
                                      </p:cBhvr>
                                      <p:to>
                                        <p:strVal val="visible"/>
                                      </p:to>
                                    </p:set>
                                    <p:animEffect transition="in" filter="slide(fromTop)">
                                      <p:cBhvr>
                                        <p:cTn id="16" dur="500"/>
                                        <p:tgtEl>
                                          <p:spTgt spid="533511"/>
                                        </p:tgtEl>
                                      </p:cBhvr>
                                    </p:animEffect>
                                  </p:childTnLst>
                                </p:cTn>
                              </p:par>
                            </p:childTnLst>
                          </p:cTn>
                        </p:par>
                        <p:par>
                          <p:cTn id="17" fill="hold" nodeType="afterGroup">
                            <p:stCondLst>
                              <p:cond delay="1500"/>
                            </p:stCondLst>
                            <p:childTnLst>
                              <p:par>
                                <p:cTn id="18" presetID="12" presetClass="entr" presetSubtype="4" fill="hold" grpId="0" nodeType="afterEffect">
                                  <p:stCondLst>
                                    <p:cond delay="0"/>
                                  </p:stCondLst>
                                  <p:childTnLst>
                                    <p:set>
                                      <p:cBhvr>
                                        <p:cTn id="19" dur="1" fill="hold">
                                          <p:stCondLst>
                                            <p:cond delay="0"/>
                                          </p:stCondLst>
                                        </p:cTn>
                                        <p:tgtEl>
                                          <p:spTgt spid="533509">
                                            <p:txEl>
                                              <p:charRg st="4294967295" end="4294967295"/>
                                            </p:txEl>
                                          </p:spTgt>
                                        </p:tgtEl>
                                        <p:attrNameLst>
                                          <p:attrName>style.visibility</p:attrName>
                                        </p:attrNameLst>
                                      </p:cBhvr>
                                      <p:to>
                                        <p:strVal val="visible"/>
                                      </p:to>
                                    </p:set>
                                    <p:animEffect transition="in" filter="slide(fromBottom)">
                                      <p:cBhvr>
                                        <p:cTn id="20" dur="500"/>
                                        <p:tgtEl>
                                          <p:spTgt spid="533509">
                                            <p:txEl>
                                              <p:charRg st="4294967295" end="4294967295"/>
                                            </p:txEl>
                                          </p:spTgt>
                                        </p:tgtEl>
                                      </p:cBhvr>
                                    </p:animEffect>
                                  </p:childTnLst>
                                </p:cTn>
                              </p:par>
                            </p:childTnLst>
                          </p:cTn>
                        </p:par>
                        <p:par>
                          <p:cTn id="21" fill="hold" nodeType="afterGroup">
                            <p:stCondLst>
                              <p:cond delay="2000"/>
                            </p:stCondLst>
                            <p:childTnLst>
                              <p:par>
                                <p:cTn id="22" presetID="12" presetClass="entr" presetSubtype="1" fill="hold" grpId="0" nodeType="afterEffect">
                                  <p:stCondLst>
                                    <p:cond delay="0"/>
                                  </p:stCondLst>
                                  <p:childTnLst>
                                    <p:set>
                                      <p:cBhvr>
                                        <p:cTn id="23" dur="1" fill="hold">
                                          <p:stCondLst>
                                            <p:cond delay="0"/>
                                          </p:stCondLst>
                                        </p:cTn>
                                        <p:tgtEl>
                                          <p:spTgt spid="533513"/>
                                        </p:tgtEl>
                                        <p:attrNameLst>
                                          <p:attrName>style.visibility</p:attrName>
                                        </p:attrNameLst>
                                      </p:cBhvr>
                                      <p:to>
                                        <p:strVal val="visible"/>
                                      </p:to>
                                    </p:set>
                                    <p:animEffect transition="in" filter="slide(fromTop)">
                                      <p:cBhvr>
                                        <p:cTn id="24" dur="500"/>
                                        <p:tgtEl>
                                          <p:spTgt spid="533513"/>
                                        </p:tgtEl>
                                      </p:cBhvr>
                                    </p:animEffect>
                                  </p:childTnLst>
                                </p:cTn>
                              </p:par>
                            </p:childTnLst>
                          </p:cTn>
                        </p:par>
                        <p:par>
                          <p:cTn id="25" fill="hold" nodeType="afterGroup">
                            <p:stCondLst>
                              <p:cond delay="2500"/>
                            </p:stCondLst>
                            <p:childTnLst>
                              <p:par>
                                <p:cTn id="26" presetID="12" presetClass="entr" presetSubtype="4" fill="hold" grpId="0" nodeType="afterEffect">
                                  <p:stCondLst>
                                    <p:cond delay="0"/>
                                  </p:stCondLst>
                                  <p:childTnLst>
                                    <p:set>
                                      <p:cBhvr>
                                        <p:cTn id="27" dur="1" fill="hold">
                                          <p:stCondLst>
                                            <p:cond delay="0"/>
                                          </p:stCondLst>
                                        </p:cTn>
                                        <p:tgtEl>
                                          <p:spTgt spid="533512">
                                            <p:txEl>
                                              <p:charRg st="4294967295" end="4294967295"/>
                                            </p:txEl>
                                          </p:spTgt>
                                        </p:tgtEl>
                                        <p:attrNameLst>
                                          <p:attrName>style.visibility</p:attrName>
                                        </p:attrNameLst>
                                      </p:cBhvr>
                                      <p:to>
                                        <p:strVal val="visible"/>
                                      </p:to>
                                    </p:set>
                                    <p:animEffect transition="in" filter="slide(fromBottom)">
                                      <p:cBhvr>
                                        <p:cTn id="28" dur="500"/>
                                        <p:tgtEl>
                                          <p:spTgt spid="533512">
                                            <p:txEl>
                                              <p:charRg st="4294967295" end="4294967295"/>
                                            </p:txEl>
                                          </p:spTgt>
                                        </p:tgtEl>
                                      </p:cBhvr>
                                    </p:animEffect>
                                  </p:childTnLst>
                                </p:cTn>
                              </p:par>
                            </p:childTnLst>
                          </p:cTn>
                        </p:par>
                        <p:par>
                          <p:cTn id="29" fill="hold" nodeType="afterGroup">
                            <p:stCondLst>
                              <p:cond delay="3000"/>
                            </p:stCondLst>
                            <p:childTnLst>
                              <p:par>
                                <p:cTn id="30" presetID="12" presetClass="entr" presetSubtype="1" fill="hold" grpId="0" nodeType="afterEffect">
                                  <p:stCondLst>
                                    <p:cond delay="0"/>
                                  </p:stCondLst>
                                  <p:childTnLst>
                                    <p:set>
                                      <p:cBhvr>
                                        <p:cTn id="31" dur="1" fill="hold">
                                          <p:stCondLst>
                                            <p:cond delay="0"/>
                                          </p:stCondLst>
                                        </p:cTn>
                                        <p:tgtEl>
                                          <p:spTgt spid="533514"/>
                                        </p:tgtEl>
                                        <p:attrNameLst>
                                          <p:attrName>style.visibility</p:attrName>
                                        </p:attrNameLst>
                                      </p:cBhvr>
                                      <p:to>
                                        <p:strVal val="visible"/>
                                      </p:to>
                                    </p:set>
                                    <p:animEffect transition="in" filter="slide(fromTop)">
                                      <p:cBhvr>
                                        <p:cTn id="32" dur="500"/>
                                        <p:tgtEl>
                                          <p:spTgt spid="533514"/>
                                        </p:tgtEl>
                                      </p:cBhvr>
                                    </p:animEffect>
                                  </p:childTnLst>
                                </p:cTn>
                              </p:par>
                            </p:childTnLst>
                          </p:cTn>
                        </p:par>
                        <p:par>
                          <p:cTn id="33" fill="hold" nodeType="afterGroup">
                            <p:stCondLst>
                              <p:cond delay="3500"/>
                            </p:stCondLst>
                            <p:childTnLst>
                              <p:par>
                                <p:cTn id="34" presetID="12" presetClass="entr" presetSubtype="4" fill="hold"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slide(fromBottom)">
                                      <p:cBhvr>
                                        <p:cTn id="36" dur="500"/>
                                        <p:tgtEl>
                                          <p:spTgt spid="2"/>
                                        </p:tgtEl>
                                      </p:cBhvr>
                                    </p:animEffect>
                                  </p:childTnLst>
                                </p:cTn>
                              </p:par>
                            </p:childTnLst>
                          </p:cTn>
                        </p:par>
                        <p:par>
                          <p:cTn id="37" fill="hold" nodeType="afterGroup">
                            <p:stCondLst>
                              <p:cond delay="4000"/>
                            </p:stCondLst>
                            <p:childTnLst>
                              <p:par>
                                <p:cTn id="38" presetID="12" presetClass="entr" presetSubtype="4" fill="hold" grpId="0" nodeType="afterEffect">
                                  <p:stCondLst>
                                    <p:cond delay="0"/>
                                  </p:stCondLst>
                                  <p:childTnLst>
                                    <p:set>
                                      <p:cBhvr>
                                        <p:cTn id="39" dur="1" fill="hold">
                                          <p:stCondLst>
                                            <p:cond delay="0"/>
                                          </p:stCondLst>
                                        </p:cTn>
                                        <p:tgtEl>
                                          <p:spTgt spid="533506"/>
                                        </p:tgtEl>
                                        <p:attrNameLst>
                                          <p:attrName>style.visibility</p:attrName>
                                        </p:attrNameLst>
                                      </p:cBhvr>
                                      <p:to>
                                        <p:strVal val="visible"/>
                                      </p:to>
                                    </p:set>
                                    <p:animEffect transition="in" filter="slide(fromBottom)">
                                      <p:cBhvr>
                                        <p:cTn id="40" dur="500"/>
                                        <p:tgtEl>
                                          <p:spTgt spid="533506"/>
                                        </p:tgtEl>
                                      </p:cBhvr>
                                    </p:animEffect>
                                  </p:childTnLst>
                                </p:cTn>
                              </p:par>
                            </p:childTnLst>
                          </p:cTn>
                        </p:par>
                        <p:par>
                          <p:cTn id="41" fill="hold" nodeType="afterGroup">
                            <p:stCondLst>
                              <p:cond delay="4500"/>
                            </p:stCondLst>
                            <p:childTnLst>
                              <p:par>
                                <p:cTn id="42" presetID="12" presetClass="entr" presetSubtype="4" fill="hold" grpId="0" nodeType="afterEffect">
                                  <p:stCondLst>
                                    <p:cond delay="0"/>
                                  </p:stCondLst>
                                  <p:childTnLst>
                                    <p:set>
                                      <p:cBhvr>
                                        <p:cTn id="43" dur="1" fill="hold">
                                          <p:stCondLst>
                                            <p:cond delay="0"/>
                                          </p:stCondLst>
                                        </p:cTn>
                                        <p:tgtEl>
                                          <p:spTgt spid="533521">
                                            <p:txEl>
                                              <p:charRg st="4294967295" end="4294967295"/>
                                            </p:txEl>
                                          </p:spTgt>
                                        </p:tgtEl>
                                        <p:attrNameLst>
                                          <p:attrName>style.visibility</p:attrName>
                                        </p:attrNameLst>
                                      </p:cBhvr>
                                      <p:to>
                                        <p:strVal val="visible"/>
                                      </p:to>
                                    </p:set>
                                    <p:animEffect transition="in" filter="slide(fromBottom)">
                                      <p:cBhvr>
                                        <p:cTn id="44" dur="500"/>
                                        <p:tgtEl>
                                          <p:spTgt spid="533521">
                                            <p:txEl>
                                              <p:charRg st="4294967295" end="4294967295"/>
                                            </p:txEl>
                                          </p:spTgt>
                                        </p:tgtEl>
                                      </p:cBhvr>
                                    </p:animEffect>
                                  </p:childTnLst>
                                </p:cTn>
                              </p:par>
                            </p:childTnLst>
                          </p:cTn>
                        </p:par>
                        <p:par>
                          <p:cTn id="45" fill="hold" nodeType="afterGroup">
                            <p:stCondLst>
                              <p:cond delay="5000"/>
                            </p:stCondLst>
                            <p:childTnLst>
                              <p:par>
                                <p:cTn id="46" presetID="12" presetClass="entr" presetSubtype="1" fill="hold" grpId="0" nodeType="afterEffect">
                                  <p:stCondLst>
                                    <p:cond delay="0"/>
                                  </p:stCondLst>
                                  <p:childTnLst>
                                    <p:set>
                                      <p:cBhvr>
                                        <p:cTn id="47" dur="1" fill="hold">
                                          <p:stCondLst>
                                            <p:cond delay="0"/>
                                          </p:stCondLst>
                                        </p:cTn>
                                        <p:tgtEl>
                                          <p:spTgt spid="533523"/>
                                        </p:tgtEl>
                                        <p:attrNameLst>
                                          <p:attrName>style.visibility</p:attrName>
                                        </p:attrNameLst>
                                      </p:cBhvr>
                                      <p:to>
                                        <p:strVal val="visible"/>
                                      </p:to>
                                    </p:set>
                                    <p:animEffect transition="in" filter="slide(fromTop)">
                                      <p:cBhvr>
                                        <p:cTn id="48" dur="500"/>
                                        <p:tgtEl>
                                          <p:spTgt spid="533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7" grpId="0" autoUpdateAnimBg="0"/>
      <p:bldP spid="533506" grpId="0" animBg="1"/>
      <p:bldP spid="533509" grpId="0" autoUpdateAnimBg="0"/>
      <p:bldP spid="533510" grpId="0" animBg="1"/>
      <p:bldP spid="533511" grpId="0" animBg="1"/>
      <p:bldP spid="533512" grpId="0" autoUpdateAnimBg="0"/>
      <p:bldP spid="533513" grpId="0" animBg="1"/>
      <p:bldP spid="533514" grpId="0" animBg="1"/>
      <p:bldP spid="533521" grpId="0" autoUpdateAnimBg="0"/>
      <p:bldP spid="533523"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idx="1"/>
          </p:nvPr>
        </p:nvSpPr>
        <p:spPr bwMode="auto">
          <a:xfrm>
            <a:off x="1676400" y="1676400"/>
            <a:ext cx="3657600" cy="2895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zh-CN" altLang="en-US" b="1">
                <a:latin typeface="宋体" panose="02010600030101010101" pitchFamily="2" charset="-122"/>
              </a:rPr>
              <a:t>结构</a:t>
            </a:r>
            <a:r>
              <a:rPr lang="zh-CN" altLang="en-US" b="1"/>
              <a:t> </a:t>
            </a:r>
          </a:p>
          <a:p>
            <a:pPr eaLnBrk="1" hangingPunct="1">
              <a:lnSpc>
                <a:spcPct val="90000"/>
              </a:lnSpc>
            </a:pPr>
            <a:r>
              <a:rPr lang="zh-CN" altLang="en-US" b="1">
                <a:latin typeface="宋体" panose="02010600030101010101" pitchFamily="2" charset="-122"/>
              </a:rPr>
              <a:t>功能</a:t>
            </a:r>
            <a:r>
              <a:rPr lang="zh-CN" altLang="en-US" b="1"/>
              <a:t> </a:t>
            </a:r>
          </a:p>
          <a:p>
            <a:pPr eaLnBrk="1" hangingPunct="1">
              <a:lnSpc>
                <a:spcPct val="90000"/>
              </a:lnSpc>
            </a:pPr>
            <a:r>
              <a:rPr lang="zh-CN" altLang="en-US" b="1">
                <a:latin typeface="宋体" panose="02010600030101010101" pitchFamily="2" charset="-122"/>
              </a:rPr>
              <a:t>什么是舍入处理</a:t>
            </a:r>
            <a:r>
              <a:rPr lang="zh-CN" altLang="en-US" b="1"/>
              <a:t> </a:t>
            </a:r>
          </a:p>
          <a:p>
            <a:pPr eaLnBrk="1" hangingPunct="1">
              <a:lnSpc>
                <a:spcPct val="90000"/>
              </a:lnSpc>
            </a:pPr>
            <a:r>
              <a:rPr lang="zh-CN" altLang="en-US" b="1">
                <a:latin typeface="宋体" panose="02010600030101010101" pitchFamily="2" charset="-122"/>
              </a:rPr>
              <a:t>饱和处理的优点</a:t>
            </a:r>
          </a:p>
          <a:p>
            <a:pPr eaLnBrk="1" hangingPunct="1">
              <a:lnSpc>
                <a:spcPct val="90000"/>
              </a:lnSpc>
            </a:pPr>
            <a:r>
              <a:rPr lang="zh-CN" altLang="en-US" b="1">
                <a:latin typeface="宋体" panose="02010600030101010101" pitchFamily="2" charset="-122"/>
              </a:rPr>
              <a:t>数据流向</a:t>
            </a:r>
            <a:r>
              <a:rPr lang="zh-CN" altLang="en-US" b="1"/>
              <a:t> </a:t>
            </a:r>
          </a:p>
        </p:txBody>
      </p:sp>
      <p:sp>
        <p:nvSpPr>
          <p:cNvPr id="3789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91B36AED-C61D-43D9-AB4C-CF5F127B0251}" type="slidenum">
              <a:rPr lang="en-US" altLang="zh-CN" sz="1400" b="0"/>
              <a:pPr eaLnBrk="1" hangingPunct="1"/>
              <a:t>25</a:t>
            </a:fld>
            <a:endParaRPr lang="en-US" altLang="zh-CN" sz="1400" b="0"/>
          </a:p>
        </p:txBody>
      </p:sp>
      <p:sp>
        <p:nvSpPr>
          <p:cNvPr id="534531" name="Rectangle 3" descr="小棋盘"/>
          <p:cNvSpPr>
            <a:spLocks noChangeArrowheads="1"/>
          </p:cNvSpPr>
          <p:nvPr/>
        </p:nvSpPr>
        <p:spPr bwMode="auto">
          <a:xfrm>
            <a:off x="533400" y="2133600"/>
            <a:ext cx="698500" cy="1247775"/>
          </a:xfrm>
          <a:prstGeom prst="rect">
            <a:avLst/>
          </a:prstGeom>
          <a:pattFill prst="smCheck">
            <a:fgClr>
              <a:srgbClr val="FFFF00"/>
            </a:fgClr>
            <a:bgClr>
              <a:schemeClr val="bg1"/>
            </a:bgClr>
          </a:pattFill>
          <a:ln w="57150">
            <a:solidFill>
              <a:srgbClr val="FF00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chemeClr val="tx2"/>
                </a:solidFill>
                <a:latin typeface="宋体" panose="02010600030101010101" pitchFamily="2" charset="-122"/>
              </a:rPr>
              <a:t>要</a:t>
            </a:r>
          </a:p>
          <a:p>
            <a:pPr eaLnBrk="1" hangingPunct="1"/>
            <a:r>
              <a:rPr lang="zh-CN" altLang="en-US" sz="3600">
                <a:solidFill>
                  <a:schemeClr val="tx2"/>
                </a:solidFill>
                <a:latin typeface="宋体" panose="02010600030101010101" pitchFamily="2" charset="-122"/>
              </a:rPr>
              <a:t>点</a:t>
            </a:r>
          </a:p>
        </p:txBody>
      </p:sp>
      <p:sp>
        <p:nvSpPr>
          <p:cNvPr id="534532" name="AutoShape 4" descr="小棋盘"/>
          <p:cNvSpPr>
            <a:spLocks noChangeArrowheads="1"/>
          </p:cNvSpPr>
          <p:nvPr/>
        </p:nvSpPr>
        <p:spPr bwMode="auto">
          <a:xfrm>
            <a:off x="5688013" y="1268413"/>
            <a:ext cx="3205162" cy="2268537"/>
          </a:xfrm>
          <a:prstGeom prst="wedgeRoundRectCallout">
            <a:avLst>
              <a:gd name="adj1" fmla="val -101708"/>
              <a:gd name="adj2" fmla="val 2134"/>
              <a:gd name="adj3" fmla="val 16667"/>
            </a:avLst>
          </a:prstGeom>
          <a:pattFill prst="smCheck">
            <a:fgClr>
              <a:srgbClr val="FFFF00"/>
            </a:fgClr>
            <a:bgClr>
              <a:srgbClr val="FFFFFF"/>
            </a:bgClr>
          </a:pattFill>
          <a:ln w="9525">
            <a:solidFill>
              <a:schemeClr val="folHlink"/>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a:solidFill>
                  <a:srgbClr val="FF00FF"/>
                </a:solidFill>
              </a:rPr>
              <a:t>乘法器</a:t>
            </a:r>
            <a:r>
              <a:rPr lang="en-US" altLang="zh-CN" sz="2800">
                <a:solidFill>
                  <a:srgbClr val="FF00FF"/>
                </a:solidFill>
              </a:rPr>
              <a:t>/</a:t>
            </a:r>
            <a:r>
              <a:rPr lang="zh-CN" altLang="en-US" sz="2800">
                <a:solidFill>
                  <a:srgbClr val="FF00FF"/>
                </a:solidFill>
              </a:rPr>
              <a:t>加法器单元可以在一个流水线状态周期内完成一次乘法累加（</a:t>
            </a:r>
            <a:r>
              <a:rPr lang="en-US" altLang="zh-CN" sz="2800">
                <a:solidFill>
                  <a:srgbClr val="FF00FF"/>
                </a:solidFill>
              </a:rPr>
              <a:t>MAC</a:t>
            </a:r>
            <a:r>
              <a:rPr lang="zh-CN" altLang="en-US" sz="2800">
                <a:solidFill>
                  <a:srgbClr val="FF00FF"/>
                </a:solidFill>
              </a:rPr>
              <a:t>）运算。</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34531"/>
                                        </p:tgtEl>
                                        <p:attrNameLst>
                                          <p:attrName>style.visibility</p:attrName>
                                        </p:attrNameLst>
                                      </p:cBhvr>
                                      <p:to>
                                        <p:strVal val="visible"/>
                                      </p:to>
                                    </p:set>
                                    <p:anim calcmode="lin" valueType="num">
                                      <p:cBhvr additive="base">
                                        <p:cTn id="7" dur="500" fill="hold"/>
                                        <p:tgtEl>
                                          <p:spTgt spid="534531"/>
                                        </p:tgtEl>
                                        <p:attrNameLst>
                                          <p:attrName>ppt_x</p:attrName>
                                        </p:attrNameLst>
                                      </p:cBhvr>
                                      <p:tavLst>
                                        <p:tav tm="0">
                                          <p:val>
                                            <p:strVal val="0-#ppt_w/2"/>
                                          </p:val>
                                        </p:tav>
                                        <p:tav tm="100000">
                                          <p:val>
                                            <p:strVal val="#ppt_x"/>
                                          </p:val>
                                        </p:tav>
                                      </p:tavLst>
                                    </p:anim>
                                    <p:anim calcmode="lin" valueType="num">
                                      <p:cBhvr additive="base">
                                        <p:cTn id="8" dur="500" fill="hold"/>
                                        <p:tgtEl>
                                          <p:spTgt spid="534531"/>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534532"/>
                                        </p:tgtEl>
                                        <p:attrNameLst>
                                          <p:attrName>style.visibility</p:attrName>
                                        </p:attrNameLst>
                                      </p:cBhvr>
                                      <p:to>
                                        <p:strVal val="visible"/>
                                      </p:to>
                                    </p:set>
                                    <p:anim calcmode="lin" valueType="num">
                                      <p:cBhvr additive="base">
                                        <p:cTn id="12" dur="500" fill="hold"/>
                                        <p:tgtEl>
                                          <p:spTgt spid="534532"/>
                                        </p:tgtEl>
                                        <p:attrNameLst>
                                          <p:attrName>ppt_x</p:attrName>
                                        </p:attrNameLst>
                                      </p:cBhvr>
                                      <p:tavLst>
                                        <p:tav tm="0">
                                          <p:val>
                                            <p:strVal val="1+#ppt_w/2"/>
                                          </p:val>
                                        </p:tav>
                                        <p:tav tm="100000">
                                          <p:val>
                                            <p:strVal val="#ppt_x"/>
                                          </p:val>
                                        </p:tav>
                                      </p:tavLst>
                                    </p:anim>
                                    <p:anim calcmode="lin" valueType="num">
                                      <p:cBhvr additive="base">
                                        <p:cTn id="13" dur="500" fill="hold"/>
                                        <p:tgtEl>
                                          <p:spTgt spid="5345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1" grpId="0" animBg="1" autoUpdateAnimBg="0"/>
      <p:bldP spid="534532"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9524E93-F15F-4A91-B12C-3F0FC4FCB13A}" type="slidenum">
              <a:rPr lang="en-US" altLang="zh-CN" sz="1400" b="0"/>
              <a:pPr eaLnBrk="1" hangingPunct="1"/>
              <a:t>26</a:t>
            </a:fld>
            <a:endParaRPr lang="en-US" altLang="zh-CN" sz="1400" b="0"/>
          </a:p>
        </p:txBody>
      </p:sp>
      <p:sp>
        <p:nvSpPr>
          <p:cNvPr id="38915" name="Rectangle 2"/>
          <p:cNvSpPr>
            <a:spLocks noChangeArrowheads="1"/>
          </p:cNvSpPr>
          <p:nvPr/>
        </p:nvSpPr>
        <p:spPr bwMode="auto">
          <a:xfrm>
            <a:off x="152400" y="968375"/>
            <a:ext cx="8991600" cy="545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zh-CN" altLang="en-US" sz="3200">
                <a:solidFill>
                  <a:srgbClr val="FF00FF"/>
                </a:solidFill>
              </a:rPr>
              <a:t>乘法器能够执行：</a:t>
            </a:r>
          </a:p>
          <a:p>
            <a:pPr eaLnBrk="1" hangingPunct="1">
              <a:lnSpc>
                <a:spcPct val="90000"/>
              </a:lnSpc>
              <a:spcBef>
                <a:spcPct val="50000"/>
              </a:spcBef>
            </a:pPr>
            <a:r>
              <a:rPr lang="zh-CN" altLang="en-US" sz="3200"/>
              <a:t>①无符号数乘法（</a:t>
            </a:r>
            <a:r>
              <a:rPr lang="zh-CN" altLang="en-US" sz="2800"/>
              <a:t>每个</a:t>
            </a:r>
            <a:r>
              <a:rPr lang="en-US" altLang="zh-CN" sz="2800"/>
              <a:t>16</a:t>
            </a:r>
            <a:r>
              <a:rPr lang="zh-CN" altLang="en-US" sz="2800"/>
              <a:t>位操作数前加一个</a:t>
            </a:r>
            <a:r>
              <a:rPr lang="en-US" altLang="zh-CN" sz="2800"/>
              <a:t>0</a:t>
            </a:r>
            <a:r>
              <a:rPr lang="zh-CN" altLang="en-US" sz="3200"/>
              <a:t>）；</a:t>
            </a:r>
          </a:p>
          <a:p>
            <a:pPr eaLnBrk="1" hangingPunct="1">
              <a:lnSpc>
                <a:spcPct val="90000"/>
              </a:lnSpc>
              <a:spcBef>
                <a:spcPct val="50000"/>
              </a:spcBef>
            </a:pPr>
            <a:r>
              <a:rPr lang="zh-CN" altLang="en-US" sz="3200"/>
              <a:t>②有符号数乘法（每个</a:t>
            </a:r>
            <a:r>
              <a:rPr lang="en-US" altLang="zh-CN" sz="3200"/>
              <a:t>16</a:t>
            </a:r>
            <a:r>
              <a:rPr lang="zh-CN" altLang="en-US" sz="3200"/>
              <a:t>位操作数都符号位扩展成</a:t>
            </a:r>
            <a:r>
              <a:rPr lang="en-US" altLang="zh-CN" sz="3200"/>
              <a:t>17</a:t>
            </a:r>
            <a:r>
              <a:rPr lang="zh-CN" altLang="en-US" sz="3200"/>
              <a:t>位有符号数）；</a:t>
            </a:r>
          </a:p>
          <a:p>
            <a:pPr eaLnBrk="1" hangingPunct="1">
              <a:lnSpc>
                <a:spcPct val="90000"/>
              </a:lnSpc>
              <a:spcBef>
                <a:spcPct val="50000"/>
              </a:spcBef>
            </a:pPr>
            <a:r>
              <a:rPr lang="zh-CN" altLang="en-US" sz="3200"/>
              <a:t>③无符号数（</a:t>
            </a:r>
            <a:r>
              <a:rPr lang="en-US" altLang="zh-CN" sz="3200"/>
              <a:t>16</a:t>
            </a:r>
            <a:r>
              <a:rPr lang="zh-CN" altLang="en-US" sz="3200"/>
              <a:t>位操作数前面加一个</a:t>
            </a:r>
            <a:r>
              <a:rPr lang="en-US" altLang="zh-CN" sz="3200"/>
              <a:t>0</a:t>
            </a:r>
            <a:r>
              <a:rPr lang="zh-CN" altLang="en-US" sz="3200"/>
              <a:t>）与有符号数（</a:t>
            </a:r>
            <a:r>
              <a:rPr lang="en-US" altLang="zh-CN" sz="3200"/>
              <a:t>16</a:t>
            </a:r>
            <a:r>
              <a:rPr lang="zh-CN" altLang="en-US" sz="3200"/>
              <a:t>位操作数符号扩展成</a:t>
            </a:r>
            <a:r>
              <a:rPr lang="en-US" altLang="zh-CN" sz="3200"/>
              <a:t>17</a:t>
            </a:r>
            <a:r>
              <a:rPr lang="zh-CN" altLang="en-US" sz="3200"/>
              <a:t>位有符号数）相乘运算。</a:t>
            </a:r>
          </a:p>
          <a:p>
            <a:pPr eaLnBrk="1" hangingPunct="1">
              <a:lnSpc>
                <a:spcPct val="90000"/>
              </a:lnSpc>
              <a:spcBef>
                <a:spcPct val="50000"/>
              </a:spcBef>
            </a:pPr>
            <a:r>
              <a:rPr lang="zh-CN" altLang="en-US" sz="3200">
                <a:solidFill>
                  <a:schemeClr val="tx2"/>
                </a:solidFill>
              </a:rPr>
              <a:t>乘法器工作在小数相乘方式（状态寄存器</a:t>
            </a:r>
            <a:r>
              <a:rPr lang="en-US" altLang="zh-CN" sz="3200">
                <a:solidFill>
                  <a:schemeClr val="tx2"/>
                </a:solidFill>
              </a:rPr>
              <a:t>ST1</a:t>
            </a:r>
            <a:r>
              <a:rPr lang="zh-CN" altLang="en-US" sz="3200">
                <a:solidFill>
                  <a:schemeClr val="tx2"/>
                </a:solidFill>
              </a:rPr>
              <a:t>中的</a:t>
            </a:r>
            <a:r>
              <a:rPr lang="en-US" altLang="zh-CN" sz="3200">
                <a:solidFill>
                  <a:schemeClr val="tx2"/>
                </a:solidFill>
              </a:rPr>
              <a:t>FRCT</a:t>
            </a:r>
            <a:r>
              <a:rPr lang="zh-CN" altLang="en-US" sz="3200">
                <a:solidFill>
                  <a:schemeClr val="tx2"/>
                </a:solidFill>
              </a:rPr>
              <a:t>位</a:t>
            </a:r>
            <a:r>
              <a:rPr lang="en-US" altLang="zh-CN" sz="3200">
                <a:solidFill>
                  <a:schemeClr val="tx2"/>
                </a:solidFill>
              </a:rPr>
              <a:t>=1</a:t>
            </a:r>
            <a:r>
              <a:rPr lang="zh-CN" altLang="en-US" sz="3200">
                <a:solidFill>
                  <a:schemeClr val="tx2"/>
                </a:solidFill>
              </a:rPr>
              <a:t>）时，乘法结果左移</a:t>
            </a:r>
            <a:r>
              <a:rPr lang="en-US" altLang="zh-CN" sz="3200">
                <a:solidFill>
                  <a:schemeClr val="tx2"/>
                </a:solidFill>
              </a:rPr>
              <a:t>1</a:t>
            </a:r>
            <a:r>
              <a:rPr lang="zh-CN" altLang="en-US" sz="3200">
                <a:solidFill>
                  <a:schemeClr val="tx2"/>
                </a:solidFill>
              </a:rPr>
              <a:t>位，以消除多余的符号位。</a:t>
            </a:r>
          </a:p>
        </p:txBody>
      </p:sp>
    </p:spTree>
  </p:cSld>
  <p:clrMapOvr>
    <a:masterClrMapping/>
  </p:clrMapOvr>
  <p:transition spd="med">
    <p:pull dir="lu"/>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idx="1"/>
          </p:nvPr>
        </p:nvSpPr>
        <p:spPr bwMode="auto">
          <a:xfrm>
            <a:off x="1676400" y="1752600"/>
            <a:ext cx="3657600" cy="2895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结构</a:t>
            </a:r>
            <a:r>
              <a:rPr lang="zh-CN" altLang="en-US" b="1"/>
              <a:t> </a:t>
            </a:r>
          </a:p>
          <a:p>
            <a:pPr eaLnBrk="1" hangingPunct="1"/>
            <a:r>
              <a:rPr lang="zh-CN" altLang="en-US" b="1">
                <a:latin typeface="宋体" panose="02010600030101010101" pitchFamily="2" charset="-122"/>
              </a:rPr>
              <a:t>功能</a:t>
            </a:r>
            <a:r>
              <a:rPr lang="zh-CN" altLang="en-US" b="1"/>
              <a:t> </a:t>
            </a:r>
          </a:p>
          <a:p>
            <a:pPr eaLnBrk="1" hangingPunct="1"/>
            <a:r>
              <a:rPr lang="zh-CN" altLang="en-US" b="1">
                <a:latin typeface="宋体" panose="02010600030101010101" pitchFamily="2" charset="-122"/>
              </a:rPr>
              <a:t>什么是舍入处理</a:t>
            </a:r>
            <a:r>
              <a:rPr lang="zh-CN" altLang="en-US" b="1"/>
              <a:t> </a:t>
            </a:r>
          </a:p>
          <a:p>
            <a:pPr eaLnBrk="1" hangingPunct="1"/>
            <a:r>
              <a:rPr lang="zh-CN" altLang="en-US" b="1">
                <a:latin typeface="宋体" panose="02010600030101010101" pitchFamily="2" charset="-122"/>
              </a:rPr>
              <a:t>数据流向</a:t>
            </a:r>
            <a:r>
              <a:rPr lang="zh-CN" altLang="en-US" b="1"/>
              <a:t> </a:t>
            </a:r>
          </a:p>
        </p:txBody>
      </p:sp>
      <p:sp>
        <p:nvSpPr>
          <p:cNvPr id="3993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40E9AB9-33A6-4B7F-B56B-B694CE2E42FF}" type="slidenum">
              <a:rPr lang="en-US" altLang="zh-CN" sz="1400" b="0"/>
              <a:pPr eaLnBrk="1" hangingPunct="1"/>
              <a:t>27</a:t>
            </a:fld>
            <a:endParaRPr lang="en-US" altLang="zh-CN" sz="1400" b="0"/>
          </a:p>
        </p:txBody>
      </p:sp>
      <p:sp>
        <p:nvSpPr>
          <p:cNvPr id="536580" name="AutoShape 4" descr="小棋盘"/>
          <p:cNvSpPr>
            <a:spLocks noChangeArrowheads="1"/>
          </p:cNvSpPr>
          <p:nvPr/>
        </p:nvSpPr>
        <p:spPr bwMode="auto">
          <a:xfrm>
            <a:off x="5486400" y="1371600"/>
            <a:ext cx="3200400" cy="4578350"/>
          </a:xfrm>
          <a:prstGeom prst="wedgeRoundRectCallout">
            <a:avLst>
              <a:gd name="adj1" fmla="val -62995"/>
              <a:gd name="adj2" fmla="val -12102"/>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tx2"/>
                </a:solidFill>
              </a:rPr>
              <a:t>有些乘法指令，如</a:t>
            </a:r>
            <a:r>
              <a:rPr lang="en-US" altLang="zh-CN" sz="2400">
                <a:solidFill>
                  <a:schemeClr val="tx2"/>
                </a:solidFill>
              </a:rPr>
              <a:t>MAC</a:t>
            </a:r>
            <a:r>
              <a:rPr lang="zh-CN" altLang="en-US" sz="2400">
                <a:solidFill>
                  <a:schemeClr val="tx2"/>
                </a:solidFill>
              </a:rPr>
              <a:t>、</a:t>
            </a:r>
            <a:r>
              <a:rPr lang="en-US" altLang="zh-CN" sz="2400">
                <a:solidFill>
                  <a:schemeClr val="tx2"/>
                </a:solidFill>
              </a:rPr>
              <a:t>MAS</a:t>
            </a:r>
            <a:r>
              <a:rPr lang="zh-CN" altLang="en-US" sz="2400">
                <a:solidFill>
                  <a:schemeClr val="tx2"/>
                </a:solidFill>
              </a:rPr>
              <a:t>等指令，如果带后缀</a:t>
            </a:r>
            <a:r>
              <a:rPr lang="en-US" altLang="zh-CN" sz="2400">
                <a:solidFill>
                  <a:schemeClr val="tx2"/>
                </a:solidFill>
              </a:rPr>
              <a:t>R</a:t>
            </a:r>
            <a:r>
              <a:rPr lang="zh-CN" altLang="en-US" sz="2400">
                <a:solidFill>
                  <a:schemeClr val="tx2"/>
                </a:solidFill>
              </a:rPr>
              <a:t>，就对结果进行舍入处理，即加</a:t>
            </a:r>
            <a:r>
              <a:rPr lang="en-US" altLang="zh-CN" sz="2400">
                <a:solidFill>
                  <a:schemeClr val="tx2"/>
                </a:solidFill>
              </a:rPr>
              <a:t>2</a:t>
            </a:r>
            <a:r>
              <a:rPr lang="en-US" altLang="zh-CN" sz="2400" baseline="30000">
                <a:solidFill>
                  <a:schemeClr val="tx2"/>
                </a:solidFill>
              </a:rPr>
              <a:t>15</a:t>
            </a:r>
            <a:r>
              <a:rPr lang="zh-CN" altLang="en-US" sz="2400">
                <a:solidFill>
                  <a:schemeClr val="tx2"/>
                </a:solidFill>
              </a:rPr>
              <a:t>至结果，并将目的累加器的低</a:t>
            </a:r>
            <a:r>
              <a:rPr lang="en-US" altLang="zh-CN" sz="2400">
                <a:solidFill>
                  <a:schemeClr val="tx2"/>
                </a:solidFill>
              </a:rPr>
              <a:t>16</a:t>
            </a:r>
            <a:r>
              <a:rPr lang="zh-CN" altLang="en-US" sz="2400">
                <a:solidFill>
                  <a:schemeClr val="tx2"/>
                </a:solidFill>
              </a:rPr>
              <a:t>位清</a:t>
            </a:r>
            <a:r>
              <a:rPr lang="en-US" altLang="zh-CN" sz="2400">
                <a:solidFill>
                  <a:schemeClr val="tx2"/>
                </a:solidFill>
              </a:rPr>
              <a:t>0</a:t>
            </a:r>
            <a:r>
              <a:rPr lang="zh-CN" altLang="en-US" sz="2400">
                <a:solidFill>
                  <a:schemeClr val="tx2"/>
                </a:solidFill>
              </a:rPr>
              <a:t>。</a:t>
            </a:r>
            <a:r>
              <a:rPr lang="zh-CN" altLang="en-US" sz="2400"/>
              <a:t>当执行</a:t>
            </a:r>
            <a:r>
              <a:rPr lang="en-US" altLang="zh-CN" sz="2400"/>
              <a:t>LMS</a:t>
            </a:r>
            <a:r>
              <a:rPr lang="zh-CN" altLang="en-US" sz="2400"/>
              <a:t>指令时，为了修正系数的量化误差最小，也要进行舍入处理。</a:t>
            </a:r>
          </a:p>
        </p:txBody>
      </p:sp>
      <p:sp>
        <p:nvSpPr>
          <p:cNvPr id="536581" name="Rectangle 5" descr="小棋盘"/>
          <p:cNvSpPr>
            <a:spLocks noChangeArrowheads="1"/>
          </p:cNvSpPr>
          <p:nvPr/>
        </p:nvSpPr>
        <p:spPr bwMode="auto">
          <a:xfrm>
            <a:off x="539750" y="2349500"/>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36580"/>
                                        </p:tgtEl>
                                        <p:attrNameLst>
                                          <p:attrName>style.visibility</p:attrName>
                                        </p:attrNameLst>
                                      </p:cBhvr>
                                      <p:to>
                                        <p:strVal val="visible"/>
                                      </p:to>
                                    </p:set>
                                    <p:anim calcmode="lin" valueType="num">
                                      <p:cBhvr additive="base">
                                        <p:cTn id="7" dur="500" fill="hold"/>
                                        <p:tgtEl>
                                          <p:spTgt spid="536580"/>
                                        </p:tgtEl>
                                        <p:attrNameLst>
                                          <p:attrName>ppt_x</p:attrName>
                                        </p:attrNameLst>
                                      </p:cBhvr>
                                      <p:tavLst>
                                        <p:tav tm="0">
                                          <p:val>
                                            <p:strVal val="1+#ppt_w/2"/>
                                          </p:val>
                                        </p:tav>
                                        <p:tav tm="100000">
                                          <p:val>
                                            <p:strVal val="#ppt_x"/>
                                          </p:val>
                                        </p:tav>
                                      </p:tavLst>
                                    </p:anim>
                                    <p:anim calcmode="lin" valueType="num">
                                      <p:cBhvr additive="base">
                                        <p:cTn id="8" dur="500" fill="hold"/>
                                        <p:tgtEl>
                                          <p:spTgt spid="53658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536581">
                                            <p:txEl>
                                              <p:charRg st="4294967295" end="4294967295"/>
                                            </p:txEl>
                                          </p:spTgt>
                                        </p:tgtEl>
                                        <p:attrNameLst>
                                          <p:attrName>style.visibility</p:attrName>
                                        </p:attrNameLst>
                                      </p:cBhvr>
                                      <p:to>
                                        <p:strVal val="visible"/>
                                      </p:to>
                                    </p:set>
                                    <p:animEffect transition="in" filter="slide(fromBottom)">
                                      <p:cBhvr>
                                        <p:cTn id="12" dur="500"/>
                                        <p:tgtEl>
                                          <p:spTgt spid="536581">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80" grpId="0" animBg="1" autoUpdateAnimBg="0"/>
      <p:bldP spid="53658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idx="1"/>
          </p:nvPr>
        </p:nvSpPr>
        <p:spPr bwMode="auto">
          <a:xfrm>
            <a:off x="1371600" y="1600200"/>
            <a:ext cx="3657600" cy="2895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结构</a:t>
            </a:r>
            <a:r>
              <a:rPr lang="zh-CN" altLang="en-US" b="1"/>
              <a:t> </a:t>
            </a:r>
          </a:p>
          <a:p>
            <a:pPr eaLnBrk="1" hangingPunct="1"/>
            <a:r>
              <a:rPr lang="zh-CN" altLang="en-US" b="1">
                <a:latin typeface="宋体" panose="02010600030101010101" pitchFamily="2" charset="-122"/>
              </a:rPr>
              <a:t>功能</a:t>
            </a:r>
            <a:r>
              <a:rPr lang="zh-CN" altLang="en-US" b="1"/>
              <a:t> </a:t>
            </a:r>
          </a:p>
          <a:p>
            <a:pPr eaLnBrk="1" hangingPunct="1"/>
            <a:r>
              <a:rPr lang="zh-CN" altLang="en-US" b="1">
                <a:latin typeface="宋体" panose="02010600030101010101" pitchFamily="2" charset="-122"/>
              </a:rPr>
              <a:t>什么是舍入处理</a:t>
            </a:r>
            <a:r>
              <a:rPr lang="zh-CN" altLang="en-US" b="1"/>
              <a:t> </a:t>
            </a:r>
          </a:p>
          <a:p>
            <a:pPr eaLnBrk="1" hangingPunct="1"/>
            <a:r>
              <a:rPr lang="zh-CN" altLang="en-US" b="1">
                <a:latin typeface="宋体" panose="02010600030101010101" pitchFamily="2" charset="-122"/>
              </a:rPr>
              <a:t>数据流向</a:t>
            </a:r>
            <a:r>
              <a:rPr lang="zh-CN" altLang="en-US" b="1"/>
              <a:t> </a:t>
            </a:r>
          </a:p>
        </p:txBody>
      </p:sp>
      <p:sp>
        <p:nvSpPr>
          <p:cNvPr id="4096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2CCCC45-1493-41FC-823F-E11444A6E75E}" type="slidenum">
              <a:rPr lang="en-US" altLang="zh-CN" sz="1400" b="0"/>
              <a:pPr eaLnBrk="1" hangingPunct="1"/>
              <a:t>28</a:t>
            </a:fld>
            <a:endParaRPr lang="en-US" altLang="zh-CN" sz="1400" b="0"/>
          </a:p>
        </p:txBody>
      </p:sp>
      <p:sp>
        <p:nvSpPr>
          <p:cNvPr id="537604" name="AutoShape 4" descr="小棋盘"/>
          <p:cNvSpPr>
            <a:spLocks noChangeArrowheads="1"/>
          </p:cNvSpPr>
          <p:nvPr/>
        </p:nvSpPr>
        <p:spPr bwMode="auto">
          <a:xfrm>
            <a:off x="5148263" y="1066800"/>
            <a:ext cx="3614737" cy="5099050"/>
          </a:xfrm>
          <a:prstGeom prst="wedgeRoundRectCallout">
            <a:avLst>
              <a:gd name="adj1" fmla="val -68843"/>
              <a:gd name="adj2" fmla="val 3361"/>
              <a:gd name="adj3" fmla="val 16667"/>
            </a:avLst>
          </a:prstGeom>
          <a:pattFill prst="smCheck">
            <a:fgClr>
              <a:srgbClr val="FFFF00"/>
            </a:fgClr>
            <a:bgClr>
              <a:srgbClr val="FFFFFF"/>
            </a:bgClr>
          </a:pattFill>
          <a:ln w="9525">
            <a:solidFill>
              <a:srgbClr val="FF0066"/>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tx2"/>
                </a:solidFill>
              </a:rPr>
              <a:t>输入端</a:t>
            </a:r>
            <a:r>
              <a:rPr lang="en-US" altLang="zh-CN" sz="2400">
                <a:solidFill>
                  <a:schemeClr val="tx2"/>
                </a:solidFill>
              </a:rPr>
              <a:t>XM</a:t>
            </a:r>
            <a:r>
              <a:rPr lang="zh-CN" altLang="en-US" sz="2400"/>
              <a:t>来自</a:t>
            </a:r>
            <a:r>
              <a:rPr lang="en-US" altLang="zh-CN" sz="2400"/>
              <a:t>T</a:t>
            </a:r>
            <a:r>
              <a:rPr lang="zh-CN" altLang="en-US" sz="2400"/>
              <a:t>寄存器、累加器</a:t>
            </a:r>
            <a:r>
              <a:rPr lang="en-US" altLang="zh-CN" sz="2400"/>
              <a:t>A</a:t>
            </a:r>
            <a:r>
              <a:rPr lang="zh-CN" altLang="en-US" sz="2400"/>
              <a:t>的位</a:t>
            </a:r>
            <a:r>
              <a:rPr lang="en-US" altLang="zh-CN" sz="2400"/>
              <a:t>32~16</a:t>
            </a:r>
            <a:r>
              <a:rPr lang="zh-CN" altLang="en-US" sz="2400"/>
              <a:t>、以及</a:t>
            </a:r>
            <a:r>
              <a:rPr lang="en-US" altLang="zh-CN" sz="2400"/>
              <a:t>DB</a:t>
            </a:r>
            <a:r>
              <a:rPr lang="zh-CN" altLang="en-US" sz="2400"/>
              <a:t>总线；</a:t>
            </a:r>
          </a:p>
          <a:p>
            <a:pPr algn="just" eaLnBrk="1" hangingPunct="1">
              <a:spcBef>
                <a:spcPct val="20000"/>
              </a:spcBef>
            </a:pPr>
            <a:r>
              <a:rPr lang="zh-CN" altLang="en-US" sz="2400">
                <a:solidFill>
                  <a:schemeClr val="tx2"/>
                </a:solidFill>
              </a:rPr>
              <a:t>输入端</a:t>
            </a:r>
            <a:r>
              <a:rPr lang="en-US" altLang="zh-CN" sz="2400">
                <a:solidFill>
                  <a:schemeClr val="tx2"/>
                </a:solidFill>
              </a:rPr>
              <a:t>YM</a:t>
            </a:r>
            <a:r>
              <a:rPr lang="zh-CN" altLang="en-US" sz="2400"/>
              <a:t>来自累加器</a:t>
            </a:r>
            <a:r>
              <a:rPr lang="en-US" altLang="zh-CN" sz="2400"/>
              <a:t>A</a:t>
            </a:r>
            <a:r>
              <a:rPr lang="zh-CN" altLang="en-US" sz="2400"/>
              <a:t>的位</a:t>
            </a:r>
            <a:r>
              <a:rPr lang="en-US" altLang="zh-CN" sz="2400"/>
              <a:t>32~16</a:t>
            </a:r>
            <a:r>
              <a:rPr lang="zh-CN" altLang="en-US" sz="2400"/>
              <a:t>、</a:t>
            </a:r>
            <a:r>
              <a:rPr lang="en-US" altLang="zh-CN" sz="2400"/>
              <a:t>DB</a:t>
            </a:r>
            <a:r>
              <a:rPr lang="zh-CN" altLang="en-US" sz="2400"/>
              <a:t>总线和</a:t>
            </a:r>
            <a:r>
              <a:rPr lang="en-US" altLang="zh-CN" sz="2400"/>
              <a:t>CB</a:t>
            </a:r>
            <a:r>
              <a:rPr lang="zh-CN" altLang="en-US" sz="2400"/>
              <a:t>总线以及</a:t>
            </a:r>
            <a:r>
              <a:rPr lang="en-US" altLang="zh-CN" sz="2400"/>
              <a:t>PB</a:t>
            </a:r>
            <a:r>
              <a:rPr lang="zh-CN" altLang="en-US" sz="2400"/>
              <a:t>总线。</a:t>
            </a:r>
          </a:p>
          <a:p>
            <a:pPr algn="just" eaLnBrk="1" hangingPunct="1">
              <a:spcBef>
                <a:spcPct val="20000"/>
              </a:spcBef>
            </a:pPr>
            <a:r>
              <a:rPr lang="zh-CN" altLang="en-US" sz="2400">
                <a:solidFill>
                  <a:srgbClr val="FF00FF"/>
                </a:solidFill>
              </a:rPr>
              <a:t>输出加到加法器的输入端</a:t>
            </a:r>
            <a:r>
              <a:rPr lang="en-US" altLang="zh-CN" sz="2400"/>
              <a:t>XA</a:t>
            </a:r>
            <a:r>
              <a:rPr lang="zh-CN" altLang="en-US" sz="2400"/>
              <a:t>，累加器</a:t>
            </a:r>
            <a:r>
              <a:rPr lang="en-US" altLang="zh-CN" sz="2400"/>
              <a:t>A</a:t>
            </a:r>
            <a:r>
              <a:rPr lang="zh-CN" altLang="en-US" sz="2400"/>
              <a:t>或</a:t>
            </a:r>
            <a:r>
              <a:rPr lang="en-US" altLang="zh-CN" sz="2400"/>
              <a:t>B</a:t>
            </a:r>
            <a:r>
              <a:rPr lang="zh-CN" altLang="en-US" sz="2400"/>
              <a:t>则是加法器的另一个输入。</a:t>
            </a:r>
            <a:r>
              <a:rPr lang="zh-CN" altLang="en-US" sz="2400">
                <a:solidFill>
                  <a:schemeClr val="tx2"/>
                </a:solidFill>
              </a:rPr>
              <a:t>最后结果送往目的累加器</a:t>
            </a:r>
            <a:r>
              <a:rPr lang="en-US" altLang="zh-CN" sz="2400">
                <a:solidFill>
                  <a:schemeClr val="tx2"/>
                </a:solidFill>
              </a:rPr>
              <a:t>A</a:t>
            </a:r>
            <a:r>
              <a:rPr lang="zh-CN" altLang="en-US" sz="2400">
                <a:solidFill>
                  <a:schemeClr val="tx2"/>
                </a:solidFill>
              </a:rPr>
              <a:t>或</a:t>
            </a:r>
            <a:r>
              <a:rPr lang="en-US" altLang="zh-CN" sz="2400">
                <a:solidFill>
                  <a:schemeClr val="tx2"/>
                </a:solidFill>
              </a:rPr>
              <a:t>B</a:t>
            </a:r>
            <a:r>
              <a:rPr lang="zh-CN" altLang="en-US" sz="2400">
                <a:solidFill>
                  <a:schemeClr val="tx2"/>
                </a:solidFill>
              </a:rPr>
              <a:t>。</a:t>
            </a:r>
          </a:p>
        </p:txBody>
      </p:sp>
      <p:sp>
        <p:nvSpPr>
          <p:cNvPr id="537605" name="Rectangle 5" descr="小棋盘"/>
          <p:cNvSpPr>
            <a:spLocks noChangeArrowheads="1"/>
          </p:cNvSpPr>
          <p:nvPr/>
        </p:nvSpPr>
        <p:spPr bwMode="auto">
          <a:xfrm>
            <a:off x="323850" y="2205038"/>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37604"/>
                                        </p:tgtEl>
                                        <p:attrNameLst>
                                          <p:attrName>style.visibility</p:attrName>
                                        </p:attrNameLst>
                                      </p:cBhvr>
                                      <p:to>
                                        <p:strVal val="visible"/>
                                      </p:to>
                                    </p:set>
                                    <p:anim calcmode="lin" valueType="num">
                                      <p:cBhvr additive="base">
                                        <p:cTn id="7" dur="500" fill="hold"/>
                                        <p:tgtEl>
                                          <p:spTgt spid="537604"/>
                                        </p:tgtEl>
                                        <p:attrNameLst>
                                          <p:attrName>ppt_x</p:attrName>
                                        </p:attrNameLst>
                                      </p:cBhvr>
                                      <p:tavLst>
                                        <p:tav tm="0">
                                          <p:val>
                                            <p:strVal val="1+#ppt_w/2"/>
                                          </p:val>
                                        </p:tav>
                                        <p:tav tm="100000">
                                          <p:val>
                                            <p:strVal val="#ppt_x"/>
                                          </p:val>
                                        </p:tav>
                                      </p:tavLst>
                                    </p:anim>
                                    <p:anim calcmode="lin" valueType="num">
                                      <p:cBhvr additive="base">
                                        <p:cTn id="8" dur="500" fill="hold"/>
                                        <p:tgtEl>
                                          <p:spTgt spid="53760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537605">
                                            <p:txEl>
                                              <p:charRg st="4294967295" end="4294967295"/>
                                            </p:txEl>
                                          </p:spTgt>
                                        </p:tgtEl>
                                        <p:attrNameLst>
                                          <p:attrName>style.visibility</p:attrName>
                                        </p:attrNameLst>
                                      </p:cBhvr>
                                      <p:to>
                                        <p:strVal val="visible"/>
                                      </p:to>
                                    </p:set>
                                    <p:animEffect transition="in" filter="slide(fromBottom)">
                                      <p:cBhvr>
                                        <p:cTn id="12" dur="500"/>
                                        <p:tgtEl>
                                          <p:spTgt spid="537605">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4" grpId="0" animBg="1" autoUpdateAnimBg="0"/>
      <p:bldP spid="537605"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8626" name="Rectangle 2"/>
          <p:cNvSpPr>
            <a:spLocks noGrp="1" noChangeArrowheads="1"/>
          </p:cNvSpPr>
          <p:nvPr>
            <p:ph type="title"/>
          </p:nvPr>
        </p:nvSpPr>
        <p:spPr bwMode="auto">
          <a:xfrm>
            <a:off x="685800" y="10668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ea typeface="仿宋_GB2312" pitchFamily="49" charset="-122"/>
              </a:rPr>
              <a:t>5</a:t>
            </a:r>
            <a:r>
              <a:rPr lang="zh-CN" altLang="en-US" b="1">
                <a:solidFill>
                  <a:srgbClr val="FF0000"/>
                </a:solidFill>
                <a:ea typeface="仿宋_GB2312" pitchFamily="49" charset="-122"/>
              </a:rPr>
              <a:t>．比较、选择和存储单元</a:t>
            </a:r>
            <a:r>
              <a:rPr lang="zh-CN" altLang="en-US"/>
              <a:t> </a:t>
            </a:r>
          </a:p>
        </p:txBody>
      </p:sp>
      <p:sp>
        <p:nvSpPr>
          <p:cNvPr id="41987" name="Rectangle 29"/>
          <p:cNvSpPr>
            <a:spLocks noGrp="1" noChangeArrowheads="1"/>
          </p:cNvSpPr>
          <p:nvPr>
            <p:ph idx="1"/>
          </p:nvPr>
        </p:nvSpPr>
        <p:spPr bwMode="auto">
          <a:xfrm>
            <a:off x="1143000" y="2286000"/>
            <a:ext cx="1219200" cy="1295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spcBef>
                <a:spcPct val="50000"/>
              </a:spcBef>
            </a:pPr>
            <a:r>
              <a:rPr lang="zh-CN" altLang="en-US" b="1">
                <a:latin typeface="宋体" panose="02010600030101010101" pitchFamily="2" charset="-122"/>
              </a:rPr>
              <a:t>结构 </a:t>
            </a:r>
          </a:p>
          <a:p>
            <a:pPr marL="0" indent="0" eaLnBrk="1" hangingPunct="1">
              <a:spcBef>
                <a:spcPct val="50000"/>
              </a:spcBef>
            </a:pPr>
            <a:r>
              <a:rPr lang="zh-CN" altLang="en-US" b="1">
                <a:latin typeface="宋体" panose="02010600030101010101" pitchFamily="2" charset="-122"/>
                <a:cs typeface="Arial" panose="020B0604020202020204" pitchFamily="34" charset="0"/>
              </a:rPr>
              <a:t>功能</a:t>
            </a:r>
          </a:p>
        </p:txBody>
      </p:sp>
      <p:sp>
        <p:nvSpPr>
          <p:cNvPr id="4198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48C3823-AC0E-4F01-8933-563780A51F14}" type="slidenum">
              <a:rPr lang="en-US" altLang="zh-CN" sz="1400" b="0"/>
              <a:pPr eaLnBrk="1" hangingPunct="1"/>
              <a:t>29</a:t>
            </a:fld>
            <a:endParaRPr lang="en-US" altLang="zh-CN" sz="1400" b="0"/>
          </a:p>
        </p:txBody>
      </p:sp>
      <p:grpSp>
        <p:nvGrpSpPr>
          <p:cNvPr id="2" name="Group 3"/>
          <p:cNvGrpSpPr>
            <a:grpSpLocks/>
          </p:cNvGrpSpPr>
          <p:nvPr/>
        </p:nvGrpSpPr>
        <p:grpSpPr bwMode="auto">
          <a:xfrm>
            <a:off x="3810000" y="1905000"/>
            <a:ext cx="4191000" cy="4064000"/>
            <a:chOff x="2784" y="1200"/>
            <a:chExt cx="2640" cy="2560"/>
          </a:xfrm>
        </p:grpSpPr>
        <p:sp>
          <p:nvSpPr>
            <p:cNvPr id="41992" name="AutoShape 4"/>
            <p:cNvSpPr>
              <a:spLocks noChangeArrowheads="1"/>
            </p:cNvSpPr>
            <p:nvPr/>
          </p:nvSpPr>
          <p:spPr bwMode="auto">
            <a:xfrm>
              <a:off x="2880" y="1632"/>
              <a:ext cx="912" cy="336"/>
            </a:xfrm>
            <a:custGeom>
              <a:avLst/>
              <a:gdLst>
                <a:gd name="T0" fmla="*/ 34 w 21600"/>
                <a:gd name="T1" fmla="*/ 3 h 21600"/>
                <a:gd name="T2" fmla="*/ 19 w 21600"/>
                <a:gd name="T3" fmla="*/ 5 h 21600"/>
                <a:gd name="T4" fmla="*/ 5 w 21600"/>
                <a:gd name="T5" fmla="*/ 3 h 21600"/>
                <a:gd name="T6" fmla="*/ 1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41993" name="Text Box 5"/>
            <p:cNvSpPr txBox="1">
              <a:spLocks noChangeArrowheads="1"/>
            </p:cNvSpPr>
            <p:nvPr/>
          </p:nvSpPr>
          <p:spPr bwMode="auto">
            <a:xfrm>
              <a:off x="3072" y="1680"/>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tx2"/>
                  </a:solidFill>
                </a:rPr>
                <a:t>MUX</a:t>
              </a:r>
            </a:p>
          </p:txBody>
        </p:sp>
        <p:sp>
          <p:nvSpPr>
            <p:cNvPr id="41994" name="Text Box 6"/>
            <p:cNvSpPr txBox="1">
              <a:spLocks noChangeArrowheads="1"/>
            </p:cNvSpPr>
            <p:nvPr/>
          </p:nvSpPr>
          <p:spPr bwMode="auto">
            <a:xfrm>
              <a:off x="3024" y="2208"/>
              <a:ext cx="720" cy="256"/>
            </a:xfrm>
            <a:prstGeom prst="rect">
              <a:avLst/>
            </a:prstGeom>
            <a:solidFill>
              <a:srgbClr val="FFFF00"/>
            </a:solidFill>
            <a:ln w="9525">
              <a:solidFill>
                <a:schemeClr val="bg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solidFill>
                    <a:srgbClr val="FF0000"/>
                  </a:solidFill>
                </a:rPr>
                <a:t>COMP</a:t>
              </a:r>
            </a:p>
          </p:txBody>
        </p:sp>
        <p:sp>
          <p:nvSpPr>
            <p:cNvPr id="41995" name="Text Box 7"/>
            <p:cNvSpPr txBox="1">
              <a:spLocks noChangeArrowheads="1"/>
            </p:cNvSpPr>
            <p:nvPr/>
          </p:nvSpPr>
          <p:spPr bwMode="auto">
            <a:xfrm>
              <a:off x="3024" y="2592"/>
              <a:ext cx="720" cy="256"/>
            </a:xfrm>
            <a:prstGeom prst="rect">
              <a:avLst/>
            </a:prstGeom>
            <a:solidFill>
              <a:srgbClr val="FFFF00"/>
            </a:solidFill>
            <a:ln w="9525">
              <a:solidFill>
                <a:schemeClr val="bg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solidFill>
                    <a:srgbClr val="FF0000"/>
                  </a:solidFill>
                </a:rPr>
                <a:t>TRN</a:t>
              </a:r>
            </a:p>
          </p:txBody>
        </p:sp>
        <p:sp>
          <p:nvSpPr>
            <p:cNvPr id="41996" name="Text Box 8"/>
            <p:cNvSpPr txBox="1">
              <a:spLocks noChangeArrowheads="1"/>
            </p:cNvSpPr>
            <p:nvPr/>
          </p:nvSpPr>
          <p:spPr bwMode="auto">
            <a:xfrm>
              <a:off x="3024" y="2976"/>
              <a:ext cx="720" cy="256"/>
            </a:xfrm>
            <a:prstGeom prst="rect">
              <a:avLst/>
            </a:prstGeom>
            <a:solidFill>
              <a:srgbClr val="FFFF00"/>
            </a:solidFill>
            <a:ln w="9525">
              <a:solidFill>
                <a:schemeClr val="bg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solidFill>
                    <a:srgbClr val="FF0000"/>
                  </a:solidFill>
                </a:rPr>
                <a:t>TC</a:t>
              </a:r>
            </a:p>
          </p:txBody>
        </p:sp>
        <p:sp>
          <p:nvSpPr>
            <p:cNvPr id="41997" name="Text Box 9"/>
            <p:cNvSpPr txBox="1">
              <a:spLocks noChangeArrowheads="1"/>
            </p:cNvSpPr>
            <p:nvPr/>
          </p:nvSpPr>
          <p:spPr bwMode="auto">
            <a:xfrm>
              <a:off x="4128" y="2016"/>
              <a:ext cx="960" cy="562"/>
            </a:xfrm>
            <a:prstGeom prst="rect">
              <a:avLst/>
            </a:prstGeom>
            <a:solidFill>
              <a:srgbClr val="CC9900"/>
            </a:solidFill>
            <a:ln w="38100">
              <a:solidFill>
                <a:schemeClr val="bg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solidFill>
                    <a:srgbClr val="FFFFFF"/>
                  </a:solidFill>
                </a:rPr>
                <a:t>MSW/LSW</a:t>
              </a:r>
            </a:p>
            <a:p>
              <a:pPr algn="ctr" eaLnBrk="1" hangingPunct="1">
                <a:spcBef>
                  <a:spcPct val="50000"/>
                </a:spcBef>
              </a:pPr>
              <a:r>
                <a:rPr lang="zh-CN" altLang="en-US">
                  <a:solidFill>
                    <a:srgbClr val="FFFFFF"/>
                  </a:solidFill>
                </a:rPr>
                <a:t>选择</a:t>
              </a:r>
            </a:p>
          </p:txBody>
        </p:sp>
        <p:sp>
          <p:nvSpPr>
            <p:cNvPr id="41998" name="Text Box 10"/>
            <p:cNvSpPr txBox="1">
              <a:spLocks noChangeArrowheads="1"/>
            </p:cNvSpPr>
            <p:nvPr/>
          </p:nvSpPr>
          <p:spPr bwMode="auto">
            <a:xfrm>
              <a:off x="4080" y="3120"/>
              <a:ext cx="1008" cy="256"/>
            </a:xfrm>
            <a:prstGeom prst="rect">
              <a:avLst/>
            </a:prstGeom>
            <a:solidFill>
              <a:schemeClr val="bg2"/>
            </a:solidFill>
            <a:ln w="9525">
              <a:solidFill>
                <a:srgbClr val="CC99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EB15</a:t>
              </a:r>
              <a:r>
                <a:rPr lang="zh-CN" altLang="en-US">
                  <a:latin typeface="宋体" panose="02010600030101010101" pitchFamily="2" charset="-122"/>
                </a:rPr>
                <a:t>～</a:t>
              </a:r>
              <a:r>
                <a:rPr lang="zh-CN" altLang="en-US"/>
                <a:t> </a:t>
              </a:r>
              <a:r>
                <a:rPr lang="en-US" altLang="zh-CN"/>
                <a:t>EB0</a:t>
              </a:r>
            </a:p>
          </p:txBody>
        </p:sp>
        <p:sp>
          <p:nvSpPr>
            <p:cNvPr id="41999" name="Text Box 11"/>
            <p:cNvSpPr txBox="1">
              <a:spLocks noChangeArrowheads="1"/>
            </p:cNvSpPr>
            <p:nvPr/>
          </p:nvSpPr>
          <p:spPr bwMode="auto">
            <a:xfrm>
              <a:off x="3120" y="3456"/>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CSSU</a:t>
              </a:r>
            </a:p>
          </p:txBody>
        </p:sp>
        <p:sp>
          <p:nvSpPr>
            <p:cNvPr id="42000" name="Text Box 12"/>
            <p:cNvSpPr txBox="1">
              <a:spLocks noChangeArrowheads="1"/>
            </p:cNvSpPr>
            <p:nvPr/>
          </p:nvSpPr>
          <p:spPr bwMode="auto">
            <a:xfrm>
              <a:off x="2784" y="1488"/>
              <a:ext cx="1248" cy="2272"/>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b="0"/>
            </a:p>
            <a:p>
              <a:pPr eaLnBrk="1" hangingPunct="1">
                <a:spcBef>
                  <a:spcPct val="50000"/>
                </a:spcBef>
              </a:pPr>
              <a:endParaRPr lang="en-US" altLang="zh-CN" b="0"/>
            </a:p>
            <a:p>
              <a:pPr eaLnBrk="1" hangingPunct="1">
                <a:spcBef>
                  <a:spcPct val="50000"/>
                </a:spcBef>
              </a:pPr>
              <a:endParaRPr lang="en-US" altLang="zh-CN" b="0"/>
            </a:p>
            <a:p>
              <a:pPr eaLnBrk="1" hangingPunct="1">
                <a:spcBef>
                  <a:spcPct val="50000"/>
                </a:spcBef>
              </a:pPr>
              <a:endParaRPr lang="en-US" altLang="zh-CN" b="0"/>
            </a:p>
            <a:p>
              <a:pPr eaLnBrk="1" hangingPunct="1">
                <a:spcBef>
                  <a:spcPct val="50000"/>
                </a:spcBef>
              </a:pPr>
              <a:endParaRPr lang="en-US" altLang="zh-CN" b="0"/>
            </a:p>
            <a:p>
              <a:pPr eaLnBrk="1" hangingPunct="1">
                <a:spcBef>
                  <a:spcPct val="50000"/>
                </a:spcBef>
              </a:pPr>
              <a:endParaRPr lang="en-US" altLang="zh-CN" b="0"/>
            </a:p>
            <a:p>
              <a:pPr eaLnBrk="1" hangingPunct="1">
                <a:spcBef>
                  <a:spcPct val="50000"/>
                </a:spcBef>
              </a:pPr>
              <a:endParaRPr lang="en-US" altLang="zh-CN" b="0"/>
            </a:p>
            <a:p>
              <a:pPr eaLnBrk="1" hangingPunct="1">
                <a:spcBef>
                  <a:spcPct val="50000"/>
                </a:spcBef>
              </a:pPr>
              <a:endParaRPr lang="en-US" altLang="zh-CN" b="0"/>
            </a:p>
          </p:txBody>
        </p:sp>
        <p:sp>
          <p:nvSpPr>
            <p:cNvPr id="42001" name="Line 13"/>
            <p:cNvSpPr>
              <a:spLocks noChangeShapeType="1"/>
            </p:cNvSpPr>
            <p:nvPr/>
          </p:nvSpPr>
          <p:spPr bwMode="auto">
            <a:xfrm>
              <a:off x="3744" y="2400"/>
              <a:ext cx="19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002" name="Line 14"/>
            <p:cNvSpPr>
              <a:spLocks noChangeShapeType="1"/>
            </p:cNvSpPr>
            <p:nvPr/>
          </p:nvSpPr>
          <p:spPr bwMode="auto">
            <a:xfrm>
              <a:off x="3936" y="2400"/>
              <a:ext cx="0" cy="72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003" name="Line 15"/>
            <p:cNvSpPr>
              <a:spLocks noChangeShapeType="1"/>
            </p:cNvSpPr>
            <p:nvPr/>
          </p:nvSpPr>
          <p:spPr bwMode="auto">
            <a:xfrm flipH="1">
              <a:off x="3744" y="2688"/>
              <a:ext cx="19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04" name="Line 16"/>
            <p:cNvSpPr>
              <a:spLocks noChangeShapeType="1"/>
            </p:cNvSpPr>
            <p:nvPr/>
          </p:nvSpPr>
          <p:spPr bwMode="auto">
            <a:xfrm flipH="1">
              <a:off x="3744" y="3120"/>
              <a:ext cx="19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05" name="Line 17"/>
            <p:cNvSpPr>
              <a:spLocks noChangeShapeType="1"/>
            </p:cNvSpPr>
            <p:nvPr/>
          </p:nvSpPr>
          <p:spPr bwMode="auto">
            <a:xfrm>
              <a:off x="3744" y="2304"/>
              <a:ext cx="384" cy="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06" name="Line 18"/>
            <p:cNvSpPr>
              <a:spLocks noChangeShapeType="1"/>
            </p:cNvSpPr>
            <p:nvPr/>
          </p:nvSpPr>
          <p:spPr bwMode="auto">
            <a:xfrm>
              <a:off x="3360" y="1968"/>
              <a:ext cx="0" cy="24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07" name="Line 19"/>
            <p:cNvSpPr>
              <a:spLocks noChangeShapeType="1"/>
            </p:cNvSpPr>
            <p:nvPr/>
          </p:nvSpPr>
          <p:spPr bwMode="auto">
            <a:xfrm>
              <a:off x="3120" y="1344"/>
              <a:ext cx="0" cy="288"/>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08" name="Line 20"/>
            <p:cNvSpPr>
              <a:spLocks noChangeShapeType="1"/>
            </p:cNvSpPr>
            <p:nvPr/>
          </p:nvSpPr>
          <p:spPr bwMode="auto">
            <a:xfrm>
              <a:off x="3552" y="1344"/>
              <a:ext cx="0" cy="288"/>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09" name="Line 21"/>
            <p:cNvSpPr>
              <a:spLocks noChangeShapeType="1"/>
            </p:cNvSpPr>
            <p:nvPr/>
          </p:nvSpPr>
          <p:spPr bwMode="auto">
            <a:xfrm>
              <a:off x="4560" y="1584"/>
              <a:ext cx="0" cy="432"/>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10" name="Line 22"/>
            <p:cNvSpPr>
              <a:spLocks noChangeShapeType="1"/>
            </p:cNvSpPr>
            <p:nvPr/>
          </p:nvSpPr>
          <p:spPr bwMode="auto">
            <a:xfrm>
              <a:off x="4560" y="2592"/>
              <a:ext cx="0" cy="528"/>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11" name="Text Box 23"/>
            <p:cNvSpPr txBox="1">
              <a:spLocks noChangeArrowheads="1"/>
            </p:cNvSpPr>
            <p:nvPr/>
          </p:nvSpPr>
          <p:spPr bwMode="auto">
            <a:xfrm>
              <a:off x="4416" y="1248"/>
              <a:ext cx="10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桶形移位器</a:t>
              </a:r>
            </a:p>
          </p:txBody>
        </p:sp>
        <p:sp>
          <p:nvSpPr>
            <p:cNvPr id="42012" name="Text Box 24"/>
            <p:cNvSpPr txBox="1">
              <a:spLocks noChangeArrowheads="1"/>
            </p:cNvSpPr>
            <p:nvPr/>
          </p:nvSpPr>
          <p:spPr bwMode="auto">
            <a:xfrm>
              <a:off x="4608" y="2688"/>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16</a:t>
              </a:r>
            </a:p>
          </p:txBody>
        </p:sp>
        <p:sp>
          <p:nvSpPr>
            <p:cNvPr id="42013" name="Line 25"/>
            <p:cNvSpPr>
              <a:spLocks noChangeShapeType="1"/>
            </p:cNvSpPr>
            <p:nvPr/>
          </p:nvSpPr>
          <p:spPr bwMode="auto">
            <a:xfrm flipH="1">
              <a:off x="4464" y="2736"/>
              <a:ext cx="192" cy="14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014" name="Text Box 26"/>
            <p:cNvSpPr txBox="1">
              <a:spLocks noChangeArrowheads="1"/>
            </p:cNvSpPr>
            <p:nvPr/>
          </p:nvSpPr>
          <p:spPr bwMode="auto">
            <a:xfrm>
              <a:off x="4608" y="1632"/>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S</a:t>
              </a:r>
            </a:p>
          </p:txBody>
        </p:sp>
        <p:sp>
          <p:nvSpPr>
            <p:cNvPr id="42015" name="Text Box 27"/>
            <p:cNvSpPr txBox="1">
              <a:spLocks noChangeArrowheads="1"/>
            </p:cNvSpPr>
            <p:nvPr/>
          </p:nvSpPr>
          <p:spPr bwMode="auto">
            <a:xfrm>
              <a:off x="2784" y="120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A</a:t>
              </a:r>
            </a:p>
          </p:txBody>
        </p:sp>
        <p:sp>
          <p:nvSpPr>
            <p:cNvPr id="42016" name="Text Box 28"/>
            <p:cNvSpPr txBox="1">
              <a:spLocks noChangeArrowheads="1"/>
            </p:cNvSpPr>
            <p:nvPr/>
          </p:nvSpPr>
          <p:spPr bwMode="auto">
            <a:xfrm>
              <a:off x="3648" y="120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B</a:t>
              </a:r>
            </a:p>
          </p:txBody>
        </p:sp>
      </p:grpSp>
      <p:sp>
        <p:nvSpPr>
          <p:cNvPr id="538654" name="AutoShape 30" descr="小棋盘"/>
          <p:cNvSpPr>
            <a:spLocks noChangeArrowheads="1"/>
          </p:cNvSpPr>
          <p:nvPr/>
        </p:nvSpPr>
        <p:spPr bwMode="auto">
          <a:xfrm>
            <a:off x="381000" y="4191000"/>
            <a:ext cx="3124200" cy="2133600"/>
          </a:xfrm>
          <a:prstGeom prst="wedgeRoundRectCallout">
            <a:avLst>
              <a:gd name="adj1" fmla="val -9148"/>
              <a:gd name="adj2" fmla="val -80653"/>
              <a:gd name="adj3" fmla="val 16667"/>
            </a:avLst>
          </a:prstGeom>
          <a:pattFill prst="smCheck">
            <a:fgClr>
              <a:srgbClr val="FFFF00"/>
            </a:fgClr>
            <a:bgClr>
              <a:srgbClr val="FFFFFF"/>
            </a:bgClr>
          </a:pattFill>
          <a:ln w="9525">
            <a:solidFill>
              <a:srgbClr val="FF0066"/>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en-US" altLang="zh-CN" sz="2800">
                <a:solidFill>
                  <a:srgbClr val="006600"/>
                </a:solidFill>
              </a:rPr>
              <a:t>CSSU</a:t>
            </a:r>
            <a:r>
              <a:rPr lang="zh-CN" altLang="en-US" sz="2800">
                <a:solidFill>
                  <a:srgbClr val="006600"/>
                </a:solidFill>
              </a:rPr>
              <a:t>是专为</a:t>
            </a:r>
            <a:r>
              <a:rPr lang="en-US" altLang="zh-CN" sz="2800">
                <a:solidFill>
                  <a:srgbClr val="006600"/>
                </a:solidFill>
              </a:rPr>
              <a:t>Viterbi</a:t>
            </a:r>
            <a:r>
              <a:rPr lang="zh-CN" altLang="en-US" sz="2800">
                <a:solidFill>
                  <a:srgbClr val="006600"/>
                </a:solidFill>
              </a:rPr>
              <a:t>算法设计的进行加法</a:t>
            </a:r>
            <a:r>
              <a:rPr lang="en-US" altLang="zh-CN" sz="2800">
                <a:solidFill>
                  <a:srgbClr val="006600"/>
                </a:solidFill>
              </a:rPr>
              <a:t>/</a:t>
            </a:r>
            <a:r>
              <a:rPr lang="zh-CN" altLang="en-US" sz="2800">
                <a:solidFill>
                  <a:srgbClr val="006600"/>
                </a:solidFill>
              </a:rPr>
              <a:t>比较</a:t>
            </a:r>
            <a:r>
              <a:rPr lang="en-US" altLang="zh-CN" sz="2800">
                <a:solidFill>
                  <a:srgbClr val="006600"/>
                </a:solidFill>
              </a:rPr>
              <a:t>/</a:t>
            </a:r>
            <a:r>
              <a:rPr lang="zh-CN" altLang="en-US" sz="2800">
                <a:solidFill>
                  <a:srgbClr val="006600"/>
                </a:solidFill>
              </a:rPr>
              <a:t>选择（</a:t>
            </a:r>
            <a:r>
              <a:rPr lang="en-US" altLang="zh-CN" sz="2800">
                <a:solidFill>
                  <a:srgbClr val="006600"/>
                </a:solidFill>
              </a:rPr>
              <a:t>ACS</a:t>
            </a:r>
            <a:r>
              <a:rPr lang="zh-CN" altLang="en-US" sz="2800">
                <a:solidFill>
                  <a:srgbClr val="006600"/>
                </a:solidFill>
              </a:rPr>
              <a:t>）运算的硬件单元。</a:t>
            </a:r>
          </a:p>
        </p:txBody>
      </p:sp>
      <p:sp>
        <p:nvSpPr>
          <p:cNvPr id="41991" name="Line 31"/>
          <p:cNvSpPr>
            <a:spLocks noChangeShapeType="1"/>
          </p:cNvSpPr>
          <p:nvPr/>
        </p:nvSpPr>
        <p:spPr bwMode="auto">
          <a:xfrm>
            <a:off x="2411413" y="2636838"/>
            <a:ext cx="1223962" cy="73025"/>
          </a:xfrm>
          <a:prstGeom prst="line">
            <a:avLst/>
          </a:prstGeom>
          <a:noFill/>
          <a:ln w="76200">
            <a:solidFill>
              <a:srgbClr val="FF0066"/>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38626"/>
                                        </p:tgtEl>
                                        <p:attrNameLst>
                                          <p:attrName>style.visibility</p:attrName>
                                        </p:attrNameLst>
                                      </p:cBhvr>
                                      <p:to>
                                        <p:strVal val="visible"/>
                                      </p:to>
                                    </p:set>
                                    <p:anim calcmode="lin" valueType="num">
                                      <p:cBhvr additive="base">
                                        <p:cTn id="7" dur="500" fill="hold"/>
                                        <p:tgtEl>
                                          <p:spTgt spid="538626"/>
                                        </p:tgtEl>
                                        <p:attrNameLst>
                                          <p:attrName>ppt_x</p:attrName>
                                        </p:attrNameLst>
                                      </p:cBhvr>
                                      <p:tavLst>
                                        <p:tav tm="0">
                                          <p:val>
                                            <p:strVal val="0-#ppt_w/2"/>
                                          </p:val>
                                        </p:tav>
                                        <p:tav tm="100000">
                                          <p:val>
                                            <p:strVal val="#ppt_x"/>
                                          </p:val>
                                        </p:tav>
                                      </p:tavLst>
                                    </p:anim>
                                    <p:anim calcmode="lin" valueType="num">
                                      <p:cBhvr additive="base">
                                        <p:cTn id="8" dur="500" fill="hold"/>
                                        <p:tgtEl>
                                          <p:spTgt spid="53862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6" presetClass="entr" presetSubtype="37"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Vertical)">
                                      <p:cBhvr>
                                        <p:cTn id="12" dur="500"/>
                                        <p:tgtEl>
                                          <p:spTgt spid="2"/>
                                        </p:tgtEl>
                                      </p:cBhvr>
                                    </p:animEffect>
                                  </p:childTnLst>
                                </p:cTn>
                              </p:par>
                            </p:childTnLst>
                          </p:cTn>
                        </p:par>
                        <p:par>
                          <p:cTn id="13" fill="hold" nodeType="afterGroup">
                            <p:stCondLst>
                              <p:cond delay="1000"/>
                            </p:stCondLst>
                            <p:childTnLst>
                              <p:par>
                                <p:cTn id="14" presetID="2" presetClass="entr" presetSubtype="12" fill="hold" grpId="0" nodeType="afterEffect">
                                  <p:stCondLst>
                                    <p:cond delay="0"/>
                                  </p:stCondLst>
                                  <p:childTnLst>
                                    <p:set>
                                      <p:cBhvr>
                                        <p:cTn id="15" dur="1" fill="hold">
                                          <p:stCondLst>
                                            <p:cond delay="0"/>
                                          </p:stCondLst>
                                        </p:cTn>
                                        <p:tgtEl>
                                          <p:spTgt spid="538654"/>
                                        </p:tgtEl>
                                        <p:attrNameLst>
                                          <p:attrName>style.visibility</p:attrName>
                                        </p:attrNameLst>
                                      </p:cBhvr>
                                      <p:to>
                                        <p:strVal val="visible"/>
                                      </p:to>
                                    </p:set>
                                    <p:anim calcmode="lin" valueType="num">
                                      <p:cBhvr additive="base">
                                        <p:cTn id="16" dur="500" fill="hold"/>
                                        <p:tgtEl>
                                          <p:spTgt spid="538654"/>
                                        </p:tgtEl>
                                        <p:attrNameLst>
                                          <p:attrName>ppt_x</p:attrName>
                                        </p:attrNameLst>
                                      </p:cBhvr>
                                      <p:tavLst>
                                        <p:tav tm="0">
                                          <p:val>
                                            <p:strVal val="0-#ppt_w/2"/>
                                          </p:val>
                                        </p:tav>
                                        <p:tav tm="100000">
                                          <p:val>
                                            <p:strVal val="#ppt_x"/>
                                          </p:val>
                                        </p:tav>
                                      </p:tavLst>
                                    </p:anim>
                                    <p:anim calcmode="lin" valueType="num">
                                      <p:cBhvr additive="base">
                                        <p:cTn id="17" dur="500" fill="hold"/>
                                        <p:tgtEl>
                                          <p:spTgt spid="5386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26" grpId="0" autoUpdateAnimBg="0"/>
      <p:bldP spid="538654"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94611CD0-2B5D-495A-BCCD-0DC6C7EA2B85}" type="slidenum">
              <a:rPr lang="en-US" altLang="zh-CN" sz="1400" b="0"/>
              <a:pPr eaLnBrk="1" hangingPunct="1"/>
              <a:t>30</a:t>
            </a:fld>
            <a:endParaRPr lang="en-US" altLang="zh-CN" sz="1400" b="0"/>
          </a:p>
        </p:txBody>
      </p:sp>
      <p:sp>
        <p:nvSpPr>
          <p:cNvPr id="539650" name="Rectangle 2"/>
          <p:cNvSpPr>
            <a:spLocks noChangeArrowheads="1"/>
          </p:cNvSpPr>
          <p:nvPr/>
        </p:nvSpPr>
        <p:spPr bwMode="auto">
          <a:xfrm>
            <a:off x="1371600" y="3429000"/>
            <a:ext cx="6172200" cy="320516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400">
                <a:latin typeface="宋体" panose="02010600030101010101" pitchFamily="2" charset="-122"/>
              </a:rPr>
              <a:t>CMPS  A</a:t>
            </a:r>
            <a:r>
              <a:rPr lang="zh-CN" altLang="en-US" sz="2400">
                <a:latin typeface="宋体" panose="02010600030101010101" pitchFamily="2" charset="-122"/>
              </a:rPr>
              <a:t>，*</a:t>
            </a:r>
            <a:r>
              <a:rPr lang="en-US" altLang="zh-CN" sz="2400">
                <a:latin typeface="宋体" panose="02010600030101010101" pitchFamily="2" charset="-122"/>
              </a:rPr>
              <a:t>AR1 </a:t>
            </a:r>
          </a:p>
          <a:p>
            <a:pPr>
              <a:spcBef>
                <a:spcPct val="50000"/>
              </a:spcBef>
            </a:pPr>
            <a:r>
              <a:rPr lang="zh-CN" altLang="en-US" sz="2400">
                <a:latin typeface="宋体" panose="02010600030101010101" pitchFamily="2" charset="-122"/>
              </a:rPr>
              <a:t>；如果</a:t>
            </a:r>
            <a:r>
              <a:rPr lang="en-US" altLang="zh-CN" sz="2400">
                <a:latin typeface="宋体" panose="02010600030101010101" pitchFamily="2" charset="-122"/>
              </a:rPr>
              <a:t>A</a:t>
            </a:r>
            <a:r>
              <a:rPr lang="zh-CN" altLang="en-US" sz="2400">
                <a:latin typeface="宋体" panose="02010600030101010101" pitchFamily="2" charset="-122"/>
              </a:rPr>
              <a:t>（</a:t>
            </a:r>
            <a:r>
              <a:rPr lang="en-US" altLang="zh-CN" sz="2400">
                <a:latin typeface="宋体" panose="02010600030101010101" pitchFamily="2" charset="-122"/>
              </a:rPr>
              <a:t>31</a:t>
            </a:r>
            <a:r>
              <a:rPr lang="zh-CN" altLang="en-US" sz="2400">
                <a:latin typeface="宋体" panose="02010600030101010101" pitchFamily="2" charset="-122"/>
              </a:rPr>
              <a:t>～</a:t>
            </a:r>
            <a:r>
              <a:rPr lang="en-US" altLang="zh-CN" sz="2400">
                <a:latin typeface="宋体" panose="02010600030101010101" pitchFamily="2" charset="-122"/>
              </a:rPr>
              <a:t>16</a:t>
            </a:r>
            <a:r>
              <a:rPr lang="zh-CN" altLang="en-US" sz="2400">
                <a:latin typeface="宋体" panose="02010600030101010101" pitchFamily="2" charset="-122"/>
              </a:rPr>
              <a:t>）</a:t>
            </a:r>
            <a:r>
              <a:rPr lang="en-US" altLang="zh-CN" sz="2400">
                <a:latin typeface="宋体" panose="02010600030101010101" pitchFamily="2" charset="-122"/>
              </a:rPr>
              <a:t>&gt;A</a:t>
            </a:r>
            <a:r>
              <a:rPr lang="zh-CN" altLang="en-US" sz="2400">
                <a:latin typeface="宋体" panose="02010600030101010101" pitchFamily="2" charset="-122"/>
              </a:rPr>
              <a:t>（</a:t>
            </a:r>
            <a:r>
              <a:rPr lang="en-US" altLang="zh-CN" sz="2400">
                <a:latin typeface="宋体" panose="02010600030101010101" pitchFamily="2" charset="-122"/>
              </a:rPr>
              <a:t>15</a:t>
            </a:r>
            <a:r>
              <a:rPr lang="zh-CN" altLang="en-US" sz="2400">
                <a:latin typeface="宋体" panose="02010600030101010101" pitchFamily="2" charset="-122"/>
              </a:rPr>
              <a:t>～</a:t>
            </a:r>
            <a:r>
              <a:rPr lang="en-US" altLang="zh-CN" sz="2400">
                <a:latin typeface="宋体" panose="02010600030101010101" pitchFamily="2" charset="-122"/>
              </a:rPr>
              <a:t>0</a:t>
            </a:r>
            <a:r>
              <a:rPr lang="zh-CN" altLang="en-US" sz="2400">
                <a:latin typeface="宋体" panose="02010600030101010101" pitchFamily="2" charset="-122"/>
              </a:rPr>
              <a:t>）</a:t>
            </a:r>
          </a:p>
          <a:p>
            <a:pPr>
              <a:spcBef>
                <a:spcPct val="50000"/>
              </a:spcBef>
            </a:pPr>
            <a:r>
              <a:rPr lang="zh-CN" altLang="en-US" sz="2400">
                <a:latin typeface="宋体" panose="02010600030101010101" pitchFamily="2" charset="-122"/>
              </a:rPr>
              <a:t>；则</a:t>
            </a:r>
            <a:r>
              <a:rPr lang="en-US" altLang="zh-CN" sz="2400">
                <a:latin typeface="宋体" panose="02010600030101010101" pitchFamily="2" charset="-122"/>
              </a:rPr>
              <a:t>A</a:t>
            </a:r>
            <a:r>
              <a:rPr lang="zh-CN" altLang="en-US" sz="2400">
                <a:latin typeface="宋体" panose="02010600030101010101" pitchFamily="2" charset="-122"/>
              </a:rPr>
              <a:t>（</a:t>
            </a:r>
            <a:r>
              <a:rPr lang="en-US" altLang="zh-CN" sz="2400">
                <a:latin typeface="宋体" panose="02010600030101010101" pitchFamily="2" charset="-122"/>
              </a:rPr>
              <a:t>31</a:t>
            </a:r>
            <a:r>
              <a:rPr lang="zh-CN" altLang="en-US" sz="2400">
                <a:latin typeface="宋体" panose="02010600030101010101" pitchFamily="2" charset="-122"/>
              </a:rPr>
              <a:t>～</a:t>
            </a:r>
            <a:r>
              <a:rPr lang="en-US" altLang="zh-CN" sz="2400">
                <a:latin typeface="宋体" panose="02010600030101010101" pitchFamily="2" charset="-122"/>
              </a:rPr>
              <a:t>16</a:t>
            </a:r>
            <a:r>
              <a:rPr lang="zh-CN" altLang="en-US" sz="2400">
                <a:latin typeface="宋体" panose="02010600030101010101" pitchFamily="2" charset="-122"/>
              </a:rPr>
              <a:t>）</a:t>
            </a:r>
            <a:r>
              <a:rPr lang="en-US" altLang="zh-CN" sz="2400">
                <a:latin typeface="宋体" panose="02010600030101010101" pitchFamily="2" charset="-122"/>
              </a:rPr>
              <a:t>-&gt;*AR1</a:t>
            </a:r>
            <a:r>
              <a:rPr lang="zh-CN" altLang="en-US" sz="2400">
                <a:latin typeface="宋体" panose="02010600030101010101" pitchFamily="2" charset="-122"/>
              </a:rPr>
              <a:t>，</a:t>
            </a:r>
            <a:endParaRPr lang="zh-CN" altLang="en-US" sz="2400">
              <a:latin typeface="Arial" panose="020B0604020202020204" pitchFamily="34" charset="0"/>
              <a:cs typeface="Arial" panose="020B0604020202020204" pitchFamily="34" charset="0"/>
            </a:endParaRPr>
          </a:p>
          <a:p>
            <a:pPr>
              <a:spcBef>
                <a:spcPct val="50000"/>
              </a:spcBef>
            </a:pPr>
            <a:r>
              <a:rPr lang="zh-CN" altLang="en-US" sz="2400">
                <a:latin typeface="宋体" panose="02010600030101010101" pitchFamily="2" charset="-122"/>
              </a:rPr>
              <a:t>；</a:t>
            </a:r>
            <a:r>
              <a:rPr lang="en-US" altLang="zh-CN" sz="2400">
                <a:latin typeface="宋体" panose="02010600030101010101" pitchFamily="2" charset="-122"/>
              </a:rPr>
              <a:t>TRN</a:t>
            </a:r>
            <a:r>
              <a:rPr lang="zh-CN" altLang="en-US" sz="2400">
                <a:latin typeface="宋体" panose="02010600030101010101" pitchFamily="2" charset="-122"/>
              </a:rPr>
              <a:t>左移</a:t>
            </a:r>
            <a:r>
              <a:rPr lang="en-US" altLang="zh-CN" sz="2400">
                <a:latin typeface="宋体" panose="02010600030101010101" pitchFamily="2" charset="-122"/>
              </a:rPr>
              <a:t>1</a:t>
            </a:r>
            <a:r>
              <a:rPr lang="zh-CN" altLang="en-US" sz="2400">
                <a:latin typeface="宋体" panose="02010600030101010101" pitchFamily="2" charset="-122"/>
              </a:rPr>
              <a:t>位，</a:t>
            </a:r>
            <a:r>
              <a:rPr lang="en-US" altLang="zh-CN" sz="2400">
                <a:latin typeface="宋体" panose="02010600030101010101" pitchFamily="2" charset="-122"/>
              </a:rPr>
              <a:t>0-&gt;TRN</a:t>
            </a:r>
            <a:r>
              <a:rPr lang="zh-CN" altLang="en-US" sz="2400">
                <a:latin typeface="宋体" panose="02010600030101010101" pitchFamily="2" charset="-122"/>
              </a:rPr>
              <a:t>（</a:t>
            </a:r>
            <a:r>
              <a:rPr lang="en-US" altLang="zh-CN" sz="2400">
                <a:latin typeface="宋体" panose="02010600030101010101" pitchFamily="2" charset="-122"/>
              </a:rPr>
              <a:t>0</a:t>
            </a:r>
            <a:r>
              <a:rPr lang="zh-CN" altLang="en-US" sz="2400">
                <a:latin typeface="宋体" panose="02010600030101010101" pitchFamily="2" charset="-122"/>
              </a:rPr>
              <a:t>），</a:t>
            </a:r>
            <a:r>
              <a:rPr lang="en-US" altLang="zh-CN" sz="2400">
                <a:latin typeface="宋体" panose="02010600030101010101" pitchFamily="2" charset="-122"/>
              </a:rPr>
              <a:t>0-&gt;TC</a:t>
            </a:r>
            <a:r>
              <a:rPr lang="en-US" altLang="zh-CN" sz="2400">
                <a:latin typeface="Arial" panose="020B0604020202020204" pitchFamily="34" charset="0"/>
              </a:rPr>
              <a:t>  </a:t>
            </a:r>
          </a:p>
          <a:p>
            <a:pPr>
              <a:spcBef>
                <a:spcPct val="50000"/>
              </a:spcBef>
            </a:pPr>
            <a:r>
              <a:rPr lang="zh-CN" altLang="en-US" sz="2400">
                <a:latin typeface="宋体" panose="02010600030101010101" pitchFamily="2" charset="-122"/>
              </a:rPr>
              <a:t>；否则</a:t>
            </a:r>
            <a:r>
              <a:rPr lang="en-US" altLang="zh-CN" sz="2400">
                <a:latin typeface="宋体" panose="02010600030101010101" pitchFamily="2" charset="-122"/>
              </a:rPr>
              <a:t>A</a:t>
            </a:r>
            <a:r>
              <a:rPr lang="zh-CN" altLang="en-US" sz="2400">
                <a:latin typeface="宋体" panose="02010600030101010101" pitchFamily="2" charset="-122"/>
              </a:rPr>
              <a:t>（</a:t>
            </a:r>
            <a:r>
              <a:rPr lang="en-US" altLang="zh-CN" sz="2400">
                <a:latin typeface="宋体" panose="02010600030101010101" pitchFamily="2" charset="-122"/>
              </a:rPr>
              <a:t>15</a:t>
            </a:r>
            <a:r>
              <a:rPr lang="zh-CN" altLang="en-US" sz="2400">
                <a:latin typeface="宋体" panose="02010600030101010101" pitchFamily="2" charset="-122"/>
              </a:rPr>
              <a:t>～</a:t>
            </a:r>
            <a:r>
              <a:rPr lang="en-US" altLang="zh-CN" sz="2400">
                <a:latin typeface="宋体" panose="02010600030101010101" pitchFamily="2" charset="-122"/>
              </a:rPr>
              <a:t>0</a:t>
            </a:r>
            <a:r>
              <a:rPr lang="zh-CN" altLang="en-US" sz="2400">
                <a:latin typeface="宋体" panose="02010600030101010101" pitchFamily="2" charset="-122"/>
              </a:rPr>
              <a:t>）</a:t>
            </a:r>
            <a:r>
              <a:rPr lang="en-US" altLang="zh-CN" sz="2400">
                <a:latin typeface="宋体" panose="02010600030101010101" pitchFamily="2" charset="-122"/>
              </a:rPr>
              <a:t>-&gt;*AR1</a:t>
            </a:r>
            <a:r>
              <a:rPr lang="zh-CN" altLang="en-US" sz="2400">
                <a:latin typeface="宋体" panose="02010600030101010101" pitchFamily="2" charset="-122"/>
              </a:rPr>
              <a:t>，</a:t>
            </a:r>
            <a:r>
              <a:rPr lang="en-US" altLang="zh-CN" sz="2400">
                <a:latin typeface="宋体" panose="02010600030101010101" pitchFamily="2" charset="-122"/>
              </a:rPr>
              <a:t>TRN</a:t>
            </a:r>
            <a:r>
              <a:rPr lang="zh-CN" altLang="en-US" sz="2400">
                <a:latin typeface="宋体" panose="02010600030101010101" pitchFamily="2" charset="-122"/>
              </a:rPr>
              <a:t>左移</a:t>
            </a:r>
            <a:r>
              <a:rPr lang="en-US" altLang="zh-CN" sz="2400">
                <a:latin typeface="宋体" panose="02010600030101010101" pitchFamily="2" charset="-122"/>
              </a:rPr>
              <a:t>1</a:t>
            </a:r>
            <a:r>
              <a:rPr lang="zh-CN" altLang="en-US" sz="2400">
                <a:latin typeface="宋体" panose="02010600030101010101" pitchFamily="2" charset="-122"/>
              </a:rPr>
              <a:t>位，</a:t>
            </a:r>
            <a:endParaRPr lang="zh-CN" altLang="en-US" sz="2400">
              <a:latin typeface="Arial" panose="020B0604020202020204" pitchFamily="34" charset="0"/>
              <a:cs typeface="Arial" panose="020B0604020202020204" pitchFamily="34" charset="0"/>
            </a:endParaRPr>
          </a:p>
          <a:p>
            <a:pPr>
              <a:spcBef>
                <a:spcPct val="50000"/>
              </a:spcBef>
            </a:pPr>
            <a:r>
              <a:rPr lang="zh-CN" altLang="en-US" sz="2400">
                <a:latin typeface="宋体" panose="02010600030101010101" pitchFamily="2" charset="-122"/>
              </a:rPr>
              <a:t>；</a:t>
            </a:r>
            <a:r>
              <a:rPr lang="en-US" altLang="zh-CN" sz="2400">
                <a:latin typeface="宋体" panose="02010600030101010101" pitchFamily="2" charset="-122"/>
              </a:rPr>
              <a:t>1-&gt;TRN</a:t>
            </a:r>
            <a:r>
              <a:rPr lang="zh-CN" altLang="en-US" sz="2400">
                <a:latin typeface="宋体" panose="02010600030101010101" pitchFamily="2" charset="-122"/>
              </a:rPr>
              <a:t>（</a:t>
            </a:r>
            <a:r>
              <a:rPr lang="en-US" altLang="zh-CN" sz="2400">
                <a:latin typeface="宋体" panose="02010600030101010101" pitchFamily="2" charset="-122"/>
              </a:rPr>
              <a:t>0</a:t>
            </a:r>
            <a:r>
              <a:rPr lang="zh-CN" altLang="en-US" sz="2400">
                <a:latin typeface="宋体" panose="02010600030101010101" pitchFamily="2" charset="-122"/>
              </a:rPr>
              <a:t>），</a:t>
            </a:r>
            <a:r>
              <a:rPr lang="en-US" altLang="zh-CN" sz="2400">
                <a:latin typeface="宋体" panose="02010600030101010101" pitchFamily="2" charset="-122"/>
              </a:rPr>
              <a:t>1-&gt;TC</a:t>
            </a:r>
          </a:p>
        </p:txBody>
      </p:sp>
      <p:sp>
        <p:nvSpPr>
          <p:cNvPr id="539651" name="Text Box 3"/>
          <p:cNvSpPr txBox="1">
            <a:spLocks noChangeArrowheads="1"/>
          </p:cNvSpPr>
          <p:nvPr/>
        </p:nvSpPr>
        <p:spPr bwMode="auto">
          <a:xfrm>
            <a:off x="5791200" y="1371600"/>
            <a:ext cx="2895600" cy="1457325"/>
          </a:xfrm>
          <a:prstGeom prst="rect">
            <a:avLst/>
          </a:prstGeom>
          <a:solidFill>
            <a:srgbClr val="FFFF00"/>
          </a:solidFill>
          <a:ln w="38100">
            <a:solidFill>
              <a:srgbClr val="008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5000"/>
              </a:spcBef>
            </a:pPr>
            <a:r>
              <a:rPr lang="en-US" altLang="zh-CN"/>
              <a:t>If  (M1+D1)&gt;(M2+D2)</a:t>
            </a:r>
          </a:p>
          <a:p>
            <a:pPr eaLnBrk="1" hangingPunct="1">
              <a:lnSpc>
                <a:spcPct val="90000"/>
              </a:lnSpc>
              <a:spcBef>
                <a:spcPct val="25000"/>
              </a:spcBef>
            </a:pPr>
            <a:r>
              <a:rPr lang="en-US" altLang="zh-CN"/>
              <a:t>     then   N1= M1+D1</a:t>
            </a:r>
          </a:p>
          <a:p>
            <a:pPr eaLnBrk="1" hangingPunct="1">
              <a:lnSpc>
                <a:spcPct val="90000"/>
              </a:lnSpc>
              <a:spcBef>
                <a:spcPct val="25000"/>
              </a:spcBef>
            </a:pPr>
            <a:r>
              <a:rPr lang="en-US" altLang="zh-CN"/>
              <a:t>else</a:t>
            </a:r>
          </a:p>
          <a:p>
            <a:pPr eaLnBrk="1" hangingPunct="1">
              <a:lnSpc>
                <a:spcPct val="90000"/>
              </a:lnSpc>
              <a:spcBef>
                <a:spcPct val="25000"/>
              </a:spcBef>
            </a:pPr>
            <a:r>
              <a:rPr lang="en-US" altLang="zh-CN"/>
              <a:t>     N1= M2+D2</a:t>
            </a:r>
          </a:p>
        </p:txBody>
      </p:sp>
      <p:grpSp>
        <p:nvGrpSpPr>
          <p:cNvPr id="2" name="Group 4"/>
          <p:cNvGrpSpPr>
            <a:grpSpLocks/>
          </p:cNvGrpSpPr>
          <p:nvPr/>
        </p:nvGrpSpPr>
        <p:grpSpPr bwMode="auto">
          <a:xfrm>
            <a:off x="762000" y="1143000"/>
            <a:ext cx="5029200" cy="2225675"/>
            <a:chOff x="480" y="720"/>
            <a:chExt cx="3168" cy="1402"/>
          </a:xfrm>
        </p:grpSpPr>
        <p:sp>
          <p:nvSpPr>
            <p:cNvPr id="43014" name="Line 5"/>
            <p:cNvSpPr>
              <a:spLocks noChangeShapeType="1"/>
            </p:cNvSpPr>
            <p:nvPr/>
          </p:nvSpPr>
          <p:spPr bwMode="auto">
            <a:xfrm flipV="1">
              <a:off x="1296" y="960"/>
              <a:ext cx="187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015" name="Line 6"/>
            <p:cNvSpPr>
              <a:spLocks noChangeShapeType="1"/>
            </p:cNvSpPr>
            <p:nvPr/>
          </p:nvSpPr>
          <p:spPr bwMode="auto">
            <a:xfrm>
              <a:off x="1296" y="1152"/>
              <a:ext cx="1872" cy="76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016" name="Line 7"/>
            <p:cNvSpPr>
              <a:spLocks noChangeShapeType="1"/>
            </p:cNvSpPr>
            <p:nvPr/>
          </p:nvSpPr>
          <p:spPr bwMode="auto">
            <a:xfrm flipV="1">
              <a:off x="1296" y="960"/>
              <a:ext cx="1872" cy="76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017" name="Line 8"/>
            <p:cNvSpPr>
              <a:spLocks noChangeShapeType="1"/>
            </p:cNvSpPr>
            <p:nvPr/>
          </p:nvSpPr>
          <p:spPr bwMode="auto">
            <a:xfrm>
              <a:off x="1296" y="1728"/>
              <a:ext cx="187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018" name="Text Box 9"/>
            <p:cNvSpPr txBox="1">
              <a:spLocks noChangeArrowheads="1"/>
            </p:cNvSpPr>
            <p:nvPr/>
          </p:nvSpPr>
          <p:spPr bwMode="auto">
            <a:xfrm>
              <a:off x="1968" y="72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D1</a:t>
              </a:r>
            </a:p>
          </p:txBody>
        </p:sp>
        <p:sp>
          <p:nvSpPr>
            <p:cNvPr id="43019" name="Text Box 10"/>
            <p:cNvSpPr txBox="1">
              <a:spLocks noChangeArrowheads="1"/>
            </p:cNvSpPr>
            <p:nvPr/>
          </p:nvSpPr>
          <p:spPr bwMode="auto">
            <a:xfrm>
              <a:off x="2592" y="120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D2</a:t>
              </a:r>
            </a:p>
          </p:txBody>
        </p:sp>
        <p:sp>
          <p:nvSpPr>
            <p:cNvPr id="43020" name="Text Box 11"/>
            <p:cNvSpPr txBox="1">
              <a:spLocks noChangeArrowheads="1"/>
            </p:cNvSpPr>
            <p:nvPr/>
          </p:nvSpPr>
          <p:spPr bwMode="auto">
            <a:xfrm>
              <a:off x="480" y="1104"/>
              <a:ext cx="9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M1(</a:t>
              </a:r>
              <a:r>
                <a:rPr lang="zh-CN" altLang="en-US"/>
                <a:t>尺度</a:t>
              </a:r>
              <a:r>
                <a:rPr lang="en-US" altLang="zh-CN"/>
                <a:t>1)</a:t>
              </a:r>
            </a:p>
          </p:txBody>
        </p:sp>
        <p:sp>
          <p:nvSpPr>
            <p:cNvPr id="43021" name="Text Box 12"/>
            <p:cNvSpPr txBox="1">
              <a:spLocks noChangeArrowheads="1"/>
            </p:cNvSpPr>
            <p:nvPr/>
          </p:nvSpPr>
          <p:spPr bwMode="auto">
            <a:xfrm>
              <a:off x="480" y="1632"/>
              <a:ext cx="10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M2(</a:t>
              </a:r>
              <a:r>
                <a:rPr lang="zh-CN" altLang="en-US"/>
                <a:t>尺度</a:t>
              </a:r>
              <a:r>
                <a:rPr lang="en-US" altLang="zh-CN"/>
                <a:t>2)</a:t>
              </a:r>
            </a:p>
          </p:txBody>
        </p:sp>
        <p:sp>
          <p:nvSpPr>
            <p:cNvPr id="43022" name="Text Box 13"/>
            <p:cNvSpPr txBox="1">
              <a:spLocks noChangeArrowheads="1"/>
            </p:cNvSpPr>
            <p:nvPr/>
          </p:nvSpPr>
          <p:spPr bwMode="auto">
            <a:xfrm>
              <a:off x="768" y="96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2*J</a:t>
              </a:r>
            </a:p>
          </p:txBody>
        </p:sp>
        <p:sp>
          <p:nvSpPr>
            <p:cNvPr id="43023" name="Text Box 14"/>
            <p:cNvSpPr txBox="1">
              <a:spLocks noChangeArrowheads="1"/>
            </p:cNvSpPr>
            <p:nvPr/>
          </p:nvSpPr>
          <p:spPr bwMode="auto">
            <a:xfrm>
              <a:off x="720" y="1440"/>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2*J+1</a:t>
              </a:r>
            </a:p>
          </p:txBody>
        </p:sp>
        <p:sp>
          <p:nvSpPr>
            <p:cNvPr id="43024" name="Text Box 15"/>
            <p:cNvSpPr txBox="1">
              <a:spLocks noChangeArrowheads="1"/>
            </p:cNvSpPr>
            <p:nvPr/>
          </p:nvSpPr>
          <p:spPr bwMode="auto">
            <a:xfrm>
              <a:off x="3216" y="768"/>
              <a:ext cx="432"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N1</a:t>
              </a:r>
            </a:p>
            <a:p>
              <a:pPr eaLnBrk="1" hangingPunct="1">
                <a:spcBef>
                  <a:spcPct val="50000"/>
                </a:spcBef>
              </a:pPr>
              <a:r>
                <a:rPr lang="en-US" altLang="zh-CN"/>
                <a:t>J</a:t>
              </a:r>
            </a:p>
          </p:txBody>
        </p:sp>
        <p:sp>
          <p:nvSpPr>
            <p:cNvPr id="43025" name="Text Box 16"/>
            <p:cNvSpPr txBox="1">
              <a:spLocks noChangeArrowheads="1"/>
            </p:cNvSpPr>
            <p:nvPr/>
          </p:nvSpPr>
          <p:spPr bwMode="auto">
            <a:xfrm>
              <a:off x="3216" y="1584"/>
              <a:ext cx="432"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N2</a:t>
              </a:r>
            </a:p>
            <a:p>
              <a:pPr eaLnBrk="1" hangingPunct="1">
                <a:spcBef>
                  <a:spcPct val="50000"/>
                </a:spcBef>
              </a:pPr>
              <a:r>
                <a:rPr lang="en-US" altLang="zh-CN"/>
                <a:t>J+8</a:t>
              </a:r>
            </a:p>
          </p:txBody>
        </p:sp>
        <p:sp>
          <p:nvSpPr>
            <p:cNvPr id="43026" name="Text Box 17"/>
            <p:cNvSpPr txBox="1">
              <a:spLocks noChangeArrowheads="1"/>
            </p:cNvSpPr>
            <p:nvPr/>
          </p:nvSpPr>
          <p:spPr bwMode="auto">
            <a:xfrm>
              <a:off x="1968" y="1824"/>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D1</a:t>
              </a:r>
            </a:p>
          </p:txBody>
        </p:sp>
        <p:sp>
          <p:nvSpPr>
            <p:cNvPr id="43027" name="Text Box 18"/>
            <p:cNvSpPr txBox="1">
              <a:spLocks noChangeArrowheads="1"/>
            </p:cNvSpPr>
            <p:nvPr/>
          </p:nvSpPr>
          <p:spPr bwMode="auto">
            <a:xfrm>
              <a:off x="2592" y="148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D2</a:t>
              </a:r>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39651"/>
                                        </p:tgtEl>
                                        <p:attrNameLst>
                                          <p:attrName>style.visibility</p:attrName>
                                        </p:attrNameLst>
                                      </p:cBhvr>
                                      <p:to>
                                        <p:strVal val="visible"/>
                                      </p:to>
                                    </p:set>
                                    <p:animEffect transition="in" filter="blinds(horizontal)">
                                      <p:cBhvr>
                                        <p:cTn id="11" dur="500"/>
                                        <p:tgtEl>
                                          <p:spTgt spid="539651"/>
                                        </p:tgtEl>
                                      </p:cBhvr>
                                    </p:animEffect>
                                  </p:childTnLst>
                                </p:cTn>
                              </p:par>
                            </p:childTnLst>
                          </p:cTn>
                        </p:par>
                        <p:par>
                          <p:cTn id="12" fill="hold" nodeType="afterGroup">
                            <p:stCondLst>
                              <p:cond delay="1000"/>
                            </p:stCondLst>
                            <p:childTnLst>
                              <p:par>
                                <p:cTn id="13" presetID="3" presetClass="entr" presetSubtype="5" fill="hold" grpId="0" nodeType="afterEffect">
                                  <p:stCondLst>
                                    <p:cond delay="0"/>
                                  </p:stCondLst>
                                  <p:childTnLst>
                                    <p:set>
                                      <p:cBhvr>
                                        <p:cTn id="14" dur="1" fill="hold">
                                          <p:stCondLst>
                                            <p:cond delay="0"/>
                                          </p:stCondLst>
                                        </p:cTn>
                                        <p:tgtEl>
                                          <p:spTgt spid="539650"/>
                                        </p:tgtEl>
                                        <p:attrNameLst>
                                          <p:attrName>style.visibility</p:attrName>
                                        </p:attrNameLst>
                                      </p:cBhvr>
                                      <p:to>
                                        <p:strVal val="visible"/>
                                      </p:to>
                                    </p:set>
                                    <p:animEffect transition="in" filter="blinds(vertical)">
                                      <p:cBhvr>
                                        <p:cTn id="15" dur="500"/>
                                        <p:tgtEl>
                                          <p:spTgt spid="539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0" grpId="0" animBg="1" autoUpdateAnimBg="0"/>
      <p:bldP spid="539651"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0674" name="Rectangle 2"/>
          <p:cNvSpPr>
            <a:spLocks noGrp="1" noChangeArrowheads="1"/>
          </p:cNvSpPr>
          <p:nvPr>
            <p:ph type="title"/>
          </p:nvPr>
        </p:nvSpPr>
        <p:spPr bwMode="auto">
          <a:xfrm>
            <a:off x="1676400" y="1447800"/>
            <a:ext cx="53340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latin typeface="Arial" panose="020B0604020202020204" pitchFamily="34" charset="0"/>
                <a:ea typeface="仿宋_GB2312" pitchFamily="49" charset="-122"/>
              </a:rPr>
              <a:t>6</a:t>
            </a:r>
            <a:r>
              <a:rPr lang="zh-CN" altLang="en-US" b="1">
                <a:solidFill>
                  <a:srgbClr val="FF0000"/>
                </a:solidFill>
                <a:latin typeface="Arial" panose="020B0604020202020204" pitchFamily="34" charset="0"/>
                <a:ea typeface="仿宋_GB2312" pitchFamily="49" charset="-122"/>
              </a:rPr>
              <a:t>．指数编码器</a:t>
            </a:r>
            <a:endParaRPr lang="zh-CN" altLang="en-US" b="1">
              <a:solidFill>
                <a:srgbClr val="FF0000"/>
              </a:solidFill>
              <a:latin typeface="Arial" panose="020B0604020202020204" pitchFamily="34" charset="0"/>
              <a:cs typeface="Arial" panose="020B0604020202020204" pitchFamily="34" charset="0"/>
            </a:endParaRPr>
          </a:p>
        </p:txBody>
      </p:sp>
      <p:sp>
        <p:nvSpPr>
          <p:cNvPr id="4403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CE99F0A-D927-458B-B464-1F7CEFE21172}" type="slidenum">
              <a:rPr lang="en-US" altLang="zh-CN" sz="1400" b="0"/>
              <a:pPr eaLnBrk="1" hangingPunct="1"/>
              <a:t>31</a:t>
            </a:fld>
            <a:endParaRPr lang="en-US" altLang="zh-CN" sz="1400" b="0"/>
          </a:p>
        </p:txBody>
      </p:sp>
      <p:sp>
        <p:nvSpPr>
          <p:cNvPr id="540675" name="Rectangle 3"/>
          <p:cNvSpPr>
            <a:spLocks noChangeArrowheads="1"/>
          </p:cNvSpPr>
          <p:nvPr/>
        </p:nvSpPr>
        <p:spPr bwMode="auto">
          <a:xfrm>
            <a:off x="1447800" y="2819400"/>
            <a:ext cx="1676400" cy="12192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3200">
                <a:latin typeface="宋体" panose="02010600030101010101" pitchFamily="2" charset="-122"/>
              </a:rPr>
              <a:t>结构 </a:t>
            </a:r>
          </a:p>
          <a:p>
            <a:pPr eaLnBrk="1" hangingPunct="1">
              <a:spcBef>
                <a:spcPct val="20000"/>
              </a:spcBef>
              <a:buFontTx/>
              <a:buChar char="•"/>
            </a:pPr>
            <a:r>
              <a:rPr lang="zh-CN" altLang="en-US" sz="3200">
                <a:latin typeface="宋体" panose="02010600030101010101" pitchFamily="2" charset="-122"/>
              </a:rPr>
              <a:t>功能</a:t>
            </a:r>
            <a:r>
              <a:rPr lang="zh-CN" altLang="en-US" sz="3200" b="0">
                <a:latin typeface="宋体" panose="02010600030101010101" pitchFamily="2" charset="-122"/>
              </a:rPr>
              <a:t> </a:t>
            </a:r>
          </a:p>
        </p:txBody>
      </p:sp>
      <p:grpSp>
        <p:nvGrpSpPr>
          <p:cNvPr id="2" name="Group 5"/>
          <p:cNvGrpSpPr>
            <a:grpSpLocks/>
          </p:cNvGrpSpPr>
          <p:nvPr/>
        </p:nvGrpSpPr>
        <p:grpSpPr bwMode="auto">
          <a:xfrm>
            <a:off x="4800600" y="2667000"/>
            <a:ext cx="2590800" cy="1387475"/>
            <a:chOff x="2784" y="1968"/>
            <a:chExt cx="1536" cy="874"/>
          </a:xfrm>
        </p:grpSpPr>
        <p:sp>
          <p:nvSpPr>
            <p:cNvPr id="44041" name="Text Box 6"/>
            <p:cNvSpPr txBox="1">
              <a:spLocks noChangeArrowheads="1"/>
            </p:cNvSpPr>
            <p:nvPr/>
          </p:nvSpPr>
          <p:spPr bwMode="auto">
            <a:xfrm>
              <a:off x="2880" y="2256"/>
              <a:ext cx="1248" cy="274"/>
            </a:xfrm>
            <a:prstGeom prst="rect">
              <a:avLst/>
            </a:prstGeom>
            <a:solidFill>
              <a:srgbClr val="FFFF00"/>
            </a:solidFill>
            <a:ln w="38100">
              <a:solidFill>
                <a:srgbClr val="008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EXP</a:t>
              </a:r>
              <a:r>
                <a:rPr lang="zh-CN" altLang="en-US"/>
                <a:t>指数编码器</a:t>
              </a:r>
            </a:p>
          </p:txBody>
        </p:sp>
        <p:sp>
          <p:nvSpPr>
            <p:cNvPr id="44042" name="Line 7"/>
            <p:cNvSpPr>
              <a:spLocks noChangeShapeType="1"/>
            </p:cNvSpPr>
            <p:nvPr/>
          </p:nvSpPr>
          <p:spPr bwMode="auto">
            <a:xfrm>
              <a:off x="3168" y="2016"/>
              <a:ext cx="0" cy="24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43" name="Line 8"/>
            <p:cNvSpPr>
              <a:spLocks noChangeShapeType="1"/>
            </p:cNvSpPr>
            <p:nvPr/>
          </p:nvSpPr>
          <p:spPr bwMode="auto">
            <a:xfrm>
              <a:off x="3744" y="2016"/>
              <a:ext cx="0" cy="24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44" name="Line 9"/>
            <p:cNvSpPr>
              <a:spLocks noChangeShapeType="1"/>
            </p:cNvSpPr>
            <p:nvPr/>
          </p:nvSpPr>
          <p:spPr bwMode="auto">
            <a:xfrm>
              <a:off x="3456" y="2544"/>
              <a:ext cx="0" cy="24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45" name="Text Box 10"/>
            <p:cNvSpPr txBox="1">
              <a:spLocks noChangeArrowheads="1"/>
            </p:cNvSpPr>
            <p:nvPr/>
          </p:nvSpPr>
          <p:spPr bwMode="auto">
            <a:xfrm>
              <a:off x="2784" y="196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A</a:t>
              </a:r>
            </a:p>
          </p:txBody>
        </p:sp>
        <p:sp>
          <p:nvSpPr>
            <p:cNvPr id="44046" name="Text Box 11"/>
            <p:cNvSpPr txBox="1">
              <a:spLocks noChangeArrowheads="1"/>
            </p:cNvSpPr>
            <p:nvPr/>
          </p:nvSpPr>
          <p:spPr bwMode="auto">
            <a:xfrm>
              <a:off x="3840" y="196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B</a:t>
              </a:r>
            </a:p>
          </p:txBody>
        </p:sp>
        <p:sp>
          <p:nvSpPr>
            <p:cNvPr id="44047" name="Text Box 12"/>
            <p:cNvSpPr txBox="1">
              <a:spLocks noChangeArrowheads="1"/>
            </p:cNvSpPr>
            <p:nvPr/>
          </p:nvSpPr>
          <p:spPr bwMode="auto">
            <a:xfrm>
              <a:off x="3552" y="259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T</a:t>
              </a:r>
              <a:r>
                <a:rPr lang="zh-CN" altLang="en-US"/>
                <a:t>寄存器</a:t>
              </a:r>
            </a:p>
          </p:txBody>
        </p:sp>
      </p:grpSp>
      <p:sp>
        <p:nvSpPr>
          <p:cNvPr id="540686" name="Rectangle 14" descr="小棋盘"/>
          <p:cNvSpPr>
            <a:spLocks noChangeArrowheads="1"/>
          </p:cNvSpPr>
          <p:nvPr/>
        </p:nvSpPr>
        <p:spPr bwMode="auto">
          <a:xfrm>
            <a:off x="4643438" y="4581525"/>
            <a:ext cx="2743200" cy="588963"/>
          </a:xfrm>
          <a:prstGeom prst="rect">
            <a:avLst/>
          </a:prstGeom>
          <a:pattFill prst="smCheck">
            <a:fgClr>
              <a:srgbClr val="FFFF00"/>
            </a:fgClr>
            <a:bgClr>
              <a:schemeClr val="bg1"/>
            </a:bgClr>
          </a:pattFill>
          <a:ln w="9525">
            <a:solidFill>
              <a:srgbClr val="FF0066"/>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chemeClr val="tx2"/>
                </a:solidFill>
                <a:latin typeface="宋体" panose="02010600030101010101" pitchFamily="2" charset="-122"/>
              </a:rPr>
              <a:t>如何计算指数</a:t>
            </a:r>
          </a:p>
        </p:txBody>
      </p:sp>
      <p:sp>
        <p:nvSpPr>
          <p:cNvPr id="540687" name="Rectangle 15" descr="小棋盘"/>
          <p:cNvSpPr>
            <a:spLocks noChangeArrowheads="1"/>
          </p:cNvSpPr>
          <p:nvPr/>
        </p:nvSpPr>
        <p:spPr bwMode="auto">
          <a:xfrm>
            <a:off x="1258888" y="4581525"/>
            <a:ext cx="1873250" cy="698500"/>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要点</a:t>
            </a:r>
          </a:p>
        </p:txBody>
      </p:sp>
      <p:sp>
        <p:nvSpPr>
          <p:cNvPr id="44040" name="Line 16"/>
          <p:cNvSpPr>
            <a:spLocks noChangeShapeType="1"/>
          </p:cNvSpPr>
          <p:nvPr/>
        </p:nvSpPr>
        <p:spPr bwMode="auto">
          <a:xfrm>
            <a:off x="2843213" y="3141663"/>
            <a:ext cx="1512887" cy="142875"/>
          </a:xfrm>
          <a:prstGeom prst="line">
            <a:avLst/>
          </a:prstGeom>
          <a:noFill/>
          <a:ln w="76200">
            <a:solidFill>
              <a:srgbClr val="FF0066"/>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40674"/>
                                        </p:tgtEl>
                                        <p:attrNameLst>
                                          <p:attrName>style.visibility</p:attrName>
                                        </p:attrNameLst>
                                      </p:cBhvr>
                                      <p:to>
                                        <p:strVal val="visible"/>
                                      </p:to>
                                    </p:set>
                                    <p:anim calcmode="lin" valueType="num">
                                      <p:cBhvr additive="base">
                                        <p:cTn id="7" dur="500" fill="hold"/>
                                        <p:tgtEl>
                                          <p:spTgt spid="540674"/>
                                        </p:tgtEl>
                                        <p:attrNameLst>
                                          <p:attrName>ppt_x</p:attrName>
                                        </p:attrNameLst>
                                      </p:cBhvr>
                                      <p:tavLst>
                                        <p:tav tm="0">
                                          <p:val>
                                            <p:strVal val="0-#ppt_w/2"/>
                                          </p:val>
                                        </p:tav>
                                        <p:tav tm="100000">
                                          <p:val>
                                            <p:strVal val="#ppt_x"/>
                                          </p:val>
                                        </p:tav>
                                      </p:tavLst>
                                    </p:anim>
                                    <p:anim calcmode="lin" valueType="num">
                                      <p:cBhvr additive="base">
                                        <p:cTn id="8" dur="500" fill="hold"/>
                                        <p:tgtEl>
                                          <p:spTgt spid="54067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40675"/>
                                        </p:tgtEl>
                                        <p:attrNameLst>
                                          <p:attrName>style.visibility</p:attrName>
                                        </p:attrNameLst>
                                      </p:cBhvr>
                                      <p:to>
                                        <p:strVal val="visible"/>
                                      </p:to>
                                    </p:set>
                                    <p:anim calcmode="lin" valueType="num">
                                      <p:cBhvr additive="base">
                                        <p:cTn id="12" dur="500" fill="hold"/>
                                        <p:tgtEl>
                                          <p:spTgt spid="540675"/>
                                        </p:tgtEl>
                                        <p:attrNameLst>
                                          <p:attrName>ppt_x</p:attrName>
                                        </p:attrNameLst>
                                      </p:cBhvr>
                                      <p:tavLst>
                                        <p:tav tm="0">
                                          <p:val>
                                            <p:strVal val="0-#ppt_w/2"/>
                                          </p:val>
                                        </p:tav>
                                        <p:tav tm="100000">
                                          <p:val>
                                            <p:strVal val="#ppt_x"/>
                                          </p:val>
                                        </p:tav>
                                      </p:tavLst>
                                    </p:anim>
                                    <p:anim calcmode="lin" valueType="num">
                                      <p:cBhvr additive="base">
                                        <p:cTn id="13" dur="500" fill="hold"/>
                                        <p:tgtEl>
                                          <p:spTgt spid="540675"/>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12" presetClass="entr" presetSubtype="1"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slide(fromTop)">
                                      <p:cBhvr>
                                        <p:cTn id="17" dur="500"/>
                                        <p:tgtEl>
                                          <p:spTgt spid="2"/>
                                        </p:tgtEl>
                                      </p:cBhvr>
                                    </p:animEffect>
                                  </p:childTnLst>
                                </p:cTn>
                              </p:par>
                            </p:childTnLst>
                          </p:cTn>
                        </p:par>
                        <p:par>
                          <p:cTn id="18" fill="hold" nodeType="afterGroup">
                            <p:stCondLst>
                              <p:cond delay="1500"/>
                            </p:stCondLst>
                            <p:childTnLst>
                              <p:par>
                                <p:cTn id="19" presetID="12" presetClass="entr" presetSubtype="1" fill="hold" grpId="0" nodeType="afterEffect">
                                  <p:stCondLst>
                                    <p:cond delay="0"/>
                                  </p:stCondLst>
                                  <p:childTnLst>
                                    <p:set>
                                      <p:cBhvr>
                                        <p:cTn id="20" dur="1" fill="hold">
                                          <p:stCondLst>
                                            <p:cond delay="0"/>
                                          </p:stCondLst>
                                        </p:cTn>
                                        <p:tgtEl>
                                          <p:spTgt spid="540686"/>
                                        </p:tgtEl>
                                        <p:attrNameLst>
                                          <p:attrName>style.visibility</p:attrName>
                                        </p:attrNameLst>
                                      </p:cBhvr>
                                      <p:to>
                                        <p:strVal val="visible"/>
                                      </p:to>
                                    </p:set>
                                    <p:animEffect transition="in" filter="slide(fromTop)">
                                      <p:cBhvr>
                                        <p:cTn id="21" dur="500"/>
                                        <p:tgtEl>
                                          <p:spTgt spid="540686"/>
                                        </p:tgtEl>
                                      </p:cBhvr>
                                    </p:animEffect>
                                  </p:childTnLst>
                                </p:cTn>
                              </p:par>
                            </p:childTnLst>
                          </p:cTn>
                        </p:par>
                        <p:par>
                          <p:cTn id="22" fill="hold" nodeType="afterGroup">
                            <p:stCondLst>
                              <p:cond delay="2000"/>
                            </p:stCondLst>
                            <p:childTnLst>
                              <p:par>
                                <p:cTn id="23" presetID="12" presetClass="entr" presetSubtype="4" fill="hold" grpId="0" nodeType="afterEffect">
                                  <p:stCondLst>
                                    <p:cond delay="0"/>
                                  </p:stCondLst>
                                  <p:childTnLst>
                                    <p:set>
                                      <p:cBhvr>
                                        <p:cTn id="24" dur="1" fill="hold">
                                          <p:stCondLst>
                                            <p:cond delay="0"/>
                                          </p:stCondLst>
                                        </p:cTn>
                                        <p:tgtEl>
                                          <p:spTgt spid="540687">
                                            <p:txEl>
                                              <p:charRg st="4294967295" end="4294967295"/>
                                            </p:txEl>
                                          </p:spTgt>
                                        </p:tgtEl>
                                        <p:attrNameLst>
                                          <p:attrName>style.visibility</p:attrName>
                                        </p:attrNameLst>
                                      </p:cBhvr>
                                      <p:to>
                                        <p:strVal val="visible"/>
                                      </p:to>
                                    </p:set>
                                    <p:animEffect transition="in" filter="slide(fromBottom)">
                                      <p:cBhvr>
                                        <p:cTn id="25" dur="500"/>
                                        <p:tgtEl>
                                          <p:spTgt spid="540687">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4" grpId="0" autoUpdateAnimBg="0"/>
      <p:bldP spid="540675" grpId="0" animBg="1" autoUpdateAnimBg="0"/>
      <p:bldP spid="540686" grpId="0" animBg="1" autoUpdateAnimBg="0"/>
      <p:bldP spid="540687"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8734FD86-F884-4810-A30D-1DD14818E0FC}" type="slidenum">
              <a:rPr lang="en-US" altLang="zh-CN" sz="1400" b="0"/>
              <a:pPr eaLnBrk="1" hangingPunct="1"/>
              <a:t>32</a:t>
            </a:fld>
            <a:endParaRPr lang="en-US" altLang="zh-CN" sz="1400" b="0"/>
          </a:p>
        </p:txBody>
      </p:sp>
      <p:sp>
        <p:nvSpPr>
          <p:cNvPr id="45059" name="Rectangle 2"/>
          <p:cNvSpPr>
            <a:spLocks noChangeArrowheads="1"/>
          </p:cNvSpPr>
          <p:nvPr/>
        </p:nvSpPr>
        <p:spPr bwMode="auto">
          <a:xfrm>
            <a:off x="457200" y="1066800"/>
            <a:ext cx="8382000" cy="534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762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a:solidFill>
                  <a:schemeClr val="tx2"/>
                </a:solidFill>
              </a:rPr>
              <a:t>指数编码器</a:t>
            </a:r>
            <a:r>
              <a:rPr lang="zh-CN" altLang="en-US" sz="2800"/>
              <a:t>是一个专用硬件。有了它，</a:t>
            </a:r>
            <a:r>
              <a:rPr lang="zh-CN" altLang="en-US" sz="2800">
                <a:solidFill>
                  <a:schemeClr val="tx2"/>
                </a:solidFill>
              </a:rPr>
              <a:t>可以在单个周期内执行</a:t>
            </a:r>
            <a:r>
              <a:rPr lang="en-US" altLang="zh-CN" sz="2800">
                <a:solidFill>
                  <a:schemeClr val="tx2"/>
                </a:solidFill>
              </a:rPr>
              <a:t>EXP</a:t>
            </a:r>
            <a:r>
              <a:rPr lang="zh-CN" altLang="en-US" sz="2800">
                <a:solidFill>
                  <a:schemeClr val="tx2"/>
                </a:solidFill>
              </a:rPr>
              <a:t>指令，求得累加器中数的指数值，并以</a:t>
            </a:r>
            <a:r>
              <a:rPr lang="en-US" altLang="zh-CN" sz="2800">
                <a:solidFill>
                  <a:schemeClr val="tx2"/>
                </a:solidFill>
              </a:rPr>
              <a:t>2</a:t>
            </a:r>
            <a:r>
              <a:rPr lang="zh-CN" altLang="en-US" sz="2800">
                <a:solidFill>
                  <a:schemeClr val="tx2"/>
                </a:solidFill>
              </a:rPr>
              <a:t>的补码形式（</a:t>
            </a:r>
            <a:r>
              <a:rPr lang="en-US" altLang="zh-CN" sz="2800">
                <a:solidFill>
                  <a:schemeClr val="tx2"/>
                </a:solidFill>
              </a:rPr>
              <a:t>-8~31</a:t>
            </a:r>
            <a:r>
              <a:rPr lang="zh-CN" altLang="en-US" sz="2800">
                <a:solidFill>
                  <a:schemeClr val="tx2"/>
                </a:solidFill>
              </a:rPr>
              <a:t>）存放到</a:t>
            </a:r>
            <a:r>
              <a:rPr lang="en-US" altLang="zh-CN" sz="2800">
                <a:solidFill>
                  <a:schemeClr val="tx2"/>
                </a:solidFill>
              </a:rPr>
              <a:t>T</a:t>
            </a:r>
            <a:r>
              <a:rPr lang="zh-CN" altLang="en-US" sz="2800">
                <a:solidFill>
                  <a:schemeClr val="tx2"/>
                </a:solidFill>
              </a:rPr>
              <a:t>寄存器中。</a:t>
            </a:r>
          </a:p>
          <a:p>
            <a:pPr eaLnBrk="1" hangingPunct="1">
              <a:spcBef>
                <a:spcPct val="50000"/>
              </a:spcBef>
            </a:pPr>
            <a:r>
              <a:rPr lang="zh-CN" altLang="en-US" sz="2800">
                <a:solidFill>
                  <a:srgbClr val="CC00FF"/>
                </a:solidFill>
              </a:rPr>
              <a:t>累加器的指数值</a:t>
            </a:r>
            <a:r>
              <a:rPr lang="en-US" altLang="zh-CN" sz="2800">
                <a:solidFill>
                  <a:srgbClr val="CC00FF"/>
                </a:solidFill>
              </a:rPr>
              <a:t>=</a:t>
            </a:r>
            <a:r>
              <a:rPr lang="zh-CN" altLang="en-US" sz="2800">
                <a:solidFill>
                  <a:srgbClr val="CC00FF"/>
                </a:solidFill>
              </a:rPr>
              <a:t>冗余符号位</a:t>
            </a:r>
            <a:r>
              <a:rPr lang="en-US" altLang="zh-CN" sz="2800">
                <a:solidFill>
                  <a:srgbClr val="CC00FF"/>
                </a:solidFill>
              </a:rPr>
              <a:t>-8</a:t>
            </a:r>
            <a:r>
              <a:rPr lang="zh-CN" altLang="en-US" sz="2800">
                <a:solidFill>
                  <a:srgbClr val="CC00FF"/>
                </a:solidFill>
              </a:rPr>
              <a:t>，</a:t>
            </a:r>
            <a:r>
              <a:rPr lang="zh-CN" altLang="en-US" sz="2800"/>
              <a:t>也就是为消去多余符号位而将累加器中的数值左移的位数。当累加器数值超过</a:t>
            </a:r>
            <a:r>
              <a:rPr lang="en-US" altLang="zh-CN" sz="2800"/>
              <a:t>32</a:t>
            </a:r>
            <a:r>
              <a:rPr lang="zh-CN" altLang="en-US" sz="2800"/>
              <a:t>位时，指数是个负值。</a:t>
            </a:r>
          </a:p>
          <a:p>
            <a:pPr algn="just" eaLnBrk="1" hangingPunct="1">
              <a:spcBef>
                <a:spcPct val="20000"/>
              </a:spcBef>
            </a:pPr>
            <a:r>
              <a:rPr lang="zh-CN" altLang="en-US" sz="2800"/>
              <a:t>例如，对累加器的内容进行归一化，</a:t>
            </a:r>
            <a:r>
              <a:rPr lang="en-US" altLang="zh-CN" sz="2800"/>
              <a:t>A=FF FFFF FFCB</a:t>
            </a:r>
            <a:r>
              <a:rPr lang="zh-CN" altLang="en-US" sz="2800"/>
              <a:t>：</a:t>
            </a:r>
          </a:p>
          <a:p>
            <a:pPr algn="just" eaLnBrk="1" hangingPunct="1">
              <a:spcBef>
                <a:spcPct val="20000"/>
              </a:spcBef>
            </a:pPr>
            <a:r>
              <a:rPr lang="zh-CN" altLang="en-US" sz="2800"/>
              <a:t> </a:t>
            </a:r>
            <a:r>
              <a:rPr lang="en-US" altLang="zh-CN" sz="2800"/>
              <a:t>EXP   A             </a:t>
            </a:r>
            <a:r>
              <a:rPr lang="zh-CN" altLang="en-US" sz="2800"/>
              <a:t>；（冗余符号位</a:t>
            </a:r>
            <a:r>
              <a:rPr lang="en-US" altLang="zh-CN" sz="2800"/>
              <a:t>-8</a:t>
            </a:r>
            <a:r>
              <a:rPr lang="zh-CN" altLang="en-US" sz="2800"/>
              <a:t>）→</a:t>
            </a:r>
            <a:r>
              <a:rPr lang="en-US" altLang="zh-CN" sz="2800"/>
              <a:t>T</a:t>
            </a:r>
            <a:r>
              <a:rPr lang="zh-CN" altLang="en-US" sz="2800"/>
              <a:t>寄存器 </a:t>
            </a:r>
          </a:p>
          <a:p>
            <a:pPr algn="just" eaLnBrk="1" hangingPunct="1">
              <a:spcBef>
                <a:spcPct val="20000"/>
              </a:spcBef>
            </a:pPr>
            <a:r>
              <a:rPr lang="zh-CN" altLang="en-US" sz="2800"/>
              <a:t>                            ； </a:t>
            </a:r>
            <a:r>
              <a:rPr lang="en-US" altLang="zh-CN" sz="2800"/>
              <a:t>T=33</a:t>
            </a:r>
            <a:r>
              <a:rPr lang="zh-CN" altLang="en-US" sz="2800"/>
              <a:t>位</a:t>
            </a:r>
            <a:r>
              <a:rPr lang="en-US" altLang="zh-CN" sz="2800"/>
              <a:t>-8=25 </a:t>
            </a:r>
            <a:r>
              <a:rPr lang="zh-CN" altLang="en-US" sz="2800"/>
              <a:t>（</a:t>
            </a:r>
            <a:r>
              <a:rPr lang="en-US" altLang="zh-CN" sz="2800"/>
              <a:t>d</a:t>
            </a:r>
            <a:r>
              <a:rPr lang="zh-CN" altLang="en-US" sz="2800"/>
              <a:t>）</a:t>
            </a:r>
          </a:p>
          <a:p>
            <a:pPr algn="just" eaLnBrk="1" hangingPunct="1">
              <a:spcBef>
                <a:spcPct val="20000"/>
              </a:spcBef>
            </a:pPr>
            <a:r>
              <a:rPr lang="zh-CN" altLang="en-US" sz="2800"/>
              <a:t>                            ； </a:t>
            </a:r>
            <a:r>
              <a:rPr lang="en-US" altLang="zh-CN" sz="2800"/>
              <a:t>=0019</a:t>
            </a:r>
            <a:r>
              <a:rPr lang="zh-CN" altLang="en-US" sz="2800"/>
              <a:t>（</a:t>
            </a:r>
            <a:r>
              <a:rPr lang="en-US" altLang="zh-CN" sz="2800"/>
              <a:t>H</a:t>
            </a:r>
            <a:r>
              <a:rPr lang="zh-CN" altLang="en-US" sz="2800"/>
              <a:t>）</a:t>
            </a:r>
          </a:p>
        </p:txBody>
      </p:sp>
    </p:spTree>
  </p:cSld>
  <p:clrMapOvr>
    <a:masterClrMapping/>
  </p:clrMapOvr>
  <p:transition spd="med">
    <p:pull dir="lu"/>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bwMode="auto">
          <a:xfrm>
            <a:off x="685800" y="10668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ea typeface="仿宋_GB2312" pitchFamily="49" charset="-122"/>
              </a:rPr>
              <a:t>7</a:t>
            </a:r>
            <a:r>
              <a:rPr lang="zh-CN" altLang="en-US" b="1">
                <a:solidFill>
                  <a:srgbClr val="FF0000"/>
                </a:solidFill>
                <a:ea typeface="仿宋_GB2312" pitchFamily="49" charset="-122"/>
              </a:rPr>
              <a:t>．</a:t>
            </a:r>
            <a:r>
              <a:rPr lang="en-US" altLang="zh-CN" b="1">
                <a:solidFill>
                  <a:srgbClr val="FF0000"/>
                </a:solidFill>
                <a:ea typeface="仿宋_GB2312" pitchFamily="49" charset="-122"/>
              </a:rPr>
              <a:t>CPU</a:t>
            </a:r>
            <a:r>
              <a:rPr lang="zh-CN" altLang="en-US" b="1">
                <a:solidFill>
                  <a:srgbClr val="FF0000"/>
                </a:solidFill>
                <a:ea typeface="仿宋_GB2312" pitchFamily="49" charset="-122"/>
              </a:rPr>
              <a:t>状态和控制寄存器</a:t>
            </a:r>
            <a:r>
              <a:rPr lang="zh-CN" altLang="en-US"/>
              <a:t> </a:t>
            </a:r>
          </a:p>
        </p:txBody>
      </p:sp>
      <p:sp>
        <p:nvSpPr>
          <p:cNvPr id="46083" name="Rectangle 3"/>
          <p:cNvSpPr>
            <a:spLocks noGrp="1" noChangeArrowheads="1"/>
          </p:cNvSpPr>
          <p:nvPr>
            <p:ph idx="1"/>
          </p:nvPr>
        </p:nvSpPr>
        <p:spPr bwMode="auto">
          <a:xfrm>
            <a:off x="1676400" y="2438400"/>
            <a:ext cx="3657600" cy="2514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latin typeface="宋体" panose="02010600030101010101" pitchFamily="2" charset="-122"/>
              </a:rPr>
              <a:t>3</a:t>
            </a:r>
            <a:r>
              <a:rPr lang="zh-CN" altLang="en-US" b="1">
                <a:latin typeface="宋体" panose="02010600030101010101" pitchFamily="2" charset="-122"/>
              </a:rPr>
              <a:t>个状态寄存器</a:t>
            </a:r>
            <a:r>
              <a:rPr lang="zh-CN" altLang="en-US" b="1"/>
              <a:t> </a:t>
            </a:r>
          </a:p>
          <a:p>
            <a:pPr eaLnBrk="1" hangingPunct="1"/>
            <a:r>
              <a:rPr lang="zh-CN" altLang="en-US" b="1">
                <a:latin typeface="宋体" panose="02010600030101010101" pitchFamily="2" charset="-122"/>
              </a:rPr>
              <a:t>功能</a:t>
            </a:r>
            <a:r>
              <a:rPr lang="zh-CN" altLang="en-US" b="1"/>
              <a:t> </a:t>
            </a:r>
          </a:p>
          <a:p>
            <a:pPr eaLnBrk="1" hangingPunct="1"/>
            <a:r>
              <a:rPr lang="zh-CN" altLang="en-US" b="1">
                <a:latin typeface="宋体" panose="02010600030101010101" pitchFamily="2" charset="-122"/>
              </a:rPr>
              <a:t>位置</a:t>
            </a:r>
          </a:p>
          <a:p>
            <a:pPr eaLnBrk="1" hangingPunct="1"/>
            <a:r>
              <a:rPr lang="zh-CN" altLang="en-US" b="1">
                <a:latin typeface="宋体" panose="02010600030101010101" pitchFamily="2" charset="-122"/>
              </a:rPr>
              <a:t>各</a:t>
            </a:r>
            <a:r>
              <a:rPr lang="en-US" altLang="zh-CN" b="1">
                <a:latin typeface="宋体" panose="02010600030101010101" pitchFamily="2" charset="-122"/>
              </a:rPr>
              <a:t>bit</a:t>
            </a:r>
            <a:r>
              <a:rPr lang="zh-CN" altLang="en-US" b="1">
                <a:latin typeface="宋体" panose="02010600030101010101" pitchFamily="2" charset="-122"/>
              </a:rPr>
              <a:t>的作用</a:t>
            </a:r>
            <a:endParaRPr lang="zh-CN" altLang="en-US" b="1"/>
          </a:p>
        </p:txBody>
      </p:sp>
      <p:sp>
        <p:nvSpPr>
          <p:cNvPr id="4608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2B60401-B448-4E9F-B628-60EB80111CC9}" type="slidenum">
              <a:rPr lang="en-US" altLang="zh-CN" sz="1400" b="0"/>
              <a:pPr eaLnBrk="1" hangingPunct="1"/>
              <a:t>33</a:t>
            </a:fld>
            <a:endParaRPr lang="en-US" altLang="zh-CN" sz="1400" b="0"/>
          </a:p>
        </p:txBody>
      </p:sp>
      <p:grpSp>
        <p:nvGrpSpPr>
          <p:cNvPr id="2" name="Group 5"/>
          <p:cNvGrpSpPr>
            <a:grpSpLocks/>
          </p:cNvGrpSpPr>
          <p:nvPr/>
        </p:nvGrpSpPr>
        <p:grpSpPr bwMode="auto">
          <a:xfrm>
            <a:off x="6172200" y="2286000"/>
            <a:ext cx="2193925" cy="3597275"/>
            <a:chOff x="3888" y="1440"/>
            <a:chExt cx="1382" cy="2266"/>
          </a:xfrm>
        </p:grpSpPr>
        <p:grpSp>
          <p:nvGrpSpPr>
            <p:cNvPr id="46089" name="Group 6"/>
            <p:cNvGrpSpPr>
              <a:grpSpLocks/>
            </p:cNvGrpSpPr>
            <p:nvPr/>
          </p:nvGrpSpPr>
          <p:grpSpPr bwMode="auto">
            <a:xfrm>
              <a:off x="3888" y="1440"/>
              <a:ext cx="1382" cy="2266"/>
              <a:chOff x="3888" y="1440"/>
              <a:chExt cx="1382" cy="2266"/>
            </a:xfrm>
          </p:grpSpPr>
          <p:sp>
            <p:nvSpPr>
              <p:cNvPr id="46093" name="Rectangle 7"/>
              <p:cNvSpPr>
                <a:spLocks noChangeArrowheads="1"/>
              </p:cNvSpPr>
              <p:nvPr/>
            </p:nvSpPr>
            <p:spPr bwMode="auto">
              <a:xfrm>
                <a:off x="4224" y="1440"/>
                <a:ext cx="960" cy="1920"/>
              </a:xfrm>
              <a:prstGeom prst="rect">
                <a:avLst/>
              </a:prstGeom>
              <a:solidFill>
                <a:srgbClr val="CCFF99"/>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6094" name="Line 8"/>
              <p:cNvSpPr>
                <a:spLocks noChangeShapeType="1"/>
              </p:cNvSpPr>
              <p:nvPr/>
            </p:nvSpPr>
            <p:spPr bwMode="auto">
              <a:xfrm>
                <a:off x="4236" y="2640"/>
                <a:ext cx="94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095" name="Text Box 9"/>
              <p:cNvSpPr txBox="1">
                <a:spLocks noChangeArrowheads="1"/>
              </p:cNvSpPr>
              <p:nvPr/>
            </p:nvSpPr>
            <p:spPr bwMode="auto">
              <a:xfrm>
                <a:off x="3936" y="1728"/>
                <a:ext cx="3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9900CC"/>
                    </a:solidFill>
                  </a:rPr>
                  <a:t>6</a:t>
                </a:r>
              </a:p>
            </p:txBody>
          </p:sp>
          <p:sp>
            <p:nvSpPr>
              <p:cNvPr id="46096" name="Text Box 10"/>
              <p:cNvSpPr txBox="1">
                <a:spLocks noChangeArrowheads="1"/>
              </p:cNvSpPr>
              <p:nvPr/>
            </p:nvSpPr>
            <p:spPr bwMode="auto">
              <a:xfrm>
                <a:off x="3936" y="1920"/>
                <a:ext cx="3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9900CC"/>
                    </a:solidFill>
                  </a:rPr>
                  <a:t>7</a:t>
                </a:r>
              </a:p>
            </p:txBody>
          </p:sp>
          <p:sp>
            <p:nvSpPr>
              <p:cNvPr id="46097" name="Text Box 11"/>
              <p:cNvSpPr txBox="1">
                <a:spLocks noChangeArrowheads="1"/>
              </p:cNvSpPr>
              <p:nvPr/>
            </p:nvSpPr>
            <p:spPr bwMode="auto">
              <a:xfrm>
                <a:off x="3888" y="2496"/>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9900CC"/>
                    </a:solidFill>
                  </a:rPr>
                  <a:t>1D</a:t>
                </a:r>
              </a:p>
            </p:txBody>
          </p:sp>
          <p:sp>
            <p:nvSpPr>
              <p:cNvPr id="46098" name="Rectangle 12"/>
              <p:cNvSpPr>
                <a:spLocks noChangeArrowheads="1"/>
              </p:cNvSpPr>
              <p:nvPr/>
            </p:nvSpPr>
            <p:spPr bwMode="auto">
              <a:xfrm>
                <a:off x="4224" y="1824"/>
                <a:ext cx="960" cy="144"/>
              </a:xfrm>
              <a:prstGeom prst="rect">
                <a:avLst/>
              </a:prstGeom>
              <a:solidFill>
                <a:schemeClr val="bg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6099" name="Text Box 13"/>
              <p:cNvSpPr txBox="1">
                <a:spLocks noChangeArrowheads="1"/>
              </p:cNvSpPr>
              <p:nvPr/>
            </p:nvSpPr>
            <p:spPr bwMode="auto">
              <a:xfrm>
                <a:off x="4272" y="3456"/>
                <a:ext cx="9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9900CC"/>
                    </a:solidFill>
                  </a:rPr>
                  <a:t>O</a:t>
                </a:r>
                <a:r>
                  <a:rPr lang="zh-CN" altLang="en-US">
                    <a:solidFill>
                      <a:srgbClr val="9900CC"/>
                    </a:solidFill>
                  </a:rPr>
                  <a:t>页存储器</a:t>
                </a:r>
              </a:p>
            </p:txBody>
          </p:sp>
          <p:sp>
            <p:nvSpPr>
              <p:cNvPr id="46100" name="Line 14"/>
              <p:cNvSpPr>
                <a:spLocks noChangeShapeType="1"/>
              </p:cNvSpPr>
              <p:nvPr/>
            </p:nvSpPr>
            <p:spPr bwMode="auto">
              <a:xfrm>
                <a:off x="4224" y="2544"/>
                <a:ext cx="94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101" name="Line 15"/>
              <p:cNvSpPr>
                <a:spLocks noChangeShapeType="1"/>
              </p:cNvSpPr>
              <p:nvPr/>
            </p:nvSpPr>
            <p:spPr bwMode="auto">
              <a:xfrm>
                <a:off x="4224" y="2112"/>
                <a:ext cx="94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102" name="Rectangle 16"/>
              <p:cNvSpPr>
                <a:spLocks noChangeArrowheads="1"/>
              </p:cNvSpPr>
              <p:nvPr/>
            </p:nvSpPr>
            <p:spPr bwMode="auto">
              <a:xfrm>
                <a:off x="4224" y="1968"/>
                <a:ext cx="960" cy="144"/>
              </a:xfrm>
              <a:prstGeom prst="rect">
                <a:avLst/>
              </a:prstGeom>
              <a:solidFill>
                <a:srgbClr val="FFFF00"/>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6103" name="Line 17"/>
              <p:cNvSpPr>
                <a:spLocks noChangeShapeType="1"/>
              </p:cNvSpPr>
              <p:nvPr/>
            </p:nvSpPr>
            <p:spPr bwMode="auto">
              <a:xfrm>
                <a:off x="4224" y="1968"/>
                <a:ext cx="96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104" name="Rectangle 18"/>
              <p:cNvSpPr>
                <a:spLocks noChangeArrowheads="1"/>
              </p:cNvSpPr>
              <p:nvPr/>
            </p:nvSpPr>
            <p:spPr bwMode="auto">
              <a:xfrm>
                <a:off x="4224" y="2496"/>
                <a:ext cx="960" cy="144"/>
              </a:xfrm>
              <a:prstGeom prst="rect">
                <a:avLst/>
              </a:prstGeom>
              <a:solidFill>
                <a:srgbClr val="FF0000"/>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46090" name="Text Box 19"/>
            <p:cNvSpPr txBox="1">
              <a:spLocks noChangeArrowheads="1"/>
            </p:cNvSpPr>
            <p:nvPr/>
          </p:nvSpPr>
          <p:spPr bwMode="auto">
            <a:xfrm>
              <a:off x="4512" y="196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b="0"/>
                <a:t>ST1</a:t>
              </a:r>
            </a:p>
          </p:txBody>
        </p:sp>
        <p:sp>
          <p:nvSpPr>
            <p:cNvPr id="46091" name="Text Box 20"/>
            <p:cNvSpPr txBox="1">
              <a:spLocks noChangeArrowheads="1"/>
            </p:cNvSpPr>
            <p:nvPr/>
          </p:nvSpPr>
          <p:spPr bwMode="auto">
            <a:xfrm>
              <a:off x="4512" y="1824"/>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b="0"/>
                <a:t>ST0</a:t>
              </a:r>
            </a:p>
          </p:txBody>
        </p:sp>
        <p:sp>
          <p:nvSpPr>
            <p:cNvPr id="46092" name="Text Box 21"/>
            <p:cNvSpPr txBox="1">
              <a:spLocks noChangeArrowheads="1"/>
            </p:cNvSpPr>
            <p:nvPr/>
          </p:nvSpPr>
          <p:spPr bwMode="auto">
            <a:xfrm>
              <a:off x="4512" y="249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b="0"/>
                <a:t>PMST</a:t>
              </a:r>
            </a:p>
          </p:txBody>
        </p:sp>
      </p:grpSp>
      <p:sp>
        <p:nvSpPr>
          <p:cNvPr id="542742" name="AutoShape 22" descr="小棋盘"/>
          <p:cNvSpPr>
            <a:spLocks noChangeArrowheads="1"/>
          </p:cNvSpPr>
          <p:nvPr/>
        </p:nvSpPr>
        <p:spPr bwMode="auto">
          <a:xfrm>
            <a:off x="304800" y="5181600"/>
            <a:ext cx="6400800" cy="1371600"/>
          </a:xfrm>
          <a:prstGeom prst="wedgeRoundRectCallout">
            <a:avLst>
              <a:gd name="adj1" fmla="val 41023"/>
              <a:gd name="adj2" fmla="val -181250"/>
              <a:gd name="adj3" fmla="val 16667"/>
            </a:avLst>
          </a:prstGeom>
          <a:pattFill prst="smCheck">
            <a:fgClr>
              <a:srgbClr val="FFFF00"/>
            </a:fgClr>
            <a:bgClr>
              <a:srgbClr val="FFFFFF"/>
            </a:bgClr>
          </a:pattFill>
          <a:ln w="9525">
            <a:solidFill>
              <a:srgbClr val="FF0066"/>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2800">
                <a:solidFill>
                  <a:srgbClr val="CC00FF"/>
                </a:solidFill>
              </a:rPr>
              <a:t>ST0</a:t>
            </a:r>
            <a:r>
              <a:rPr lang="zh-CN" altLang="en-US" sz="2800">
                <a:solidFill>
                  <a:srgbClr val="CC00FF"/>
                </a:solidFill>
              </a:rPr>
              <a:t>和</a:t>
            </a:r>
            <a:r>
              <a:rPr lang="en-US" altLang="zh-CN" sz="2800">
                <a:solidFill>
                  <a:srgbClr val="CC00FF"/>
                </a:solidFill>
              </a:rPr>
              <a:t>ST1</a:t>
            </a:r>
            <a:r>
              <a:rPr lang="zh-CN" altLang="en-US" sz="2800">
                <a:solidFill>
                  <a:srgbClr val="CC00FF"/>
                </a:solidFill>
              </a:rPr>
              <a:t>中包含有各种工作条件和工作方式的状态；</a:t>
            </a:r>
            <a:r>
              <a:rPr lang="en-US" altLang="zh-CN" sz="2800">
                <a:solidFill>
                  <a:schemeClr val="tx2"/>
                </a:solidFill>
              </a:rPr>
              <a:t>PMST</a:t>
            </a:r>
            <a:r>
              <a:rPr lang="zh-CN" altLang="en-US" sz="2800">
                <a:solidFill>
                  <a:schemeClr val="tx2"/>
                </a:solidFill>
              </a:rPr>
              <a:t>中包含存储器的设置状态及其它控制信息</a:t>
            </a:r>
          </a:p>
        </p:txBody>
      </p:sp>
      <p:sp>
        <p:nvSpPr>
          <p:cNvPr id="542743" name="Rectangle 23" descr="小棋盘"/>
          <p:cNvSpPr>
            <a:spLocks noChangeArrowheads="1"/>
          </p:cNvSpPr>
          <p:nvPr/>
        </p:nvSpPr>
        <p:spPr bwMode="auto">
          <a:xfrm>
            <a:off x="611188" y="2781300"/>
            <a:ext cx="914400" cy="1247775"/>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a:t>
            </a:r>
          </a:p>
          <a:p>
            <a:pPr algn="ctr" eaLnBrk="1" hangingPunct="1"/>
            <a:r>
              <a:rPr lang="zh-CN" altLang="en-US" sz="3600">
                <a:solidFill>
                  <a:srgbClr val="FF0000"/>
                </a:solidFill>
                <a:latin typeface="宋体" panose="02010600030101010101" pitchFamily="2" charset="-122"/>
              </a:rPr>
              <a:t>点</a:t>
            </a:r>
          </a:p>
        </p:txBody>
      </p:sp>
      <p:sp>
        <p:nvSpPr>
          <p:cNvPr id="46088" name="Text Box 24"/>
          <p:cNvSpPr txBox="1">
            <a:spLocks noChangeArrowheads="1"/>
          </p:cNvSpPr>
          <p:nvPr/>
        </p:nvSpPr>
        <p:spPr bwMode="auto">
          <a:xfrm>
            <a:off x="6192838" y="1916113"/>
            <a:ext cx="457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9900CC"/>
                </a:solidFill>
              </a:rPr>
              <a:t>地址</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42722"/>
                                        </p:tgtEl>
                                        <p:attrNameLst>
                                          <p:attrName>style.visibility</p:attrName>
                                        </p:attrNameLst>
                                      </p:cBhvr>
                                      <p:to>
                                        <p:strVal val="visible"/>
                                      </p:to>
                                    </p:set>
                                    <p:anim calcmode="lin" valueType="num">
                                      <p:cBhvr additive="base">
                                        <p:cTn id="7" dur="500" fill="hold"/>
                                        <p:tgtEl>
                                          <p:spTgt spid="542722"/>
                                        </p:tgtEl>
                                        <p:attrNameLst>
                                          <p:attrName>ppt_x</p:attrName>
                                        </p:attrNameLst>
                                      </p:cBhvr>
                                      <p:tavLst>
                                        <p:tav tm="0">
                                          <p:val>
                                            <p:strVal val="0-#ppt_w/2"/>
                                          </p:val>
                                        </p:tav>
                                        <p:tav tm="100000">
                                          <p:val>
                                            <p:strVal val="#ppt_x"/>
                                          </p:val>
                                        </p:tav>
                                      </p:tavLst>
                                    </p:anim>
                                    <p:anim calcmode="lin" valueType="num">
                                      <p:cBhvr additive="base">
                                        <p:cTn id="8" dur="500" fill="hold"/>
                                        <p:tgtEl>
                                          <p:spTgt spid="54272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542742"/>
                                        </p:tgtEl>
                                        <p:attrNameLst>
                                          <p:attrName>style.visibility</p:attrName>
                                        </p:attrNameLst>
                                      </p:cBhvr>
                                      <p:to>
                                        <p:strVal val="visible"/>
                                      </p:to>
                                    </p:set>
                                    <p:anim calcmode="lin" valueType="num">
                                      <p:cBhvr additive="base">
                                        <p:cTn id="17" dur="500" fill="hold"/>
                                        <p:tgtEl>
                                          <p:spTgt spid="542742"/>
                                        </p:tgtEl>
                                        <p:attrNameLst>
                                          <p:attrName>ppt_x</p:attrName>
                                        </p:attrNameLst>
                                      </p:cBhvr>
                                      <p:tavLst>
                                        <p:tav tm="0">
                                          <p:val>
                                            <p:strVal val="1+#ppt_w/2"/>
                                          </p:val>
                                        </p:tav>
                                        <p:tav tm="100000">
                                          <p:val>
                                            <p:strVal val="#ppt_x"/>
                                          </p:val>
                                        </p:tav>
                                      </p:tavLst>
                                    </p:anim>
                                    <p:anim calcmode="lin" valueType="num">
                                      <p:cBhvr additive="base">
                                        <p:cTn id="18" dur="500" fill="hold"/>
                                        <p:tgtEl>
                                          <p:spTgt spid="542742"/>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12" presetClass="entr" presetSubtype="4" fill="hold" grpId="0" nodeType="afterEffect">
                                  <p:stCondLst>
                                    <p:cond delay="0"/>
                                  </p:stCondLst>
                                  <p:childTnLst>
                                    <p:set>
                                      <p:cBhvr>
                                        <p:cTn id="21" dur="1" fill="hold">
                                          <p:stCondLst>
                                            <p:cond delay="0"/>
                                          </p:stCondLst>
                                        </p:cTn>
                                        <p:tgtEl>
                                          <p:spTgt spid="542743">
                                            <p:txEl>
                                              <p:charRg st="4294967295" end="4294967295"/>
                                            </p:txEl>
                                          </p:spTgt>
                                        </p:tgtEl>
                                        <p:attrNameLst>
                                          <p:attrName>style.visibility</p:attrName>
                                        </p:attrNameLst>
                                      </p:cBhvr>
                                      <p:to>
                                        <p:strVal val="visible"/>
                                      </p:to>
                                    </p:set>
                                    <p:animEffect transition="in" filter="slide(fromBottom)">
                                      <p:cBhvr>
                                        <p:cTn id="22" dur="500"/>
                                        <p:tgtEl>
                                          <p:spTgt spid="542743">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2" grpId="0" autoUpdateAnimBg="0"/>
      <p:bldP spid="542742" grpId="0" animBg="1" autoUpdateAnimBg="0"/>
      <p:bldP spid="542743"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3ABC6758-4D77-44A7-8456-B3004AD176BD}" type="slidenum">
              <a:rPr lang="en-US" altLang="zh-CN" sz="1400" b="0"/>
              <a:pPr eaLnBrk="1" hangingPunct="1"/>
              <a:t>34</a:t>
            </a:fld>
            <a:endParaRPr lang="en-US" altLang="zh-CN" sz="1400" b="0"/>
          </a:p>
        </p:txBody>
      </p:sp>
      <p:grpSp>
        <p:nvGrpSpPr>
          <p:cNvPr id="47107" name="Group 24"/>
          <p:cNvGrpSpPr>
            <a:grpSpLocks/>
          </p:cNvGrpSpPr>
          <p:nvPr/>
        </p:nvGrpSpPr>
        <p:grpSpPr bwMode="auto">
          <a:xfrm>
            <a:off x="1524000" y="2438400"/>
            <a:ext cx="5486400" cy="863600"/>
            <a:chOff x="960" y="1536"/>
            <a:chExt cx="3456" cy="544"/>
          </a:xfrm>
        </p:grpSpPr>
        <p:grpSp>
          <p:nvGrpSpPr>
            <p:cNvPr id="47111" name="Group 3"/>
            <p:cNvGrpSpPr>
              <a:grpSpLocks/>
            </p:cNvGrpSpPr>
            <p:nvPr/>
          </p:nvGrpSpPr>
          <p:grpSpPr bwMode="auto">
            <a:xfrm>
              <a:off x="960" y="1536"/>
              <a:ext cx="768" cy="544"/>
              <a:chOff x="576" y="2112"/>
              <a:chExt cx="768" cy="544"/>
            </a:xfrm>
          </p:grpSpPr>
          <p:sp>
            <p:nvSpPr>
              <p:cNvPr id="47127" name="Text Box 4"/>
              <p:cNvSpPr txBox="1">
                <a:spLocks noChangeArrowheads="1"/>
              </p:cNvSpPr>
              <p:nvPr/>
            </p:nvSpPr>
            <p:spPr bwMode="auto">
              <a:xfrm>
                <a:off x="576" y="2400"/>
                <a:ext cx="768"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ARP</a:t>
                </a:r>
              </a:p>
            </p:txBody>
          </p:sp>
          <p:sp>
            <p:nvSpPr>
              <p:cNvPr id="47128" name="Text Box 5"/>
              <p:cNvSpPr txBox="1">
                <a:spLocks noChangeArrowheads="1"/>
              </p:cNvSpPr>
              <p:nvPr/>
            </p:nvSpPr>
            <p:spPr bwMode="auto">
              <a:xfrm>
                <a:off x="624" y="2112"/>
                <a:ext cx="6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15</a:t>
                </a:r>
                <a:r>
                  <a:rPr lang="zh-CN" altLang="en-US">
                    <a:latin typeface="宋体" panose="02010600030101010101" pitchFamily="2" charset="-122"/>
                  </a:rPr>
                  <a:t>～</a:t>
                </a:r>
                <a:r>
                  <a:rPr lang="zh-CN" altLang="en-US"/>
                  <a:t> </a:t>
                </a:r>
                <a:r>
                  <a:rPr lang="en-US" altLang="zh-CN"/>
                  <a:t>13</a:t>
                </a:r>
              </a:p>
            </p:txBody>
          </p:sp>
        </p:grpSp>
        <p:grpSp>
          <p:nvGrpSpPr>
            <p:cNvPr id="47112" name="Group 6"/>
            <p:cNvGrpSpPr>
              <a:grpSpLocks/>
            </p:cNvGrpSpPr>
            <p:nvPr/>
          </p:nvGrpSpPr>
          <p:grpSpPr bwMode="auto">
            <a:xfrm>
              <a:off x="1728" y="1536"/>
              <a:ext cx="480" cy="544"/>
              <a:chOff x="1344" y="2112"/>
              <a:chExt cx="480" cy="544"/>
            </a:xfrm>
          </p:grpSpPr>
          <p:sp>
            <p:nvSpPr>
              <p:cNvPr id="47125" name="Text Box 7"/>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TC</a:t>
                </a:r>
              </a:p>
            </p:txBody>
          </p:sp>
          <p:sp>
            <p:nvSpPr>
              <p:cNvPr id="47126" name="Text Box 8"/>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12</a:t>
                </a:r>
              </a:p>
            </p:txBody>
          </p:sp>
        </p:grpSp>
        <p:grpSp>
          <p:nvGrpSpPr>
            <p:cNvPr id="47113" name="Group 9"/>
            <p:cNvGrpSpPr>
              <a:grpSpLocks/>
            </p:cNvGrpSpPr>
            <p:nvPr/>
          </p:nvGrpSpPr>
          <p:grpSpPr bwMode="auto">
            <a:xfrm>
              <a:off x="2208" y="1536"/>
              <a:ext cx="480" cy="544"/>
              <a:chOff x="1344" y="2112"/>
              <a:chExt cx="480" cy="544"/>
            </a:xfrm>
          </p:grpSpPr>
          <p:sp>
            <p:nvSpPr>
              <p:cNvPr id="47123" name="Text Box 10"/>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a:t>
                </a:r>
              </a:p>
            </p:txBody>
          </p:sp>
          <p:sp>
            <p:nvSpPr>
              <p:cNvPr id="47124" name="Text Box 11"/>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11</a:t>
                </a:r>
              </a:p>
            </p:txBody>
          </p:sp>
        </p:grpSp>
        <p:grpSp>
          <p:nvGrpSpPr>
            <p:cNvPr id="47114" name="Group 12"/>
            <p:cNvGrpSpPr>
              <a:grpSpLocks/>
            </p:cNvGrpSpPr>
            <p:nvPr/>
          </p:nvGrpSpPr>
          <p:grpSpPr bwMode="auto">
            <a:xfrm>
              <a:off x="2688" y="1536"/>
              <a:ext cx="480" cy="544"/>
              <a:chOff x="1344" y="2112"/>
              <a:chExt cx="480" cy="544"/>
            </a:xfrm>
          </p:grpSpPr>
          <p:sp>
            <p:nvSpPr>
              <p:cNvPr id="47121" name="Text Box 13"/>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OVA</a:t>
                </a:r>
              </a:p>
            </p:txBody>
          </p:sp>
          <p:sp>
            <p:nvSpPr>
              <p:cNvPr id="47122" name="Text Box 14"/>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10</a:t>
                </a:r>
              </a:p>
            </p:txBody>
          </p:sp>
        </p:grpSp>
        <p:grpSp>
          <p:nvGrpSpPr>
            <p:cNvPr id="47115" name="Group 15"/>
            <p:cNvGrpSpPr>
              <a:grpSpLocks/>
            </p:cNvGrpSpPr>
            <p:nvPr/>
          </p:nvGrpSpPr>
          <p:grpSpPr bwMode="auto">
            <a:xfrm>
              <a:off x="3168" y="1536"/>
              <a:ext cx="480" cy="544"/>
              <a:chOff x="1344" y="2112"/>
              <a:chExt cx="480" cy="544"/>
            </a:xfrm>
          </p:grpSpPr>
          <p:sp>
            <p:nvSpPr>
              <p:cNvPr id="47119" name="Text Box 16"/>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OVB</a:t>
                </a:r>
              </a:p>
            </p:txBody>
          </p:sp>
          <p:sp>
            <p:nvSpPr>
              <p:cNvPr id="47120" name="Text Box 17"/>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9</a:t>
                </a:r>
              </a:p>
            </p:txBody>
          </p:sp>
        </p:grpSp>
        <p:grpSp>
          <p:nvGrpSpPr>
            <p:cNvPr id="47116" name="Group 18"/>
            <p:cNvGrpSpPr>
              <a:grpSpLocks/>
            </p:cNvGrpSpPr>
            <p:nvPr/>
          </p:nvGrpSpPr>
          <p:grpSpPr bwMode="auto">
            <a:xfrm>
              <a:off x="3648" y="1536"/>
              <a:ext cx="768" cy="544"/>
              <a:chOff x="576" y="2112"/>
              <a:chExt cx="768" cy="544"/>
            </a:xfrm>
          </p:grpSpPr>
          <p:sp>
            <p:nvSpPr>
              <p:cNvPr id="47117" name="Text Box 19"/>
              <p:cNvSpPr txBox="1">
                <a:spLocks noChangeArrowheads="1"/>
              </p:cNvSpPr>
              <p:nvPr/>
            </p:nvSpPr>
            <p:spPr bwMode="auto">
              <a:xfrm>
                <a:off x="576" y="2400"/>
                <a:ext cx="768"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DP</a:t>
                </a:r>
              </a:p>
            </p:txBody>
          </p:sp>
          <p:sp>
            <p:nvSpPr>
              <p:cNvPr id="47118" name="Text Box 20"/>
              <p:cNvSpPr txBox="1">
                <a:spLocks noChangeArrowheads="1"/>
              </p:cNvSpPr>
              <p:nvPr/>
            </p:nvSpPr>
            <p:spPr bwMode="auto">
              <a:xfrm>
                <a:off x="624" y="2112"/>
                <a:ext cx="6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a:t>
                </a:r>
                <a:r>
                  <a:rPr lang="zh-CN" altLang="en-US">
                    <a:latin typeface="宋体" panose="02010600030101010101" pitchFamily="2" charset="-122"/>
                  </a:rPr>
                  <a:t>～</a:t>
                </a:r>
                <a:r>
                  <a:rPr lang="zh-CN" altLang="en-US"/>
                  <a:t> </a:t>
                </a:r>
                <a:r>
                  <a:rPr lang="en-US" altLang="zh-CN"/>
                  <a:t>0</a:t>
                </a:r>
              </a:p>
            </p:txBody>
          </p:sp>
        </p:grpSp>
      </p:grpSp>
      <p:sp>
        <p:nvSpPr>
          <p:cNvPr id="543765" name="Rectangle 21"/>
          <p:cNvSpPr>
            <a:spLocks noChangeArrowheads="1"/>
          </p:cNvSpPr>
          <p:nvPr/>
        </p:nvSpPr>
        <p:spPr bwMode="auto">
          <a:xfrm>
            <a:off x="1676400" y="1371600"/>
            <a:ext cx="5991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00"/>
                </a:solidFill>
                <a:latin typeface="宋体" panose="02010600030101010101" pitchFamily="2" charset="-122"/>
              </a:rPr>
              <a:t>（</a:t>
            </a:r>
            <a:r>
              <a:rPr lang="en-US" altLang="zh-CN" sz="3600">
                <a:solidFill>
                  <a:srgbClr val="FF0000"/>
                </a:solidFill>
                <a:latin typeface="宋体" panose="02010600030101010101" pitchFamily="2" charset="-122"/>
              </a:rPr>
              <a:t>1</a:t>
            </a:r>
            <a:r>
              <a:rPr lang="zh-CN" altLang="en-US" sz="3600">
                <a:solidFill>
                  <a:srgbClr val="FF0000"/>
                </a:solidFill>
                <a:latin typeface="宋体" panose="02010600030101010101" pitchFamily="2" charset="-122"/>
              </a:rPr>
              <a:t>）状态寄存器</a:t>
            </a:r>
            <a:r>
              <a:rPr lang="en-US" altLang="zh-CN" sz="3600">
                <a:solidFill>
                  <a:srgbClr val="FF0000"/>
                </a:solidFill>
                <a:latin typeface="宋体" panose="02010600030101010101" pitchFamily="2" charset="-122"/>
              </a:rPr>
              <a:t>0</a:t>
            </a:r>
            <a:r>
              <a:rPr lang="zh-CN" altLang="en-US" sz="3600">
                <a:solidFill>
                  <a:srgbClr val="FF0000"/>
                </a:solidFill>
                <a:latin typeface="宋体" panose="02010600030101010101" pitchFamily="2" charset="-122"/>
              </a:rPr>
              <a:t>（</a:t>
            </a:r>
            <a:r>
              <a:rPr lang="en-US" altLang="zh-CN" sz="3600">
                <a:solidFill>
                  <a:srgbClr val="FF0000"/>
                </a:solidFill>
                <a:latin typeface="宋体" panose="02010600030101010101" pitchFamily="2" charset="-122"/>
              </a:rPr>
              <a:t>ST0</a:t>
            </a:r>
            <a:r>
              <a:rPr lang="zh-CN" altLang="en-US" sz="3600">
                <a:solidFill>
                  <a:srgbClr val="FF0000"/>
                </a:solidFill>
                <a:latin typeface="宋体" panose="02010600030101010101" pitchFamily="2" charset="-122"/>
              </a:rPr>
              <a:t>）</a:t>
            </a:r>
            <a:r>
              <a:rPr lang="zh-CN" altLang="en-US" sz="3600" b="0">
                <a:solidFill>
                  <a:srgbClr val="FF0000"/>
                </a:solidFill>
              </a:rPr>
              <a:t> </a:t>
            </a:r>
          </a:p>
        </p:txBody>
      </p:sp>
      <p:sp>
        <p:nvSpPr>
          <p:cNvPr id="543766" name="AutoShape 22" descr="小棋盘"/>
          <p:cNvSpPr>
            <a:spLocks noChangeArrowheads="1"/>
          </p:cNvSpPr>
          <p:nvPr/>
        </p:nvSpPr>
        <p:spPr bwMode="auto">
          <a:xfrm>
            <a:off x="152400" y="4038600"/>
            <a:ext cx="2763838" cy="2054225"/>
          </a:xfrm>
          <a:prstGeom prst="wedgeRoundRectCallout">
            <a:avLst>
              <a:gd name="adj1" fmla="val 22718"/>
              <a:gd name="adj2" fmla="val -82537"/>
              <a:gd name="adj3" fmla="val 16667"/>
            </a:avLst>
          </a:prstGeom>
          <a:pattFill prst="smCheck">
            <a:fgClr>
              <a:srgbClr val="FFFF00"/>
            </a:fgClr>
            <a:bgClr>
              <a:srgbClr val="FFFFFF"/>
            </a:bgClr>
          </a:pattFill>
          <a:ln w="9525">
            <a:solidFill>
              <a:srgbClr val="FF0066"/>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en-US" altLang="zh-CN" sz="2400">
                <a:solidFill>
                  <a:schemeClr val="tx2"/>
                </a:solidFill>
              </a:rPr>
              <a:t>ARP</a:t>
            </a:r>
            <a:r>
              <a:rPr lang="zh-CN" altLang="en-US" sz="2400">
                <a:solidFill>
                  <a:schemeClr val="tx2"/>
                </a:solidFill>
              </a:rPr>
              <a:t>：辅助寄存器指针。</a:t>
            </a:r>
            <a:r>
              <a:rPr lang="zh-CN" altLang="en-US" sz="2400"/>
              <a:t>在间接寻址单操作数时，用来选择辅助寄存器。</a:t>
            </a:r>
          </a:p>
        </p:txBody>
      </p:sp>
      <p:sp>
        <p:nvSpPr>
          <p:cNvPr id="543767" name="AutoShape 23" descr="小棋盘"/>
          <p:cNvSpPr>
            <a:spLocks noChangeArrowheads="1"/>
          </p:cNvSpPr>
          <p:nvPr/>
        </p:nvSpPr>
        <p:spPr bwMode="auto">
          <a:xfrm>
            <a:off x="5562600" y="3886200"/>
            <a:ext cx="3124200" cy="2743200"/>
          </a:xfrm>
          <a:prstGeom prst="wedgeRoundRectCallout">
            <a:avLst>
              <a:gd name="adj1" fmla="val -126981"/>
              <a:gd name="adj2" fmla="val -68519"/>
              <a:gd name="adj3" fmla="val 16667"/>
            </a:avLst>
          </a:prstGeom>
          <a:pattFill prst="smCheck">
            <a:fgClr>
              <a:srgbClr val="FFFF00"/>
            </a:fgClr>
            <a:bgClr>
              <a:srgbClr val="FFFFFF"/>
            </a:bgClr>
          </a:pattFill>
          <a:ln w="9525">
            <a:solidFill>
              <a:srgbClr val="FF0066"/>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tx2"/>
                </a:solidFill>
              </a:rPr>
              <a:t>测试</a:t>
            </a:r>
            <a:r>
              <a:rPr lang="en-US" altLang="zh-CN" sz="2400">
                <a:solidFill>
                  <a:schemeClr val="tx2"/>
                </a:solidFill>
              </a:rPr>
              <a:t>/</a:t>
            </a:r>
            <a:r>
              <a:rPr lang="zh-CN" altLang="en-US" sz="2400">
                <a:solidFill>
                  <a:schemeClr val="tx2"/>
                </a:solidFill>
              </a:rPr>
              <a:t>控制标志位。</a:t>
            </a:r>
            <a:r>
              <a:rPr lang="zh-CN" altLang="en-US" sz="2400">
                <a:solidFill>
                  <a:srgbClr val="CC00FF"/>
                </a:solidFill>
              </a:rPr>
              <a:t>保存</a:t>
            </a:r>
            <a:r>
              <a:rPr lang="en-US" altLang="zh-CN" sz="2400">
                <a:solidFill>
                  <a:srgbClr val="CC00FF"/>
                </a:solidFill>
              </a:rPr>
              <a:t>ALU</a:t>
            </a:r>
            <a:r>
              <a:rPr lang="zh-CN" altLang="en-US" sz="2400">
                <a:solidFill>
                  <a:srgbClr val="CC00FF"/>
                </a:solidFill>
              </a:rPr>
              <a:t>测试位操作的结果</a:t>
            </a:r>
            <a:r>
              <a:rPr lang="zh-CN" altLang="en-US" sz="2400"/>
              <a:t>。</a:t>
            </a:r>
            <a:r>
              <a:rPr lang="zh-CN" altLang="en-US" sz="2400">
                <a:solidFill>
                  <a:srgbClr val="009900"/>
                </a:solidFill>
              </a:rPr>
              <a:t>可以由</a:t>
            </a:r>
            <a:r>
              <a:rPr lang="en-US" altLang="zh-CN" sz="2400">
                <a:solidFill>
                  <a:srgbClr val="009900"/>
                </a:solidFill>
              </a:rPr>
              <a:t>TC</a:t>
            </a:r>
            <a:r>
              <a:rPr lang="zh-CN" altLang="en-US" sz="2400">
                <a:solidFill>
                  <a:srgbClr val="009900"/>
                </a:solidFill>
              </a:rPr>
              <a:t>的状态决定条件分支转移指令、子程序调用以及返回指令是否执行。</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43765"/>
                                        </p:tgtEl>
                                        <p:attrNameLst>
                                          <p:attrName>style.visibility</p:attrName>
                                        </p:attrNameLst>
                                      </p:cBhvr>
                                      <p:to>
                                        <p:strVal val="visible"/>
                                      </p:to>
                                    </p:set>
                                    <p:animEffect transition="in" filter="blinds(horizontal)">
                                      <p:cBhvr>
                                        <p:cTn id="7" dur="500"/>
                                        <p:tgtEl>
                                          <p:spTgt spid="543765"/>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543766"/>
                                        </p:tgtEl>
                                        <p:attrNameLst>
                                          <p:attrName>style.visibility</p:attrName>
                                        </p:attrNameLst>
                                      </p:cBhvr>
                                      <p:to>
                                        <p:strVal val="visible"/>
                                      </p:to>
                                    </p:set>
                                    <p:anim calcmode="lin" valueType="num">
                                      <p:cBhvr additive="base">
                                        <p:cTn id="11" dur="500" fill="hold"/>
                                        <p:tgtEl>
                                          <p:spTgt spid="543766"/>
                                        </p:tgtEl>
                                        <p:attrNameLst>
                                          <p:attrName>ppt_x</p:attrName>
                                        </p:attrNameLst>
                                      </p:cBhvr>
                                      <p:tavLst>
                                        <p:tav tm="0">
                                          <p:val>
                                            <p:strVal val="0-#ppt_w/2"/>
                                          </p:val>
                                        </p:tav>
                                        <p:tav tm="100000">
                                          <p:val>
                                            <p:strVal val="#ppt_x"/>
                                          </p:val>
                                        </p:tav>
                                      </p:tavLst>
                                    </p:anim>
                                    <p:anim calcmode="lin" valueType="num">
                                      <p:cBhvr additive="base">
                                        <p:cTn id="12" dur="500" fill="hold"/>
                                        <p:tgtEl>
                                          <p:spTgt spid="543766"/>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543767"/>
                                        </p:tgtEl>
                                        <p:attrNameLst>
                                          <p:attrName>style.visibility</p:attrName>
                                        </p:attrNameLst>
                                      </p:cBhvr>
                                      <p:to>
                                        <p:strVal val="visible"/>
                                      </p:to>
                                    </p:set>
                                    <p:anim calcmode="lin" valueType="num">
                                      <p:cBhvr additive="base">
                                        <p:cTn id="16" dur="500" fill="hold"/>
                                        <p:tgtEl>
                                          <p:spTgt spid="543767"/>
                                        </p:tgtEl>
                                        <p:attrNameLst>
                                          <p:attrName>ppt_x</p:attrName>
                                        </p:attrNameLst>
                                      </p:cBhvr>
                                      <p:tavLst>
                                        <p:tav tm="0">
                                          <p:val>
                                            <p:strVal val="1+#ppt_w/2"/>
                                          </p:val>
                                        </p:tav>
                                        <p:tav tm="100000">
                                          <p:val>
                                            <p:strVal val="#ppt_x"/>
                                          </p:val>
                                        </p:tav>
                                      </p:tavLst>
                                    </p:anim>
                                    <p:anim calcmode="lin" valueType="num">
                                      <p:cBhvr additive="base">
                                        <p:cTn id="17" dur="500" fill="hold"/>
                                        <p:tgtEl>
                                          <p:spTgt spid="5437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65" grpId="0" autoUpdateAnimBg="0"/>
      <p:bldP spid="543766" grpId="0" animBg="1" autoUpdateAnimBg="0"/>
      <p:bldP spid="543767"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B362539E-7DAE-4F30-B364-4F241F327C3C}" type="slidenum">
              <a:rPr lang="en-US" altLang="zh-CN" sz="1400" b="0"/>
              <a:pPr eaLnBrk="1" hangingPunct="1"/>
              <a:t>35</a:t>
            </a:fld>
            <a:endParaRPr lang="en-US" altLang="zh-CN" sz="1400" b="0"/>
          </a:p>
        </p:txBody>
      </p:sp>
      <p:grpSp>
        <p:nvGrpSpPr>
          <p:cNvPr id="2" name="Group 2"/>
          <p:cNvGrpSpPr>
            <a:grpSpLocks/>
          </p:cNvGrpSpPr>
          <p:nvPr/>
        </p:nvGrpSpPr>
        <p:grpSpPr bwMode="auto">
          <a:xfrm>
            <a:off x="1600200" y="1600200"/>
            <a:ext cx="5486400" cy="863600"/>
            <a:chOff x="576" y="2112"/>
            <a:chExt cx="3456" cy="544"/>
          </a:xfrm>
        </p:grpSpPr>
        <p:grpSp>
          <p:nvGrpSpPr>
            <p:cNvPr id="48136" name="Group 3"/>
            <p:cNvGrpSpPr>
              <a:grpSpLocks/>
            </p:cNvGrpSpPr>
            <p:nvPr/>
          </p:nvGrpSpPr>
          <p:grpSpPr bwMode="auto">
            <a:xfrm>
              <a:off x="576" y="2112"/>
              <a:ext cx="768" cy="544"/>
              <a:chOff x="576" y="2112"/>
              <a:chExt cx="768" cy="544"/>
            </a:xfrm>
          </p:grpSpPr>
          <p:sp>
            <p:nvSpPr>
              <p:cNvPr id="48152" name="Text Box 4"/>
              <p:cNvSpPr txBox="1">
                <a:spLocks noChangeArrowheads="1"/>
              </p:cNvSpPr>
              <p:nvPr/>
            </p:nvSpPr>
            <p:spPr bwMode="auto">
              <a:xfrm>
                <a:off x="576" y="2400"/>
                <a:ext cx="768"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ARP</a:t>
                </a:r>
              </a:p>
            </p:txBody>
          </p:sp>
          <p:sp>
            <p:nvSpPr>
              <p:cNvPr id="48153" name="Text Box 5"/>
              <p:cNvSpPr txBox="1">
                <a:spLocks noChangeArrowheads="1"/>
              </p:cNvSpPr>
              <p:nvPr/>
            </p:nvSpPr>
            <p:spPr bwMode="auto">
              <a:xfrm>
                <a:off x="624" y="2112"/>
                <a:ext cx="6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15</a:t>
                </a:r>
                <a:r>
                  <a:rPr lang="zh-CN" altLang="en-US">
                    <a:latin typeface="宋体" panose="02010600030101010101" pitchFamily="2" charset="-122"/>
                  </a:rPr>
                  <a:t>～</a:t>
                </a:r>
                <a:r>
                  <a:rPr lang="zh-CN" altLang="en-US"/>
                  <a:t> </a:t>
                </a:r>
                <a:r>
                  <a:rPr lang="en-US" altLang="zh-CN"/>
                  <a:t>13</a:t>
                </a:r>
              </a:p>
            </p:txBody>
          </p:sp>
        </p:grpSp>
        <p:grpSp>
          <p:nvGrpSpPr>
            <p:cNvPr id="48137" name="Group 6"/>
            <p:cNvGrpSpPr>
              <a:grpSpLocks/>
            </p:cNvGrpSpPr>
            <p:nvPr/>
          </p:nvGrpSpPr>
          <p:grpSpPr bwMode="auto">
            <a:xfrm>
              <a:off x="1344" y="2112"/>
              <a:ext cx="480" cy="544"/>
              <a:chOff x="1344" y="2112"/>
              <a:chExt cx="480" cy="544"/>
            </a:xfrm>
          </p:grpSpPr>
          <p:sp>
            <p:nvSpPr>
              <p:cNvPr id="48150" name="Text Box 7"/>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TC</a:t>
                </a:r>
              </a:p>
            </p:txBody>
          </p:sp>
          <p:sp>
            <p:nvSpPr>
              <p:cNvPr id="48151" name="Text Box 8"/>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12</a:t>
                </a:r>
              </a:p>
            </p:txBody>
          </p:sp>
        </p:grpSp>
        <p:grpSp>
          <p:nvGrpSpPr>
            <p:cNvPr id="48138" name="Group 9"/>
            <p:cNvGrpSpPr>
              <a:grpSpLocks/>
            </p:cNvGrpSpPr>
            <p:nvPr/>
          </p:nvGrpSpPr>
          <p:grpSpPr bwMode="auto">
            <a:xfrm>
              <a:off x="1824" y="2112"/>
              <a:ext cx="480" cy="544"/>
              <a:chOff x="1344" y="2112"/>
              <a:chExt cx="480" cy="544"/>
            </a:xfrm>
          </p:grpSpPr>
          <p:sp>
            <p:nvSpPr>
              <p:cNvPr id="48148" name="Text Box 10"/>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a:t>
                </a:r>
              </a:p>
            </p:txBody>
          </p:sp>
          <p:sp>
            <p:nvSpPr>
              <p:cNvPr id="48149" name="Text Box 11"/>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11</a:t>
                </a:r>
              </a:p>
            </p:txBody>
          </p:sp>
        </p:grpSp>
        <p:grpSp>
          <p:nvGrpSpPr>
            <p:cNvPr id="48139" name="Group 12"/>
            <p:cNvGrpSpPr>
              <a:grpSpLocks/>
            </p:cNvGrpSpPr>
            <p:nvPr/>
          </p:nvGrpSpPr>
          <p:grpSpPr bwMode="auto">
            <a:xfrm>
              <a:off x="2304" y="2112"/>
              <a:ext cx="480" cy="544"/>
              <a:chOff x="1344" y="2112"/>
              <a:chExt cx="480" cy="544"/>
            </a:xfrm>
          </p:grpSpPr>
          <p:sp>
            <p:nvSpPr>
              <p:cNvPr id="48146" name="Text Box 13"/>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OVA</a:t>
                </a:r>
              </a:p>
            </p:txBody>
          </p:sp>
          <p:sp>
            <p:nvSpPr>
              <p:cNvPr id="48147" name="Text Box 14"/>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10</a:t>
                </a:r>
              </a:p>
            </p:txBody>
          </p:sp>
        </p:grpSp>
        <p:grpSp>
          <p:nvGrpSpPr>
            <p:cNvPr id="48140" name="Group 15"/>
            <p:cNvGrpSpPr>
              <a:grpSpLocks/>
            </p:cNvGrpSpPr>
            <p:nvPr/>
          </p:nvGrpSpPr>
          <p:grpSpPr bwMode="auto">
            <a:xfrm>
              <a:off x="2784" y="2112"/>
              <a:ext cx="480" cy="544"/>
              <a:chOff x="1344" y="2112"/>
              <a:chExt cx="480" cy="544"/>
            </a:xfrm>
          </p:grpSpPr>
          <p:sp>
            <p:nvSpPr>
              <p:cNvPr id="48144" name="Text Box 16"/>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OVB</a:t>
                </a:r>
              </a:p>
            </p:txBody>
          </p:sp>
          <p:sp>
            <p:nvSpPr>
              <p:cNvPr id="48145" name="Text Box 17"/>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9</a:t>
                </a:r>
              </a:p>
            </p:txBody>
          </p:sp>
        </p:grpSp>
        <p:grpSp>
          <p:nvGrpSpPr>
            <p:cNvPr id="48141" name="Group 18"/>
            <p:cNvGrpSpPr>
              <a:grpSpLocks/>
            </p:cNvGrpSpPr>
            <p:nvPr/>
          </p:nvGrpSpPr>
          <p:grpSpPr bwMode="auto">
            <a:xfrm>
              <a:off x="3264" y="2112"/>
              <a:ext cx="768" cy="544"/>
              <a:chOff x="576" y="2112"/>
              <a:chExt cx="768" cy="544"/>
            </a:xfrm>
          </p:grpSpPr>
          <p:sp>
            <p:nvSpPr>
              <p:cNvPr id="48142" name="Text Box 19"/>
              <p:cNvSpPr txBox="1">
                <a:spLocks noChangeArrowheads="1"/>
              </p:cNvSpPr>
              <p:nvPr/>
            </p:nvSpPr>
            <p:spPr bwMode="auto">
              <a:xfrm>
                <a:off x="576" y="2400"/>
                <a:ext cx="768"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DP</a:t>
                </a:r>
              </a:p>
            </p:txBody>
          </p:sp>
          <p:sp>
            <p:nvSpPr>
              <p:cNvPr id="48143" name="Text Box 20"/>
              <p:cNvSpPr txBox="1">
                <a:spLocks noChangeArrowheads="1"/>
              </p:cNvSpPr>
              <p:nvPr/>
            </p:nvSpPr>
            <p:spPr bwMode="auto">
              <a:xfrm>
                <a:off x="624" y="2112"/>
                <a:ext cx="6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a:t>
                </a:r>
                <a:r>
                  <a:rPr lang="zh-CN" altLang="en-US">
                    <a:latin typeface="宋体" panose="02010600030101010101" pitchFamily="2" charset="-122"/>
                  </a:rPr>
                  <a:t>～</a:t>
                </a:r>
                <a:r>
                  <a:rPr lang="zh-CN" altLang="en-US"/>
                  <a:t> </a:t>
                </a:r>
                <a:r>
                  <a:rPr lang="en-US" altLang="zh-CN"/>
                  <a:t>0</a:t>
                </a:r>
              </a:p>
            </p:txBody>
          </p:sp>
        </p:grpSp>
      </p:grpSp>
      <p:sp>
        <p:nvSpPr>
          <p:cNvPr id="544789" name="AutoShape 21" descr="小棋盘"/>
          <p:cNvSpPr>
            <a:spLocks noChangeArrowheads="1"/>
          </p:cNvSpPr>
          <p:nvPr/>
        </p:nvSpPr>
        <p:spPr bwMode="auto">
          <a:xfrm>
            <a:off x="250825" y="3810000"/>
            <a:ext cx="1728788" cy="2498725"/>
          </a:xfrm>
          <a:prstGeom prst="wedgeRoundRectCallout">
            <a:avLst>
              <a:gd name="adj1" fmla="val 165519"/>
              <a:gd name="adj2" fmla="val -99366"/>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tx2"/>
                </a:solidFill>
              </a:rPr>
              <a:t>进位位。执行加法产生进位置</a:t>
            </a:r>
            <a:r>
              <a:rPr lang="en-US" altLang="zh-CN" sz="2400">
                <a:solidFill>
                  <a:schemeClr val="tx2"/>
                </a:solidFill>
              </a:rPr>
              <a:t>1</a:t>
            </a:r>
            <a:r>
              <a:rPr lang="zh-CN" altLang="en-US" sz="2400">
                <a:solidFill>
                  <a:schemeClr val="tx2"/>
                </a:solidFill>
              </a:rPr>
              <a:t>，减法产生借位则清</a:t>
            </a:r>
            <a:r>
              <a:rPr lang="en-US" altLang="zh-CN" sz="2400">
                <a:solidFill>
                  <a:schemeClr val="tx2"/>
                </a:solidFill>
              </a:rPr>
              <a:t>0</a:t>
            </a:r>
            <a:r>
              <a:rPr lang="zh-CN" altLang="en-US" sz="2400">
                <a:solidFill>
                  <a:schemeClr val="tx2"/>
                </a:solidFill>
              </a:rPr>
              <a:t>。</a:t>
            </a:r>
            <a:endParaRPr lang="zh-CN" altLang="en-US" sz="2400">
              <a:solidFill>
                <a:srgbClr val="009900"/>
              </a:solidFill>
            </a:endParaRPr>
          </a:p>
        </p:txBody>
      </p:sp>
      <p:sp>
        <p:nvSpPr>
          <p:cNvPr id="544790" name="AutoShape 22" descr="小棋盘"/>
          <p:cNvSpPr>
            <a:spLocks noChangeArrowheads="1"/>
          </p:cNvSpPr>
          <p:nvPr/>
        </p:nvSpPr>
        <p:spPr bwMode="auto">
          <a:xfrm>
            <a:off x="1979613" y="5445125"/>
            <a:ext cx="2971800" cy="533400"/>
          </a:xfrm>
          <a:prstGeom prst="wedgeRoundRectCallout">
            <a:avLst>
              <a:gd name="adj1" fmla="val 41134"/>
              <a:gd name="adj2" fmla="val -575296"/>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endParaRPr lang="zh-CN" altLang="zh-CN" sz="2800">
              <a:solidFill>
                <a:schemeClr val="bg1"/>
              </a:solidFill>
            </a:endParaRPr>
          </a:p>
        </p:txBody>
      </p:sp>
      <p:sp>
        <p:nvSpPr>
          <p:cNvPr id="544791" name="AutoShape 23" descr="小棋盘"/>
          <p:cNvSpPr>
            <a:spLocks noChangeArrowheads="1"/>
          </p:cNvSpPr>
          <p:nvPr/>
        </p:nvSpPr>
        <p:spPr bwMode="auto">
          <a:xfrm>
            <a:off x="5486400" y="3352800"/>
            <a:ext cx="3276600" cy="2743200"/>
          </a:xfrm>
          <a:prstGeom prst="wedgeRoundRectCallout">
            <a:avLst>
              <a:gd name="adj1" fmla="val -22093"/>
              <a:gd name="adj2" fmla="val -78588"/>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FF00FF"/>
                </a:solidFill>
              </a:rPr>
              <a:t>数据存储器页指针。这</a:t>
            </a:r>
            <a:r>
              <a:rPr lang="en-US" altLang="zh-CN" sz="2400">
                <a:solidFill>
                  <a:srgbClr val="FF00FF"/>
                </a:solidFill>
              </a:rPr>
              <a:t>9</a:t>
            </a:r>
            <a:r>
              <a:rPr lang="zh-CN" altLang="en-US" sz="2400">
                <a:solidFill>
                  <a:srgbClr val="FF00FF"/>
                </a:solidFill>
              </a:rPr>
              <a:t>位字段与指令字中的低</a:t>
            </a:r>
            <a:r>
              <a:rPr lang="en-US" altLang="zh-CN" sz="2400">
                <a:solidFill>
                  <a:srgbClr val="FF00FF"/>
                </a:solidFill>
              </a:rPr>
              <a:t>7</a:t>
            </a:r>
            <a:r>
              <a:rPr lang="zh-CN" altLang="en-US" sz="2400">
                <a:solidFill>
                  <a:srgbClr val="FF00FF"/>
                </a:solidFill>
              </a:rPr>
              <a:t>位结合在一起，形成一个</a:t>
            </a:r>
            <a:r>
              <a:rPr lang="en-US" altLang="zh-CN" sz="2400">
                <a:solidFill>
                  <a:srgbClr val="FF00FF"/>
                </a:solidFill>
              </a:rPr>
              <a:t>16</a:t>
            </a:r>
            <a:r>
              <a:rPr lang="zh-CN" altLang="en-US" sz="2400">
                <a:solidFill>
                  <a:srgbClr val="FF00FF"/>
                </a:solidFill>
              </a:rPr>
              <a:t>位直接寻址存储器的地址，对数据存储器的一个操作数寻址。</a:t>
            </a:r>
          </a:p>
        </p:txBody>
      </p:sp>
      <p:sp>
        <p:nvSpPr>
          <p:cNvPr id="544792" name="AutoShape 24" descr="小棋盘"/>
          <p:cNvSpPr>
            <a:spLocks noChangeArrowheads="1"/>
          </p:cNvSpPr>
          <p:nvPr/>
        </p:nvSpPr>
        <p:spPr bwMode="auto">
          <a:xfrm>
            <a:off x="1979613" y="5445125"/>
            <a:ext cx="3382962" cy="533400"/>
          </a:xfrm>
          <a:prstGeom prst="wedgeRoundRectCallout">
            <a:avLst>
              <a:gd name="adj1" fmla="val 56148"/>
              <a:gd name="adj2" fmla="val -584227"/>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t>累加器溢出标志位</a:t>
            </a:r>
            <a:r>
              <a:rPr lang="zh-CN" altLang="en-US" sz="2800"/>
              <a:t>。</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44789"/>
                                        </p:tgtEl>
                                        <p:attrNameLst>
                                          <p:attrName>style.visibility</p:attrName>
                                        </p:attrNameLst>
                                      </p:cBhvr>
                                      <p:to>
                                        <p:strVal val="visible"/>
                                      </p:to>
                                    </p:set>
                                    <p:anim calcmode="lin" valueType="num">
                                      <p:cBhvr additive="base">
                                        <p:cTn id="12" dur="500" fill="hold"/>
                                        <p:tgtEl>
                                          <p:spTgt spid="544789"/>
                                        </p:tgtEl>
                                        <p:attrNameLst>
                                          <p:attrName>ppt_x</p:attrName>
                                        </p:attrNameLst>
                                      </p:cBhvr>
                                      <p:tavLst>
                                        <p:tav tm="0">
                                          <p:val>
                                            <p:strVal val="0-#ppt_w/2"/>
                                          </p:val>
                                        </p:tav>
                                        <p:tav tm="100000">
                                          <p:val>
                                            <p:strVal val="#ppt_x"/>
                                          </p:val>
                                        </p:tav>
                                      </p:tavLst>
                                    </p:anim>
                                    <p:anim calcmode="lin" valueType="num">
                                      <p:cBhvr additive="base">
                                        <p:cTn id="13" dur="500" fill="hold"/>
                                        <p:tgtEl>
                                          <p:spTgt spid="54478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44790"/>
                                        </p:tgtEl>
                                        <p:attrNameLst>
                                          <p:attrName>style.visibility</p:attrName>
                                        </p:attrNameLst>
                                      </p:cBhvr>
                                      <p:to>
                                        <p:strVal val="visible"/>
                                      </p:to>
                                    </p:set>
                                    <p:anim calcmode="lin" valueType="num">
                                      <p:cBhvr additive="base">
                                        <p:cTn id="17" dur="500" fill="hold"/>
                                        <p:tgtEl>
                                          <p:spTgt spid="544790"/>
                                        </p:tgtEl>
                                        <p:attrNameLst>
                                          <p:attrName>ppt_x</p:attrName>
                                        </p:attrNameLst>
                                      </p:cBhvr>
                                      <p:tavLst>
                                        <p:tav tm="0">
                                          <p:val>
                                            <p:strVal val="#ppt_x"/>
                                          </p:val>
                                        </p:tav>
                                        <p:tav tm="100000">
                                          <p:val>
                                            <p:strVal val="#ppt_x"/>
                                          </p:val>
                                        </p:tav>
                                      </p:tavLst>
                                    </p:anim>
                                    <p:anim calcmode="lin" valueType="num">
                                      <p:cBhvr additive="base">
                                        <p:cTn id="18" dur="500" fill="hold"/>
                                        <p:tgtEl>
                                          <p:spTgt spid="544790"/>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544791"/>
                                        </p:tgtEl>
                                        <p:attrNameLst>
                                          <p:attrName>style.visibility</p:attrName>
                                        </p:attrNameLst>
                                      </p:cBhvr>
                                      <p:to>
                                        <p:strVal val="visible"/>
                                      </p:to>
                                    </p:set>
                                    <p:anim calcmode="lin" valueType="num">
                                      <p:cBhvr additive="base">
                                        <p:cTn id="22" dur="500" fill="hold"/>
                                        <p:tgtEl>
                                          <p:spTgt spid="544791"/>
                                        </p:tgtEl>
                                        <p:attrNameLst>
                                          <p:attrName>ppt_x</p:attrName>
                                        </p:attrNameLst>
                                      </p:cBhvr>
                                      <p:tavLst>
                                        <p:tav tm="0">
                                          <p:val>
                                            <p:strVal val="1+#ppt_w/2"/>
                                          </p:val>
                                        </p:tav>
                                        <p:tav tm="100000">
                                          <p:val>
                                            <p:strVal val="#ppt_x"/>
                                          </p:val>
                                        </p:tav>
                                      </p:tavLst>
                                    </p:anim>
                                    <p:anim calcmode="lin" valueType="num">
                                      <p:cBhvr additive="base">
                                        <p:cTn id="23" dur="500" fill="hold"/>
                                        <p:tgtEl>
                                          <p:spTgt spid="544791"/>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544792"/>
                                        </p:tgtEl>
                                        <p:attrNameLst>
                                          <p:attrName>style.visibility</p:attrName>
                                        </p:attrNameLst>
                                      </p:cBhvr>
                                      <p:to>
                                        <p:strVal val="visible"/>
                                      </p:to>
                                    </p:set>
                                    <p:anim calcmode="lin" valueType="num">
                                      <p:cBhvr additive="base">
                                        <p:cTn id="27" dur="500" fill="hold"/>
                                        <p:tgtEl>
                                          <p:spTgt spid="544792"/>
                                        </p:tgtEl>
                                        <p:attrNameLst>
                                          <p:attrName>ppt_x</p:attrName>
                                        </p:attrNameLst>
                                      </p:cBhvr>
                                      <p:tavLst>
                                        <p:tav tm="0">
                                          <p:val>
                                            <p:strVal val="#ppt_x"/>
                                          </p:val>
                                        </p:tav>
                                        <p:tav tm="100000">
                                          <p:val>
                                            <p:strVal val="#ppt_x"/>
                                          </p:val>
                                        </p:tav>
                                      </p:tavLst>
                                    </p:anim>
                                    <p:anim calcmode="lin" valueType="num">
                                      <p:cBhvr additive="base">
                                        <p:cTn id="28" dur="500" fill="hold"/>
                                        <p:tgtEl>
                                          <p:spTgt spid="5447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89" grpId="0" animBg="1" autoUpdateAnimBg="0"/>
      <p:bldP spid="544790" grpId="0" animBg="1" autoUpdateAnimBg="0"/>
      <p:bldP spid="544791" grpId="0" animBg="1" autoUpdateAnimBg="0"/>
      <p:bldP spid="544792"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FAE6665-25D5-47BD-9923-45B0C7DC83F4}" type="slidenum">
              <a:rPr lang="en-US" altLang="zh-CN" sz="1400" b="0"/>
              <a:pPr eaLnBrk="1" hangingPunct="1"/>
              <a:t>36</a:t>
            </a:fld>
            <a:endParaRPr lang="en-US" altLang="zh-CN" sz="1400" b="0"/>
          </a:p>
        </p:txBody>
      </p:sp>
      <p:sp>
        <p:nvSpPr>
          <p:cNvPr id="545794" name="Rectangle 2"/>
          <p:cNvSpPr>
            <a:spLocks noChangeArrowheads="1"/>
          </p:cNvSpPr>
          <p:nvPr/>
        </p:nvSpPr>
        <p:spPr bwMode="auto">
          <a:xfrm>
            <a:off x="1600200" y="1066800"/>
            <a:ext cx="62118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dirty="0">
                <a:solidFill>
                  <a:srgbClr val="FF0000"/>
                </a:solidFill>
                <a:latin typeface="宋体" panose="02010600030101010101" pitchFamily="2" charset="-122"/>
              </a:rPr>
              <a:t>（</a:t>
            </a:r>
            <a:r>
              <a:rPr lang="en-US" altLang="zh-CN" sz="3600" dirty="0">
                <a:solidFill>
                  <a:srgbClr val="FF0000"/>
                </a:solidFill>
                <a:latin typeface="宋体" panose="02010600030101010101" pitchFamily="2" charset="-122"/>
              </a:rPr>
              <a:t>2</a:t>
            </a:r>
            <a:r>
              <a:rPr lang="zh-CN" altLang="en-US" sz="3600" dirty="0">
                <a:solidFill>
                  <a:srgbClr val="FF0000"/>
                </a:solidFill>
                <a:latin typeface="宋体" panose="02010600030101010101" pitchFamily="2" charset="-122"/>
              </a:rPr>
              <a:t>）状态寄存器</a:t>
            </a:r>
            <a:r>
              <a:rPr lang="en-US" altLang="zh-CN" sz="3600" dirty="0">
                <a:solidFill>
                  <a:srgbClr val="FF0000"/>
                </a:solidFill>
                <a:latin typeface="宋体" panose="02010600030101010101" pitchFamily="2" charset="-122"/>
              </a:rPr>
              <a:t>1</a:t>
            </a:r>
            <a:r>
              <a:rPr lang="zh-CN" altLang="en-US" sz="3600" dirty="0">
                <a:solidFill>
                  <a:srgbClr val="FF0000"/>
                </a:solidFill>
                <a:latin typeface="宋体" panose="02010600030101010101" pitchFamily="2" charset="-122"/>
              </a:rPr>
              <a:t>（</a:t>
            </a:r>
            <a:r>
              <a:rPr lang="en-US" altLang="zh-CN" sz="3600" dirty="0">
                <a:solidFill>
                  <a:srgbClr val="FF0000"/>
                </a:solidFill>
                <a:latin typeface="宋体" panose="02010600030101010101" pitchFamily="2" charset="-122"/>
              </a:rPr>
              <a:t>ST1</a:t>
            </a:r>
            <a:r>
              <a:rPr lang="zh-CN" altLang="en-US" sz="3600" dirty="0">
                <a:solidFill>
                  <a:srgbClr val="FF0000"/>
                </a:solidFill>
                <a:latin typeface="宋体" panose="02010600030101010101" pitchFamily="2" charset="-122"/>
              </a:rPr>
              <a:t>）</a:t>
            </a:r>
            <a:r>
              <a:rPr lang="zh-CN" altLang="en-US" sz="3600" b="0" dirty="0">
                <a:solidFill>
                  <a:srgbClr val="FF0000"/>
                </a:solidFill>
              </a:rPr>
              <a:t> </a:t>
            </a:r>
          </a:p>
        </p:txBody>
      </p:sp>
      <p:grpSp>
        <p:nvGrpSpPr>
          <p:cNvPr id="2" name="Group 3"/>
          <p:cNvGrpSpPr>
            <a:grpSpLocks/>
          </p:cNvGrpSpPr>
          <p:nvPr/>
        </p:nvGrpSpPr>
        <p:grpSpPr bwMode="auto">
          <a:xfrm>
            <a:off x="228600" y="1752600"/>
            <a:ext cx="8686800" cy="863600"/>
            <a:chOff x="144" y="3120"/>
            <a:chExt cx="5472" cy="544"/>
          </a:xfrm>
        </p:grpSpPr>
        <p:sp>
          <p:nvSpPr>
            <p:cNvPr id="49163" name="Text Box 4"/>
            <p:cNvSpPr txBox="1">
              <a:spLocks noChangeArrowheads="1"/>
            </p:cNvSpPr>
            <p:nvPr/>
          </p:nvSpPr>
          <p:spPr bwMode="auto">
            <a:xfrm>
              <a:off x="144" y="340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BRAF</a:t>
              </a:r>
            </a:p>
          </p:txBody>
        </p:sp>
        <p:sp>
          <p:nvSpPr>
            <p:cNvPr id="49164" name="Text Box 5"/>
            <p:cNvSpPr txBox="1">
              <a:spLocks noChangeArrowheads="1"/>
            </p:cNvSpPr>
            <p:nvPr/>
          </p:nvSpPr>
          <p:spPr bwMode="auto">
            <a:xfrm>
              <a:off x="288"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15</a:t>
              </a:r>
            </a:p>
          </p:txBody>
        </p:sp>
        <p:grpSp>
          <p:nvGrpSpPr>
            <p:cNvPr id="49165" name="Group 6"/>
            <p:cNvGrpSpPr>
              <a:grpSpLocks/>
            </p:cNvGrpSpPr>
            <p:nvPr/>
          </p:nvGrpSpPr>
          <p:grpSpPr bwMode="auto">
            <a:xfrm>
              <a:off x="672" y="3120"/>
              <a:ext cx="480" cy="544"/>
              <a:chOff x="1344" y="2112"/>
              <a:chExt cx="480" cy="544"/>
            </a:xfrm>
          </p:grpSpPr>
          <p:sp>
            <p:nvSpPr>
              <p:cNvPr id="49187" name="Text Box 7"/>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CPL</a:t>
                </a:r>
              </a:p>
            </p:txBody>
          </p:sp>
          <p:sp>
            <p:nvSpPr>
              <p:cNvPr id="49188" name="Text Box 8"/>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14</a:t>
                </a:r>
              </a:p>
            </p:txBody>
          </p:sp>
        </p:grpSp>
        <p:grpSp>
          <p:nvGrpSpPr>
            <p:cNvPr id="49166" name="Group 9"/>
            <p:cNvGrpSpPr>
              <a:grpSpLocks/>
            </p:cNvGrpSpPr>
            <p:nvPr/>
          </p:nvGrpSpPr>
          <p:grpSpPr bwMode="auto">
            <a:xfrm>
              <a:off x="1104" y="3120"/>
              <a:ext cx="480" cy="544"/>
              <a:chOff x="1344" y="2112"/>
              <a:chExt cx="480" cy="544"/>
            </a:xfrm>
          </p:grpSpPr>
          <p:sp>
            <p:nvSpPr>
              <p:cNvPr id="49185" name="Text Box 10"/>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XF</a:t>
                </a:r>
              </a:p>
            </p:txBody>
          </p:sp>
          <p:sp>
            <p:nvSpPr>
              <p:cNvPr id="49186" name="Text Box 11"/>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13</a:t>
                </a:r>
              </a:p>
            </p:txBody>
          </p:sp>
        </p:grpSp>
        <p:sp>
          <p:nvSpPr>
            <p:cNvPr id="49167" name="Text Box 12"/>
            <p:cNvSpPr txBox="1">
              <a:spLocks noChangeArrowheads="1"/>
            </p:cNvSpPr>
            <p:nvPr/>
          </p:nvSpPr>
          <p:spPr bwMode="auto">
            <a:xfrm>
              <a:off x="1488"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HM</a:t>
              </a:r>
            </a:p>
          </p:txBody>
        </p:sp>
        <p:sp>
          <p:nvSpPr>
            <p:cNvPr id="49168" name="Text Box 13"/>
            <p:cNvSpPr txBox="1">
              <a:spLocks noChangeArrowheads="1"/>
            </p:cNvSpPr>
            <p:nvPr/>
          </p:nvSpPr>
          <p:spPr bwMode="auto">
            <a:xfrm>
              <a:off x="1584"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12</a:t>
              </a:r>
            </a:p>
          </p:txBody>
        </p:sp>
        <p:sp>
          <p:nvSpPr>
            <p:cNvPr id="49169" name="Text Box 14"/>
            <p:cNvSpPr txBox="1">
              <a:spLocks noChangeArrowheads="1"/>
            </p:cNvSpPr>
            <p:nvPr/>
          </p:nvSpPr>
          <p:spPr bwMode="auto">
            <a:xfrm>
              <a:off x="1920" y="3408"/>
              <a:ext cx="57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INTM</a:t>
              </a:r>
            </a:p>
          </p:txBody>
        </p:sp>
        <p:sp>
          <p:nvSpPr>
            <p:cNvPr id="49170" name="Text Box 15"/>
            <p:cNvSpPr txBox="1">
              <a:spLocks noChangeArrowheads="1"/>
            </p:cNvSpPr>
            <p:nvPr/>
          </p:nvSpPr>
          <p:spPr bwMode="auto">
            <a:xfrm>
              <a:off x="2064" y="3120"/>
              <a:ext cx="27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11</a:t>
              </a:r>
            </a:p>
          </p:txBody>
        </p:sp>
        <p:sp>
          <p:nvSpPr>
            <p:cNvPr id="49171" name="Text Box 16"/>
            <p:cNvSpPr txBox="1">
              <a:spLocks noChangeArrowheads="1"/>
            </p:cNvSpPr>
            <p:nvPr/>
          </p:nvSpPr>
          <p:spPr bwMode="auto">
            <a:xfrm>
              <a:off x="2448" y="3408"/>
              <a:ext cx="33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0</a:t>
              </a:r>
            </a:p>
          </p:txBody>
        </p:sp>
        <p:sp>
          <p:nvSpPr>
            <p:cNvPr id="49172" name="Text Box 17"/>
            <p:cNvSpPr txBox="1">
              <a:spLocks noChangeArrowheads="1"/>
            </p:cNvSpPr>
            <p:nvPr/>
          </p:nvSpPr>
          <p:spPr bwMode="auto">
            <a:xfrm>
              <a:off x="2400"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10</a:t>
              </a:r>
            </a:p>
          </p:txBody>
        </p:sp>
        <p:sp>
          <p:nvSpPr>
            <p:cNvPr id="49173" name="Text Box 18"/>
            <p:cNvSpPr txBox="1">
              <a:spLocks noChangeArrowheads="1"/>
            </p:cNvSpPr>
            <p:nvPr/>
          </p:nvSpPr>
          <p:spPr bwMode="auto">
            <a:xfrm>
              <a:off x="2688" y="3408"/>
              <a:ext cx="528"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OVM</a:t>
              </a:r>
            </a:p>
          </p:txBody>
        </p:sp>
        <p:sp>
          <p:nvSpPr>
            <p:cNvPr id="49174" name="Text Box 19"/>
            <p:cNvSpPr txBox="1">
              <a:spLocks noChangeArrowheads="1"/>
            </p:cNvSpPr>
            <p:nvPr/>
          </p:nvSpPr>
          <p:spPr bwMode="auto">
            <a:xfrm>
              <a:off x="2832"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9</a:t>
              </a:r>
            </a:p>
          </p:txBody>
        </p:sp>
        <p:sp>
          <p:nvSpPr>
            <p:cNvPr id="49175" name="Text Box 20"/>
            <p:cNvSpPr txBox="1">
              <a:spLocks noChangeArrowheads="1"/>
            </p:cNvSpPr>
            <p:nvPr/>
          </p:nvSpPr>
          <p:spPr bwMode="auto">
            <a:xfrm>
              <a:off x="3168"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SXM</a:t>
              </a:r>
            </a:p>
          </p:txBody>
        </p:sp>
        <p:sp>
          <p:nvSpPr>
            <p:cNvPr id="49176" name="Text Box 21"/>
            <p:cNvSpPr txBox="1">
              <a:spLocks noChangeArrowheads="1"/>
            </p:cNvSpPr>
            <p:nvPr/>
          </p:nvSpPr>
          <p:spPr bwMode="auto">
            <a:xfrm>
              <a:off x="3264" y="312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a:t>
              </a:r>
            </a:p>
          </p:txBody>
        </p:sp>
        <p:sp>
          <p:nvSpPr>
            <p:cNvPr id="49177" name="Text Box 22"/>
            <p:cNvSpPr txBox="1">
              <a:spLocks noChangeArrowheads="1"/>
            </p:cNvSpPr>
            <p:nvPr/>
          </p:nvSpPr>
          <p:spPr bwMode="auto">
            <a:xfrm>
              <a:off x="3600"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C16</a:t>
              </a:r>
            </a:p>
          </p:txBody>
        </p:sp>
        <p:sp>
          <p:nvSpPr>
            <p:cNvPr id="49178" name="Text Box 23"/>
            <p:cNvSpPr txBox="1">
              <a:spLocks noChangeArrowheads="1"/>
            </p:cNvSpPr>
            <p:nvPr/>
          </p:nvSpPr>
          <p:spPr bwMode="auto">
            <a:xfrm>
              <a:off x="3696"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a:t>
              </a:r>
            </a:p>
          </p:txBody>
        </p:sp>
        <p:sp>
          <p:nvSpPr>
            <p:cNvPr id="49179" name="Text Box 24"/>
            <p:cNvSpPr txBox="1">
              <a:spLocks noChangeArrowheads="1"/>
            </p:cNvSpPr>
            <p:nvPr/>
          </p:nvSpPr>
          <p:spPr bwMode="auto">
            <a:xfrm>
              <a:off x="3984" y="340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FRCT</a:t>
              </a:r>
            </a:p>
          </p:txBody>
        </p:sp>
        <p:sp>
          <p:nvSpPr>
            <p:cNvPr id="49180" name="Text Box 25"/>
            <p:cNvSpPr txBox="1">
              <a:spLocks noChangeArrowheads="1"/>
            </p:cNvSpPr>
            <p:nvPr/>
          </p:nvSpPr>
          <p:spPr bwMode="auto">
            <a:xfrm>
              <a:off x="4128" y="3120"/>
              <a:ext cx="2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6</a:t>
              </a:r>
            </a:p>
          </p:txBody>
        </p:sp>
        <p:sp>
          <p:nvSpPr>
            <p:cNvPr id="49181" name="Text Box 26"/>
            <p:cNvSpPr txBox="1">
              <a:spLocks noChangeArrowheads="1"/>
            </p:cNvSpPr>
            <p:nvPr/>
          </p:nvSpPr>
          <p:spPr bwMode="auto">
            <a:xfrm>
              <a:off x="4512" y="340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CMPT</a:t>
              </a:r>
            </a:p>
          </p:txBody>
        </p:sp>
        <p:sp>
          <p:nvSpPr>
            <p:cNvPr id="49182" name="Text Box 27"/>
            <p:cNvSpPr txBox="1">
              <a:spLocks noChangeArrowheads="1"/>
            </p:cNvSpPr>
            <p:nvPr/>
          </p:nvSpPr>
          <p:spPr bwMode="auto">
            <a:xfrm>
              <a:off x="4656" y="312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5</a:t>
              </a:r>
            </a:p>
          </p:txBody>
        </p:sp>
        <p:sp>
          <p:nvSpPr>
            <p:cNvPr id="49183" name="Text Box 28"/>
            <p:cNvSpPr txBox="1">
              <a:spLocks noChangeArrowheads="1"/>
            </p:cNvSpPr>
            <p:nvPr/>
          </p:nvSpPr>
          <p:spPr bwMode="auto">
            <a:xfrm>
              <a:off x="5088"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ASM</a:t>
              </a:r>
            </a:p>
          </p:txBody>
        </p:sp>
        <p:sp>
          <p:nvSpPr>
            <p:cNvPr id="49184" name="Text Box 29"/>
            <p:cNvSpPr txBox="1">
              <a:spLocks noChangeArrowheads="1"/>
            </p:cNvSpPr>
            <p:nvPr/>
          </p:nvSpPr>
          <p:spPr bwMode="auto">
            <a:xfrm>
              <a:off x="5040" y="3120"/>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 </a:t>
              </a:r>
              <a:r>
                <a:rPr lang="zh-CN" altLang="en-US">
                  <a:latin typeface="宋体" panose="02010600030101010101" pitchFamily="2" charset="-122"/>
                </a:rPr>
                <a:t>～</a:t>
              </a:r>
              <a:r>
                <a:rPr lang="zh-CN" altLang="en-US"/>
                <a:t> </a:t>
              </a:r>
              <a:r>
                <a:rPr lang="en-US" altLang="zh-CN"/>
                <a:t>0</a:t>
              </a:r>
            </a:p>
          </p:txBody>
        </p:sp>
      </p:grpSp>
      <p:sp>
        <p:nvSpPr>
          <p:cNvPr id="545822" name="AutoShape 30" descr="小棋盘"/>
          <p:cNvSpPr>
            <a:spLocks noChangeArrowheads="1"/>
          </p:cNvSpPr>
          <p:nvPr/>
        </p:nvSpPr>
        <p:spPr bwMode="auto">
          <a:xfrm>
            <a:off x="179388" y="3657600"/>
            <a:ext cx="1584325" cy="2651125"/>
          </a:xfrm>
          <a:prstGeom prst="wedgeRoundRectCallout">
            <a:avLst>
              <a:gd name="adj1" fmla="val -19037"/>
              <a:gd name="adj2" fmla="val -90421"/>
              <a:gd name="adj3" fmla="val 16667"/>
            </a:avLst>
          </a:prstGeom>
          <a:pattFill prst="smCheck">
            <a:fgClr>
              <a:schemeClr val="accent1"/>
            </a:fgClr>
            <a:bgClr>
              <a:schemeClr val="bg1"/>
            </a:bgClr>
          </a:pattFill>
          <a:ln w="9525">
            <a:solidFill>
              <a:srgbClr val="FF0066"/>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zh-CN" altLang="en-US" sz="2400">
                <a:solidFill>
                  <a:srgbClr val="CC00FF"/>
                </a:solidFill>
              </a:rPr>
              <a:t>块重复操作标志位，指示当前是</a:t>
            </a:r>
            <a:r>
              <a:rPr lang="en-US" altLang="zh-CN" sz="2400">
                <a:solidFill>
                  <a:srgbClr val="CC00FF"/>
                </a:solidFill>
              </a:rPr>
              <a:t>(1)</a:t>
            </a:r>
            <a:r>
              <a:rPr lang="zh-CN" altLang="en-US" sz="2400">
                <a:solidFill>
                  <a:srgbClr val="CC00FF"/>
                </a:solidFill>
              </a:rPr>
              <a:t>否</a:t>
            </a:r>
            <a:r>
              <a:rPr lang="en-US" altLang="zh-CN" sz="2400">
                <a:solidFill>
                  <a:srgbClr val="CC00FF"/>
                </a:solidFill>
              </a:rPr>
              <a:t>(0)</a:t>
            </a:r>
            <a:r>
              <a:rPr lang="zh-CN" altLang="en-US" sz="2400">
                <a:solidFill>
                  <a:srgbClr val="CC00FF"/>
                </a:solidFill>
              </a:rPr>
              <a:t>在执行块重复操作。</a:t>
            </a:r>
            <a:endParaRPr lang="zh-CN" altLang="en-US" sz="2400">
              <a:solidFill>
                <a:schemeClr val="tx2"/>
              </a:solidFill>
            </a:endParaRPr>
          </a:p>
        </p:txBody>
      </p:sp>
      <p:sp>
        <p:nvSpPr>
          <p:cNvPr id="545823" name="AutoShape 31" descr="小棋盘"/>
          <p:cNvSpPr>
            <a:spLocks noChangeArrowheads="1"/>
          </p:cNvSpPr>
          <p:nvPr/>
        </p:nvSpPr>
        <p:spPr bwMode="auto">
          <a:xfrm>
            <a:off x="1752600" y="4114800"/>
            <a:ext cx="2636838" cy="2514600"/>
          </a:xfrm>
          <a:prstGeom prst="wedgeRoundRectCallout">
            <a:avLst>
              <a:gd name="adj1" fmla="val -53824"/>
              <a:gd name="adj2" fmla="val -103977"/>
              <a:gd name="adj3" fmla="val 16667"/>
            </a:avLst>
          </a:prstGeom>
          <a:pattFill prst="smCheck">
            <a:fgClr>
              <a:schemeClr val="accent1"/>
            </a:fgClr>
            <a:bgClr>
              <a:schemeClr val="bg1"/>
            </a:bgClr>
          </a:pattFill>
          <a:ln w="9525">
            <a:solidFill>
              <a:srgbClr val="FF0066"/>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chemeClr val="tx2"/>
                </a:solidFill>
              </a:rPr>
              <a:t>直接寻址编辑方式位。指示直接寻址时采用何种指针。</a:t>
            </a:r>
            <a:r>
              <a:rPr lang="en-US" altLang="zh-CN" sz="2400"/>
              <a:t>DP</a:t>
            </a:r>
            <a:r>
              <a:rPr lang="zh-CN" altLang="en-US" sz="2400"/>
              <a:t>的直接寻址方式</a:t>
            </a:r>
            <a:r>
              <a:rPr lang="en-US" altLang="zh-CN" sz="2400"/>
              <a:t>(0)</a:t>
            </a:r>
            <a:r>
              <a:rPr lang="zh-CN" altLang="en-US" sz="2400"/>
              <a:t>或</a:t>
            </a:r>
            <a:r>
              <a:rPr lang="en-US" altLang="zh-CN" sz="2400"/>
              <a:t>SP</a:t>
            </a:r>
            <a:r>
              <a:rPr lang="zh-CN" altLang="en-US" sz="2400"/>
              <a:t>的直接寻址方式</a:t>
            </a:r>
            <a:r>
              <a:rPr lang="en-US" altLang="zh-CN" sz="2400"/>
              <a:t>(1)</a:t>
            </a:r>
            <a:r>
              <a:rPr lang="zh-CN" altLang="en-US" sz="2400"/>
              <a:t>。</a:t>
            </a:r>
          </a:p>
        </p:txBody>
      </p:sp>
      <p:sp>
        <p:nvSpPr>
          <p:cNvPr id="545824" name="AutoShape 32" descr="小棋盘"/>
          <p:cNvSpPr>
            <a:spLocks noChangeArrowheads="1"/>
          </p:cNvSpPr>
          <p:nvPr/>
        </p:nvSpPr>
        <p:spPr bwMode="auto">
          <a:xfrm>
            <a:off x="4643438" y="5229225"/>
            <a:ext cx="2743200" cy="1219200"/>
          </a:xfrm>
          <a:prstGeom prst="wedgeRoundRectCallout">
            <a:avLst>
              <a:gd name="adj1" fmla="val -136574"/>
              <a:gd name="adj2" fmla="val -259898"/>
              <a:gd name="adj3" fmla="val 16667"/>
            </a:avLst>
          </a:prstGeom>
          <a:pattFill prst="smCheck">
            <a:fgClr>
              <a:schemeClr val="accent1"/>
            </a:fgClr>
            <a:bgClr>
              <a:schemeClr val="bg1"/>
            </a:bgClr>
          </a:pattFill>
          <a:ln w="9525">
            <a:solidFill>
              <a:srgbClr val="FF0066"/>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2400">
                <a:solidFill>
                  <a:schemeClr val="tx2"/>
                </a:solidFill>
              </a:rPr>
              <a:t>XF</a:t>
            </a:r>
            <a:r>
              <a:rPr lang="zh-CN" altLang="en-US" sz="2400">
                <a:solidFill>
                  <a:schemeClr val="tx2"/>
                </a:solidFill>
              </a:rPr>
              <a:t>引脚状态位。</a:t>
            </a:r>
            <a:r>
              <a:rPr lang="en-US" altLang="zh-CN" sz="2400"/>
              <a:t>XF</a:t>
            </a:r>
            <a:r>
              <a:rPr lang="zh-CN" altLang="en-US" sz="2400"/>
              <a:t>引脚是一个通用输出引脚。</a:t>
            </a:r>
          </a:p>
        </p:txBody>
      </p:sp>
      <p:grpSp>
        <p:nvGrpSpPr>
          <p:cNvPr id="49160" name="Group 33"/>
          <p:cNvGrpSpPr>
            <a:grpSpLocks/>
          </p:cNvGrpSpPr>
          <p:nvPr/>
        </p:nvGrpSpPr>
        <p:grpSpPr bwMode="auto">
          <a:xfrm>
            <a:off x="5867400" y="2743200"/>
            <a:ext cx="2736850" cy="2438400"/>
            <a:chOff x="3696" y="1728"/>
            <a:chExt cx="1724" cy="1536"/>
          </a:xfrm>
        </p:grpSpPr>
        <p:sp>
          <p:nvSpPr>
            <p:cNvPr id="49161" name="AutoShape 34" descr="小棋盘"/>
            <p:cNvSpPr>
              <a:spLocks noChangeArrowheads="1"/>
            </p:cNvSpPr>
            <p:nvPr/>
          </p:nvSpPr>
          <p:spPr bwMode="auto">
            <a:xfrm>
              <a:off x="3696" y="1728"/>
              <a:ext cx="1724" cy="1536"/>
            </a:xfrm>
            <a:prstGeom prst="wedgeRoundRectCallout">
              <a:avLst>
                <a:gd name="adj1" fmla="val -156495"/>
                <a:gd name="adj2" fmla="val -52472"/>
                <a:gd name="adj3" fmla="val 16667"/>
              </a:avLst>
            </a:prstGeom>
            <a:pattFill prst="smCheck">
              <a:fgClr>
                <a:schemeClr val="accent1"/>
              </a:fgClr>
              <a:bgClr>
                <a:schemeClr val="bg1"/>
              </a:bgClr>
            </a:pattFill>
            <a:ln w="9525">
              <a:solidFill>
                <a:srgbClr val="FF0066"/>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35000"/>
                </a:spcBef>
              </a:pPr>
              <a:r>
                <a:rPr lang="zh-CN" altLang="en-US" sz="2400">
                  <a:solidFill>
                    <a:srgbClr val="006600"/>
                  </a:solidFill>
                </a:rPr>
                <a:t>保持方式位。当处理器响应</a:t>
              </a:r>
              <a:r>
                <a:rPr lang="en-US" altLang="zh-CN" sz="2400">
                  <a:solidFill>
                    <a:srgbClr val="006600"/>
                  </a:solidFill>
                </a:rPr>
                <a:t>HOLD</a:t>
              </a:r>
              <a:r>
                <a:rPr lang="zh-CN" altLang="en-US" sz="2400">
                  <a:solidFill>
                    <a:srgbClr val="006600"/>
                  </a:solidFill>
                </a:rPr>
                <a:t>信号时，</a:t>
              </a:r>
              <a:r>
                <a:rPr lang="en-US" altLang="zh-CN" sz="2400">
                  <a:solidFill>
                    <a:srgbClr val="006600"/>
                  </a:solidFill>
                </a:rPr>
                <a:t>HM</a:t>
              </a:r>
              <a:r>
                <a:rPr lang="zh-CN" altLang="en-US" sz="2400">
                  <a:solidFill>
                    <a:srgbClr val="006600"/>
                  </a:solidFill>
                </a:rPr>
                <a:t>指示处理器是</a:t>
              </a:r>
              <a:r>
                <a:rPr lang="en-US" altLang="zh-CN" sz="2400">
                  <a:solidFill>
                    <a:srgbClr val="006600"/>
                  </a:solidFill>
                </a:rPr>
                <a:t>(0)</a:t>
              </a:r>
              <a:r>
                <a:rPr lang="zh-CN" altLang="en-US" sz="2400">
                  <a:solidFill>
                    <a:srgbClr val="006600"/>
                  </a:solidFill>
                </a:rPr>
                <a:t>否</a:t>
              </a:r>
              <a:r>
                <a:rPr lang="en-US" altLang="zh-CN" sz="2400">
                  <a:solidFill>
                    <a:srgbClr val="006600"/>
                  </a:solidFill>
                </a:rPr>
                <a:t>(1)</a:t>
              </a:r>
              <a:r>
                <a:rPr lang="zh-CN" altLang="en-US" sz="2400">
                  <a:solidFill>
                    <a:srgbClr val="006600"/>
                  </a:solidFill>
                </a:rPr>
                <a:t>继续执行内部操作。</a:t>
              </a:r>
            </a:p>
          </p:txBody>
        </p:sp>
        <p:sp>
          <p:nvSpPr>
            <p:cNvPr id="49162" name="Line 35" descr="小棋盘"/>
            <p:cNvSpPr>
              <a:spLocks noChangeShapeType="1"/>
            </p:cNvSpPr>
            <p:nvPr/>
          </p:nvSpPr>
          <p:spPr bwMode="auto">
            <a:xfrm>
              <a:off x="3787" y="2296"/>
              <a:ext cx="576"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45794"/>
                                        </p:tgtEl>
                                        <p:attrNameLst>
                                          <p:attrName>style.visibility</p:attrName>
                                        </p:attrNameLst>
                                      </p:cBhvr>
                                      <p:to>
                                        <p:strVal val="visible"/>
                                      </p:to>
                                    </p:set>
                                    <p:animEffect transition="in" filter="blinds(horizontal)">
                                      <p:cBhvr>
                                        <p:cTn id="7" dur="500"/>
                                        <p:tgtEl>
                                          <p:spTgt spid="545794"/>
                                        </p:tgtEl>
                                      </p:cBhvr>
                                    </p:animEffect>
                                  </p:childTnLst>
                                </p:cTn>
                              </p:par>
                            </p:childTnLst>
                          </p:cTn>
                        </p:par>
                        <p:par>
                          <p:cTn id="8" fill="hold" nodeType="afterGroup">
                            <p:stCondLst>
                              <p:cond delay="500"/>
                            </p:stCondLst>
                            <p:childTnLst>
                              <p:par>
                                <p:cTn id="9" presetID="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545822"/>
                                        </p:tgtEl>
                                        <p:attrNameLst>
                                          <p:attrName>style.visibility</p:attrName>
                                        </p:attrNameLst>
                                      </p:cBhvr>
                                      <p:to>
                                        <p:strVal val="visible"/>
                                      </p:to>
                                    </p:set>
                                    <p:anim calcmode="lin" valueType="num">
                                      <p:cBhvr additive="base">
                                        <p:cTn id="16" dur="500" fill="hold"/>
                                        <p:tgtEl>
                                          <p:spTgt spid="545822"/>
                                        </p:tgtEl>
                                        <p:attrNameLst>
                                          <p:attrName>ppt_x</p:attrName>
                                        </p:attrNameLst>
                                      </p:cBhvr>
                                      <p:tavLst>
                                        <p:tav tm="0">
                                          <p:val>
                                            <p:strVal val="0-#ppt_w/2"/>
                                          </p:val>
                                        </p:tav>
                                        <p:tav tm="100000">
                                          <p:val>
                                            <p:strVal val="#ppt_x"/>
                                          </p:val>
                                        </p:tav>
                                      </p:tavLst>
                                    </p:anim>
                                    <p:anim calcmode="lin" valueType="num">
                                      <p:cBhvr additive="base">
                                        <p:cTn id="17" dur="500" fill="hold"/>
                                        <p:tgtEl>
                                          <p:spTgt spid="545822"/>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45823"/>
                                        </p:tgtEl>
                                        <p:attrNameLst>
                                          <p:attrName>style.visibility</p:attrName>
                                        </p:attrNameLst>
                                      </p:cBhvr>
                                      <p:to>
                                        <p:strVal val="visible"/>
                                      </p:to>
                                    </p:set>
                                    <p:anim calcmode="lin" valueType="num">
                                      <p:cBhvr additive="base">
                                        <p:cTn id="21" dur="500" fill="hold"/>
                                        <p:tgtEl>
                                          <p:spTgt spid="545823"/>
                                        </p:tgtEl>
                                        <p:attrNameLst>
                                          <p:attrName>ppt_x</p:attrName>
                                        </p:attrNameLst>
                                      </p:cBhvr>
                                      <p:tavLst>
                                        <p:tav tm="0">
                                          <p:val>
                                            <p:strVal val="#ppt_x"/>
                                          </p:val>
                                        </p:tav>
                                        <p:tav tm="100000">
                                          <p:val>
                                            <p:strVal val="#ppt_x"/>
                                          </p:val>
                                        </p:tav>
                                      </p:tavLst>
                                    </p:anim>
                                    <p:anim calcmode="lin" valueType="num">
                                      <p:cBhvr additive="base">
                                        <p:cTn id="22" dur="500" fill="hold"/>
                                        <p:tgtEl>
                                          <p:spTgt spid="545823"/>
                                        </p:tgtEl>
                                        <p:attrNameLst>
                                          <p:attrName>ppt_y</p:attrName>
                                        </p:attrNameLst>
                                      </p:cBhvr>
                                      <p:tavLst>
                                        <p:tav tm="0">
                                          <p:val>
                                            <p:strVal val="1+#ppt_h/2"/>
                                          </p:val>
                                        </p:tav>
                                        <p:tav tm="100000">
                                          <p:val>
                                            <p:strVal val="#ppt_y"/>
                                          </p:val>
                                        </p:tav>
                                      </p:tavLst>
                                    </p:anim>
                                  </p:childTnLst>
                                </p:cTn>
                              </p:par>
                            </p:childTnLst>
                          </p:cTn>
                        </p:par>
                        <p:par>
                          <p:cTn id="23" fill="hold" nodeType="afterGroup">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545824"/>
                                        </p:tgtEl>
                                        <p:attrNameLst>
                                          <p:attrName>style.visibility</p:attrName>
                                        </p:attrNameLst>
                                      </p:cBhvr>
                                      <p:to>
                                        <p:strVal val="visible"/>
                                      </p:to>
                                    </p:set>
                                    <p:anim calcmode="lin" valueType="num">
                                      <p:cBhvr additive="base">
                                        <p:cTn id="26" dur="500" fill="hold"/>
                                        <p:tgtEl>
                                          <p:spTgt spid="545824"/>
                                        </p:tgtEl>
                                        <p:attrNameLst>
                                          <p:attrName>ppt_x</p:attrName>
                                        </p:attrNameLst>
                                      </p:cBhvr>
                                      <p:tavLst>
                                        <p:tav tm="0">
                                          <p:val>
                                            <p:strVal val="#ppt_x"/>
                                          </p:val>
                                        </p:tav>
                                        <p:tav tm="100000">
                                          <p:val>
                                            <p:strVal val="#ppt_x"/>
                                          </p:val>
                                        </p:tav>
                                      </p:tavLst>
                                    </p:anim>
                                    <p:anim calcmode="lin" valueType="num">
                                      <p:cBhvr additive="base">
                                        <p:cTn id="27" dur="500" fill="hold"/>
                                        <p:tgtEl>
                                          <p:spTgt spid="5458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4" grpId="0" autoUpdateAnimBg="0"/>
      <p:bldP spid="545822" grpId="0" animBg="1" autoUpdateAnimBg="0"/>
      <p:bldP spid="545823" grpId="0" animBg="1" autoUpdateAnimBg="0"/>
      <p:bldP spid="545824"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3D4392F-7CC5-4586-AE4F-74D13F08237D}" type="slidenum">
              <a:rPr lang="en-US" altLang="zh-CN" sz="1400" b="0"/>
              <a:pPr eaLnBrk="1" hangingPunct="1"/>
              <a:t>37</a:t>
            </a:fld>
            <a:endParaRPr lang="en-US" altLang="zh-CN" sz="1400" b="0"/>
          </a:p>
        </p:txBody>
      </p:sp>
      <p:grpSp>
        <p:nvGrpSpPr>
          <p:cNvPr id="2" name="Group 2"/>
          <p:cNvGrpSpPr>
            <a:grpSpLocks/>
          </p:cNvGrpSpPr>
          <p:nvPr/>
        </p:nvGrpSpPr>
        <p:grpSpPr bwMode="auto">
          <a:xfrm>
            <a:off x="228600" y="1600200"/>
            <a:ext cx="8686800" cy="863600"/>
            <a:chOff x="144" y="3120"/>
            <a:chExt cx="5472" cy="544"/>
          </a:xfrm>
        </p:grpSpPr>
        <p:sp>
          <p:nvSpPr>
            <p:cNvPr id="50183" name="Text Box 3"/>
            <p:cNvSpPr txBox="1">
              <a:spLocks noChangeArrowheads="1"/>
            </p:cNvSpPr>
            <p:nvPr/>
          </p:nvSpPr>
          <p:spPr bwMode="auto">
            <a:xfrm>
              <a:off x="144" y="340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BRAF</a:t>
              </a:r>
            </a:p>
          </p:txBody>
        </p:sp>
        <p:sp>
          <p:nvSpPr>
            <p:cNvPr id="50184" name="Text Box 4"/>
            <p:cNvSpPr txBox="1">
              <a:spLocks noChangeArrowheads="1"/>
            </p:cNvSpPr>
            <p:nvPr/>
          </p:nvSpPr>
          <p:spPr bwMode="auto">
            <a:xfrm>
              <a:off x="288"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15</a:t>
              </a:r>
            </a:p>
          </p:txBody>
        </p:sp>
        <p:grpSp>
          <p:nvGrpSpPr>
            <p:cNvPr id="50185" name="Group 5"/>
            <p:cNvGrpSpPr>
              <a:grpSpLocks/>
            </p:cNvGrpSpPr>
            <p:nvPr/>
          </p:nvGrpSpPr>
          <p:grpSpPr bwMode="auto">
            <a:xfrm>
              <a:off x="672" y="3120"/>
              <a:ext cx="480" cy="544"/>
              <a:chOff x="1344" y="2112"/>
              <a:chExt cx="480" cy="544"/>
            </a:xfrm>
          </p:grpSpPr>
          <p:sp>
            <p:nvSpPr>
              <p:cNvPr id="50207" name="Text Box 6"/>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CPL</a:t>
                </a:r>
              </a:p>
            </p:txBody>
          </p:sp>
          <p:sp>
            <p:nvSpPr>
              <p:cNvPr id="50208" name="Text Box 7"/>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14</a:t>
                </a:r>
              </a:p>
            </p:txBody>
          </p:sp>
        </p:grpSp>
        <p:grpSp>
          <p:nvGrpSpPr>
            <p:cNvPr id="50186" name="Group 8"/>
            <p:cNvGrpSpPr>
              <a:grpSpLocks/>
            </p:cNvGrpSpPr>
            <p:nvPr/>
          </p:nvGrpSpPr>
          <p:grpSpPr bwMode="auto">
            <a:xfrm>
              <a:off x="1104" y="3120"/>
              <a:ext cx="480" cy="544"/>
              <a:chOff x="1344" y="2112"/>
              <a:chExt cx="480" cy="544"/>
            </a:xfrm>
          </p:grpSpPr>
          <p:sp>
            <p:nvSpPr>
              <p:cNvPr id="50205" name="Text Box 9"/>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XF</a:t>
                </a:r>
              </a:p>
            </p:txBody>
          </p:sp>
          <p:sp>
            <p:nvSpPr>
              <p:cNvPr id="50206" name="Text Box 10"/>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13</a:t>
                </a:r>
              </a:p>
            </p:txBody>
          </p:sp>
        </p:grpSp>
        <p:sp>
          <p:nvSpPr>
            <p:cNvPr id="50187" name="Text Box 11"/>
            <p:cNvSpPr txBox="1">
              <a:spLocks noChangeArrowheads="1"/>
            </p:cNvSpPr>
            <p:nvPr/>
          </p:nvSpPr>
          <p:spPr bwMode="auto">
            <a:xfrm>
              <a:off x="1488"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HM</a:t>
              </a:r>
            </a:p>
          </p:txBody>
        </p:sp>
        <p:sp>
          <p:nvSpPr>
            <p:cNvPr id="50188" name="Text Box 12"/>
            <p:cNvSpPr txBox="1">
              <a:spLocks noChangeArrowheads="1"/>
            </p:cNvSpPr>
            <p:nvPr/>
          </p:nvSpPr>
          <p:spPr bwMode="auto">
            <a:xfrm>
              <a:off x="1584"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12</a:t>
              </a:r>
            </a:p>
          </p:txBody>
        </p:sp>
        <p:sp>
          <p:nvSpPr>
            <p:cNvPr id="50189" name="Text Box 13"/>
            <p:cNvSpPr txBox="1">
              <a:spLocks noChangeArrowheads="1"/>
            </p:cNvSpPr>
            <p:nvPr/>
          </p:nvSpPr>
          <p:spPr bwMode="auto">
            <a:xfrm>
              <a:off x="1920" y="3408"/>
              <a:ext cx="57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INTM</a:t>
              </a:r>
            </a:p>
          </p:txBody>
        </p:sp>
        <p:sp>
          <p:nvSpPr>
            <p:cNvPr id="50190" name="Text Box 14"/>
            <p:cNvSpPr txBox="1">
              <a:spLocks noChangeArrowheads="1"/>
            </p:cNvSpPr>
            <p:nvPr/>
          </p:nvSpPr>
          <p:spPr bwMode="auto">
            <a:xfrm>
              <a:off x="2064" y="3120"/>
              <a:ext cx="27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11</a:t>
              </a:r>
            </a:p>
          </p:txBody>
        </p:sp>
        <p:sp>
          <p:nvSpPr>
            <p:cNvPr id="50191" name="Text Box 15"/>
            <p:cNvSpPr txBox="1">
              <a:spLocks noChangeArrowheads="1"/>
            </p:cNvSpPr>
            <p:nvPr/>
          </p:nvSpPr>
          <p:spPr bwMode="auto">
            <a:xfrm>
              <a:off x="2448" y="3408"/>
              <a:ext cx="33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0</a:t>
              </a:r>
            </a:p>
          </p:txBody>
        </p:sp>
        <p:sp>
          <p:nvSpPr>
            <p:cNvPr id="50192" name="Text Box 16"/>
            <p:cNvSpPr txBox="1">
              <a:spLocks noChangeArrowheads="1"/>
            </p:cNvSpPr>
            <p:nvPr/>
          </p:nvSpPr>
          <p:spPr bwMode="auto">
            <a:xfrm>
              <a:off x="2400"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10</a:t>
              </a:r>
            </a:p>
          </p:txBody>
        </p:sp>
        <p:sp>
          <p:nvSpPr>
            <p:cNvPr id="50193" name="Text Box 17"/>
            <p:cNvSpPr txBox="1">
              <a:spLocks noChangeArrowheads="1"/>
            </p:cNvSpPr>
            <p:nvPr/>
          </p:nvSpPr>
          <p:spPr bwMode="auto">
            <a:xfrm>
              <a:off x="2688" y="3408"/>
              <a:ext cx="528"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OVM</a:t>
              </a:r>
            </a:p>
          </p:txBody>
        </p:sp>
        <p:sp>
          <p:nvSpPr>
            <p:cNvPr id="50194" name="Text Box 18"/>
            <p:cNvSpPr txBox="1">
              <a:spLocks noChangeArrowheads="1"/>
            </p:cNvSpPr>
            <p:nvPr/>
          </p:nvSpPr>
          <p:spPr bwMode="auto">
            <a:xfrm>
              <a:off x="2832"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9</a:t>
              </a:r>
            </a:p>
          </p:txBody>
        </p:sp>
        <p:sp>
          <p:nvSpPr>
            <p:cNvPr id="50195" name="Text Box 19"/>
            <p:cNvSpPr txBox="1">
              <a:spLocks noChangeArrowheads="1"/>
            </p:cNvSpPr>
            <p:nvPr/>
          </p:nvSpPr>
          <p:spPr bwMode="auto">
            <a:xfrm>
              <a:off x="3168"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SXM</a:t>
              </a:r>
            </a:p>
          </p:txBody>
        </p:sp>
        <p:sp>
          <p:nvSpPr>
            <p:cNvPr id="50196" name="Text Box 20"/>
            <p:cNvSpPr txBox="1">
              <a:spLocks noChangeArrowheads="1"/>
            </p:cNvSpPr>
            <p:nvPr/>
          </p:nvSpPr>
          <p:spPr bwMode="auto">
            <a:xfrm>
              <a:off x="3264" y="312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a:t>
              </a:r>
            </a:p>
          </p:txBody>
        </p:sp>
        <p:sp>
          <p:nvSpPr>
            <p:cNvPr id="50197" name="Text Box 21"/>
            <p:cNvSpPr txBox="1">
              <a:spLocks noChangeArrowheads="1"/>
            </p:cNvSpPr>
            <p:nvPr/>
          </p:nvSpPr>
          <p:spPr bwMode="auto">
            <a:xfrm>
              <a:off x="3600"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C16</a:t>
              </a:r>
            </a:p>
          </p:txBody>
        </p:sp>
        <p:sp>
          <p:nvSpPr>
            <p:cNvPr id="50198" name="Text Box 22"/>
            <p:cNvSpPr txBox="1">
              <a:spLocks noChangeArrowheads="1"/>
            </p:cNvSpPr>
            <p:nvPr/>
          </p:nvSpPr>
          <p:spPr bwMode="auto">
            <a:xfrm>
              <a:off x="3696"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a:t>
              </a:r>
            </a:p>
          </p:txBody>
        </p:sp>
        <p:sp>
          <p:nvSpPr>
            <p:cNvPr id="50199" name="Text Box 23"/>
            <p:cNvSpPr txBox="1">
              <a:spLocks noChangeArrowheads="1"/>
            </p:cNvSpPr>
            <p:nvPr/>
          </p:nvSpPr>
          <p:spPr bwMode="auto">
            <a:xfrm>
              <a:off x="3984" y="340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FRCT</a:t>
              </a:r>
            </a:p>
          </p:txBody>
        </p:sp>
        <p:sp>
          <p:nvSpPr>
            <p:cNvPr id="50200" name="Text Box 24"/>
            <p:cNvSpPr txBox="1">
              <a:spLocks noChangeArrowheads="1"/>
            </p:cNvSpPr>
            <p:nvPr/>
          </p:nvSpPr>
          <p:spPr bwMode="auto">
            <a:xfrm>
              <a:off x="4128" y="3120"/>
              <a:ext cx="2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6</a:t>
              </a:r>
            </a:p>
          </p:txBody>
        </p:sp>
        <p:sp>
          <p:nvSpPr>
            <p:cNvPr id="50201" name="Text Box 25"/>
            <p:cNvSpPr txBox="1">
              <a:spLocks noChangeArrowheads="1"/>
            </p:cNvSpPr>
            <p:nvPr/>
          </p:nvSpPr>
          <p:spPr bwMode="auto">
            <a:xfrm>
              <a:off x="4512" y="340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CMPT</a:t>
              </a:r>
            </a:p>
          </p:txBody>
        </p:sp>
        <p:sp>
          <p:nvSpPr>
            <p:cNvPr id="50202" name="Text Box 26"/>
            <p:cNvSpPr txBox="1">
              <a:spLocks noChangeArrowheads="1"/>
            </p:cNvSpPr>
            <p:nvPr/>
          </p:nvSpPr>
          <p:spPr bwMode="auto">
            <a:xfrm>
              <a:off x="4656" y="312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5</a:t>
              </a:r>
            </a:p>
          </p:txBody>
        </p:sp>
        <p:sp>
          <p:nvSpPr>
            <p:cNvPr id="50203" name="Text Box 27"/>
            <p:cNvSpPr txBox="1">
              <a:spLocks noChangeArrowheads="1"/>
            </p:cNvSpPr>
            <p:nvPr/>
          </p:nvSpPr>
          <p:spPr bwMode="auto">
            <a:xfrm>
              <a:off x="5088"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ASM</a:t>
              </a:r>
            </a:p>
          </p:txBody>
        </p:sp>
        <p:sp>
          <p:nvSpPr>
            <p:cNvPr id="50204" name="Text Box 28"/>
            <p:cNvSpPr txBox="1">
              <a:spLocks noChangeArrowheads="1"/>
            </p:cNvSpPr>
            <p:nvPr/>
          </p:nvSpPr>
          <p:spPr bwMode="auto">
            <a:xfrm>
              <a:off x="5040" y="3120"/>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 </a:t>
              </a:r>
              <a:r>
                <a:rPr lang="zh-CN" altLang="en-US">
                  <a:latin typeface="宋体" panose="02010600030101010101" pitchFamily="2" charset="-122"/>
                </a:rPr>
                <a:t>～</a:t>
              </a:r>
              <a:r>
                <a:rPr lang="zh-CN" altLang="en-US"/>
                <a:t> </a:t>
              </a:r>
              <a:r>
                <a:rPr lang="en-US" altLang="zh-CN"/>
                <a:t>0</a:t>
              </a:r>
            </a:p>
          </p:txBody>
        </p:sp>
      </p:grpSp>
      <p:sp>
        <p:nvSpPr>
          <p:cNvPr id="546845" name="AutoShape 29" descr="小棋盘"/>
          <p:cNvSpPr>
            <a:spLocks noChangeArrowheads="1"/>
          </p:cNvSpPr>
          <p:nvPr/>
        </p:nvSpPr>
        <p:spPr bwMode="auto">
          <a:xfrm>
            <a:off x="381000" y="3810000"/>
            <a:ext cx="1676400" cy="2133600"/>
          </a:xfrm>
          <a:prstGeom prst="wedgeRoundRectCallout">
            <a:avLst>
              <a:gd name="adj1" fmla="val 129546"/>
              <a:gd name="adj2" fmla="val -102829"/>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tx2"/>
                </a:solidFill>
              </a:rPr>
              <a:t>中断方式位。从整体上屏蔽</a:t>
            </a:r>
            <a:r>
              <a:rPr lang="en-US" altLang="zh-CN" sz="2400">
                <a:solidFill>
                  <a:schemeClr val="tx2"/>
                </a:solidFill>
              </a:rPr>
              <a:t>(1)</a:t>
            </a:r>
            <a:r>
              <a:rPr lang="zh-CN" altLang="en-US" sz="2400">
                <a:solidFill>
                  <a:schemeClr val="tx2"/>
                </a:solidFill>
              </a:rPr>
              <a:t>或开放</a:t>
            </a:r>
            <a:r>
              <a:rPr lang="en-US" altLang="zh-CN" sz="2800" b="0">
                <a:solidFill>
                  <a:schemeClr val="tx2"/>
                </a:solidFill>
              </a:rPr>
              <a:t>(0)</a:t>
            </a:r>
            <a:r>
              <a:rPr lang="zh-CN" altLang="en-US" sz="2400">
                <a:solidFill>
                  <a:schemeClr val="tx2"/>
                </a:solidFill>
              </a:rPr>
              <a:t>中断。</a:t>
            </a:r>
            <a:endParaRPr lang="zh-CN" altLang="en-US" sz="2800" b="0">
              <a:solidFill>
                <a:schemeClr val="tx2"/>
              </a:solidFill>
            </a:endParaRPr>
          </a:p>
        </p:txBody>
      </p:sp>
      <p:sp>
        <p:nvSpPr>
          <p:cNvPr id="546846" name="AutoShape 30" descr="小棋盘"/>
          <p:cNvSpPr>
            <a:spLocks noChangeArrowheads="1"/>
          </p:cNvSpPr>
          <p:nvPr/>
        </p:nvSpPr>
        <p:spPr bwMode="auto">
          <a:xfrm>
            <a:off x="3203575" y="3581400"/>
            <a:ext cx="2511425" cy="2224088"/>
          </a:xfrm>
          <a:prstGeom prst="wedgeRoundRectCallout">
            <a:avLst>
              <a:gd name="adj1" fmla="val 12074"/>
              <a:gd name="adj2" fmla="val -93824"/>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t>溢出方式位。确定发生溢出时以正常</a:t>
            </a:r>
            <a:r>
              <a:rPr lang="en-US" altLang="zh-CN" sz="2400"/>
              <a:t>(0)</a:t>
            </a:r>
            <a:r>
              <a:rPr lang="zh-CN" altLang="en-US" sz="2400"/>
              <a:t>或饱和</a:t>
            </a:r>
            <a:r>
              <a:rPr lang="en-US" altLang="zh-CN" sz="2400"/>
              <a:t>(1)</a:t>
            </a:r>
            <a:r>
              <a:rPr lang="zh-CN" altLang="en-US" sz="2400"/>
              <a:t>方式加载目的累加器。</a:t>
            </a:r>
          </a:p>
        </p:txBody>
      </p:sp>
      <p:sp>
        <p:nvSpPr>
          <p:cNvPr id="546847" name="AutoShape 31" descr="小棋盘"/>
          <p:cNvSpPr>
            <a:spLocks noChangeArrowheads="1"/>
          </p:cNvSpPr>
          <p:nvPr/>
        </p:nvSpPr>
        <p:spPr bwMode="auto">
          <a:xfrm>
            <a:off x="7308850" y="3352800"/>
            <a:ext cx="1454150" cy="2743200"/>
          </a:xfrm>
          <a:prstGeom prst="wedgeRoundRectCallout">
            <a:avLst>
              <a:gd name="adj1" fmla="val -177731"/>
              <a:gd name="adj2" fmla="val -77315"/>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FF6600"/>
                </a:solidFill>
              </a:rPr>
              <a:t>符号位扩展方式位。确定符号位是</a:t>
            </a:r>
            <a:r>
              <a:rPr lang="en-US" altLang="zh-CN" sz="2400">
                <a:solidFill>
                  <a:srgbClr val="FF6600"/>
                </a:solidFill>
              </a:rPr>
              <a:t>(1)</a:t>
            </a:r>
            <a:r>
              <a:rPr lang="zh-CN" altLang="en-US" sz="2400">
                <a:solidFill>
                  <a:srgbClr val="FF6600"/>
                </a:solidFill>
              </a:rPr>
              <a:t>否</a:t>
            </a:r>
            <a:r>
              <a:rPr lang="en-US" altLang="zh-CN" sz="2400">
                <a:solidFill>
                  <a:srgbClr val="FF6600"/>
                </a:solidFill>
              </a:rPr>
              <a:t>(0)</a:t>
            </a:r>
            <a:r>
              <a:rPr lang="zh-CN" altLang="en-US" sz="2400">
                <a:solidFill>
                  <a:srgbClr val="FF6600"/>
                </a:solidFill>
              </a:rPr>
              <a:t>扩展。</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46845"/>
                                        </p:tgtEl>
                                        <p:attrNameLst>
                                          <p:attrName>style.visibility</p:attrName>
                                        </p:attrNameLst>
                                      </p:cBhvr>
                                      <p:to>
                                        <p:strVal val="visible"/>
                                      </p:to>
                                    </p:set>
                                    <p:anim calcmode="lin" valueType="num">
                                      <p:cBhvr additive="base">
                                        <p:cTn id="12" dur="500" fill="hold"/>
                                        <p:tgtEl>
                                          <p:spTgt spid="546845"/>
                                        </p:tgtEl>
                                        <p:attrNameLst>
                                          <p:attrName>ppt_x</p:attrName>
                                        </p:attrNameLst>
                                      </p:cBhvr>
                                      <p:tavLst>
                                        <p:tav tm="0">
                                          <p:val>
                                            <p:strVal val="0-#ppt_w/2"/>
                                          </p:val>
                                        </p:tav>
                                        <p:tav tm="100000">
                                          <p:val>
                                            <p:strVal val="#ppt_x"/>
                                          </p:val>
                                        </p:tav>
                                      </p:tavLst>
                                    </p:anim>
                                    <p:anim calcmode="lin" valueType="num">
                                      <p:cBhvr additive="base">
                                        <p:cTn id="13" dur="500" fill="hold"/>
                                        <p:tgtEl>
                                          <p:spTgt spid="546845"/>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46846"/>
                                        </p:tgtEl>
                                        <p:attrNameLst>
                                          <p:attrName>style.visibility</p:attrName>
                                        </p:attrNameLst>
                                      </p:cBhvr>
                                      <p:to>
                                        <p:strVal val="visible"/>
                                      </p:to>
                                    </p:set>
                                    <p:anim calcmode="lin" valueType="num">
                                      <p:cBhvr additive="base">
                                        <p:cTn id="17" dur="500" fill="hold"/>
                                        <p:tgtEl>
                                          <p:spTgt spid="546846"/>
                                        </p:tgtEl>
                                        <p:attrNameLst>
                                          <p:attrName>ppt_x</p:attrName>
                                        </p:attrNameLst>
                                      </p:cBhvr>
                                      <p:tavLst>
                                        <p:tav tm="0">
                                          <p:val>
                                            <p:strVal val="#ppt_x"/>
                                          </p:val>
                                        </p:tav>
                                        <p:tav tm="100000">
                                          <p:val>
                                            <p:strVal val="#ppt_x"/>
                                          </p:val>
                                        </p:tav>
                                      </p:tavLst>
                                    </p:anim>
                                    <p:anim calcmode="lin" valueType="num">
                                      <p:cBhvr additive="base">
                                        <p:cTn id="18" dur="500" fill="hold"/>
                                        <p:tgtEl>
                                          <p:spTgt spid="546846"/>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546847"/>
                                        </p:tgtEl>
                                        <p:attrNameLst>
                                          <p:attrName>style.visibility</p:attrName>
                                        </p:attrNameLst>
                                      </p:cBhvr>
                                      <p:to>
                                        <p:strVal val="visible"/>
                                      </p:to>
                                    </p:set>
                                    <p:anim calcmode="lin" valueType="num">
                                      <p:cBhvr additive="base">
                                        <p:cTn id="22" dur="500" fill="hold"/>
                                        <p:tgtEl>
                                          <p:spTgt spid="546847"/>
                                        </p:tgtEl>
                                        <p:attrNameLst>
                                          <p:attrName>ppt_x</p:attrName>
                                        </p:attrNameLst>
                                      </p:cBhvr>
                                      <p:tavLst>
                                        <p:tav tm="0">
                                          <p:val>
                                            <p:strVal val="1+#ppt_w/2"/>
                                          </p:val>
                                        </p:tav>
                                        <p:tav tm="100000">
                                          <p:val>
                                            <p:strVal val="#ppt_x"/>
                                          </p:val>
                                        </p:tav>
                                      </p:tavLst>
                                    </p:anim>
                                    <p:anim calcmode="lin" valueType="num">
                                      <p:cBhvr additive="base">
                                        <p:cTn id="23" dur="500" fill="hold"/>
                                        <p:tgtEl>
                                          <p:spTgt spid="5468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45" grpId="0" animBg="1" autoUpdateAnimBg="0"/>
      <p:bldP spid="546846" grpId="0" animBg="1" autoUpdateAnimBg="0"/>
      <p:bldP spid="546847"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4CA28C8-666E-493B-89F4-465D00B1B2D0}" type="slidenum">
              <a:rPr lang="en-US" altLang="zh-CN" sz="1400" b="0"/>
              <a:pPr eaLnBrk="1" hangingPunct="1"/>
              <a:t>38</a:t>
            </a:fld>
            <a:endParaRPr lang="en-US" altLang="zh-CN" sz="1400" b="0"/>
          </a:p>
        </p:txBody>
      </p:sp>
      <p:grpSp>
        <p:nvGrpSpPr>
          <p:cNvPr id="2" name="Group 2"/>
          <p:cNvGrpSpPr>
            <a:grpSpLocks/>
          </p:cNvGrpSpPr>
          <p:nvPr/>
        </p:nvGrpSpPr>
        <p:grpSpPr bwMode="auto">
          <a:xfrm>
            <a:off x="228600" y="1371600"/>
            <a:ext cx="8686800" cy="863600"/>
            <a:chOff x="144" y="3120"/>
            <a:chExt cx="5472" cy="544"/>
          </a:xfrm>
        </p:grpSpPr>
        <p:sp>
          <p:nvSpPr>
            <p:cNvPr id="51208" name="Text Box 3"/>
            <p:cNvSpPr txBox="1">
              <a:spLocks noChangeArrowheads="1"/>
            </p:cNvSpPr>
            <p:nvPr/>
          </p:nvSpPr>
          <p:spPr bwMode="auto">
            <a:xfrm>
              <a:off x="144" y="340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BRAF</a:t>
              </a:r>
            </a:p>
          </p:txBody>
        </p:sp>
        <p:sp>
          <p:nvSpPr>
            <p:cNvPr id="51209" name="Text Box 4"/>
            <p:cNvSpPr txBox="1">
              <a:spLocks noChangeArrowheads="1"/>
            </p:cNvSpPr>
            <p:nvPr/>
          </p:nvSpPr>
          <p:spPr bwMode="auto">
            <a:xfrm>
              <a:off x="288"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15</a:t>
              </a:r>
            </a:p>
          </p:txBody>
        </p:sp>
        <p:grpSp>
          <p:nvGrpSpPr>
            <p:cNvPr id="51210" name="Group 5"/>
            <p:cNvGrpSpPr>
              <a:grpSpLocks/>
            </p:cNvGrpSpPr>
            <p:nvPr/>
          </p:nvGrpSpPr>
          <p:grpSpPr bwMode="auto">
            <a:xfrm>
              <a:off x="672" y="3120"/>
              <a:ext cx="480" cy="544"/>
              <a:chOff x="1344" y="2112"/>
              <a:chExt cx="480" cy="544"/>
            </a:xfrm>
          </p:grpSpPr>
          <p:sp>
            <p:nvSpPr>
              <p:cNvPr id="51232" name="Text Box 6"/>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CPL</a:t>
                </a:r>
              </a:p>
            </p:txBody>
          </p:sp>
          <p:sp>
            <p:nvSpPr>
              <p:cNvPr id="51233" name="Text Box 7"/>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14</a:t>
                </a:r>
              </a:p>
            </p:txBody>
          </p:sp>
        </p:grpSp>
        <p:grpSp>
          <p:nvGrpSpPr>
            <p:cNvPr id="51211" name="Group 8"/>
            <p:cNvGrpSpPr>
              <a:grpSpLocks/>
            </p:cNvGrpSpPr>
            <p:nvPr/>
          </p:nvGrpSpPr>
          <p:grpSpPr bwMode="auto">
            <a:xfrm>
              <a:off x="1104" y="3120"/>
              <a:ext cx="480" cy="544"/>
              <a:chOff x="1344" y="2112"/>
              <a:chExt cx="480" cy="544"/>
            </a:xfrm>
          </p:grpSpPr>
          <p:sp>
            <p:nvSpPr>
              <p:cNvPr id="51230" name="Text Box 9"/>
              <p:cNvSpPr txBox="1">
                <a:spLocks noChangeArrowheads="1"/>
              </p:cNvSpPr>
              <p:nvPr/>
            </p:nvSpPr>
            <p:spPr bwMode="auto">
              <a:xfrm>
                <a:off x="1344" y="2400"/>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XF</a:t>
                </a:r>
              </a:p>
            </p:txBody>
          </p:sp>
          <p:sp>
            <p:nvSpPr>
              <p:cNvPr id="51231" name="Text Box 10"/>
              <p:cNvSpPr txBox="1">
                <a:spLocks noChangeArrowheads="1"/>
              </p:cNvSpPr>
              <p:nvPr/>
            </p:nvSpPr>
            <p:spPr bwMode="auto">
              <a:xfrm>
                <a:off x="1392" y="211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13</a:t>
                </a:r>
              </a:p>
            </p:txBody>
          </p:sp>
        </p:grpSp>
        <p:sp>
          <p:nvSpPr>
            <p:cNvPr id="51212" name="Text Box 11"/>
            <p:cNvSpPr txBox="1">
              <a:spLocks noChangeArrowheads="1"/>
            </p:cNvSpPr>
            <p:nvPr/>
          </p:nvSpPr>
          <p:spPr bwMode="auto">
            <a:xfrm>
              <a:off x="1488"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HM</a:t>
              </a:r>
            </a:p>
          </p:txBody>
        </p:sp>
        <p:sp>
          <p:nvSpPr>
            <p:cNvPr id="51213" name="Text Box 12"/>
            <p:cNvSpPr txBox="1">
              <a:spLocks noChangeArrowheads="1"/>
            </p:cNvSpPr>
            <p:nvPr/>
          </p:nvSpPr>
          <p:spPr bwMode="auto">
            <a:xfrm>
              <a:off x="1584"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12</a:t>
              </a:r>
            </a:p>
          </p:txBody>
        </p:sp>
        <p:sp>
          <p:nvSpPr>
            <p:cNvPr id="51214" name="Text Box 13"/>
            <p:cNvSpPr txBox="1">
              <a:spLocks noChangeArrowheads="1"/>
            </p:cNvSpPr>
            <p:nvPr/>
          </p:nvSpPr>
          <p:spPr bwMode="auto">
            <a:xfrm>
              <a:off x="1920" y="3408"/>
              <a:ext cx="57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INTM</a:t>
              </a:r>
            </a:p>
          </p:txBody>
        </p:sp>
        <p:sp>
          <p:nvSpPr>
            <p:cNvPr id="51215" name="Text Box 14"/>
            <p:cNvSpPr txBox="1">
              <a:spLocks noChangeArrowheads="1"/>
            </p:cNvSpPr>
            <p:nvPr/>
          </p:nvSpPr>
          <p:spPr bwMode="auto">
            <a:xfrm>
              <a:off x="2064" y="3120"/>
              <a:ext cx="27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11</a:t>
              </a:r>
            </a:p>
          </p:txBody>
        </p:sp>
        <p:sp>
          <p:nvSpPr>
            <p:cNvPr id="51216" name="Text Box 15"/>
            <p:cNvSpPr txBox="1">
              <a:spLocks noChangeArrowheads="1"/>
            </p:cNvSpPr>
            <p:nvPr/>
          </p:nvSpPr>
          <p:spPr bwMode="auto">
            <a:xfrm>
              <a:off x="2448" y="3408"/>
              <a:ext cx="33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0</a:t>
              </a:r>
            </a:p>
          </p:txBody>
        </p:sp>
        <p:sp>
          <p:nvSpPr>
            <p:cNvPr id="51217" name="Text Box 16"/>
            <p:cNvSpPr txBox="1">
              <a:spLocks noChangeArrowheads="1"/>
            </p:cNvSpPr>
            <p:nvPr/>
          </p:nvSpPr>
          <p:spPr bwMode="auto">
            <a:xfrm>
              <a:off x="2400"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10</a:t>
              </a:r>
            </a:p>
          </p:txBody>
        </p:sp>
        <p:sp>
          <p:nvSpPr>
            <p:cNvPr id="51218" name="Text Box 17"/>
            <p:cNvSpPr txBox="1">
              <a:spLocks noChangeArrowheads="1"/>
            </p:cNvSpPr>
            <p:nvPr/>
          </p:nvSpPr>
          <p:spPr bwMode="auto">
            <a:xfrm>
              <a:off x="2688" y="3408"/>
              <a:ext cx="528"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OVM</a:t>
              </a:r>
            </a:p>
          </p:txBody>
        </p:sp>
        <p:sp>
          <p:nvSpPr>
            <p:cNvPr id="51219" name="Text Box 18"/>
            <p:cNvSpPr txBox="1">
              <a:spLocks noChangeArrowheads="1"/>
            </p:cNvSpPr>
            <p:nvPr/>
          </p:nvSpPr>
          <p:spPr bwMode="auto">
            <a:xfrm>
              <a:off x="2832"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9</a:t>
              </a:r>
            </a:p>
          </p:txBody>
        </p:sp>
        <p:sp>
          <p:nvSpPr>
            <p:cNvPr id="51220" name="Text Box 19"/>
            <p:cNvSpPr txBox="1">
              <a:spLocks noChangeArrowheads="1"/>
            </p:cNvSpPr>
            <p:nvPr/>
          </p:nvSpPr>
          <p:spPr bwMode="auto">
            <a:xfrm>
              <a:off x="3168"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SXM</a:t>
              </a:r>
            </a:p>
          </p:txBody>
        </p:sp>
        <p:sp>
          <p:nvSpPr>
            <p:cNvPr id="51221" name="Text Box 20"/>
            <p:cNvSpPr txBox="1">
              <a:spLocks noChangeArrowheads="1"/>
            </p:cNvSpPr>
            <p:nvPr/>
          </p:nvSpPr>
          <p:spPr bwMode="auto">
            <a:xfrm>
              <a:off x="3264" y="312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a:t>
              </a:r>
            </a:p>
          </p:txBody>
        </p:sp>
        <p:sp>
          <p:nvSpPr>
            <p:cNvPr id="51222" name="Text Box 21"/>
            <p:cNvSpPr txBox="1">
              <a:spLocks noChangeArrowheads="1"/>
            </p:cNvSpPr>
            <p:nvPr/>
          </p:nvSpPr>
          <p:spPr bwMode="auto">
            <a:xfrm>
              <a:off x="3600"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C16</a:t>
              </a:r>
            </a:p>
          </p:txBody>
        </p:sp>
        <p:sp>
          <p:nvSpPr>
            <p:cNvPr id="51223" name="Text Box 22"/>
            <p:cNvSpPr txBox="1">
              <a:spLocks noChangeArrowheads="1"/>
            </p:cNvSpPr>
            <p:nvPr/>
          </p:nvSpPr>
          <p:spPr bwMode="auto">
            <a:xfrm>
              <a:off x="3696" y="31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a:t>
              </a:r>
            </a:p>
          </p:txBody>
        </p:sp>
        <p:sp>
          <p:nvSpPr>
            <p:cNvPr id="51224" name="Text Box 23"/>
            <p:cNvSpPr txBox="1">
              <a:spLocks noChangeArrowheads="1"/>
            </p:cNvSpPr>
            <p:nvPr/>
          </p:nvSpPr>
          <p:spPr bwMode="auto">
            <a:xfrm>
              <a:off x="3984" y="340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FRCT</a:t>
              </a:r>
            </a:p>
          </p:txBody>
        </p:sp>
        <p:sp>
          <p:nvSpPr>
            <p:cNvPr id="51225" name="Text Box 24"/>
            <p:cNvSpPr txBox="1">
              <a:spLocks noChangeArrowheads="1"/>
            </p:cNvSpPr>
            <p:nvPr/>
          </p:nvSpPr>
          <p:spPr bwMode="auto">
            <a:xfrm>
              <a:off x="4128" y="3120"/>
              <a:ext cx="2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6</a:t>
              </a:r>
            </a:p>
          </p:txBody>
        </p:sp>
        <p:sp>
          <p:nvSpPr>
            <p:cNvPr id="51226" name="Text Box 25"/>
            <p:cNvSpPr txBox="1">
              <a:spLocks noChangeArrowheads="1"/>
            </p:cNvSpPr>
            <p:nvPr/>
          </p:nvSpPr>
          <p:spPr bwMode="auto">
            <a:xfrm>
              <a:off x="4512" y="340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CMPT</a:t>
              </a:r>
            </a:p>
          </p:txBody>
        </p:sp>
        <p:sp>
          <p:nvSpPr>
            <p:cNvPr id="51227" name="Text Box 26"/>
            <p:cNvSpPr txBox="1">
              <a:spLocks noChangeArrowheads="1"/>
            </p:cNvSpPr>
            <p:nvPr/>
          </p:nvSpPr>
          <p:spPr bwMode="auto">
            <a:xfrm>
              <a:off x="4656" y="312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5</a:t>
              </a:r>
            </a:p>
          </p:txBody>
        </p:sp>
        <p:sp>
          <p:nvSpPr>
            <p:cNvPr id="51228" name="Text Box 27"/>
            <p:cNvSpPr txBox="1">
              <a:spLocks noChangeArrowheads="1"/>
            </p:cNvSpPr>
            <p:nvPr/>
          </p:nvSpPr>
          <p:spPr bwMode="auto">
            <a:xfrm>
              <a:off x="5088" y="340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ASM</a:t>
              </a:r>
            </a:p>
          </p:txBody>
        </p:sp>
        <p:sp>
          <p:nvSpPr>
            <p:cNvPr id="51229" name="Text Box 28"/>
            <p:cNvSpPr txBox="1">
              <a:spLocks noChangeArrowheads="1"/>
            </p:cNvSpPr>
            <p:nvPr/>
          </p:nvSpPr>
          <p:spPr bwMode="auto">
            <a:xfrm>
              <a:off x="5040" y="3120"/>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 </a:t>
              </a:r>
              <a:r>
                <a:rPr lang="zh-CN" altLang="en-US">
                  <a:latin typeface="宋体" panose="02010600030101010101" pitchFamily="2" charset="-122"/>
                </a:rPr>
                <a:t>～</a:t>
              </a:r>
              <a:r>
                <a:rPr lang="zh-CN" altLang="en-US"/>
                <a:t> </a:t>
              </a:r>
              <a:r>
                <a:rPr lang="en-US" altLang="zh-CN"/>
                <a:t>0</a:t>
              </a:r>
            </a:p>
          </p:txBody>
        </p:sp>
      </p:grpSp>
      <p:sp>
        <p:nvSpPr>
          <p:cNvPr id="547869" name="AutoShape 29" descr="小棋盘"/>
          <p:cNvSpPr>
            <a:spLocks noChangeArrowheads="1"/>
          </p:cNvSpPr>
          <p:nvPr/>
        </p:nvSpPr>
        <p:spPr bwMode="auto">
          <a:xfrm>
            <a:off x="300038" y="2895600"/>
            <a:ext cx="1757362" cy="2971800"/>
          </a:xfrm>
          <a:prstGeom prst="wedgeRoundRectCallout">
            <a:avLst>
              <a:gd name="adj1" fmla="val 275949"/>
              <a:gd name="adj2" fmla="val -69606"/>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t>双</a:t>
            </a:r>
            <a:r>
              <a:rPr lang="en-US" altLang="zh-CN" sz="2400"/>
              <a:t>16</a:t>
            </a:r>
            <a:r>
              <a:rPr lang="zh-CN" altLang="en-US" sz="2400"/>
              <a:t>位</a:t>
            </a:r>
            <a:r>
              <a:rPr lang="en-US" altLang="zh-CN" sz="2400"/>
              <a:t>(1)/</a:t>
            </a:r>
            <a:r>
              <a:rPr lang="zh-CN" altLang="en-US" sz="2400"/>
              <a:t>双精度</a:t>
            </a:r>
            <a:r>
              <a:rPr lang="en-US" altLang="zh-CN" sz="2400"/>
              <a:t>(0)</a:t>
            </a:r>
            <a:r>
              <a:rPr lang="zh-CN" altLang="en-US" sz="2400"/>
              <a:t>算术运算方式位。决定</a:t>
            </a:r>
            <a:r>
              <a:rPr lang="en-US" altLang="zh-CN" sz="2400"/>
              <a:t>ALU</a:t>
            </a:r>
            <a:r>
              <a:rPr lang="zh-CN" altLang="en-US" sz="2400"/>
              <a:t>的算术运算方式</a:t>
            </a:r>
          </a:p>
        </p:txBody>
      </p:sp>
      <p:sp>
        <p:nvSpPr>
          <p:cNvPr id="547870" name="AutoShape 30" descr="小棋盘"/>
          <p:cNvSpPr>
            <a:spLocks noChangeArrowheads="1"/>
          </p:cNvSpPr>
          <p:nvPr/>
        </p:nvSpPr>
        <p:spPr bwMode="auto">
          <a:xfrm>
            <a:off x="2286000" y="4114800"/>
            <a:ext cx="2286000" cy="2057400"/>
          </a:xfrm>
          <a:prstGeom prst="wedgeRoundRectCallout">
            <a:avLst>
              <a:gd name="adj1" fmla="val 141181"/>
              <a:gd name="adj2" fmla="val -133949"/>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chemeClr val="folHlink"/>
                </a:solidFill>
              </a:rPr>
              <a:t>小数方式位。当为</a:t>
            </a:r>
            <a:r>
              <a:rPr lang="en-US" altLang="zh-CN" sz="2400">
                <a:solidFill>
                  <a:schemeClr val="folHlink"/>
                </a:solidFill>
              </a:rPr>
              <a:t>1</a:t>
            </a:r>
            <a:r>
              <a:rPr lang="zh-CN" altLang="en-US" sz="2400">
                <a:solidFill>
                  <a:schemeClr val="folHlink"/>
                </a:solidFill>
              </a:rPr>
              <a:t>，乘法器输出左移</a:t>
            </a:r>
            <a:r>
              <a:rPr lang="en-US" altLang="zh-CN" sz="2400">
                <a:solidFill>
                  <a:schemeClr val="folHlink"/>
                </a:solidFill>
              </a:rPr>
              <a:t>1</a:t>
            </a:r>
            <a:r>
              <a:rPr lang="zh-CN" altLang="en-US" sz="2400">
                <a:solidFill>
                  <a:schemeClr val="folHlink"/>
                </a:solidFill>
              </a:rPr>
              <a:t>位，以消去多余的符号位。</a:t>
            </a:r>
          </a:p>
        </p:txBody>
      </p:sp>
      <p:sp>
        <p:nvSpPr>
          <p:cNvPr id="547871" name="AutoShape 31" descr="小棋盘"/>
          <p:cNvSpPr>
            <a:spLocks noChangeArrowheads="1"/>
          </p:cNvSpPr>
          <p:nvPr/>
        </p:nvSpPr>
        <p:spPr bwMode="auto">
          <a:xfrm>
            <a:off x="4932363" y="4419600"/>
            <a:ext cx="2160587" cy="1828800"/>
          </a:xfrm>
          <a:prstGeom prst="wedgeRoundRectCallout">
            <a:avLst>
              <a:gd name="adj1" fmla="val 67338"/>
              <a:gd name="adj2" fmla="val -160417"/>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rgbClr val="006600"/>
                </a:solidFill>
              </a:rPr>
              <a:t>修正方式位，决定</a:t>
            </a:r>
            <a:r>
              <a:rPr lang="en-US" altLang="zh-CN" sz="2400">
                <a:solidFill>
                  <a:srgbClr val="006600"/>
                </a:solidFill>
              </a:rPr>
              <a:t>ARP</a:t>
            </a:r>
            <a:r>
              <a:rPr lang="zh-CN" altLang="en-US" sz="2400">
                <a:solidFill>
                  <a:srgbClr val="006600"/>
                </a:solidFill>
              </a:rPr>
              <a:t>是</a:t>
            </a:r>
            <a:r>
              <a:rPr lang="en-US" altLang="zh-CN" sz="2400">
                <a:solidFill>
                  <a:srgbClr val="006600"/>
                </a:solidFill>
              </a:rPr>
              <a:t>(1)</a:t>
            </a:r>
            <a:r>
              <a:rPr lang="zh-CN" altLang="en-US" sz="2400">
                <a:solidFill>
                  <a:srgbClr val="006600"/>
                </a:solidFill>
              </a:rPr>
              <a:t>否</a:t>
            </a:r>
            <a:r>
              <a:rPr lang="en-US" altLang="zh-CN" sz="2400">
                <a:solidFill>
                  <a:srgbClr val="006600"/>
                </a:solidFill>
              </a:rPr>
              <a:t>(0)</a:t>
            </a:r>
            <a:r>
              <a:rPr lang="zh-CN" altLang="en-US" sz="2400">
                <a:solidFill>
                  <a:srgbClr val="006600"/>
                </a:solidFill>
              </a:rPr>
              <a:t>可以修正。</a:t>
            </a:r>
          </a:p>
        </p:txBody>
      </p:sp>
      <p:sp>
        <p:nvSpPr>
          <p:cNvPr id="547872" name="AutoShape 32" descr="小棋盘"/>
          <p:cNvSpPr>
            <a:spLocks noChangeArrowheads="1"/>
          </p:cNvSpPr>
          <p:nvPr/>
        </p:nvSpPr>
        <p:spPr bwMode="auto">
          <a:xfrm>
            <a:off x="7239000" y="3657600"/>
            <a:ext cx="1677988" cy="2582863"/>
          </a:xfrm>
          <a:prstGeom prst="wedgeRoundRectCallout">
            <a:avLst>
              <a:gd name="adj1" fmla="val 23648"/>
              <a:gd name="adj2" fmla="val -83671"/>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chemeClr val="tx2"/>
                </a:solidFill>
              </a:rPr>
              <a:t>累加器移位方式位。规定一个从</a:t>
            </a:r>
            <a:r>
              <a:rPr lang="en-US" altLang="zh-CN" sz="2400">
                <a:solidFill>
                  <a:schemeClr val="tx2"/>
                </a:solidFill>
              </a:rPr>
              <a:t>-16~15</a:t>
            </a:r>
            <a:r>
              <a:rPr lang="zh-CN" altLang="en-US" sz="2400">
                <a:solidFill>
                  <a:schemeClr val="tx2"/>
                </a:solidFill>
              </a:rPr>
              <a:t>的移位值（</a:t>
            </a:r>
            <a:r>
              <a:rPr lang="en-US" altLang="zh-CN" sz="2400">
                <a:solidFill>
                  <a:schemeClr val="tx2"/>
                </a:solidFill>
              </a:rPr>
              <a:t>2</a:t>
            </a:r>
            <a:r>
              <a:rPr lang="zh-CN" altLang="en-US" sz="2400">
                <a:solidFill>
                  <a:schemeClr val="tx2"/>
                </a:solidFill>
              </a:rPr>
              <a:t>的补码）。</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47869"/>
                                        </p:tgtEl>
                                        <p:attrNameLst>
                                          <p:attrName>style.visibility</p:attrName>
                                        </p:attrNameLst>
                                      </p:cBhvr>
                                      <p:to>
                                        <p:strVal val="visible"/>
                                      </p:to>
                                    </p:set>
                                    <p:anim calcmode="lin" valueType="num">
                                      <p:cBhvr additive="base">
                                        <p:cTn id="12" dur="500" fill="hold"/>
                                        <p:tgtEl>
                                          <p:spTgt spid="547869"/>
                                        </p:tgtEl>
                                        <p:attrNameLst>
                                          <p:attrName>ppt_x</p:attrName>
                                        </p:attrNameLst>
                                      </p:cBhvr>
                                      <p:tavLst>
                                        <p:tav tm="0">
                                          <p:val>
                                            <p:strVal val="0-#ppt_w/2"/>
                                          </p:val>
                                        </p:tav>
                                        <p:tav tm="100000">
                                          <p:val>
                                            <p:strVal val="#ppt_x"/>
                                          </p:val>
                                        </p:tav>
                                      </p:tavLst>
                                    </p:anim>
                                    <p:anim calcmode="lin" valueType="num">
                                      <p:cBhvr additive="base">
                                        <p:cTn id="13" dur="500" fill="hold"/>
                                        <p:tgtEl>
                                          <p:spTgt spid="54786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47870"/>
                                        </p:tgtEl>
                                        <p:attrNameLst>
                                          <p:attrName>style.visibility</p:attrName>
                                        </p:attrNameLst>
                                      </p:cBhvr>
                                      <p:to>
                                        <p:strVal val="visible"/>
                                      </p:to>
                                    </p:set>
                                    <p:anim calcmode="lin" valueType="num">
                                      <p:cBhvr additive="base">
                                        <p:cTn id="17" dur="500" fill="hold"/>
                                        <p:tgtEl>
                                          <p:spTgt spid="547870"/>
                                        </p:tgtEl>
                                        <p:attrNameLst>
                                          <p:attrName>ppt_x</p:attrName>
                                        </p:attrNameLst>
                                      </p:cBhvr>
                                      <p:tavLst>
                                        <p:tav tm="0">
                                          <p:val>
                                            <p:strVal val="#ppt_x"/>
                                          </p:val>
                                        </p:tav>
                                        <p:tav tm="100000">
                                          <p:val>
                                            <p:strVal val="#ppt_x"/>
                                          </p:val>
                                        </p:tav>
                                      </p:tavLst>
                                    </p:anim>
                                    <p:anim calcmode="lin" valueType="num">
                                      <p:cBhvr additive="base">
                                        <p:cTn id="18" dur="500" fill="hold"/>
                                        <p:tgtEl>
                                          <p:spTgt spid="547870"/>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47871"/>
                                        </p:tgtEl>
                                        <p:attrNameLst>
                                          <p:attrName>style.visibility</p:attrName>
                                        </p:attrNameLst>
                                      </p:cBhvr>
                                      <p:to>
                                        <p:strVal val="visible"/>
                                      </p:to>
                                    </p:set>
                                    <p:anim calcmode="lin" valueType="num">
                                      <p:cBhvr additive="base">
                                        <p:cTn id="22" dur="500" fill="hold"/>
                                        <p:tgtEl>
                                          <p:spTgt spid="547871"/>
                                        </p:tgtEl>
                                        <p:attrNameLst>
                                          <p:attrName>ppt_x</p:attrName>
                                        </p:attrNameLst>
                                      </p:cBhvr>
                                      <p:tavLst>
                                        <p:tav tm="0">
                                          <p:val>
                                            <p:strVal val="#ppt_x"/>
                                          </p:val>
                                        </p:tav>
                                        <p:tav tm="100000">
                                          <p:val>
                                            <p:strVal val="#ppt_x"/>
                                          </p:val>
                                        </p:tav>
                                      </p:tavLst>
                                    </p:anim>
                                    <p:anim calcmode="lin" valueType="num">
                                      <p:cBhvr additive="base">
                                        <p:cTn id="23" dur="500" fill="hold"/>
                                        <p:tgtEl>
                                          <p:spTgt spid="547871"/>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2" fill="hold" grpId="0" nodeType="afterEffect">
                                  <p:stCondLst>
                                    <p:cond delay="0"/>
                                  </p:stCondLst>
                                  <p:childTnLst>
                                    <p:set>
                                      <p:cBhvr>
                                        <p:cTn id="26" dur="1" fill="hold">
                                          <p:stCondLst>
                                            <p:cond delay="0"/>
                                          </p:stCondLst>
                                        </p:cTn>
                                        <p:tgtEl>
                                          <p:spTgt spid="547872"/>
                                        </p:tgtEl>
                                        <p:attrNameLst>
                                          <p:attrName>style.visibility</p:attrName>
                                        </p:attrNameLst>
                                      </p:cBhvr>
                                      <p:to>
                                        <p:strVal val="visible"/>
                                      </p:to>
                                    </p:set>
                                    <p:anim calcmode="lin" valueType="num">
                                      <p:cBhvr additive="base">
                                        <p:cTn id="27" dur="500" fill="hold"/>
                                        <p:tgtEl>
                                          <p:spTgt spid="547872"/>
                                        </p:tgtEl>
                                        <p:attrNameLst>
                                          <p:attrName>ppt_x</p:attrName>
                                        </p:attrNameLst>
                                      </p:cBhvr>
                                      <p:tavLst>
                                        <p:tav tm="0">
                                          <p:val>
                                            <p:strVal val="1+#ppt_w/2"/>
                                          </p:val>
                                        </p:tav>
                                        <p:tav tm="100000">
                                          <p:val>
                                            <p:strVal val="#ppt_x"/>
                                          </p:val>
                                        </p:tav>
                                      </p:tavLst>
                                    </p:anim>
                                    <p:anim calcmode="lin" valueType="num">
                                      <p:cBhvr additive="base">
                                        <p:cTn id="28" dur="500" fill="hold"/>
                                        <p:tgtEl>
                                          <p:spTgt spid="5478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69" grpId="0" animBg="1" autoUpdateAnimBg="0"/>
      <p:bldP spid="547870" grpId="0" animBg="1" autoUpdateAnimBg="0"/>
      <p:bldP spid="547871" grpId="0" animBg="1" autoUpdateAnimBg="0"/>
      <p:bldP spid="547872"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a:spLocks noGrp="1"/>
          </p:cNvSpPr>
          <p:nvPr>
            <p:ph type="sldNum" sz="quarter" idx="12"/>
          </p:nvPr>
        </p:nvSpPr>
        <p:spPr>
          <a:xfrm>
            <a:off x="7639050" y="6094413"/>
            <a:ext cx="1285875"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93DAAE62-F2FE-4FAE-8FA9-624CA744B03A}" type="slidenum">
              <a:rPr lang="en-US" altLang="zh-CN" sz="1400" b="0"/>
              <a:pPr eaLnBrk="1" hangingPunct="1"/>
              <a:t>39</a:t>
            </a:fld>
            <a:endParaRPr lang="en-US" altLang="zh-CN" sz="1400" b="0"/>
          </a:p>
        </p:txBody>
      </p:sp>
      <p:sp>
        <p:nvSpPr>
          <p:cNvPr id="548866" name="Rectangle 2"/>
          <p:cNvSpPr>
            <a:spLocks noChangeArrowheads="1"/>
          </p:cNvSpPr>
          <p:nvPr/>
        </p:nvSpPr>
        <p:spPr bwMode="auto">
          <a:xfrm>
            <a:off x="304800" y="1143000"/>
            <a:ext cx="86598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00"/>
                </a:solidFill>
                <a:latin typeface="宋体" panose="02010600030101010101" pitchFamily="2" charset="-122"/>
              </a:rPr>
              <a:t>（</a:t>
            </a:r>
            <a:r>
              <a:rPr lang="en-US" altLang="zh-CN" sz="3600">
                <a:solidFill>
                  <a:srgbClr val="FF0000"/>
                </a:solidFill>
                <a:latin typeface="宋体" panose="02010600030101010101" pitchFamily="2" charset="-122"/>
              </a:rPr>
              <a:t>3</a:t>
            </a:r>
            <a:r>
              <a:rPr lang="zh-CN" altLang="en-US" sz="3600">
                <a:solidFill>
                  <a:srgbClr val="FF0000"/>
                </a:solidFill>
                <a:latin typeface="宋体" panose="02010600030101010101" pitchFamily="2" charset="-122"/>
              </a:rPr>
              <a:t>）处理器工作方式状态寄存器（</a:t>
            </a:r>
            <a:r>
              <a:rPr lang="en-US" altLang="zh-CN" sz="3600">
                <a:solidFill>
                  <a:srgbClr val="FF0000"/>
                </a:solidFill>
                <a:latin typeface="宋体" panose="02010600030101010101" pitchFamily="2" charset="-122"/>
              </a:rPr>
              <a:t>PMST</a:t>
            </a:r>
            <a:r>
              <a:rPr lang="zh-CN" altLang="en-US" sz="3600">
                <a:solidFill>
                  <a:srgbClr val="FF0000"/>
                </a:solidFill>
                <a:latin typeface="宋体" panose="02010600030101010101" pitchFamily="2" charset="-122"/>
              </a:rPr>
              <a:t>）</a:t>
            </a:r>
            <a:r>
              <a:rPr lang="zh-CN" altLang="en-US" sz="3600" b="0">
                <a:solidFill>
                  <a:schemeClr val="tx2"/>
                </a:solidFill>
              </a:rPr>
              <a:t> </a:t>
            </a:r>
          </a:p>
        </p:txBody>
      </p:sp>
      <p:grpSp>
        <p:nvGrpSpPr>
          <p:cNvPr id="2" name="Group 3"/>
          <p:cNvGrpSpPr>
            <a:grpSpLocks/>
          </p:cNvGrpSpPr>
          <p:nvPr/>
        </p:nvGrpSpPr>
        <p:grpSpPr bwMode="auto">
          <a:xfrm>
            <a:off x="152400" y="1981200"/>
            <a:ext cx="8763000" cy="863600"/>
            <a:chOff x="192" y="2160"/>
            <a:chExt cx="5232" cy="544"/>
          </a:xfrm>
        </p:grpSpPr>
        <p:sp>
          <p:nvSpPr>
            <p:cNvPr id="52233" name="Text Box 4"/>
            <p:cNvSpPr txBox="1">
              <a:spLocks noChangeArrowheads="1"/>
            </p:cNvSpPr>
            <p:nvPr/>
          </p:nvSpPr>
          <p:spPr bwMode="auto">
            <a:xfrm>
              <a:off x="192" y="2448"/>
              <a:ext cx="768"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IPTR</a:t>
              </a:r>
            </a:p>
          </p:txBody>
        </p:sp>
        <p:sp>
          <p:nvSpPr>
            <p:cNvPr id="52234" name="Text Box 5"/>
            <p:cNvSpPr txBox="1">
              <a:spLocks noChangeArrowheads="1"/>
            </p:cNvSpPr>
            <p:nvPr/>
          </p:nvSpPr>
          <p:spPr bwMode="auto">
            <a:xfrm>
              <a:off x="288" y="2160"/>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15</a:t>
              </a:r>
              <a:r>
                <a:rPr lang="zh-CN" altLang="en-US">
                  <a:latin typeface="宋体" panose="02010600030101010101" pitchFamily="2" charset="-122"/>
                </a:rPr>
                <a:t>～</a:t>
              </a:r>
              <a:r>
                <a:rPr lang="zh-CN" altLang="en-US"/>
                <a:t> </a:t>
              </a:r>
              <a:r>
                <a:rPr lang="en-US" altLang="zh-CN"/>
                <a:t>7</a:t>
              </a:r>
            </a:p>
          </p:txBody>
        </p:sp>
        <p:sp>
          <p:nvSpPr>
            <p:cNvPr id="52235" name="Text Box 6"/>
            <p:cNvSpPr txBox="1">
              <a:spLocks noChangeArrowheads="1"/>
            </p:cNvSpPr>
            <p:nvPr/>
          </p:nvSpPr>
          <p:spPr bwMode="auto">
            <a:xfrm>
              <a:off x="960" y="2448"/>
              <a:ext cx="81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MP/MC</a:t>
              </a:r>
            </a:p>
          </p:txBody>
        </p:sp>
        <p:sp>
          <p:nvSpPr>
            <p:cNvPr id="52236" name="Text Box 7"/>
            <p:cNvSpPr txBox="1">
              <a:spLocks noChangeArrowheads="1"/>
            </p:cNvSpPr>
            <p:nvPr/>
          </p:nvSpPr>
          <p:spPr bwMode="auto">
            <a:xfrm>
              <a:off x="1248" y="216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6</a:t>
              </a:r>
            </a:p>
          </p:txBody>
        </p:sp>
        <p:sp>
          <p:nvSpPr>
            <p:cNvPr id="52237" name="Text Box 8"/>
            <p:cNvSpPr txBox="1">
              <a:spLocks noChangeArrowheads="1"/>
            </p:cNvSpPr>
            <p:nvPr/>
          </p:nvSpPr>
          <p:spPr bwMode="auto">
            <a:xfrm>
              <a:off x="1776" y="2448"/>
              <a:ext cx="57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OVLY</a:t>
              </a:r>
            </a:p>
          </p:txBody>
        </p:sp>
        <p:sp>
          <p:nvSpPr>
            <p:cNvPr id="52238" name="Text Box 9"/>
            <p:cNvSpPr txBox="1">
              <a:spLocks noChangeArrowheads="1"/>
            </p:cNvSpPr>
            <p:nvPr/>
          </p:nvSpPr>
          <p:spPr bwMode="auto">
            <a:xfrm>
              <a:off x="1968" y="216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5</a:t>
              </a:r>
            </a:p>
          </p:txBody>
        </p:sp>
        <p:sp>
          <p:nvSpPr>
            <p:cNvPr id="52239" name="Text Box 10"/>
            <p:cNvSpPr txBox="1">
              <a:spLocks noChangeArrowheads="1"/>
            </p:cNvSpPr>
            <p:nvPr/>
          </p:nvSpPr>
          <p:spPr bwMode="auto">
            <a:xfrm>
              <a:off x="2352" y="2448"/>
              <a:ext cx="57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AVIS</a:t>
              </a:r>
            </a:p>
          </p:txBody>
        </p:sp>
        <p:sp>
          <p:nvSpPr>
            <p:cNvPr id="52240" name="Text Box 11"/>
            <p:cNvSpPr txBox="1">
              <a:spLocks noChangeArrowheads="1"/>
            </p:cNvSpPr>
            <p:nvPr/>
          </p:nvSpPr>
          <p:spPr bwMode="auto">
            <a:xfrm>
              <a:off x="2496" y="216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a:t>
              </a:r>
            </a:p>
          </p:txBody>
        </p:sp>
        <p:sp>
          <p:nvSpPr>
            <p:cNvPr id="52241" name="Text Box 12"/>
            <p:cNvSpPr txBox="1">
              <a:spLocks noChangeArrowheads="1"/>
            </p:cNvSpPr>
            <p:nvPr/>
          </p:nvSpPr>
          <p:spPr bwMode="auto">
            <a:xfrm>
              <a:off x="2928" y="244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DROM</a:t>
              </a:r>
            </a:p>
          </p:txBody>
        </p:sp>
        <p:sp>
          <p:nvSpPr>
            <p:cNvPr id="52242" name="Text Box 13"/>
            <p:cNvSpPr txBox="1">
              <a:spLocks noChangeArrowheads="1"/>
            </p:cNvSpPr>
            <p:nvPr/>
          </p:nvSpPr>
          <p:spPr bwMode="auto">
            <a:xfrm>
              <a:off x="3120" y="216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3</a:t>
              </a:r>
            </a:p>
          </p:txBody>
        </p:sp>
        <p:sp>
          <p:nvSpPr>
            <p:cNvPr id="52243" name="Text Box 14"/>
            <p:cNvSpPr txBox="1">
              <a:spLocks noChangeArrowheads="1"/>
            </p:cNvSpPr>
            <p:nvPr/>
          </p:nvSpPr>
          <p:spPr bwMode="auto">
            <a:xfrm>
              <a:off x="3552" y="2448"/>
              <a:ext cx="768"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CLKOFF</a:t>
              </a:r>
            </a:p>
          </p:txBody>
        </p:sp>
        <p:sp>
          <p:nvSpPr>
            <p:cNvPr id="52244" name="Text Box 15"/>
            <p:cNvSpPr txBox="1">
              <a:spLocks noChangeArrowheads="1"/>
            </p:cNvSpPr>
            <p:nvPr/>
          </p:nvSpPr>
          <p:spPr bwMode="auto">
            <a:xfrm>
              <a:off x="3840" y="216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a:t>
              </a:r>
            </a:p>
          </p:txBody>
        </p:sp>
        <p:sp>
          <p:nvSpPr>
            <p:cNvPr id="52245" name="Line 16"/>
            <p:cNvSpPr>
              <a:spLocks noChangeShapeType="1"/>
            </p:cNvSpPr>
            <p:nvPr/>
          </p:nvSpPr>
          <p:spPr bwMode="auto">
            <a:xfrm>
              <a:off x="1392" y="2496"/>
              <a:ext cx="19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2246" name="Text Box 17"/>
            <p:cNvSpPr txBox="1">
              <a:spLocks noChangeArrowheads="1"/>
            </p:cNvSpPr>
            <p:nvPr/>
          </p:nvSpPr>
          <p:spPr bwMode="auto">
            <a:xfrm>
              <a:off x="4320" y="244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SMUL</a:t>
              </a:r>
            </a:p>
          </p:txBody>
        </p:sp>
        <p:sp>
          <p:nvSpPr>
            <p:cNvPr id="52247" name="Text Box 18"/>
            <p:cNvSpPr txBox="1">
              <a:spLocks noChangeArrowheads="1"/>
            </p:cNvSpPr>
            <p:nvPr/>
          </p:nvSpPr>
          <p:spPr bwMode="auto">
            <a:xfrm>
              <a:off x="4512" y="216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a:t>
              </a:r>
            </a:p>
          </p:txBody>
        </p:sp>
        <p:sp>
          <p:nvSpPr>
            <p:cNvPr id="52248" name="Text Box 19"/>
            <p:cNvSpPr txBox="1">
              <a:spLocks noChangeArrowheads="1"/>
            </p:cNvSpPr>
            <p:nvPr/>
          </p:nvSpPr>
          <p:spPr bwMode="auto">
            <a:xfrm>
              <a:off x="4944" y="244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SST</a:t>
              </a:r>
            </a:p>
          </p:txBody>
        </p:sp>
        <p:sp>
          <p:nvSpPr>
            <p:cNvPr id="52249" name="Text Box 20"/>
            <p:cNvSpPr txBox="1">
              <a:spLocks noChangeArrowheads="1"/>
            </p:cNvSpPr>
            <p:nvPr/>
          </p:nvSpPr>
          <p:spPr bwMode="auto">
            <a:xfrm>
              <a:off x="5040" y="216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a:t>
              </a:r>
            </a:p>
          </p:txBody>
        </p:sp>
      </p:grpSp>
      <p:sp>
        <p:nvSpPr>
          <p:cNvPr id="548885" name="AutoShape 21" descr="小棋盘"/>
          <p:cNvSpPr>
            <a:spLocks noChangeArrowheads="1"/>
          </p:cNvSpPr>
          <p:nvPr/>
        </p:nvSpPr>
        <p:spPr bwMode="auto">
          <a:xfrm>
            <a:off x="228600" y="3657600"/>
            <a:ext cx="1751013" cy="2590800"/>
          </a:xfrm>
          <a:prstGeom prst="wedgeRoundRectCallout">
            <a:avLst>
              <a:gd name="adj1" fmla="val -4579"/>
              <a:gd name="adj2" fmla="val -79843"/>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rgbClr val="006600"/>
                </a:solidFill>
              </a:rPr>
              <a:t>中断向量指针。指示中断向量所住留的</a:t>
            </a:r>
            <a:r>
              <a:rPr lang="en-US" altLang="zh-CN" sz="2400">
                <a:solidFill>
                  <a:srgbClr val="006600"/>
                </a:solidFill>
              </a:rPr>
              <a:t>128</a:t>
            </a:r>
            <a:r>
              <a:rPr lang="zh-CN" altLang="en-US" sz="2400">
                <a:solidFill>
                  <a:srgbClr val="006600"/>
                </a:solidFill>
              </a:rPr>
              <a:t>字程序存储器的位置。</a:t>
            </a:r>
          </a:p>
        </p:txBody>
      </p:sp>
      <p:sp>
        <p:nvSpPr>
          <p:cNvPr id="548886" name="AutoShape 22" descr="小棋盘"/>
          <p:cNvSpPr>
            <a:spLocks noChangeArrowheads="1"/>
          </p:cNvSpPr>
          <p:nvPr/>
        </p:nvSpPr>
        <p:spPr bwMode="auto">
          <a:xfrm>
            <a:off x="2051050" y="3657600"/>
            <a:ext cx="2520950" cy="2819400"/>
          </a:xfrm>
          <a:prstGeom prst="wedgeRoundRectCallout">
            <a:avLst>
              <a:gd name="adj1" fmla="val -43829"/>
              <a:gd name="adj2" fmla="val -74606"/>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FF00FF"/>
                </a:solidFill>
              </a:rPr>
              <a:t>微处理器</a:t>
            </a:r>
            <a:r>
              <a:rPr lang="en-US" altLang="zh-CN" sz="2400">
                <a:solidFill>
                  <a:srgbClr val="FF00FF"/>
                </a:solidFill>
              </a:rPr>
              <a:t>/</a:t>
            </a:r>
            <a:r>
              <a:rPr lang="zh-CN" altLang="en-US" sz="2400">
                <a:solidFill>
                  <a:srgbClr val="FF00FF"/>
                </a:solidFill>
              </a:rPr>
              <a:t>微型计算机工作方式位。该引脚为</a:t>
            </a:r>
            <a:r>
              <a:rPr lang="en-US" altLang="zh-CN" sz="2400">
                <a:solidFill>
                  <a:srgbClr val="FF00FF"/>
                </a:solidFill>
              </a:rPr>
              <a:t>0</a:t>
            </a:r>
            <a:r>
              <a:rPr lang="zh-CN" altLang="en-US" sz="2400">
                <a:solidFill>
                  <a:srgbClr val="FF00FF"/>
                </a:solidFill>
              </a:rPr>
              <a:t>允许使能并寻址片内</a:t>
            </a:r>
            <a:r>
              <a:rPr lang="en-US" altLang="zh-CN" sz="2400">
                <a:solidFill>
                  <a:srgbClr val="FF00FF"/>
                </a:solidFill>
              </a:rPr>
              <a:t>ROM</a:t>
            </a:r>
            <a:r>
              <a:rPr lang="zh-CN" altLang="en-US" sz="2400">
                <a:solidFill>
                  <a:srgbClr val="FF00FF"/>
                </a:solidFill>
              </a:rPr>
              <a:t>；为</a:t>
            </a:r>
            <a:r>
              <a:rPr lang="en-US" altLang="zh-CN" sz="2400">
                <a:solidFill>
                  <a:srgbClr val="FF00FF"/>
                </a:solidFill>
              </a:rPr>
              <a:t>1</a:t>
            </a:r>
            <a:r>
              <a:rPr lang="zh-CN" altLang="en-US" sz="2400">
                <a:solidFill>
                  <a:srgbClr val="FF00FF"/>
                </a:solidFill>
              </a:rPr>
              <a:t>不能利用片内</a:t>
            </a:r>
            <a:r>
              <a:rPr lang="en-US" altLang="zh-CN" sz="2400">
                <a:solidFill>
                  <a:srgbClr val="FF00FF"/>
                </a:solidFill>
              </a:rPr>
              <a:t>ROM</a:t>
            </a:r>
            <a:r>
              <a:rPr lang="zh-CN" altLang="en-US" sz="2400">
                <a:solidFill>
                  <a:srgbClr val="FF00FF"/>
                </a:solidFill>
              </a:rPr>
              <a:t>。</a:t>
            </a:r>
          </a:p>
        </p:txBody>
      </p:sp>
      <p:sp>
        <p:nvSpPr>
          <p:cNvPr id="548887" name="AutoShape 23" descr="小棋盘"/>
          <p:cNvSpPr>
            <a:spLocks noChangeArrowheads="1"/>
          </p:cNvSpPr>
          <p:nvPr/>
        </p:nvSpPr>
        <p:spPr bwMode="auto">
          <a:xfrm>
            <a:off x="5046663" y="3962400"/>
            <a:ext cx="1658937" cy="2438400"/>
          </a:xfrm>
          <a:prstGeom prst="wedgeRoundRectCallout">
            <a:avLst>
              <a:gd name="adj1" fmla="val -148231"/>
              <a:gd name="adj2" fmla="val -92190"/>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t>为</a:t>
            </a:r>
            <a:r>
              <a:rPr lang="en-US" altLang="zh-CN" sz="2400"/>
              <a:t>1</a:t>
            </a:r>
            <a:r>
              <a:rPr lang="zh-CN" altLang="en-US" sz="2400"/>
              <a:t>时允许片内双寻址数据</a:t>
            </a:r>
            <a:r>
              <a:rPr lang="en-US" altLang="zh-CN" sz="2400"/>
              <a:t>RAM</a:t>
            </a:r>
            <a:r>
              <a:rPr lang="zh-CN" altLang="en-US" sz="2400"/>
              <a:t>块映射到程序空间。</a:t>
            </a:r>
          </a:p>
        </p:txBody>
      </p:sp>
      <p:sp>
        <p:nvSpPr>
          <p:cNvPr id="548888" name="AutoShape 24" descr="小棋盘"/>
          <p:cNvSpPr>
            <a:spLocks noChangeArrowheads="1"/>
          </p:cNvSpPr>
          <p:nvPr/>
        </p:nvSpPr>
        <p:spPr bwMode="auto">
          <a:xfrm>
            <a:off x="6877050" y="3124200"/>
            <a:ext cx="1962150" cy="2438400"/>
          </a:xfrm>
          <a:prstGeom prst="wedgeRoundRectCallout">
            <a:avLst>
              <a:gd name="adj1" fmla="val -169338"/>
              <a:gd name="adj2" fmla="val -58528"/>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009900"/>
                </a:solidFill>
              </a:rPr>
              <a:t>允许</a:t>
            </a:r>
            <a:r>
              <a:rPr lang="en-US" altLang="zh-CN" sz="2400">
                <a:solidFill>
                  <a:srgbClr val="009900"/>
                </a:solidFill>
              </a:rPr>
              <a:t>(1)/</a:t>
            </a:r>
            <a:r>
              <a:rPr lang="zh-CN" altLang="en-US" sz="2400">
                <a:solidFill>
                  <a:srgbClr val="009900"/>
                </a:solidFill>
              </a:rPr>
              <a:t>禁止</a:t>
            </a:r>
            <a:r>
              <a:rPr lang="en-US" altLang="zh-CN" sz="2400">
                <a:solidFill>
                  <a:srgbClr val="009900"/>
                </a:solidFill>
              </a:rPr>
              <a:t>(0)</a:t>
            </a:r>
            <a:r>
              <a:rPr lang="zh-CN" altLang="en-US" sz="2400">
                <a:solidFill>
                  <a:srgbClr val="009900"/>
                </a:solidFill>
              </a:rPr>
              <a:t>在地址引脚上看到内部程序空间的地址线。</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548866"/>
                                        </p:tgtEl>
                                        <p:attrNameLst>
                                          <p:attrName>style.visibility</p:attrName>
                                        </p:attrNameLst>
                                      </p:cBhvr>
                                      <p:to>
                                        <p:strVal val="visible"/>
                                      </p:to>
                                    </p:set>
                                    <p:animEffect transition="in" filter="blinds(vertical)">
                                      <p:cBhvr>
                                        <p:cTn id="7" dur="500"/>
                                        <p:tgtEl>
                                          <p:spTgt spid="548866"/>
                                        </p:tgtEl>
                                      </p:cBhvr>
                                    </p:animEffect>
                                  </p:childTnLst>
                                </p:cTn>
                              </p:par>
                            </p:childTnLst>
                          </p:cTn>
                        </p:par>
                        <p:par>
                          <p:cTn id="8" fill="hold" nodeType="afterGroup">
                            <p:stCondLst>
                              <p:cond delay="500"/>
                            </p:stCondLst>
                            <p:childTnLst>
                              <p:par>
                                <p:cTn id="9" presetID="3" presetClass="entr" presetSubtype="5"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vertical)">
                                      <p:cBhvr>
                                        <p:cTn id="11" dur="500"/>
                                        <p:tgtEl>
                                          <p:spTgt spid="2"/>
                                        </p:tgtEl>
                                      </p:cBhvr>
                                    </p:animEffect>
                                  </p:childTnLst>
                                </p:cTn>
                              </p:par>
                            </p:childTnLst>
                          </p:cTn>
                        </p:par>
                        <p:par>
                          <p:cTn id="12" fill="hold" nodeType="afterGroup">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548885"/>
                                        </p:tgtEl>
                                        <p:attrNameLst>
                                          <p:attrName>style.visibility</p:attrName>
                                        </p:attrNameLst>
                                      </p:cBhvr>
                                      <p:to>
                                        <p:strVal val="visible"/>
                                      </p:to>
                                    </p:set>
                                    <p:anim calcmode="lin" valueType="num">
                                      <p:cBhvr additive="base">
                                        <p:cTn id="15" dur="500" fill="hold"/>
                                        <p:tgtEl>
                                          <p:spTgt spid="548885"/>
                                        </p:tgtEl>
                                        <p:attrNameLst>
                                          <p:attrName>ppt_x</p:attrName>
                                        </p:attrNameLst>
                                      </p:cBhvr>
                                      <p:tavLst>
                                        <p:tav tm="0">
                                          <p:val>
                                            <p:strVal val="0-#ppt_w/2"/>
                                          </p:val>
                                        </p:tav>
                                        <p:tav tm="100000">
                                          <p:val>
                                            <p:strVal val="#ppt_x"/>
                                          </p:val>
                                        </p:tav>
                                      </p:tavLst>
                                    </p:anim>
                                    <p:anim calcmode="lin" valueType="num">
                                      <p:cBhvr additive="base">
                                        <p:cTn id="16" dur="500" fill="hold"/>
                                        <p:tgtEl>
                                          <p:spTgt spid="548885"/>
                                        </p:tgtEl>
                                        <p:attrNameLst>
                                          <p:attrName>ppt_y</p:attrName>
                                        </p:attrNameLst>
                                      </p:cBhvr>
                                      <p:tavLst>
                                        <p:tav tm="0">
                                          <p:val>
                                            <p:strVal val="#ppt_y"/>
                                          </p:val>
                                        </p:tav>
                                        <p:tav tm="100000">
                                          <p:val>
                                            <p:strVal val="#ppt_y"/>
                                          </p:val>
                                        </p:tav>
                                      </p:tavLst>
                                    </p:anim>
                                  </p:childTnLst>
                                </p:cTn>
                              </p:par>
                            </p:childTnLst>
                          </p:cTn>
                        </p:par>
                        <p:par>
                          <p:cTn id="17" fill="hold" nodeType="afterGroup">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548886"/>
                                        </p:tgtEl>
                                        <p:attrNameLst>
                                          <p:attrName>style.visibility</p:attrName>
                                        </p:attrNameLst>
                                      </p:cBhvr>
                                      <p:to>
                                        <p:strVal val="visible"/>
                                      </p:to>
                                    </p:set>
                                    <p:anim calcmode="lin" valueType="num">
                                      <p:cBhvr additive="base">
                                        <p:cTn id="20" dur="500" fill="hold"/>
                                        <p:tgtEl>
                                          <p:spTgt spid="548886"/>
                                        </p:tgtEl>
                                        <p:attrNameLst>
                                          <p:attrName>ppt_x</p:attrName>
                                        </p:attrNameLst>
                                      </p:cBhvr>
                                      <p:tavLst>
                                        <p:tav tm="0">
                                          <p:val>
                                            <p:strVal val="#ppt_x"/>
                                          </p:val>
                                        </p:tav>
                                        <p:tav tm="100000">
                                          <p:val>
                                            <p:strVal val="#ppt_x"/>
                                          </p:val>
                                        </p:tav>
                                      </p:tavLst>
                                    </p:anim>
                                    <p:anim calcmode="lin" valueType="num">
                                      <p:cBhvr additive="base">
                                        <p:cTn id="21" dur="500" fill="hold"/>
                                        <p:tgtEl>
                                          <p:spTgt spid="548886"/>
                                        </p:tgtEl>
                                        <p:attrNameLst>
                                          <p:attrName>ppt_y</p:attrName>
                                        </p:attrNameLst>
                                      </p:cBhvr>
                                      <p:tavLst>
                                        <p:tav tm="0">
                                          <p:val>
                                            <p:strVal val="1+#ppt_h/2"/>
                                          </p:val>
                                        </p:tav>
                                        <p:tav tm="100000">
                                          <p:val>
                                            <p:strVal val="#ppt_y"/>
                                          </p:val>
                                        </p:tav>
                                      </p:tavLst>
                                    </p:anim>
                                  </p:childTnLst>
                                </p:cTn>
                              </p:par>
                            </p:childTnLst>
                          </p:cTn>
                        </p:par>
                        <p:par>
                          <p:cTn id="22" fill="hold" nodeType="afterGroup">
                            <p:stCondLst>
                              <p:cond delay="2000"/>
                            </p:stCondLst>
                            <p:childTnLst>
                              <p:par>
                                <p:cTn id="23" presetID="2" presetClass="entr" presetSubtype="4" fill="hold" grpId="0" nodeType="afterEffect">
                                  <p:stCondLst>
                                    <p:cond delay="0"/>
                                  </p:stCondLst>
                                  <p:childTnLst>
                                    <p:set>
                                      <p:cBhvr>
                                        <p:cTn id="24" dur="1" fill="hold">
                                          <p:stCondLst>
                                            <p:cond delay="0"/>
                                          </p:stCondLst>
                                        </p:cTn>
                                        <p:tgtEl>
                                          <p:spTgt spid="548887"/>
                                        </p:tgtEl>
                                        <p:attrNameLst>
                                          <p:attrName>style.visibility</p:attrName>
                                        </p:attrNameLst>
                                      </p:cBhvr>
                                      <p:to>
                                        <p:strVal val="visible"/>
                                      </p:to>
                                    </p:set>
                                    <p:anim calcmode="lin" valueType="num">
                                      <p:cBhvr additive="base">
                                        <p:cTn id="25" dur="500" fill="hold"/>
                                        <p:tgtEl>
                                          <p:spTgt spid="548887"/>
                                        </p:tgtEl>
                                        <p:attrNameLst>
                                          <p:attrName>ppt_x</p:attrName>
                                        </p:attrNameLst>
                                      </p:cBhvr>
                                      <p:tavLst>
                                        <p:tav tm="0">
                                          <p:val>
                                            <p:strVal val="#ppt_x"/>
                                          </p:val>
                                        </p:tav>
                                        <p:tav tm="100000">
                                          <p:val>
                                            <p:strVal val="#ppt_x"/>
                                          </p:val>
                                        </p:tav>
                                      </p:tavLst>
                                    </p:anim>
                                    <p:anim calcmode="lin" valueType="num">
                                      <p:cBhvr additive="base">
                                        <p:cTn id="26" dur="500" fill="hold"/>
                                        <p:tgtEl>
                                          <p:spTgt spid="548887"/>
                                        </p:tgtEl>
                                        <p:attrNameLst>
                                          <p:attrName>ppt_y</p:attrName>
                                        </p:attrNameLst>
                                      </p:cBhvr>
                                      <p:tavLst>
                                        <p:tav tm="0">
                                          <p:val>
                                            <p:strVal val="1+#ppt_h/2"/>
                                          </p:val>
                                        </p:tav>
                                        <p:tav tm="100000">
                                          <p:val>
                                            <p:strVal val="#ppt_y"/>
                                          </p:val>
                                        </p:tav>
                                      </p:tavLst>
                                    </p:anim>
                                  </p:childTnLst>
                                </p:cTn>
                              </p:par>
                            </p:childTnLst>
                          </p:cTn>
                        </p:par>
                        <p:par>
                          <p:cTn id="27" fill="hold" nodeType="afterGroup">
                            <p:stCondLst>
                              <p:cond delay="2500"/>
                            </p:stCondLst>
                            <p:childTnLst>
                              <p:par>
                                <p:cTn id="28" presetID="2" presetClass="entr" presetSubtype="2" fill="hold" grpId="0" nodeType="afterEffect">
                                  <p:stCondLst>
                                    <p:cond delay="0"/>
                                  </p:stCondLst>
                                  <p:childTnLst>
                                    <p:set>
                                      <p:cBhvr>
                                        <p:cTn id="29" dur="1" fill="hold">
                                          <p:stCondLst>
                                            <p:cond delay="0"/>
                                          </p:stCondLst>
                                        </p:cTn>
                                        <p:tgtEl>
                                          <p:spTgt spid="548888"/>
                                        </p:tgtEl>
                                        <p:attrNameLst>
                                          <p:attrName>style.visibility</p:attrName>
                                        </p:attrNameLst>
                                      </p:cBhvr>
                                      <p:to>
                                        <p:strVal val="visible"/>
                                      </p:to>
                                    </p:set>
                                    <p:anim calcmode="lin" valueType="num">
                                      <p:cBhvr additive="base">
                                        <p:cTn id="30" dur="500" fill="hold"/>
                                        <p:tgtEl>
                                          <p:spTgt spid="548888"/>
                                        </p:tgtEl>
                                        <p:attrNameLst>
                                          <p:attrName>ppt_x</p:attrName>
                                        </p:attrNameLst>
                                      </p:cBhvr>
                                      <p:tavLst>
                                        <p:tav tm="0">
                                          <p:val>
                                            <p:strVal val="1+#ppt_w/2"/>
                                          </p:val>
                                        </p:tav>
                                        <p:tav tm="100000">
                                          <p:val>
                                            <p:strVal val="#ppt_x"/>
                                          </p:val>
                                        </p:tav>
                                      </p:tavLst>
                                    </p:anim>
                                    <p:anim calcmode="lin" valueType="num">
                                      <p:cBhvr additive="base">
                                        <p:cTn id="31" dur="500" fill="hold"/>
                                        <p:tgtEl>
                                          <p:spTgt spid="5488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6" grpId="0" autoUpdateAnimBg="0"/>
      <p:bldP spid="548885" grpId="0" animBg="1" autoUpdateAnimBg="0"/>
      <p:bldP spid="548886" grpId="0" animBg="1" autoUpdateAnimBg="0"/>
      <p:bldP spid="548887" grpId="0" animBg="1" autoUpdateAnimBg="0"/>
      <p:bldP spid="548888"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BA31AC27-72B3-4D0E-8FBC-F97BABB81B2D}" type="slidenum">
              <a:rPr lang="en-US" altLang="zh-CN" sz="1400" b="0"/>
              <a:pPr eaLnBrk="1" hangingPunct="1"/>
              <a:t>40</a:t>
            </a:fld>
            <a:endParaRPr lang="en-US" altLang="zh-CN" sz="1400" b="0"/>
          </a:p>
        </p:txBody>
      </p:sp>
      <p:grpSp>
        <p:nvGrpSpPr>
          <p:cNvPr id="2" name="Group 2"/>
          <p:cNvGrpSpPr>
            <a:grpSpLocks/>
          </p:cNvGrpSpPr>
          <p:nvPr/>
        </p:nvGrpSpPr>
        <p:grpSpPr bwMode="auto">
          <a:xfrm>
            <a:off x="152400" y="1295400"/>
            <a:ext cx="8763000" cy="863600"/>
            <a:chOff x="192" y="2160"/>
            <a:chExt cx="5232" cy="544"/>
          </a:xfrm>
        </p:grpSpPr>
        <p:sp>
          <p:nvSpPr>
            <p:cNvPr id="53256" name="Text Box 3"/>
            <p:cNvSpPr txBox="1">
              <a:spLocks noChangeArrowheads="1"/>
            </p:cNvSpPr>
            <p:nvPr/>
          </p:nvSpPr>
          <p:spPr bwMode="auto">
            <a:xfrm>
              <a:off x="192" y="2448"/>
              <a:ext cx="768"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IPTR</a:t>
              </a:r>
            </a:p>
          </p:txBody>
        </p:sp>
        <p:sp>
          <p:nvSpPr>
            <p:cNvPr id="53257" name="Text Box 4"/>
            <p:cNvSpPr txBox="1">
              <a:spLocks noChangeArrowheads="1"/>
            </p:cNvSpPr>
            <p:nvPr/>
          </p:nvSpPr>
          <p:spPr bwMode="auto">
            <a:xfrm>
              <a:off x="288" y="2160"/>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15</a:t>
              </a:r>
              <a:r>
                <a:rPr lang="zh-CN" altLang="en-US">
                  <a:latin typeface="宋体" panose="02010600030101010101" pitchFamily="2" charset="-122"/>
                </a:rPr>
                <a:t>～</a:t>
              </a:r>
              <a:r>
                <a:rPr lang="zh-CN" altLang="en-US"/>
                <a:t> </a:t>
              </a:r>
              <a:r>
                <a:rPr lang="en-US" altLang="zh-CN"/>
                <a:t>7</a:t>
              </a:r>
            </a:p>
          </p:txBody>
        </p:sp>
        <p:sp>
          <p:nvSpPr>
            <p:cNvPr id="53258" name="Text Box 5"/>
            <p:cNvSpPr txBox="1">
              <a:spLocks noChangeArrowheads="1"/>
            </p:cNvSpPr>
            <p:nvPr/>
          </p:nvSpPr>
          <p:spPr bwMode="auto">
            <a:xfrm>
              <a:off x="960" y="2448"/>
              <a:ext cx="81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MP/MC</a:t>
              </a:r>
            </a:p>
          </p:txBody>
        </p:sp>
        <p:sp>
          <p:nvSpPr>
            <p:cNvPr id="53259" name="Text Box 6"/>
            <p:cNvSpPr txBox="1">
              <a:spLocks noChangeArrowheads="1"/>
            </p:cNvSpPr>
            <p:nvPr/>
          </p:nvSpPr>
          <p:spPr bwMode="auto">
            <a:xfrm>
              <a:off x="1248" y="216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6</a:t>
              </a:r>
            </a:p>
          </p:txBody>
        </p:sp>
        <p:sp>
          <p:nvSpPr>
            <p:cNvPr id="53260" name="Text Box 7"/>
            <p:cNvSpPr txBox="1">
              <a:spLocks noChangeArrowheads="1"/>
            </p:cNvSpPr>
            <p:nvPr/>
          </p:nvSpPr>
          <p:spPr bwMode="auto">
            <a:xfrm>
              <a:off x="1776" y="2448"/>
              <a:ext cx="57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OVLY</a:t>
              </a:r>
            </a:p>
          </p:txBody>
        </p:sp>
        <p:sp>
          <p:nvSpPr>
            <p:cNvPr id="53261" name="Text Box 8"/>
            <p:cNvSpPr txBox="1">
              <a:spLocks noChangeArrowheads="1"/>
            </p:cNvSpPr>
            <p:nvPr/>
          </p:nvSpPr>
          <p:spPr bwMode="auto">
            <a:xfrm>
              <a:off x="1968" y="216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5</a:t>
              </a:r>
            </a:p>
          </p:txBody>
        </p:sp>
        <p:sp>
          <p:nvSpPr>
            <p:cNvPr id="53262" name="Text Box 9"/>
            <p:cNvSpPr txBox="1">
              <a:spLocks noChangeArrowheads="1"/>
            </p:cNvSpPr>
            <p:nvPr/>
          </p:nvSpPr>
          <p:spPr bwMode="auto">
            <a:xfrm>
              <a:off x="2352" y="2448"/>
              <a:ext cx="576"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AVIS</a:t>
              </a:r>
            </a:p>
          </p:txBody>
        </p:sp>
        <p:sp>
          <p:nvSpPr>
            <p:cNvPr id="53263" name="Text Box 10"/>
            <p:cNvSpPr txBox="1">
              <a:spLocks noChangeArrowheads="1"/>
            </p:cNvSpPr>
            <p:nvPr/>
          </p:nvSpPr>
          <p:spPr bwMode="auto">
            <a:xfrm>
              <a:off x="2496" y="216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a:t>
              </a:r>
            </a:p>
          </p:txBody>
        </p:sp>
        <p:sp>
          <p:nvSpPr>
            <p:cNvPr id="53264" name="Text Box 11"/>
            <p:cNvSpPr txBox="1">
              <a:spLocks noChangeArrowheads="1"/>
            </p:cNvSpPr>
            <p:nvPr/>
          </p:nvSpPr>
          <p:spPr bwMode="auto">
            <a:xfrm>
              <a:off x="2928" y="244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DROM</a:t>
              </a:r>
            </a:p>
          </p:txBody>
        </p:sp>
        <p:sp>
          <p:nvSpPr>
            <p:cNvPr id="53265" name="Text Box 12"/>
            <p:cNvSpPr txBox="1">
              <a:spLocks noChangeArrowheads="1"/>
            </p:cNvSpPr>
            <p:nvPr/>
          </p:nvSpPr>
          <p:spPr bwMode="auto">
            <a:xfrm>
              <a:off x="3120" y="216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3</a:t>
              </a:r>
            </a:p>
          </p:txBody>
        </p:sp>
        <p:sp>
          <p:nvSpPr>
            <p:cNvPr id="53266" name="Text Box 13"/>
            <p:cNvSpPr txBox="1">
              <a:spLocks noChangeArrowheads="1"/>
            </p:cNvSpPr>
            <p:nvPr/>
          </p:nvSpPr>
          <p:spPr bwMode="auto">
            <a:xfrm>
              <a:off x="3552" y="2448"/>
              <a:ext cx="768"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CLKOFF</a:t>
              </a:r>
            </a:p>
          </p:txBody>
        </p:sp>
        <p:sp>
          <p:nvSpPr>
            <p:cNvPr id="53267" name="Text Box 14"/>
            <p:cNvSpPr txBox="1">
              <a:spLocks noChangeArrowheads="1"/>
            </p:cNvSpPr>
            <p:nvPr/>
          </p:nvSpPr>
          <p:spPr bwMode="auto">
            <a:xfrm>
              <a:off x="3840" y="216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a:t>
              </a:r>
            </a:p>
          </p:txBody>
        </p:sp>
        <p:sp>
          <p:nvSpPr>
            <p:cNvPr id="53268" name="Line 15"/>
            <p:cNvSpPr>
              <a:spLocks noChangeShapeType="1"/>
            </p:cNvSpPr>
            <p:nvPr/>
          </p:nvSpPr>
          <p:spPr bwMode="auto">
            <a:xfrm>
              <a:off x="1392" y="2496"/>
              <a:ext cx="19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3269" name="Text Box 16"/>
            <p:cNvSpPr txBox="1">
              <a:spLocks noChangeArrowheads="1"/>
            </p:cNvSpPr>
            <p:nvPr/>
          </p:nvSpPr>
          <p:spPr bwMode="auto">
            <a:xfrm>
              <a:off x="4320" y="2448"/>
              <a:ext cx="624"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SMUL</a:t>
              </a:r>
            </a:p>
          </p:txBody>
        </p:sp>
        <p:sp>
          <p:nvSpPr>
            <p:cNvPr id="53270" name="Text Box 17"/>
            <p:cNvSpPr txBox="1">
              <a:spLocks noChangeArrowheads="1"/>
            </p:cNvSpPr>
            <p:nvPr/>
          </p:nvSpPr>
          <p:spPr bwMode="auto">
            <a:xfrm>
              <a:off x="4512" y="216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a:t>
              </a:r>
            </a:p>
          </p:txBody>
        </p:sp>
        <p:sp>
          <p:nvSpPr>
            <p:cNvPr id="53271" name="Text Box 18"/>
            <p:cNvSpPr txBox="1">
              <a:spLocks noChangeArrowheads="1"/>
            </p:cNvSpPr>
            <p:nvPr/>
          </p:nvSpPr>
          <p:spPr bwMode="auto">
            <a:xfrm>
              <a:off x="4944" y="2448"/>
              <a:ext cx="480" cy="256"/>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SST</a:t>
              </a:r>
            </a:p>
          </p:txBody>
        </p:sp>
        <p:sp>
          <p:nvSpPr>
            <p:cNvPr id="53272" name="Text Box 19"/>
            <p:cNvSpPr txBox="1">
              <a:spLocks noChangeArrowheads="1"/>
            </p:cNvSpPr>
            <p:nvPr/>
          </p:nvSpPr>
          <p:spPr bwMode="auto">
            <a:xfrm>
              <a:off x="5040" y="216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a:t>
              </a:r>
            </a:p>
          </p:txBody>
        </p:sp>
      </p:grpSp>
      <p:sp>
        <p:nvSpPr>
          <p:cNvPr id="549908" name="AutoShape 20" descr="小棋盘"/>
          <p:cNvSpPr>
            <a:spLocks noChangeArrowheads="1"/>
          </p:cNvSpPr>
          <p:nvPr/>
        </p:nvSpPr>
        <p:spPr bwMode="auto">
          <a:xfrm>
            <a:off x="228600" y="2514600"/>
            <a:ext cx="1371600" cy="2819400"/>
          </a:xfrm>
          <a:prstGeom prst="wedgeRoundRectCallout">
            <a:avLst>
              <a:gd name="adj1" fmla="val 283681"/>
              <a:gd name="adj2" fmla="val -58898"/>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folHlink"/>
                </a:solidFill>
              </a:rPr>
              <a:t>为</a:t>
            </a:r>
            <a:r>
              <a:rPr lang="en-US" altLang="zh-CN" sz="2400">
                <a:solidFill>
                  <a:schemeClr val="folHlink"/>
                </a:solidFill>
              </a:rPr>
              <a:t>0</a:t>
            </a:r>
            <a:r>
              <a:rPr lang="zh-CN" altLang="en-US" sz="2400">
                <a:solidFill>
                  <a:schemeClr val="folHlink"/>
                </a:solidFill>
              </a:rPr>
              <a:t>时</a:t>
            </a:r>
            <a:r>
              <a:rPr lang="en-US" altLang="zh-CN" sz="2400">
                <a:solidFill>
                  <a:schemeClr val="folHlink"/>
                </a:solidFill>
              </a:rPr>
              <a:t>DROM</a:t>
            </a:r>
            <a:r>
              <a:rPr lang="zh-CN" altLang="en-US" sz="2400">
                <a:solidFill>
                  <a:schemeClr val="folHlink"/>
                </a:solidFill>
              </a:rPr>
              <a:t>可让片内</a:t>
            </a:r>
            <a:r>
              <a:rPr lang="en-US" altLang="zh-CN" sz="2400">
                <a:solidFill>
                  <a:schemeClr val="folHlink"/>
                </a:solidFill>
              </a:rPr>
              <a:t>ROM</a:t>
            </a:r>
            <a:r>
              <a:rPr lang="zh-CN" altLang="en-US" sz="2400">
                <a:solidFill>
                  <a:schemeClr val="folHlink"/>
                </a:solidFill>
              </a:rPr>
              <a:t>映象到数据空间。</a:t>
            </a:r>
          </a:p>
        </p:txBody>
      </p:sp>
      <p:sp>
        <p:nvSpPr>
          <p:cNvPr id="549909" name="AutoShape 21" descr="小棋盘"/>
          <p:cNvSpPr>
            <a:spLocks noChangeArrowheads="1"/>
          </p:cNvSpPr>
          <p:nvPr/>
        </p:nvSpPr>
        <p:spPr bwMode="auto">
          <a:xfrm>
            <a:off x="1828800" y="3581400"/>
            <a:ext cx="2238375" cy="2895600"/>
          </a:xfrm>
          <a:prstGeom prst="wedgeRoundRectCallout">
            <a:avLst>
              <a:gd name="adj1" fmla="val 134398"/>
              <a:gd name="adj2" fmla="val -96218"/>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en-US" altLang="zh-CN" sz="2400">
                <a:solidFill>
                  <a:schemeClr val="tx2"/>
                </a:solidFill>
              </a:rPr>
              <a:t>CLKOUT</a:t>
            </a:r>
            <a:r>
              <a:rPr lang="zh-CN" altLang="en-US" sz="2400">
                <a:solidFill>
                  <a:schemeClr val="tx2"/>
                </a:solidFill>
              </a:rPr>
              <a:t>时钟输出关断位。为</a:t>
            </a:r>
            <a:r>
              <a:rPr lang="en-US" altLang="zh-CN" sz="2400">
                <a:solidFill>
                  <a:schemeClr val="tx2"/>
                </a:solidFill>
              </a:rPr>
              <a:t>1</a:t>
            </a:r>
            <a:r>
              <a:rPr lang="zh-CN" altLang="en-US" sz="2400">
                <a:solidFill>
                  <a:schemeClr val="tx2"/>
                </a:solidFill>
              </a:rPr>
              <a:t>时，</a:t>
            </a:r>
            <a:r>
              <a:rPr lang="en-US" altLang="zh-CN" sz="2400">
                <a:solidFill>
                  <a:schemeClr val="tx2"/>
                </a:solidFill>
              </a:rPr>
              <a:t>CLKOUT</a:t>
            </a:r>
            <a:r>
              <a:rPr lang="zh-CN" altLang="en-US" sz="2400">
                <a:solidFill>
                  <a:schemeClr val="tx2"/>
                </a:solidFill>
              </a:rPr>
              <a:t>的输出被禁止，且保持为高电平。</a:t>
            </a:r>
          </a:p>
        </p:txBody>
      </p:sp>
      <p:sp>
        <p:nvSpPr>
          <p:cNvPr id="549910" name="AutoShape 22" descr="小棋盘"/>
          <p:cNvSpPr>
            <a:spLocks noChangeArrowheads="1"/>
          </p:cNvSpPr>
          <p:nvPr/>
        </p:nvSpPr>
        <p:spPr bwMode="auto">
          <a:xfrm>
            <a:off x="4800600" y="3505200"/>
            <a:ext cx="2133600" cy="3048000"/>
          </a:xfrm>
          <a:prstGeom prst="wedgeRoundRectCallout">
            <a:avLst>
              <a:gd name="adj1" fmla="val 61755"/>
              <a:gd name="adj2" fmla="val -91565"/>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FF00FF"/>
                </a:solidFill>
              </a:rPr>
              <a:t>乘法饱和方式位。为</a:t>
            </a:r>
            <a:r>
              <a:rPr lang="en-US" altLang="zh-CN" sz="2400">
                <a:solidFill>
                  <a:srgbClr val="FF00FF"/>
                </a:solidFill>
              </a:rPr>
              <a:t>1</a:t>
            </a:r>
            <a:r>
              <a:rPr lang="zh-CN" altLang="en-US" sz="2400">
                <a:solidFill>
                  <a:srgbClr val="FF00FF"/>
                </a:solidFill>
              </a:rPr>
              <a:t>时，在用</a:t>
            </a:r>
            <a:r>
              <a:rPr lang="en-US" altLang="zh-CN" sz="2400">
                <a:solidFill>
                  <a:srgbClr val="FF00FF"/>
                </a:solidFill>
              </a:rPr>
              <a:t>MAC</a:t>
            </a:r>
            <a:r>
              <a:rPr lang="zh-CN" altLang="en-US" sz="2400">
                <a:solidFill>
                  <a:srgbClr val="FF00FF"/>
                </a:solidFill>
              </a:rPr>
              <a:t>或</a:t>
            </a:r>
            <a:r>
              <a:rPr lang="en-US" altLang="zh-CN" sz="2400">
                <a:solidFill>
                  <a:srgbClr val="FF00FF"/>
                </a:solidFill>
              </a:rPr>
              <a:t>MAS</a:t>
            </a:r>
            <a:r>
              <a:rPr lang="zh-CN" altLang="en-US" sz="2400">
                <a:solidFill>
                  <a:srgbClr val="FF00FF"/>
                </a:solidFill>
              </a:rPr>
              <a:t>指令进行累加</a:t>
            </a:r>
            <a:r>
              <a:rPr lang="en-US" altLang="zh-CN" sz="2400">
                <a:solidFill>
                  <a:srgbClr val="FF00FF"/>
                </a:solidFill>
              </a:rPr>
              <a:t>/</a:t>
            </a:r>
            <a:r>
              <a:rPr lang="zh-CN" altLang="en-US" sz="2400">
                <a:solidFill>
                  <a:srgbClr val="FF00FF"/>
                </a:solidFill>
              </a:rPr>
              <a:t>减以前，对乘法结果作饱和处理。</a:t>
            </a:r>
          </a:p>
        </p:txBody>
      </p:sp>
      <p:sp>
        <p:nvSpPr>
          <p:cNvPr id="549911" name="AutoShape 23" descr="小棋盘"/>
          <p:cNvSpPr>
            <a:spLocks noChangeArrowheads="1"/>
          </p:cNvSpPr>
          <p:nvPr/>
        </p:nvSpPr>
        <p:spPr bwMode="auto">
          <a:xfrm>
            <a:off x="7239000" y="3505200"/>
            <a:ext cx="1676400" cy="2667000"/>
          </a:xfrm>
          <a:prstGeom prst="wedgeRoundRectCallout">
            <a:avLst>
              <a:gd name="adj1" fmla="val 16759"/>
              <a:gd name="adj2" fmla="val -95236"/>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t>存储饱和位。当为</a:t>
            </a:r>
            <a:r>
              <a:rPr lang="en-US" altLang="zh-CN" sz="2400"/>
              <a:t>1</a:t>
            </a:r>
            <a:r>
              <a:rPr lang="zh-CN" altLang="en-US" sz="2400"/>
              <a:t>时，对存储前的累加器值进行饱和处理。</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549908"/>
                                        </p:tgtEl>
                                        <p:attrNameLst>
                                          <p:attrName>style.visibility</p:attrName>
                                        </p:attrNameLst>
                                      </p:cBhvr>
                                      <p:to>
                                        <p:strVal val="visible"/>
                                      </p:to>
                                    </p:set>
                                    <p:anim calcmode="lin" valueType="num">
                                      <p:cBhvr additive="base">
                                        <p:cTn id="11" dur="500" fill="hold"/>
                                        <p:tgtEl>
                                          <p:spTgt spid="549908"/>
                                        </p:tgtEl>
                                        <p:attrNameLst>
                                          <p:attrName>ppt_x</p:attrName>
                                        </p:attrNameLst>
                                      </p:cBhvr>
                                      <p:tavLst>
                                        <p:tav tm="0">
                                          <p:val>
                                            <p:strVal val="0-#ppt_w/2"/>
                                          </p:val>
                                        </p:tav>
                                        <p:tav tm="100000">
                                          <p:val>
                                            <p:strVal val="#ppt_x"/>
                                          </p:val>
                                        </p:tav>
                                      </p:tavLst>
                                    </p:anim>
                                    <p:anim calcmode="lin" valueType="num">
                                      <p:cBhvr additive="base">
                                        <p:cTn id="12" dur="500" fill="hold"/>
                                        <p:tgtEl>
                                          <p:spTgt spid="549908"/>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549909"/>
                                        </p:tgtEl>
                                        <p:attrNameLst>
                                          <p:attrName>style.visibility</p:attrName>
                                        </p:attrNameLst>
                                      </p:cBhvr>
                                      <p:to>
                                        <p:strVal val="visible"/>
                                      </p:to>
                                    </p:set>
                                    <p:anim calcmode="lin" valueType="num">
                                      <p:cBhvr additive="base">
                                        <p:cTn id="16" dur="500" fill="hold"/>
                                        <p:tgtEl>
                                          <p:spTgt spid="549909"/>
                                        </p:tgtEl>
                                        <p:attrNameLst>
                                          <p:attrName>ppt_x</p:attrName>
                                        </p:attrNameLst>
                                      </p:cBhvr>
                                      <p:tavLst>
                                        <p:tav tm="0">
                                          <p:val>
                                            <p:strVal val="#ppt_x"/>
                                          </p:val>
                                        </p:tav>
                                        <p:tav tm="100000">
                                          <p:val>
                                            <p:strVal val="#ppt_x"/>
                                          </p:val>
                                        </p:tav>
                                      </p:tavLst>
                                    </p:anim>
                                    <p:anim calcmode="lin" valueType="num">
                                      <p:cBhvr additive="base">
                                        <p:cTn id="17" dur="500" fill="hold"/>
                                        <p:tgtEl>
                                          <p:spTgt spid="549909"/>
                                        </p:tgtEl>
                                        <p:attrNameLst>
                                          <p:attrName>ppt_y</p:attrName>
                                        </p:attrNameLst>
                                      </p:cBhvr>
                                      <p:tavLst>
                                        <p:tav tm="0">
                                          <p:val>
                                            <p:strVal val="1+#ppt_h/2"/>
                                          </p:val>
                                        </p:tav>
                                        <p:tav tm="100000">
                                          <p:val>
                                            <p:strVal val="#ppt_y"/>
                                          </p:val>
                                        </p:tav>
                                      </p:tavLst>
                                    </p:anim>
                                  </p:childTnLst>
                                </p:cTn>
                              </p:par>
                            </p:childTnLst>
                          </p:cTn>
                        </p:par>
                        <p:par>
                          <p:cTn id="18" fill="hold" nodeType="afterGroup">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49910"/>
                                        </p:tgtEl>
                                        <p:attrNameLst>
                                          <p:attrName>style.visibility</p:attrName>
                                        </p:attrNameLst>
                                      </p:cBhvr>
                                      <p:to>
                                        <p:strVal val="visible"/>
                                      </p:to>
                                    </p:set>
                                    <p:anim calcmode="lin" valueType="num">
                                      <p:cBhvr additive="base">
                                        <p:cTn id="21" dur="500" fill="hold"/>
                                        <p:tgtEl>
                                          <p:spTgt spid="549910"/>
                                        </p:tgtEl>
                                        <p:attrNameLst>
                                          <p:attrName>ppt_x</p:attrName>
                                        </p:attrNameLst>
                                      </p:cBhvr>
                                      <p:tavLst>
                                        <p:tav tm="0">
                                          <p:val>
                                            <p:strVal val="#ppt_x"/>
                                          </p:val>
                                        </p:tav>
                                        <p:tav tm="100000">
                                          <p:val>
                                            <p:strVal val="#ppt_x"/>
                                          </p:val>
                                        </p:tav>
                                      </p:tavLst>
                                    </p:anim>
                                    <p:anim calcmode="lin" valueType="num">
                                      <p:cBhvr additive="base">
                                        <p:cTn id="22" dur="500" fill="hold"/>
                                        <p:tgtEl>
                                          <p:spTgt spid="549910"/>
                                        </p:tgtEl>
                                        <p:attrNameLst>
                                          <p:attrName>ppt_y</p:attrName>
                                        </p:attrNameLst>
                                      </p:cBhvr>
                                      <p:tavLst>
                                        <p:tav tm="0">
                                          <p:val>
                                            <p:strVal val="1+#ppt_h/2"/>
                                          </p:val>
                                        </p:tav>
                                        <p:tav tm="100000">
                                          <p:val>
                                            <p:strVal val="#ppt_y"/>
                                          </p:val>
                                        </p:tav>
                                      </p:tavLst>
                                    </p:anim>
                                  </p:childTnLst>
                                </p:cTn>
                              </p:par>
                            </p:childTnLst>
                          </p:cTn>
                        </p:par>
                        <p:par>
                          <p:cTn id="23" fill="hold" nodeType="afterGroup">
                            <p:stCondLst>
                              <p:cond delay="2000"/>
                            </p:stCondLst>
                            <p:childTnLst>
                              <p:par>
                                <p:cTn id="24" presetID="2" presetClass="entr" presetSubtype="2" fill="hold" grpId="0" nodeType="afterEffect">
                                  <p:stCondLst>
                                    <p:cond delay="0"/>
                                  </p:stCondLst>
                                  <p:childTnLst>
                                    <p:set>
                                      <p:cBhvr>
                                        <p:cTn id="25" dur="1" fill="hold">
                                          <p:stCondLst>
                                            <p:cond delay="0"/>
                                          </p:stCondLst>
                                        </p:cTn>
                                        <p:tgtEl>
                                          <p:spTgt spid="549911"/>
                                        </p:tgtEl>
                                        <p:attrNameLst>
                                          <p:attrName>style.visibility</p:attrName>
                                        </p:attrNameLst>
                                      </p:cBhvr>
                                      <p:to>
                                        <p:strVal val="visible"/>
                                      </p:to>
                                    </p:set>
                                    <p:anim calcmode="lin" valueType="num">
                                      <p:cBhvr additive="base">
                                        <p:cTn id="26" dur="500" fill="hold"/>
                                        <p:tgtEl>
                                          <p:spTgt spid="549911"/>
                                        </p:tgtEl>
                                        <p:attrNameLst>
                                          <p:attrName>ppt_x</p:attrName>
                                        </p:attrNameLst>
                                      </p:cBhvr>
                                      <p:tavLst>
                                        <p:tav tm="0">
                                          <p:val>
                                            <p:strVal val="1+#ppt_w/2"/>
                                          </p:val>
                                        </p:tav>
                                        <p:tav tm="100000">
                                          <p:val>
                                            <p:strVal val="#ppt_x"/>
                                          </p:val>
                                        </p:tav>
                                      </p:tavLst>
                                    </p:anim>
                                    <p:anim calcmode="lin" valueType="num">
                                      <p:cBhvr additive="base">
                                        <p:cTn id="27" dur="500" fill="hold"/>
                                        <p:tgtEl>
                                          <p:spTgt spid="5499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908" grpId="0" animBg="1" autoUpdateAnimBg="0"/>
      <p:bldP spid="549909" grpId="0" animBg="1" autoUpdateAnimBg="0"/>
      <p:bldP spid="549910" grpId="0" animBg="1" autoUpdateAnimBg="0"/>
      <p:bldP spid="549911"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bwMode="auto">
          <a:xfrm>
            <a:off x="1447800" y="1066800"/>
            <a:ext cx="6248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第三节  内部总线结构</a:t>
            </a:r>
            <a:endParaRPr lang="zh-CN" altLang="en-US" b="1">
              <a:solidFill>
                <a:srgbClr val="FF0000"/>
              </a:solidFill>
              <a:ea typeface="黑体" panose="02010609060101010101" pitchFamily="49" charset="-122"/>
            </a:endParaRPr>
          </a:p>
        </p:txBody>
      </p:sp>
      <p:sp>
        <p:nvSpPr>
          <p:cNvPr id="5427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8103893C-8C96-43B8-A328-CBC5FC31A46B}" type="slidenum">
              <a:rPr lang="en-US" altLang="zh-CN" sz="1400" b="0"/>
              <a:pPr eaLnBrk="1" hangingPunct="1"/>
              <a:t>41</a:t>
            </a:fld>
            <a:endParaRPr lang="en-US" altLang="zh-CN" sz="1400" b="0"/>
          </a:p>
        </p:txBody>
      </p:sp>
      <p:sp>
        <p:nvSpPr>
          <p:cNvPr id="550915" name="Rectangle 3"/>
          <p:cNvSpPr>
            <a:spLocks noChangeArrowheads="1"/>
          </p:cNvSpPr>
          <p:nvPr/>
        </p:nvSpPr>
        <p:spPr bwMode="auto">
          <a:xfrm>
            <a:off x="2133600" y="1981200"/>
            <a:ext cx="4419600" cy="679450"/>
          </a:xfrm>
          <a:prstGeom prst="rect">
            <a:avLst/>
          </a:prstGeom>
          <a:solidFill>
            <a:schemeClr val="bg2"/>
          </a:solidFill>
          <a:ln w="38100">
            <a:solidFill>
              <a:schemeClr val="accent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00"/>
                </a:solidFill>
                <a:latin typeface="宋体" panose="02010600030101010101" pitchFamily="2" charset="-122"/>
              </a:rPr>
              <a:t>不同总线作用与区别</a:t>
            </a:r>
            <a:r>
              <a:rPr lang="zh-CN" altLang="en-US" sz="3600" b="0">
                <a:latin typeface="宋体" panose="02010600030101010101" pitchFamily="2" charset="-122"/>
              </a:rPr>
              <a:t> </a:t>
            </a:r>
          </a:p>
        </p:txBody>
      </p:sp>
      <p:sp>
        <p:nvSpPr>
          <p:cNvPr id="550916" name="Rectangle 4"/>
          <p:cNvSpPr>
            <a:spLocks noChangeArrowheads="1"/>
          </p:cNvSpPr>
          <p:nvPr/>
        </p:nvSpPr>
        <p:spPr bwMode="auto">
          <a:xfrm>
            <a:off x="1295400" y="2971800"/>
            <a:ext cx="6629400" cy="25876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Char char="•"/>
            </a:pPr>
            <a:r>
              <a:rPr lang="zh-CN" altLang="en-US" sz="3200">
                <a:solidFill>
                  <a:srgbClr val="FF00FF"/>
                </a:solidFill>
                <a:latin typeface="宋体" panose="02010600030101010101" pitchFamily="2" charset="-122"/>
              </a:rPr>
              <a:t>程序总线（</a:t>
            </a:r>
            <a:r>
              <a:rPr lang="en-US" altLang="zh-CN" sz="3200">
                <a:solidFill>
                  <a:srgbClr val="FF00FF"/>
                </a:solidFill>
                <a:latin typeface="宋体" panose="02010600030101010101" pitchFamily="2" charset="-122"/>
              </a:rPr>
              <a:t>PB</a:t>
            </a:r>
            <a:r>
              <a:rPr lang="zh-CN" altLang="en-US" sz="3200">
                <a:solidFill>
                  <a:srgbClr val="FF00FF"/>
                </a:solidFill>
                <a:latin typeface="宋体" panose="02010600030101010101" pitchFamily="2" charset="-122"/>
              </a:rPr>
              <a:t>）</a:t>
            </a:r>
            <a:r>
              <a:rPr lang="zh-CN" altLang="en-US" sz="3200">
                <a:solidFill>
                  <a:schemeClr val="tx2"/>
                </a:solidFill>
                <a:latin typeface="宋体" panose="02010600030101010101" pitchFamily="2" charset="-122"/>
              </a:rPr>
              <a:t> </a:t>
            </a:r>
          </a:p>
          <a:p>
            <a:pPr eaLnBrk="1" hangingPunct="1">
              <a:lnSpc>
                <a:spcPct val="90000"/>
              </a:lnSpc>
              <a:spcBef>
                <a:spcPct val="50000"/>
              </a:spcBef>
              <a:buFontTx/>
              <a:buChar char="•"/>
            </a:pPr>
            <a:r>
              <a:rPr lang="zh-CN" altLang="en-US" sz="3200">
                <a:solidFill>
                  <a:schemeClr val="tx2"/>
                </a:solidFill>
                <a:latin typeface="宋体" panose="02010600030101010101" pitchFamily="2" charset="-122"/>
              </a:rPr>
              <a:t>数据总线（</a:t>
            </a:r>
            <a:r>
              <a:rPr lang="en-US" altLang="zh-CN" sz="3200">
                <a:solidFill>
                  <a:schemeClr val="tx2"/>
                </a:solidFill>
                <a:latin typeface="宋体" panose="02010600030101010101" pitchFamily="2" charset="-122"/>
              </a:rPr>
              <a:t>CB</a:t>
            </a:r>
            <a:r>
              <a:rPr lang="zh-CN" altLang="en-US" sz="3200">
                <a:solidFill>
                  <a:schemeClr val="tx2"/>
                </a:solidFill>
                <a:latin typeface="宋体" panose="02010600030101010101" pitchFamily="2" charset="-122"/>
              </a:rPr>
              <a:t>、</a:t>
            </a:r>
            <a:r>
              <a:rPr lang="en-US" altLang="zh-CN" sz="3200">
                <a:solidFill>
                  <a:schemeClr val="tx2"/>
                </a:solidFill>
                <a:latin typeface="宋体" panose="02010600030101010101" pitchFamily="2" charset="-122"/>
              </a:rPr>
              <a:t>DB</a:t>
            </a:r>
            <a:r>
              <a:rPr lang="zh-CN" altLang="en-US" sz="3200">
                <a:solidFill>
                  <a:schemeClr val="tx2"/>
                </a:solidFill>
                <a:latin typeface="宋体" panose="02010600030101010101" pitchFamily="2" charset="-122"/>
              </a:rPr>
              <a:t>和</a:t>
            </a:r>
            <a:r>
              <a:rPr lang="en-US" altLang="zh-CN" sz="3200">
                <a:solidFill>
                  <a:schemeClr val="tx2"/>
                </a:solidFill>
                <a:latin typeface="宋体" panose="02010600030101010101" pitchFamily="2" charset="-122"/>
              </a:rPr>
              <a:t>EB</a:t>
            </a:r>
            <a:r>
              <a:rPr lang="zh-CN" altLang="en-US" sz="3200">
                <a:solidFill>
                  <a:schemeClr val="tx2"/>
                </a:solidFill>
                <a:latin typeface="宋体" panose="02010600030101010101" pitchFamily="2" charset="-122"/>
              </a:rPr>
              <a:t>）</a:t>
            </a:r>
            <a:r>
              <a:rPr lang="zh-CN" altLang="en-US" sz="3200">
                <a:solidFill>
                  <a:schemeClr val="tx2"/>
                </a:solidFill>
              </a:rPr>
              <a:t> </a:t>
            </a:r>
          </a:p>
          <a:p>
            <a:pPr eaLnBrk="1" hangingPunct="1">
              <a:lnSpc>
                <a:spcPct val="90000"/>
              </a:lnSpc>
              <a:spcBef>
                <a:spcPct val="50000"/>
              </a:spcBef>
              <a:buFontTx/>
              <a:buChar char="•"/>
            </a:pPr>
            <a:r>
              <a:rPr lang="zh-CN" altLang="en-US" sz="3200">
                <a:solidFill>
                  <a:srgbClr val="FF6600"/>
                </a:solidFill>
                <a:latin typeface="宋体" panose="02010600030101010101" pitchFamily="2" charset="-122"/>
              </a:rPr>
              <a:t>地址总线（</a:t>
            </a:r>
            <a:r>
              <a:rPr lang="en-US" altLang="zh-CN" sz="3200">
                <a:solidFill>
                  <a:srgbClr val="FF6600"/>
                </a:solidFill>
                <a:latin typeface="宋体" panose="02010600030101010101" pitchFamily="2" charset="-122"/>
              </a:rPr>
              <a:t>PAB</a:t>
            </a:r>
            <a:r>
              <a:rPr lang="zh-CN" altLang="en-US" sz="3200">
                <a:solidFill>
                  <a:srgbClr val="FF6600"/>
                </a:solidFill>
                <a:latin typeface="宋体" panose="02010600030101010101" pitchFamily="2" charset="-122"/>
              </a:rPr>
              <a:t>、</a:t>
            </a:r>
            <a:r>
              <a:rPr lang="en-US" altLang="zh-CN" sz="3200">
                <a:solidFill>
                  <a:srgbClr val="FF6600"/>
                </a:solidFill>
                <a:latin typeface="宋体" panose="02010600030101010101" pitchFamily="2" charset="-122"/>
              </a:rPr>
              <a:t>CAB</a:t>
            </a:r>
            <a:r>
              <a:rPr lang="zh-CN" altLang="en-US" sz="3200">
                <a:solidFill>
                  <a:srgbClr val="FF6600"/>
                </a:solidFill>
                <a:latin typeface="宋体" panose="02010600030101010101" pitchFamily="2" charset="-122"/>
              </a:rPr>
              <a:t>、</a:t>
            </a:r>
            <a:r>
              <a:rPr lang="en-US" altLang="zh-CN" sz="3200">
                <a:solidFill>
                  <a:srgbClr val="FF6600"/>
                </a:solidFill>
                <a:latin typeface="宋体" panose="02010600030101010101" pitchFamily="2" charset="-122"/>
              </a:rPr>
              <a:t>DAB</a:t>
            </a:r>
            <a:r>
              <a:rPr lang="zh-CN" altLang="en-US" sz="3200">
                <a:solidFill>
                  <a:srgbClr val="FF6600"/>
                </a:solidFill>
                <a:latin typeface="宋体" panose="02010600030101010101" pitchFamily="2" charset="-122"/>
              </a:rPr>
              <a:t>和</a:t>
            </a:r>
            <a:r>
              <a:rPr lang="en-US" altLang="zh-CN" sz="3200">
                <a:solidFill>
                  <a:srgbClr val="FF6600"/>
                </a:solidFill>
                <a:latin typeface="宋体" panose="02010600030101010101" pitchFamily="2" charset="-122"/>
              </a:rPr>
              <a:t>EAB</a:t>
            </a:r>
            <a:r>
              <a:rPr lang="zh-CN" altLang="en-US" sz="3200">
                <a:solidFill>
                  <a:srgbClr val="FF6600"/>
                </a:solidFill>
                <a:latin typeface="宋体" panose="02010600030101010101" pitchFamily="2" charset="-122"/>
              </a:rPr>
              <a:t>）</a:t>
            </a:r>
          </a:p>
          <a:p>
            <a:pPr eaLnBrk="1" hangingPunct="1">
              <a:lnSpc>
                <a:spcPct val="90000"/>
              </a:lnSpc>
              <a:spcBef>
                <a:spcPct val="50000"/>
              </a:spcBef>
              <a:buFontTx/>
              <a:buChar char="•"/>
            </a:pPr>
            <a:r>
              <a:rPr lang="zh-CN" altLang="en-US" sz="3200">
                <a:solidFill>
                  <a:schemeClr val="folHlink"/>
                </a:solidFill>
                <a:latin typeface="宋体" panose="02010600030101010101" pitchFamily="2" charset="-122"/>
              </a:rPr>
              <a:t>在片双向总线</a:t>
            </a:r>
            <a:r>
              <a:rPr lang="zh-CN" altLang="en-US" sz="3200">
                <a:solidFill>
                  <a:schemeClr val="tx2"/>
                </a:solidFill>
                <a:latin typeface="宋体" panose="02010600030101010101" pitchFamily="2" charset="-122"/>
              </a:rPr>
              <a:t> </a:t>
            </a:r>
          </a:p>
        </p:txBody>
      </p:sp>
      <p:sp>
        <p:nvSpPr>
          <p:cNvPr id="550917" name="AutoShape 5" descr="小棋盘"/>
          <p:cNvSpPr>
            <a:spLocks noChangeArrowheads="1"/>
          </p:cNvSpPr>
          <p:nvPr/>
        </p:nvSpPr>
        <p:spPr bwMode="auto">
          <a:xfrm>
            <a:off x="7019925" y="2133600"/>
            <a:ext cx="1866900" cy="2025650"/>
          </a:xfrm>
          <a:prstGeom prst="wedgeRoundRectCallout">
            <a:avLst>
              <a:gd name="adj1" fmla="val -190477"/>
              <a:gd name="adj2" fmla="val 13060"/>
              <a:gd name="adj3" fmla="val 16667"/>
            </a:avLst>
          </a:prstGeom>
          <a:pattFill prst="smCheck">
            <a:fgClr>
              <a:srgbClr val="FFFF00"/>
            </a:fgClr>
            <a:bgClr>
              <a:srgbClr val="FFFFFF"/>
            </a:bgClr>
          </a:pattFill>
          <a:ln w="9525">
            <a:solidFill>
              <a:schemeClr val="folHlink"/>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tx2"/>
                </a:solidFill>
              </a:rPr>
              <a:t>传送取自程序存储器的指令代码和立即操作数。</a:t>
            </a:r>
          </a:p>
        </p:txBody>
      </p:sp>
      <p:sp>
        <p:nvSpPr>
          <p:cNvPr id="550918" name="AutoShape 6" descr="小棋盘"/>
          <p:cNvSpPr>
            <a:spLocks noChangeArrowheads="1"/>
          </p:cNvSpPr>
          <p:nvPr/>
        </p:nvSpPr>
        <p:spPr bwMode="auto">
          <a:xfrm>
            <a:off x="323850" y="5734050"/>
            <a:ext cx="6415088" cy="914400"/>
          </a:xfrm>
          <a:prstGeom prst="wedgeRoundRectCallout">
            <a:avLst>
              <a:gd name="adj1" fmla="val 14356"/>
              <a:gd name="adj2" fmla="val -193852"/>
              <a:gd name="adj3" fmla="val 16667"/>
            </a:avLst>
          </a:prstGeom>
          <a:pattFill prst="smCheck">
            <a:fgClr>
              <a:srgbClr val="FFFF00"/>
            </a:fgClr>
            <a:bgClr>
              <a:srgbClr val="FFFFFF"/>
            </a:bgClr>
          </a:pattFill>
          <a:ln w="9525">
            <a:solidFill>
              <a:schemeClr val="folHlink"/>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en-US" altLang="zh-CN" sz="2800">
                <a:solidFill>
                  <a:srgbClr val="CC00FF"/>
                </a:solidFill>
              </a:rPr>
              <a:t>CB</a:t>
            </a:r>
            <a:r>
              <a:rPr lang="zh-CN" altLang="en-US" sz="2800">
                <a:solidFill>
                  <a:srgbClr val="CC00FF"/>
                </a:solidFill>
              </a:rPr>
              <a:t>和</a:t>
            </a:r>
            <a:r>
              <a:rPr lang="en-US" altLang="zh-CN" sz="2800">
                <a:solidFill>
                  <a:srgbClr val="CC00FF"/>
                </a:solidFill>
              </a:rPr>
              <a:t>DB</a:t>
            </a:r>
            <a:r>
              <a:rPr lang="zh-CN" altLang="en-US" sz="2800">
                <a:solidFill>
                  <a:srgbClr val="CC00FF"/>
                </a:solidFill>
              </a:rPr>
              <a:t>传送读自数据存储器的操作数，</a:t>
            </a:r>
            <a:r>
              <a:rPr lang="en-US" altLang="zh-CN" sz="2800">
                <a:solidFill>
                  <a:srgbClr val="CC00FF"/>
                </a:solidFill>
              </a:rPr>
              <a:t>EB</a:t>
            </a:r>
            <a:r>
              <a:rPr lang="zh-CN" altLang="en-US" sz="2800">
                <a:solidFill>
                  <a:srgbClr val="CC00FF"/>
                </a:solidFill>
              </a:rPr>
              <a:t>传送写到存储器的数据。</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50914"/>
                                        </p:tgtEl>
                                        <p:attrNameLst>
                                          <p:attrName>style.visibility</p:attrName>
                                        </p:attrNameLst>
                                      </p:cBhvr>
                                      <p:to>
                                        <p:strVal val="visible"/>
                                      </p:to>
                                    </p:set>
                                    <p:anim calcmode="lin" valueType="num">
                                      <p:cBhvr additive="base">
                                        <p:cTn id="7" dur="500" fill="hold"/>
                                        <p:tgtEl>
                                          <p:spTgt spid="550914"/>
                                        </p:tgtEl>
                                        <p:attrNameLst>
                                          <p:attrName>ppt_x</p:attrName>
                                        </p:attrNameLst>
                                      </p:cBhvr>
                                      <p:tavLst>
                                        <p:tav tm="0">
                                          <p:val>
                                            <p:strVal val="0-#ppt_w/2"/>
                                          </p:val>
                                        </p:tav>
                                        <p:tav tm="100000">
                                          <p:val>
                                            <p:strVal val="#ppt_x"/>
                                          </p:val>
                                        </p:tav>
                                      </p:tavLst>
                                    </p:anim>
                                    <p:anim calcmode="lin" valueType="num">
                                      <p:cBhvr additive="base">
                                        <p:cTn id="8" dur="500" fill="hold"/>
                                        <p:tgtEl>
                                          <p:spTgt spid="55091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6" presetClass="entr" presetSubtype="26" fill="hold" grpId="0" nodeType="afterEffect">
                                  <p:stCondLst>
                                    <p:cond delay="0"/>
                                  </p:stCondLst>
                                  <p:childTnLst>
                                    <p:set>
                                      <p:cBhvr>
                                        <p:cTn id="11" dur="1" fill="hold">
                                          <p:stCondLst>
                                            <p:cond delay="0"/>
                                          </p:stCondLst>
                                        </p:cTn>
                                        <p:tgtEl>
                                          <p:spTgt spid="550915"/>
                                        </p:tgtEl>
                                        <p:attrNameLst>
                                          <p:attrName>style.visibility</p:attrName>
                                        </p:attrNameLst>
                                      </p:cBhvr>
                                      <p:to>
                                        <p:strVal val="visible"/>
                                      </p:to>
                                    </p:set>
                                    <p:animEffect transition="in" filter="barn(inHorizontal)">
                                      <p:cBhvr>
                                        <p:cTn id="12" dur="500"/>
                                        <p:tgtEl>
                                          <p:spTgt spid="550915"/>
                                        </p:tgtEl>
                                      </p:cBhvr>
                                    </p:animEffect>
                                  </p:childTnLst>
                                </p:cTn>
                              </p:par>
                            </p:childTnLst>
                          </p:cTn>
                        </p:par>
                        <p:par>
                          <p:cTn id="13" fill="hold" nodeType="afterGroup">
                            <p:stCondLst>
                              <p:cond delay="1000"/>
                            </p:stCondLst>
                            <p:childTnLst>
                              <p:par>
                                <p:cTn id="14" presetID="18" presetClass="entr" presetSubtype="12" fill="hold" grpId="0" nodeType="afterEffect">
                                  <p:stCondLst>
                                    <p:cond delay="0"/>
                                  </p:stCondLst>
                                  <p:childTnLst>
                                    <p:set>
                                      <p:cBhvr>
                                        <p:cTn id="15" dur="1" fill="hold">
                                          <p:stCondLst>
                                            <p:cond delay="0"/>
                                          </p:stCondLst>
                                        </p:cTn>
                                        <p:tgtEl>
                                          <p:spTgt spid="550916"/>
                                        </p:tgtEl>
                                        <p:attrNameLst>
                                          <p:attrName>style.visibility</p:attrName>
                                        </p:attrNameLst>
                                      </p:cBhvr>
                                      <p:to>
                                        <p:strVal val="visible"/>
                                      </p:to>
                                    </p:set>
                                    <p:animEffect transition="in" filter="strips(downLeft)">
                                      <p:cBhvr>
                                        <p:cTn id="16" dur="500"/>
                                        <p:tgtEl>
                                          <p:spTgt spid="550916"/>
                                        </p:tgtEl>
                                      </p:cBhvr>
                                    </p:animEffect>
                                  </p:childTnLst>
                                </p:cTn>
                              </p:par>
                            </p:childTnLst>
                          </p:cTn>
                        </p:par>
                        <p:par>
                          <p:cTn id="17" fill="hold" nodeType="afterGroup">
                            <p:stCondLst>
                              <p:cond delay="1500"/>
                            </p:stCondLst>
                            <p:childTnLst>
                              <p:par>
                                <p:cTn id="18" presetID="2" presetClass="entr" presetSubtype="2" fill="hold" grpId="0" nodeType="afterEffect">
                                  <p:stCondLst>
                                    <p:cond delay="0"/>
                                  </p:stCondLst>
                                  <p:childTnLst>
                                    <p:set>
                                      <p:cBhvr>
                                        <p:cTn id="19" dur="1" fill="hold">
                                          <p:stCondLst>
                                            <p:cond delay="0"/>
                                          </p:stCondLst>
                                        </p:cTn>
                                        <p:tgtEl>
                                          <p:spTgt spid="550917"/>
                                        </p:tgtEl>
                                        <p:attrNameLst>
                                          <p:attrName>style.visibility</p:attrName>
                                        </p:attrNameLst>
                                      </p:cBhvr>
                                      <p:to>
                                        <p:strVal val="visible"/>
                                      </p:to>
                                    </p:set>
                                    <p:anim calcmode="lin" valueType="num">
                                      <p:cBhvr additive="base">
                                        <p:cTn id="20" dur="500" fill="hold"/>
                                        <p:tgtEl>
                                          <p:spTgt spid="550917"/>
                                        </p:tgtEl>
                                        <p:attrNameLst>
                                          <p:attrName>ppt_x</p:attrName>
                                        </p:attrNameLst>
                                      </p:cBhvr>
                                      <p:tavLst>
                                        <p:tav tm="0">
                                          <p:val>
                                            <p:strVal val="1+#ppt_w/2"/>
                                          </p:val>
                                        </p:tav>
                                        <p:tav tm="100000">
                                          <p:val>
                                            <p:strVal val="#ppt_x"/>
                                          </p:val>
                                        </p:tav>
                                      </p:tavLst>
                                    </p:anim>
                                    <p:anim calcmode="lin" valueType="num">
                                      <p:cBhvr additive="base">
                                        <p:cTn id="21" dur="500" fill="hold"/>
                                        <p:tgtEl>
                                          <p:spTgt spid="550917"/>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2000"/>
                            </p:stCondLst>
                            <p:childTnLst>
                              <p:par>
                                <p:cTn id="23" presetID="2" presetClass="entr" presetSubtype="2" fill="hold" grpId="0" nodeType="afterEffect">
                                  <p:stCondLst>
                                    <p:cond delay="0"/>
                                  </p:stCondLst>
                                  <p:childTnLst>
                                    <p:set>
                                      <p:cBhvr>
                                        <p:cTn id="24" dur="1" fill="hold">
                                          <p:stCondLst>
                                            <p:cond delay="0"/>
                                          </p:stCondLst>
                                        </p:cTn>
                                        <p:tgtEl>
                                          <p:spTgt spid="550918"/>
                                        </p:tgtEl>
                                        <p:attrNameLst>
                                          <p:attrName>style.visibility</p:attrName>
                                        </p:attrNameLst>
                                      </p:cBhvr>
                                      <p:to>
                                        <p:strVal val="visible"/>
                                      </p:to>
                                    </p:set>
                                    <p:anim calcmode="lin" valueType="num">
                                      <p:cBhvr additive="base">
                                        <p:cTn id="25" dur="500" fill="hold"/>
                                        <p:tgtEl>
                                          <p:spTgt spid="550918"/>
                                        </p:tgtEl>
                                        <p:attrNameLst>
                                          <p:attrName>ppt_x</p:attrName>
                                        </p:attrNameLst>
                                      </p:cBhvr>
                                      <p:tavLst>
                                        <p:tav tm="0">
                                          <p:val>
                                            <p:strVal val="1+#ppt_w/2"/>
                                          </p:val>
                                        </p:tav>
                                        <p:tav tm="100000">
                                          <p:val>
                                            <p:strVal val="#ppt_x"/>
                                          </p:val>
                                        </p:tav>
                                      </p:tavLst>
                                    </p:anim>
                                    <p:anim calcmode="lin" valueType="num">
                                      <p:cBhvr additive="base">
                                        <p:cTn id="26" dur="500" fill="hold"/>
                                        <p:tgtEl>
                                          <p:spTgt spid="5509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14" grpId="0" autoUpdateAnimBg="0"/>
      <p:bldP spid="550915" grpId="0" animBg="1" autoUpdateAnimBg="0"/>
      <p:bldP spid="550916" grpId="0" animBg="1" autoUpdateAnimBg="0"/>
      <p:bldP spid="550917" grpId="0" animBg="1" autoUpdateAnimBg="0"/>
      <p:bldP spid="550918"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DE52477F-09A7-443A-9593-8FA56AD317C3}" type="slidenum">
              <a:rPr lang="en-US" altLang="zh-CN" sz="1400" b="0"/>
              <a:pPr eaLnBrk="1" hangingPunct="1"/>
              <a:t>42</a:t>
            </a:fld>
            <a:endParaRPr lang="en-US" altLang="zh-CN" sz="1400" b="0"/>
          </a:p>
        </p:txBody>
      </p:sp>
      <p:sp>
        <p:nvSpPr>
          <p:cNvPr id="55299" name="Text Box 4"/>
          <p:cNvSpPr txBox="1">
            <a:spLocks noChangeArrowheads="1"/>
          </p:cNvSpPr>
          <p:nvPr/>
        </p:nvSpPr>
        <p:spPr bwMode="auto">
          <a:xfrm>
            <a:off x="722313" y="1414463"/>
            <a:ext cx="10080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系统控制接口</a:t>
            </a:r>
          </a:p>
        </p:txBody>
      </p:sp>
      <p:sp>
        <p:nvSpPr>
          <p:cNvPr id="55300" name="Text Box 5"/>
          <p:cNvSpPr txBox="1">
            <a:spLocks noChangeArrowheads="1"/>
          </p:cNvSpPr>
          <p:nvPr/>
        </p:nvSpPr>
        <p:spPr bwMode="auto">
          <a:xfrm>
            <a:off x="2663825" y="1371600"/>
            <a:ext cx="1081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程序地址产生逻辑（</a:t>
            </a:r>
            <a:r>
              <a:rPr lang="en-US" altLang="zh-CN" sz="1200"/>
              <a:t>PAGEN</a:t>
            </a:r>
            <a:r>
              <a:rPr lang="zh-CN" altLang="en-US" sz="1200"/>
              <a:t>）</a:t>
            </a:r>
          </a:p>
        </p:txBody>
      </p:sp>
      <p:sp>
        <p:nvSpPr>
          <p:cNvPr id="55301" name="Text Box 6"/>
          <p:cNvSpPr txBox="1">
            <a:spLocks noChangeArrowheads="1"/>
          </p:cNvSpPr>
          <p:nvPr/>
        </p:nvSpPr>
        <p:spPr bwMode="auto">
          <a:xfrm>
            <a:off x="5075238" y="1371600"/>
            <a:ext cx="10810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数据地址产生逻辑（</a:t>
            </a:r>
            <a:r>
              <a:rPr lang="en-US" altLang="zh-CN" sz="1200"/>
              <a:t>DAGEN</a:t>
            </a:r>
            <a:r>
              <a:rPr lang="zh-CN" altLang="en-US" sz="1200"/>
              <a:t>）</a:t>
            </a:r>
          </a:p>
        </p:txBody>
      </p:sp>
      <p:sp>
        <p:nvSpPr>
          <p:cNvPr id="55302" name="Text Box 7"/>
          <p:cNvSpPr txBox="1">
            <a:spLocks noChangeArrowheads="1"/>
          </p:cNvSpPr>
          <p:nvPr/>
        </p:nvSpPr>
        <p:spPr bwMode="auto">
          <a:xfrm>
            <a:off x="8020050" y="2043113"/>
            <a:ext cx="71913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存储器和外部接口</a:t>
            </a:r>
          </a:p>
        </p:txBody>
      </p:sp>
      <p:sp>
        <p:nvSpPr>
          <p:cNvPr id="55303" name="Text Box 8"/>
          <p:cNvSpPr txBox="1">
            <a:spLocks noChangeArrowheads="1"/>
          </p:cNvSpPr>
          <p:nvPr/>
        </p:nvSpPr>
        <p:spPr bwMode="auto">
          <a:xfrm>
            <a:off x="8107363" y="4295775"/>
            <a:ext cx="719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t>周边接口</a:t>
            </a:r>
          </a:p>
        </p:txBody>
      </p:sp>
      <p:sp>
        <p:nvSpPr>
          <p:cNvPr id="55304" name="Text Box 9"/>
          <p:cNvSpPr txBox="1">
            <a:spLocks noChangeArrowheads="1"/>
          </p:cNvSpPr>
          <p:nvPr/>
        </p:nvSpPr>
        <p:spPr bwMode="auto">
          <a:xfrm>
            <a:off x="550863" y="2433638"/>
            <a:ext cx="5032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FF0000"/>
                </a:solidFill>
              </a:rPr>
              <a:t>PAB</a:t>
            </a:r>
          </a:p>
        </p:txBody>
      </p:sp>
      <p:sp>
        <p:nvSpPr>
          <p:cNvPr id="55305" name="Text Box 10"/>
          <p:cNvSpPr txBox="1">
            <a:spLocks noChangeArrowheads="1"/>
          </p:cNvSpPr>
          <p:nvPr/>
        </p:nvSpPr>
        <p:spPr bwMode="auto">
          <a:xfrm>
            <a:off x="560388" y="2743200"/>
            <a:ext cx="360362"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FF00FF"/>
                </a:solidFill>
              </a:rPr>
              <a:t>PB</a:t>
            </a:r>
          </a:p>
        </p:txBody>
      </p:sp>
      <p:sp>
        <p:nvSpPr>
          <p:cNvPr id="55306" name="Text Box 11"/>
          <p:cNvSpPr txBox="1">
            <a:spLocks noChangeArrowheads="1"/>
          </p:cNvSpPr>
          <p:nvPr/>
        </p:nvSpPr>
        <p:spPr bwMode="auto">
          <a:xfrm>
            <a:off x="569913" y="3046413"/>
            <a:ext cx="44132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tx2"/>
                </a:solidFill>
              </a:rPr>
              <a:t>CAB</a:t>
            </a:r>
          </a:p>
        </p:txBody>
      </p:sp>
      <p:sp>
        <p:nvSpPr>
          <p:cNvPr id="55307" name="Text Box 12"/>
          <p:cNvSpPr txBox="1">
            <a:spLocks noChangeArrowheads="1"/>
          </p:cNvSpPr>
          <p:nvPr/>
        </p:nvSpPr>
        <p:spPr bwMode="auto">
          <a:xfrm>
            <a:off x="565150" y="3386138"/>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hlink"/>
                </a:solidFill>
              </a:rPr>
              <a:t>CB</a:t>
            </a:r>
          </a:p>
        </p:txBody>
      </p:sp>
      <p:sp>
        <p:nvSpPr>
          <p:cNvPr id="55308" name="Text Box 13"/>
          <p:cNvSpPr txBox="1">
            <a:spLocks noChangeArrowheads="1"/>
          </p:cNvSpPr>
          <p:nvPr/>
        </p:nvSpPr>
        <p:spPr bwMode="auto">
          <a:xfrm>
            <a:off x="555625" y="3692525"/>
            <a:ext cx="5032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FF6600"/>
                </a:solidFill>
              </a:rPr>
              <a:t>DAB</a:t>
            </a:r>
          </a:p>
        </p:txBody>
      </p:sp>
      <p:sp>
        <p:nvSpPr>
          <p:cNvPr id="55309" name="Text Box 14"/>
          <p:cNvSpPr txBox="1">
            <a:spLocks noChangeArrowheads="1"/>
          </p:cNvSpPr>
          <p:nvPr/>
        </p:nvSpPr>
        <p:spPr bwMode="auto">
          <a:xfrm>
            <a:off x="598488" y="4002088"/>
            <a:ext cx="30797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FF9900"/>
                </a:solidFill>
              </a:rPr>
              <a:t>DB</a:t>
            </a:r>
          </a:p>
        </p:txBody>
      </p:sp>
      <p:sp>
        <p:nvSpPr>
          <p:cNvPr id="55310" name="Text Box 15"/>
          <p:cNvSpPr txBox="1">
            <a:spLocks noChangeArrowheads="1"/>
          </p:cNvSpPr>
          <p:nvPr/>
        </p:nvSpPr>
        <p:spPr bwMode="auto">
          <a:xfrm>
            <a:off x="546100" y="4324350"/>
            <a:ext cx="5127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00FFFF"/>
                </a:solidFill>
              </a:rPr>
              <a:t>EAB</a:t>
            </a:r>
          </a:p>
        </p:txBody>
      </p:sp>
      <p:sp>
        <p:nvSpPr>
          <p:cNvPr id="55311" name="Text Box 16"/>
          <p:cNvSpPr txBox="1">
            <a:spLocks noChangeArrowheads="1"/>
          </p:cNvSpPr>
          <p:nvPr/>
        </p:nvSpPr>
        <p:spPr bwMode="auto">
          <a:xfrm>
            <a:off x="574675" y="4641850"/>
            <a:ext cx="3603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rgbClr val="66CCFF"/>
                </a:solidFill>
              </a:rPr>
              <a:t>EB</a:t>
            </a:r>
          </a:p>
        </p:txBody>
      </p:sp>
      <p:sp>
        <p:nvSpPr>
          <p:cNvPr id="55312" name="Line 17"/>
          <p:cNvSpPr>
            <a:spLocks noChangeShapeType="1"/>
          </p:cNvSpPr>
          <p:nvPr/>
        </p:nvSpPr>
        <p:spPr bwMode="auto">
          <a:xfrm flipV="1">
            <a:off x="985838" y="2592388"/>
            <a:ext cx="6805612" cy="3175"/>
          </a:xfrm>
          <a:prstGeom prst="line">
            <a:avLst/>
          </a:prstGeom>
          <a:noFill/>
          <a:ln w="7620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13" name="Line 18"/>
          <p:cNvSpPr>
            <a:spLocks noChangeShapeType="1"/>
          </p:cNvSpPr>
          <p:nvPr/>
        </p:nvSpPr>
        <p:spPr bwMode="auto">
          <a:xfrm>
            <a:off x="985838" y="2913063"/>
            <a:ext cx="6805612" cy="0"/>
          </a:xfrm>
          <a:prstGeom prst="line">
            <a:avLst/>
          </a:prstGeom>
          <a:noFill/>
          <a:ln w="7620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14" name="Line 19"/>
          <p:cNvSpPr>
            <a:spLocks noChangeShapeType="1"/>
          </p:cNvSpPr>
          <p:nvPr/>
        </p:nvSpPr>
        <p:spPr bwMode="auto">
          <a:xfrm>
            <a:off x="985838" y="3233738"/>
            <a:ext cx="6805612" cy="0"/>
          </a:xfrm>
          <a:prstGeom prst="line">
            <a:avLst/>
          </a:prstGeom>
          <a:noFill/>
          <a:ln w="76200">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15" name="Line 20"/>
          <p:cNvSpPr>
            <a:spLocks noChangeShapeType="1"/>
          </p:cNvSpPr>
          <p:nvPr/>
        </p:nvSpPr>
        <p:spPr bwMode="auto">
          <a:xfrm>
            <a:off x="950913" y="3554413"/>
            <a:ext cx="6805612" cy="0"/>
          </a:xfrm>
          <a:prstGeom prst="line">
            <a:avLst/>
          </a:prstGeom>
          <a:noFill/>
          <a:ln w="7620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16" name="Line 21"/>
          <p:cNvSpPr>
            <a:spLocks noChangeShapeType="1"/>
          </p:cNvSpPr>
          <p:nvPr/>
        </p:nvSpPr>
        <p:spPr bwMode="auto">
          <a:xfrm flipV="1">
            <a:off x="985838" y="3871913"/>
            <a:ext cx="6805612" cy="3175"/>
          </a:xfrm>
          <a:prstGeom prst="line">
            <a:avLst/>
          </a:prstGeom>
          <a:noFill/>
          <a:ln w="76200">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17" name="Line 22"/>
          <p:cNvSpPr>
            <a:spLocks noChangeShapeType="1"/>
          </p:cNvSpPr>
          <p:nvPr/>
        </p:nvSpPr>
        <p:spPr bwMode="auto">
          <a:xfrm>
            <a:off x="985838" y="4192588"/>
            <a:ext cx="6805612" cy="0"/>
          </a:xfrm>
          <a:prstGeom prst="line">
            <a:avLst/>
          </a:prstGeom>
          <a:noFill/>
          <a:ln w="76200">
            <a:solidFill>
              <a:srgbClr val="FFCC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18" name="Line 23"/>
          <p:cNvSpPr>
            <a:spLocks noChangeShapeType="1"/>
          </p:cNvSpPr>
          <p:nvPr/>
        </p:nvSpPr>
        <p:spPr bwMode="auto">
          <a:xfrm>
            <a:off x="985838" y="4514850"/>
            <a:ext cx="6805612" cy="0"/>
          </a:xfrm>
          <a:prstGeom prst="line">
            <a:avLst/>
          </a:prstGeom>
          <a:noFill/>
          <a:ln w="76200">
            <a:solidFill>
              <a:srgbClr val="00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19" name="Line 24"/>
          <p:cNvSpPr>
            <a:spLocks noChangeShapeType="1"/>
          </p:cNvSpPr>
          <p:nvPr/>
        </p:nvSpPr>
        <p:spPr bwMode="auto">
          <a:xfrm flipV="1">
            <a:off x="985838" y="4832350"/>
            <a:ext cx="6805612" cy="3175"/>
          </a:xfrm>
          <a:prstGeom prst="line">
            <a:avLst/>
          </a:prstGeom>
          <a:noFill/>
          <a:ln w="76200">
            <a:solidFill>
              <a:srgbClr val="99CC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20" name="Text Box 25"/>
          <p:cNvSpPr txBox="1">
            <a:spLocks noChangeArrowheads="1"/>
          </p:cNvSpPr>
          <p:nvPr/>
        </p:nvSpPr>
        <p:spPr bwMode="auto">
          <a:xfrm>
            <a:off x="1155700" y="1774825"/>
            <a:ext cx="252413" cy="406400"/>
          </a:xfrm>
          <a:prstGeom prst="rect">
            <a:avLst/>
          </a:prstGeom>
          <a:solidFill>
            <a:srgbClr val="00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sp>
        <p:nvSpPr>
          <p:cNvPr id="55321" name="Text Box 26"/>
          <p:cNvSpPr txBox="1">
            <a:spLocks noChangeArrowheads="1"/>
          </p:cNvSpPr>
          <p:nvPr/>
        </p:nvSpPr>
        <p:spPr bwMode="auto">
          <a:xfrm>
            <a:off x="2527300" y="1774825"/>
            <a:ext cx="1238250" cy="406400"/>
          </a:xfrm>
          <a:prstGeom prst="rect">
            <a:avLst/>
          </a:prstGeom>
          <a:solidFill>
            <a:schemeClr val="folHlink"/>
          </a:solidFill>
          <a:ln w="9525">
            <a:solidFill>
              <a:schemeClr val="bg2"/>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000">
                <a:solidFill>
                  <a:schemeClr val="bg1"/>
                </a:solidFill>
              </a:rPr>
              <a:t>PC</a:t>
            </a:r>
            <a:r>
              <a:rPr lang="zh-CN" altLang="en-US" sz="1000">
                <a:solidFill>
                  <a:schemeClr val="bg1"/>
                </a:solidFill>
              </a:rPr>
              <a:t>，</a:t>
            </a:r>
            <a:r>
              <a:rPr lang="en-US" altLang="zh-CN" sz="1000">
                <a:solidFill>
                  <a:schemeClr val="bg1"/>
                </a:solidFill>
              </a:rPr>
              <a:t>IPTR</a:t>
            </a:r>
            <a:r>
              <a:rPr lang="zh-CN" altLang="en-US" sz="1000">
                <a:solidFill>
                  <a:schemeClr val="bg1"/>
                </a:solidFill>
              </a:rPr>
              <a:t>，</a:t>
            </a:r>
            <a:r>
              <a:rPr lang="en-US" altLang="zh-CN" sz="1000">
                <a:solidFill>
                  <a:schemeClr val="bg1"/>
                </a:solidFill>
              </a:rPr>
              <a:t>RC</a:t>
            </a:r>
            <a:r>
              <a:rPr lang="zh-CN" altLang="en-US" sz="1000">
                <a:solidFill>
                  <a:schemeClr val="bg1"/>
                </a:solidFill>
              </a:rPr>
              <a:t>，</a:t>
            </a:r>
          </a:p>
          <a:p>
            <a:pPr eaLnBrk="1" hangingPunct="1"/>
            <a:r>
              <a:rPr lang="en-US" altLang="zh-CN" sz="1000">
                <a:solidFill>
                  <a:schemeClr val="bg1"/>
                </a:solidFill>
              </a:rPr>
              <a:t>BRC</a:t>
            </a:r>
            <a:r>
              <a:rPr lang="zh-CN" altLang="en-US" sz="1000">
                <a:solidFill>
                  <a:schemeClr val="bg1"/>
                </a:solidFill>
              </a:rPr>
              <a:t>，</a:t>
            </a:r>
            <a:r>
              <a:rPr lang="en-US" altLang="zh-CN" sz="1000">
                <a:solidFill>
                  <a:schemeClr val="bg1"/>
                </a:solidFill>
              </a:rPr>
              <a:t>RSA</a:t>
            </a:r>
            <a:r>
              <a:rPr lang="zh-CN" altLang="en-US" sz="1000">
                <a:solidFill>
                  <a:schemeClr val="bg1"/>
                </a:solidFill>
              </a:rPr>
              <a:t>，</a:t>
            </a:r>
            <a:r>
              <a:rPr lang="en-US" altLang="zh-CN" sz="1000">
                <a:solidFill>
                  <a:schemeClr val="bg1"/>
                </a:solidFill>
              </a:rPr>
              <a:t>REA</a:t>
            </a:r>
          </a:p>
        </p:txBody>
      </p:sp>
      <p:sp>
        <p:nvSpPr>
          <p:cNvPr id="55322" name="Text Box 27"/>
          <p:cNvSpPr txBox="1">
            <a:spLocks noChangeArrowheads="1"/>
          </p:cNvSpPr>
          <p:nvPr/>
        </p:nvSpPr>
        <p:spPr bwMode="auto">
          <a:xfrm>
            <a:off x="4578350" y="1774825"/>
            <a:ext cx="1933575" cy="4064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000">
                <a:solidFill>
                  <a:srgbClr val="FF6600"/>
                </a:solidFill>
              </a:rPr>
              <a:t>ARAU0</a:t>
            </a:r>
            <a:r>
              <a:rPr lang="zh-CN" altLang="en-US" sz="1000">
                <a:solidFill>
                  <a:srgbClr val="FF6600"/>
                </a:solidFill>
              </a:rPr>
              <a:t>，</a:t>
            </a:r>
            <a:r>
              <a:rPr lang="en-US" altLang="zh-CN" sz="1000">
                <a:solidFill>
                  <a:srgbClr val="FF6600"/>
                </a:solidFill>
              </a:rPr>
              <a:t>ARAU1</a:t>
            </a:r>
            <a:r>
              <a:rPr lang="zh-CN" altLang="en-US" sz="1000">
                <a:solidFill>
                  <a:srgbClr val="FF6600"/>
                </a:solidFill>
              </a:rPr>
              <a:t>，</a:t>
            </a:r>
            <a:r>
              <a:rPr lang="en-US" altLang="zh-CN" sz="1000">
                <a:solidFill>
                  <a:srgbClr val="FF6600"/>
                </a:solidFill>
              </a:rPr>
              <a:t>AR0</a:t>
            </a:r>
            <a:r>
              <a:rPr lang="zh-CN" altLang="en-US" sz="1000">
                <a:solidFill>
                  <a:srgbClr val="FF6600"/>
                </a:solidFill>
              </a:rPr>
              <a:t>～</a:t>
            </a:r>
            <a:r>
              <a:rPr lang="en-US" altLang="zh-CN" sz="1000">
                <a:solidFill>
                  <a:srgbClr val="FF6600"/>
                </a:solidFill>
              </a:rPr>
              <a:t>AR7</a:t>
            </a:r>
          </a:p>
          <a:p>
            <a:pPr eaLnBrk="1" hangingPunct="1"/>
            <a:r>
              <a:rPr lang="en-US" altLang="zh-CN" sz="1000">
                <a:solidFill>
                  <a:srgbClr val="FF6600"/>
                </a:solidFill>
              </a:rPr>
              <a:t>ARP</a:t>
            </a:r>
            <a:r>
              <a:rPr lang="zh-CN" altLang="en-US" sz="1000">
                <a:solidFill>
                  <a:srgbClr val="FF6600"/>
                </a:solidFill>
              </a:rPr>
              <a:t>，</a:t>
            </a:r>
            <a:r>
              <a:rPr lang="en-US" altLang="zh-CN" sz="1000">
                <a:solidFill>
                  <a:srgbClr val="FF6600"/>
                </a:solidFill>
              </a:rPr>
              <a:t>BK</a:t>
            </a:r>
            <a:r>
              <a:rPr lang="zh-CN" altLang="en-US" sz="1000">
                <a:solidFill>
                  <a:srgbClr val="FF6600"/>
                </a:solidFill>
              </a:rPr>
              <a:t>，</a:t>
            </a:r>
            <a:r>
              <a:rPr lang="en-US" altLang="zh-CN" sz="1000">
                <a:solidFill>
                  <a:srgbClr val="FF6600"/>
                </a:solidFill>
              </a:rPr>
              <a:t>DP</a:t>
            </a:r>
            <a:r>
              <a:rPr lang="zh-CN" altLang="en-US" sz="1000">
                <a:solidFill>
                  <a:srgbClr val="FF6600"/>
                </a:solidFill>
              </a:rPr>
              <a:t>，</a:t>
            </a:r>
            <a:r>
              <a:rPr lang="en-US" altLang="zh-CN" sz="1000">
                <a:solidFill>
                  <a:srgbClr val="FF6600"/>
                </a:solidFill>
              </a:rPr>
              <a:t>SP</a:t>
            </a:r>
          </a:p>
        </p:txBody>
      </p:sp>
      <p:sp>
        <p:nvSpPr>
          <p:cNvPr id="55323" name="AutoShape 28"/>
          <p:cNvSpPr>
            <a:spLocks noChangeArrowheads="1"/>
          </p:cNvSpPr>
          <p:nvPr/>
        </p:nvSpPr>
        <p:spPr bwMode="auto">
          <a:xfrm>
            <a:off x="654050" y="1666875"/>
            <a:ext cx="493713" cy="600075"/>
          </a:xfrm>
          <a:prstGeom prst="leftRightArrow">
            <a:avLst>
              <a:gd name="adj1" fmla="val 50000"/>
              <a:gd name="adj2" fmla="val 20000"/>
            </a:avLst>
          </a:prstGeom>
          <a:solidFill>
            <a:srgbClr val="FF0000"/>
          </a:solidFill>
          <a:ln w="9525">
            <a:solidFill>
              <a:srgbClr val="FF66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5324" name="Line 29"/>
          <p:cNvSpPr>
            <a:spLocks noChangeShapeType="1"/>
          </p:cNvSpPr>
          <p:nvPr/>
        </p:nvSpPr>
        <p:spPr bwMode="auto">
          <a:xfrm>
            <a:off x="1409700" y="1933575"/>
            <a:ext cx="1117600" cy="0"/>
          </a:xfrm>
          <a:prstGeom prst="line">
            <a:avLst/>
          </a:prstGeom>
          <a:noFill/>
          <a:ln w="28575">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25" name="Line 30"/>
          <p:cNvSpPr>
            <a:spLocks noChangeShapeType="1"/>
          </p:cNvSpPr>
          <p:nvPr/>
        </p:nvSpPr>
        <p:spPr bwMode="auto">
          <a:xfrm>
            <a:off x="1411288" y="2027238"/>
            <a:ext cx="1117600" cy="0"/>
          </a:xfrm>
          <a:prstGeom prst="line">
            <a:avLst/>
          </a:prstGeom>
          <a:noFill/>
          <a:ln w="1905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26" name="Line 31"/>
          <p:cNvSpPr>
            <a:spLocks noChangeShapeType="1"/>
          </p:cNvSpPr>
          <p:nvPr/>
        </p:nvSpPr>
        <p:spPr bwMode="auto">
          <a:xfrm>
            <a:off x="1417638" y="2116138"/>
            <a:ext cx="144462" cy="0"/>
          </a:xfrm>
          <a:prstGeom prst="line">
            <a:avLst/>
          </a:prstGeom>
          <a:noFill/>
          <a:ln w="19050">
            <a:solidFill>
              <a:srgbClr val="FF00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27" name="Line 32"/>
          <p:cNvSpPr>
            <a:spLocks noChangeShapeType="1"/>
          </p:cNvSpPr>
          <p:nvPr/>
        </p:nvSpPr>
        <p:spPr bwMode="auto">
          <a:xfrm>
            <a:off x="1562100" y="2116138"/>
            <a:ext cx="0" cy="796925"/>
          </a:xfrm>
          <a:prstGeom prst="line">
            <a:avLst/>
          </a:prstGeom>
          <a:noFill/>
          <a:ln w="1905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28" name="Line 33"/>
          <p:cNvSpPr>
            <a:spLocks noChangeShapeType="1"/>
          </p:cNvSpPr>
          <p:nvPr/>
        </p:nvSpPr>
        <p:spPr bwMode="auto">
          <a:xfrm flipH="1">
            <a:off x="2606675" y="2193925"/>
            <a:ext cx="1588" cy="32067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29" name="Text Box 34"/>
          <p:cNvSpPr txBox="1">
            <a:spLocks noChangeArrowheads="1"/>
          </p:cNvSpPr>
          <p:nvPr/>
        </p:nvSpPr>
        <p:spPr bwMode="auto">
          <a:xfrm>
            <a:off x="7775575" y="2384425"/>
            <a:ext cx="252413" cy="2692400"/>
          </a:xfrm>
          <a:prstGeom prst="rect">
            <a:avLst/>
          </a:prstGeom>
          <a:solidFill>
            <a:srgbClr val="00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p:txBody>
      </p:sp>
      <p:sp>
        <p:nvSpPr>
          <p:cNvPr id="55330" name="AutoShape 35"/>
          <p:cNvSpPr>
            <a:spLocks noChangeArrowheads="1"/>
          </p:cNvSpPr>
          <p:nvPr/>
        </p:nvSpPr>
        <p:spPr bwMode="auto">
          <a:xfrm>
            <a:off x="8027988" y="2543175"/>
            <a:ext cx="493712" cy="598488"/>
          </a:xfrm>
          <a:prstGeom prst="leftRightArrow">
            <a:avLst>
              <a:gd name="adj1" fmla="val 50000"/>
              <a:gd name="adj2" fmla="val 20000"/>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5331" name="AutoShape 36"/>
          <p:cNvSpPr>
            <a:spLocks noChangeArrowheads="1"/>
          </p:cNvSpPr>
          <p:nvPr/>
        </p:nvSpPr>
        <p:spPr bwMode="auto">
          <a:xfrm>
            <a:off x="8027988" y="4541838"/>
            <a:ext cx="493712" cy="600075"/>
          </a:xfrm>
          <a:prstGeom prst="leftRightArrow">
            <a:avLst>
              <a:gd name="adj1" fmla="val 50000"/>
              <a:gd name="adj2" fmla="val 20000"/>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5332" name="Line 37"/>
          <p:cNvSpPr>
            <a:spLocks noChangeShapeType="1"/>
          </p:cNvSpPr>
          <p:nvPr/>
        </p:nvSpPr>
        <p:spPr bwMode="auto">
          <a:xfrm flipH="1">
            <a:off x="2894013" y="2193925"/>
            <a:ext cx="1587" cy="1600200"/>
          </a:xfrm>
          <a:prstGeom prst="line">
            <a:avLst/>
          </a:prstGeom>
          <a:noFill/>
          <a:ln w="19050">
            <a:solidFill>
              <a:srgbClr val="FF66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33" name="Line 38"/>
          <p:cNvSpPr>
            <a:spLocks noChangeShapeType="1"/>
          </p:cNvSpPr>
          <p:nvPr/>
        </p:nvSpPr>
        <p:spPr bwMode="auto">
          <a:xfrm flipH="1">
            <a:off x="3067050" y="2193925"/>
            <a:ext cx="9525" cy="1993900"/>
          </a:xfrm>
          <a:prstGeom prst="line">
            <a:avLst/>
          </a:prstGeom>
          <a:noFill/>
          <a:ln w="19050">
            <a:solidFill>
              <a:srgbClr val="FFCC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34" name="Line 39"/>
          <p:cNvSpPr>
            <a:spLocks noChangeShapeType="1"/>
          </p:cNvSpPr>
          <p:nvPr/>
        </p:nvSpPr>
        <p:spPr bwMode="auto">
          <a:xfrm flipH="1">
            <a:off x="3362325" y="2193925"/>
            <a:ext cx="1588" cy="2238375"/>
          </a:xfrm>
          <a:prstGeom prst="line">
            <a:avLst/>
          </a:prstGeom>
          <a:noFill/>
          <a:ln w="19050">
            <a:solidFill>
              <a:srgbClr val="0099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35" name="Line 40"/>
          <p:cNvSpPr>
            <a:spLocks noChangeShapeType="1"/>
          </p:cNvSpPr>
          <p:nvPr/>
        </p:nvSpPr>
        <p:spPr bwMode="auto">
          <a:xfrm flipH="1">
            <a:off x="3578225" y="2193925"/>
            <a:ext cx="1588" cy="2638425"/>
          </a:xfrm>
          <a:prstGeom prst="line">
            <a:avLst/>
          </a:prstGeom>
          <a:noFill/>
          <a:ln w="19050">
            <a:solidFill>
              <a:srgbClr val="00CC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36" name="Line 41"/>
          <p:cNvSpPr>
            <a:spLocks noChangeShapeType="1"/>
          </p:cNvSpPr>
          <p:nvPr/>
        </p:nvSpPr>
        <p:spPr bwMode="auto">
          <a:xfrm flipH="1">
            <a:off x="4983163" y="2193925"/>
            <a:ext cx="1587" cy="958850"/>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37" name="Line 42"/>
          <p:cNvSpPr>
            <a:spLocks noChangeShapeType="1"/>
          </p:cNvSpPr>
          <p:nvPr/>
        </p:nvSpPr>
        <p:spPr bwMode="auto">
          <a:xfrm flipH="1">
            <a:off x="5449888" y="2193925"/>
            <a:ext cx="1587" cy="1600200"/>
          </a:xfrm>
          <a:prstGeom prst="line">
            <a:avLst/>
          </a:prstGeom>
          <a:noFill/>
          <a:ln w="19050">
            <a:solidFill>
              <a:srgbClr val="FF6600"/>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38" name="Line 43"/>
          <p:cNvSpPr>
            <a:spLocks noChangeShapeType="1"/>
          </p:cNvSpPr>
          <p:nvPr/>
        </p:nvSpPr>
        <p:spPr bwMode="auto">
          <a:xfrm flipH="1">
            <a:off x="5630863" y="2193925"/>
            <a:ext cx="1587" cy="1917700"/>
          </a:xfrm>
          <a:prstGeom prst="line">
            <a:avLst/>
          </a:prstGeom>
          <a:noFill/>
          <a:ln w="19050">
            <a:solidFill>
              <a:srgbClr val="FFCC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39" name="Line 44"/>
          <p:cNvSpPr>
            <a:spLocks noChangeShapeType="1"/>
          </p:cNvSpPr>
          <p:nvPr/>
        </p:nvSpPr>
        <p:spPr bwMode="auto">
          <a:xfrm flipH="1">
            <a:off x="5918200" y="2193925"/>
            <a:ext cx="1588" cy="2238375"/>
          </a:xfrm>
          <a:prstGeom prst="line">
            <a:avLst/>
          </a:prstGeom>
          <a:noFill/>
          <a:ln w="19050">
            <a:solidFill>
              <a:srgbClr val="0099FF"/>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40" name="Line 45"/>
          <p:cNvSpPr>
            <a:spLocks noChangeShapeType="1"/>
          </p:cNvSpPr>
          <p:nvPr/>
        </p:nvSpPr>
        <p:spPr bwMode="auto">
          <a:xfrm flipH="1">
            <a:off x="6134100" y="2193925"/>
            <a:ext cx="1588" cy="2638425"/>
          </a:xfrm>
          <a:prstGeom prst="line">
            <a:avLst/>
          </a:prstGeom>
          <a:noFill/>
          <a:ln w="19050">
            <a:solidFill>
              <a:srgbClr val="00CC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41" name="Line 46"/>
          <p:cNvSpPr>
            <a:spLocks noChangeShapeType="1"/>
          </p:cNvSpPr>
          <p:nvPr/>
        </p:nvSpPr>
        <p:spPr bwMode="auto">
          <a:xfrm>
            <a:off x="2093913" y="2927350"/>
            <a:ext cx="0" cy="2519363"/>
          </a:xfrm>
          <a:prstGeom prst="line">
            <a:avLst/>
          </a:prstGeom>
          <a:noFill/>
          <a:ln w="190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42" name="Line 47"/>
          <p:cNvSpPr>
            <a:spLocks noChangeShapeType="1"/>
          </p:cNvSpPr>
          <p:nvPr/>
        </p:nvSpPr>
        <p:spPr bwMode="auto">
          <a:xfrm>
            <a:off x="2244725" y="3554413"/>
            <a:ext cx="1588" cy="1919287"/>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43" name="Line 48"/>
          <p:cNvSpPr>
            <a:spLocks noChangeShapeType="1"/>
          </p:cNvSpPr>
          <p:nvPr/>
        </p:nvSpPr>
        <p:spPr bwMode="auto">
          <a:xfrm flipH="1">
            <a:off x="2390775" y="4192588"/>
            <a:ext cx="0" cy="1281112"/>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44" name="Line 49"/>
          <p:cNvSpPr>
            <a:spLocks noChangeShapeType="1"/>
          </p:cNvSpPr>
          <p:nvPr/>
        </p:nvSpPr>
        <p:spPr bwMode="auto">
          <a:xfrm flipH="1">
            <a:off x="6991350" y="3646488"/>
            <a:ext cx="7938" cy="1779587"/>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45" name="Line 50"/>
          <p:cNvSpPr>
            <a:spLocks noChangeShapeType="1"/>
          </p:cNvSpPr>
          <p:nvPr/>
        </p:nvSpPr>
        <p:spPr bwMode="auto">
          <a:xfrm flipH="1">
            <a:off x="7351713" y="4187825"/>
            <a:ext cx="9525" cy="1219200"/>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46" name="Line 51"/>
          <p:cNvSpPr>
            <a:spLocks noChangeShapeType="1"/>
          </p:cNvSpPr>
          <p:nvPr/>
        </p:nvSpPr>
        <p:spPr bwMode="auto">
          <a:xfrm flipH="1">
            <a:off x="7710488" y="4835525"/>
            <a:ext cx="1587" cy="576263"/>
          </a:xfrm>
          <a:prstGeom prst="line">
            <a:avLst/>
          </a:prstGeom>
          <a:noFill/>
          <a:ln w="19050">
            <a:solidFill>
              <a:srgbClr val="00CCFF"/>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47" name="Line 52"/>
          <p:cNvSpPr>
            <a:spLocks noChangeShapeType="1"/>
          </p:cNvSpPr>
          <p:nvPr/>
        </p:nvSpPr>
        <p:spPr bwMode="auto">
          <a:xfrm flipH="1">
            <a:off x="5262563" y="3575050"/>
            <a:ext cx="0" cy="1800225"/>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48" name="Line 53"/>
          <p:cNvSpPr>
            <a:spLocks noChangeShapeType="1"/>
          </p:cNvSpPr>
          <p:nvPr/>
        </p:nvSpPr>
        <p:spPr bwMode="auto">
          <a:xfrm>
            <a:off x="6235700" y="4222750"/>
            <a:ext cx="7938" cy="1169988"/>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55349" name="Group 55"/>
          <p:cNvGrpSpPr>
            <a:grpSpLocks/>
          </p:cNvGrpSpPr>
          <p:nvPr/>
        </p:nvGrpSpPr>
        <p:grpSpPr bwMode="auto">
          <a:xfrm>
            <a:off x="6702425" y="5411788"/>
            <a:ext cx="895350" cy="295275"/>
            <a:chOff x="-723" y="2568"/>
            <a:chExt cx="519" cy="91"/>
          </a:xfrm>
        </p:grpSpPr>
        <p:sp>
          <p:nvSpPr>
            <p:cNvPr id="55382" name="AutoShape 56"/>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55383" name="Text Box 57"/>
            <p:cNvSpPr txBox="1">
              <a:spLocks noChangeArrowheads="1"/>
            </p:cNvSpPr>
            <p:nvPr/>
          </p:nvSpPr>
          <p:spPr bwMode="auto">
            <a:xfrm>
              <a:off x="-682" y="2568"/>
              <a:ext cx="45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sp>
        <p:nvSpPr>
          <p:cNvPr id="55350" name="Text Box 58"/>
          <p:cNvSpPr txBox="1">
            <a:spLocks noChangeArrowheads="1"/>
          </p:cNvSpPr>
          <p:nvPr/>
        </p:nvSpPr>
        <p:spPr bwMode="auto">
          <a:xfrm>
            <a:off x="7639050" y="5411788"/>
            <a:ext cx="755650" cy="476250"/>
          </a:xfrm>
          <a:prstGeom prst="rect">
            <a:avLst/>
          </a:prstGeom>
          <a:solidFill>
            <a:schemeClr val="accent2"/>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pPr>
            <a:r>
              <a:rPr lang="zh-CN" altLang="en-US" sz="1200">
                <a:solidFill>
                  <a:schemeClr val="accent1"/>
                </a:solidFill>
              </a:rPr>
              <a:t>最高</a:t>
            </a:r>
            <a:r>
              <a:rPr lang="en-US" altLang="zh-CN" sz="1200">
                <a:solidFill>
                  <a:schemeClr val="accent1"/>
                </a:solidFill>
              </a:rPr>
              <a:t>/</a:t>
            </a:r>
            <a:r>
              <a:rPr lang="zh-CN" altLang="en-US" sz="1200">
                <a:solidFill>
                  <a:schemeClr val="accent1"/>
                </a:solidFill>
              </a:rPr>
              <a:t>最低有效字</a:t>
            </a:r>
          </a:p>
          <a:p>
            <a:pPr algn="ctr" eaLnBrk="1" hangingPunct="1">
              <a:lnSpc>
                <a:spcPct val="85000"/>
              </a:lnSpc>
            </a:pPr>
            <a:r>
              <a:rPr lang="zh-CN" altLang="en-US" sz="1200">
                <a:solidFill>
                  <a:schemeClr val="accent1"/>
                </a:solidFill>
              </a:rPr>
              <a:t>选择</a:t>
            </a:r>
          </a:p>
        </p:txBody>
      </p:sp>
      <p:grpSp>
        <p:nvGrpSpPr>
          <p:cNvPr id="55351" name="Group 59"/>
          <p:cNvGrpSpPr>
            <a:grpSpLocks/>
          </p:cNvGrpSpPr>
          <p:nvPr/>
        </p:nvGrpSpPr>
        <p:grpSpPr bwMode="auto">
          <a:xfrm>
            <a:off x="4651375" y="5375275"/>
            <a:ext cx="895350" cy="295275"/>
            <a:chOff x="-723" y="2568"/>
            <a:chExt cx="519" cy="91"/>
          </a:xfrm>
        </p:grpSpPr>
        <p:sp>
          <p:nvSpPr>
            <p:cNvPr id="55380" name="AutoShape 60"/>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55381" name="Text Box 61"/>
            <p:cNvSpPr txBox="1">
              <a:spLocks noChangeArrowheads="1"/>
            </p:cNvSpPr>
            <p:nvPr/>
          </p:nvSpPr>
          <p:spPr bwMode="auto">
            <a:xfrm>
              <a:off x="-682" y="2568"/>
              <a:ext cx="45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grpSp>
        <p:nvGrpSpPr>
          <p:cNvPr id="55352" name="Group 62"/>
          <p:cNvGrpSpPr>
            <a:grpSpLocks/>
          </p:cNvGrpSpPr>
          <p:nvPr/>
        </p:nvGrpSpPr>
        <p:grpSpPr bwMode="auto">
          <a:xfrm>
            <a:off x="1770063" y="5446713"/>
            <a:ext cx="895350" cy="295275"/>
            <a:chOff x="-723" y="2568"/>
            <a:chExt cx="519" cy="91"/>
          </a:xfrm>
        </p:grpSpPr>
        <p:sp>
          <p:nvSpPr>
            <p:cNvPr id="55378" name="AutoShape 63"/>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55379" name="Text Box 64"/>
            <p:cNvSpPr txBox="1">
              <a:spLocks noChangeArrowheads="1"/>
            </p:cNvSpPr>
            <p:nvPr/>
          </p:nvSpPr>
          <p:spPr bwMode="auto">
            <a:xfrm>
              <a:off x="-682" y="2568"/>
              <a:ext cx="45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grpSp>
        <p:nvGrpSpPr>
          <p:cNvPr id="55353" name="Group 65"/>
          <p:cNvGrpSpPr>
            <a:grpSpLocks/>
          </p:cNvGrpSpPr>
          <p:nvPr/>
        </p:nvGrpSpPr>
        <p:grpSpPr bwMode="auto">
          <a:xfrm>
            <a:off x="5659438" y="5375275"/>
            <a:ext cx="895350" cy="295275"/>
            <a:chOff x="-723" y="2568"/>
            <a:chExt cx="519" cy="91"/>
          </a:xfrm>
        </p:grpSpPr>
        <p:sp>
          <p:nvSpPr>
            <p:cNvPr id="55376" name="AutoShape 66"/>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55377" name="Text Box 67"/>
            <p:cNvSpPr txBox="1">
              <a:spLocks noChangeArrowheads="1"/>
            </p:cNvSpPr>
            <p:nvPr/>
          </p:nvSpPr>
          <p:spPr bwMode="auto">
            <a:xfrm>
              <a:off x="-682" y="2568"/>
              <a:ext cx="45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sp>
        <p:nvSpPr>
          <p:cNvPr id="55354" name="Line 68"/>
          <p:cNvSpPr>
            <a:spLocks noChangeShapeType="1"/>
          </p:cNvSpPr>
          <p:nvPr/>
        </p:nvSpPr>
        <p:spPr bwMode="auto">
          <a:xfrm flipH="1">
            <a:off x="1411288" y="4187825"/>
            <a:ext cx="0" cy="1281113"/>
          </a:xfrm>
          <a:prstGeom prst="line">
            <a:avLst/>
          </a:prstGeom>
          <a:noFill/>
          <a:ln w="19050">
            <a:solidFill>
              <a:srgbClr val="FF99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55355" name="Group 69"/>
          <p:cNvGrpSpPr>
            <a:grpSpLocks/>
          </p:cNvGrpSpPr>
          <p:nvPr/>
        </p:nvGrpSpPr>
        <p:grpSpPr bwMode="auto">
          <a:xfrm>
            <a:off x="798513" y="5446713"/>
            <a:ext cx="895350" cy="295275"/>
            <a:chOff x="-723" y="2568"/>
            <a:chExt cx="519" cy="91"/>
          </a:xfrm>
        </p:grpSpPr>
        <p:sp>
          <p:nvSpPr>
            <p:cNvPr id="55374" name="AutoShape 70"/>
            <p:cNvSpPr>
              <a:spLocks noChangeArrowheads="1"/>
            </p:cNvSpPr>
            <p:nvPr/>
          </p:nvSpPr>
          <p:spPr bwMode="auto">
            <a:xfrm>
              <a:off x="-723" y="2568"/>
              <a:ext cx="519" cy="91"/>
            </a:xfrm>
            <a:custGeom>
              <a:avLst/>
              <a:gdLst>
                <a:gd name="T0" fmla="*/ 11 w 21600"/>
                <a:gd name="T1" fmla="*/ 0 h 21600"/>
                <a:gd name="T2" fmla="*/ 6 w 21600"/>
                <a:gd name="T3" fmla="*/ 0 h 21600"/>
                <a:gd name="T4" fmla="*/ 2 w 21600"/>
                <a:gd name="T5" fmla="*/ 0 h 21600"/>
                <a:gd name="T6" fmla="*/ 6 w 21600"/>
                <a:gd name="T7" fmla="*/ 0 h 21600"/>
                <a:gd name="T8" fmla="*/ 0 60000 65536"/>
                <a:gd name="T9" fmla="*/ 0 60000 65536"/>
                <a:gd name="T10" fmla="*/ 0 60000 65536"/>
                <a:gd name="T11" fmla="*/ 0 60000 65536"/>
                <a:gd name="T12" fmla="*/ 4495 w 21600"/>
                <a:gd name="T13" fmla="*/ 4510 h 21600"/>
                <a:gd name="T14" fmla="*/ 17105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55375" name="Text Box 71"/>
            <p:cNvSpPr txBox="1">
              <a:spLocks noChangeArrowheads="1"/>
            </p:cNvSpPr>
            <p:nvPr/>
          </p:nvSpPr>
          <p:spPr bwMode="auto">
            <a:xfrm>
              <a:off x="-682" y="2568"/>
              <a:ext cx="45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000">
                  <a:solidFill>
                    <a:schemeClr val="tx2"/>
                  </a:solidFill>
                </a:rPr>
                <a:t>符号控制器</a:t>
              </a:r>
            </a:p>
          </p:txBody>
        </p:sp>
      </p:grpSp>
      <p:grpSp>
        <p:nvGrpSpPr>
          <p:cNvPr id="55356" name="Group 72"/>
          <p:cNvGrpSpPr>
            <a:grpSpLocks/>
          </p:cNvGrpSpPr>
          <p:nvPr/>
        </p:nvGrpSpPr>
        <p:grpSpPr bwMode="auto">
          <a:xfrm>
            <a:off x="4703763" y="5797550"/>
            <a:ext cx="1871662" cy="347663"/>
            <a:chOff x="-567" y="3621"/>
            <a:chExt cx="1360" cy="219"/>
          </a:xfrm>
        </p:grpSpPr>
        <p:sp>
          <p:nvSpPr>
            <p:cNvPr id="55368" name="AutoShape 73"/>
            <p:cNvSpPr>
              <a:spLocks noChangeArrowheads="1"/>
            </p:cNvSpPr>
            <p:nvPr/>
          </p:nvSpPr>
          <p:spPr bwMode="auto">
            <a:xfrm>
              <a:off x="-567" y="3702"/>
              <a:ext cx="1360" cy="136"/>
            </a:xfrm>
            <a:custGeom>
              <a:avLst/>
              <a:gdLst>
                <a:gd name="T0" fmla="*/ 75 w 21600"/>
                <a:gd name="T1" fmla="*/ 0 h 21600"/>
                <a:gd name="T2" fmla="*/ 43 w 21600"/>
                <a:gd name="T3" fmla="*/ 1 h 21600"/>
                <a:gd name="T4" fmla="*/ 11 w 21600"/>
                <a:gd name="T5" fmla="*/ 0 h 21600"/>
                <a:gd name="T6" fmla="*/ 43 w 21600"/>
                <a:gd name="T7" fmla="*/ 0 h 21600"/>
                <a:gd name="T8" fmla="*/ 0 60000 65536"/>
                <a:gd name="T9" fmla="*/ 0 60000 65536"/>
                <a:gd name="T10" fmla="*/ 0 60000 65536"/>
                <a:gd name="T11" fmla="*/ 0 60000 65536"/>
                <a:gd name="T12" fmla="*/ 4495 w 21600"/>
                <a:gd name="T13" fmla="*/ 4447 h 21600"/>
                <a:gd name="T14" fmla="*/ 17105 w 21600"/>
                <a:gd name="T15" fmla="*/ 171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6600"/>
            </a:solidFill>
            <a:ln w="9525">
              <a:solidFill>
                <a:srgbClr val="FF6600"/>
              </a:solidFill>
              <a:miter lim="800000"/>
              <a:headEnd/>
              <a:tailEnd/>
            </a:ln>
          </p:spPr>
          <p:txBody>
            <a:bodyPr wrap="none" anchor="ctr"/>
            <a:lstStyle/>
            <a:p>
              <a:endParaRPr lang="zh-CN" altLang="en-US"/>
            </a:p>
          </p:txBody>
        </p:sp>
        <p:sp>
          <p:nvSpPr>
            <p:cNvPr id="55369" name="Text Box 74"/>
            <p:cNvSpPr txBox="1">
              <a:spLocks noChangeArrowheads="1"/>
            </p:cNvSpPr>
            <p:nvPr/>
          </p:nvSpPr>
          <p:spPr bwMode="auto">
            <a:xfrm>
              <a:off x="-409" y="3702"/>
              <a:ext cx="18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hlink"/>
                  </a:solidFill>
                </a:rPr>
                <a:t>Y</a:t>
              </a:r>
            </a:p>
          </p:txBody>
        </p:sp>
        <p:sp>
          <p:nvSpPr>
            <p:cNvPr id="55370" name="Text Box 75"/>
            <p:cNvSpPr txBox="1">
              <a:spLocks noChangeArrowheads="1"/>
            </p:cNvSpPr>
            <p:nvPr/>
          </p:nvSpPr>
          <p:spPr bwMode="auto">
            <a:xfrm>
              <a:off x="407" y="3702"/>
              <a:ext cx="18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solidFill>
                    <a:schemeClr val="hlink"/>
                  </a:solidFill>
                </a:rPr>
                <a:t>X</a:t>
              </a:r>
            </a:p>
          </p:txBody>
        </p:sp>
        <p:sp>
          <p:nvSpPr>
            <p:cNvPr id="55371" name="Rectangle 76"/>
            <p:cNvSpPr>
              <a:spLocks noChangeArrowheads="1"/>
            </p:cNvSpPr>
            <p:nvPr/>
          </p:nvSpPr>
          <p:spPr bwMode="auto">
            <a:xfrm>
              <a:off x="-250" y="3702"/>
              <a:ext cx="658" cy="23"/>
            </a:xfrm>
            <a:prstGeom prst="rect">
              <a:avLst/>
            </a:prstGeom>
            <a:solidFill>
              <a:schemeClr val="bg1"/>
            </a:solidFill>
            <a:ln w="9525">
              <a:solidFill>
                <a:srgbClr val="FF66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5372" name="Rectangle 77"/>
            <p:cNvSpPr>
              <a:spLocks noChangeArrowheads="1"/>
            </p:cNvSpPr>
            <p:nvPr/>
          </p:nvSpPr>
          <p:spPr bwMode="auto">
            <a:xfrm>
              <a:off x="-250" y="3621"/>
              <a:ext cx="658"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5373" name="Text Box 78"/>
            <p:cNvSpPr txBox="1">
              <a:spLocks noChangeArrowheads="1"/>
            </p:cNvSpPr>
            <p:nvPr/>
          </p:nvSpPr>
          <p:spPr bwMode="auto">
            <a:xfrm>
              <a:off x="-202" y="3725"/>
              <a:ext cx="568" cy="115"/>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hlink"/>
                  </a:solidFill>
                </a:rPr>
                <a:t>40</a:t>
              </a:r>
              <a:r>
                <a:rPr lang="zh-CN" altLang="en-US" sz="1200">
                  <a:solidFill>
                    <a:schemeClr val="hlink"/>
                  </a:solidFill>
                </a:rPr>
                <a:t>位</a:t>
              </a:r>
              <a:r>
                <a:rPr lang="en-US" altLang="zh-CN" sz="1200">
                  <a:solidFill>
                    <a:schemeClr val="hlink"/>
                  </a:solidFill>
                </a:rPr>
                <a:t>ALU</a:t>
              </a:r>
            </a:p>
          </p:txBody>
        </p:sp>
      </p:grpSp>
      <p:sp>
        <p:nvSpPr>
          <p:cNvPr id="55357" name="Line 79"/>
          <p:cNvSpPr>
            <a:spLocks noChangeShapeType="1"/>
          </p:cNvSpPr>
          <p:nvPr/>
        </p:nvSpPr>
        <p:spPr bwMode="auto">
          <a:xfrm flipH="1">
            <a:off x="5076825" y="5653088"/>
            <a:ext cx="3175" cy="287337"/>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58" name="Line 80"/>
          <p:cNvSpPr>
            <a:spLocks noChangeShapeType="1"/>
          </p:cNvSpPr>
          <p:nvPr/>
        </p:nvSpPr>
        <p:spPr bwMode="auto">
          <a:xfrm flipH="1">
            <a:off x="6121400" y="5653088"/>
            <a:ext cx="3175" cy="287337"/>
          </a:xfrm>
          <a:prstGeom prst="line">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59" name="Text Box 81"/>
          <p:cNvSpPr txBox="1">
            <a:spLocks noChangeArrowheads="1"/>
          </p:cNvSpPr>
          <p:nvPr/>
        </p:nvSpPr>
        <p:spPr bwMode="auto">
          <a:xfrm>
            <a:off x="4610100" y="572611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Y</a:t>
            </a:r>
          </a:p>
        </p:txBody>
      </p:sp>
      <p:sp>
        <p:nvSpPr>
          <p:cNvPr id="55360" name="Text Box 82"/>
          <p:cNvSpPr txBox="1">
            <a:spLocks noChangeArrowheads="1"/>
          </p:cNvSpPr>
          <p:nvPr/>
        </p:nvSpPr>
        <p:spPr bwMode="auto">
          <a:xfrm>
            <a:off x="6121400" y="5726113"/>
            <a:ext cx="360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t>X</a:t>
            </a:r>
          </a:p>
        </p:txBody>
      </p:sp>
      <p:sp>
        <p:nvSpPr>
          <p:cNvPr id="55361" name="Text Box 83"/>
          <p:cNvSpPr txBox="1">
            <a:spLocks noChangeArrowheads="1"/>
          </p:cNvSpPr>
          <p:nvPr/>
        </p:nvSpPr>
        <p:spPr bwMode="auto">
          <a:xfrm>
            <a:off x="755650" y="5876925"/>
            <a:ext cx="1589088" cy="192088"/>
          </a:xfrm>
          <a:prstGeom prst="rect">
            <a:avLst/>
          </a:prstGeom>
          <a:solidFill>
            <a:srgbClr val="FF00FF"/>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200">
                <a:solidFill>
                  <a:schemeClr val="accent1"/>
                </a:solidFill>
              </a:rPr>
              <a:t>17×17</a:t>
            </a:r>
            <a:r>
              <a:rPr lang="zh-CN" altLang="en-US" sz="1200">
                <a:solidFill>
                  <a:schemeClr val="accent1"/>
                </a:solidFill>
              </a:rPr>
              <a:t>乘法器</a:t>
            </a:r>
          </a:p>
        </p:txBody>
      </p:sp>
      <p:sp>
        <p:nvSpPr>
          <p:cNvPr id="55362" name="Line 84"/>
          <p:cNvSpPr>
            <a:spLocks noChangeShapeType="1"/>
          </p:cNvSpPr>
          <p:nvPr/>
        </p:nvSpPr>
        <p:spPr bwMode="auto">
          <a:xfrm>
            <a:off x="2195513" y="5735638"/>
            <a:ext cx="0" cy="14605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63" name="Line 85"/>
          <p:cNvSpPr>
            <a:spLocks noChangeShapeType="1"/>
          </p:cNvSpPr>
          <p:nvPr/>
        </p:nvSpPr>
        <p:spPr bwMode="auto">
          <a:xfrm>
            <a:off x="1258888" y="5734050"/>
            <a:ext cx="0" cy="14605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64" name="Text Box 86"/>
          <p:cNvSpPr txBox="1">
            <a:spLocks noChangeArrowheads="1"/>
          </p:cNvSpPr>
          <p:nvPr/>
        </p:nvSpPr>
        <p:spPr bwMode="auto">
          <a:xfrm>
            <a:off x="827088" y="5734050"/>
            <a:ext cx="3603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XM</a:t>
            </a:r>
          </a:p>
        </p:txBody>
      </p:sp>
      <p:sp>
        <p:nvSpPr>
          <p:cNvPr id="55365" name="Text Box 87"/>
          <p:cNvSpPr txBox="1">
            <a:spLocks noChangeArrowheads="1"/>
          </p:cNvSpPr>
          <p:nvPr/>
        </p:nvSpPr>
        <p:spPr bwMode="auto">
          <a:xfrm>
            <a:off x="2232025" y="5734050"/>
            <a:ext cx="3603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000"/>
              <a:t>YM</a:t>
            </a:r>
          </a:p>
        </p:txBody>
      </p:sp>
      <p:sp>
        <p:nvSpPr>
          <p:cNvPr id="55366" name="Text Box 88"/>
          <p:cNvSpPr txBox="1">
            <a:spLocks noChangeArrowheads="1"/>
          </p:cNvSpPr>
          <p:nvPr/>
        </p:nvSpPr>
        <p:spPr bwMode="auto">
          <a:xfrm>
            <a:off x="6767513" y="5913438"/>
            <a:ext cx="719137" cy="374650"/>
          </a:xfrm>
          <a:prstGeom prst="rect">
            <a:avLst/>
          </a:prstGeom>
          <a:solidFill>
            <a:schemeClr val="accent2"/>
          </a:solidFill>
          <a:ln w="9525">
            <a:solidFill>
              <a:srgbClr val="FF0000"/>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200">
                <a:solidFill>
                  <a:schemeClr val="accent1"/>
                </a:solidFill>
              </a:rPr>
              <a:t>桶形移位寄存器</a:t>
            </a:r>
          </a:p>
        </p:txBody>
      </p:sp>
      <p:sp>
        <p:nvSpPr>
          <p:cNvPr id="55367" name="Line 89"/>
          <p:cNvSpPr>
            <a:spLocks noChangeShapeType="1"/>
          </p:cNvSpPr>
          <p:nvPr/>
        </p:nvSpPr>
        <p:spPr bwMode="auto">
          <a:xfrm flipH="1">
            <a:off x="7119938" y="5711825"/>
            <a:ext cx="1587" cy="217488"/>
          </a:xfrm>
          <a:prstGeom prst="line">
            <a:avLst/>
          </a:prstGeom>
          <a:noFill/>
          <a:ln w="19050">
            <a:solidFill>
              <a:srgbClr val="00CC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181421A-F87C-4231-8B55-69A8131E5486}" type="slidenum">
              <a:rPr lang="en-US" altLang="zh-CN" sz="1400" b="0"/>
              <a:pPr eaLnBrk="1" hangingPunct="1"/>
              <a:t>43</a:t>
            </a:fld>
            <a:endParaRPr lang="en-US" altLang="zh-CN" sz="1400" b="0"/>
          </a:p>
        </p:txBody>
      </p:sp>
      <p:sp>
        <p:nvSpPr>
          <p:cNvPr id="56323" name="AutoShape 526"/>
          <p:cNvSpPr>
            <a:spLocks noChangeArrowheads="1"/>
          </p:cNvSpPr>
          <p:nvPr/>
        </p:nvSpPr>
        <p:spPr bwMode="auto">
          <a:xfrm>
            <a:off x="5219700" y="1089025"/>
            <a:ext cx="2916238" cy="287338"/>
          </a:xfrm>
          <a:prstGeom prst="wedgeRectCallout">
            <a:avLst>
              <a:gd name="adj1" fmla="val -14343"/>
              <a:gd name="adj2" fmla="val 1416852"/>
            </a:avLst>
          </a:prstGeom>
          <a:solidFill>
            <a:schemeClr val="accent1"/>
          </a:solidFill>
          <a:ln w="9525">
            <a:solidFill>
              <a:srgbClr val="FF9900"/>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chemeClr val="tx2"/>
                </a:solidFill>
              </a:rPr>
              <a:t>FIRS  *AR2+0%,*AR3+0%,COEF</a:t>
            </a:r>
          </a:p>
        </p:txBody>
      </p:sp>
      <p:sp>
        <p:nvSpPr>
          <p:cNvPr id="56324" name="AutoShape 523"/>
          <p:cNvSpPr>
            <a:spLocks noChangeArrowheads="1"/>
          </p:cNvSpPr>
          <p:nvPr/>
        </p:nvSpPr>
        <p:spPr bwMode="auto">
          <a:xfrm>
            <a:off x="2735263" y="1089025"/>
            <a:ext cx="1908175" cy="287338"/>
          </a:xfrm>
          <a:prstGeom prst="wedgeRectCallout">
            <a:avLst>
              <a:gd name="adj1" fmla="val -58986"/>
              <a:gd name="adj2" fmla="val 982046"/>
            </a:avLst>
          </a:prstGeom>
          <a:solidFill>
            <a:schemeClr val="accent1"/>
          </a:solidFill>
          <a:ln w="9525">
            <a:solidFill>
              <a:srgbClr val="FF0000"/>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chemeClr val="tx2"/>
                </a:solidFill>
              </a:rPr>
              <a:t>DLD    @w1,A</a:t>
            </a:r>
          </a:p>
        </p:txBody>
      </p:sp>
      <p:sp>
        <p:nvSpPr>
          <p:cNvPr id="56325" name="AutoShape 521"/>
          <p:cNvSpPr>
            <a:spLocks noChangeArrowheads="1"/>
          </p:cNvSpPr>
          <p:nvPr/>
        </p:nvSpPr>
        <p:spPr bwMode="auto">
          <a:xfrm>
            <a:off x="107950" y="6237288"/>
            <a:ext cx="1908175" cy="287337"/>
          </a:xfrm>
          <a:prstGeom prst="wedgeRectCallout">
            <a:avLst>
              <a:gd name="adj1" fmla="val -333"/>
              <a:gd name="adj2" fmla="val -512981"/>
            </a:avLst>
          </a:prstGeom>
          <a:solidFill>
            <a:schemeClr val="accent1"/>
          </a:solidFill>
          <a:ln w="9525">
            <a:solidFill>
              <a:srgbClr val="66FF33"/>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chemeClr val="tx2"/>
                </a:solidFill>
              </a:rPr>
              <a:t>MVMM  mmrx,mmry</a:t>
            </a:r>
          </a:p>
        </p:txBody>
      </p:sp>
      <p:graphicFrame>
        <p:nvGraphicFramePr>
          <p:cNvPr id="553480" name="Group 520"/>
          <p:cNvGraphicFramePr>
            <a:graphicFrameLocks noGrp="1"/>
          </p:cNvGraphicFramePr>
          <p:nvPr/>
        </p:nvGraphicFramePr>
        <p:xfrm>
          <a:off x="611188" y="1628775"/>
          <a:ext cx="7993062" cy="4465638"/>
        </p:xfrm>
        <a:graphic>
          <a:graphicData uri="http://schemas.openxmlformats.org/drawingml/2006/table">
            <a:tbl>
              <a:tblPr/>
              <a:tblGrid>
                <a:gridCol w="2232025">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792162">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gridCol w="584200">
                  <a:extLst>
                    <a:ext uri="{9D8B030D-6E8A-4147-A177-3AD203B41FA5}">
                      <a16:colId xmlns:a16="http://schemas.microsoft.com/office/drawing/2014/main" val="20004"/>
                    </a:ext>
                  </a:extLst>
                </a:gridCol>
                <a:gridCol w="712788">
                  <a:extLst>
                    <a:ext uri="{9D8B030D-6E8A-4147-A177-3AD203B41FA5}">
                      <a16:colId xmlns:a16="http://schemas.microsoft.com/office/drawing/2014/main" val="20005"/>
                    </a:ext>
                  </a:extLst>
                </a:gridCol>
                <a:gridCol w="720725">
                  <a:extLst>
                    <a:ext uri="{9D8B030D-6E8A-4147-A177-3AD203B41FA5}">
                      <a16:colId xmlns:a16="http://schemas.microsoft.com/office/drawing/2014/main" val="20006"/>
                    </a:ext>
                  </a:extLst>
                </a:gridCol>
                <a:gridCol w="790575">
                  <a:extLst>
                    <a:ext uri="{9D8B030D-6E8A-4147-A177-3AD203B41FA5}">
                      <a16:colId xmlns:a16="http://schemas.microsoft.com/office/drawing/2014/main" val="20007"/>
                    </a:ext>
                  </a:extLst>
                </a:gridCol>
                <a:gridCol w="649287">
                  <a:extLst>
                    <a:ext uri="{9D8B030D-6E8A-4147-A177-3AD203B41FA5}">
                      <a16:colId xmlns:a16="http://schemas.microsoft.com/office/drawing/2014/main" val="20008"/>
                    </a:ext>
                  </a:extLst>
                </a:gridCol>
              </a:tblGrid>
              <a:tr h="609643">
                <a:tc rowSpan="2">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读</a:t>
                      </a:r>
                      <a:r>
                        <a:rPr kumimoji="1" lang="en-US" altLang="zh-CN" sz="2000" b="1" i="0" u="none" strike="noStrike" cap="none" normalizeH="0" baseline="0">
                          <a:ln>
                            <a:noFill/>
                          </a:ln>
                          <a:solidFill>
                            <a:schemeClr val="tx1"/>
                          </a:solidFill>
                          <a:effectLst/>
                          <a:latin typeface="宋体" pitchFamily="2" charset="-122"/>
                          <a:ea typeface="宋体" pitchFamily="2" charset="-122"/>
                        </a:rPr>
                        <a:t>/</a:t>
                      </a:r>
                      <a:r>
                        <a:rPr kumimoji="1" lang="zh-CN" altLang="en-US" sz="2000" b="1" i="0" u="none" strike="noStrike" cap="none" normalizeH="0" baseline="0">
                          <a:ln>
                            <a:noFill/>
                          </a:ln>
                          <a:solidFill>
                            <a:schemeClr val="tx1"/>
                          </a:solidFill>
                          <a:effectLst/>
                          <a:latin typeface="宋体" pitchFamily="2" charset="-122"/>
                          <a:ea typeface="宋体" pitchFamily="2" charset="-122"/>
                        </a:rPr>
                        <a:t>写方式</a:t>
                      </a:r>
                      <a:endParaRPr kumimoji="1" lang="zh-CN" altLang="en-US" sz="2000" b="0" i="0" u="none" strike="noStrike" cap="none" normalizeH="0" baseline="0">
                        <a:ln>
                          <a:noFill/>
                        </a:ln>
                        <a:solidFill>
                          <a:schemeClr val="tx1"/>
                        </a:solidFill>
                        <a:effectLst/>
                        <a:latin typeface="宋体" pitchFamily="2" charset="-122"/>
                        <a:ea typeface="宋体" pitchFamily="2" charset="-122"/>
                      </a:endParaRPr>
                    </a:p>
                  </a:txBody>
                  <a:tcPr marT="45723" marB="45723"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地址总线</a:t>
                      </a:r>
                      <a:endParaRPr kumimoji="1" lang="zh-CN" altLang="en-US" sz="2000" b="0" i="0" u="none" strike="noStrike" cap="none" normalizeH="0" baseline="0">
                        <a:ln>
                          <a:noFill/>
                        </a:ln>
                        <a:solidFill>
                          <a:schemeClr val="tx1"/>
                        </a:solidFill>
                        <a:effectLst/>
                        <a:latin typeface="宋体" pitchFamily="2" charset="-122"/>
                        <a:ea typeface="宋体" pitchFamily="2" charset="-122"/>
                      </a:endParaRPr>
                    </a:p>
                  </a:txBody>
                  <a:tcPr marT="45723" marB="45723"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程序总线</a:t>
                      </a:r>
                      <a:endParaRPr kumimoji="1" lang="zh-CN" altLang="en-US" sz="2000" b="0" i="0" u="none" strike="noStrike" cap="none" normalizeH="0" baseline="0">
                        <a:ln>
                          <a:noFill/>
                        </a:ln>
                        <a:solidFill>
                          <a:schemeClr val="tx1"/>
                        </a:solidFill>
                        <a:effectLst/>
                        <a:latin typeface="宋体" pitchFamily="2" charset="-122"/>
                        <a:ea typeface="宋体" pitchFamily="2" charset="-122"/>
                      </a:endParaRPr>
                    </a:p>
                  </a:txBody>
                  <a:tcPr marT="45723" marB="45723"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数据总线</a:t>
                      </a:r>
                      <a:endParaRPr kumimoji="1" lang="zh-CN" altLang="en-US" sz="2000" b="0" i="0" u="none" strike="noStrike" cap="none" normalizeH="0" baseline="0">
                        <a:ln>
                          <a:noFill/>
                        </a:ln>
                        <a:solidFill>
                          <a:schemeClr val="tx1"/>
                        </a:solidFill>
                        <a:effectLst/>
                        <a:latin typeface="宋体" pitchFamily="2" charset="-122"/>
                        <a:ea typeface="宋体" pitchFamily="2" charset="-122"/>
                      </a:endParaRPr>
                    </a:p>
                  </a:txBody>
                  <a:tcPr marT="45723" marB="45723"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50545">
                <a:tc vMerge="1">
                  <a:txBody>
                    <a:bodyPr/>
                    <a:lstStyle/>
                    <a:p>
                      <a:endParaRPr lang="zh-CN" altLang="en-US"/>
                    </a:p>
                  </a:txBody>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PAB</a:t>
                      </a:r>
                      <a:endParaRPr kumimoji="1" lang="en-US"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CAB</a:t>
                      </a:r>
                    </a:p>
                  </a:txBody>
                  <a:tcPr marT="45723" marB="45723"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DAB</a:t>
                      </a:r>
                    </a:p>
                  </a:txBody>
                  <a:tcPr marT="45723" marB="45723"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EAB</a:t>
                      </a:r>
                    </a:p>
                  </a:txBody>
                  <a:tcPr marT="45723" marB="45723"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PB</a:t>
                      </a:r>
                      <a:endParaRPr kumimoji="1" lang="en-US"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CB</a:t>
                      </a:r>
                    </a:p>
                  </a:txBody>
                  <a:tcPr marT="45723" marB="45723"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DB</a:t>
                      </a:r>
                      <a:endParaRPr kumimoji="1" lang="en-US"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EB</a:t>
                      </a:r>
                      <a:endParaRPr kumimoji="1" lang="en-US"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545">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程序读</a:t>
                      </a: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endParaRPr kumimoji="1" lang="en-US"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0545">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程序写</a:t>
                      </a: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545">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单数据读</a:t>
                      </a: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0545">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双数据读</a:t>
                      </a:r>
                      <a:endParaRPr kumimoji="1" lang="zh-CN" altLang="en-US"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0545">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长数据</a:t>
                      </a:r>
                      <a:r>
                        <a:rPr kumimoji="1" lang="en-US" altLang="zh-CN" sz="2000" b="1" i="0" u="none" strike="noStrike" cap="none" normalizeH="0" baseline="0">
                          <a:ln>
                            <a:noFill/>
                          </a:ln>
                          <a:solidFill>
                            <a:schemeClr val="tx1"/>
                          </a:solidFill>
                          <a:effectLst/>
                          <a:latin typeface="宋体" pitchFamily="2" charset="-122"/>
                          <a:ea typeface="宋体" pitchFamily="2" charset="-122"/>
                        </a:rPr>
                        <a:t>(32</a:t>
                      </a:r>
                      <a:r>
                        <a:rPr kumimoji="1" lang="zh-CN" altLang="en-US" sz="2000" b="1" i="0" u="none" strike="noStrike" cap="none" normalizeH="0" baseline="0">
                          <a:ln>
                            <a:noFill/>
                          </a:ln>
                          <a:solidFill>
                            <a:schemeClr val="tx1"/>
                          </a:solidFill>
                          <a:effectLst/>
                          <a:latin typeface="宋体" pitchFamily="2" charset="-122"/>
                          <a:ea typeface="宋体" pitchFamily="2" charset="-122"/>
                        </a:rPr>
                        <a:t>位</a:t>
                      </a:r>
                      <a:r>
                        <a:rPr kumimoji="1" lang="en-US" altLang="zh-CN" sz="2000" b="1" i="0" u="none" strike="noStrike" cap="none" normalizeH="0" baseline="0">
                          <a:ln>
                            <a:noFill/>
                          </a:ln>
                          <a:solidFill>
                            <a:schemeClr val="tx1"/>
                          </a:solidFill>
                          <a:effectLst/>
                          <a:latin typeface="宋体" pitchFamily="2" charset="-122"/>
                          <a:ea typeface="宋体" pitchFamily="2" charset="-122"/>
                        </a:rPr>
                        <a:t>)</a:t>
                      </a:r>
                      <a:r>
                        <a:rPr kumimoji="1" lang="zh-CN" altLang="en-US" sz="2000" b="1" i="0" u="none" strike="noStrike" cap="none" normalizeH="0" baseline="0">
                          <a:ln>
                            <a:noFill/>
                          </a:ln>
                          <a:solidFill>
                            <a:schemeClr val="tx1"/>
                          </a:solidFill>
                          <a:effectLst/>
                          <a:latin typeface="宋体" pitchFamily="2" charset="-122"/>
                          <a:ea typeface="宋体" pitchFamily="2" charset="-122"/>
                        </a:rPr>
                        <a:t>读</a:t>
                      </a:r>
                      <a:endParaRPr kumimoji="1" lang="zh-CN" altLang="en-US"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△hw</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△lw</a:t>
                      </a:r>
                      <a:endParaRPr kumimoji="1" lang="en-US"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△hw</a:t>
                      </a:r>
                      <a:endParaRPr kumimoji="1" lang="en-US"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△lw</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0545">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单数据写</a:t>
                      </a:r>
                      <a:endParaRPr kumimoji="1" lang="zh-CN" altLang="en-US"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0545">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数据读</a:t>
                      </a:r>
                      <a:r>
                        <a:rPr kumimoji="1" lang="en-US" altLang="zh-CN" sz="2000" b="1" i="0" u="none" strike="noStrike" cap="none" normalizeH="0" baseline="0">
                          <a:ln>
                            <a:noFill/>
                          </a:ln>
                          <a:solidFill>
                            <a:schemeClr val="tx1"/>
                          </a:solidFill>
                          <a:effectLst/>
                          <a:latin typeface="宋体" pitchFamily="2" charset="-122"/>
                          <a:ea typeface="宋体" pitchFamily="2" charset="-122"/>
                        </a:rPr>
                        <a:t>/</a:t>
                      </a:r>
                      <a:r>
                        <a:rPr kumimoji="1" lang="zh-CN" altLang="en-US" sz="2000" b="1" i="0" u="none" strike="noStrike" cap="none" normalizeH="0" baseline="0">
                          <a:ln>
                            <a:noFill/>
                          </a:ln>
                          <a:solidFill>
                            <a:schemeClr val="tx1"/>
                          </a:solidFill>
                          <a:effectLst/>
                          <a:latin typeface="宋体" pitchFamily="2" charset="-122"/>
                          <a:ea typeface="宋体" pitchFamily="2" charset="-122"/>
                        </a:rPr>
                        <a:t>数据写</a:t>
                      </a:r>
                      <a:endParaRPr kumimoji="1" lang="zh-CN" altLang="en-US"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0545">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双数据读</a:t>
                      </a:r>
                      <a:r>
                        <a:rPr kumimoji="1" lang="en-US" altLang="zh-CN" sz="2000" b="1" i="0" u="none" strike="noStrike" cap="none" normalizeH="0" baseline="0">
                          <a:ln>
                            <a:noFill/>
                          </a:ln>
                          <a:solidFill>
                            <a:schemeClr val="tx1"/>
                          </a:solidFill>
                          <a:effectLst/>
                          <a:latin typeface="宋体" pitchFamily="2" charset="-122"/>
                          <a:ea typeface="宋体" pitchFamily="2" charset="-122"/>
                        </a:rPr>
                        <a:t>/</a:t>
                      </a:r>
                      <a:r>
                        <a:rPr kumimoji="1" lang="zh-CN" altLang="en-US" sz="2000" b="1" i="0" u="none" strike="noStrike" cap="none" normalizeH="0" baseline="0">
                          <a:ln>
                            <a:noFill/>
                          </a:ln>
                          <a:solidFill>
                            <a:schemeClr val="tx1"/>
                          </a:solidFill>
                          <a:effectLst/>
                          <a:latin typeface="宋体" pitchFamily="2" charset="-122"/>
                          <a:ea typeface="宋体" pitchFamily="2" charset="-122"/>
                        </a:rPr>
                        <a:t>系数读</a:t>
                      </a:r>
                      <a:endParaRPr kumimoji="1" lang="zh-CN" altLang="en-US"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50545">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外设读</a:t>
                      </a:r>
                      <a:endParaRPr kumimoji="1" lang="zh-CN" altLang="en-US"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50545">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宋体" pitchFamily="2" charset="-122"/>
                          <a:ea typeface="宋体" pitchFamily="2" charset="-122"/>
                        </a:rPr>
                        <a:t>外设写</a:t>
                      </a:r>
                      <a:endParaRPr kumimoji="1" lang="zh-CN" altLang="en-US"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宋体" pitchFamily="2" charset="-122"/>
                        <a:ea typeface="宋体" pitchFamily="2" charset="-122"/>
                      </a:endParaRP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宋体" pitchFamily="2" charset="-122"/>
                          <a:ea typeface="宋体" pitchFamily="2" charset="-122"/>
                        </a:rPr>
                        <a:t>△</a:t>
                      </a: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56452" name="AutoShape 522"/>
          <p:cNvSpPr>
            <a:spLocks noChangeArrowheads="1"/>
          </p:cNvSpPr>
          <p:nvPr/>
        </p:nvSpPr>
        <p:spPr bwMode="auto">
          <a:xfrm>
            <a:off x="358775" y="1089025"/>
            <a:ext cx="1908175" cy="287338"/>
          </a:xfrm>
          <a:prstGeom prst="wedgeRectCallout">
            <a:avLst>
              <a:gd name="adj1" fmla="val -22213"/>
              <a:gd name="adj2" fmla="val 472097"/>
            </a:avLst>
          </a:prstGeom>
          <a:solidFill>
            <a:schemeClr val="accent1"/>
          </a:solidFill>
          <a:ln w="9525">
            <a:solidFill>
              <a:srgbClr val="9900CC"/>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t>MVPD   pmad,Smem</a:t>
            </a:r>
          </a:p>
        </p:txBody>
      </p:sp>
      <p:sp>
        <p:nvSpPr>
          <p:cNvPr id="56453" name="AutoShape 524"/>
          <p:cNvSpPr>
            <a:spLocks noChangeArrowheads="1"/>
          </p:cNvSpPr>
          <p:nvPr/>
        </p:nvSpPr>
        <p:spPr bwMode="auto">
          <a:xfrm>
            <a:off x="2411413" y="6237288"/>
            <a:ext cx="1908175" cy="287337"/>
          </a:xfrm>
          <a:prstGeom prst="wedgeRectCallout">
            <a:avLst>
              <a:gd name="adj1" fmla="val -61648"/>
              <a:gd name="adj2" fmla="val -277074"/>
            </a:avLst>
          </a:prstGeom>
          <a:solidFill>
            <a:schemeClr val="accent1"/>
          </a:solid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rgbClr val="FF00FF"/>
                </a:solidFill>
              </a:rPr>
              <a:t>PORTR PA1,*AR1+0</a:t>
            </a:r>
          </a:p>
        </p:txBody>
      </p:sp>
      <p:sp>
        <p:nvSpPr>
          <p:cNvPr id="56454" name="AutoShape 525"/>
          <p:cNvSpPr>
            <a:spLocks noChangeArrowheads="1"/>
          </p:cNvSpPr>
          <p:nvPr/>
        </p:nvSpPr>
        <p:spPr bwMode="auto">
          <a:xfrm>
            <a:off x="5327650" y="6237288"/>
            <a:ext cx="1908175" cy="287337"/>
          </a:xfrm>
          <a:prstGeom prst="wedgeRectCallout">
            <a:avLst>
              <a:gd name="adj1" fmla="val -126292"/>
              <a:gd name="adj2" fmla="val -162153"/>
            </a:avLst>
          </a:prstGeom>
          <a:solidFill>
            <a:schemeClr val="accent1"/>
          </a:solidFill>
          <a:ln w="9525">
            <a:solidFill>
              <a:srgbClr val="FF9900"/>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rgbClr val="FF0000"/>
                </a:solidFill>
              </a:rPr>
              <a:t>PORTW  *AR1+,PA0</a:t>
            </a:r>
          </a:p>
        </p:txBody>
      </p:sp>
    </p:spTree>
  </p:cSld>
  <p:clrMapOvr>
    <a:masterClrMapping/>
  </p:clrMapOvr>
  <p:transition spd="med">
    <p:pull dir="l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A29ED26-4F44-4B4A-9FFB-B9F53B57C977}" type="slidenum">
              <a:rPr lang="en-US" altLang="zh-CN" sz="1400" b="0"/>
              <a:pPr eaLnBrk="1" hangingPunct="1"/>
              <a:t>44</a:t>
            </a:fld>
            <a:endParaRPr lang="en-US" altLang="zh-CN" sz="1400" b="0"/>
          </a:p>
        </p:txBody>
      </p:sp>
      <p:sp>
        <p:nvSpPr>
          <p:cNvPr id="553986" name="Rectangle 2"/>
          <p:cNvSpPr>
            <a:spLocks noChangeArrowheads="1"/>
          </p:cNvSpPr>
          <p:nvPr/>
        </p:nvSpPr>
        <p:spPr bwMode="auto">
          <a:xfrm>
            <a:off x="457200" y="2286000"/>
            <a:ext cx="8153400" cy="2514600"/>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FontTx/>
              <a:buChar char="•"/>
            </a:pPr>
            <a:r>
              <a:rPr lang="zh-CN" altLang="en-US" sz="3200">
                <a:latin typeface="宋体" panose="02010600030101010101" pitchFamily="2" charset="-122"/>
              </a:rPr>
              <a:t>为何要设置多内部总线 </a:t>
            </a:r>
          </a:p>
          <a:p>
            <a:pPr eaLnBrk="1" hangingPunct="1">
              <a:lnSpc>
                <a:spcPct val="90000"/>
              </a:lnSpc>
              <a:spcBef>
                <a:spcPct val="20000"/>
              </a:spcBef>
              <a:buFontTx/>
              <a:buChar char="•"/>
            </a:pPr>
            <a:r>
              <a:rPr lang="zh-CN" altLang="en-US" sz="3200">
                <a:latin typeface="宋体" panose="02010600030101010101" pitchFamily="2" charset="-122"/>
              </a:rPr>
              <a:t>一个机器周期内可完成的存取操作</a:t>
            </a:r>
          </a:p>
          <a:p>
            <a:pPr eaLnBrk="1" hangingPunct="1">
              <a:lnSpc>
                <a:spcPct val="90000"/>
              </a:lnSpc>
              <a:spcBef>
                <a:spcPct val="20000"/>
              </a:spcBef>
              <a:buFontTx/>
              <a:buChar char="•"/>
            </a:pPr>
            <a:r>
              <a:rPr lang="zh-CN" altLang="en-US" sz="3200">
                <a:latin typeface="宋体" panose="02010600030101010101" pitchFamily="2" charset="-122"/>
              </a:rPr>
              <a:t>为何要用两个辅助寄存器算术运算单元 </a:t>
            </a:r>
          </a:p>
          <a:p>
            <a:pPr eaLnBrk="1" hangingPunct="1">
              <a:lnSpc>
                <a:spcPct val="90000"/>
              </a:lnSpc>
              <a:spcBef>
                <a:spcPct val="20000"/>
              </a:spcBef>
              <a:buFontTx/>
              <a:buChar char="•"/>
            </a:pPr>
            <a:r>
              <a:rPr lang="zh-CN" altLang="en-US" sz="3200">
                <a:latin typeface="宋体" panose="02010600030101010101" pitchFamily="2" charset="-122"/>
              </a:rPr>
              <a:t>一个周期内如何执行</a:t>
            </a:r>
            <a:r>
              <a:rPr lang="en-US" altLang="zh-CN" sz="3200">
                <a:latin typeface="宋体" panose="02010600030101010101" pitchFamily="2" charset="-122"/>
              </a:rPr>
              <a:t>3</a:t>
            </a:r>
            <a:r>
              <a:rPr lang="zh-CN" altLang="en-US" sz="3200">
                <a:latin typeface="宋体" panose="02010600030101010101" pitchFamily="2" charset="-122"/>
              </a:rPr>
              <a:t>操作数指令 </a:t>
            </a:r>
          </a:p>
        </p:txBody>
      </p:sp>
      <p:sp>
        <p:nvSpPr>
          <p:cNvPr id="553988" name="AutoShape 4" descr="小棋盘"/>
          <p:cNvSpPr>
            <a:spLocks noChangeArrowheads="1"/>
          </p:cNvSpPr>
          <p:nvPr/>
        </p:nvSpPr>
        <p:spPr bwMode="auto">
          <a:xfrm>
            <a:off x="6324600" y="990600"/>
            <a:ext cx="2133600" cy="914400"/>
          </a:xfrm>
          <a:prstGeom prst="wedgeRoundRectCallout">
            <a:avLst>
              <a:gd name="adj1" fmla="val -90773"/>
              <a:gd name="adj2" fmla="val 115454"/>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FF0066"/>
                </a:solidFill>
              </a:rPr>
              <a:t>并行处理和流水线工作</a:t>
            </a:r>
          </a:p>
        </p:txBody>
      </p:sp>
      <p:sp>
        <p:nvSpPr>
          <p:cNvPr id="553989" name="AutoShape 5" descr="小棋盘"/>
          <p:cNvSpPr>
            <a:spLocks noChangeArrowheads="1"/>
          </p:cNvSpPr>
          <p:nvPr/>
        </p:nvSpPr>
        <p:spPr bwMode="auto">
          <a:xfrm>
            <a:off x="7620000" y="1981200"/>
            <a:ext cx="1371600" cy="1295400"/>
          </a:xfrm>
          <a:prstGeom prst="wedgeRoundRectCallout">
            <a:avLst>
              <a:gd name="adj1" fmla="val -84954"/>
              <a:gd name="adj2" fmla="val 32968"/>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tx2"/>
                </a:solidFill>
              </a:rPr>
              <a:t>取</a:t>
            </a:r>
            <a:r>
              <a:rPr lang="en-US" altLang="zh-CN" sz="2400">
                <a:solidFill>
                  <a:schemeClr val="tx2"/>
                </a:solidFill>
              </a:rPr>
              <a:t>1</a:t>
            </a:r>
            <a:r>
              <a:rPr lang="zh-CN" altLang="en-US" sz="2400">
                <a:solidFill>
                  <a:schemeClr val="tx2"/>
                </a:solidFill>
              </a:rPr>
              <a:t>指、读</a:t>
            </a:r>
            <a:r>
              <a:rPr lang="en-US" altLang="zh-CN" sz="2400">
                <a:solidFill>
                  <a:schemeClr val="tx2"/>
                </a:solidFill>
              </a:rPr>
              <a:t>2</a:t>
            </a:r>
            <a:r>
              <a:rPr lang="zh-CN" altLang="en-US" sz="2400">
                <a:solidFill>
                  <a:schemeClr val="tx2"/>
                </a:solidFill>
              </a:rPr>
              <a:t>字、写</a:t>
            </a:r>
            <a:r>
              <a:rPr lang="en-US" altLang="zh-CN" sz="2400">
                <a:solidFill>
                  <a:schemeClr val="tx2"/>
                </a:solidFill>
              </a:rPr>
              <a:t>1</a:t>
            </a:r>
            <a:r>
              <a:rPr lang="zh-CN" altLang="en-US" sz="2400">
                <a:solidFill>
                  <a:schemeClr val="tx2"/>
                </a:solidFill>
              </a:rPr>
              <a:t>字。</a:t>
            </a:r>
          </a:p>
        </p:txBody>
      </p:sp>
      <p:sp>
        <p:nvSpPr>
          <p:cNvPr id="553990" name="AutoShape 6" descr="小棋盘"/>
          <p:cNvSpPr>
            <a:spLocks noChangeArrowheads="1"/>
          </p:cNvSpPr>
          <p:nvPr/>
        </p:nvSpPr>
        <p:spPr bwMode="auto">
          <a:xfrm>
            <a:off x="6934200" y="4114800"/>
            <a:ext cx="2057400" cy="838200"/>
          </a:xfrm>
          <a:prstGeom prst="wedgeRoundRectCallout">
            <a:avLst>
              <a:gd name="adj1" fmla="val -49616"/>
              <a:gd name="adj2" fmla="val -84657"/>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FF6600"/>
                </a:solidFill>
              </a:rPr>
              <a:t>双字寻址取双操作数</a:t>
            </a:r>
          </a:p>
        </p:txBody>
      </p:sp>
      <p:sp>
        <p:nvSpPr>
          <p:cNvPr id="553991" name="AutoShape 7" descr="小棋盘"/>
          <p:cNvSpPr>
            <a:spLocks noChangeArrowheads="1"/>
          </p:cNvSpPr>
          <p:nvPr/>
        </p:nvSpPr>
        <p:spPr bwMode="auto">
          <a:xfrm>
            <a:off x="5257800" y="5410200"/>
            <a:ext cx="2286000" cy="838200"/>
          </a:xfrm>
          <a:prstGeom prst="wedgeRoundRectCallout">
            <a:avLst>
              <a:gd name="adj1" fmla="val -60694"/>
              <a:gd name="adj2" fmla="val -154356"/>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FF6600"/>
                </a:solidFill>
              </a:rPr>
              <a:t>用</a:t>
            </a:r>
            <a:r>
              <a:rPr lang="en-US" altLang="zh-CN" sz="2400">
                <a:solidFill>
                  <a:srgbClr val="FF6600"/>
                </a:solidFill>
              </a:rPr>
              <a:t>C</a:t>
            </a:r>
            <a:r>
              <a:rPr lang="zh-CN" altLang="en-US" sz="2400">
                <a:solidFill>
                  <a:srgbClr val="FF6600"/>
                </a:solidFill>
              </a:rPr>
              <a:t>、</a:t>
            </a:r>
            <a:r>
              <a:rPr lang="en-US" altLang="zh-CN" sz="2400">
                <a:solidFill>
                  <a:srgbClr val="FF6600"/>
                </a:solidFill>
              </a:rPr>
              <a:t>D</a:t>
            </a:r>
            <a:r>
              <a:rPr lang="zh-CN" altLang="en-US" sz="2400">
                <a:solidFill>
                  <a:srgbClr val="FF6600"/>
                </a:solidFill>
              </a:rPr>
              <a:t>、</a:t>
            </a:r>
            <a:r>
              <a:rPr lang="en-US" altLang="zh-CN" sz="2400">
                <a:solidFill>
                  <a:srgbClr val="FF6600"/>
                </a:solidFill>
              </a:rPr>
              <a:t>P</a:t>
            </a:r>
            <a:r>
              <a:rPr lang="zh-CN" altLang="en-US" sz="2400">
                <a:solidFill>
                  <a:srgbClr val="FF6600"/>
                </a:solidFill>
              </a:rPr>
              <a:t>总线取操作数</a:t>
            </a:r>
          </a:p>
        </p:txBody>
      </p:sp>
      <p:sp>
        <p:nvSpPr>
          <p:cNvPr id="553992" name="Rectangle 8" descr="小棋盘"/>
          <p:cNvSpPr>
            <a:spLocks noChangeArrowheads="1"/>
          </p:cNvSpPr>
          <p:nvPr/>
        </p:nvSpPr>
        <p:spPr bwMode="auto">
          <a:xfrm>
            <a:off x="3203575" y="1268413"/>
            <a:ext cx="1871663" cy="698500"/>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要点</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6" fill="hold" grpId="0" nodeType="afterEffect">
                                  <p:stCondLst>
                                    <p:cond delay="0"/>
                                  </p:stCondLst>
                                  <p:childTnLst>
                                    <p:set>
                                      <p:cBhvr>
                                        <p:cTn id="6" dur="1" fill="hold">
                                          <p:stCondLst>
                                            <p:cond delay="0"/>
                                          </p:stCondLst>
                                        </p:cTn>
                                        <p:tgtEl>
                                          <p:spTgt spid="553986"/>
                                        </p:tgtEl>
                                        <p:attrNameLst>
                                          <p:attrName>style.visibility</p:attrName>
                                        </p:attrNameLst>
                                      </p:cBhvr>
                                      <p:to>
                                        <p:strVal val="visible"/>
                                      </p:to>
                                    </p:set>
                                    <p:animEffect transition="in" filter="barn(inHorizontal)">
                                      <p:cBhvr>
                                        <p:cTn id="7" dur="500"/>
                                        <p:tgtEl>
                                          <p:spTgt spid="553986"/>
                                        </p:tgtEl>
                                      </p:cBhvr>
                                    </p:animEffect>
                                  </p:childTnLst>
                                </p:cTn>
                              </p:par>
                            </p:childTnLst>
                          </p:cTn>
                        </p:par>
                        <p:par>
                          <p:cTn id="8" fill="hold" nodeType="afterGroup">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553988"/>
                                        </p:tgtEl>
                                        <p:attrNameLst>
                                          <p:attrName>style.visibility</p:attrName>
                                        </p:attrNameLst>
                                      </p:cBhvr>
                                      <p:to>
                                        <p:strVal val="visible"/>
                                      </p:to>
                                    </p:set>
                                    <p:anim calcmode="lin" valueType="num">
                                      <p:cBhvr additive="base">
                                        <p:cTn id="11" dur="500" fill="hold"/>
                                        <p:tgtEl>
                                          <p:spTgt spid="553988"/>
                                        </p:tgtEl>
                                        <p:attrNameLst>
                                          <p:attrName>ppt_x</p:attrName>
                                        </p:attrNameLst>
                                      </p:cBhvr>
                                      <p:tavLst>
                                        <p:tav tm="0">
                                          <p:val>
                                            <p:strVal val="1+#ppt_w/2"/>
                                          </p:val>
                                        </p:tav>
                                        <p:tav tm="100000">
                                          <p:val>
                                            <p:strVal val="#ppt_x"/>
                                          </p:val>
                                        </p:tav>
                                      </p:tavLst>
                                    </p:anim>
                                    <p:anim calcmode="lin" valueType="num">
                                      <p:cBhvr additive="base">
                                        <p:cTn id="12" dur="500" fill="hold"/>
                                        <p:tgtEl>
                                          <p:spTgt spid="553988"/>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553989"/>
                                        </p:tgtEl>
                                        <p:attrNameLst>
                                          <p:attrName>style.visibility</p:attrName>
                                        </p:attrNameLst>
                                      </p:cBhvr>
                                      <p:to>
                                        <p:strVal val="visible"/>
                                      </p:to>
                                    </p:set>
                                    <p:anim calcmode="lin" valueType="num">
                                      <p:cBhvr additive="base">
                                        <p:cTn id="16" dur="500" fill="hold"/>
                                        <p:tgtEl>
                                          <p:spTgt spid="553989"/>
                                        </p:tgtEl>
                                        <p:attrNameLst>
                                          <p:attrName>ppt_x</p:attrName>
                                        </p:attrNameLst>
                                      </p:cBhvr>
                                      <p:tavLst>
                                        <p:tav tm="0">
                                          <p:val>
                                            <p:strVal val="1+#ppt_w/2"/>
                                          </p:val>
                                        </p:tav>
                                        <p:tav tm="100000">
                                          <p:val>
                                            <p:strVal val="#ppt_x"/>
                                          </p:val>
                                        </p:tav>
                                      </p:tavLst>
                                    </p:anim>
                                    <p:anim calcmode="lin" valueType="num">
                                      <p:cBhvr additive="base">
                                        <p:cTn id="17" dur="500" fill="hold"/>
                                        <p:tgtEl>
                                          <p:spTgt spid="553989"/>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1500"/>
                            </p:stCondLst>
                            <p:childTnLst>
                              <p:par>
                                <p:cTn id="19" presetID="2" presetClass="entr" presetSubtype="2" fill="hold" grpId="0" nodeType="afterEffect">
                                  <p:stCondLst>
                                    <p:cond delay="0"/>
                                  </p:stCondLst>
                                  <p:childTnLst>
                                    <p:set>
                                      <p:cBhvr>
                                        <p:cTn id="20" dur="1" fill="hold">
                                          <p:stCondLst>
                                            <p:cond delay="0"/>
                                          </p:stCondLst>
                                        </p:cTn>
                                        <p:tgtEl>
                                          <p:spTgt spid="553990"/>
                                        </p:tgtEl>
                                        <p:attrNameLst>
                                          <p:attrName>style.visibility</p:attrName>
                                        </p:attrNameLst>
                                      </p:cBhvr>
                                      <p:to>
                                        <p:strVal val="visible"/>
                                      </p:to>
                                    </p:set>
                                    <p:anim calcmode="lin" valueType="num">
                                      <p:cBhvr additive="base">
                                        <p:cTn id="21" dur="500" fill="hold"/>
                                        <p:tgtEl>
                                          <p:spTgt spid="553990"/>
                                        </p:tgtEl>
                                        <p:attrNameLst>
                                          <p:attrName>ppt_x</p:attrName>
                                        </p:attrNameLst>
                                      </p:cBhvr>
                                      <p:tavLst>
                                        <p:tav tm="0">
                                          <p:val>
                                            <p:strVal val="1+#ppt_w/2"/>
                                          </p:val>
                                        </p:tav>
                                        <p:tav tm="100000">
                                          <p:val>
                                            <p:strVal val="#ppt_x"/>
                                          </p:val>
                                        </p:tav>
                                      </p:tavLst>
                                    </p:anim>
                                    <p:anim calcmode="lin" valueType="num">
                                      <p:cBhvr additive="base">
                                        <p:cTn id="22" dur="500" fill="hold"/>
                                        <p:tgtEl>
                                          <p:spTgt spid="553990"/>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2000"/>
                            </p:stCondLst>
                            <p:childTnLst>
                              <p:par>
                                <p:cTn id="24" presetID="2" presetClass="entr" presetSubtype="2" fill="hold" grpId="0" nodeType="afterEffect">
                                  <p:stCondLst>
                                    <p:cond delay="0"/>
                                  </p:stCondLst>
                                  <p:childTnLst>
                                    <p:set>
                                      <p:cBhvr>
                                        <p:cTn id="25" dur="1" fill="hold">
                                          <p:stCondLst>
                                            <p:cond delay="0"/>
                                          </p:stCondLst>
                                        </p:cTn>
                                        <p:tgtEl>
                                          <p:spTgt spid="553991"/>
                                        </p:tgtEl>
                                        <p:attrNameLst>
                                          <p:attrName>style.visibility</p:attrName>
                                        </p:attrNameLst>
                                      </p:cBhvr>
                                      <p:to>
                                        <p:strVal val="visible"/>
                                      </p:to>
                                    </p:set>
                                    <p:anim calcmode="lin" valueType="num">
                                      <p:cBhvr additive="base">
                                        <p:cTn id="26" dur="500" fill="hold"/>
                                        <p:tgtEl>
                                          <p:spTgt spid="553991"/>
                                        </p:tgtEl>
                                        <p:attrNameLst>
                                          <p:attrName>ppt_x</p:attrName>
                                        </p:attrNameLst>
                                      </p:cBhvr>
                                      <p:tavLst>
                                        <p:tav tm="0">
                                          <p:val>
                                            <p:strVal val="1+#ppt_w/2"/>
                                          </p:val>
                                        </p:tav>
                                        <p:tav tm="100000">
                                          <p:val>
                                            <p:strVal val="#ppt_x"/>
                                          </p:val>
                                        </p:tav>
                                      </p:tavLst>
                                    </p:anim>
                                    <p:anim calcmode="lin" valueType="num">
                                      <p:cBhvr additive="base">
                                        <p:cTn id="27" dur="500" fill="hold"/>
                                        <p:tgtEl>
                                          <p:spTgt spid="553991"/>
                                        </p:tgtEl>
                                        <p:attrNameLst>
                                          <p:attrName>ppt_y</p:attrName>
                                        </p:attrNameLst>
                                      </p:cBhvr>
                                      <p:tavLst>
                                        <p:tav tm="0">
                                          <p:val>
                                            <p:strVal val="#ppt_y"/>
                                          </p:val>
                                        </p:tav>
                                        <p:tav tm="100000">
                                          <p:val>
                                            <p:strVal val="#ppt_y"/>
                                          </p:val>
                                        </p:tav>
                                      </p:tavLst>
                                    </p:anim>
                                  </p:childTnLst>
                                </p:cTn>
                              </p:par>
                            </p:childTnLst>
                          </p:cTn>
                        </p:par>
                        <p:par>
                          <p:cTn id="28" fill="hold" nodeType="afterGroup">
                            <p:stCondLst>
                              <p:cond delay="2500"/>
                            </p:stCondLst>
                            <p:childTnLst>
                              <p:par>
                                <p:cTn id="29" presetID="12" presetClass="entr" presetSubtype="4" fill="hold" grpId="0" nodeType="afterEffect">
                                  <p:stCondLst>
                                    <p:cond delay="0"/>
                                  </p:stCondLst>
                                  <p:childTnLst>
                                    <p:set>
                                      <p:cBhvr>
                                        <p:cTn id="30" dur="1" fill="hold">
                                          <p:stCondLst>
                                            <p:cond delay="0"/>
                                          </p:stCondLst>
                                        </p:cTn>
                                        <p:tgtEl>
                                          <p:spTgt spid="553992">
                                            <p:txEl>
                                              <p:charRg st="4294967295" end="4294967295"/>
                                            </p:txEl>
                                          </p:spTgt>
                                        </p:tgtEl>
                                        <p:attrNameLst>
                                          <p:attrName>style.visibility</p:attrName>
                                        </p:attrNameLst>
                                      </p:cBhvr>
                                      <p:to>
                                        <p:strVal val="visible"/>
                                      </p:to>
                                    </p:set>
                                    <p:animEffect transition="in" filter="slide(fromBottom)">
                                      <p:cBhvr>
                                        <p:cTn id="31" dur="500"/>
                                        <p:tgtEl>
                                          <p:spTgt spid="553992">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6" grpId="0" animBg="1" autoUpdateAnimBg="0"/>
      <p:bldP spid="553988" grpId="0" animBg="1" autoUpdateAnimBg="0"/>
      <p:bldP spid="553989" grpId="0" animBg="1" autoUpdateAnimBg="0"/>
      <p:bldP spid="553990" grpId="0" animBg="1" autoUpdateAnimBg="0"/>
      <p:bldP spid="553991" grpId="0" animBg="1" autoUpdateAnimBg="0"/>
      <p:bldP spid="553992"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bwMode="auto">
          <a:xfrm>
            <a:off x="685800" y="1066800"/>
            <a:ext cx="80772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rPr>
              <a:t>第四节  </a:t>
            </a:r>
            <a:r>
              <a:rPr lang="en-US" altLang="zh-CN" b="1">
                <a:solidFill>
                  <a:srgbClr val="FF0000"/>
                </a:solidFill>
              </a:rPr>
              <a:t>C54x</a:t>
            </a:r>
            <a:r>
              <a:rPr lang="zh-CN" altLang="en-US" b="1">
                <a:solidFill>
                  <a:srgbClr val="FF0000"/>
                </a:solidFill>
              </a:rPr>
              <a:t>芯片的存储器结构</a:t>
            </a:r>
            <a:endParaRPr lang="zh-CN" altLang="en-US" b="1">
              <a:solidFill>
                <a:srgbClr val="FF0000"/>
              </a:solidFill>
              <a:ea typeface="黑体" panose="02010609060101010101" pitchFamily="49" charset="-122"/>
            </a:endParaRPr>
          </a:p>
        </p:txBody>
      </p:sp>
      <p:sp>
        <p:nvSpPr>
          <p:cNvPr id="5837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FC8BACF-3237-475D-951B-930A6248CA4B}" type="slidenum">
              <a:rPr lang="en-US" altLang="zh-CN" sz="1400" b="0"/>
              <a:pPr eaLnBrk="1" hangingPunct="1"/>
              <a:t>45</a:t>
            </a:fld>
            <a:endParaRPr lang="en-US" altLang="zh-CN" sz="1400" b="0"/>
          </a:p>
        </p:txBody>
      </p:sp>
      <p:sp>
        <p:nvSpPr>
          <p:cNvPr id="555011" name="Rectangle 3"/>
          <p:cNvSpPr>
            <a:spLocks noChangeArrowheads="1"/>
          </p:cNvSpPr>
          <p:nvPr/>
        </p:nvSpPr>
        <p:spPr bwMode="auto">
          <a:xfrm>
            <a:off x="2590800" y="1981200"/>
            <a:ext cx="3352800" cy="698500"/>
          </a:xfrm>
          <a:prstGeom prst="rect">
            <a:avLst/>
          </a:prstGeom>
          <a:solidFill>
            <a:schemeClr val="bg2"/>
          </a:solidFill>
          <a:ln w="57150">
            <a:solidFill>
              <a:srgbClr val="008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00"/>
                </a:solidFill>
                <a:latin typeface="宋体" panose="02010600030101010101" pitchFamily="2" charset="-122"/>
              </a:rPr>
              <a:t>一、哈佛结构</a:t>
            </a:r>
          </a:p>
        </p:txBody>
      </p:sp>
      <p:sp>
        <p:nvSpPr>
          <p:cNvPr id="555012" name="Rectangle 4"/>
          <p:cNvSpPr>
            <a:spLocks noChangeArrowheads="1"/>
          </p:cNvSpPr>
          <p:nvPr/>
        </p:nvSpPr>
        <p:spPr bwMode="auto">
          <a:xfrm>
            <a:off x="4038600" y="3429000"/>
            <a:ext cx="2549525" cy="1228725"/>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latin typeface="宋体" panose="02010600030101010101" pitchFamily="2" charset="-122"/>
              </a:rPr>
              <a:t>冯</a:t>
            </a:r>
            <a:r>
              <a:rPr lang="en-US" altLang="zh-CN" sz="3600"/>
              <a:t>•</a:t>
            </a:r>
            <a:r>
              <a:rPr lang="zh-CN" altLang="en-US" sz="3600">
                <a:latin typeface="宋体" panose="02010600030101010101" pitchFamily="2" charset="-122"/>
              </a:rPr>
              <a:t>诺依曼</a:t>
            </a:r>
          </a:p>
          <a:p>
            <a:pPr algn="ctr" eaLnBrk="1" hangingPunct="1"/>
            <a:r>
              <a:rPr lang="zh-CN" altLang="en-US" sz="3600">
                <a:latin typeface="宋体" panose="02010600030101010101" pitchFamily="2" charset="-122"/>
              </a:rPr>
              <a:t>结构</a:t>
            </a:r>
          </a:p>
        </p:txBody>
      </p:sp>
      <p:sp>
        <p:nvSpPr>
          <p:cNvPr id="555013" name="Rectangle 5" descr="小棋盘"/>
          <p:cNvSpPr>
            <a:spLocks noChangeArrowheads="1"/>
          </p:cNvSpPr>
          <p:nvPr/>
        </p:nvSpPr>
        <p:spPr bwMode="auto">
          <a:xfrm>
            <a:off x="914400" y="2895600"/>
            <a:ext cx="1281113" cy="1797050"/>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特点</a:t>
            </a:r>
          </a:p>
          <a:p>
            <a:pPr algn="ctr" eaLnBrk="1" hangingPunct="1"/>
            <a:r>
              <a:rPr lang="zh-CN" altLang="en-US" sz="3600">
                <a:solidFill>
                  <a:srgbClr val="FF0000"/>
                </a:solidFill>
                <a:latin typeface="宋体" panose="02010600030101010101" pitchFamily="2" charset="-122"/>
              </a:rPr>
              <a:t>与</a:t>
            </a:r>
          </a:p>
          <a:p>
            <a:pPr algn="ctr" eaLnBrk="1" hangingPunct="1"/>
            <a:r>
              <a:rPr lang="zh-CN" altLang="en-US" sz="3600">
                <a:solidFill>
                  <a:srgbClr val="FF0000"/>
                </a:solidFill>
                <a:latin typeface="宋体" panose="02010600030101010101" pitchFamily="2" charset="-122"/>
              </a:rPr>
              <a:t>区别</a:t>
            </a:r>
          </a:p>
        </p:txBody>
      </p:sp>
      <p:grpSp>
        <p:nvGrpSpPr>
          <p:cNvPr id="2" name="Group 6"/>
          <p:cNvGrpSpPr>
            <a:grpSpLocks/>
          </p:cNvGrpSpPr>
          <p:nvPr/>
        </p:nvGrpSpPr>
        <p:grpSpPr bwMode="auto">
          <a:xfrm>
            <a:off x="685800" y="5562600"/>
            <a:ext cx="7467600" cy="698500"/>
            <a:chOff x="432" y="3504"/>
            <a:chExt cx="4704" cy="440"/>
          </a:xfrm>
        </p:grpSpPr>
        <p:sp>
          <p:nvSpPr>
            <p:cNvPr id="58379" name="Text Box 7"/>
            <p:cNvSpPr txBox="1">
              <a:spLocks noChangeArrowheads="1"/>
            </p:cNvSpPr>
            <p:nvPr/>
          </p:nvSpPr>
          <p:spPr bwMode="auto">
            <a:xfrm>
              <a:off x="432" y="3504"/>
              <a:ext cx="2544" cy="440"/>
            </a:xfrm>
            <a:prstGeom prst="rect">
              <a:avLst/>
            </a:prstGeom>
            <a:solidFill>
              <a:schemeClr val="bg2"/>
            </a:solidFill>
            <a:ln w="57150">
              <a:solidFill>
                <a:schemeClr val="bg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600"/>
                <a:t>程序</a:t>
              </a:r>
              <a:r>
                <a:rPr lang="en-US" altLang="zh-CN" sz="3600"/>
                <a:t>/</a:t>
              </a:r>
              <a:r>
                <a:rPr lang="zh-CN" altLang="en-US" sz="3600"/>
                <a:t>数据存储器</a:t>
              </a:r>
            </a:p>
          </p:txBody>
        </p:sp>
        <p:sp>
          <p:nvSpPr>
            <p:cNvPr id="58380" name="Text Box 8"/>
            <p:cNvSpPr txBox="1">
              <a:spLocks noChangeArrowheads="1"/>
            </p:cNvSpPr>
            <p:nvPr/>
          </p:nvSpPr>
          <p:spPr bwMode="auto">
            <a:xfrm>
              <a:off x="4224" y="3504"/>
              <a:ext cx="912" cy="440"/>
            </a:xfrm>
            <a:prstGeom prst="rect">
              <a:avLst/>
            </a:prstGeom>
            <a:solidFill>
              <a:srgbClr val="FF0000"/>
            </a:solidFill>
            <a:ln w="57150">
              <a:solidFill>
                <a:srgbClr val="CCFF99"/>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600">
                  <a:solidFill>
                    <a:srgbClr val="FFFF00"/>
                  </a:solidFill>
                </a:rPr>
                <a:t>CPU</a:t>
              </a:r>
            </a:p>
          </p:txBody>
        </p:sp>
        <p:sp>
          <p:nvSpPr>
            <p:cNvPr id="58381" name="AutoShape 9"/>
            <p:cNvSpPr>
              <a:spLocks noChangeArrowheads="1"/>
            </p:cNvSpPr>
            <p:nvPr/>
          </p:nvSpPr>
          <p:spPr bwMode="auto">
            <a:xfrm>
              <a:off x="2976" y="3600"/>
              <a:ext cx="1200" cy="240"/>
            </a:xfrm>
            <a:prstGeom prst="leftRightArrow">
              <a:avLst>
                <a:gd name="adj1" fmla="val 50000"/>
                <a:gd name="adj2" fmla="val 100000"/>
              </a:avLst>
            </a:prstGeom>
            <a:solidFill>
              <a:srgbClr val="3366FF"/>
            </a:solidFill>
            <a:ln w="9525">
              <a:solidFill>
                <a:schemeClr val="accent2"/>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b="0">
                <a:solidFill>
                  <a:schemeClr val="hlink"/>
                </a:solidFill>
              </a:endParaRPr>
            </a:p>
          </p:txBody>
        </p:sp>
      </p:grpSp>
      <p:sp>
        <p:nvSpPr>
          <p:cNvPr id="555018" name="AutoShape 10" descr="小棋盘"/>
          <p:cNvSpPr>
            <a:spLocks noChangeArrowheads="1"/>
          </p:cNvSpPr>
          <p:nvPr/>
        </p:nvSpPr>
        <p:spPr bwMode="auto">
          <a:xfrm>
            <a:off x="6705600" y="1905000"/>
            <a:ext cx="1981200" cy="2667000"/>
          </a:xfrm>
          <a:prstGeom prst="wedgeRoundRectCallout">
            <a:avLst>
              <a:gd name="adj1" fmla="val -81731"/>
              <a:gd name="adj2" fmla="val -27560"/>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00CC00"/>
                </a:solidFill>
              </a:rPr>
              <a:t>两种结构的目的旨在从存储器存取数据。区别在于程序</a:t>
            </a:r>
            <a:r>
              <a:rPr lang="en-US" altLang="zh-CN" sz="2400">
                <a:solidFill>
                  <a:srgbClr val="00CC00"/>
                </a:solidFill>
              </a:rPr>
              <a:t>/</a:t>
            </a:r>
            <a:r>
              <a:rPr lang="zh-CN" altLang="en-US" sz="2400">
                <a:solidFill>
                  <a:srgbClr val="00CC00"/>
                </a:solidFill>
              </a:rPr>
              <a:t>数据总线是否分行。</a:t>
            </a:r>
          </a:p>
        </p:txBody>
      </p:sp>
      <p:sp>
        <p:nvSpPr>
          <p:cNvPr id="555019" name="AutoShape 11" descr="小棋盘"/>
          <p:cNvSpPr>
            <a:spLocks noChangeArrowheads="1"/>
          </p:cNvSpPr>
          <p:nvPr/>
        </p:nvSpPr>
        <p:spPr bwMode="auto">
          <a:xfrm>
            <a:off x="6705600" y="1905000"/>
            <a:ext cx="1981200" cy="3252788"/>
          </a:xfrm>
          <a:prstGeom prst="wedgeRoundRectCallout">
            <a:avLst>
              <a:gd name="adj1" fmla="val -77722"/>
              <a:gd name="adj2" fmla="val -9153"/>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folHlink"/>
                </a:solidFill>
              </a:rPr>
              <a:t>两种结构的目的旨在从存储器存取数据。区别在于程序</a:t>
            </a:r>
            <a:r>
              <a:rPr lang="en-US" altLang="zh-CN" sz="2400">
                <a:solidFill>
                  <a:schemeClr val="folHlink"/>
                </a:solidFill>
              </a:rPr>
              <a:t>/</a:t>
            </a:r>
            <a:r>
              <a:rPr lang="zh-CN" altLang="en-US" sz="2400">
                <a:solidFill>
                  <a:schemeClr val="folHlink"/>
                </a:solidFill>
              </a:rPr>
              <a:t>数据总线和空间是否分开。</a:t>
            </a:r>
          </a:p>
        </p:txBody>
      </p:sp>
      <p:sp>
        <p:nvSpPr>
          <p:cNvPr id="58378" name="AutoShape 12"/>
          <p:cNvSpPr>
            <a:spLocks noChangeArrowheads="1"/>
          </p:cNvSpPr>
          <p:nvPr/>
        </p:nvSpPr>
        <p:spPr bwMode="auto">
          <a:xfrm>
            <a:off x="4876800" y="4724400"/>
            <a:ext cx="457200" cy="457200"/>
          </a:xfrm>
          <a:prstGeom prst="downArrow">
            <a:avLst>
              <a:gd name="adj1" fmla="val 50000"/>
              <a:gd name="adj2" fmla="val 25000"/>
            </a:avLst>
          </a:prstGeom>
          <a:solidFill>
            <a:schemeClr val="accent1"/>
          </a:solidFill>
          <a:ln w="9525">
            <a:solidFill>
              <a:srgbClr val="FF66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55010"/>
                                        </p:tgtEl>
                                        <p:attrNameLst>
                                          <p:attrName>style.visibility</p:attrName>
                                        </p:attrNameLst>
                                      </p:cBhvr>
                                      <p:to>
                                        <p:strVal val="visible"/>
                                      </p:to>
                                    </p:set>
                                    <p:anim calcmode="lin" valueType="num">
                                      <p:cBhvr additive="base">
                                        <p:cTn id="7" dur="500" fill="hold"/>
                                        <p:tgtEl>
                                          <p:spTgt spid="555010"/>
                                        </p:tgtEl>
                                        <p:attrNameLst>
                                          <p:attrName>ppt_x</p:attrName>
                                        </p:attrNameLst>
                                      </p:cBhvr>
                                      <p:tavLst>
                                        <p:tav tm="0">
                                          <p:val>
                                            <p:strVal val="0-#ppt_w/2"/>
                                          </p:val>
                                        </p:tav>
                                        <p:tav tm="100000">
                                          <p:val>
                                            <p:strVal val="#ppt_x"/>
                                          </p:val>
                                        </p:tav>
                                      </p:tavLst>
                                    </p:anim>
                                    <p:anim calcmode="lin" valueType="num">
                                      <p:cBhvr additive="base">
                                        <p:cTn id="8" dur="500" fill="hold"/>
                                        <p:tgtEl>
                                          <p:spTgt spid="55501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555011"/>
                                        </p:tgtEl>
                                        <p:attrNameLst>
                                          <p:attrName>style.visibility</p:attrName>
                                        </p:attrNameLst>
                                      </p:cBhvr>
                                      <p:to>
                                        <p:strVal val="visible"/>
                                      </p:to>
                                    </p:set>
                                    <p:animEffect transition="in" filter="box(in)">
                                      <p:cBhvr>
                                        <p:cTn id="12" dur="500"/>
                                        <p:tgtEl>
                                          <p:spTgt spid="555011"/>
                                        </p:tgtEl>
                                      </p:cBhvr>
                                    </p:animEffect>
                                  </p:childTnLst>
                                </p:cTn>
                              </p:par>
                            </p:childTnLst>
                          </p:cTn>
                        </p:par>
                        <p:par>
                          <p:cTn id="13" fill="hold" nodeType="afterGroup">
                            <p:stCondLst>
                              <p:cond delay="1000"/>
                            </p:stCondLst>
                            <p:childTnLst>
                              <p:par>
                                <p:cTn id="14" presetID="5" presetClass="entr" presetSubtype="10" fill="hold" grpId="0" nodeType="afterEffect">
                                  <p:stCondLst>
                                    <p:cond delay="0"/>
                                  </p:stCondLst>
                                  <p:childTnLst>
                                    <p:set>
                                      <p:cBhvr>
                                        <p:cTn id="15" dur="1" fill="hold">
                                          <p:stCondLst>
                                            <p:cond delay="0"/>
                                          </p:stCondLst>
                                        </p:cTn>
                                        <p:tgtEl>
                                          <p:spTgt spid="555013"/>
                                        </p:tgtEl>
                                        <p:attrNameLst>
                                          <p:attrName>style.visibility</p:attrName>
                                        </p:attrNameLst>
                                      </p:cBhvr>
                                      <p:to>
                                        <p:strVal val="visible"/>
                                      </p:to>
                                    </p:set>
                                    <p:animEffect transition="in" filter="checkerboard(across)">
                                      <p:cBhvr>
                                        <p:cTn id="16" dur="500"/>
                                        <p:tgtEl>
                                          <p:spTgt spid="555013"/>
                                        </p:tgtEl>
                                      </p:cBhvr>
                                    </p:animEffect>
                                  </p:childTnLst>
                                </p:cTn>
                              </p:par>
                            </p:childTnLst>
                          </p:cTn>
                        </p:par>
                        <p:par>
                          <p:cTn id="17" fill="hold" nodeType="afterGroup">
                            <p:stCondLst>
                              <p:cond delay="1500"/>
                            </p:stCondLst>
                            <p:childTnLst>
                              <p:par>
                                <p:cTn id="18" presetID="9" presetClass="entr" presetSubtype="0" fill="hold" grpId="0" nodeType="afterEffect">
                                  <p:stCondLst>
                                    <p:cond delay="0"/>
                                  </p:stCondLst>
                                  <p:childTnLst>
                                    <p:set>
                                      <p:cBhvr>
                                        <p:cTn id="19" dur="1" fill="hold">
                                          <p:stCondLst>
                                            <p:cond delay="0"/>
                                          </p:stCondLst>
                                        </p:cTn>
                                        <p:tgtEl>
                                          <p:spTgt spid="555012"/>
                                        </p:tgtEl>
                                        <p:attrNameLst>
                                          <p:attrName>style.visibility</p:attrName>
                                        </p:attrNameLst>
                                      </p:cBhvr>
                                      <p:to>
                                        <p:strVal val="visible"/>
                                      </p:to>
                                    </p:set>
                                    <p:animEffect transition="in" filter="dissolve">
                                      <p:cBhvr>
                                        <p:cTn id="20" dur="500"/>
                                        <p:tgtEl>
                                          <p:spTgt spid="555012"/>
                                        </p:tgtEl>
                                      </p:cBhvr>
                                    </p:animEffect>
                                  </p:childTnLst>
                                </p:cTn>
                              </p:par>
                            </p:childTnLst>
                          </p:cTn>
                        </p:par>
                        <p:par>
                          <p:cTn id="21" fill="hold" nodeType="afterGroup">
                            <p:stCondLst>
                              <p:cond delay="2000"/>
                            </p:stCondLst>
                            <p:childTnLst>
                              <p:par>
                                <p:cTn id="22" presetID="2" presetClass="entr" presetSubtype="2" fill="hold" grpId="0" nodeType="afterEffect">
                                  <p:stCondLst>
                                    <p:cond delay="0"/>
                                  </p:stCondLst>
                                  <p:childTnLst>
                                    <p:set>
                                      <p:cBhvr>
                                        <p:cTn id="23" dur="1" fill="hold">
                                          <p:stCondLst>
                                            <p:cond delay="0"/>
                                          </p:stCondLst>
                                        </p:cTn>
                                        <p:tgtEl>
                                          <p:spTgt spid="555018"/>
                                        </p:tgtEl>
                                        <p:attrNameLst>
                                          <p:attrName>style.visibility</p:attrName>
                                        </p:attrNameLst>
                                      </p:cBhvr>
                                      <p:to>
                                        <p:strVal val="visible"/>
                                      </p:to>
                                    </p:set>
                                    <p:anim calcmode="lin" valueType="num">
                                      <p:cBhvr additive="base">
                                        <p:cTn id="24" dur="500" fill="hold"/>
                                        <p:tgtEl>
                                          <p:spTgt spid="555018"/>
                                        </p:tgtEl>
                                        <p:attrNameLst>
                                          <p:attrName>ppt_x</p:attrName>
                                        </p:attrNameLst>
                                      </p:cBhvr>
                                      <p:tavLst>
                                        <p:tav tm="0">
                                          <p:val>
                                            <p:strVal val="1+#ppt_w/2"/>
                                          </p:val>
                                        </p:tav>
                                        <p:tav tm="100000">
                                          <p:val>
                                            <p:strVal val="#ppt_x"/>
                                          </p:val>
                                        </p:tav>
                                      </p:tavLst>
                                    </p:anim>
                                    <p:anim calcmode="lin" valueType="num">
                                      <p:cBhvr additive="base">
                                        <p:cTn id="25" dur="500" fill="hold"/>
                                        <p:tgtEl>
                                          <p:spTgt spid="555018"/>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2500"/>
                            </p:stCondLst>
                            <p:childTnLst>
                              <p:par>
                                <p:cTn id="27" presetID="2" presetClass="entr" presetSubtype="2" fill="hold" grpId="0" nodeType="afterEffect">
                                  <p:stCondLst>
                                    <p:cond delay="0"/>
                                  </p:stCondLst>
                                  <p:childTnLst>
                                    <p:set>
                                      <p:cBhvr>
                                        <p:cTn id="28" dur="1" fill="hold">
                                          <p:stCondLst>
                                            <p:cond delay="0"/>
                                          </p:stCondLst>
                                        </p:cTn>
                                        <p:tgtEl>
                                          <p:spTgt spid="555019"/>
                                        </p:tgtEl>
                                        <p:attrNameLst>
                                          <p:attrName>style.visibility</p:attrName>
                                        </p:attrNameLst>
                                      </p:cBhvr>
                                      <p:to>
                                        <p:strVal val="visible"/>
                                      </p:to>
                                    </p:set>
                                    <p:anim calcmode="lin" valueType="num">
                                      <p:cBhvr additive="base">
                                        <p:cTn id="29" dur="500" fill="hold"/>
                                        <p:tgtEl>
                                          <p:spTgt spid="555019"/>
                                        </p:tgtEl>
                                        <p:attrNameLst>
                                          <p:attrName>ppt_x</p:attrName>
                                        </p:attrNameLst>
                                      </p:cBhvr>
                                      <p:tavLst>
                                        <p:tav tm="0">
                                          <p:val>
                                            <p:strVal val="1+#ppt_w/2"/>
                                          </p:val>
                                        </p:tav>
                                        <p:tav tm="100000">
                                          <p:val>
                                            <p:strVal val="#ppt_x"/>
                                          </p:val>
                                        </p:tav>
                                      </p:tavLst>
                                    </p:anim>
                                    <p:anim calcmode="lin" valueType="num">
                                      <p:cBhvr additive="base">
                                        <p:cTn id="30" dur="500" fill="hold"/>
                                        <p:tgtEl>
                                          <p:spTgt spid="555019"/>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3000"/>
                            </p:stCondLst>
                            <p:childTnLst>
                              <p:par>
                                <p:cTn id="32" presetID="15" presetClass="entr" presetSubtype="0"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p:cTn id="34" dur="1000" fill="hold"/>
                                        <p:tgtEl>
                                          <p:spTgt spid="2"/>
                                        </p:tgtEl>
                                        <p:attrNameLst>
                                          <p:attrName>ppt_w</p:attrName>
                                        </p:attrNameLst>
                                      </p:cBhvr>
                                      <p:tavLst>
                                        <p:tav tm="0">
                                          <p:val>
                                            <p:fltVal val="0"/>
                                          </p:val>
                                        </p:tav>
                                        <p:tav tm="100000">
                                          <p:val>
                                            <p:strVal val="#ppt_w"/>
                                          </p:val>
                                        </p:tav>
                                      </p:tavLst>
                                    </p:anim>
                                    <p:anim calcmode="lin" valueType="num">
                                      <p:cBhvr>
                                        <p:cTn id="35" dur="1000" fill="hold"/>
                                        <p:tgtEl>
                                          <p:spTgt spid="2"/>
                                        </p:tgtEl>
                                        <p:attrNameLst>
                                          <p:attrName>ppt_h</p:attrName>
                                        </p:attrNameLst>
                                      </p:cBhvr>
                                      <p:tavLst>
                                        <p:tav tm="0">
                                          <p:val>
                                            <p:fltVal val="0"/>
                                          </p:val>
                                        </p:tav>
                                        <p:tav tm="100000">
                                          <p:val>
                                            <p:strVal val="#ppt_h"/>
                                          </p:val>
                                        </p:tav>
                                      </p:tavLst>
                                    </p:anim>
                                    <p:anim calcmode="lin" valueType="num">
                                      <p:cBhvr>
                                        <p:cTn id="36"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37"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0" grpId="0" autoUpdateAnimBg="0"/>
      <p:bldP spid="555011" grpId="0" animBg="1" autoUpdateAnimBg="0"/>
      <p:bldP spid="555012" grpId="0" animBg="1" autoUpdateAnimBg="0"/>
      <p:bldP spid="555013" grpId="0" animBg="1" autoUpdateAnimBg="0"/>
      <p:bldP spid="555018" grpId="0" animBg="1" autoUpdateAnimBg="0"/>
      <p:bldP spid="555019"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3FF6A656-EA4B-47D7-8ACD-55A9584E86A5}" type="slidenum">
              <a:rPr lang="en-US" altLang="zh-CN" sz="1400" b="0"/>
              <a:pPr eaLnBrk="1" hangingPunct="1"/>
              <a:t>46</a:t>
            </a:fld>
            <a:endParaRPr lang="en-US" altLang="zh-CN" sz="1400" b="0"/>
          </a:p>
        </p:txBody>
      </p:sp>
      <p:sp>
        <p:nvSpPr>
          <p:cNvPr id="556034" name="Rectangle 2"/>
          <p:cNvSpPr>
            <a:spLocks noChangeArrowheads="1"/>
          </p:cNvSpPr>
          <p:nvPr/>
        </p:nvSpPr>
        <p:spPr bwMode="auto">
          <a:xfrm>
            <a:off x="3429000" y="2514600"/>
            <a:ext cx="3886200" cy="1503363"/>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latin typeface="宋体" panose="02010600030101010101" pitchFamily="2" charset="-122"/>
              </a:rPr>
              <a:t>哈佛结构 </a:t>
            </a:r>
          </a:p>
          <a:p>
            <a:pPr eaLnBrk="1" hangingPunct="1">
              <a:spcBef>
                <a:spcPct val="50000"/>
              </a:spcBef>
            </a:pPr>
            <a:r>
              <a:rPr lang="zh-CN" altLang="en-US" sz="3600">
                <a:latin typeface="宋体" panose="02010600030101010101" pitchFamily="2" charset="-122"/>
              </a:rPr>
              <a:t>改善的哈佛结构</a:t>
            </a:r>
          </a:p>
        </p:txBody>
      </p:sp>
      <p:grpSp>
        <p:nvGrpSpPr>
          <p:cNvPr id="2" name="Group 4"/>
          <p:cNvGrpSpPr>
            <a:grpSpLocks/>
          </p:cNvGrpSpPr>
          <p:nvPr/>
        </p:nvGrpSpPr>
        <p:grpSpPr bwMode="auto">
          <a:xfrm>
            <a:off x="152400" y="4876800"/>
            <a:ext cx="8763000" cy="698500"/>
            <a:chOff x="192" y="3504"/>
            <a:chExt cx="5354" cy="440"/>
          </a:xfrm>
        </p:grpSpPr>
        <p:sp>
          <p:nvSpPr>
            <p:cNvPr id="59402" name="Text Box 5"/>
            <p:cNvSpPr txBox="1">
              <a:spLocks noChangeArrowheads="1"/>
            </p:cNvSpPr>
            <p:nvPr/>
          </p:nvSpPr>
          <p:spPr bwMode="auto">
            <a:xfrm>
              <a:off x="192" y="3504"/>
              <a:ext cx="1728" cy="440"/>
            </a:xfrm>
            <a:prstGeom prst="rect">
              <a:avLst/>
            </a:prstGeom>
            <a:solidFill>
              <a:schemeClr val="bg2"/>
            </a:solidFill>
            <a:ln w="57150">
              <a:solidFill>
                <a:schemeClr val="bg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t>程序存储器</a:t>
              </a:r>
            </a:p>
          </p:txBody>
        </p:sp>
        <p:sp>
          <p:nvSpPr>
            <p:cNvPr id="59403" name="Text Box 6"/>
            <p:cNvSpPr txBox="1">
              <a:spLocks noChangeArrowheads="1"/>
            </p:cNvSpPr>
            <p:nvPr/>
          </p:nvSpPr>
          <p:spPr bwMode="auto">
            <a:xfrm>
              <a:off x="2496" y="3504"/>
              <a:ext cx="912" cy="440"/>
            </a:xfrm>
            <a:prstGeom prst="rect">
              <a:avLst/>
            </a:prstGeom>
            <a:solidFill>
              <a:srgbClr val="FF0000"/>
            </a:solidFill>
            <a:ln w="57150">
              <a:solidFill>
                <a:srgbClr val="CCFF99"/>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600">
                  <a:solidFill>
                    <a:srgbClr val="FFFF00"/>
                  </a:solidFill>
                </a:rPr>
                <a:t>CPU</a:t>
              </a:r>
            </a:p>
          </p:txBody>
        </p:sp>
        <p:sp>
          <p:nvSpPr>
            <p:cNvPr id="59404" name="AutoShape 7"/>
            <p:cNvSpPr>
              <a:spLocks noChangeArrowheads="1"/>
            </p:cNvSpPr>
            <p:nvPr/>
          </p:nvSpPr>
          <p:spPr bwMode="auto">
            <a:xfrm>
              <a:off x="1920" y="3600"/>
              <a:ext cx="528" cy="288"/>
            </a:xfrm>
            <a:prstGeom prst="leftRightArrow">
              <a:avLst>
                <a:gd name="adj1" fmla="val 50000"/>
                <a:gd name="adj2" fmla="val 36667"/>
              </a:avLst>
            </a:prstGeom>
            <a:solidFill>
              <a:srgbClr val="3366FF"/>
            </a:solidFill>
            <a:ln w="9525">
              <a:solidFill>
                <a:schemeClr val="accent2"/>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b="0">
                <a:solidFill>
                  <a:schemeClr val="hlink"/>
                </a:solidFill>
              </a:endParaRPr>
            </a:p>
          </p:txBody>
        </p:sp>
        <p:sp>
          <p:nvSpPr>
            <p:cNvPr id="59405" name="Rectangle 8"/>
            <p:cNvSpPr>
              <a:spLocks noChangeArrowheads="1"/>
            </p:cNvSpPr>
            <p:nvPr/>
          </p:nvSpPr>
          <p:spPr bwMode="auto">
            <a:xfrm>
              <a:off x="3984" y="3504"/>
              <a:ext cx="1562" cy="410"/>
            </a:xfrm>
            <a:prstGeom prst="rect">
              <a:avLst/>
            </a:prstGeom>
            <a:solidFill>
              <a:srgbClr val="660066"/>
            </a:solidFill>
            <a:ln w="9525">
              <a:solidFill>
                <a:schemeClr val="accent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solidFill>
                    <a:srgbClr val="FFFF00"/>
                  </a:solidFill>
                </a:rPr>
                <a:t>数据存储器</a:t>
              </a:r>
            </a:p>
          </p:txBody>
        </p:sp>
        <p:sp>
          <p:nvSpPr>
            <p:cNvPr id="59406" name="AutoShape 9"/>
            <p:cNvSpPr>
              <a:spLocks noChangeArrowheads="1"/>
            </p:cNvSpPr>
            <p:nvPr/>
          </p:nvSpPr>
          <p:spPr bwMode="auto">
            <a:xfrm>
              <a:off x="3408" y="3600"/>
              <a:ext cx="528" cy="288"/>
            </a:xfrm>
            <a:prstGeom prst="leftRightArrow">
              <a:avLst>
                <a:gd name="adj1" fmla="val 50000"/>
                <a:gd name="adj2" fmla="val 36667"/>
              </a:avLst>
            </a:prstGeom>
            <a:solidFill>
              <a:srgbClr val="3366FF"/>
            </a:solidFill>
            <a:ln w="9525">
              <a:solidFill>
                <a:schemeClr val="accent2"/>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b="0">
                <a:solidFill>
                  <a:schemeClr val="hlink"/>
                </a:solidFill>
              </a:endParaRPr>
            </a:p>
          </p:txBody>
        </p:sp>
      </p:grpSp>
      <p:sp>
        <p:nvSpPr>
          <p:cNvPr id="556042" name="Text Box 10"/>
          <p:cNvSpPr txBox="1">
            <a:spLocks noChangeArrowheads="1"/>
          </p:cNvSpPr>
          <p:nvPr/>
        </p:nvSpPr>
        <p:spPr bwMode="auto">
          <a:xfrm>
            <a:off x="1258888" y="1268413"/>
            <a:ext cx="6400800" cy="698500"/>
          </a:xfrm>
          <a:prstGeom prst="rect">
            <a:avLst/>
          </a:prstGeom>
          <a:solidFill>
            <a:srgbClr val="008000"/>
          </a:solidFill>
          <a:ln w="57150">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solidFill>
                  <a:schemeClr val="bg1"/>
                </a:solidFill>
                <a:latin typeface="宋体" panose="02010600030101010101" pitchFamily="2" charset="-122"/>
              </a:rPr>
              <a:t>对存储器空间分配的不同考虑</a:t>
            </a:r>
          </a:p>
        </p:txBody>
      </p:sp>
      <p:sp>
        <p:nvSpPr>
          <p:cNvPr id="59398" name="Line 11"/>
          <p:cNvSpPr>
            <a:spLocks noChangeShapeType="1"/>
          </p:cNvSpPr>
          <p:nvPr/>
        </p:nvSpPr>
        <p:spPr bwMode="auto">
          <a:xfrm flipH="1">
            <a:off x="2895600" y="2895600"/>
            <a:ext cx="381000" cy="0"/>
          </a:xfrm>
          <a:prstGeom prst="line">
            <a:avLst/>
          </a:prstGeom>
          <a:noFill/>
          <a:ln w="762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9399" name="Line 12"/>
          <p:cNvSpPr>
            <a:spLocks noChangeShapeType="1"/>
          </p:cNvSpPr>
          <p:nvPr/>
        </p:nvSpPr>
        <p:spPr bwMode="auto">
          <a:xfrm>
            <a:off x="2895600" y="2895600"/>
            <a:ext cx="0" cy="1524000"/>
          </a:xfrm>
          <a:prstGeom prst="line">
            <a:avLst/>
          </a:prstGeom>
          <a:noFill/>
          <a:ln w="762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6045" name="AutoShape 13" descr="小棋盘"/>
          <p:cNvSpPr>
            <a:spLocks noChangeArrowheads="1"/>
          </p:cNvSpPr>
          <p:nvPr/>
        </p:nvSpPr>
        <p:spPr bwMode="auto">
          <a:xfrm>
            <a:off x="7667625" y="2209800"/>
            <a:ext cx="1019175" cy="2438400"/>
          </a:xfrm>
          <a:prstGeom prst="wedgeRoundRectCallout">
            <a:avLst>
              <a:gd name="adj1" fmla="val -116356"/>
              <a:gd name="adj2" fmla="val 13736"/>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FF0000"/>
                </a:solidFill>
              </a:rPr>
              <a:t>部分程序</a:t>
            </a:r>
            <a:r>
              <a:rPr lang="en-US" altLang="zh-CN" sz="2400">
                <a:solidFill>
                  <a:srgbClr val="FF0000"/>
                </a:solidFill>
              </a:rPr>
              <a:t>/</a:t>
            </a:r>
            <a:r>
              <a:rPr lang="zh-CN" altLang="en-US" sz="2400">
                <a:solidFill>
                  <a:srgbClr val="FF0000"/>
                </a:solidFill>
              </a:rPr>
              <a:t>数据空间可交叉</a:t>
            </a:r>
          </a:p>
        </p:txBody>
      </p:sp>
      <p:sp>
        <p:nvSpPr>
          <p:cNvPr id="556046" name="Rectangle 14" descr="小棋盘"/>
          <p:cNvSpPr>
            <a:spLocks noChangeArrowheads="1"/>
          </p:cNvSpPr>
          <p:nvPr/>
        </p:nvSpPr>
        <p:spPr bwMode="auto">
          <a:xfrm>
            <a:off x="827088" y="2636838"/>
            <a:ext cx="1281112" cy="1797050"/>
          </a:xfrm>
          <a:prstGeom prst="rect">
            <a:avLst/>
          </a:prstGeom>
          <a:pattFill prst="smCheck">
            <a:fgClr>
              <a:srgbClr val="FFFF00"/>
            </a:fgClr>
            <a:bgClr>
              <a:schemeClr val="bg1"/>
            </a:bgClr>
          </a:patt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特点</a:t>
            </a:r>
          </a:p>
          <a:p>
            <a:pPr algn="ctr" eaLnBrk="1" hangingPunct="1"/>
            <a:r>
              <a:rPr lang="zh-CN" altLang="en-US" sz="3600">
                <a:solidFill>
                  <a:srgbClr val="FF0000"/>
                </a:solidFill>
                <a:latin typeface="宋体" panose="02010600030101010101" pitchFamily="2" charset="-122"/>
              </a:rPr>
              <a:t>与</a:t>
            </a:r>
          </a:p>
          <a:p>
            <a:pPr algn="ctr" eaLnBrk="1" hangingPunct="1"/>
            <a:r>
              <a:rPr lang="zh-CN" altLang="en-US" sz="3600">
                <a:solidFill>
                  <a:srgbClr val="FF0000"/>
                </a:solidFill>
                <a:latin typeface="宋体" panose="02010600030101010101" pitchFamily="2" charset="-122"/>
              </a:rPr>
              <a:t>区别</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556042"/>
                                        </p:tgtEl>
                                        <p:attrNameLst>
                                          <p:attrName>style.visibility</p:attrName>
                                        </p:attrNameLst>
                                      </p:cBhvr>
                                      <p:to>
                                        <p:strVal val="visible"/>
                                      </p:to>
                                    </p:set>
                                    <p:animEffect transition="in" filter="strips(downLeft)">
                                      <p:cBhvr>
                                        <p:cTn id="7" dur="500"/>
                                        <p:tgtEl>
                                          <p:spTgt spid="556042"/>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556034"/>
                                        </p:tgtEl>
                                        <p:attrNameLst>
                                          <p:attrName>style.visibility</p:attrName>
                                        </p:attrNameLst>
                                      </p:cBhvr>
                                      <p:to>
                                        <p:strVal val="visible"/>
                                      </p:to>
                                    </p:set>
                                    <p:anim calcmode="lin" valueType="num">
                                      <p:cBhvr additive="base">
                                        <p:cTn id="11" dur="500" fill="hold"/>
                                        <p:tgtEl>
                                          <p:spTgt spid="556034"/>
                                        </p:tgtEl>
                                        <p:attrNameLst>
                                          <p:attrName>ppt_x</p:attrName>
                                        </p:attrNameLst>
                                      </p:cBhvr>
                                      <p:tavLst>
                                        <p:tav tm="0">
                                          <p:val>
                                            <p:strVal val="0-#ppt_w/2"/>
                                          </p:val>
                                        </p:tav>
                                        <p:tav tm="100000">
                                          <p:val>
                                            <p:strVal val="#ppt_x"/>
                                          </p:val>
                                        </p:tav>
                                      </p:tavLst>
                                    </p:anim>
                                    <p:anim calcmode="lin" valueType="num">
                                      <p:cBhvr additive="base">
                                        <p:cTn id="12" dur="500" fill="hold"/>
                                        <p:tgtEl>
                                          <p:spTgt spid="556034"/>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12"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lide(fromBottom)">
                                      <p:cBhvr>
                                        <p:cTn id="16" dur="500"/>
                                        <p:tgtEl>
                                          <p:spTgt spid="2"/>
                                        </p:tgtEl>
                                      </p:cBhvr>
                                    </p:animEffect>
                                  </p:childTnLst>
                                </p:cTn>
                              </p:par>
                            </p:childTnLst>
                          </p:cTn>
                        </p:par>
                        <p:par>
                          <p:cTn id="17" fill="hold" nodeType="afterGroup">
                            <p:stCondLst>
                              <p:cond delay="1500"/>
                            </p:stCondLst>
                            <p:childTnLst>
                              <p:par>
                                <p:cTn id="18" presetID="2" presetClass="entr" presetSubtype="2" fill="hold" grpId="0" nodeType="afterEffect">
                                  <p:stCondLst>
                                    <p:cond delay="0"/>
                                  </p:stCondLst>
                                  <p:childTnLst>
                                    <p:set>
                                      <p:cBhvr>
                                        <p:cTn id="19" dur="1" fill="hold">
                                          <p:stCondLst>
                                            <p:cond delay="0"/>
                                          </p:stCondLst>
                                        </p:cTn>
                                        <p:tgtEl>
                                          <p:spTgt spid="556045"/>
                                        </p:tgtEl>
                                        <p:attrNameLst>
                                          <p:attrName>style.visibility</p:attrName>
                                        </p:attrNameLst>
                                      </p:cBhvr>
                                      <p:to>
                                        <p:strVal val="visible"/>
                                      </p:to>
                                    </p:set>
                                    <p:anim calcmode="lin" valueType="num">
                                      <p:cBhvr additive="base">
                                        <p:cTn id="20" dur="500" fill="hold"/>
                                        <p:tgtEl>
                                          <p:spTgt spid="556045"/>
                                        </p:tgtEl>
                                        <p:attrNameLst>
                                          <p:attrName>ppt_x</p:attrName>
                                        </p:attrNameLst>
                                      </p:cBhvr>
                                      <p:tavLst>
                                        <p:tav tm="0">
                                          <p:val>
                                            <p:strVal val="1+#ppt_w/2"/>
                                          </p:val>
                                        </p:tav>
                                        <p:tav tm="100000">
                                          <p:val>
                                            <p:strVal val="#ppt_x"/>
                                          </p:val>
                                        </p:tav>
                                      </p:tavLst>
                                    </p:anim>
                                    <p:anim calcmode="lin" valueType="num">
                                      <p:cBhvr additive="base">
                                        <p:cTn id="21" dur="500" fill="hold"/>
                                        <p:tgtEl>
                                          <p:spTgt spid="556045"/>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2000"/>
                            </p:stCondLst>
                            <p:childTnLst>
                              <p:par>
                                <p:cTn id="23" presetID="5" presetClass="entr" presetSubtype="10" fill="hold" grpId="0" nodeType="afterEffect">
                                  <p:stCondLst>
                                    <p:cond delay="0"/>
                                  </p:stCondLst>
                                  <p:childTnLst>
                                    <p:set>
                                      <p:cBhvr>
                                        <p:cTn id="24" dur="1" fill="hold">
                                          <p:stCondLst>
                                            <p:cond delay="0"/>
                                          </p:stCondLst>
                                        </p:cTn>
                                        <p:tgtEl>
                                          <p:spTgt spid="556046"/>
                                        </p:tgtEl>
                                        <p:attrNameLst>
                                          <p:attrName>style.visibility</p:attrName>
                                        </p:attrNameLst>
                                      </p:cBhvr>
                                      <p:to>
                                        <p:strVal val="visible"/>
                                      </p:to>
                                    </p:set>
                                    <p:animEffect transition="in" filter="checkerboard(across)">
                                      <p:cBhvr>
                                        <p:cTn id="25" dur="500"/>
                                        <p:tgtEl>
                                          <p:spTgt spid="556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4" grpId="0" animBg="1" autoUpdateAnimBg="0"/>
      <p:bldP spid="556042" grpId="0" animBg="1" autoUpdateAnimBg="0"/>
      <p:bldP spid="556045" grpId="0" animBg="1" autoUpdateAnimBg="0"/>
      <p:bldP spid="556046"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bwMode="auto">
          <a:xfrm>
            <a:off x="609600" y="12192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二、哈佛结构存储空间分配</a:t>
            </a:r>
            <a:r>
              <a:rPr lang="zh-CN" altLang="en-US"/>
              <a:t> </a:t>
            </a:r>
          </a:p>
        </p:txBody>
      </p:sp>
      <p:sp>
        <p:nvSpPr>
          <p:cNvPr id="6041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C5DD82C-5F6A-4274-A91C-B29C6A0D1D3D}" type="slidenum">
              <a:rPr lang="en-US" altLang="zh-CN" sz="1400" b="0"/>
              <a:pPr eaLnBrk="1" hangingPunct="1"/>
              <a:t>47</a:t>
            </a:fld>
            <a:endParaRPr lang="en-US" altLang="zh-CN" sz="1400" b="0"/>
          </a:p>
        </p:txBody>
      </p:sp>
      <p:sp>
        <p:nvSpPr>
          <p:cNvPr id="557059" name="Rectangle 3"/>
          <p:cNvSpPr>
            <a:spLocks noChangeArrowheads="1"/>
          </p:cNvSpPr>
          <p:nvPr/>
        </p:nvSpPr>
        <p:spPr bwMode="auto">
          <a:xfrm>
            <a:off x="1447800" y="2362200"/>
            <a:ext cx="5006975" cy="1489075"/>
          </a:xfrm>
          <a:prstGeom prst="rect">
            <a:avLst/>
          </a:prstGeom>
          <a:solidFill>
            <a:srgbClr val="FFFF00"/>
          </a:solidFill>
          <a:ln w="57150">
            <a:solidFill>
              <a:schemeClr val="folHlink"/>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400">
                <a:solidFill>
                  <a:srgbClr val="660066"/>
                </a:solidFill>
                <a:latin typeface="宋体" panose="02010600030101010101" pitchFamily="2" charset="-122"/>
              </a:rPr>
              <a:t>64K</a:t>
            </a:r>
            <a:r>
              <a:rPr lang="zh-CN" altLang="en-US" sz="4400">
                <a:solidFill>
                  <a:srgbClr val="660066"/>
                </a:solidFill>
                <a:latin typeface="宋体" panose="02010600030101010101" pitchFamily="2" charset="-122"/>
              </a:rPr>
              <a:t>字程序存储空间</a:t>
            </a:r>
            <a:br>
              <a:rPr lang="zh-CN" altLang="en-US" sz="4400">
                <a:solidFill>
                  <a:srgbClr val="660066"/>
                </a:solidFill>
                <a:latin typeface="Arial" panose="020B0604020202020204" pitchFamily="34" charset="0"/>
                <a:cs typeface="Arial" panose="020B0604020202020204" pitchFamily="34" charset="0"/>
              </a:rPr>
            </a:br>
            <a:r>
              <a:rPr lang="en-US" altLang="zh-CN" sz="4400">
                <a:solidFill>
                  <a:schemeClr val="folHlink"/>
                </a:solidFill>
                <a:latin typeface="宋体" panose="02010600030101010101" pitchFamily="2" charset="-122"/>
              </a:rPr>
              <a:t>64K</a:t>
            </a:r>
            <a:r>
              <a:rPr lang="zh-CN" altLang="en-US" sz="4400">
                <a:solidFill>
                  <a:schemeClr val="folHlink"/>
                </a:solidFill>
                <a:latin typeface="宋体" panose="02010600030101010101" pitchFamily="2" charset="-122"/>
              </a:rPr>
              <a:t>字数据存储空间</a:t>
            </a:r>
          </a:p>
        </p:txBody>
      </p:sp>
      <p:sp>
        <p:nvSpPr>
          <p:cNvPr id="557060" name="Rectangle 4"/>
          <p:cNvSpPr>
            <a:spLocks noChangeArrowheads="1"/>
          </p:cNvSpPr>
          <p:nvPr/>
        </p:nvSpPr>
        <p:spPr bwMode="auto">
          <a:xfrm>
            <a:off x="304800" y="2133600"/>
            <a:ext cx="838200" cy="2828925"/>
          </a:xfrm>
          <a:prstGeom prst="rect">
            <a:avLst/>
          </a:prstGeom>
          <a:solidFill>
            <a:schemeClr val="bg1"/>
          </a:solidFill>
          <a:ln w="57150">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400">
                <a:solidFill>
                  <a:srgbClr val="FF0066"/>
                </a:solidFill>
                <a:latin typeface="宋体" panose="02010600030101010101" pitchFamily="2" charset="-122"/>
              </a:rPr>
              <a:t>空</a:t>
            </a:r>
          </a:p>
          <a:p>
            <a:pPr eaLnBrk="1" hangingPunct="1"/>
            <a:r>
              <a:rPr lang="zh-CN" altLang="en-US" sz="4400">
                <a:solidFill>
                  <a:srgbClr val="FF0066"/>
                </a:solidFill>
                <a:latin typeface="宋体" panose="02010600030101010101" pitchFamily="2" charset="-122"/>
              </a:rPr>
              <a:t>间</a:t>
            </a:r>
          </a:p>
          <a:p>
            <a:pPr eaLnBrk="1" hangingPunct="1"/>
            <a:r>
              <a:rPr lang="zh-CN" altLang="en-US" sz="4400">
                <a:solidFill>
                  <a:srgbClr val="FF0066"/>
                </a:solidFill>
                <a:latin typeface="宋体" panose="02010600030101010101" pitchFamily="2" charset="-122"/>
              </a:rPr>
              <a:t>构</a:t>
            </a:r>
          </a:p>
          <a:p>
            <a:pPr eaLnBrk="1" hangingPunct="1"/>
            <a:r>
              <a:rPr lang="zh-CN" altLang="en-US" sz="4400">
                <a:solidFill>
                  <a:srgbClr val="FF0066"/>
                </a:solidFill>
                <a:latin typeface="宋体" panose="02010600030101010101" pitchFamily="2" charset="-122"/>
              </a:rPr>
              <a:t>架</a:t>
            </a:r>
          </a:p>
        </p:txBody>
      </p:sp>
      <p:sp>
        <p:nvSpPr>
          <p:cNvPr id="557061" name="AutoShape 5"/>
          <p:cNvSpPr>
            <a:spLocks/>
          </p:cNvSpPr>
          <p:nvPr/>
        </p:nvSpPr>
        <p:spPr bwMode="auto">
          <a:xfrm>
            <a:off x="6659563" y="2438400"/>
            <a:ext cx="274637" cy="1295400"/>
          </a:xfrm>
          <a:prstGeom prst="leftBrace">
            <a:avLst>
              <a:gd name="adj1" fmla="val 39306"/>
              <a:gd name="adj2" fmla="val 50000"/>
            </a:avLst>
          </a:prstGeom>
          <a:noFill/>
          <a:ln w="635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57062" name="Text Box 6"/>
          <p:cNvSpPr txBox="1">
            <a:spLocks noChangeArrowheads="1"/>
          </p:cNvSpPr>
          <p:nvPr/>
        </p:nvSpPr>
        <p:spPr bwMode="auto">
          <a:xfrm>
            <a:off x="6858000" y="2057400"/>
            <a:ext cx="1905000"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a:t>DARAM</a:t>
            </a:r>
          </a:p>
          <a:p>
            <a:pPr eaLnBrk="1" hangingPunct="1">
              <a:spcBef>
                <a:spcPct val="50000"/>
              </a:spcBef>
            </a:pPr>
            <a:r>
              <a:rPr lang="en-US" altLang="zh-CN" sz="3200"/>
              <a:t>SARAM</a:t>
            </a:r>
          </a:p>
          <a:p>
            <a:pPr eaLnBrk="1" hangingPunct="1">
              <a:spcBef>
                <a:spcPct val="50000"/>
              </a:spcBef>
            </a:pPr>
            <a:r>
              <a:rPr lang="en-US" altLang="zh-CN" sz="3200"/>
              <a:t>ROM</a:t>
            </a:r>
          </a:p>
        </p:txBody>
      </p:sp>
      <p:sp>
        <p:nvSpPr>
          <p:cNvPr id="557063" name="Rectangle 7"/>
          <p:cNvSpPr>
            <a:spLocks noChangeArrowheads="1"/>
          </p:cNvSpPr>
          <p:nvPr/>
        </p:nvSpPr>
        <p:spPr bwMode="auto">
          <a:xfrm>
            <a:off x="1447800" y="3886200"/>
            <a:ext cx="5029200" cy="819150"/>
          </a:xfrm>
          <a:prstGeom prst="rect">
            <a:avLst/>
          </a:prstGeom>
          <a:solidFill>
            <a:schemeClr val="hlink"/>
          </a:solidFill>
          <a:ln w="57150">
            <a:solidFill>
              <a:schemeClr val="tx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400">
                <a:solidFill>
                  <a:srgbClr val="CC0000"/>
                </a:solidFill>
                <a:latin typeface="宋体" panose="02010600030101010101" pitchFamily="2" charset="-122"/>
              </a:rPr>
              <a:t>64K</a:t>
            </a:r>
            <a:r>
              <a:rPr lang="zh-CN" altLang="en-US" sz="4400">
                <a:solidFill>
                  <a:srgbClr val="CC0000"/>
                </a:solidFill>
                <a:latin typeface="宋体" panose="02010600030101010101" pitchFamily="2" charset="-122"/>
              </a:rPr>
              <a:t>字的</a:t>
            </a:r>
            <a:r>
              <a:rPr lang="en-US" altLang="zh-CN" sz="4400">
                <a:solidFill>
                  <a:srgbClr val="CC0000"/>
                </a:solidFill>
                <a:latin typeface="宋体" panose="02010600030101010101" pitchFamily="2" charset="-122"/>
              </a:rPr>
              <a:t>I/O</a:t>
            </a:r>
            <a:r>
              <a:rPr lang="zh-CN" altLang="en-US" sz="4400">
                <a:solidFill>
                  <a:srgbClr val="CC0000"/>
                </a:solidFill>
                <a:latin typeface="宋体" panose="02010600030101010101" pitchFamily="2" charset="-122"/>
              </a:rPr>
              <a:t>空间</a:t>
            </a:r>
          </a:p>
        </p:txBody>
      </p:sp>
      <p:sp>
        <p:nvSpPr>
          <p:cNvPr id="557064" name="Rectangle 8"/>
          <p:cNvSpPr>
            <a:spLocks noChangeArrowheads="1"/>
          </p:cNvSpPr>
          <p:nvPr/>
        </p:nvSpPr>
        <p:spPr bwMode="auto">
          <a:xfrm>
            <a:off x="1619250" y="5084763"/>
            <a:ext cx="5184775" cy="1441450"/>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400">
                <a:latin typeface="宋体" panose="02010600030101010101" pitchFamily="2" charset="-122"/>
              </a:rPr>
              <a:t>并行性及</a:t>
            </a:r>
            <a:r>
              <a:rPr lang="en-US" altLang="zh-CN" sz="4400">
                <a:latin typeface="宋体" panose="02010600030101010101" pitchFamily="2" charset="-122"/>
              </a:rPr>
              <a:t>RAM</a:t>
            </a:r>
            <a:r>
              <a:rPr lang="zh-CN" altLang="en-US" sz="4400">
                <a:latin typeface="宋体" panose="02010600030101010101" pitchFamily="2" charset="-122"/>
              </a:rPr>
              <a:t>双寻址</a:t>
            </a:r>
          </a:p>
          <a:p>
            <a:pPr eaLnBrk="1" hangingPunct="1"/>
            <a:r>
              <a:rPr lang="zh-CN" altLang="en-US" sz="4400">
                <a:solidFill>
                  <a:srgbClr val="003300"/>
                </a:solidFill>
                <a:latin typeface="宋体" panose="02010600030101010101" pitchFamily="2" charset="-122"/>
              </a:rPr>
              <a:t>片内</a:t>
            </a:r>
            <a:r>
              <a:rPr lang="en-US" altLang="zh-CN" sz="4400">
                <a:solidFill>
                  <a:srgbClr val="003300"/>
                </a:solidFill>
                <a:latin typeface="宋体" panose="02010600030101010101" pitchFamily="2" charset="-122"/>
              </a:rPr>
              <a:t>/</a:t>
            </a:r>
            <a:r>
              <a:rPr lang="zh-CN" altLang="en-US" sz="4400">
                <a:solidFill>
                  <a:srgbClr val="003300"/>
                </a:solidFill>
                <a:latin typeface="宋体" panose="02010600030101010101" pitchFamily="2" charset="-122"/>
              </a:rPr>
              <a:t>片外存储器</a:t>
            </a:r>
            <a:endParaRPr lang="zh-CN" altLang="en-US" sz="4400">
              <a:solidFill>
                <a:srgbClr val="003300"/>
              </a:solidFill>
              <a:latin typeface="宋体" panose="02010600030101010101" pitchFamily="2" charset="-122"/>
              <a:cs typeface="Arial" panose="020B0604020202020204" pitchFamily="34" charset="0"/>
            </a:endParaRPr>
          </a:p>
        </p:txBody>
      </p:sp>
      <p:sp>
        <p:nvSpPr>
          <p:cNvPr id="557065" name="Rectangle 9"/>
          <p:cNvSpPr>
            <a:spLocks noChangeArrowheads="1"/>
          </p:cNvSpPr>
          <p:nvPr/>
        </p:nvSpPr>
        <p:spPr bwMode="auto">
          <a:xfrm>
            <a:off x="304800" y="5105400"/>
            <a:ext cx="838200" cy="14414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400">
                <a:latin typeface="宋体" panose="02010600030101010101" pitchFamily="2" charset="-122"/>
              </a:rPr>
              <a:t>特</a:t>
            </a:r>
          </a:p>
          <a:p>
            <a:pPr eaLnBrk="1" hangingPunct="1"/>
            <a:r>
              <a:rPr lang="zh-CN" altLang="en-US" sz="4400">
                <a:latin typeface="宋体" panose="02010600030101010101" pitchFamily="2" charset="-122"/>
              </a:rPr>
              <a:t>点</a:t>
            </a:r>
          </a:p>
        </p:txBody>
      </p:sp>
      <p:sp>
        <p:nvSpPr>
          <p:cNvPr id="557066" name="AutoShape 10" descr="小棋盘"/>
          <p:cNvSpPr>
            <a:spLocks noChangeArrowheads="1"/>
          </p:cNvSpPr>
          <p:nvPr/>
        </p:nvSpPr>
        <p:spPr bwMode="auto">
          <a:xfrm>
            <a:off x="6985000" y="4581525"/>
            <a:ext cx="1930400" cy="1908175"/>
          </a:xfrm>
          <a:prstGeom prst="wedgeRoundRectCallout">
            <a:avLst>
              <a:gd name="adj1" fmla="val -61431"/>
              <a:gd name="adj2" fmla="val 10648"/>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tx2"/>
                </a:solidFill>
              </a:rPr>
              <a:t>程序存储器</a:t>
            </a:r>
            <a:r>
              <a:rPr lang="en-US" altLang="zh-CN" sz="2400">
                <a:solidFill>
                  <a:schemeClr val="tx2"/>
                </a:solidFill>
              </a:rPr>
              <a:t>/</a:t>
            </a:r>
            <a:r>
              <a:rPr lang="zh-CN" altLang="en-US" sz="2400">
                <a:solidFill>
                  <a:schemeClr val="tx2"/>
                </a:solidFill>
              </a:rPr>
              <a:t>片外存储器本身不能并行</a:t>
            </a:r>
            <a:r>
              <a:rPr lang="en-US" altLang="zh-CN" sz="2400">
                <a:solidFill>
                  <a:schemeClr val="tx2"/>
                </a:solidFill>
              </a:rPr>
              <a:t>,</a:t>
            </a:r>
            <a:r>
              <a:rPr lang="zh-CN" altLang="en-US" sz="2400">
                <a:solidFill>
                  <a:schemeClr val="tx2"/>
                </a:solidFill>
              </a:rPr>
              <a:t>只能取其一</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57058"/>
                                        </p:tgtEl>
                                        <p:attrNameLst>
                                          <p:attrName>style.visibility</p:attrName>
                                        </p:attrNameLst>
                                      </p:cBhvr>
                                      <p:to>
                                        <p:strVal val="visible"/>
                                      </p:to>
                                    </p:set>
                                    <p:anim calcmode="lin" valueType="num">
                                      <p:cBhvr additive="base">
                                        <p:cTn id="7" dur="500" fill="hold"/>
                                        <p:tgtEl>
                                          <p:spTgt spid="557058"/>
                                        </p:tgtEl>
                                        <p:attrNameLst>
                                          <p:attrName>ppt_x</p:attrName>
                                        </p:attrNameLst>
                                      </p:cBhvr>
                                      <p:tavLst>
                                        <p:tav tm="0">
                                          <p:val>
                                            <p:strVal val="0-#ppt_w/2"/>
                                          </p:val>
                                        </p:tav>
                                        <p:tav tm="100000">
                                          <p:val>
                                            <p:strVal val="#ppt_x"/>
                                          </p:val>
                                        </p:tav>
                                      </p:tavLst>
                                    </p:anim>
                                    <p:anim calcmode="lin" valueType="num">
                                      <p:cBhvr additive="base">
                                        <p:cTn id="8" dur="500" fill="hold"/>
                                        <p:tgtEl>
                                          <p:spTgt spid="55705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6" presetClass="entr" presetSubtype="42" fill="hold" grpId="0" nodeType="afterEffect">
                                  <p:stCondLst>
                                    <p:cond delay="0"/>
                                  </p:stCondLst>
                                  <p:childTnLst>
                                    <p:set>
                                      <p:cBhvr>
                                        <p:cTn id="11" dur="1" fill="hold">
                                          <p:stCondLst>
                                            <p:cond delay="0"/>
                                          </p:stCondLst>
                                        </p:cTn>
                                        <p:tgtEl>
                                          <p:spTgt spid="557059"/>
                                        </p:tgtEl>
                                        <p:attrNameLst>
                                          <p:attrName>style.visibility</p:attrName>
                                        </p:attrNameLst>
                                      </p:cBhvr>
                                      <p:to>
                                        <p:strVal val="visible"/>
                                      </p:to>
                                    </p:set>
                                    <p:animEffect transition="in" filter="barn(outHorizontal)">
                                      <p:cBhvr>
                                        <p:cTn id="12" dur="500"/>
                                        <p:tgtEl>
                                          <p:spTgt spid="557059"/>
                                        </p:tgtEl>
                                      </p:cBhvr>
                                    </p:animEffect>
                                  </p:childTnLst>
                                </p:cTn>
                              </p:par>
                            </p:childTnLst>
                          </p:cTn>
                        </p:par>
                        <p:par>
                          <p:cTn id="13" fill="hold" nodeType="afterGroup">
                            <p:stCondLst>
                              <p:cond delay="1000"/>
                            </p:stCondLst>
                            <p:childTnLst>
                              <p:par>
                                <p:cTn id="14" presetID="16" presetClass="entr" presetSubtype="26" fill="hold" grpId="0" nodeType="afterEffect">
                                  <p:stCondLst>
                                    <p:cond delay="0"/>
                                  </p:stCondLst>
                                  <p:childTnLst>
                                    <p:set>
                                      <p:cBhvr>
                                        <p:cTn id="15" dur="1" fill="hold">
                                          <p:stCondLst>
                                            <p:cond delay="0"/>
                                          </p:stCondLst>
                                        </p:cTn>
                                        <p:tgtEl>
                                          <p:spTgt spid="557060"/>
                                        </p:tgtEl>
                                        <p:attrNameLst>
                                          <p:attrName>style.visibility</p:attrName>
                                        </p:attrNameLst>
                                      </p:cBhvr>
                                      <p:to>
                                        <p:strVal val="visible"/>
                                      </p:to>
                                    </p:set>
                                    <p:animEffect transition="in" filter="barn(inHorizontal)">
                                      <p:cBhvr>
                                        <p:cTn id="16" dur="500"/>
                                        <p:tgtEl>
                                          <p:spTgt spid="557060"/>
                                        </p:tgtEl>
                                      </p:cBhvr>
                                    </p:animEffect>
                                  </p:childTnLst>
                                </p:cTn>
                              </p:par>
                            </p:childTnLst>
                          </p:cTn>
                        </p:par>
                        <p:par>
                          <p:cTn id="17" fill="hold" nodeType="afterGroup">
                            <p:stCondLst>
                              <p:cond delay="1500"/>
                            </p:stCondLst>
                            <p:childTnLst>
                              <p:par>
                                <p:cTn id="18" presetID="9" presetClass="entr" presetSubtype="0" fill="hold" grpId="0" nodeType="afterEffect">
                                  <p:stCondLst>
                                    <p:cond delay="0"/>
                                  </p:stCondLst>
                                  <p:childTnLst>
                                    <p:set>
                                      <p:cBhvr>
                                        <p:cTn id="19" dur="1" fill="hold">
                                          <p:stCondLst>
                                            <p:cond delay="0"/>
                                          </p:stCondLst>
                                        </p:cTn>
                                        <p:tgtEl>
                                          <p:spTgt spid="557065"/>
                                        </p:tgtEl>
                                        <p:attrNameLst>
                                          <p:attrName>style.visibility</p:attrName>
                                        </p:attrNameLst>
                                      </p:cBhvr>
                                      <p:to>
                                        <p:strVal val="visible"/>
                                      </p:to>
                                    </p:set>
                                    <p:animEffect transition="in" filter="dissolve">
                                      <p:cBhvr>
                                        <p:cTn id="20" dur="500"/>
                                        <p:tgtEl>
                                          <p:spTgt spid="557065"/>
                                        </p:tgtEl>
                                      </p:cBhvr>
                                    </p:animEffect>
                                  </p:childTnLst>
                                </p:cTn>
                              </p:par>
                            </p:childTnLst>
                          </p:cTn>
                        </p:par>
                        <p:par>
                          <p:cTn id="21" fill="hold" nodeType="afterGroup">
                            <p:stCondLst>
                              <p:cond delay="2000"/>
                            </p:stCondLst>
                            <p:childTnLst>
                              <p:par>
                                <p:cTn id="22" presetID="2" presetClass="entr" presetSubtype="2" fill="hold" grpId="0" nodeType="afterEffect">
                                  <p:stCondLst>
                                    <p:cond delay="0"/>
                                  </p:stCondLst>
                                  <p:childTnLst>
                                    <p:set>
                                      <p:cBhvr>
                                        <p:cTn id="23" dur="1" fill="hold">
                                          <p:stCondLst>
                                            <p:cond delay="0"/>
                                          </p:stCondLst>
                                        </p:cTn>
                                        <p:tgtEl>
                                          <p:spTgt spid="557066"/>
                                        </p:tgtEl>
                                        <p:attrNameLst>
                                          <p:attrName>style.visibility</p:attrName>
                                        </p:attrNameLst>
                                      </p:cBhvr>
                                      <p:to>
                                        <p:strVal val="visible"/>
                                      </p:to>
                                    </p:set>
                                    <p:anim calcmode="lin" valueType="num">
                                      <p:cBhvr additive="base">
                                        <p:cTn id="24" dur="500" fill="hold"/>
                                        <p:tgtEl>
                                          <p:spTgt spid="557066"/>
                                        </p:tgtEl>
                                        <p:attrNameLst>
                                          <p:attrName>ppt_x</p:attrName>
                                        </p:attrNameLst>
                                      </p:cBhvr>
                                      <p:tavLst>
                                        <p:tav tm="0">
                                          <p:val>
                                            <p:strVal val="1+#ppt_w/2"/>
                                          </p:val>
                                        </p:tav>
                                        <p:tav tm="100000">
                                          <p:val>
                                            <p:strVal val="#ppt_x"/>
                                          </p:val>
                                        </p:tav>
                                      </p:tavLst>
                                    </p:anim>
                                    <p:anim calcmode="lin" valueType="num">
                                      <p:cBhvr additive="base">
                                        <p:cTn id="25" dur="500" fill="hold"/>
                                        <p:tgtEl>
                                          <p:spTgt spid="557066"/>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2500"/>
                            </p:stCondLst>
                            <p:childTnLst>
                              <p:par>
                                <p:cTn id="27" presetID="2" presetClass="entr" presetSubtype="8" fill="hold" grpId="0" nodeType="afterEffect">
                                  <p:stCondLst>
                                    <p:cond delay="0"/>
                                  </p:stCondLst>
                                  <p:childTnLst>
                                    <p:set>
                                      <p:cBhvr>
                                        <p:cTn id="28" dur="1" fill="hold">
                                          <p:stCondLst>
                                            <p:cond delay="0"/>
                                          </p:stCondLst>
                                        </p:cTn>
                                        <p:tgtEl>
                                          <p:spTgt spid="557061"/>
                                        </p:tgtEl>
                                        <p:attrNameLst>
                                          <p:attrName>style.visibility</p:attrName>
                                        </p:attrNameLst>
                                      </p:cBhvr>
                                      <p:to>
                                        <p:strVal val="visible"/>
                                      </p:to>
                                    </p:set>
                                    <p:anim calcmode="lin" valueType="num">
                                      <p:cBhvr additive="base">
                                        <p:cTn id="29" dur="500" fill="hold"/>
                                        <p:tgtEl>
                                          <p:spTgt spid="557061"/>
                                        </p:tgtEl>
                                        <p:attrNameLst>
                                          <p:attrName>ppt_x</p:attrName>
                                        </p:attrNameLst>
                                      </p:cBhvr>
                                      <p:tavLst>
                                        <p:tav tm="0">
                                          <p:val>
                                            <p:strVal val="0-#ppt_w/2"/>
                                          </p:val>
                                        </p:tav>
                                        <p:tav tm="100000">
                                          <p:val>
                                            <p:strVal val="#ppt_x"/>
                                          </p:val>
                                        </p:tav>
                                      </p:tavLst>
                                    </p:anim>
                                    <p:anim calcmode="lin" valueType="num">
                                      <p:cBhvr additive="base">
                                        <p:cTn id="30" dur="500" fill="hold"/>
                                        <p:tgtEl>
                                          <p:spTgt spid="557061"/>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3000"/>
                            </p:stCondLst>
                            <p:childTnLst>
                              <p:par>
                                <p:cTn id="32" presetID="2" presetClass="entr" presetSubtype="2" fill="hold" grpId="0" nodeType="afterEffect">
                                  <p:stCondLst>
                                    <p:cond delay="0"/>
                                  </p:stCondLst>
                                  <p:childTnLst>
                                    <p:set>
                                      <p:cBhvr>
                                        <p:cTn id="33" dur="1" fill="hold">
                                          <p:stCondLst>
                                            <p:cond delay="0"/>
                                          </p:stCondLst>
                                        </p:cTn>
                                        <p:tgtEl>
                                          <p:spTgt spid="557062"/>
                                        </p:tgtEl>
                                        <p:attrNameLst>
                                          <p:attrName>style.visibility</p:attrName>
                                        </p:attrNameLst>
                                      </p:cBhvr>
                                      <p:to>
                                        <p:strVal val="visible"/>
                                      </p:to>
                                    </p:set>
                                    <p:anim calcmode="lin" valueType="num">
                                      <p:cBhvr additive="base">
                                        <p:cTn id="34" dur="500" fill="hold"/>
                                        <p:tgtEl>
                                          <p:spTgt spid="557062"/>
                                        </p:tgtEl>
                                        <p:attrNameLst>
                                          <p:attrName>ppt_x</p:attrName>
                                        </p:attrNameLst>
                                      </p:cBhvr>
                                      <p:tavLst>
                                        <p:tav tm="0">
                                          <p:val>
                                            <p:strVal val="1+#ppt_w/2"/>
                                          </p:val>
                                        </p:tav>
                                        <p:tav tm="100000">
                                          <p:val>
                                            <p:strVal val="#ppt_x"/>
                                          </p:val>
                                        </p:tav>
                                      </p:tavLst>
                                    </p:anim>
                                    <p:anim calcmode="lin" valueType="num">
                                      <p:cBhvr additive="base">
                                        <p:cTn id="35" dur="500" fill="hold"/>
                                        <p:tgtEl>
                                          <p:spTgt spid="557062"/>
                                        </p:tgtEl>
                                        <p:attrNameLst>
                                          <p:attrName>ppt_y</p:attrName>
                                        </p:attrNameLst>
                                      </p:cBhvr>
                                      <p:tavLst>
                                        <p:tav tm="0">
                                          <p:val>
                                            <p:strVal val="#ppt_y"/>
                                          </p:val>
                                        </p:tav>
                                        <p:tav tm="100000">
                                          <p:val>
                                            <p:strVal val="#ppt_y"/>
                                          </p:val>
                                        </p:tav>
                                      </p:tavLst>
                                    </p:anim>
                                  </p:childTnLst>
                                </p:cTn>
                              </p:par>
                            </p:childTnLst>
                          </p:cTn>
                        </p:par>
                        <p:par>
                          <p:cTn id="36" fill="hold" nodeType="afterGroup">
                            <p:stCondLst>
                              <p:cond delay="3500"/>
                            </p:stCondLst>
                            <p:childTnLst>
                              <p:par>
                                <p:cTn id="37" presetID="2" presetClass="entr" presetSubtype="4" fill="hold" grpId="0" nodeType="afterEffect">
                                  <p:stCondLst>
                                    <p:cond delay="0"/>
                                  </p:stCondLst>
                                  <p:childTnLst>
                                    <p:set>
                                      <p:cBhvr>
                                        <p:cTn id="38" dur="1" fill="hold">
                                          <p:stCondLst>
                                            <p:cond delay="0"/>
                                          </p:stCondLst>
                                        </p:cTn>
                                        <p:tgtEl>
                                          <p:spTgt spid="557063"/>
                                        </p:tgtEl>
                                        <p:attrNameLst>
                                          <p:attrName>style.visibility</p:attrName>
                                        </p:attrNameLst>
                                      </p:cBhvr>
                                      <p:to>
                                        <p:strVal val="visible"/>
                                      </p:to>
                                    </p:set>
                                    <p:anim calcmode="lin" valueType="num">
                                      <p:cBhvr additive="base">
                                        <p:cTn id="39" dur="500" fill="hold"/>
                                        <p:tgtEl>
                                          <p:spTgt spid="557063"/>
                                        </p:tgtEl>
                                        <p:attrNameLst>
                                          <p:attrName>ppt_x</p:attrName>
                                        </p:attrNameLst>
                                      </p:cBhvr>
                                      <p:tavLst>
                                        <p:tav tm="0">
                                          <p:val>
                                            <p:strVal val="#ppt_x"/>
                                          </p:val>
                                        </p:tav>
                                        <p:tav tm="100000">
                                          <p:val>
                                            <p:strVal val="#ppt_x"/>
                                          </p:val>
                                        </p:tav>
                                      </p:tavLst>
                                    </p:anim>
                                    <p:anim calcmode="lin" valueType="num">
                                      <p:cBhvr additive="base">
                                        <p:cTn id="40" dur="500" fill="hold"/>
                                        <p:tgtEl>
                                          <p:spTgt spid="557063"/>
                                        </p:tgtEl>
                                        <p:attrNameLst>
                                          <p:attrName>ppt_y</p:attrName>
                                        </p:attrNameLst>
                                      </p:cBhvr>
                                      <p:tavLst>
                                        <p:tav tm="0">
                                          <p:val>
                                            <p:strVal val="1+#ppt_h/2"/>
                                          </p:val>
                                        </p:tav>
                                        <p:tav tm="100000">
                                          <p:val>
                                            <p:strVal val="#ppt_y"/>
                                          </p:val>
                                        </p:tav>
                                      </p:tavLst>
                                    </p:anim>
                                  </p:childTnLst>
                                </p:cTn>
                              </p:par>
                            </p:childTnLst>
                          </p:cTn>
                        </p:par>
                        <p:par>
                          <p:cTn id="41" fill="hold" nodeType="afterGroup">
                            <p:stCondLst>
                              <p:cond delay="4000"/>
                            </p:stCondLst>
                            <p:childTnLst>
                              <p:par>
                                <p:cTn id="42" presetID="12" presetClass="entr" presetSubtype="4" fill="hold" grpId="0" nodeType="afterEffect">
                                  <p:stCondLst>
                                    <p:cond delay="0"/>
                                  </p:stCondLst>
                                  <p:childTnLst>
                                    <p:set>
                                      <p:cBhvr>
                                        <p:cTn id="43" dur="1" fill="hold">
                                          <p:stCondLst>
                                            <p:cond delay="0"/>
                                          </p:stCondLst>
                                        </p:cTn>
                                        <p:tgtEl>
                                          <p:spTgt spid="557064"/>
                                        </p:tgtEl>
                                        <p:attrNameLst>
                                          <p:attrName>style.visibility</p:attrName>
                                        </p:attrNameLst>
                                      </p:cBhvr>
                                      <p:to>
                                        <p:strVal val="visible"/>
                                      </p:to>
                                    </p:set>
                                    <p:animEffect transition="in" filter="slide(fromBottom)">
                                      <p:cBhvr>
                                        <p:cTn id="44" dur="500"/>
                                        <p:tgtEl>
                                          <p:spTgt spid="557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8" grpId="0" autoUpdateAnimBg="0"/>
      <p:bldP spid="557059" grpId="0" animBg="1" autoUpdateAnimBg="0"/>
      <p:bldP spid="557060" grpId="0" animBg="1" autoUpdateAnimBg="0"/>
      <p:bldP spid="557061" grpId="0" animBg="1"/>
      <p:bldP spid="557062" grpId="0" autoUpdateAnimBg="0"/>
      <p:bldP spid="557063" grpId="0" animBg="1" autoUpdateAnimBg="0"/>
      <p:bldP spid="557064" grpId="0" animBg="1" autoUpdateAnimBg="0"/>
      <p:bldP spid="557065" grpId="0" animBg="1" autoUpdateAnimBg="0"/>
      <p:bldP spid="557066"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14EA1AC-2A19-43FE-B43E-F990CEF541EF}" type="slidenum">
              <a:rPr lang="en-US" altLang="zh-CN" sz="1400" b="0"/>
              <a:pPr eaLnBrk="1" hangingPunct="1"/>
              <a:t>48</a:t>
            </a:fld>
            <a:endParaRPr lang="en-US" altLang="zh-CN" sz="1400" b="0"/>
          </a:p>
        </p:txBody>
      </p:sp>
      <p:graphicFrame>
        <p:nvGraphicFramePr>
          <p:cNvPr id="558341" name="Group 261"/>
          <p:cNvGraphicFramePr>
            <a:graphicFrameLocks noGrp="1"/>
          </p:cNvGraphicFramePr>
          <p:nvPr/>
        </p:nvGraphicFramePr>
        <p:xfrm>
          <a:off x="323850" y="2133600"/>
          <a:ext cx="8496300" cy="2828926"/>
        </p:xfrm>
        <a:graphic>
          <a:graphicData uri="http://schemas.openxmlformats.org/drawingml/2006/table">
            <a:tbl>
              <a:tblPr/>
              <a:tblGrid>
                <a:gridCol w="2160588">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gridCol w="936625">
                  <a:extLst>
                    <a:ext uri="{9D8B030D-6E8A-4147-A177-3AD203B41FA5}">
                      <a16:colId xmlns:a16="http://schemas.microsoft.com/office/drawing/2014/main" val="20005"/>
                    </a:ext>
                  </a:extLst>
                </a:gridCol>
                <a:gridCol w="936625">
                  <a:extLst>
                    <a:ext uri="{9D8B030D-6E8A-4147-A177-3AD203B41FA5}">
                      <a16:colId xmlns:a16="http://schemas.microsoft.com/office/drawing/2014/main" val="20006"/>
                    </a:ext>
                  </a:extLst>
                </a:gridCol>
                <a:gridCol w="935037">
                  <a:extLst>
                    <a:ext uri="{9D8B030D-6E8A-4147-A177-3AD203B41FA5}">
                      <a16:colId xmlns:a16="http://schemas.microsoft.com/office/drawing/2014/main" val="20007"/>
                    </a:ext>
                  </a:extLst>
                </a:gridCol>
              </a:tblGrid>
              <a:tr h="5032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存储器型式</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C548</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C549</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338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ROM</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28k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16k</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37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程序</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16k</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688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程序</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DARAM</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8k</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13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SARAM</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24k</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spd="med">
    <p:pull dir="lu"/>
  </p:transition>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bwMode="auto">
          <a:xfrm>
            <a:off x="304800" y="1143000"/>
            <a:ext cx="80010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latin typeface="宋体" panose="02010600030101010101" pitchFamily="2" charset="-122"/>
              </a:rPr>
              <a:t>1</a:t>
            </a:r>
            <a:r>
              <a:rPr lang="zh-CN" altLang="en-US" b="1">
                <a:solidFill>
                  <a:srgbClr val="FF0000"/>
                </a:solidFill>
                <a:latin typeface="宋体" panose="02010600030101010101" pitchFamily="2" charset="-122"/>
              </a:rPr>
              <a:t>．存储器空间的划分与交叉</a:t>
            </a:r>
            <a:r>
              <a:rPr lang="zh-CN" altLang="en-US"/>
              <a:t> </a:t>
            </a:r>
          </a:p>
        </p:txBody>
      </p:sp>
      <p:sp>
        <p:nvSpPr>
          <p:cNvPr id="6246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F1C22EB-3C53-4F44-A7B6-01B57E7CD026}" type="slidenum">
              <a:rPr lang="en-US" altLang="zh-CN" sz="1400" b="0"/>
              <a:pPr eaLnBrk="1" hangingPunct="1"/>
              <a:t>49</a:t>
            </a:fld>
            <a:endParaRPr lang="en-US" altLang="zh-CN" sz="1400" b="0"/>
          </a:p>
        </p:txBody>
      </p:sp>
      <p:sp>
        <p:nvSpPr>
          <p:cNvPr id="559107" name="Rectangle 3" descr="小棋盘"/>
          <p:cNvSpPr>
            <a:spLocks noChangeArrowheads="1"/>
          </p:cNvSpPr>
          <p:nvPr/>
        </p:nvSpPr>
        <p:spPr bwMode="auto">
          <a:xfrm>
            <a:off x="609600" y="2133600"/>
            <a:ext cx="2479675" cy="1200150"/>
          </a:xfrm>
          <a:prstGeom prst="rect">
            <a:avLst/>
          </a:prstGeom>
          <a:pattFill prst="smCheck">
            <a:fgClr>
              <a:schemeClr val="accent1"/>
            </a:fgClr>
            <a:bgClr>
              <a:srgbClr val="FFFFFF"/>
            </a:bgClr>
          </a:pattFill>
          <a:ln w="9525">
            <a:solidFill>
              <a:srgbClr val="FF00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FF"/>
                </a:solidFill>
              </a:rPr>
              <a:t>片内存储器</a:t>
            </a:r>
          </a:p>
          <a:p>
            <a:pPr algn="ctr" eaLnBrk="1" hangingPunct="1"/>
            <a:r>
              <a:rPr lang="zh-CN" altLang="en-US" sz="3600">
                <a:solidFill>
                  <a:srgbClr val="FF00FF"/>
                </a:solidFill>
              </a:rPr>
              <a:t>类型</a:t>
            </a:r>
          </a:p>
        </p:txBody>
      </p:sp>
      <p:sp>
        <p:nvSpPr>
          <p:cNvPr id="559108" name="Rectangle 4" descr="小棋盘"/>
          <p:cNvSpPr>
            <a:spLocks noChangeArrowheads="1"/>
          </p:cNvSpPr>
          <p:nvPr/>
        </p:nvSpPr>
        <p:spPr bwMode="auto">
          <a:xfrm>
            <a:off x="365125" y="4291013"/>
            <a:ext cx="1614488" cy="1582737"/>
          </a:xfrm>
          <a:prstGeom prst="rect">
            <a:avLst/>
          </a:prstGeom>
          <a:pattFill prst="smCheck">
            <a:fgClr>
              <a:schemeClr val="accent1"/>
            </a:fgClr>
            <a:bgClr>
              <a:schemeClr val="bg1"/>
            </a:bgClr>
          </a:pattFill>
          <a:ln w="28575">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solidFill>
                  <a:schemeClr val="tx2"/>
                </a:solidFill>
              </a:rPr>
              <a:t>空间</a:t>
            </a:r>
          </a:p>
          <a:p>
            <a:pPr algn="ctr" eaLnBrk="1" hangingPunct="1"/>
            <a:r>
              <a:rPr lang="zh-CN" altLang="en-US" sz="3200">
                <a:solidFill>
                  <a:schemeClr val="tx2"/>
                </a:solidFill>
              </a:rPr>
              <a:t>交叉</a:t>
            </a:r>
          </a:p>
          <a:p>
            <a:pPr algn="ctr" eaLnBrk="1" hangingPunct="1"/>
            <a:r>
              <a:rPr lang="zh-CN" altLang="en-US" sz="3200">
                <a:solidFill>
                  <a:schemeClr val="tx2"/>
                </a:solidFill>
              </a:rPr>
              <a:t>的条件</a:t>
            </a:r>
          </a:p>
        </p:txBody>
      </p:sp>
      <p:sp>
        <p:nvSpPr>
          <p:cNvPr id="559109" name="Rectangle 5"/>
          <p:cNvSpPr>
            <a:spLocks noChangeArrowheads="1"/>
          </p:cNvSpPr>
          <p:nvPr/>
        </p:nvSpPr>
        <p:spPr bwMode="auto">
          <a:xfrm>
            <a:off x="2133600" y="4267200"/>
            <a:ext cx="1725613" cy="1563688"/>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latin typeface="宋体" panose="02010600030101010101" pitchFamily="2" charset="-122"/>
              </a:rPr>
              <a:t>MP/MC</a:t>
            </a:r>
            <a:r>
              <a:rPr lang="zh-CN" altLang="en-US" sz="3200">
                <a:latin typeface="宋体" panose="02010600030101010101" pitchFamily="2" charset="-122"/>
              </a:rPr>
              <a:t>位</a:t>
            </a:r>
            <a:r>
              <a:rPr lang="en-US" altLang="zh-CN" sz="3200">
                <a:latin typeface="宋体" panose="02010600030101010101" pitchFamily="2" charset="-122"/>
              </a:rPr>
              <a:t>OVLY</a:t>
            </a:r>
            <a:r>
              <a:rPr lang="zh-CN" altLang="en-US" sz="3200">
                <a:latin typeface="宋体" panose="02010600030101010101" pitchFamily="2" charset="-122"/>
              </a:rPr>
              <a:t>位</a:t>
            </a:r>
          </a:p>
          <a:p>
            <a:pPr eaLnBrk="1" hangingPunct="1"/>
            <a:r>
              <a:rPr lang="en-US" altLang="zh-CN" sz="3200">
                <a:latin typeface="宋体" panose="02010600030101010101" pitchFamily="2" charset="-122"/>
              </a:rPr>
              <a:t>DROM</a:t>
            </a:r>
            <a:r>
              <a:rPr lang="zh-CN" altLang="en-US" sz="3200">
                <a:latin typeface="宋体" panose="02010600030101010101" pitchFamily="2" charset="-122"/>
              </a:rPr>
              <a:t>位</a:t>
            </a:r>
          </a:p>
        </p:txBody>
      </p:sp>
      <p:sp>
        <p:nvSpPr>
          <p:cNvPr id="559110" name="Rectangle 6"/>
          <p:cNvSpPr>
            <a:spLocks noChangeArrowheads="1"/>
          </p:cNvSpPr>
          <p:nvPr/>
        </p:nvSpPr>
        <p:spPr bwMode="auto">
          <a:xfrm>
            <a:off x="4343400" y="4267200"/>
            <a:ext cx="12366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00FF"/>
                </a:solidFill>
                <a:latin typeface="宋体" panose="02010600030101010101" pitchFamily="2" charset="-122"/>
              </a:rPr>
              <a:t>使能</a:t>
            </a:r>
          </a:p>
        </p:txBody>
      </p:sp>
      <p:sp>
        <p:nvSpPr>
          <p:cNvPr id="559111" name="Rectangle 7"/>
          <p:cNvSpPr>
            <a:spLocks noChangeArrowheads="1"/>
          </p:cNvSpPr>
          <p:nvPr/>
        </p:nvSpPr>
        <p:spPr bwMode="auto">
          <a:xfrm>
            <a:off x="4343400" y="5029200"/>
            <a:ext cx="109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00FF"/>
                </a:solidFill>
                <a:latin typeface="宋体" panose="02010600030101010101" pitchFamily="2" charset="-122"/>
              </a:rPr>
              <a:t>禁止</a:t>
            </a:r>
          </a:p>
        </p:txBody>
      </p:sp>
      <p:sp>
        <p:nvSpPr>
          <p:cNvPr id="559112" name="Line 8"/>
          <p:cNvSpPr>
            <a:spLocks noChangeShapeType="1"/>
          </p:cNvSpPr>
          <p:nvPr/>
        </p:nvSpPr>
        <p:spPr bwMode="auto">
          <a:xfrm>
            <a:off x="3962400" y="4953000"/>
            <a:ext cx="1600200" cy="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2" name="Group 9"/>
          <p:cNvGrpSpPr>
            <a:grpSpLocks/>
          </p:cNvGrpSpPr>
          <p:nvPr/>
        </p:nvGrpSpPr>
        <p:grpSpPr bwMode="auto">
          <a:xfrm>
            <a:off x="5715000" y="4038600"/>
            <a:ext cx="3178175" cy="2235200"/>
            <a:chOff x="3600" y="2544"/>
            <a:chExt cx="1920" cy="1408"/>
          </a:xfrm>
        </p:grpSpPr>
        <p:sp>
          <p:nvSpPr>
            <p:cNvPr id="62480" name="Rectangle 10"/>
            <p:cNvSpPr>
              <a:spLocks noChangeArrowheads="1"/>
            </p:cNvSpPr>
            <p:nvPr/>
          </p:nvSpPr>
          <p:spPr bwMode="auto">
            <a:xfrm>
              <a:off x="4224" y="2784"/>
              <a:ext cx="566"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9900"/>
                  </a:solidFill>
                  <a:latin typeface="宋体" panose="02010600030101010101" pitchFamily="2" charset="-122"/>
                </a:rPr>
                <a:t>程序</a:t>
              </a:r>
            </a:p>
            <a:p>
              <a:pPr eaLnBrk="1" hangingPunct="1"/>
              <a:r>
                <a:rPr lang="zh-CN" altLang="en-US" sz="2800">
                  <a:solidFill>
                    <a:srgbClr val="FF00FF"/>
                  </a:solidFill>
                  <a:latin typeface="宋体" panose="02010600030101010101" pitchFamily="2" charset="-122"/>
                </a:rPr>
                <a:t>数据</a:t>
              </a:r>
            </a:p>
          </p:txBody>
        </p:sp>
        <p:sp>
          <p:nvSpPr>
            <p:cNvPr id="62481" name="Rectangle 11"/>
            <p:cNvSpPr>
              <a:spLocks noChangeArrowheads="1"/>
            </p:cNvSpPr>
            <p:nvPr/>
          </p:nvSpPr>
          <p:spPr bwMode="auto">
            <a:xfrm>
              <a:off x="3696" y="3312"/>
              <a:ext cx="16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0099FF"/>
                  </a:solidFill>
                  <a:latin typeface="宋体" panose="02010600030101010101" pitchFamily="2" charset="-122"/>
                </a:rPr>
                <a:t>片内存储器空间</a:t>
              </a:r>
            </a:p>
          </p:txBody>
        </p:sp>
        <p:sp>
          <p:nvSpPr>
            <p:cNvPr id="62482" name="Text Box 12"/>
            <p:cNvSpPr txBox="1">
              <a:spLocks noChangeArrowheads="1"/>
            </p:cNvSpPr>
            <p:nvPr/>
          </p:nvSpPr>
          <p:spPr bwMode="auto">
            <a:xfrm>
              <a:off x="3600" y="2544"/>
              <a:ext cx="1920" cy="140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b="0"/>
            </a:p>
            <a:p>
              <a:pPr eaLnBrk="1" hangingPunct="1">
                <a:spcBef>
                  <a:spcPct val="50000"/>
                </a:spcBef>
              </a:pPr>
              <a:endParaRPr lang="en-US" altLang="zh-CN" b="0"/>
            </a:p>
            <a:p>
              <a:pPr eaLnBrk="1" hangingPunct="1">
                <a:spcBef>
                  <a:spcPct val="50000"/>
                </a:spcBef>
              </a:pPr>
              <a:endParaRPr lang="en-US" altLang="zh-CN" b="0"/>
            </a:p>
            <a:p>
              <a:pPr eaLnBrk="1" hangingPunct="1">
                <a:spcBef>
                  <a:spcPct val="50000"/>
                </a:spcBef>
              </a:pPr>
              <a:endParaRPr lang="en-US" altLang="zh-CN" b="0"/>
            </a:p>
            <a:p>
              <a:pPr eaLnBrk="1" hangingPunct="1">
                <a:spcBef>
                  <a:spcPct val="50000"/>
                </a:spcBef>
              </a:pPr>
              <a:endParaRPr lang="en-US" altLang="zh-CN" b="0"/>
            </a:p>
          </p:txBody>
        </p:sp>
      </p:grpSp>
      <p:sp>
        <p:nvSpPr>
          <p:cNvPr id="559117" name="AutoShape 13"/>
          <p:cNvSpPr>
            <a:spLocks noChangeArrowheads="1"/>
          </p:cNvSpPr>
          <p:nvPr/>
        </p:nvSpPr>
        <p:spPr bwMode="auto">
          <a:xfrm>
            <a:off x="3657600" y="2514600"/>
            <a:ext cx="1905000" cy="533400"/>
          </a:xfrm>
          <a:prstGeom prst="notchedRightArrow">
            <a:avLst>
              <a:gd name="adj1" fmla="val 50000"/>
              <a:gd name="adj2" fmla="val 89286"/>
            </a:avLst>
          </a:prstGeom>
          <a:solidFill>
            <a:srgbClr val="FF6600"/>
          </a:solidFill>
          <a:ln w="9525">
            <a:solidFill>
              <a:schemeClr val="bg2"/>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59118" name="Rectangle 14"/>
          <p:cNvSpPr>
            <a:spLocks noChangeArrowheads="1"/>
          </p:cNvSpPr>
          <p:nvPr/>
        </p:nvSpPr>
        <p:spPr bwMode="auto">
          <a:xfrm>
            <a:off x="5943600" y="1828800"/>
            <a:ext cx="2362200" cy="205263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3200">
                <a:solidFill>
                  <a:srgbClr val="008000"/>
                </a:solidFill>
              </a:rPr>
              <a:t>DARAM</a:t>
            </a:r>
          </a:p>
          <a:p>
            <a:pPr eaLnBrk="1" hangingPunct="1">
              <a:spcBef>
                <a:spcPct val="50000"/>
              </a:spcBef>
              <a:buFontTx/>
              <a:buChar char="•"/>
            </a:pPr>
            <a:r>
              <a:rPr lang="en-US" altLang="zh-CN" sz="3200">
                <a:solidFill>
                  <a:srgbClr val="008000"/>
                </a:solidFill>
              </a:rPr>
              <a:t>SARAM</a:t>
            </a:r>
          </a:p>
          <a:p>
            <a:pPr eaLnBrk="1" hangingPunct="1">
              <a:spcBef>
                <a:spcPct val="50000"/>
              </a:spcBef>
              <a:buFontTx/>
              <a:buChar char="•"/>
            </a:pPr>
            <a:r>
              <a:rPr lang="en-US" altLang="zh-CN" sz="3200">
                <a:solidFill>
                  <a:srgbClr val="008000"/>
                </a:solidFill>
              </a:rPr>
              <a:t>ROM</a:t>
            </a:r>
          </a:p>
        </p:txBody>
      </p:sp>
      <p:sp>
        <p:nvSpPr>
          <p:cNvPr id="62477" name="Line 15"/>
          <p:cNvSpPr>
            <a:spLocks noChangeShapeType="1"/>
          </p:cNvSpPr>
          <p:nvPr/>
        </p:nvSpPr>
        <p:spPr bwMode="auto">
          <a:xfrm>
            <a:off x="2895600" y="4419600"/>
            <a:ext cx="304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8" name="Rectangle 16"/>
          <p:cNvSpPr>
            <a:spLocks noChangeArrowheads="1"/>
          </p:cNvSpPr>
          <p:nvPr/>
        </p:nvSpPr>
        <p:spPr bwMode="auto">
          <a:xfrm>
            <a:off x="2286000" y="6096000"/>
            <a:ext cx="1322388" cy="58896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FF0000"/>
                </a:solidFill>
              </a:rPr>
              <a:t>PMST</a:t>
            </a:r>
          </a:p>
        </p:txBody>
      </p:sp>
      <p:sp>
        <p:nvSpPr>
          <p:cNvPr id="62479" name="Line 17"/>
          <p:cNvSpPr>
            <a:spLocks noChangeShapeType="1"/>
          </p:cNvSpPr>
          <p:nvPr/>
        </p:nvSpPr>
        <p:spPr bwMode="auto">
          <a:xfrm flipV="1">
            <a:off x="2895600" y="5867400"/>
            <a:ext cx="0" cy="228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59106"/>
                                        </p:tgtEl>
                                        <p:attrNameLst>
                                          <p:attrName>style.visibility</p:attrName>
                                        </p:attrNameLst>
                                      </p:cBhvr>
                                      <p:to>
                                        <p:strVal val="visible"/>
                                      </p:to>
                                    </p:set>
                                    <p:anim calcmode="lin" valueType="num">
                                      <p:cBhvr additive="base">
                                        <p:cTn id="7" dur="500" fill="hold"/>
                                        <p:tgtEl>
                                          <p:spTgt spid="559106"/>
                                        </p:tgtEl>
                                        <p:attrNameLst>
                                          <p:attrName>ppt_x</p:attrName>
                                        </p:attrNameLst>
                                      </p:cBhvr>
                                      <p:tavLst>
                                        <p:tav tm="0">
                                          <p:val>
                                            <p:strVal val="0-#ppt_w/2"/>
                                          </p:val>
                                        </p:tav>
                                        <p:tav tm="100000">
                                          <p:val>
                                            <p:strVal val="#ppt_x"/>
                                          </p:val>
                                        </p:tav>
                                      </p:tavLst>
                                    </p:anim>
                                    <p:anim calcmode="lin" valueType="num">
                                      <p:cBhvr additive="base">
                                        <p:cTn id="8" dur="500" fill="hold"/>
                                        <p:tgtEl>
                                          <p:spTgt spid="55910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59107"/>
                                        </p:tgtEl>
                                        <p:attrNameLst>
                                          <p:attrName>style.visibility</p:attrName>
                                        </p:attrNameLst>
                                      </p:cBhvr>
                                      <p:to>
                                        <p:strVal val="visible"/>
                                      </p:to>
                                    </p:set>
                                    <p:anim calcmode="lin" valueType="num">
                                      <p:cBhvr additive="base">
                                        <p:cTn id="12" dur="500" fill="hold"/>
                                        <p:tgtEl>
                                          <p:spTgt spid="559107"/>
                                        </p:tgtEl>
                                        <p:attrNameLst>
                                          <p:attrName>ppt_x</p:attrName>
                                        </p:attrNameLst>
                                      </p:cBhvr>
                                      <p:tavLst>
                                        <p:tav tm="0">
                                          <p:val>
                                            <p:strVal val="0-#ppt_w/2"/>
                                          </p:val>
                                        </p:tav>
                                        <p:tav tm="100000">
                                          <p:val>
                                            <p:strVal val="#ppt_x"/>
                                          </p:val>
                                        </p:tav>
                                      </p:tavLst>
                                    </p:anim>
                                    <p:anim calcmode="lin" valueType="num">
                                      <p:cBhvr additive="base">
                                        <p:cTn id="13" dur="500" fill="hold"/>
                                        <p:tgtEl>
                                          <p:spTgt spid="559107"/>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559117"/>
                                        </p:tgtEl>
                                        <p:attrNameLst>
                                          <p:attrName>style.visibility</p:attrName>
                                        </p:attrNameLst>
                                      </p:cBhvr>
                                      <p:to>
                                        <p:strVal val="visible"/>
                                      </p:to>
                                    </p:set>
                                    <p:animEffect transition="in" filter="slide(fromLeft)">
                                      <p:cBhvr>
                                        <p:cTn id="17" dur="500"/>
                                        <p:tgtEl>
                                          <p:spTgt spid="559117"/>
                                        </p:tgtEl>
                                      </p:cBhvr>
                                    </p:animEffect>
                                  </p:childTnLst>
                                </p:cTn>
                              </p:par>
                            </p:childTnLst>
                          </p:cTn>
                        </p:par>
                        <p:par>
                          <p:cTn id="18" fill="hold" nodeType="afterGroup">
                            <p:stCondLst>
                              <p:cond delay="1500"/>
                            </p:stCondLst>
                            <p:childTnLst>
                              <p:par>
                                <p:cTn id="19" presetID="12" presetClass="entr" presetSubtype="8" fill="hold" grpId="0" nodeType="afterEffect">
                                  <p:stCondLst>
                                    <p:cond delay="0"/>
                                  </p:stCondLst>
                                  <p:childTnLst>
                                    <p:set>
                                      <p:cBhvr>
                                        <p:cTn id="20" dur="1" fill="hold">
                                          <p:stCondLst>
                                            <p:cond delay="0"/>
                                          </p:stCondLst>
                                        </p:cTn>
                                        <p:tgtEl>
                                          <p:spTgt spid="559118"/>
                                        </p:tgtEl>
                                        <p:attrNameLst>
                                          <p:attrName>style.visibility</p:attrName>
                                        </p:attrNameLst>
                                      </p:cBhvr>
                                      <p:to>
                                        <p:strVal val="visible"/>
                                      </p:to>
                                    </p:set>
                                    <p:animEffect transition="in" filter="slide(fromLeft)">
                                      <p:cBhvr>
                                        <p:cTn id="21" dur="500"/>
                                        <p:tgtEl>
                                          <p:spTgt spid="559118"/>
                                        </p:tgtEl>
                                      </p:cBhvr>
                                    </p:animEffect>
                                  </p:childTnLst>
                                </p:cTn>
                              </p:par>
                            </p:childTnLst>
                          </p:cTn>
                        </p:par>
                        <p:par>
                          <p:cTn id="22" fill="hold" nodeType="afterGroup">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559108"/>
                                        </p:tgtEl>
                                        <p:attrNameLst>
                                          <p:attrName>style.visibility</p:attrName>
                                        </p:attrNameLst>
                                      </p:cBhvr>
                                      <p:to>
                                        <p:strVal val="visible"/>
                                      </p:to>
                                    </p:set>
                                    <p:anim calcmode="lin" valueType="num">
                                      <p:cBhvr additive="base">
                                        <p:cTn id="25" dur="500" fill="hold"/>
                                        <p:tgtEl>
                                          <p:spTgt spid="559108"/>
                                        </p:tgtEl>
                                        <p:attrNameLst>
                                          <p:attrName>ppt_x</p:attrName>
                                        </p:attrNameLst>
                                      </p:cBhvr>
                                      <p:tavLst>
                                        <p:tav tm="0">
                                          <p:val>
                                            <p:strVal val="0-#ppt_w/2"/>
                                          </p:val>
                                        </p:tav>
                                        <p:tav tm="100000">
                                          <p:val>
                                            <p:strVal val="#ppt_x"/>
                                          </p:val>
                                        </p:tav>
                                      </p:tavLst>
                                    </p:anim>
                                    <p:anim calcmode="lin" valueType="num">
                                      <p:cBhvr additive="base">
                                        <p:cTn id="26" dur="500" fill="hold"/>
                                        <p:tgtEl>
                                          <p:spTgt spid="559108"/>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2500"/>
                            </p:stCondLst>
                            <p:childTnLst>
                              <p:par>
                                <p:cTn id="28" presetID="12" presetClass="entr" presetSubtype="8" fill="hold" grpId="0" nodeType="afterEffect">
                                  <p:stCondLst>
                                    <p:cond delay="0"/>
                                  </p:stCondLst>
                                  <p:childTnLst>
                                    <p:set>
                                      <p:cBhvr>
                                        <p:cTn id="29" dur="1" fill="hold">
                                          <p:stCondLst>
                                            <p:cond delay="0"/>
                                          </p:stCondLst>
                                        </p:cTn>
                                        <p:tgtEl>
                                          <p:spTgt spid="559109"/>
                                        </p:tgtEl>
                                        <p:attrNameLst>
                                          <p:attrName>style.visibility</p:attrName>
                                        </p:attrNameLst>
                                      </p:cBhvr>
                                      <p:to>
                                        <p:strVal val="visible"/>
                                      </p:to>
                                    </p:set>
                                    <p:animEffect transition="in" filter="slide(fromLeft)">
                                      <p:cBhvr>
                                        <p:cTn id="30" dur="500"/>
                                        <p:tgtEl>
                                          <p:spTgt spid="559109"/>
                                        </p:tgtEl>
                                      </p:cBhvr>
                                    </p:animEffect>
                                  </p:childTnLst>
                                </p:cTn>
                              </p:par>
                            </p:childTnLst>
                          </p:cTn>
                        </p:par>
                        <p:par>
                          <p:cTn id="31" fill="hold" nodeType="afterGroup">
                            <p:stCondLst>
                              <p:cond delay="3000"/>
                            </p:stCondLst>
                            <p:childTnLst>
                              <p:par>
                                <p:cTn id="32" presetID="12" presetClass="entr" presetSubtype="8" fill="hold" grpId="0" nodeType="afterEffect">
                                  <p:stCondLst>
                                    <p:cond delay="0"/>
                                  </p:stCondLst>
                                  <p:childTnLst>
                                    <p:set>
                                      <p:cBhvr>
                                        <p:cTn id="33" dur="1" fill="hold">
                                          <p:stCondLst>
                                            <p:cond delay="0"/>
                                          </p:stCondLst>
                                        </p:cTn>
                                        <p:tgtEl>
                                          <p:spTgt spid="559112"/>
                                        </p:tgtEl>
                                        <p:attrNameLst>
                                          <p:attrName>style.visibility</p:attrName>
                                        </p:attrNameLst>
                                      </p:cBhvr>
                                      <p:to>
                                        <p:strVal val="visible"/>
                                      </p:to>
                                    </p:set>
                                    <p:animEffect transition="in" filter="slide(fromLeft)">
                                      <p:cBhvr>
                                        <p:cTn id="34" dur="500"/>
                                        <p:tgtEl>
                                          <p:spTgt spid="559112"/>
                                        </p:tgtEl>
                                      </p:cBhvr>
                                    </p:animEffect>
                                  </p:childTnLst>
                                </p:cTn>
                              </p:par>
                            </p:childTnLst>
                          </p:cTn>
                        </p:par>
                        <p:par>
                          <p:cTn id="35" fill="hold" nodeType="afterGroup">
                            <p:stCondLst>
                              <p:cond delay="3500"/>
                            </p:stCondLst>
                            <p:childTnLst>
                              <p:par>
                                <p:cTn id="36" presetID="12" presetClass="entr" presetSubtype="8" fill="hold" grpId="0" nodeType="afterEffect">
                                  <p:stCondLst>
                                    <p:cond delay="0"/>
                                  </p:stCondLst>
                                  <p:childTnLst>
                                    <p:set>
                                      <p:cBhvr>
                                        <p:cTn id="37" dur="1" fill="hold">
                                          <p:stCondLst>
                                            <p:cond delay="0"/>
                                          </p:stCondLst>
                                        </p:cTn>
                                        <p:tgtEl>
                                          <p:spTgt spid="559110"/>
                                        </p:tgtEl>
                                        <p:attrNameLst>
                                          <p:attrName>style.visibility</p:attrName>
                                        </p:attrNameLst>
                                      </p:cBhvr>
                                      <p:to>
                                        <p:strVal val="visible"/>
                                      </p:to>
                                    </p:set>
                                    <p:animEffect transition="in" filter="slide(fromLeft)">
                                      <p:cBhvr>
                                        <p:cTn id="38" dur="500"/>
                                        <p:tgtEl>
                                          <p:spTgt spid="559110"/>
                                        </p:tgtEl>
                                      </p:cBhvr>
                                    </p:animEffect>
                                  </p:childTnLst>
                                </p:cTn>
                              </p:par>
                            </p:childTnLst>
                          </p:cTn>
                        </p:par>
                        <p:par>
                          <p:cTn id="39" fill="hold" nodeType="afterGroup">
                            <p:stCondLst>
                              <p:cond delay="4000"/>
                            </p:stCondLst>
                            <p:childTnLst>
                              <p:par>
                                <p:cTn id="40" presetID="12" presetClass="entr" presetSubtype="8" fill="hold" grpId="0" nodeType="afterEffect">
                                  <p:stCondLst>
                                    <p:cond delay="0"/>
                                  </p:stCondLst>
                                  <p:childTnLst>
                                    <p:set>
                                      <p:cBhvr>
                                        <p:cTn id="41" dur="1" fill="hold">
                                          <p:stCondLst>
                                            <p:cond delay="0"/>
                                          </p:stCondLst>
                                        </p:cTn>
                                        <p:tgtEl>
                                          <p:spTgt spid="559111"/>
                                        </p:tgtEl>
                                        <p:attrNameLst>
                                          <p:attrName>style.visibility</p:attrName>
                                        </p:attrNameLst>
                                      </p:cBhvr>
                                      <p:to>
                                        <p:strVal val="visible"/>
                                      </p:to>
                                    </p:set>
                                    <p:animEffect transition="in" filter="slide(fromLeft)">
                                      <p:cBhvr>
                                        <p:cTn id="42" dur="500"/>
                                        <p:tgtEl>
                                          <p:spTgt spid="559111"/>
                                        </p:tgtEl>
                                      </p:cBhvr>
                                    </p:animEffect>
                                  </p:childTnLst>
                                </p:cTn>
                              </p:par>
                            </p:childTnLst>
                          </p:cTn>
                        </p:par>
                        <p:par>
                          <p:cTn id="43" fill="hold" nodeType="afterGroup">
                            <p:stCondLst>
                              <p:cond delay="4500"/>
                            </p:stCondLst>
                            <p:childTnLst>
                              <p:par>
                                <p:cTn id="44" presetID="12" presetClass="entr" presetSubtype="8" fill="hold" nodeType="after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slide(fromLeft)">
                                      <p:cBhvr>
                                        <p:cTn id="4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6" grpId="0" autoUpdateAnimBg="0"/>
      <p:bldP spid="559107" grpId="0" animBg="1" autoUpdateAnimBg="0"/>
      <p:bldP spid="559108" grpId="0" animBg="1" autoUpdateAnimBg="0"/>
      <p:bldP spid="559109" grpId="0" animBg="1" autoUpdateAnimBg="0"/>
      <p:bldP spid="559110" grpId="0" autoUpdateAnimBg="0"/>
      <p:bldP spid="559111" grpId="0" autoUpdateAnimBg="0"/>
      <p:bldP spid="559112" grpId="0" animBg="1"/>
      <p:bldP spid="559117" grpId="0" animBg="1"/>
      <p:bldP spid="559118"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84A64032-6DF0-41B1-B3CF-B3CDB150EA76}" type="slidenum">
              <a:rPr lang="en-US" altLang="zh-CN" sz="1400" b="0"/>
              <a:pPr eaLnBrk="1" hangingPunct="1"/>
              <a:t>50</a:t>
            </a:fld>
            <a:endParaRPr lang="en-US" altLang="zh-CN" sz="1400" b="0"/>
          </a:p>
        </p:txBody>
      </p:sp>
      <p:sp>
        <p:nvSpPr>
          <p:cNvPr id="63491" name="Rectangle 2"/>
          <p:cNvSpPr>
            <a:spLocks noChangeArrowheads="1"/>
          </p:cNvSpPr>
          <p:nvPr/>
        </p:nvSpPr>
        <p:spPr bwMode="auto">
          <a:xfrm>
            <a:off x="174625" y="1220788"/>
            <a:ext cx="8785225" cy="521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762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a:t>C54x</a:t>
            </a:r>
            <a:r>
              <a:rPr lang="zh-CN" altLang="en-US" sz="3200"/>
              <a:t>中</a:t>
            </a:r>
            <a:r>
              <a:rPr lang="zh-CN" altLang="en-US" sz="3200">
                <a:solidFill>
                  <a:schemeClr val="tx2"/>
                </a:solidFill>
              </a:rPr>
              <a:t>，片内存储器的型式有</a:t>
            </a:r>
            <a:r>
              <a:rPr lang="en-US" altLang="zh-CN" sz="3200">
                <a:solidFill>
                  <a:schemeClr val="tx2"/>
                </a:solidFill>
              </a:rPr>
              <a:t>DARAM</a:t>
            </a:r>
            <a:r>
              <a:rPr lang="zh-CN" altLang="en-US" sz="3200">
                <a:solidFill>
                  <a:schemeClr val="tx2"/>
                </a:solidFill>
              </a:rPr>
              <a:t>、</a:t>
            </a:r>
            <a:r>
              <a:rPr lang="en-US" altLang="zh-CN" sz="3200">
                <a:solidFill>
                  <a:schemeClr val="tx2"/>
                </a:solidFill>
              </a:rPr>
              <a:t>SARAM</a:t>
            </a:r>
            <a:r>
              <a:rPr lang="zh-CN" altLang="en-US" sz="3200">
                <a:solidFill>
                  <a:schemeClr val="tx2"/>
                </a:solidFill>
              </a:rPr>
              <a:t>和</a:t>
            </a:r>
            <a:r>
              <a:rPr lang="en-US" altLang="zh-CN" sz="3200">
                <a:solidFill>
                  <a:schemeClr val="tx2"/>
                </a:solidFill>
              </a:rPr>
              <a:t>ROM</a:t>
            </a:r>
            <a:r>
              <a:rPr lang="zh-CN" altLang="en-US" sz="3200">
                <a:solidFill>
                  <a:schemeClr val="tx2"/>
                </a:solidFill>
              </a:rPr>
              <a:t>三种，</a:t>
            </a:r>
            <a:r>
              <a:rPr lang="zh-CN" altLang="en-US" sz="3200"/>
              <a:t>取决于芯片的型号。</a:t>
            </a:r>
          </a:p>
          <a:p>
            <a:pPr eaLnBrk="1" hangingPunct="1">
              <a:spcBef>
                <a:spcPct val="50000"/>
              </a:spcBef>
            </a:pPr>
            <a:r>
              <a:rPr lang="en-US" altLang="zh-CN" sz="3200">
                <a:solidFill>
                  <a:srgbClr val="0000CC"/>
                </a:solidFill>
              </a:rPr>
              <a:t>RAM</a:t>
            </a:r>
            <a:r>
              <a:rPr lang="zh-CN" altLang="en-US" sz="3200">
                <a:solidFill>
                  <a:srgbClr val="0000CC"/>
                </a:solidFill>
              </a:rPr>
              <a:t>总是安排到数据存储空间，但也可以构成程序存储空间。</a:t>
            </a:r>
            <a:endParaRPr lang="zh-CN" altLang="en-US" sz="3200">
              <a:solidFill>
                <a:srgbClr val="FF00FF"/>
              </a:solidFill>
            </a:endParaRPr>
          </a:p>
          <a:p>
            <a:pPr eaLnBrk="1" hangingPunct="1">
              <a:spcBef>
                <a:spcPct val="50000"/>
              </a:spcBef>
            </a:pPr>
            <a:r>
              <a:rPr lang="en-US" altLang="zh-CN" sz="3200">
                <a:solidFill>
                  <a:srgbClr val="FF00FF"/>
                </a:solidFill>
              </a:rPr>
              <a:t>ROM</a:t>
            </a:r>
            <a:r>
              <a:rPr lang="zh-CN" altLang="en-US" sz="3200">
                <a:solidFill>
                  <a:srgbClr val="FF00FF"/>
                </a:solidFill>
              </a:rPr>
              <a:t>一般构成程序存储空间，也可以部分地安排到数据存储空间。</a:t>
            </a:r>
          </a:p>
          <a:p>
            <a:pPr eaLnBrk="1" hangingPunct="1">
              <a:spcBef>
                <a:spcPct val="50000"/>
              </a:spcBef>
            </a:pPr>
            <a:r>
              <a:rPr lang="en-US" altLang="zh-CN" sz="3200"/>
              <a:t>C54x</a:t>
            </a:r>
            <a:r>
              <a:rPr lang="zh-CN" altLang="en-US" sz="3200"/>
              <a:t>通过处理器工作方式状态寄存器（</a:t>
            </a:r>
            <a:r>
              <a:rPr lang="en-US" altLang="zh-CN" sz="3200"/>
              <a:t>PMST</a:t>
            </a:r>
            <a:r>
              <a:rPr lang="zh-CN" altLang="en-US" sz="3200"/>
              <a:t>）中的</a:t>
            </a:r>
            <a:r>
              <a:rPr lang="en-US" altLang="zh-CN" sz="3200"/>
              <a:t>3</a:t>
            </a:r>
            <a:r>
              <a:rPr lang="zh-CN" altLang="en-US" sz="3200"/>
              <a:t>个状态位，可以很方便地“使能”和“禁止”程序和数据空间中的片内存储器。</a:t>
            </a:r>
          </a:p>
        </p:txBody>
      </p:sp>
    </p:spTree>
  </p:cSld>
  <p:clrMapOvr>
    <a:masterClrMapping/>
  </p:clrMapOvr>
  <p:transition spd="med">
    <p:pull dir="l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16165FD-0B9E-4910-86FD-DBD18DFC0E07}" type="slidenum">
              <a:rPr lang="en-US" altLang="zh-CN" sz="1400" b="0"/>
              <a:pPr eaLnBrk="1" hangingPunct="1"/>
              <a:t>51</a:t>
            </a:fld>
            <a:endParaRPr lang="en-US" altLang="zh-CN" sz="1400" b="0"/>
          </a:p>
        </p:txBody>
      </p:sp>
      <p:sp>
        <p:nvSpPr>
          <p:cNvPr id="64515" name="Rectangle 2"/>
          <p:cNvSpPr>
            <a:spLocks noChangeArrowheads="1"/>
          </p:cNvSpPr>
          <p:nvPr/>
        </p:nvSpPr>
        <p:spPr bwMode="auto">
          <a:xfrm>
            <a:off x="179388" y="1196975"/>
            <a:ext cx="8964612" cy="522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20000"/>
              </a:spcBef>
            </a:pPr>
            <a:r>
              <a:rPr lang="en-US" altLang="zh-CN" sz="2800">
                <a:solidFill>
                  <a:schemeClr val="tx2"/>
                </a:solidFill>
              </a:rPr>
              <a:t>MP/ </a:t>
            </a:r>
            <a:r>
              <a:rPr lang="en-US" altLang="zh-CN" sz="2800">
                <a:solidFill>
                  <a:schemeClr val="tx2"/>
                </a:solidFill>
                <a:latin typeface="宋体" panose="02010600030101010101" pitchFamily="2" charset="-122"/>
              </a:rPr>
              <a:t>MC</a:t>
            </a:r>
            <a:r>
              <a:rPr lang="zh-CN" altLang="en-US" sz="2800">
                <a:solidFill>
                  <a:schemeClr val="tx2"/>
                </a:solidFill>
              </a:rPr>
              <a:t>位：</a:t>
            </a:r>
          </a:p>
          <a:p>
            <a:pPr eaLnBrk="1" hangingPunct="1">
              <a:lnSpc>
                <a:spcPct val="85000"/>
              </a:lnSpc>
              <a:spcBef>
                <a:spcPct val="20000"/>
              </a:spcBef>
            </a:pPr>
            <a:r>
              <a:rPr lang="zh-CN" altLang="en-US" sz="2800"/>
              <a:t>       若</a:t>
            </a:r>
            <a:r>
              <a:rPr lang="en-US" altLang="zh-CN" sz="2800"/>
              <a:t>MP/ </a:t>
            </a:r>
            <a:r>
              <a:rPr lang="en-US" altLang="zh-CN" sz="2800">
                <a:latin typeface="宋体" panose="02010600030101010101" pitchFamily="2" charset="-122"/>
              </a:rPr>
              <a:t>MC</a:t>
            </a:r>
            <a:r>
              <a:rPr lang="en-US" altLang="zh-CN" sz="2800"/>
              <a:t> =0</a:t>
            </a:r>
            <a:r>
              <a:rPr lang="zh-CN" altLang="en-US" sz="2800"/>
              <a:t>，则片内</a:t>
            </a:r>
            <a:r>
              <a:rPr lang="en-US" altLang="zh-CN" sz="2800"/>
              <a:t>ROM</a:t>
            </a:r>
            <a:r>
              <a:rPr lang="zh-CN" altLang="en-US" sz="2800"/>
              <a:t>安排为程序空间；</a:t>
            </a:r>
          </a:p>
          <a:p>
            <a:pPr eaLnBrk="1" hangingPunct="1">
              <a:lnSpc>
                <a:spcPct val="85000"/>
              </a:lnSpc>
              <a:spcBef>
                <a:spcPct val="20000"/>
              </a:spcBef>
            </a:pPr>
            <a:r>
              <a:rPr lang="zh-CN" altLang="en-US" sz="2800"/>
              <a:t>       若</a:t>
            </a:r>
            <a:r>
              <a:rPr lang="en-US" altLang="zh-CN" sz="2800"/>
              <a:t>MP/ </a:t>
            </a:r>
            <a:r>
              <a:rPr lang="en-US" altLang="zh-CN" sz="2800">
                <a:latin typeface="宋体" panose="02010600030101010101" pitchFamily="2" charset="-122"/>
              </a:rPr>
              <a:t>MC</a:t>
            </a:r>
            <a:r>
              <a:rPr lang="en-US" altLang="zh-CN" sz="2800"/>
              <a:t> =1</a:t>
            </a:r>
            <a:r>
              <a:rPr lang="zh-CN" altLang="en-US" sz="2800"/>
              <a:t>，则片外</a:t>
            </a:r>
            <a:r>
              <a:rPr lang="en-US" altLang="zh-CN" sz="2800"/>
              <a:t>ROM</a:t>
            </a:r>
            <a:r>
              <a:rPr lang="zh-CN" altLang="en-US" sz="2800"/>
              <a:t>安排为程序空间。</a:t>
            </a:r>
          </a:p>
          <a:p>
            <a:pPr eaLnBrk="1" hangingPunct="1">
              <a:lnSpc>
                <a:spcPct val="85000"/>
              </a:lnSpc>
              <a:spcBef>
                <a:spcPct val="20000"/>
              </a:spcBef>
            </a:pPr>
            <a:r>
              <a:rPr lang="en-US" altLang="zh-CN" sz="2800">
                <a:solidFill>
                  <a:schemeClr val="tx2"/>
                </a:solidFill>
              </a:rPr>
              <a:t>OVLY</a:t>
            </a:r>
            <a:r>
              <a:rPr lang="zh-CN" altLang="en-US" sz="2800">
                <a:solidFill>
                  <a:schemeClr val="tx2"/>
                </a:solidFill>
              </a:rPr>
              <a:t>位：</a:t>
            </a:r>
          </a:p>
          <a:p>
            <a:pPr eaLnBrk="1" hangingPunct="1">
              <a:lnSpc>
                <a:spcPct val="85000"/>
              </a:lnSpc>
              <a:spcBef>
                <a:spcPct val="20000"/>
              </a:spcBef>
            </a:pPr>
            <a:r>
              <a:rPr lang="zh-CN" altLang="en-US" sz="2800">
                <a:solidFill>
                  <a:schemeClr val="tx2"/>
                </a:solidFill>
              </a:rPr>
              <a:t>　　</a:t>
            </a:r>
            <a:r>
              <a:rPr lang="zh-CN" altLang="en-US" sz="2800"/>
              <a:t>若</a:t>
            </a:r>
            <a:r>
              <a:rPr lang="en-US" altLang="zh-CN" sz="2800"/>
              <a:t>OVLY=0</a:t>
            </a:r>
            <a:r>
              <a:rPr lang="zh-CN" altLang="en-US" sz="2800"/>
              <a:t>，则片内</a:t>
            </a:r>
            <a:r>
              <a:rPr lang="en-US" altLang="zh-CN" sz="2800"/>
              <a:t>RAM</a:t>
            </a:r>
            <a:r>
              <a:rPr lang="zh-CN" altLang="en-US" sz="2800"/>
              <a:t>只安排为数据存储空间；</a:t>
            </a:r>
          </a:p>
          <a:p>
            <a:pPr eaLnBrk="1" hangingPunct="1">
              <a:lnSpc>
                <a:spcPct val="85000"/>
              </a:lnSpc>
              <a:spcBef>
                <a:spcPct val="20000"/>
              </a:spcBef>
            </a:pPr>
            <a:r>
              <a:rPr lang="zh-CN" altLang="en-US" sz="2800"/>
              <a:t>　　若</a:t>
            </a:r>
            <a:r>
              <a:rPr lang="en-US" altLang="zh-CN" sz="2800"/>
              <a:t>OVLY=1</a:t>
            </a:r>
            <a:r>
              <a:rPr lang="zh-CN" altLang="en-US" sz="2800"/>
              <a:t>，则片内</a:t>
            </a:r>
            <a:r>
              <a:rPr lang="en-US" altLang="zh-CN" sz="2800"/>
              <a:t>RAM</a:t>
            </a:r>
            <a:r>
              <a:rPr lang="zh-CN" altLang="en-US" sz="2800"/>
              <a:t>安排为程序和数据空间。</a:t>
            </a:r>
            <a:endParaRPr lang="zh-CN" altLang="en-US" sz="2800">
              <a:solidFill>
                <a:schemeClr val="tx2"/>
              </a:solidFill>
            </a:endParaRPr>
          </a:p>
          <a:p>
            <a:pPr eaLnBrk="1" hangingPunct="1">
              <a:lnSpc>
                <a:spcPct val="85000"/>
              </a:lnSpc>
              <a:spcBef>
                <a:spcPct val="20000"/>
              </a:spcBef>
            </a:pPr>
            <a:r>
              <a:rPr lang="en-US" altLang="zh-CN" sz="2800">
                <a:solidFill>
                  <a:schemeClr val="tx2"/>
                </a:solidFill>
              </a:rPr>
              <a:t>DROM</a:t>
            </a:r>
            <a:r>
              <a:rPr lang="zh-CN" altLang="en-US" sz="2800">
                <a:solidFill>
                  <a:schemeClr val="tx2"/>
                </a:solidFill>
              </a:rPr>
              <a:t>位：</a:t>
            </a:r>
          </a:p>
          <a:p>
            <a:pPr eaLnBrk="1" hangingPunct="1">
              <a:lnSpc>
                <a:spcPct val="85000"/>
              </a:lnSpc>
              <a:spcBef>
                <a:spcPct val="20000"/>
              </a:spcBef>
            </a:pPr>
            <a:r>
              <a:rPr lang="zh-CN" altLang="en-US" sz="2800"/>
              <a:t>　　若</a:t>
            </a:r>
            <a:r>
              <a:rPr lang="en-US" altLang="zh-CN" sz="2800"/>
              <a:t>DROM=0</a:t>
            </a:r>
            <a:r>
              <a:rPr lang="zh-CN" altLang="en-US" sz="2800"/>
              <a:t>，则片内</a:t>
            </a:r>
            <a:r>
              <a:rPr lang="en-US" altLang="zh-CN" sz="2800"/>
              <a:t>ROM</a:t>
            </a:r>
            <a:r>
              <a:rPr lang="zh-CN" altLang="en-US" sz="2800"/>
              <a:t>只安排为程序空间；</a:t>
            </a:r>
            <a:endParaRPr lang="zh-CN" altLang="en-US" sz="2800">
              <a:solidFill>
                <a:schemeClr val="tx2"/>
              </a:solidFill>
            </a:endParaRPr>
          </a:p>
          <a:p>
            <a:pPr eaLnBrk="1" hangingPunct="1">
              <a:lnSpc>
                <a:spcPct val="85000"/>
              </a:lnSpc>
              <a:spcBef>
                <a:spcPct val="20000"/>
              </a:spcBef>
            </a:pPr>
            <a:r>
              <a:rPr lang="zh-CN" altLang="en-US" sz="2800"/>
              <a:t>        若</a:t>
            </a:r>
            <a:r>
              <a:rPr lang="en-US" altLang="zh-CN" sz="2800"/>
              <a:t>DROM=1</a:t>
            </a:r>
            <a:r>
              <a:rPr lang="zh-CN" altLang="en-US" sz="2800"/>
              <a:t>，则片内</a:t>
            </a:r>
            <a:r>
              <a:rPr lang="en-US" altLang="zh-CN" sz="2800"/>
              <a:t>ROM</a:t>
            </a:r>
            <a:r>
              <a:rPr lang="zh-CN" altLang="en-US" sz="2800"/>
              <a:t>安排为程序和数据空间。</a:t>
            </a:r>
          </a:p>
          <a:p>
            <a:pPr eaLnBrk="1" hangingPunct="1">
              <a:lnSpc>
                <a:spcPct val="85000"/>
              </a:lnSpc>
              <a:spcBef>
                <a:spcPct val="20000"/>
              </a:spcBef>
            </a:pPr>
            <a:r>
              <a:rPr lang="zh-CN" altLang="en-US" sz="2800"/>
              <a:t>        </a:t>
            </a:r>
            <a:r>
              <a:rPr lang="en-US" altLang="zh-CN" sz="2800"/>
              <a:t>DROM</a:t>
            </a:r>
            <a:r>
              <a:rPr lang="zh-CN" altLang="en-US" sz="2800"/>
              <a:t>位的用法与</a:t>
            </a:r>
            <a:r>
              <a:rPr lang="en-US" altLang="zh-CN" sz="2800"/>
              <a:t>MP/ </a:t>
            </a:r>
            <a:r>
              <a:rPr lang="en-US" altLang="zh-CN" sz="2800">
                <a:latin typeface="宋体" panose="02010600030101010101" pitchFamily="2" charset="-122"/>
              </a:rPr>
              <a:t>MC</a:t>
            </a:r>
            <a:r>
              <a:rPr lang="zh-CN" altLang="en-US" sz="2800"/>
              <a:t>位的用法无关。不同的   </a:t>
            </a:r>
            <a:r>
              <a:rPr lang="en-US" altLang="zh-CN" sz="2800"/>
              <a:t>C54x</a:t>
            </a:r>
            <a:r>
              <a:rPr lang="zh-CN" altLang="en-US" sz="2800"/>
              <a:t>的数据和程序存储区分配略有不同，下图给出了</a:t>
            </a:r>
            <a:r>
              <a:rPr lang="en-US" altLang="zh-CN" sz="2800"/>
              <a:t>TMS320C549</a:t>
            </a:r>
            <a:r>
              <a:rPr lang="zh-CN" altLang="en-US" sz="2800"/>
              <a:t>存储器空间分配图。 </a:t>
            </a:r>
          </a:p>
        </p:txBody>
      </p:sp>
      <p:sp>
        <p:nvSpPr>
          <p:cNvPr id="64516" name="Line 3"/>
          <p:cNvSpPr>
            <a:spLocks noChangeShapeType="1"/>
          </p:cNvSpPr>
          <p:nvPr/>
        </p:nvSpPr>
        <p:spPr bwMode="auto">
          <a:xfrm>
            <a:off x="1042988" y="1196975"/>
            <a:ext cx="381000"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4517" name="Line 4"/>
          <p:cNvSpPr>
            <a:spLocks noChangeShapeType="1"/>
          </p:cNvSpPr>
          <p:nvPr/>
        </p:nvSpPr>
        <p:spPr bwMode="auto">
          <a:xfrm>
            <a:off x="2051050" y="1628775"/>
            <a:ext cx="304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4518" name="Line 5"/>
          <p:cNvSpPr>
            <a:spLocks noChangeShapeType="1"/>
          </p:cNvSpPr>
          <p:nvPr/>
        </p:nvSpPr>
        <p:spPr bwMode="auto">
          <a:xfrm>
            <a:off x="2051050" y="2133600"/>
            <a:ext cx="304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4519" name="Line 6"/>
          <p:cNvSpPr>
            <a:spLocks noChangeShapeType="1"/>
          </p:cNvSpPr>
          <p:nvPr/>
        </p:nvSpPr>
        <p:spPr bwMode="auto">
          <a:xfrm>
            <a:off x="4716463" y="5300663"/>
            <a:ext cx="304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99B1DCA3-BE38-41D3-8576-53894A864D10}" type="slidenum">
              <a:rPr lang="en-US" altLang="zh-CN" sz="1400" b="0"/>
              <a:pPr eaLnBrk="1" hangingPunct="1"/>
              <a:t>52</a:t>
            </a:fld>
            <a:endParaRPr lang="en-US" altLang="zh-CN" sz="1400" b="0"/>
          </a:p>
        </p:txBody>
      </p:sp>
      <p:sp>
        <p:nvSpPr>
          <p:cNvPr id="562179" name="Text Box 3"/>
          <p:cNvSpPr txBox="1">
            <a:spLocks noChangeArrowheads="1"/>
          </p:cNvSpPr>
          <p:nvPr/>
        </p:nvSpPr>
        <p:spPr bwMode="auto">
          <a:xfrm>
            <a:off x="1835150" y="836613"/>
            <a:ext cx="563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spcAft>
                <a:spcPts val="800"/>
              </a:spcAft>
            </a:pPr>
            <a:r>
              <a:rPr kumimoji="0" lang="en-US" altLang="zh-CN" sz="3200">
                <a:solidFill>
                  <a:srgbClr val="FF00FF"/>
                </a:solidFill>
                <a:latin typeface="宋体" panose="02010600030101010101" pitchFamily="2" charset="-122"/>
              </a:rPr>
              <a:t>TMS320C549</a:t>
            </a:r>
            <a:r>
              <a:rPr kumimoji="0" lang="zh-CN" altLang="en-US" sz="3200">
                <a:solidFill>
                  <a:srgbClr val="FF00FF"/>
                </a:solidFill>
                <a:latin typeface="宋体" panose="02010600030101010101" pitchFamily="2" charset="-122"/>
              </a:rPr>
              <a:t>存储器空间分配图</a:t>
            </a:r>
            <a:endParaRPr kumimoji="0" lang="zh-CN" altLang="en-US" sz="3200">
              <a:solidFill>
                <a:srgbClr val="FF00FF"/>
              </a:solidFill>
            </a:endParaRPr>
          </a:p>
        </p:txBody>
      </p:sp>
      <p:grpSp>
        <p:nvGrpSpPr>
          <p:cNvPr id="65540" name="Group 208"/>
          <p:cNvGrpSpPr>
            <a:grpSpLocks/>
          </p:cNvGrpSpPr>
          <p:nvPr/>
        </p:nvGrpSpPr>
        <p:grpSpPr bwMode="auto">
          <a:xfrm>
            <a:off x="250825" y="1341438"/>
            <a:ext cx="8532813" cy="5354637"/>
            <a:chOff x="385" y="3203"/>
            <a:chExt cx="5375" cy="3373"/>
          </a:xfrm>
        </p:grpSpPr>
        <p:sp>
          <p:nvSpPr>
            <p:cNvPr id="65543" name="Text Box 33"/>
            <p:cNvSpPr txBox="1">
              <a:spLocks noChangeArrowheads="1"/>
            </p:cNvSpPr>
            <p:nvPr/>
          </p:nvSpPr>
          <p:spPr bwMode="auto">
            <a:xfrm>
              <a:off x="2381" y="3203"/>
              <a:ext cx="17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程序存储器</a:t>
              </a:r>
            </a:p>
          </p:txBody>
        </p:sp>
        <p:sp>
          <p:nvSpPr>
            <p:cNvPr id="65544" name="Text Box 20"/>
            <p:cNvSpPr txBox="1">
              <a:spLocks noChangeArrowheads="1"/>
            </p:cNvSpPr>
            <p:nvPr/>
          </p:nvSpPr>
          <p:spPr bwMode="auto">
            <a:xfrm>
              <a:off x="930" y="3203"/>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程序存储器</a:t>
              </a:r>
            </a:p>
          </p:txBody>
        </p:sp>
        <p:sp>
          <p:nvSpPr>
            <p:cNvPr id="65545" name="Text Box 5"/>
            <p:cNvSpPr txBox="1">
              <a:spLocks noChangeArrowheads="1"/>
            </p:cNvSpPr>
            <p:nvPr/>
          </p:nvSpPr>
          <p:spPr bwMode="auto">
            <a:xfrm>
              <a:off x="461" y="3475"/>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0000h</a:t>
              </a:r>
            </a:p>
          </p:txBody>
        </p:sp>
        <p:sp>
          <p:nvSpPr>
            <p:cNvPr id="65546" name="Text Box 7"/>
            <p:cNvSpPr txBox="1">
              <a:spLocks noChangeArrowheads="1"/>
            </p:cNvSpPr>
            <p:nvPr/>
          </p:nvSpPr>
          <p:spPr bwMode="auto">
            <a:xfrm>
              <a:off x="441" y="3897"/>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007Fh</a:t>
              </a:r>
            </a:p>
          </p:txBody>
        </p:sp>
        <p:sp>
          <p:nvSpPr>
            <p:cNvPr id="65547" name="Text Box 8"/>
            <p:cNvSpPr txBox="1">
              <a:spLocks noChangeArrowheads="1"/>
            </p:cNvSpPr>
            <p:nvPr/>
          </p:nvSpPr>
          <p:spPr bwMode="auto">
            <a:xfrm>
              <a:off x="450" y="4044"/>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0080h</a:t>
              </a:r>
            </a:p>
          </p:txBody>
        </p:sp>
        <p:sp>
          <p:nvSpPr>
            <p:cNvPr id="65548" name="Text Box 10"/>
            <p:cNvSpPr txBox="1">
              <a:spLocks noChangeArrowheads="1"/>
            </p:cNvSpPr>
            <p:nvPr/>
          </p:nvSpPr>
          <p:spPr bwMode="auto">
            <a:xfrm>
              <a:off x="405" y="4292"/>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1FFFh</a:t>
              </a:r>
            </a:p>
          </p:txBody>
        </p:sp>
        <p:sp>
          <p:nvSpPr>
            <p:cNvPr id="65549" name="Text Box 12"/>
            <p:cNvSpPr txBox="1">
              <a:spLocks noChangeArrowheads="1"/>
            </p:cNvSpPr>
            <p:nvPr/>
          </p:nvSpPr>
          <p:spPr bwMode="auto">
            <a:xfrm>
              <a:off x="460" y="4459"/>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2000h</a:t>
              </a:r>
            </a:p>
          </p:txBody>
        </p:sp>
        <p:sp>
          <p:nvSpPr>
            <p:cNvPr id="65550" name="Text Box 13"/>
            <p:cNvSpPr txBox="1">
              <a:spLocks noChangeArrowheads="1"/>
            </p:cNvSpPr>
            <p:nvPr/>
          </p:nvSpPr>
          <p:spPr bwMode="auto">
            <a:xfrm>
              <a:off x="415" y="4927"/>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7FFFh</a:t>
              </a:r>
            </a:p>
          </p:txBody>
        </p:sp>
        <p:sp>
          <p:nvSpPr>
            <p:cNvPr id="65551" name="Text Box 39"/>
            <p:cNvSpPr txBox="1">
              <a:spLocks noChangeArrowheads="1"/>
            </p:cNvSpPr>
            <p:nvPr/>
          </p:nvSpPr>
          <p:spPr bwMode="auto">
            <a:xfrm>
              <a:off x="465" y="5109"/>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8000h</a:t>
              </a:r>
            </a:p>
          </p:txBody>
        </p:sp>
        <p:sp>
          <p:nvSpPr>
            <p:cNvPr id="65552" name="Text Box 40"/>
            <p:cNvSpPr txBox="1">
              <a:spLocks noChangeArrowheads="1"/>
            </p:cNvSpPr>
            <p:nvPr/>
          </p:nvSpPr>
          <p:spPr bwMode="auto">
            <a:xfrm>
              <a:off x="405" y="5642"/>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FF7Fh</a:t>
              </a:r>
            </a:p>
          </p:txBody>
        </p:sp>
        <p:sp>
          <p:nvSpPr>
            <p:cNvPr id="65553" name="Rectangle 16"/>
            <p:cNvSpPr>
              <a:spLocks noChangeArrowheads="1"/>
            </p:cNvSpPr>
            <p:nvPr/>
          </p:nvSpPr>
          <p:spPr bwMode="auto">
            <a:xfrm>
              <a:off x="915" y="4473"/>
              <a:ext cx="1225" cy="635"/>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54" name="Rectangle 17"/>
            <p:cNvSpPr>
              <a:spLocks noChangeArrowheads="1"/>
            </p:cNvSpPr>
            <p:nvPr/>
          </p:nvSpPr>
          <p:spPr bwMode="auto">
            <a:xfrm>
              <a:off x="914" y="5108"/>
              <a:ext cx="1225" cy="726"/>
            </a:xfrm>
            <a:prstGeom prst="rect">
              <a:avLst/>
            </a:prstGeom>
            <a:solidFill>
              <a:schemeClr val="accent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55" name="Rectangle 34"/>
            <p:cNvSpPr>
              <a:spLocks noChangeArrowheads="1"/>
            </p:cNvSpPr>
            <p:nvPr/>
          </p:nvSpPr>
          <p:spPr bwMode="auto">
            <a:xfrm>
              <a:off x="914" y="3475"/>
              <a:ext cx="1225" cy="590"/>
            </a:xfrm>
            <a:prstGeom prst="rect">
              <a:avLst/>
            </a:prstGeom>
            <a:solidFill>
              <a:schemeClr val="bg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56" name="Text Box 35"/>
            <p:cNvSpPr txBox="1">
              <a:spLocks noChangeArrowheads="1"/>
            </p:cNvSpPr>
            <p:nvPr/>
          </p:nvSpPr>
          <p:spPr bwMode="auto">
            <a:xfrm>
              <a:off x="984" y="3520"/>
              <a:ext cx="1085"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a:t>保留</a:t>
              </a:r>
              <a:r>
                <a:rPr lang="en-US" altLang="zh-CN"/>
                <a:t>(OVLY=1)</a:t>
              </a:r>
            </a:p>
            <a:p>
              <a:pPr algn="ctr" eaLnBrk="1" hangingPunct="1">
                <a:lnSpc>
                  <a:spcPct val="75000"/>
                </a:lnSpc>
              </a:pPr>
              <a:r>
                <a:rPr lang="zh-CN" altLang="en-US"/>
                <a:t>或</a:t>
              </a:r>
            </a:p>
            <a:p>
              <a:pPr algn="ctr" eaLnBrk="1" hangingPunct="1">
                <a:lnSpc>
                  <a:spcPct val="75000"/>
                </a:lnSpc>
              </a:pPr>
              <a:r>
                <a:rPr lang="zh-CN" altLang="en-US"/>
                <a:t>外部</a:t>
              </a:r>
              <a:r>
                <a:rPr lang="en-US" altLang="zh-CN"/>
                <a:t>(OVLY=0)</a:t>
              </a:r>
            </a:p>
          </p:txBody>
        </p:sp>
        <p:sp>
          <p:nvSpPr>
            <p:cNvPr id="65557" name="Rectangle 36"/>
            <p:cNvSpPr>
              <a:spLocks noChangeArrowheads="1"/>
            </p:cNvSpPr>
            <p:nvPr/>
          </p:nvSpPr>
          <p:spPr bwMode="auto">
            <a:xfrm>
              <a:off x="914" y="4065"/>
              <a:ext cx="1225" cy="408"/>
            </a:xfrm>
            <a:prstGeom prst="rect">
              <a:avLst/>
            </a:prstGeom>
            <a:solidFill>
              <a:schemeClr val="fo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58" name="Text Box 37"/>
            <p:cNvSpPr txBox="1">
              <a:spLocks noChangeArrowheads="1"/>
            </p:cNvSpPr>
            <p:nvPr/>
          </p:nvSpPr>
          <p:spPr bwMode="auto">
            <a:xfrm>
              <a:off x="975" y="4084"/>
              <a:ext cx="1085"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sz="1800">
                  <a:solidFill>
                    <a:schemeClr val="bg1"/>
                  </a:solidFill>
                </a:rPr>
                <a:t>片内</a:t>
              </a:r>
              <a:r>
                <a:rPr lang="en-US" altLang="zh-CN" sz="1800">
                  <a:solidFill>
                    <a:schemeClr val="bg1"/>
                  </a:solidFill>
                </a:rPr>
                <a:t>DARAM</a:t>
              </a:r>
            </a:p>
            <a:p>
              <a:pPr algn="ctr" eaLnBrk="1" hangingPunct="1">
                <a:lnSpc>
                  <a:spcPct val="75000"/>
                </a:lnSpc>
              </a:pPr>
              <a:r>
                <a:rPr lang="en-US" altLang="zh-CN" sz="1800">
                  <a:solidFill>
                    <a:schemeClr val="bg1"/>
                  </a:solidFill>
                </a:rPr>
                <a:t>(OVLY=1)</a:t>
              </a:r>
              <a:r>
                <a:rPr lang="zh-CN" altLang="en-US" sz="1800">
                  <a:solidFill>
                    <a:schemeClr val="bg1"/>
                  </a:solidFill>
                </a:rPr>
                <a:t>或</a:t>
              </a:r>
            </a:p>
            <a:p>
              <a:pPr algn="ctr" eaLnBrk="1" hangingPunct="1">
                <a:lnSpc>
                  <a:spcPct val="75000"/>
                </a:lnSpc>
              </a:pPr>
              <a:r>
                <a:rPr lang="zh-CN" altLang="en-US" sz="1800">
                  <a:solidFill>
                    <a:schemeClr val="bg1"/>
                  </a:solidFill>
                </a:rPr>
                <a:t>外部</a:t>
              </a:r>
              <a:r>
                <a:rPr lang="en-US" altLang="zh-CN" sz="1800">
                  <a:solidFill>
                    <a:schemeClr val="bg1"/>
                  </a:solidFill>
                </a:rPr>
                <a:t>(OVLY=0)</a:t>
              </a:r>
            </a:p>
          </p:txBody>
        </p:sp>
        <p:sp>
          <p:nvSpPr>
            <p:cNvPr id="65559" name="Text Box 38"/>
            <p:cNvSpPr txBox="1">
              <a:spLocks noChangeArrowheads="1"/>
            </p:cNvSpPr>
            <p:nvPr/>
          </p:nvSpPr>
          <p:spPr bwMode="auto">
            <a:xfrm>
              <a:off x="975" y="4523"/>
              <a:ext cx="108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a:solidFill>
                    <a:schemeClr val="tx2"/>
                  </a:solidFill>
                </a:rPr>
                <a:t>片内</a:t>
              </a:r>
              <a:r>
                <a:rPr lang="en-US" altLang="zh-CN">
                  <a:solidFill>
                    <a:schemeClr val="tx2"/>
                  </a:solidFill>
                </a:rPr>
                <a:t>SARAM</a:t>
              </a:r>
            </a:p>
            <a:p>
              <a:pPr algn="ctr" eaLnBrk="1" hangingPunct="1">
                <a:lnSpc>
                  <a:spcPct val="75000"/>
                </a:lnSpc>
              </a:pPr>
              <a:r>
                <a:rPr lang="en-US" altLang="zh-CN">
                  <a:solidFill>
                    <a:schemeClr val="tx2"/>
                  </a:solidFill>
                </a:rPr>
                <a:t>(OVLY=1)</a:t>
              </a:r>
            </a:p>
            <a:p>
              <a:pPr algn="ctr" eaLnBrk="1" hangingPunct="1">
                <a:lnSpc>
                  <a:spcPct val="75000"/>
                </a:lnSpc>
              </a:pPr>
              <a:r>
                <a:rPr lang="zh-CN" altLang="en-US">
                  <a:solidFill>
                    <a:schemeClr val="tx2"/>
                  </a:solidFill>
                </a:rPr>
                <a:t>或</a:t>
              </a:r>
            </a:p>
            <a:p>
              <a:pPr algn="ctr" eaLnBrk="1" hangingPunct="1">
                <a:lnSpc>
                  <a:spcPct val="75000"/>
                </a:lnSpc>
              </a:pPr>
              <a:r>
                <a:rPr lang="zh-CN" altLang="en-US">
                  <a:solidFill>
                    <a:schemeClr val="tx2"/>
                  </a:solidFill>
                </a:rPr>
                <a:t>外部</a:t>
              </a:r>
              <a:r>
                <a:rPr lang="en-US" altLang="zh-CN">
                  <a:solidFill>
                    <a:schemeClr val="tx2"/>
                  </a:solidFill>
                </a:rPr>
                <a:t>(OVLY=0)</a:t>
              </a:r>
            </a:p>
          </p:txBody>
        </p:sp>
        <p:sp>
          <p:nvSpPr>
            <p:cNvPr id="65560" name="Text Box 41"/>
            <p:cNvSpPr txBox="1">
              <a:spLocks noChangeArrowheads="1"/>
            </p:cNvSpPr>
            <p:nvPr/>
          </p:nvSpPr>
          <p:spPr bwMode="auto">
            <a:xfrm>
              <a:off x="1136" y="5290"/>
              <a:ext cx="7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FF0000"/>
                  </a:solidFill>
                </a:rPr>
                <a:t>外部</a:t>
              </a:r>
            </a:p>
          </p:txBody>
        </p:sp>
        <p:sp>
          <p:nvSpPr>
            <p:cNvPr id="65561" name="Rectangle 42"/>
            <p:cNvSpPr>
              <a:spLocks noChangeArrowheads="1"/>
            </p:cNvSpPr>
            <p:nvPr/>
          </p:nvSpPr>
          <p:spPr bwMode="auto">
            <a:xfrm>
              <a:off x="914" y="5834"/>
              <a:ext cx="1225" cy="408"/>
            </a:xfrm>
            <a:prstGeom prst="rect">
              <a:avLst/>
            </a:prstGeom>
            <a:solidFill>
              <a:srgbClr val="FF6600"/>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62" name="Text Box 43"/>
            <p:cNvSpPr txBox="1">
              <a:spLocks noChangeArrowheads="1"/>
            </p:cNvSpPr>
            <p:nvPr/>
          </p:nvSpPr>
          <p:spPr bwMode="auto">
            <a:xfrm>
              <a:off x="1124" y="5834"/>
              <a:ext cx="7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chemeClr val="bg1"/>
                  </a:solidFill>
                </a:rPr>
                <a:t>中断字及保留</a:t>
              </a:r>
              <a:r>
                <a:rPr lang="en-US" altLang="zh-CN">
                  <a:solidFill>
                    <a:schemeClr val="bg1"/>
                  </a:solidFill>
                </a:rPr>
                <a:t>(</a:t>
              </a:r>
              <a:r>
                <a:rPr lang="zh-CN" altLang="en-US">
                  <a:solidFill>
                    <a:schemeClr val="bg1"/>
                  </a:solidFill>
                </a:rPr>
                <a:t>外部</a:t>
              </a:r>
              <a:r>
                <a:rPr lang="en-US" altLang="zh-CN">
                  <a:solidFill>
                    <a:schemeClr val="bg1"/>
                  </a:solidFill>
                </a:rPr>
                <a:t>)</a:t>
              </a:r>
            </a:p>
          </p:txBody>
        </p:sp>
        <p:sp>
          <p:nvSpPr>
            <p:cNvPr id="65563" name="Text Box 44"/>
            <p:cNvSpPr txBox="1">
              <a:spLocks noChangeArrowheads="1"/>
            </p:cNvSpPr>
            <p:nvPr/>
          </p:nvSpPr>
          <p:spPr bwMode="auto">
            <a:xfrm>
              <a:off x="415" y="5808"/>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FF80h</a:t>
              </a:r>
            </a:p>
          </p:txBody>
        </p:sp>
        <p:sp>
          <p:nvSpPr>
            <p:cNvPr id="65564" name="Text Box 45"/>
            <p:cNvSpPr txBox="1">
              <a:spLocks noChangeArrowheads="1"/>
            </p:cNvSpPr>
            <p:nvPr/>
          </p:nvSpPr>
          <p:spPr bwMode="auto">
            <a:xfrm>
              <a:off x="385" y="6065"/>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FFFFh</a:t>
              </a:r>
            </a:p>
          </p:txBody>
        </p:sp>
        <p:sp>
          <p:nvSpPr>
            <p:cNvPr id="65565" name="Text Box 120"/>
            <p:cNvSpPr txBox="1">
              <a:spLocks noChangeArrowheads="1"/>
            </p:cNvSpPr>
            <p:nvPr/>
          </p:nvSpPr>
          <p:spPr bwMode="auto">
            <a:xfrm>
              <a:off x="975" y="6288"/>
              <a:ext cx="10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en-US" altLang="zh-CN"/>
                <a:t>MP/MC=1</a:t>
              </a:r>
            </a:p>
            <a:p>
              <a:pPr algn="ctr" eaLnBrk="1" hangingPunct="1">
                <a:lnSpc>
                  <a:spcPct val="75000"/>
                </a:lnSpc>
              </a:pPr>
              <a:r>
                <a:rPr lang="en-US" altLang="zh-CN"/>
                <a:t>(</a:t>
              </a:r>
              <a:r>
                <a:rPr lang="zh-CN" altLang="en-US"/>
                <a:t>微处理器模式</a:t>
              </a:r>
              <a:r>
                <a:rPr lang="en-US" altLang="zh-CN"/>
                <a:t>)</a:t>
              </a:r>
            </a:p>
          </p:txBody>
        </p:sp>
        <p:sp>
          <p:nvSpPr>
            <p:cNvPr id="65566" name="Text Box 121"/>
            <p:cNvSpPr txBox="1">
              <a:spLocks noChangeArrowheads="1"/>
            </p:cNvSpPr>
            <p:nvPr/>
          </p:nvSpPr>
          <p:spPr bwMode="auto">
            <a:xfrm>
              <a:off x="2653" y="6288"/>
              <a:ext cx="1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en-US" altLang="zh-CN"/>
                <a:t>MP/MC=0</a:t>
              </a:r>
            </a:p>
            <a:p>
              <a:pPr algn="ctr" eaLnBrk="1" hangingPunct="1">
                <a:lnSpc>
                  <a:spcPct val="75000"/>
                </a:lnSpc>
              </a:pPr>
              <a:r>
                <a:rPr lang="en-US" altLang="zh-CN"/>
                <a:t>(</a:t>
              </a:r>
              <a:r>
                <a:rPr lang="zh-CN" altLang="en-US"/>
                <a:t>微型计算机模式</a:t>
              </a:r>
              <a:r>
                <a:rPr lang="en-US" altLang="zh-CN"/>
                <a:t>)</a:t>
              </a:r>
            </a:p>
          </p:txBody>
        </p:sp>
        <p:sp>
          <p:nvSpPr>
            <p:cNvPr id="65567" name="Rectangle 173"/>
            <p:cNvSpPr>
              <a:spLocks noChangeArrowheads="1"/>
            </p:cNvSpPr>
            <p:nvPr/>
          </p:nvSpPr>
          <p:spPr bwMode="auto">
            <a:xfrm>
              <a:off x="2679" y="5426"/>
              <a:ext cx="1225" cy="428"/>
            </a:xfrm>
            <a:prstGeom prst="rect">
              <a:avLst/>
            </a:prstGeom>
            <a:solidFill>
              <a:schemeClr va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68" name="Text Box 124"/>
            <p:cNvSpPr txBox="1">
              <a:spLocks noChangeArrowheads="1"/>
            </p:cNvSpPr>
            <p:nvPr/>
          </p:nvSpPr>
          <p:spPr bwMode="auto">
            <a:xfrm>
              <a:off x="2230" y="3475"/>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0000h</a:t>
              </a:r>
            </a:p>
          </p:txBody>
        </p:sp>
        <p:sp>
          <p:nvSpPr>
            <p:cNvPr id="65569" name="Text Box 125"/>
            <p:cNvSpPr txBox="1">
              <a:spLocks noChangeArrowheads="1"/>
            </p:cNvSpPr>
            <p:nvPr/>
          </p:nvSpPr>
          <p:spPr bwMode="auto">
            <a:xfrm>
              <a:off x="2210" y="3897"/>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007Fh</a:t>
              </a:r>
            </a:p>
          </p:txBody>
        </p:sp>
        <p:sp>
          <p:nvSpPr>
            <p:cNvPr id="65570" name="Text Box 126"/>
            <p:cNvSpPr txBox="1">
              <a:spLocks noChangeArrowheads="1"/>
            </p:cNvSpPr>
            <p:nvPr/>
          </p:nvSpPr>
          <p:spPr bwMode="auto">
            <a:xfrm>
              <a:off x="2229" y="4034"/>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0080h</a:t>
              </a:r>
            </a:p>
          </p:txBody>
        </p:sp>
        <p:sp>
          <p:nvSpPr>
            <p:cNvPr id="65571" name="Text Box 127"/>
            <p:cNvSpPr txBox="1">
              <a:spLocks noChangeArrowheads="1"/>
            </p:cNvSpPr>
            <p:nvPr/>
          </p:nvSpPr>
          <p:spPr bwMode="auto">
            <a:xfrm>
              <a:off x="2174" y="4292"/>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1FFFh</a:t>
              </a:r>
            </a:p>
          </p:txBody>
        </p:sp>
        <p:sp>
          <p:nvSpPr>
            <p:cNvPr id="65572" name="Text Box 128"/>
            <p:cNvSpPr txBox="1">
              <a:spLocks noChangeArrowheads="1"/>
            </p:cNvSpPr>
            <p:nvPr/>
          </p:nvSpPr>
          <p:spPr bwMode="auto">
            <a:xfrm>
              <a:off x="2229" y="4459"/>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2000h</a:t>
              </a:r>
            </a:p>
          </p:txBody>
        </p:sp>
        <p:sp>
          <p:nvSpPr>
            <p:cNvPr id="65573" name="Text Box 129"/>
            <p:cNvSpPr txBox="1">
              <a:spLocks noChangeArrowheads="1"/>
            </p:cNvSpPr>
            <p:nvPr/>
          </p:nvSpPr>
          <p:spPr bwMode="auto">
            <a:xfrm>
              <a:off x="2174" y="4927"/>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7FFFh</a:t>
              </a:r>
            </a:p>
          </p:txBody>
        </p:sp>
        <p:sp>
          <p:nvSpPr>
            <p:cNvPr id="65574" name="Text Box 130"/>
            <p:cNvSpPr txBox="1">
              <a:spLocks noChangeArrowheads="1"/>
            </p:cNvSpPr>
            <p:nvPr/>
          </p:nvSpPr>
          <p:spPr bwMode="auto">
            <a:xfrm>
              <a:off x="2234" y="5109"/>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8000h</a:t>
              </a:r>
            </a:p>
          </p:txBody>
        </p:sp>
        <p:sp>
          <p:nvSpPr>
            <p:cNvPr id="65575" name="Text Box 131"/>
            <p:cNvSpPr txBox="1">
              <a:spLocks noChangeArrowheads="1"/>
            </p:cNvSpPr>
            <p:nvPr/>
          </p:nvSpPr>
          <p:spPr bwMode="auto">
            <a:xfrm>
              <a:off x="2160" y="5285"/>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BFFFh</a:t>
              </a:r>
            </a:p>
          </p:txBody>
        </p:sp>
        <p:sp>
          <p:nvSpPr>
            <p:cNvPr id="65576" name="Rectangle 132"/>
            <p:cNvSpPr>
              <a:spLocks noChangeArrowheads="1"/>
            </p:cNvSpPr>
            <p:nvPr/>
          </p:nvSpPr>
          <p:spPr bwMode="auto">
            <a:xfrm>
              <a:off x="2684" y="4473"/>
              <a:ext cx="1225" cy="635"/>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77" name="Rectangle 133"/>
            <p:cNvSpPr>
              <a:spLocks noChangeArrowheads="1"/>
            </p:cNvSpPr>
            <p:nvPr/>
          </p:nvSpPr>
          <p:spPr bwMode="auto">
            <a:xfrm>
              <a:off x="2683" y="5108"/>
              <a:ext cx="1225" cy="318"/>
            </a:xfrm>
            <a:prstGeom prst="rect">
              <a:avLst/>
            </a:prstGeom>
            <a:solidFill>
              <a:schemeClr val="accent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78" name="Rectangle 134"/>
            <p:cNvSpPr>
              <a:spLocks noChangeArrowheads="1"/>
            </p:cNvSpPr>
            <p:nvPr/>
          </p:nvSpPr>
          <p:spPr bwMode="auto">
            <a:xfrm>
              <a:off x="2683" y="3475"/>
              <a:ext cx="1225" cy="590"/>
            </a:xfrm>
            <a:prstGeom prst="rect">
              <a:avLst/>
            </a:prstGeom>
            <a:solidFill>
              <a:schemeClr val="bg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79" name="Text Box 135"/>
            <p:cNvSpPr txBox="1">
              <a:spLocks noChangeArrowheads="1"/>
            </p:cNvSpPr>
            <p:nvPr/>
          </p:nvSpPr>
          <p:spPr bwMode="auto">
            <a:xfrm>
              <a:off x="2753" y="3550"/>
              <a:ext cx="1085"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a:t>保留</a:t>
              </a:r>
              <a:r>
                <a:rPr lang="en-US" altLang="zh-CN"/>
                <a:t>(OVLY=1)</a:t>
              </a:r>
            </a:p>
            <a:p>
              <a:pPr algn="ctr" eaLnBrk="1" hangingPunct="1">
                <a:lnSpc>
                  <a:spcPct val="75000"/>
                </a:lnSpc>
              </a:pPr>
              <a:r>
                <a:rPr lang="zh-CN" altLang="en-US"/>
                <a:t>或</a:t>
              </a:r>
            </a:p>
            <a:p>
              <a:pPr algn="ctr" eaLnBrk="1" hangingPunct="1">
                <a:lnSpc>
                  <a:spcPct val="75000"/>
                </a:lnSpc>
              </a:pPr>
              <a:r>
                <a:rPr lang="zh-CN" altLang="en-US"/>
                <a:t>外部</a:t>
              </a:r>
              <a:r>
                <a:rPr lang="en-US" altLang="zh-CN"/>
                <a:t>(OVLY=0)</a:t>
              </a:r>
            </a:p>
          </p:txBody>
        </p:sp>
        <p:sp>
          <p:nvSpPr>
            <p:cNvPr id="65580" name="Rectangle 136"/>
            <p:cNvSpPr>
              <a:spLocks noChangeArrowheads="1"/>
            </p:cNvSpPr>
            <p:nvPr/>
          </p:nvSpPr>
          <p:spPr bwMode="auto">
            <a:xfrm>
              <a:off x="2683" y="4065"/>
              <a:ext cx="1225" cy="408"/>
            </a:xfrm>
            <a:prstGeom prst="rect">
              <a:avLst/>
            </a:prstGeom>
            <a:solidFill>
              <a:schemeClr val="fo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81" name="Text Box 137"/>
            <p:cNvSpPr txBox="1">
              <a:spLocks noChangeArrowheads="1"/>
            </p:cNvSpPr>
            <p:nvPr/>
          </p:nvSpPr>
          <p:spPr bwMode="auto">
            <a:xfrm>
              <a:off x="2744" y="4084"/>
              <a:ext cx="1085"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sz="1800">
                  <a:solidFill>
                    <a:schemeClr val="bg1"/>
                  </a:solidFill>
                </a:rPr>
                <a:t>片内</a:t>
              </a:r>
              <a:r>
                <a:rPr lang="en-US" altLang="zh-CN" sz="1800">
                  <a:solidFill>
                    <a:schemeClr val="bg1"/>
                  </a:solidFill>
                </a:rPr>
                <a:t>DARAM</a:t>
              </a:r>
            </a:p>
            <a:p>
              <a:pPr algn="ctr" eaLnBrk="1" hangingPunct="1">
                <a:lnSpc>
                  <a:spcPct val="75000"/>
                </a:lnSpc>
              </a:pPr>
              <a:r>
                <a:rPr lang="en-US" altLang="zh-CN" sz="1800">
                  <a:solidFill>
                    <a:schemeClr val="bg1"/>
                  </a:solidFill>
                </a:rPr>
                <a:t>(OVLY=1)</a:t>
              </a:r>
              <a:r>
                <a:rPr lang="zh-CN" altLang="en-US" sz="1800">
                  <a:solidFill>
                    <a:schemeClr val="bg1"/>
                  </a:solidFill>
                </a:rPr>
                <a:t>或</a:t>
              </a:r>
            </a:p>
            <a:p>
              <a:pPr algn="ctr" eaLnBrk="1" hangingPunct="1">
                <a:lnSpc>
                  <a:spcPct val="75000"/>
                </a:lnSpc>
              </a:pPr>
              <a:r>
                <a:rPr lang="zh-CN" altLang="en-US" sz="1800">
                  <a:solidFill>
                    <a:schemeClr val="bg1"/>
                  </a:solidFill>
                </a:rPr>
                <a:t>外部</a:t>
              </a:r>
              <a:r>
                <a:rPr lang="en-US" altLang="zh-CN" sz="1800">
                  <a:solidFill>
                    <a:schemeClr val="bg1"/>
                  </a:solidFill>
                </a:rPr>
                <a:t>(OVLY=0)</a:t>
              </a:r>
            </a:p>
          </p:txBody>
        </p:sp>
        <p:sp>
          <p:nvSpPr>
            <p:cNvPr id="65582" name="Text Box 138"/>
            <p:cNvSpPr txBox="1">
              <a:spLocks noChangeArrowheads="1"/>
            </p:cNvSpPr>
            <p:nvPr/>
          </p:nvSpPr>
          <p:spPr bwMode="auto">
            <a:xfrm>
              <a:off x="2744" y="4523"/>
              <a:ext cx="108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a:solidFill>
                    <a:schemeClr val="tx2"/>
                  </a:solidFill>
                </a:rPr>
                <a:t>片内</a:t>
              </a:r>
              <a:r>
                <a:rPr lang="en-US" altLang="zh-CN">
                  <a:solidFill>
                    <a:schemeClr val="tx2"/>
                  </a:solidFill>
                </a:rPr>
                <a:t>SARAM</a:t>
              </a:r>
            </a:p>
            <a:p>
              <a:pPr algn="ctr" eaLnBrk="1" hangingPunct="1">
                <a:lnSpc>
                  <a:spcPct val="75000"/>
                </a:lnSpc>
              </a:pPr>
              <a:r>
                <a:rPr lang="en-US" altLang="zh-CN">
                  <a:solidFill>
                    <a:schemeClr val="tx2"/>
                  </a:solidFill>
                </a:rPr>
                <a:t>(OVLY=1)</a:t>
              </a:r>
            </a:p>
            <a:p>
              <a:pPr algn="ctr" eaLnBrk="1" hangingPunct="1">
                <a:lnSpc>
                  <a:spcPct val="75000"/>
                </a:lnSpc>
              </a:pPr>
              <a:r>
                <a:rPr lang="zh-CN" altLang="en-US">
                  <a:solidFill>
                    <a:schemeClr val="tx2"/>
                  </a:solidFill>
                </a:rPr>
                <a:t>或</a:t>
              </a:r>
            </a:p>
            <a:p>
              <a:pPr algn="ctr" eaLnBrk="1" hangingPunct="1">
                <a:lnSpc>
                  <a:spcPct val="75000"/>
                </a:lnSpc>
              </a:pPr>
              <a:r>
                <a:rPr lang="zh-CN" altLang="en-US">
                  <a:solidFill>
                    <a:schemeClr val="tx2"/>
                  </a:solidFill>
                </a:rPr>
                <a:t>外部</a:t>
              </a:r>
              <a:r>
                <a:rPr lang="en-US" altLang="zh-CN">
                  <a:solidFill>
                    <a:schemeClr val="tx2"/>
                  </a:solidFill>
                </a:rPr>
                <a:t>(OVLY=0)</a:t>
              </a:r>
            </a:p>
          </p:txBody>
        </p:sp>
        <p:sp>
          <p:nvSpPr>
            <p:cNvPr id="65583" name="Text Box 139"/>
            <p:cNvSpPr txBox="1">
              <a:spLocks noChangeArrowheads="1"/>
            </p:cNvSpPr>
            <p:nvPr/>
          </p:nvSpPr>
          <p:spPr bwMode="auto">
            <a:xfrm>
              <a:off x="2880" y="5199"/>
              <a:ext cx="7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FF0000"/>
                  </a:solidFill>
                </a:rPr>
                <a:t>外部</a:t>
              </a:r>
            </a:p>
          </p:txBody>
        </p:sp>
        <p:sp>
          <p:nvSpPr>
            <p:cNvPr id="65584" name="Rectangle 140"/>
            <p:cNvSpPr>
              <a:spLocks noChangeArrowheads="1"/>
            </p:cNvSpPr>
            <p:nvPr/>
          </p:nvSpPr>
          <p:spPr bwMode="auto">
            <a:xfrm>
              <a:off x="2683" y="5789"/>
              <a:ext cx="1225" cy="453"/>
            </a:xfrm>
            <a:prstGeom prst="rect">
              <a:avLst/>
            </a:prstGeom>
            <a:solidFill>
              <a:srgbClr val="FF6600"/>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85" name="Text Box 141"/>
            <p:cNvSpPr txBox="1">
              <a:spLocks noChangeArrowheads="1"/>
            </p:cNvSpPr>
            <p:nvPr/>
          </p:nvSpPr>
          <p:spPr bwMode="auto">
            <a:xfrm>
              <a:off x="2893" y="5834"/>
              <a:ext cx="7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chemeClr val="bg1"/>
                  </a:solidFill>
                </a:rPr>
                <a:t>中断字及保留</a:t>
              </a:r>
              <a:r>
                <a:rPr lang="en-US" altLang="zh-CN">
                  <a:solidFill>
                    <a:schemeClr val="bg1"/>
                  </a:solidFill>
                </a:rPr>
                <a:t>(</a:t>
              </a:r>
              <a:r>
                <a:rPr lang="zh-CN" altLang="en-US">
                  <a:solidFill>
                    <a:schemeClr val="bg1"/>
                  </a:solidFill>
                </a:rPr>
                <a:t>片内</a:t>
              </a:r>
              <a:r>
                <a:rPr lang="en-US" altLang="zh-CN">
                  <a:solidFill>
                    <a:schemeClr val="bg1"/>
                  </a:solidFill>
                </a:rPr>
                <a:t>)</a:t>
              </a:r>
            </a:p>
          </p:txBody>
        </p:sp>
        <p:sp>
          <p:nvSpPr>
            <p:cNvPr id="65586" name="Text Box 142"/>
            <p:cNvSpPr txBox="1">
              <a:spLocks noChangeArrowheads="1"/>
            </p:cNvSpPr>
            <p:nvPr/>
          </p:nvSpPr>
          <p:spPr bwMode="auto">
            <a:xfrm>
              <a:off x="2164" y="5618"/>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FEFFh</a:t>
              </a:r>
            </a:p>
          </p:txBody>
        </p:sp>
        <p:sp>
          <p:nvSpPr>
            <p:cNvPr id="65587" name="Text Box 143"/>
            <p:cNvSpPr txBox="1">
              <a:spLocks noChangeArrowheads="1"/>
            </p:cNvSpPr>
            <p:nvPr/>
          </p:nvSpPr>
          <p:spPr bwMode="auto">
            <a:xfrm>
              <a:off x="2174" y="6075"/>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FFFFh</a:t>
              </a:r>
            </a:p>
          </p:txBody>
        </p:sp>
        <p:sp>
          <p:nvSpPr>
            <p:cNvPr id="65588" name="Text Box 169"/>
            <p:cNvSpPr txBox="1">
              <a:spLocks noChangeArrowheads="1"/>
            </p:cNvSpPr>
            <p:nvPr/>
          </p:nvSpPr>
          <p:spPr bwMode="auto">
            <a:xfrm>
              <a:off x="2210" y="5437"/>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C000h</a:t>
              </a:r>
            </a:p>
          </p:txBody>
        </p:sp>
        <p:sp>
          <p:nvSpPr>
            <p:cNvPr id="65589" name="Text Box 171"/>
            <p:cNvSpPr txBox="1">
              <a:spLocks noChangeArrowheads="1"/>
            </p:cNvSpPr>
            <p:nvPr/>
          </p:nvSpPr>
          <p:spPr bwMode="auto">
            <a:xfrm>
              <a:off x="2194" y="5785"/>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FF00h</a:t>
              </a:r>
            </a:p>
          </p:txBody>
        </p:sp>
        <p:sp>
          <p:nvSpPr>
            <p:cNvPr id="65590" name="Text Box 172"/>
            <p:cNvSpPr txBox="1">
              <a:spLocks noChangeArrowheads="1"/>
            </p:cNvSpPr>
            <p:nvPr/>
          </p:nvSpPr>
          <p:spPr bwMode="auto">
            <a:xfrm>
              <a:off x="2744" y="5507"/>
              <a:ext cx="10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a:solidFill>
                    <a:schemeClr val="folHlink"/>
                  </a:solidFill>
                </a:rPr>
                <a:t>片内</a:t>
              </a:r>
              <a:r>
                <a:rPr lang="en-US" altLang="zh-CN">
                  <a:solidFill>
                    <a:schemeClr val="folHlink"/>
                  </a:solidFill>
                </a:rPr>
                <a:t>ROM</a:t>
              </a:r>
            </a:p>
            <a:p>
              <a:pPr algn="ctr" eaLnBrk="1" hangingPunct="1">
                <a:lnSpc>
                  <a:spcPct val="75000"/>
                </a:lnSpc>
              </a:pPr>
              <a:r>
                <a:rPr lang="en-US" altLang="zh-CN">
                  <a:solidFill>
                    <a:schemeClr val="folHlink"/>
                  </a:solidFill>
                </a:rPr>
                <a:t>(2K</a:t>
              </a:r>
              <a:r>
                <a:rPr lang="zh-CN" altLang="en-US">
                  <a:solidFill>
                    <a:schemeClr val="folHlink"/>
                  </a:solidFill>
                </a:rPr>
                <a:t>字</a:t>
              </a:r>
              <a:r>
                <a:rPr lang="en-US" altLang="zh-CN">
                  <a:solidFill>
                    <a:schemeClr val="folHlink"/>
                  </a:solidFill>
                </a:rPr>
                <a:t>)</a:t>
              </a:r>
            </a:p>
          </p:txBody>
        </p:sp>
        <p:sp>
          <p:nvSpPr>
            <p:cNvPr id="65591" name="Rectangle 177"/>
            <p:cNvSpPr>
              <a:spLocks noChangeArrowheads="1"/>
            </p:cNvSpPr>
            <p:nvPr/>
          </p:nvSpPr>
          <p:spPr bwMode="auto">
            <a:xfrm>
              <a:off x="4530" y="5426"/>
              <a:ext cx="1225" cy="428"/>
            </a:xfrm>
            <a:prstGeom prst="rect">
              <a:avLst/>
            </a:prstGeom>
            <a:solidFill>
              <a:schemeClr va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92" name="Text Box 178"/>
            <p:cNvSpPr txBox="1">
              <a:spLocks noChangeArrowheads="1"/>
            </p:cNvSpPr>
            <p:nvPr/>
          </p:nvSpPr>
          <p:spPr bwMode="auto">
            <a:xfrm>
              <a:off x="4081" y="3475"/>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0000h</a:t>
              </a:r>
            </a:p>
          </p:txBody>
        </p:sp>
        <p:sp>
          <p:nvSpPr>
            <p:cNvPr id="65593" name="Text Box 179"/>
            <p:cNvSpPr txBox="1">
              <a:spLocks noChangeArrowheads="1"/>
            </p:cNvSpPr>
            <p:nvPr/>
          </p:nvSpPr>
          <p:spPr bwMode="auto">
            <a:xfrm>
              <a:off x="4059" y="3898"/>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007Fh</a:t>
              </a:r>
            </a:p>
          </p:txBody>
        </p:sp>
        <p:sp>
          <p:nvSpPr>
            <p:cNvPr id="65594" name="Text Box 180"/>
            <p:cNvSpPr txBox="1">
              <a:spLocks noChangeArrowheads="1"/>
            </p:cNvSpPr>
            <p:nvPr/>
          </p:nvSpPr>
          <p:spPr bwMode="auto">
            <a:xfrm>
              <a:off x="4080" y="4054"/>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0080h</a:t>
              </a:r>
            </a:p>
          </p:txBody>
        </p:sp>
        <p:sp>
          <p:nvSpPr>
            <p:cNvPr id="65595" name="Text Box 181"/>
            <p:cNvSpPr txBox="1">
              <a:spLocks noChangeArrowheads="1"/>
            </p:cNvSpPr>
            <p:nvPr/>
          </p:nvSpPr>
          <p:spPr bwMode="auto">
            <a:xfrm>
              <a:off x="4025" y="4292"/>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1FFFh</a:t>
              </a:r>
            </a:p>
          </p:txBody>
        </p:sp>
        <p:sp>
          <p:nvSpPr>
            <p:cNvPr id="65596" name="Text Box 182"/>
            <p:cNvSpPr txBox="1">
              <a:spLocks noChangeArrowheads="1"/>
            </p:cNvSpPr>
            <p:nvPr/>
          </p:nvSpPr>
          <p:spPr bwMode="auto">
            <a:xfrm>
              <a:off x="4080" y="4459"/>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2000h</a:t>
              </a:r>
            </a:p>
          </p:txBody>
        </p:sp>
        <p:sp>
          <p:nvSpPr>
            <p:cNvPr id="65597" name="Text Box 183"/>
            <p:cNvSpPr txBox="1">
              <a:spLocks noChangeArrowheads="1"/>
            </p:cNvSpPr>
            <p:nvPr/>
          </p:nvSpPr>
          <p:spPr bwMode="auto">
            <a:xfrm>
              <a:off x="4025" y="4927"/>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7FFFh</a:t>
              </a:r>
            </a:p>
          </p:txBody>
        </p:sp>
        <p:sp>
          <p:nvSpPr>
            <p:cNvPr id="65598" name="Text Box 184"/>
            <p:cNvSpPr txBox="1">
              <a:spLocks noChangeArrowheads="1"/>
            </p:cNvSpPr>
            <p:nvPr/>
          </p:nvSpPr>
          <p:spPr bwMode="auto">
            <a:xfrm>
              <a:off x="4085" y="5109"/>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8000h</a:t>
              </a:r>
            </a:p>
          </p:txBody>
        </p:sp>
        <p:sp>
          <p:nvSpPr>
            <p:cNvPr id="65599" name="Text Box 185"/>
            <p:cNvSpPr txBox="1">
              <a:spLocks noChangeArrowheads="1"/>
            </p:cNvSpPr>
            <p:nvPr/>
          </p:nvSpPr>
          <p:spPr bwMode="auto">
            <a:xfrm>
              <a:off x="4011" y="5275"/>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BFFFh</a:t>
              </a:r>
            </a:p>
          </p:txBody>
        </p:sp>
        <p:sp>
          <p:nvSpPr>
            <p:cNvPr id="65600" name="Rectangle 186"/>
            <p:cNvSpPr>
              <a:spLocks noChangeArrowheads="1"/>
            </p:cNvSpPr>
            <p:nvPr/>
          </p:nvSpPr>
          <p:spPr bwMode="auto">
            <a:xfrm>
              <a:off x="4535" y="4473"/>
              <a:ext cx="1225" cy="635"/>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601" name="Rectangle 187"/>
            <p:cNvSpPr>
              <a:spLocks noChangeArrowheads="1"/>
            </p:cNvSpPr>
            <p:nvPr/>
          </p:nvSpPr>
          <p:spPr bwMode="auto">
            <a:xfrm>
              <a:off x="4534" y="5108"/>
              <a:ext cx="1225" cy="318"/>
            </a:xfrm>
            <a:prstGeom prst="rect">
              <a:avLst/>
            </a:prstGeom>
            <a:solidFill>
              <a:schemeClr val="accent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602" name="Rectangle 188"/>
            <p:cNvSpPr>
              <a:spLocks noChangeArrowheads="1"/>
            </p:cNvSpPr>
            <p:nvPr/>
          </p:nvSpPr>
          <p:spPr bwMode="auto">
            <a:xfrm>
              <a:off x="4534" y="3475"/>
              <a:ext cx="1225" cy="318"/>
            </a:xfrm>
            <a:prstGeom prst="rect">
              <a:avLst/>
            </a:prstGeom>
            <a:solidFill>
              <a:schemeClr val="bg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603" name="Text Box 189"/>
            <p:cNvSpPr txBox="1">
              <a:spLocks noChangeArrowheads="1"/>
            </p:cNvSpPr>
            <p:nvPr/>
          </p:nvSpPr>
          <p:spPr bwMode="auto">
            <a:xfrm>
              <a:off x="4574" y="3580"/>
              <a:ext cx="115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sz="1800"/>
                <a:t>存储器映象寄存器</a:t>
              </a:r>
            </a:p>
          </p:txBody>
        </p:sp>
        <p:sp>
          <p:nvSpPr>
            <p:cNvPr id="65604" name="Rectangle 190"/>
            <p:cNvSpPr>
              <a:spLocks noChangeArrowheads="1"/>
            </p:cNvSpPr>
            <p:nvPr/>
          </p:nvSpPr>
          <p:spPr bwMode="auto">
            <a:xfrm>
              <a:off x="4534" y="4065"/>
              <a:ext cx="1225" cy="408"/>
            </a:xfrm>
            <a:prstGeom prst="rect">
              <a:avLst/>
            </a:prstGeom>
            <a:solidFill>
              <a:schemeClr val="fo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605" name="Text Box 191"/>
            <p:cNvSpPr txBox="1">
              <a:spLocks noChangeArrowheads="1"/>
            </p:cNvSpPr>
            <p:nvPr/>
          </p:nvSpPr>
          <p:spPr bwMode="auto">
            <a:xfrm>
              <a:off x="4595" y="4134"/>
              <a:ext cx="10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a:solidFill>
                    <a:schemeClr val="bg1"/>
                  </a:solidFill>
                </a:rPr>
                <a:t>片内</a:t>
              </a:r>
              <a:r>
                <a:rPr lang="en-US" altLang="zh-CN">
                  <a:solidFill>
                    <a:schemeClr val="bg1"/>
                  </a:solidFill>
                </a:rPr>
                <a:t>DARAM</a:t>
              </a:r>
            </a:p>
            <a:p>
              <a:pPr algn="ctr" eaLnBrk="1" hangingPunct="1">
                <a:lnSpc>
                  <a:spcPct val="75000"/>
                </a:lnSpc>
              </a:pPr>
              <a:r>
                <a:rPr lang="en-US" altLang="zh-CN">
                  <a:solidFill>
                    <a:schemeClr val="bg1"/>
                  </a:solidFill>
                </a:rPr>
                <a:t>(8K</a:t>
              </a:r>
              <a:r>
                <a:rPr lang="zh-CN" altLang="en-US">
                  <a:solidFill>
                    <a:schemeClr val="bg1"/>
                  </a:solidFill>
                </a:rPr>
                <a:t>字</a:t>
              </a:r>
              <a:r>
                <a:rPr lang="en-US" altLang="zh-CN">
                  <a:solidFill>
                    <a:schemeClr val="bg1"/>
                  </a:solidFill>
                </a:rPr>
                <a:t>)</a:t>
              </a:r>
            </a:p>
          </p:txBody>
        </p:sp>
        <p:sp>
          <p:nvSpPr>
            <p:cNvPr id="65606" name="Text Box 192"/>
            <p:cNvSpPr txBox="1">
              <a:spLocks noChangeArrowheads="1"/>
            </p:cNvSpPr>
            <p:nvPr/>
          </p:nvSpPr>
          <p:spPr bwMode="auto">
            <a:xfrm>
              <a:off x="4595" y="4613"/>
              <a:ext cx="10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a:solidFill>
                    <a:schemeClr val="tx2"/>
                  </a:solidFill>
                </a:rPr>
                <a:t>片内</a:t>
              </a:r>
              <a:r>
                <a:rPr lang="en-US" altLang="zh-CN">
                  <a:solidFill>
                    <a:schemeClr val="tx2"/>
                  </a:solidFill>
                </a:rPr>
                <a:t>SARAM</a:t>
              </a:r>
            </a:p>
            <a:p>
              <a:pPr algn="ctr" eaLnBrk="1" hangingPunct="1">
                <a:lnSpc>
                  <a:spcPct val="75000"/>
                </a:lnSpc>
              </a:pPr>
              <a:r>
                <a:rPr lang="en-US" altLang="zh-CN">
                  <a:solidFill>
                    <a:schemeClr val="tx2"/>
                  </a:solidFill>
                </a:rPr>
                <a:t>(24K</a:t>
              </a:r>
              <a:r>
                <a:rPr lang="zh-CN" altLang="en-US">
                  <a:solidFill>
                    <a:schemeClr val="tx2"/>
                  </a:solidFill>
                </a:rPr>
                <a:t>字</a:t>
              </a:r>
              <a:r>
                <a:rPr lang="en-US" altLang="zh-CN">
                  <a:solidFill>
                    <a:schemeClr val="tx2"/>
                  </a:solidFill>
                </a:rPr>
                <a:t>)</a:t>
              </a:r>
            </a:p>
          </p:txBody>
        </p:sp>
        <p:sp>
          <p:nvSpPr>
            <p:cNvPr id="65607" name="Text Box 193"/>
            <p:cNvSpPr txBox="1">
              <a:spLocks noChangeArrowheads="1"/>
            </p:cNvSpPr>
            <p:nvPr/>
          </p:nvSpPr>
          <p:spPr bwMode="auto">
            <a:xfrm>
              <a:off x="4731" y="5199"/>
              <a:ext cx="7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FF0000"/>
                  </a:solidFill>
                </a:rPr>
                <a:t>外部</a:t>
              </a:r>
            </a:p>
          </p:txBody>
        </p:sp>
        <p:sp>
          <p:nvSpPr>
            <p:cNvPr id="65608" name="Rectangle 194"/>
            <p:cNvSpPr>
              <a:spLocks noChangeArrowheads="1"/>
            </p:cNvSpPr>
            <p:nvPr/>
          </p:nvSpPr>
          <p:spPr bwMode="auto">
            <a:xfrm>
              <a:off x="4534" y="5789"/>
              <a:ext cx="1225" cy="453"/>
            </a:xfrm>
            <a:prstGeom prst="rect">
              <a:avLst/>
            </a:prstGeom>
            <a:solidFill>
              <a:srgbClr val="FF6600"/>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609" name="Text Box 195"/>
            <p:cNvSpPr txBox="1">
              <a:spLocks noChangeArrowheads="1"/>
            </p:cNvSpPr>
            <p:nvPr/>
          </p:nvSpPr>
          <p:spPr bwMode="auto">
            <a:xfrm>
              <a:off x="4558" y="5834"/>
              <a:ext cx="1202"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zh-CN" altLang="en-US">
                  <a:solidFill>
                    <a:schemeClr val="bg1"/>
                  </a:solidFill>
                </a:rPr>
                <a:t>保留</a:t>
              </a:r>
              <a:r>
                <a:rPr lang="en-US" altLang="zh-CN">
                  <a:solidFill>
                    <a:schemeClr val="bg1"/>
                  </a:solidFill>
                </a:rPr>
                <a:t>(DROM=1)</a:t>
              </a:r>
              <a:r>
                <a:rPr lang="zh-CN" altLang="en-US">
                  <a:solidFill>
                    <a:schemeClr val="bg1"/>
                  </a:solidFill>
                </a:rPr>
                <a:t>或</a:t>
              </a:r>
            </a:p>
            <a:p>
              <a:pPr algn="ctr" eaLnBrk="1" hangingPunct="1">
                <a:lnSpc>
                  <a:spcPct val="70000"/>
                </a:lnSpc>
              </a:pPr>
              <a:r>
                <a:rPr lang="zh-CN" altLang="en-US">
                  <a:solidFill>
                    <a:schemeClr val="bg1"/>
                  </a:solidFill>
                </a:rPr>
                <a:t>外部</a:t>
              </a:r>
              <a:r>
                <a:rPr lang="en-US" altLang="zh-CN">
                  <a:solidFill>
                    <a:schemeClr val="bg1"/>
                  </a:solidFill>
                </a:rPr>
                <a:t>(DROM=0)</a:t>
              </a:r>
            </a:p>
          </p:txBody>
        </p:sp>
        <p:sp>
          <p:nvSpPr>
            <p:cNvPr id="65610" name="Text Box 196"/>
            <p:cNvSpPr txBox="1">
              <a:spLocks noChangeArrowheads="1"/>
            </p:cNvSpPr>
            <p:nvPr/>
          </p:nvSpPr>
          <p:spPr bwMode="auto">
            <a:xfrm>
              <a:off x="4015" y="5618"/>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FEFFh</a:t>
              </a:r>
            </a:p>
          </p:txBody>
        </p:sp>
        <p:sp>
          <p:nvSpPr>
            <p:cNvPr id="65611" name="Text Box 197"/>
            <p:cNvSpPr txBox="1">
              <a:spLocks noChangeArrowheads="1"/>
            </p:cNvSpPr>
            <p:nvPr/>
          </p:nvSpPr>
          <p:spPr bwMode="auto">
            <a:xfrm>
              <a:off x="4025" y="6075"/>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FFFFh</a:t>
              </a:r>
            </a:p>
          </p:txBody>
        </p:sp>
        <p:sp>
          <p:nvSpPr>
            <p:cNvPr id="65612" name="Text Box 198"/>
            <p:cNvSpPr txBox="1">
              <a:spLocks noChangeArrowheads="1"/>
            </p:cNvSpPr>
            <p:nvPr/>
          </p:nvSpPr>
          <p:spPr bwMode="auto">
            <a:xfrm>
              <a:off x="4051" y="5437"/>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C000h</a:t>
              </a:r>
            </a:p>
          </p:txBody>
        </p:sp>
        <p:sp>
          <p:nvSpPr>
            <p:cNvPr id="65613" name="Text Box 199"/>
            <p:cNvSpPr txBox="1">
              <a:spLocks noChangeArrowheads="1"/>
            </p:cNvSpPr>
            <p:nvPr/>
          </p:nvSpPr>
          <p:spPr bwMode="auto">
            <a:xfrm>
              <a:off x="4045" y="5785"/>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FF00h</a:t>
              </a:r>
            </a:p>
          </p:txBody>
        </p:sp>
        <p:sp>
          <p:nvSpPr>
            <p:cNvPr id="65614" name="Text Box 200"/>
            <p:cNvSpPr txBox="1">
              <a:spLocks noChangeArrowheads="1"/>
            </p:cNvSpPr>
            <p:nvPr/>
          </p:nvSpPr>
          <p:spPr bwMode="auto">
            <a:xfrm>
              <a:off x="4595" y="5437"/>
              <a:ext cx="1085"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sz="1600">
                  <a:solidFill>
                    <a:schemeClr val="folHlink"/>
                  </a:solidFill>
                </a:rPr>
                <a:t>片内</a:t>
              </a:r>
              <a:r>
                <a:rPr lang="en-US" altLang="zh-CN" sz="1600">
                  <a:solidFill>
                    <a:schemeClr val="folHlink"/>
                  </a:solidFill>
                </a:rPr>
                <a:t>ROM</a:t>
              </a:r>
            </a:p>
            <a:p>
              <a:pPr algn="ctr" eaLnBrk="1" hangingPunct="1">
                <a:lnSpc>
                  <a:spcPct val="75000"/>
                </a:lnSpc>
              </a:pPr>
              <a:r>
                <a:rPr lang="en-US" altLang="zh-CN" sz="1600">
                  <a:solidFill>
                    <a:schemeClr val="folHlink"/>
                  </a:solidFill>
                </a:rPr>
                <a:t>(DROM=1)</a:t>
              </a:r>
              <a:r>
                <a:rPr lang="zh-CN" altLang="en-US" sz="1600">
                  <a:solidFill>
                    <a:schemeClr val="folHlink"/>
                  </a:solidFill>
                </a:rPr>
                <a:t>或</a:t>
              </a:r>
            </a:p>
            <a:p>
              <a:pPr algn="ctr" eaLnBrk="1" hangingPunct="1">
                <a:lnSpc>
                  <a:spcPct val="75000"/>
                </a:lnSpc>
              </a:pPr>
              <a:r>
                <a:rPr lang="zh-CN" altLang="en-US" sz="1600">
                  <a:solidFill>
                    <a:schemeClr val="folHlink"/>
                  </a:solidFill>
                </a:rPr>
                <a:t>外部</a:t>
              </a:r>
              <a:r>
                <a:rPr lang="en-US" altLang="zh-CN" sz="1600">
                  <a:solidFill>
                    <a:schemeClr val="folHlink"/>
                  </a:solidFill>
                </a:rPr>
                <a:t>(DROM=0</a:t>
              </a:r>
              <a:r>
                <a:rPr lang="en-US" altLang="zh-CN">
                  <a:solidFill>
                    <a:schemeClr val="folHlink"/>
                  </a:solidFill>
                </a:rPr>
                <a:t>)</a:t>
              </a:r>
            </a:p>
          </p:txBody>
        </p:sp>
        <p:sp>
          <p:nvSpPr>
            <p:cNvPr id="65615" name="Text Box 201"/>
            <p:cNvSpPr txBox="1">
              <a:spLocks noChangeArrowheads="1"/>
            </p:cNvSpPr>
            <p:nvPr/>
          </p:nvSpPr>
          <p:spPr bwMode="auto">
            <a:xfrm>
              <a:off x="4598" y="3203"/>
              <a:ext cx="10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数据存储器</a:t>
              </a:r>
            </a:p>
          </p:txBody>
        </p:sp>
        <p:sp>
          <p:nvSpPr>
            <p:cNvPr id="65616" name="Text Box 202"/>
            <p:cNvSpPr txBox="1">
              <a:spLocks noChangeArrowheads="1"/>
            </p:cNvSpPr>
            <p:nvPr/>
          </p:nvSpPr>
          <p:spPr bwMode="auto">
            <a:xfrm>
              <a:off x="4079" y="3767"/>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0060h</a:t>
              </a:r>
            </a:p>
          </p:txBody>
        </p:sp>
        <p:sp>
          <p:nvSpPr>
            <p:cNvPr id="65617" name="Text Box 203"/>
            <p:cNvSpPr txBox="1">
              <a:spLocks noChangeArrowheads="1"/>
            </p:cNvSpPr>
            <p:nvPr/>
          </p:nvSpPr>
          <p:spPr bwMode="auto">
            <a:xfrm>
              <a:off x="4059" y="3631"/>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005Fh</a:t>
              </a:r>
            </a:p>
          </p:txBody>
        </p:sp>
        <p:sp>
          <p:nvSpPr>
            <p:cNvPr id="65618" name="Rectangle 204"/>
            <p:cNvSpPr>
              <a:spLocks noChangeArrowheads="1"/>
            </p:cNvSpPr>
            <p:nvPr/>
          </p:nvSpPr>
          <p:spPr bwMode="auto">
            <a:xfrm>
              <a:off x="4535" y="3793"/>
              <a:ext cx="1225" cy="272"/>
            </a:xfrm>
            <a:prstGeom prst="rect">
              <a:avLst/>
            </a:prstGeom>
            <a:solidFill>
              <a:srgbClr val="CCFFFF"/>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619" name="Text Box 205"/>
            <p:cNvSpPr txBox="1">
              <a:spLocks noChangeArrowheads="1"/>
            </p:cNvSpPr>
            <p:nvPr/>
          </p:nvSpPr>
          <p:spPr bwMode="auto">
            <a:xfrm>
              <a:off x="4595" y="3873"/>
              <a:ext cx="108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zh-CN" altLang="en-US" sz="1800">
                  <a:solidFill>
                    <a:srgbClr val="FF6600"/>
                  </a:solidFill>
                </a:rPr>
                <a:t>暂存器</a:t>
              </a:r>
              <a:r>
                <a:rPr lang="en-US" altLang="zh-CN" sz="1800">
                  <a:solidFill>
                    <a:srgbClr val="FF6600"/>
                  </a:solidFill>
                </a:rPr>
                <a:t>SPRAM</a:t>
              </a:r>
            </a:p>
          </p:txBody>
        </p:sp>
      </p:grpSp>
      <p:sp>
        <p:nvSpPr>
          <p:cNvPr id="65541" name="Line 209"/>
          <p:cNvSpPr>
            <a:spLocks noChangeShapeType="1"/>
          </p:cNvSpPr>
          <p:nvPr/>
        </p:nvSpPr>
        <p:spPr bwMode="auto">
          <a:xfrm>
            <a:off x="1979613" y="6213475"/>
            <a:ext cx="36036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5542" name="Line 210"/>
          <p:cNvSpPr>
            <a:spLocks noChangeShapeType="1"/>
          </p:cNvSpPr>
          <p:nvPr/>
        </p:nvSpPr>
        <p:spPr bwMode="auto">
          <a:xfrm>
            <a:off x="4859338" y="6205538"/>
            <a:ext cx="36036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62179"/>
                                        </p:tgtEl>
                                        <p:attrNameLst>
                                          <p:attrName>style.visibility</p:attrName>
                                        </p:attrNameLst>
                                      </p:cBhvr>
                                      <p:to>
                                        <p:strVal val="visible"/>
                                      </p:to>
                                    </p:set>
                                    <p:anim calcmode="lin" valueType="num">
                                      <p:cBhvr additive="base">
                                        <p:cTn id="7" dur="500" fill="hold"/>
                                        <p:tgtEl>
                                          <p:spTgt spid="562179"/>
                                        </p:tgtEl>
                                        <p:attrNameLst>
                                          <p:attrName>ppt_x</p:attrName>
                                        </p:attrNameLst>
                                      </p:cBhvr>
                                      <p:tavLst>
                                        <p:tav tm="0">
                                          <p:val>
                                            <p:strVal val="0-#ppt_w/2"/>
                                          </p:val>
                                        </p:tav>
                                        <p:tav tm="100000">
                                          <p:val>
                                            <p:strVal val="#ppt_x"/>
                                          </p:val>
                                        </p:tav>
                                      </p:tavLst>
                                    </p:anim>
                                    <p:anim calcmode="lin" valueType="num">
                                      <p:cBhvr additive="base">
                                        <p:cTn id="8" dur="500" fill="hold"/>
                                        <p:tgtEl>
                                          <p:spTgt spid="5621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D3FCC873-2A42-4359-BD29-AE8B5F9C0994}" type="slidenum">
              <a:rPr lang="en-US" altLang="zh-CN" sz="1400" b="0"/>
              <a:pPr eaLnBrk="1" hangingPunct="1"/>
              <a:t>53</a:t>
            </a:fld>
            <a:endParaRPr lang="en-US" altLang="zh-CN" sz="1400" b="0"/>
          </a:p>
        </p:txBody>
      </p:sp>
      <p:sp>
        <p:nvSpPr>
          <p:cNvPr id="66563" name="Rectangle 2"/>
          <p:cNvSpPr>
            <a:spLocks noChangeArrowheads="1"/>
          </p:cNvSpPr>
          <p:nvPr/>
        </p:nvSpPr>
        <p:spPr bwMode="auto">
          <a:xfrm>
            <a:off x="228600" y="1066800"/>
            <a:ext cx="8610600" cy="581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90513"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25000"/>
              </a:spcBef>
            </a:pPr>
            <a:r>
              <a:rPr lang="zh-CN" altLang="en-US" sz="2800">
                <a:solidFill>
                  <a:srgbClr val="FF00FF"/>
                </a:solidFill>
              </a:rPr>
              <a:t>多款</a:t>
            </a:r>
            <a:r>
              <a:rPr lang="en-US" altLang="zh-CN" sz="2800">
                <a:solidFill>
                  <a:srgbClr val="FF00FF"/>
                </a:solidFill>
              </a:rPr>
              <a:t>C54</a:t>
            </a:r>
            <a:r>
              <a:rPr lang="zh-CN" altLang="en-US" sz="2800">
                <a:solidFill>
                  <a:srgbClr val="FF00FF"/>
                </a:solidFill>
              </a:rPr>
              <a:t>芯片可进行页扩展，以增加程序空间容量。如</a:t>
            </a:r>
            <a:r>
              <a:rPr lang="en-US" altLang="zh-CN" sz="2800">
                <a:solidFill>
                  <a:srgbClr val="FF00FF"/>
                </a:solidFill>
              </a:rPr>
              <a:t>C548</a:t>
            </a:r>
            <a:r>
              <a:rPr lang="zh-CN" altLang="en-US" sz="2800">
                <a:solidFill>
                  <a:srgbClr val="FF00FF"/>
                </a:solidFill>
              </a:rPr>
              <a:t>和</a:t>
            </a:r>
            <a:r>
              <a:rPr lang="en-US" altLang="zh-CN" sz="2800">
                <a:solidFill>
                  <a:srgbClr val="FF00FF"/>
                </a:solidFill>
              </a:rPr>
              <a:t>C549</a:t>
            </a:r>
            <a:r>
              <a:rPr lang="zh-CN" altLang="en-US" sz="2800">
                <a:solidFill>
                  <a:srgbClr val="FF00FF"/>
                </a:solidFill>
              </a:rPr>
              <a:t>其程序空间可扩展到</a:t>
            </a:r>
            <a:r>
              <a:rPr lang="en-US" altLang="zh-CN" sz="2800">
                <a:solidFill>
                  <a:srgbClr val="FF00FF"/>
                </a:solidFill>
              </a:rPr>
              <a:t>8192K</a:t>
            </a:r>
            <a:r>
              <a:rPr lang="zh-CN" altLang="en-US" sz="2800">
                <a:solidFill>
                  <a:srgbClr val="FF00FF"/>
                </a:solidFill>
              </a:rPr>
              <a:t>字。为此，它们有</a:t>
            </a:r>
            <a:r>
              <a:rPr lang="en-US" altLang="zh-CN" sz="2800">
                <a:solidFill>
                  <a:srgbClr val="FF00FF"/>
                </a:solidFill>
              </a:rPr>
              <a:t>23</a:t>
            </a:r>
            <a:r>
              <a:rPr lang="zh-CN" altLang="en-US" sz="2800">
                <a:solidFill>
                  <a:srgbClr val="FF00FF"/>
                </a:solidFill>
              </a:rPr>
              <a:t>根地址线，并增加了程序计数器扩展寄存器（</a:t>
            </a:r>
            <a:r>
              <a:rPr lang="en-US" altLang="zh-CN" sz="2800">
                <a:solidFill>
                  <a:srgbClr val="FF00FF"/>
                </a:solidFill>
              </a:rPr>
              <a:t>XPC</a:t>
            </a:r>
            <a:r>
              <a:rPr lang="zh-CN" altLang="en-US" sz="2800">
                <a:solidFill>
                  <a:srgbClr val="FF00FF"/>
                </a:solidFill>
              </a:rPr>
              <a:t>），以及</a:t>
            </a:r>
            <a:r>
              <a:rPr lang="en-US" altLang="zh-CN" sz="2800">
                <a:solidFill>
                  <a:srgbClr val="FF00FF"/>
                </a:solidFill>
              </a:rPr>
              <a:t>6</a:t>
            </a:r>
            <a:r>
              <a:rPr lang="zh-CN" altLang="en-US" sz="2800">
                <a:solidFill>
                  <a:srgbClr val="FF00FF"/>
                </a:solidFill>
              </a:rPr>
              <a:t>条寻址扩展程序空间的指令。</a:t>
            </a:r>
            <a:r>
              <a:rPr lang="en-US" altLang="zh-CN" sz="2800"/>
              <a:t>C548</a:t>
            </a:r>
            <a:r>
              <a:rPr lang="zh-CN" altLang="en-US" sz="2800"/>
              <a:t>和</a:t>
            </a:r>
            <a:r>
              <a:rPr lang="en-US" altLang="zh-CN" sz="2800"/>
              <a:t>C549</a:t>
            </a:r>
            <a:r>
              <a:rPr lang="zh-CN" altLang="en-US" sz="2800"/>
              <a:t>中的程序空间分成</a:t>
            </a:r>
            <a:r>
              <a:rPr lang="en-US" altLang="zh-CN" sz="2800"/>
              <a:t>128</a:t>
            </a:r>
            <a:r>
              <a:rPr lang="zh-CN" altLang="en-US" sz="2800"/>
              <a:t>页，每页</a:t>
            </a:r>
            <a:r>
              <a:rPr lang="en-US" altLang="zh-CN" sz="2800"/>
              <a:t>64K</a:t>
            </a:r>
            <a:r>
              <a:rPr lang="zh-CN" altLang="en-US" sz="2800"/>
              <a:t>。</a:t>
            </a:r>
          </a:p>
          <a:p>
            <a:pPr eaLnBrk="1" hangingPunct="1">
              <a:lnSpc>
                <a:spcPct val="85000"/>
              </a:lnSpc>
              <a:spcBef>
                <a:spcPct val="25000"/>
              </a:spcBef>
            </a:pPr>
            <a:r>
              <a:rPr lang="zh-CN" altLang="en-US" sz="2800"/>
              <a:t>下图为</a:t>
            </a:r>
            <a:r>
              <a:rPr lang="en-US" altLang="zh-CN" sz="2800"/>
              <a:t>C548</a:t>
            </a:r>
            <a:r>
              <a:rPr lang="zh-CN" altLang="en-US" sz="2800"/>
              <a:t>和</a:t>
            </a:r>
            <a:r>
              <a:rPr lang="en-US" altLang="zh-CN" sz="2800"/>
              <a:t>C549</a:t>
            </a:r>
            <a:r>
              <a:rPr lang="zh-CN" altLang="en-US" sz="2800"/>
              <a:t>的外部扩展程序存储器图。</a:t>
            </a:r>
          </a:p>
          <a:p>
            <a:pPr eaLnBrk="1" hangingPunct="1">
              <a:lnSpc>
                <a:spcPct val="85000"/>
              </a:lnSpc>
              <a:spcBef>
                <a:spcPct val="25000"/>
              </a:spcBef>
            </a:pPr>
            <a:r>
              <a:rPr lang="zh-CN" altLang="en-US" sz="2800">
                <a:solidFill>
                  <a:schemeClr val="tx2"/>
                </a:solidFill>
              </a:rPr>
              <a:t>当片内</a:t>
            </a:r>
            <a:r>
              <a:rPr lang="en-US" altLang="zh-CN" sz="2800">
                <a:solidFill>
                  <a:schemeClr val="tx2"/>
                </a:solidFill>
              </a:rPr>
              <a:t>RAM</a:t>
            </a:r>
            <a:r>
              <a:rPr lang="zh-CN" altLang="en-US" sz="2800">
                <a:solidFill>
                  <a:schemeClr val="tx2"/>
                </a:solidFill>
              </a:rPr>
              <a:t>安排到程序空间时，每页程序存储器分成两部分：</a:t>
            </a:r>
          </a:p>
          <a:p>
            <a:pPr eaLnBrk="1" hangingPunct="1">
              <a:lnSpc>
                <a:spcPct val="85000"/>
              </a:lnSpc>
              <a:spcBef>
                <a:spcPct val="25000"/>
              </a:spcBef>
            </a:pPr>
            <a:r>
              <a:rPr lang="zh-CN" altLang="en-US" sz="2800">
                <a:solidFill>
                  <a:schemeClr val="tx2"/>
                </a:solidFill>
              </a:rPr>
              <a:t>      一部分是公共的</a:t>
            </a:r>
            <a:r>
              <a:rPr lang="en-US" altLang="zh-CN" sz="2800">
                <a:solidFill>
                  <a:schemeClr val="tx2"/>
                </a:solidFill>
              </a:rPr>
              <a:t>32K</a:t>
            </a:r>
            <a:r>
              <a:rPr lang="zh-CN" altLang="en-US" sz="2800">
                <a:solidFill>
                  <a:schemeClr val="tx2"/>
                </a:solidFill>
              </a:rPr>
              <a:t>字；</a:t>
            </a:r>
          </a:p>
          <a:p>
            <a:pPr eaLnBrk="1" hangingPunct="1">
              <a:lnSpc>
                <a:spcPct val="85000"/>
              </a:lnSpc>
              <a:spcBef>
                <a:spcPct val="25000"/>
              </a:spcBef>
            </a:pPr>
            <a:r>
              <a:rPr lang="zh-CN" altLang="en-US" sz="2800">
                <a:solidFill>
                  <a:schemeClr val="tx2"/>
                </a:solidFill>
              </a:rPr>
              <a:t>      一部分是各自独立的</a:t>
            </a:r>
            <a:r>
              <a:rPr lang="en-US" altLang="zh-CN" sz="2800">
                <a:solidFill>
                  <a:schemeClr val="tx2"/>
                </a:solidFill>
              </a:rPr>
              <a:t>32K</a:t>
            </a:r>
            <a:r>
              <a:rPr lang="zh-CN" altLang="en-US" sz="2800">
                <a:solidFill>
                  <a:schemeClr val="tx2"/>
                </a:solidFill>
              </a:rPr>
              <a:t>字。</a:t>
            </a:r>
          </a:p>
          <a:p>
            <a:pPr eaLnBrk="1" hangingPunct="1">
              <a:lnSpc>
                <a:spcPct val="85000"/>
              </a:lnSpc>
              <a:spcBef>
                <a:spcPct val="25000"/>
              </a:spcBef>
            </a:pPr>
            <a:r>
              <a:rPr lang="zh-CN" altLang="en-US" sz="2800"/>
              <a:t> 公共存储区为所有页共享，而每页独立的</a:t>
            </a:r>
            <a:r>
              <a:rPr lang="en-US" altLang="zh-CN" sz="2800"/>
              <a:t>32K</a:t>
            </a:r>
            <a:r>
              <a:rPr lang="zh-CN" altLang="en-US" sz="2800"/>
              <a:t>字存储区只能按指定的页号寻址。</a:t>
            </a:r>
            <a:r>
              <a:rPr lang="zh-CN" altLang="en-US" sz="2800">
                <a:solidFill>
                  <a:schemeClr val="bg1"/>
                </a:solidFill>
              </a:rPr>
              <a:t>如果片内</a:t>
            </a:r>
            <a:r>
              <a:rPr lang="en-US" altLang="zh-CN" sz="2800">
                <a:solidFill>
                  <a:schemeClr val="bg1"/>
                </a:solidFill>
              </a:rPr>
              <a:t>ROM</a:t>
            </a:r>
            <a:r>
              <a:rPr lang="zh-CN" altLang="en-US" sz="2800">
                <a:solidFill>
                  <a:schemeClr val="bg1"/>
                </a:solidFill>
              </a:rPr>
              <a:t>被寻址</a:t>
            </a:r>
            <a:r>
              <a:rPr lang="zh-CN" altLang="en-US" sz="2800">
                <a:solidFill>
                  <a:srgbClr val="FF00FF"/>
                </a:solidFill>
              </a:rPr>
              <a:t>     </a:t>
            </a:r>
          </a:p>
          <a:p>
            <a:pPr eaLnBrk="1" hangingPunct="1">
              <a:lnSpc>
                <a:spcPct val="85000"/>
              </a:lnSpc>
              <a:spcBef>
                <a:spcPct val="25000"/>
              </a:spcBef>
            </a:pPr>
            <a:r>
              <a:rPr lang="zh-CN" altLang="en-US" sz="2800">
                <a:solidFill>
                  <a:srgbClr val="FF00FF"/>
                </a:solidFill>
              </a:rPr>
              <a:t>  </a:t>
            </a:r>
            <a:r>
              <a:rPr lang="en-US" altLang="zh-CN" sz="2800">
                <a:solidFill>
                  <a:srgbClr val="FF00FF"/>
                </a:solidFill>
              </a:rPr>
              <a:t>MP/ MC=0</a:t>
            </a:r>
            <a:r>
              <a:rPr lang="zh-CN" altLang="en-US" sz="2800">
                <a:solidFill>
                  <a:srgbClr val="FF00FF"/>
                </a:solidFill>
              </a:rPr>
              <a:t>，它只能在</a:t>
            </a:r>
            <a:r>
              <a:rPr lang="en-US" altLang="zh-CN" sz="2800">
                <a:solidFill>
                  <a:srgbClr val="FF00FF"/>
                </a:solidFill>
              </a:rPr>
              <a:t>0</a:t>
            </a:r>
            <a:r>
              <a:rPr lang="zh-CN" altLang="en-US" sz="2800">
                <a:solidFill>
                  <a:srgbClr val="FF00FF"/>
                </a:solidFill>
              </a:rPr>
              <a:t>页，</a:t>
            </a:r>
            <a:r>
              <a:rPr lang="zh-CN" altLang="en-US" sz="2800"/>
              <a:t>不能映象到程序存储器的其它页。</a:t>
            </a:r>
            <a:endParaRPr lang="zh-CN" altLang="en-US" sz="2800" b="0"/>
          </a:p>
        </p:txBody>
      </p:sp>
      <p:sp>
        <p:nvSpPr>
          <p:cNvPr id="66564" name="Line 3"/>
          <p:cNvSpPr>
            <a:spLocks noChangeShapeType="1"/>
          </p:cNvSpPr>
          <p:nvPr/>
        </p:nvSpPr>
        <p:spPr bwMode="auto">
          <a:xfrm>
            <a:off x="1476375" y="6092825"/>
            <a:ext cx="533400"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0D18EDB-26E5-4F50-AB4C-98B4550D8303}" type="slidenum">
              <a:rPr lang="en-US" altLang="zh-CN" sz="1400" b="0"/>
              <a:pPr eaLnBrk="1" hangingPunct="1"/>
              <a:t>54</a:t>
            </a:fld>
            <a:endParaRPr lang="en-US" altLang="zh-CN" sz="1400" b="0"/>
          </a:p>
        </p:txBody>
      </p:sp>
      <p:sp>
        <p:nvSpPr>
          <p:cNvPr id="564226" name="Rectangle 2"/>
          <p:cNvSpPr>
            <a:spLocks noChangeArrowheads="1"/>
          </p:cNvSpPr>
          <p:nvPr/>
        </p:nvSpPr>
        <p:spPr bwMode="auto">
          <a:xfrm>
            <a:off x="2057400" y="1066800"/>
            <a:ext cx="4572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3200">
                <a:solidFill>
                  <a:srgbClr val="FF00FF"/>
                </a:solidFill>
                <a:latin typeface="宋体" panose="02010600030101010101" pitchFamily="2" charset="-122"/>
              </a:rPr>
              <a:t>C548</a:t>
            </a:r>
            <a:r>
              <a:rPr lang="zh-CN" altLang="en-US" sz="3200">
                <a:solidFill>
                  <a:srgbClr val="FF00FF"/>
                </a:solidFill>
                <a:latin typeface="宋体" panose="02010600030101010101" pitchFamily="2" charset="-122"/>
              </a:rPr>
              <a:t>和</a:t>
            </a:r>
            <a:r>
              <a:rPr lang="en-US" altLang="zh-CN" sz="3200">
                <a:solidFill>
                  <a:srgbClr val="FF00FF"/>
                </a:solidFill>
                <a:latin typeface="宋体" panose="02010600030101010101" pitchFamily="2" charset="-122"/>
              </a:rPr>
              <a:t>C549</a:t>
            </a:r>
            <a:r>
              <a:rPr lang="zh-CN" altLang="en-US" sz="3200">
                <a:solidFill>
                  <a:srgbClr val="FF00FF"/>
                </a:solidFill>
                <a:latin typeface="宋体" panose="02010600030101010101" pitchFamily="2" charset="-122"/>
              </a:rPr>
              <a:t>页扩展方法</a:t>
            </a:r>
          </a:p>
          <a:p>
            <a:pPr eaLnBrk="1" hangingPunct="1">
              <a:spcBef>
                <a:spcPct val="50000"/>
              </a:spcBef>
              <a:buFontTx/>
              <a:buChar char="•"/>
            </a:pPr>
            <a:r>
              <a:rPr lang="zh-CN" altLang="en-US" sz="3200">
                <a:solidFill>
                  <a:srgbClr val="FF00FF"/>
                </a:solidFill>
                <a:latin typeface="宋体" panose="02010600030101010101" pitchFamily="2" charset="-122"/>
              </a:rPr>
              <a:t>对程序空间扩展</a:t>
            </a:r>
            <a:r>
              <a:rPr lang="zh-CN" altLang="en-US" sz="3200" b="0">
                <a:solidFill>
                  <a:srgbClr val="FF00FF"/>
                </a:solidFill>
              </a:rPr>
              <a:t> </a:t>
            </a:r>
          </a:p>
        </p:txBody>
      </p:sp>
      <p:sp>
        <p:nvSpPr>
          <p:cNvPr id="564228" name="AutoShape 4"/>
          <p:cNvSpPr>
            <a:spLocks noChangeArrowheads="1"/>
          </p:cNvSpPr>
          <p:nvPr/>
        </p:nvSpPr>
        <p:spPr bwMode="auto">
          <a:xfrm>
            <a:off x="6948488" y="692150"/>
            <a:ext cx="1828800" cy="1447800"/>
          </a:xfrm>
          <a:prstGeom prst="wedgeRoundRectCallout">
            <a:avLst>
              <a:gd name="adj1" fmla="val -135069"/>
              <a:gd name="adj2" fmla="val 43750"/>
              <a:gd name="adj3" fmla="val 16667"/>
            </a:avLst>
          </a:prstGeom>
          <a:solidFill>
            <a:srgbClr val="FFFF00"/>
          </a:solid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800">
                <a:solidFill>
                  <a:schemeClr val="tx2"/>
                </a:solidFill>
              </a:rPr>
              <a:t>程序计数器扩展寄存器</a:t>
            </a:r>
            <a:r>
              <a:rPr lang="en-US" altLang="zh-CN" sz="2800">
                <a:solidFill>
                  <a:schemeClr val="tx2"/>
                </a:solidFill>
              </a:rPr>
              <a:t>XPC</a:t>
            </a:r>
          </a:p>
        </p:txBody>
      </p:sp>
      <p:sp>
        <p:nvSpPr>
          <p:cNvPr id="67589" name="Text Box 5" descr="小棋盘"/>
          <p:cNvSpPr txBox="1">
            <a:spLocks noChangeArrowheads="1"/>
          </p:cNvSpPr>
          <p:nvPr/>
        </p:nvSpPr>
        <p:spPr bwMode="auto">
          <a:xfrm>
            <a:off x="1617663" y="2565400"/>
            <a:ext cx="576262" cy="781050"/>
          </a:xfrm>
          <a:prstGeom prst="rect">
            <a:avLst/>
          </a:prstGeom>
          <a:pattFill prst="smCheck">
            <a:fgClr>
              <a:srgbClr val="FFFF99"/>
            </a:fgClr>
            <a:bgClr>
              <a:schemeClr val="bg1"/>
            </a:bgClr>
          </a:pattFill>
          <a:ln w="19050">
            <a:solidFill>
              <a:srgbClr val="FF00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chemeClr val="tx2"/>
                </a:solidFill>
              </a:rPr>
              <a:t>0</a:t>
            </a:r>
            <a:r>
              <a:rPr lang="zh-CN" altLang="en-US">
                <a:solidFill>
                  <a:schemeClr val="tx2"/>
                </a:solidFill>
              </a:rPr>
              <a:t>页</a:t>
            </a:r>
          </a:p>
          <a:p>
            <a:pPr algn="ctr" eaLnBrk="1" hangingPunct="1"/>
            <a:endParaRPr lang="zh-CN" altLang="en-US" sz="1000">
              <a:solidFill>
                <a:schemeClr val="tx2"/>
              </a:solidFill>
            </a:endParaRPr>
          </a:p>
          <a:p>
            <a:pPr algn="ctr" eaLnBrk="1" hangingPunct="1"/>
            <a:r>
              <a:rPr lang="en-US" altLang="zh-CN">
                <a:solidFill>
                  <a:schemeClr val="tx2"/>
                </a:solidFill>
              </a:rPr>
              <a:t>64k</a:t>
            </a:r>
          </a:p>
        </p:txBody>
      </p:sp>
      <p:sp>
        <p:nvSpPr>
          <p:cNvPr id="67590" name="Text Box 6" descr="小棋盘"/>
          <p:cNvSpPr txBox="1">
            <a:spLocks noChangeArrowheads="1"/>
          </p:cNvSpPr>
          <p:nvPr/>
        </p:nvSpPr>
        <p:spPr bwMode="auto">
          <a:xfrm>
            <a:off x="3417888" y="2565400"/>
            <a:ext cx="576262" cy="781050"/>
          </a:xfrm>
          <a:prstGeom prst="rect">
            <a:avLst/>
          </a:prstGeom>
          <a:pattFill prst="smCheck">
            <a:fgClr>
              <a:srgbClr val="FFFF99"/>
            </a:fgClr>
            <a:bgClr>
              <a:schemeClr val="bg1"/>
            </a:bgClr>
          </a:pattFill>
          <a:ln w="19050">
            <a:solidFill>
              <a:srgbClr val="FF00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chemeClr val="tx2"/>
                </a:solidFill>
              </a:rPr>
              <a:t>1</a:t>
            </a:r>
            <a:r>
              <a:rPr lang="zh-CN" altLang="en-US">
                <a:solidFill>
                  <a:schemeClr val="tx2"/>
                </a:solidFill>
              </a:rPr>
              <a:t>页</a:t>
            </a:r>
          </a:p>
          <a:p>
            <a:pPr algn="ctr" eaLnBrk="1" hangingPunct="1"/>
            <a:endParaRPr lang="zh-CN" altLang="en-US" sz="1000">
              <a:solidFill>
                <a:schemeClr val="tx2"/>
              </a:solidFill>
            </a:endParaRPr>
          </a:p>
          <a:p>
            <a:pPr algn="ctr" eaLnBrk="1" hangingPunct="1"/>
            <a:r>
              <a:rPr lang="en-US" altLang="zh-CN">
                <a:solidFill>
                  <a:schemeClr val="tx2"/>
                </a:solidFill>
              </a:rPr>
              <a:t>64k</a:t>
            </a:r>
          </a:p>
        </p:txBody>
      </p:sp>
      <p:sp>
        <p:nvSpPr>
          <p:cNvPr id="67591" name="Text Box 7" descr="小棋盘"/>
          <p:cNvSpPr txBox="1">
            <a:spLocks noChangeArrowheads="1"/>
          </p:cNvSpPr>
          <p:nvPr/>
        </p:nvSpPr>
        <p:spPr bwMode="auto">
          <a:xfrm>
            <a:off x="5146675" y="2565400"/>
            <a:ext cx="576263" cy="781050"/>
          </a:xfrm>
          <a:prstGeom prst="rect">
            <a:avLst/>
          </a:prstGeom>
          <a:pattFill prst="smCheck">
            <a:fgClr>
              <a:srgbClr val="FFFF99"/>
            </a:fgClr>
            <a:bgClr>
              <a:schemeClr val="bg1"/>
            </a:bgClr>
          </a:pattFill>
          <a:ln w="19050">
            <a:solidFill>
              <a:srgbClr val="FF00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chemeClr val="tx2"/>
                </a:solidFill>
              </a:rPr>
              <a:t>2</a:t>
            </a:r>
            <a:r>
              <a:rPr lang="zh-CN" altLang="en-US">
                <a:solidFill>
                  <a:schemeClr val="tx2"/>
                </a:solidFill>
              </a:rPr>
              <a:t>页</a:t>
            </a:r>
          </a:p>
          <a:p>
            <a:pPr algn="ctr" eaLnBrk="1" hangingPunct="1"/>
            <a:endParaRPr lang="zh-CN" altLang="en-US" sz="1000">
              <a:solidFill>
                <a:schemeClr val="tx2"/>
              </a:solidFill>
            </a:endParaRPr>
          </a:p>
          <a:p>
            <a:pPr algn="ctr" eaLnBrk="1" hangingPunct="1"/>
            <a:r>
              <a:rPr lang="en-US" altLang="zh-CN">
                <a:solidFill>
                  <a:schemeClr val="tx2"/>
                </a:solidFill>
              </a:rPr>
              <a:t>64k</a:t>
            </a:r>
          </a:p>
        </p:txBody>
      </p:sp>
      <p:sp>
        <p:nvSpPr>
          <p:cNvPr id="67592" name="Text Box 8" descr="小棋盘"/>
          <p:cNvSpPr txBox="1">
            <a:spLocks noChangeArrowheads="1"/>
          </p:cNvSpPr>
          <p:nvPr/>
        </p:nvSpPr>
        <p:spPr bwMode="auto">
          <a:xfrm>
            <a:off x="7883525" y="2565400"/>
            <a:ext cx="720725" cy="781050"/>
          </a:xfrm>
          <a:prstGeom prst="rect">
            <a:avLst/>
          </a:prstGeom>
          <a:pattFill prst="smCheck">
            <a:fgClr>
              <a:srgbClr val="FFFF99"/>
            </a:fgClr>
            <a:bgClr>
              <a:schemeClr val="bg1"/>
            </a:bgClr>
          </a:pattFill>
          <a:ln w="19050">
            <a:solidFill>
              <a:srgbClr val="FF00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chemeClr val="tx2"/>
                </a:solidFill>
              </a:rPr>
              <a:t>127</a:t>
            </a:r>
            <a:r>
              <a:rPr lang="zh-CN" altLang="en-US">
                <a:solidFill>
                  <a:schemeClr val="tx2"/>
                </a:solidFill>
              </a:rPr>
              <a:t>页</a:t>
            </a:r>
          </a:p>
          <a:p>
            <a:pPr algn="ctr" eaLnBrk="1" hangingPunct="1"/>
            <a:endParaRPr lang="zh-CN" altLang="en-US" sz="1000">
              <a:solidFill>
                <a:schemeClr val="tx2"/>
              </a:solidFill>
            </a:endParaRPr>
          </a:p>
          <a:p>
            <a:pPr algn="ctr" eaLnBrk="1" hangingPunct="1"/>
            <a:r>
              <a:rPr lang="en-US" altLang="zh-CN">
                <a:solidFill>
                  <a:schemeClr val="tx2"/>
                </a:solidFill>
              </a:rPr>
              <a:t>64k</a:t>
            </a:r>
          </a:p>
        </p:txBody>
      </p:sp>
      <p:sp>
        <p:nvSpPr>
          <p:cNvPr id="67593" name="Text Box 14"/>
          <p:cNvSpPr txBox="1">
            <a:spLocks noChangeArrowheads="1"/>
          </p:cNvSpPr>
          <p:nvPr/>
        </p:nvSpPr>
        <p:spPr bwMode="auto">
          <a:xfrm>
            <a:off x="538163" y="2565400"/>
            <a:ext cx="865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00 0000</a:t>
            </a:r>
          </a:p>
        </p:txBody>
      </p:sp>
      <p:sp>
        <p:nvSpPr>
          <p:cNvPr id="67594" name="Text Box 15"/>
          <p:cNvSpPr txBox="1">
            <a:spLocks noChangeArrowheads="1"/>
          </p:cNvSpPr>
          <p:nvPr/>
        </p:nvSpPr>
        <p:spPr bwMode="auto">
          <a:xfrm>
            <a:off x="538163" y="2997200"/>
            <a:ext cx="10080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00 FFFF</a:t>
            </a:r>
          </a:p>
        </p:txBody>
      </p:sp>
      <p:sp>
        <p:nvSpPr>
          <p:cNvPr id="67595" name="Text Box 16"/>
          <p:cNvSpPr txBox="1">
            <a:spLocks noChangeArrowheads="1"/>
          </p:cNvSpPr>
          <p:nvPr/>
        </p:nvSpPr>
        <p:spPr bwMode="auto">
          <a:xfrm>
            <a:off x="2338388" y="2589213"/>
            <a:ext cx="865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01 0000</a:t>
            </a:r>
          </a:p>
        </p:txBody>
      </p:sp>
      <p:sp>
        <p:nvSpPr>
          <p:cNvPr id="67596" name="Text Box 17"/>
          <p:cNvSpPr txBox="1">
            <a:spLocks noChangeArrowheads="1"/>
          </p:cNvSpPr>
          <p:nvPr/>
        </p:nvSpPr>
        <p:spPr bwMode="auto">
          <a:xfrm>
            <a:off x="2338388" y="3021013"/>
            <a:ext cx="10080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01 FFFF</a:t>
            </a:r>
          </a:p>
        </p:txBody>
      </p:sp>
      <p:sp>
        <p:nvSpPr>
          <p:cNvPr id="67597" name="Text Box 18"/>
          <p:cNvSpPr txBox="1">
            <a:spLocks noChangeArrowheads="1"/>
          </p:cNvSpPr>
          <p:nvPr/>
        </p:nvSpPr>
        <p:spPr bwMode="auto">
          <a:xfrm>
            <a:off x="4065588" y="2573338"/>
            <a:ext cx="865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02 0000</a:t>
            </a:r>
          </a:p>
        </p:txBody>
      </p:sp>
      <p:sp>
        <p:nvSpPr>
          <p:cNvPr id="67598" name="Text Box 19"/>
          <p:cNvSpPr txBox="1">
            <a:spLocks noChangeArrowheads="1"/>
          </p:cNvSpPr>
          <p:nvPr/>
        </p:nvSpPr>
        <p:spPr bwMode="auto">
          <a:xfrm>
            <a:off x="4065588" y="3005138"/>
            <a:ext cx="10080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02 FFFF</a:t>
            </a:r>
          </a:p>
        </p:txBody>
      </p:sp>
      <p:sp>
        <p:nvSpPr>
          <p:cNvPr id="67599" name="Text Box 20"/>
          <p:cNvSpPr txBox="1">
            <a:spLocks noChangeArrowheads="1"/>
          </p:cNvSpPr>
          <p:nvPr/>
        </p:nvSpPr>
        <p:spPr bwMode="auto">
          <a:xfrm>
            <a:off x="6804025" y="2565400"/>
            <a:ext cx="865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7F 0000</a:t>
            </a:r>
          </a:p>
        </p:txBody>
      </p:sp>
      <p:sp>
        <p:nvSpPr>
          <p:cNvPr id="67600" name="Text Box 21"/>
          <p:cNvSpPr txBox="1">
            <a:spLocks noChangeArrowheads="1"/>
          </p:cNvSpPr>
          <p:nvPr/>
        </p:nvSpPr>
        <p:spPr bwMode="auto">
          <a:xfrm>
            <a:off x="6804025" y="2997200"/>
            <a:ext cx="1008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7F FFFF</a:t>
            </a:r>
          </a:p>
        </p:txBody>
      </p:sp>
      <p:sp>
        <p:nvSpPr>
          <p:cNvPr id="67601" name="Line 31"/>
          <p:cNvSpPr>
            <a:spLocks noChangeShapeType="1"/>
          </p:cNvSpPr>
          <p:nvPr/>
        </p:nvSpPr>
        <p:spPr bwMode="auto">
          <a:xfrm>
            <a:off x="5722938" y="2925763"/>
            <a:ext cx="863600" cy="0"/>
          </a:xfrm>
          <a:prstGeom prst="line">
            <a:avLst/>
          </a:prstGeom>
          <a:noFill/>
          <a:ln w="38100">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7602" name="Text Box 32"/>
          <p:cNvSpPr txBox="1">
            <a:spLocks noChangeArrowheads="1"/>
          </p:cNvSpPr>
          <p:nvPr/>
        </p:nvSpPr>
        <p:spPr bwMode="auto">
          <a:xfrm>
            <a:off x="1401763" y="3500438"/>
            <a:ext cx="865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XPC=0</a:t>
            </a:r>
          </a:p>
        </p:txBody>
      </p:sp>
      <p:sp>
        <p:nvSpPr>
          <p:cNvPr id="67603" name="Text Box 33"/>
          <p:cNvSpPr txBox="1">
            <a:spLocks noChangeArrowheads="1"/>
          </p:cNvSpPr>
          <p:nvPr/>
        </p:nvSpPr>
        <p:spPr bwMode="auto">
          <a:xfrm>
            <a:off x="3201988" y="3494088"/>
            <a:ext cx="865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XPC=1</a:t>
            </a:r>
          </a:p>
        </p:txBody>
      </p:sp>
      <p:sp>
        <p:nvSpPr>
          <p:cNvPr id="67604" name="Text Box 34"/>
          <p:cNvSpPr txBox="1">
            <a:spLocks noChangeArrowheads="1"/>
          </p:cNvSpPr>
          <p:nvPr/>
        </p:nvSpPr>
        <p:spPr bwMode="auto">
          <a:xfrm>
            <a:off x="5002213" y="3494088"/>
            <a:ext cx="865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XPC=2</a:t>
            </a:r>
          </a:p>
        </p:txBody>
      </p:sp>
      <p:sp>
        <p:nvSpPr>
          <p:cNvPr id="67605" name="Text Box 35"/>
          <p:cNvSpPr txBox="1">
            <a:spLocks noChangeArrowheads="1"/>
          </p:cNvSpPr>
          <p:nvPr/>
        </p:nvSpPr>
        <p:spPr bwMode="auto">
          <a:xfrm>
            <a:off x="7666038" y="3500438"/>
            <a:ext cx="10810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XPC=127</a:t>
            </a:r>
          </a:p>
        </p:txBody>
      </p:sp>
      <p:sp>
        <p:nvSpPr>
          <p:cNvPr id="67606" name="Text Box 36"/>
          <p:cNvSpPr txBox="1">
            <a:spLocks noChangeArrowheads="1"/>
          </p:cNvSpPr>
          <p:nvPr/>
        </p:nvSpPr>
        <p:spPr bwMode="auto">
          <a:xfrm>
            <a:off x="2266950" y="3860800"/>
            <a:ext cx="4895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a:t>
            </a:r>
            <a:r>
              <a:rPr lang="zh-CN" altLang="en-US">
                <a:solidFill>
                  <a:schemeClr val="tx2"/>
                </a:solidFill>
              </a:rPr>
              <a:t>片内</a:t>
            </a:r>
            <a:r>
              <a:rPr lang="en-US" altLang="zh-CN">
                <a:solidFill>
                  <a:schemeClr val="tx2"/>
                </a:solidFill>
              </a:rPr>
              <a:t>RAM</a:t>
            </a:r>
            <a:r>
              <a:rPr lang="zh-CN" altLang="en-US">
                <a:solidFill>
                  <a:schemeClr val="tx2"/>
                </a:solidFill>
              </a:rPr>
              <a:t>不映象到程序空间，</a:t>
            </a:r>
            <a:r>
              <a:rPr lang="en-US" altLang="zh-CN">
                <a:solidFill>
                  <a:schemeClr val="tx2"/>
                </a:solidFill>
              </a:rPr>
              <a:t>OVLY=0)</a:t>
            </a:r>
          </a:p>
        </p:txBody>
      </p:sp>
      <p:sp>
        <p:nvSpPr>
          <p:cNvPr id="67607" name="Text Box 37"/>
          <p:cNvSpPr txBox="1">
            <a:spLocks noChangeArrowheads="1"/>
          </p:cNvSpPr>
          <p:nvPr/>
        </p:nvSpPr>
        <p:spPr bwMode="auto">
          <a:xfrm>
            <a:off x="1544638" y="4365625"/>
            <a:ext cx="576262" cy="781050"/>
          </a:xfrm>
          <a:prstGeom prst="rect">
            <a:avLst/>
          </a:prstGeom>
          <a:solidFill>
            <a:srgbClr val="FF6600"/>
          </a:solidFill>
          <a:ln w="19050">
            <a:solidFill>
              <a:srgbClr val="00FF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t>0</a:t>
            </a:r>
            <a:r>
              <a:rPr lang="zh-CN" altLang="en-US"/>
              <a:t>页</a:t>
            </a:r>
          </a:p>
          <a:p>
            <a:pPr algn="ctr" eaLnBrk="1" hangingPunct="1"/>
            <a:endParaRPr lang="zh-CN" altLang="en-US" sz="1000"/>
          </a:p>
          <a:p>
            <a:pPr algn="ctr" eaLnBrk="1" hangingPunct="1"/>
            <a:r>
              <a:rPr lang="en-US" altLang="zh-CN"/>
              <a:t>32k</a:t>
            </a:r>
          </a:p>
        </p:txBody>
      </p:sp>
      <p:sp>
        <p:nvSpPr>
          <p:cNvPr id="67608" name="Text Box 38"/>
          <p:cNvSpPr txBox="1">
            <a:spLocks noChangeArrowheads="1"/>
          </p:cNvSpPr>
          <p:nvPr/>
        </p:nvSpPr>
        <p:spPr bwMode="auto">
          <a:xfrm>
            <a:off x="3344863" y="4365625"/>
            <a:ext cx="576262" cy="781050"/>
          </a:xfrm>
          <a:prstGeom prst="rect">
            <a:avLst/>
          </a:prstGeom>
          <a:solidFill>
            <a:srgbClr val="FF6600"/>
          </a:solidFill>
          <a:ln w="19050">
            <a:solidFill>
              <a:srgbClr val="00FF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t>1</a:t>
            </a:r>
            <a:r>
              <a:rPr lang="zh-CN" altLang="en-US"/>
              <a:t>页</a:t>
            </a:r>
          </a:p>
          <a:p>
            <a:pPr algn="ctr" eaLnBrk="1" hangingPunct="1"/>
            <a:endParaRPr lang="zh-CN" altLang="en-US" sz="1000"/>
          </a:p>
          <a:p>
            <a:pPr algn="ctr" eaLnBrk="1" hangingPunct="1"/>
            <a:r>
              <a:rPr lang="en-US" altLang="zh-CN"/>
              <a:t>32k</a:t>
            </a:r>
          </a:p>
        </p:txBody>
      </p:sp>
      <p:sp>
        <p:nvSpPr>
          <p:cNvPr id="67609" name="Text Box 39"/>
          <p:cNvSpPr txBox="1">
            <a:spLocks noChangeArrowheads="1"/>
          </p:cNvSpPr>
          <p:nvPr/>
        </p:nvSpPr>
        <p:spPr bwMode="auto">
          <a:xfrm>
            <a:off x="5073650" y="4365625"/>
            <a:ext cx="576263" cy="781050"/>
          </a:xfrm>
          <a:prstGeom prst="rect">
            <a:avLst/>
          </a:prstGeom>
          <a:solidFill>
            <a:srgbClr val="FF6600"/>
          </a:solidFill>
          <a:ln w="19050">
            <a:solidFill>
              <a:srgbClr val="00FF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t>2</a:t>
            </a:r>
            <a:r>
              <a:rPr lang="zh-CN" altLang="en-US"/>
              <a:t>页</a:t>
            </a:r>
          </a:p>
          <a:p>
            <a:pPr algn="ctr" eaLnBrk="1" hangingPunct="1"/>
            <a:endParaRPr lang="zh-CN" altLang="en-US" sz="1000"/>
          </a:p>
          <a:p>
            <a:pPr algn="ctr" eaLnBrk="1" hangingPunct="1"/>
            <a:r>
              <a:rPr lang="en-US" altLang="zh-CN"/>
              <a:t>32k</a:t>
            </a:r>
          </a:p>
        </p:txBody>
      </p:sp>
      <p:sp>
        <p:nvSpPr>
          <p:cNvPr id="67610" name="Text Box 40"/>
          <p:cNvSpPr txBox="1">
            <a:spLocks noChangeArrowheads="1"/>
          </p:cNvSpPr>
          <p:nvPr/>
        </p:nvSpPr>
        <p:spPr bwMode="auto">
          <a:xfrm>
            <a:off x="7881938" y="4365625"/>
            <a:ext cx="720725" cy="781050"/>
          </a:xfrm>
          <a:prstGeom prst="rect">
            <a:avLst/>
          </a:prstGeom>
          <a:solidFill>
            <a:srgbClr val="FF6600"/>
          </a:solidFill>
          <a:ln w="19050">
            <a:solidFill>
              <a:srgbClr val="00FFFF"/>
            </a:solidFill>
            <a:miter lim="800000"/>
            <a:headEnd/>
            <a:tailEnd/>
          </a:ln>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t>127</a:t>
            </a:r>
            <a:r>
              <a:rPr lang="zh-CN" altLang="en-US"/>
              <a:t>页</a:t>
            </a:r>
          </a:p>
          <a:p>
            <a:pPr algn="ctr" eaLnBrk="1" hangingPunct="1"/>
            <a:endParaRPr lang="zh-CN" altLang="en-US" sz="1000"/>
          </a:p>
          <a:p>
            <a:pPr algn="ctr" eaLnBrk="1" hangingPunct="1"/>
            <a:r>
              <a:rPr lang="en-US" altLang="zh-CN"/>
              <a:t>32k</a:t>
            </a:r>
          </a:p>
        </p:txBody>
      </p:sp>
      <p:sp>
        <p:nvSpPr>
          <p:cNvPr id="67611" name="Text Box 41"/>
          <p:cNvSpPr txBox="1">
            <a:spLocks noChangeArrowheads="1"/>
          </p:cNvSpPr>
          <p:nvPr/>
        </p:nvSpPr>
        <p:spPr bwMode="auto">
          <a:xfrm>
            <a:off x="536575" y="4365625"/>
            <a:ext cx="865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xx 0000</a:t>
            </a:r>
          </a:p>
        </p:txBody>
      </p:sp>
      <p:sp>
        <p:nvSpPr>
          <p:cNvPr id="67612" name="Text Box 42"/>
          <p:cNvSpPr txBox="1">
            <a:spLocks noChangeArrowheads="1"/>
          </p:cNvSpPr>
          <p:nvPr/>
        </p:nvSpPr>
        <p:spPr bwMode="auto">
          <a:xfrm>
            <a:off x="536575" y="4797425"/>
            <a:ext cx="1008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xx 7FFF</a:t>
            </a:r>
          </a:p>
        </p:txBody>
      </p:sp>
      <p:sp>
        <p:nvSpPr>
          <p:cNvPr id="67613" name="Text Box 43"/>
          <p:cNvSpPr txBox="1">
            <a:spLocks noChangeArrowheads="1"/>
          </p:cNvSpPr>
          <p:nvPr/>
        </p:nvSpPr>
        <p:spPr bwMode="auto">
          <a:xfrm>
            <a:off x="2336800" y="4389438"/>
            <a:ext cx="865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00 8000</a:t>
            </a:r>
          </a:p>
        </p:txBody>
      </p:sp>
      <p:sp>
        <p:nvSpPr>
          <p:cNvPr id="67614" name="Text Box 44"/>
          <p:cNvSpPr txBox="1">
            <a:spLocks noChangeArrowheads="1"/>
          </p:cNvSpPr>
          <p:nvPr/>
        </p:nvSpPr>
        <p:spPr bwMode="auto">
          <a:xfrm>
            <a:off x="2336800" y="4821238"/>
            <a:ext cx="1008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00 FFFF</a:t>
            </a:r>
          </a:p>
        </p:txBody>
      </p:sp>
      <p:sp>
        <p:nvSpPr>
          <p:cNvPr id="67615" name="Text Box 45"/>
          <p:cNvSpPr txBox="1">
            <a:spLocks noChangeArrowheads="1"/>
          </p:cNvSpPr>
          <p:nvPr/>
        </p:nvSpPr>
        <p:spPr bwMode="auto">
          <a:xfrm>
            <a:off x="4064000" y="4373563"/>
            <a:ext cx="865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01 8000</a:t>
            </a:r>
          </a:p>
        </p:txBody>
      </p:sp>
      <p:sp>
        <p:nvSpPr>
          <p:cNvPr id="67616" name="Text Box 46"/>
          <p:cNvSpPr txBox="1">
            <a:spLocks noChangeArrowheads="1"/>
          </p:cNvSpPr>
          <p:nvPr/>
        </p:nvSpPr>
        <p:spPr bwMode="auto">
          <a:xfrm>
            <a:off x="4064000" y="4805363"/>
            <a:ext cx="1008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01 FFFF</a:t>
            </a:r>
          </a:p>
        </p:txBody>
      </p:sp>
      <p:sp>
        <p:nvSpPr>
          <p:cNvPr id="67617" name="Text Box 47"/>
          <p:cNvSpPr txBox="1">
            <a:spLocks noChangeArrowheads="1"/>
          </p:cNvSpPr>
          <p:nvPr/>
        </p:nvSpPr>
        <p:spPr bwMode="auto">
          <a:xfrm>
            <a:off x="6802438" y="4365625"/>
            <a:ext cx="865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7F 8000</a:t>
            </a:r>
          </a:p>
        </p:txBody>
      </p:sp>
      <p:sp>
        <p:nvSpPr>
          <p:cNvPr id="67618" name="Text Box 48"/>
          <p:cNvSpPr txBox="1">
            <a:spLocks noChangeArrowheads="1"/>
          </p:cNvSpPr>
          <p:nvPr/>
        </p:nvSpPr>
        <p:spPr bwMode="auto">
          <a:xfrm>
            <a:off x="6802438" y="4797425"/>
            <a:ext cx="10080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7F FFFF</a:t>
            </a:r>
          </a:p>
        </p:txBody>
      </p:sp>
      <p:sp>
        <p:nvSpPr>
          <p:cNvPr id="67619" name="Line 49"/>
          <p:cNvSpPr>
            <a:spLocks noChangeShapeType="1"/>
          </p:cNvSpPr>
          <p:nvPr/>
        </p:nvSpPr>
        <p:spPr bwMode="auto">
          <a:xfrm>
            <a:off x="5721350" y="4725988"/>
            <a:ext cx="863600" cy="0"/>
          </a:xfrm>
          <a:prstGeom prst="line">
            <a:avLst/>
          </a:prstGeom>
          <a:noFill/>
          <a:ln w="38100">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7620" name="Text Box 50"/>
          <p:cNvSpPr txBox="1">
            <a:spLocks noChangeArrowheads="1"/>
          </p:cNvSpPr>
          <p:nvPr/>
        </p:nvSpPr>
        <p:spPr bwMode="auto">
          <a:xfrm>
            <a:off x="1400175" y="5300663"/>
            <a:ext cx="1154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XPC=xx</a:t>
            </a:r>
          </a:p>
        </p:txBody>
      </p:sp>
      <p:sp>
        <p:nvSpPr>
          <p:cNvPr id="67621" name="Text Box 51"/>
          <p:cNvSpPr txBox="1">
            <a:spLocks noChangeArrowheads="1"/>
          </p:cNvSpPr>
          <p:nvPr/>
        </p:nvSpPr>
        <p:spPr bwMode="auto">
          <a:xfrm>
            <a:off x="3200400" y="5294313"/>
            <a:ext cx="865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XPC=0</a:t>
            </a:r>
          </a:p>
        </p:txBody>
      </p:sp>
      <p:sp>
        <p:nvSpPr>
          <p:cNvPr id="67622" name="Text Box 52"/>
          <p:cNvSpPr txBox="1">
            <a:spLocks noChangeArrowheads="1"/>
          </p:cNvSpPr>
          <p:nvPr/>
        </p:nvSpPr>
        <p:spPr bwMode="auto">
          <a:xfrm>
            <a:off x="5000625" y="5294313"/>
            <a:ext cx="865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XPC=1</a:t>
            </a:r>
          </a:p>
        </p:txBody>
      </p:sp>
      <p:sp>
        <p:nvSpPr>
          <p:cNvPr id="67623" name="Text Box 53"/>
          <p:cNvSpPr txBox="1">
            <a:spLocks noChangeArrowheads="1"/>
          </p:cNvSpPr>
          <p:nvPr/>
        </p:nvSpPr>
        <p:spPr bwMode="auto">
          <a:xfrm>
            <a:off x="7664450" y="5300663"/>
            <a:ext cx="10810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XPC=127</a:t>
            </a:r>
          </a:p>
        </p:txBody>
      </p:sp>
      <p:sp>
        <p:nvSpPr>
          <p:cNvPr id="67624" name="Text Box 54"/>
          <p:cNvSpPr txBox="1">
            <a:spLocks noChangeArrowheads="1"/>
          </p:cNvSpPr>
          <p:nvPr/>
        </p:nvSpPr>
        <p:spPr bwMode="auto">
          <a:xfrm>
            <a:off x="538163" y="5661025"/>
            <a:ext cx="8280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t>(</a:t>
            </a:r>
            <a:r>
              <a:rPr lang="zh-CN" altLang="en-US"/>
              <a:t>当片内</a:t>
            </a:r>
            <a:r>
              <a:rPr lang="en-US" altLang="zh-CN"/>
              <a:t>RAM</a:t>
            </a:r>
            <a:r>
              <a:rPr lang="zh-CN" altLang="en-US"/>
              <a:t>象到程序空间时，所有对</a:t>
            </a:r>
            <a:r>
              <a:rPr lang="en-US" altLang="zh-CN"/>
              <a:t>XX0000</a:t>
            </a:r>
            <a:r>
              <a:rPr lang="zh-CN" altLang="en-US"/>
              <a:t>～</a:t>
            </a:r>
            <a:r>
              <a:rPr lang="en-US" altLang="zh-CN"/>
              <a:t>XX7FFF</a:t>
            </a:r>
            <a:r>
              <a:rPr lang="zh-CN" altLang="en-US"/>
              <a:t>区间的寻址，不管页号，都映象到片内</a:t>
            </a:r>
            <a:r>
              <a:rPr lang="en-US" altLang="zh-CN"/>
              <a:t>RAM</a:t>
            </a:r>
            <a:r>
              <a:rPr lang="zh-CN" altLang="en-US"/>
              <a:t>的</a:t>
            </a:r>
            <a:r>
              <a:rPr lang="en-US" altLang="zh-CN"/>
              <a:t>000000</a:t>
            </a:r>
            <a:r>
              <a:rPr lang="zh-CN" altLang="en-US"/>
              <a:t>～</a:t>
            </a:r>
            <a:r>
              <a:rPr lang="en-US" altLang="zh-CN"/>
              <a:t>007FFF)</a:t>
            </a:r>
          </a:p>
        </p:txBody>
      </p:sp>
      <p:sp>
        <p:nvSpPr>
          <p:cNvPr id="67625" name="Text Box 55"/>
          <p:cNvSpPr txBox="1">
            <a:spLocks noChangeArrowheads="1"/>
          </p:cNvSpPr>
          <p:nvPr/>
        </p:nvSpPr>
        <p:spPr bwMode="auto">
          <a:xfrm>
            <a:off x="2266950" y="6381750"/>
            <a:ext cx="4895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t>
            </a:r>
            <a:r>
              <a:rPr lang="zh-CN" altLang="en-US"/>
              <a:t>片内</a:t>
            </a:r>
            <a:r>
              <a:rPr lang="en-US" altLang="zh-CN"/>
              <a:t>RAM</a:t>
            </a:r>
            <a:r>
              <a:rPr lang="zh-CN" altLang="en-US"/>
              <a:t>映象到程序空间，</a:t>
            </a:r>
            <a:r>
              <a:rPr lang="en-US" altLang="zh-CN"/>
              <a:t>OVLY=1)</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64226"/>
                                        </p:tgtEl>
                                        <p:attrNameLst>
                                          <p:attrName>style.visibility</p:attrName>
                                        </p:attrNameLst>
                                      </p:cBhvr>
                                      <p:to>
                                        <p:strVal val="visible"/>
                                      </p:to>
                                    </p:set>
                                    <p:animEffect transition="in" filter="blinds(horizontal)">
                                      <p:cBhvr>
                                        <p:cTn id="7" dur="500"/>
                                        <p:tgtEl>
                                          <p:spTgt spid="564226"/>
                                        </p:tgtEl>
                                      </p:cBhvr>
                                    </p:animEffect>
                                  </p:childTnLst>
                                </p:cTn>
                              </p:par>
                            </p:childTnLst>
                          </p:cTn>
                        </p:par>
                        <p:par>
                          <p:cTn id="8" fill="hold" nodeType="afterGroup">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564228"/>
                                        </p:tgtEl>
                                        <p:attrNameLst>
                                          <p:attrName>style.visibility</p:attrName>
                                        </p:attrNameLst>
                                      </p:cBhvr>
                                      <p:to>
                                        <p:strVal val="visible"/>
                                      </p:to>
                                    </p:set>
                                    <p:anim calcmode="lin" valueType="num">
                                      <p:cBhvr additive="base">
                                        <p:cTn id="11" dur="500" fill="hold"/>
                                        <p:tgtEl>
                                          <p:spTgt spid="564228"/>
                                        </p:tgtEl>
                                        <p:attrNameLst>
                                          <p:attrName>ppt_x</p:attrName>
                                        </p:attrNameLst>
                                      </p:cBhvr>
                                      <p:tavLst>
                                        <p:tav tm="0">
                                          <p:val>
                                            <p:strVal val="1+#ppt_w/2"/>
                                          </p:val>
                                        </p:tav>
                                        <p:tav tm="100000">
                                          <p:val>
                                            <p:strVal val="#ppt_x"/>
                                          </p:val>
                                        </p:tav>
                                      </p:tavLst>
                                    </p:anim>
                                    <p:anim calcmode="lin" valueType="num">
                                      <p:cBhvr additive="base">
                                        <p:cTn id="12" dur="500" fill="hold"/>
                                        <p:tgtEl>
                                          <p:spTgt spid="5642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6" grpId="0" autoUpdateAnimBg="0"/>
      <p:bldP spid="564228"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65441" name="Group 193"/>
          <p:cNvGraphicFramePr>
            <a:graphicFrameLocks noGrp="1"/>
          </p:cNvGraphicFramePr>
          <p:nvPr/>
        </p:nvGraphicFramePr>
        <p:xfrm>
          <a:off x="1187450" y="1700213"/>
          <a:ext cx="6624638" cy="4905694"/>
        </p:xfrm>
        <a:graphic>
          <a:graphicData uri="http://schemas.openxmlformats.org/drawingml/2006/table">
            <a:tbl>
              <a:tblPr/>
              <a:tblGrid>
                <a:gridCol w="1192213">
                  <a:extLst>
                    <a:ext uri="{9D8B030D-6E8A-4147-A177-3AD203B41FA5}">
                      <a16:colId xmlns:a16="http://schemas.microsoft.com/office/drawing/2014/main" val="20000"/>
                    </a:ext>
                  </a:extLst>
                </a:gridCol>
                <a:gridCol w="1914525">
                  <a:extLst>
                    <a:ext uri="{9D8B030D-6E8A-4147-A177-3AD203B41FA5}">
                      <a16:colId xmlns:a16="http://schemas.microsoft.com/office/drawing/2014/main" val="20001"/>
                    </a:ext>
                  </a:extLst>
                </a:gridCol>
                <a:gridCol w="1789112">
                  <a:extLst>
                    <a:ext uri="{9D8B030D-6E8A-4147-A177-3AD203B41FA5}">
                      <a16:colId xmlns:a16="http://schemas.microsoft.com/office/drawing/2014/main" val="20002"/>
                    </a:ext>
                  </a:extLst>
                </a:gridCol>
                <a:gridCol w="1728788">
                  <a:extLst>
                    <a:ext uri="{9D8B030D-6E8A-4147-A177-3AD203B41FA5}">
                      <a16:colId xmlns:a16="http://schemas.microsoft.com/office/drawing/2014/main" val="20003"/>
                    </a:ext>
                  </a:extLst>
                </a:gridCol>
              </a:tblGrid>
              <a:tr h="1809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器件</a:t>
                      </a:r>
                      <a:endParaRPr kumimoji="1" lang="zh-CN" altLang="en-US" sz="2800" b="0" i="0" u="none" strike="noStrike" cap="none" normalizeH="0" baseline="0">
                        <a:ln>
                          <a:noFill/>
                        </a:ln>
                        <a:solidFill>
                          <a:srgbClr val="FF66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ROM</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MP/MC=0</a:t>
                      </a:r>
                      <a:endParaRPr kumimoji="1" lang="en-US" altLang="zh-CN" sz="2800" b="0" i="0" u="none" strike="noStrike" cap="none" normalizeH="0" baseline="0">
                        <a:ln>
                          <a:noFill/>
                        </a:ln>
                        <a:solidFill>
                          <a:srgbClr val="FF66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DARAM</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OVLY=1</a:t>
                      </a:r>
                      <a:endParaRPr kumimoji="1" lang="en-US" altLang="zh-CN" sz="2800" b="0" i="0" u="none" strike="noStrike" cap="none" normalizeH="0" baseline="0">
                        <a:ln>
                          <a:noFill/>
                        </a:ln>
                        <a:solidFill>
                          <a:srgbClr val="FF66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SARAM</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OVLY=1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67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C541</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28K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C542</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7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C543</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51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51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C546</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67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24K</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51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C549</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24K</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6865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7BF4531-16E0-44CF-BDCD-C2D324C05855}" type="slidenum">
              <a:rPr lang="en-US" altLang="zh-CN" sz="1400" b="0"/>
              <a:pPr eaLnBrk="1" hangingPunct="1"/>
              <a:t>55</a:t>
            </a:fld>
            <a:endParaRPr lang="en-US" altLang="zh-CN" sz="1400" b="0"/>
          </a:p>
        </p:txBody>
      </p:sp>
      <p:sp>
        <p:nvSpPr>
          <p:cNvPr id="68658" name="Rectangle 102"/>
          <p:cNvSpPr>
            <a:spLocks noChangeArrowheads="1"/>
          </p:cNvSpPr>
          <p:nvPr/>
        </p:nvSpPr>
        <p:spPr bwMode="auto">
          <a:xfrm>
            <a:off x="1116013" y="1052513"/>
            <a:ext cx="1377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t>表</a:t>
            </a:r>
            <a:r>
              <a:rPr lang="en-US" altLang="zh-CN" sz="2800"/>
              <a:t>2-3</a:t>
            </a:r>
          </a:p>
        </p:txBody>
      </p:sp>
      <p:sp>
        <p:nvSpPr>
          <p:cNvPr id="68659" name="Line 103"/>
          <p:cNvSpPr>
            <a:spLocks noChangeShapeType="1"/>
          </p:cNvSpPr>
          <p:nvPr/>
        </p:nvSpPr>
        <p:spPr bwMode="auto">
          <a:xfrm>
            <a:off x="3276600" y="2205038"/>
            <a:ext cx="503238" cy="0"/>
          </a:xfrm>
          <a:prstGeom prst="line">
            <a:avLst/>
          </a:prstGeom>
          <a:noFill/>
          <a:ln w="28575">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8660" name="Rectangle 153"/>
          <p:cNvSpPr>
            <a:spLocks noChangeArrowheads="1"/>
          </p:cNvSpPr>
          <p:nvPr/>
        </p:nvSpPr>
        <p:spPr bwMode="auto">
          <a:xfrm>
            <a:off x="3203575" y="927100"/>
            <a:ext cx="3155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solidFill>
                  <a:srgbClr val="FF0066"/>
                </a:solidFill>
              </a:rPr>
              <a:t>2</a:t>
            </a:r>
            <a:r>
              <a:rPr lang="zh-CN" altLang="en-US" sz="3600">
                <a:solidFill>
                  <a:srgbClr val="FF0066"/>
                </a:solidFill>
              </a:rPr>
              <a:t>．程序存储器</a:t>
            </a:r>
          </a:p>
        </p:txBody>
      </p:sp>
    </p:spTree>
  </p:cSld>
  <p:clrMapOvr>
    <a:masterClrMapping/>
  </p:clrMapOvr>
  <p:transition spd="med">
    <p:pull dir="lu"/>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idx="1"/>
          </p:nvPr>
        </p:nvSpPr>
        <p:spPr bwMode="auto">
          <a:xfrm>
            <a:off x="468313" y="981075"/>
            <a:ext cx="7772400" cy="1828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a:solidFill>
                  <a:schemeClr val="tx2"/>
                </a:solidFill>
                <a:latin typeface="宋体" panose="02010600030101010101" pitchFamily="2" charset="-122"/>
              </a:rPr>
              <a:t>片内存储器作为程序存储器条件</a:t>
            </a:r>
          </a:p>
          <a:p>
            <a:pPr eaLnBrk="1" hangingPunct="1"/>
            <a:r>
              <a:rPr lang="zh-CN" altLang="en-US" sz="2800" b="1">
                <a:solidFill>
                  <a:srgbClr val="FF0066"/>
                </a:solidFill>
                <a:latin typeface="宋体" panose="02010600030101010101" pitchFamily="2" charset="-122"/>
              </a:rPr>
              <a:t>外部存储器作为程序存储器条件</a:t>
            </a:r>
            <a:r>
              <a:rPr lang="zh-CN" altLang="en-US" sz="2800">
                <a:solidFill>
                  <a:srgbClr val="FF0066"/>
                </a:solidFill>
              </a:rPr>
              <a:t> </a:t>
            </a:r>
          </a:p>
          <a:p>
            <a:pPr eaLnBrk="1" hangingPunct="1"/>
            <a:r>
              <a:rPr lang="zh-CN" altLang="en-US" sz="2800" b="1">
                <a:solidFill>
                  <a:srgbClr val="660066"/>
                </a:solidFill>
                <a:latin typeface="宋体" panose="02010600030101010101" pitchFamily="2" charset="-122"/>
              </a:rPr>
              <a:t>片内</a:t>
            </a:r>
            <a:r>
              <a:rPr lang="en-US" altLang="zh-CN" sz="2800" b="1">
                <a:solidFill>
                  <a:srgbClr val="660066"/>
                </a:solidFill>
                <a:latin typeface="宋体" panose="02010600030101010101" pitchFamily="2" charset="-122"/>
              </a:rPr>
              <a:t>ROM</a:t>
            </a:r>
            <a:r>
              <a:rPr lang="zh-CN" altLang="en-US" sz="2800" b="1">
                <a:solidFill>
                  <a:srgbClr val="660066"/>
                </a:solidFill>
                <a:latin typeface="宋体" panose="02010600030101010101" pitchFamily="2" charset="-122"/>
              </a:rPr>
              <a:t>分块的目的</a:t>
            </a:r>
            <a:r>
              <a:rPr lang="zh-CN" altLang="en-US"/>
              <a:t> </a:t>
            </a:r>
          </a:p>
        </p:txBody>
      </p:sp>
      <p:sp>
        <p:nvSpPr>
          <p:cNvPr id="6963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581BA3F-7CE8-4857-9DB3-E1A1F650CA4F}" type="slidenum">
              <a:rPr lang="en-US" altLang="zh-CN" sz="1400" b="0"/>
              <a:pPr eaLnBrk="1" hangingPunct="1"/>
              <a:t>56</a:t>
            </a:fld>
            <a:endParaRPr lang="en-US" altLang="zh-CN" sz="1400" b="0"/>
          </a:p>
        </p:txBody>
      </p:sp>
      <p:sp>
        <p:nvSpPr>
          <p:cNvPr id="566276" name="AutoShape 4" descr="小棋盘"/>
          <p:cNvSpPr>
            <a:spLocks noChangeArrowheads="1"/>
          </p:cNvSpPr>
          <p:nvPr/>
        </p:nvSpPr>
        <p:spPr bwMode="auto">
          <a:xfrm>
            <a:off x="6480175" y="981075"/>
            <a:ext cx="2520950" cy="1008063"/>
          </a:xfrm>
          <a:prstGeom prst="wedgeRoundRectCallout">
            <a:avLst>
              <a:gd name="adj1" fmla="val -63097"/>
              <a:gd name="adj2" fmla="val -15042"/>
              <a:gd name="adj3" fmla="val 16667"/>
            </a:avLst>
          </a:prstGeom>
          <a:pattFill prst="smCheck">
            <a:fgClr>
              <a:schemeClr val="accent1"/>
            </a:fgClr>
            <a:bgClr>
              <a:schemeClr val="bg1"/>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en-US" altLang="zh-CN" sz="2400">
                <a:solidFill>
                  <a:srgbClr val="0099FF"/>
                </a:solidFill>
              </a:rPr>
              <a:t>MP/</a:t>
            </a:r>
            <a:r>
              <a:rPr lang="en-US" altLang="zh-CN" sz="2400">
                <a:solidFill>
                  <a:srgbClr val="0099FF"/>
                </a:solidFill>
                <a:latin typeface="宋体" panose="02010600030101010101" pitchFamily="2" charset="-122"/>
              </a:rPr>
              <a:t>MC</a:t>
            </a:r>
            <a:r>
              <a:rPr lang="zh-CN" altLang="en-US" sz="2400">
                <a:solidFill>
                  <a:srgbClr val="0099FF"/>
                </a:solidFill>
                <a:latin typeface="宋体" panose="02010600030101010101" pitchFamily="2" charset="-122"/>
              </a:rPr>
              <a:t>为</a:t>
            </a:r>
            <a:r>
              <a:rPr lang="en-US" altLang="zh-CN" sz="2400">
                <a:solidFill>
                  <a:srgbClr val="0099FF"/>
                </a:solidFill>
                <a:latin typeface="宋体" panose="02010600030101010101" pitchFamily="2" charset="-122"/>
              </a:rPr>
              <a:t>0</a:t>
            </a:r>
            <a:r>
              <a:rPr lang="zh-CN" altLang="en-US" sz="2400">
                <a:latin typeface="宋体" panose="02010600030101010101" pitchFamily="2" charset="-122"/>
              </a:rPr>
              <a:t>对</a:t>
            </a:r>
            <a:r>
              <a:rPr lang="en-US" altLang="zh-CN" sz="2400">
                <a:latin typeface="宋体" panose="02010600030101010101" pitchFamily="2" charset="-122"/>
              </a:rPr>
              <a:t>ROM</a:t>
            </a:r>
          </a:p>
          <a:p>
            <a:pPr algn="just" eaLnBrk="1" hangingPunct="1">
              <a:spcBef>
                <a:spcPct val="20000"/>
              </a:spcBef>
            </a:pPr>
            <a:r>
              <a:rPr lang="en-US" altLang="zh-CN" sz="2400">
                <a:solidFill>
                  <a:srgbClr val="FF9900"/>
                </a:solidFill>
                <a:latin typeface="宋体" panose="02010600030101010101" pitchFamily="2" charset="-122"/>
              </a:rPr>
              <a:t>OVLY</a:t>
            </a:r>
            <a:r>
              <a:rPr lang="zh-CN" altLang="en-US" sz="2400">
                <a:solidFill>
                  <a:srgbClr val="FF9900"/>
                </a:solidFill>
                <a:latin typeface="宋体" panose="02010600030101010101" pitchFamily="2" charset="-122"/>
              </a:rPr>
              <a:t>为</a:t>
            </a:r>
            <a:r>
              <a:rPr lang="en-US" altLang="zh-CN" sz="2400">
                <a:solidFill>
                  <a:srgbClr val="FF9900"/>
                </a:solidFill>
                <a:latin typeface="宋体" panose="02010600030101010101" pitchFamily="2" charset="-122"/>
              </a:rPr>
              <a:t>1</a:t>
            </a:r>
            <a:r>
              <a:rPr lang="zh-CN" altLang="en-US" sz="2400">
                <a:latin typeface="宋体" panose="02010600030101010101" pitchFamily="2" charset="-122"/>
              </a:rPr>
              <a:t>对</a:t>
            </a:r>
            <a:r>
              <a:rPr lang="en-US" altLang="zh-CN" sz="2400">
                <a:latin typeface="宋体" panose="02010600030101010101" pitchFamily="2" charset="-122"/>
              </a:rPr>
              <a:t>RAM</a:t>
            </a:r>
          </a:p>
        </p:txBody>
      </p:sp>
      <p:sp>
        <p:nvSpPr>
          <p:cNvPr id="69637" name="Line 5" descr="小棋盘"/>
          <p:cNvSpPr>
            <a:spLocks noChangeShapeType="1"/>
          </p:cNvSpPr>
          <p:nvPr/>
        </p:nvSpPr>
        <p:spPr bwMode="auto">
          <a:xfrm>
            <a:off x="7235825" y="1125538"/>
            <a:ext cx="3048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6278" name="AutoShape 6" descr="小棋盘"/>
          <p:cNvSpPr>
            <a:spLocks noChangeArrowheads="1"/>
          </p:cNvSpPr>
          <p:nvPr/>
        </p:nvSpPr>
        <p:spPr bwMode="auto">
          <a:xfrm>
            <a:off x="6877050" y="3500438"/>
            <a:ext cx="1676400" cy="973137"/>
          </a:xfrm>
          <a:prstGeom prst="wedgeRoundRectCallout">
            <a:avLst>
              <a:gd name="adj1" fmla="val -145551"/>
              <a:gd name="adj2" fmla="val -212968"/>
              <a:gd name="adj3" fmla="val 16667"/>
            </a:avLst>
          </a:prstGeom>
          <a:pattFill prst="smCheck">
            <a:fgClr>
              <a:schemeClr val="accent1"/>
            </a:fgClr>
            <a:bgClr>
              <a:schemeClr val="bg1"/>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en-US" altLang="zh-CN" sz="2400">
                <a:solidFill>
                  <a:schemeClr val="folHlink"/>
                </a:solidFill>
              </a:rPr>
              <a:t>DROM=0</a:t>
            </a:r>
          </a:p>
          <a:p>
            <a:pPr algn="just" eaLnBrk="1" hangingPunct="1">
              <a:spcBef>
                <a:spcPct val="20000"/>
              </a:spcBef>
            </a:pPr>
            <a:r>
              <a:rPr lang="en-US" altLang="zh-CN"/>
              <a:t>MP/ MC =1</a:t>
            </a:r>
          </a:p>
        </p:txBody>
      </p:sp>
      <p:sp>
        <p:nvSpPr>
          <p:cNvPr id="69639" name="Text Box 7"/>
          <p:cNvSpPr txBox="1">
            <a:spLocks noChangeArrowheads="1"/>
          </p:cNvSpPr>
          <p:nvPr/>
        </p:nvSpPr>
        <p:spPr bwMode="auto">
          <a:xfrm>
            <a:off x="231775" y="3100388"/>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4000h</a:t>
            </a:r>
          </a:p>
        </p:txBody>
      </p:sp>
      <p:sp>
        <p:nvSpPr>
          <p:cNvPr id="69640" name="Text Box 8"/>
          <p:cNvSpPr txBox="1">
            <a:spLocks noChangeArrowheads="1"/>
          </p:cNvSpPr>
          <p:nvPr/>
        </p:nvSpPr>
        <p:spPr bwMode="auto">
          <a:xfrm>
            <a:off x="111125" y="3581400"/>
            <a:ext cx="100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6000h</a:t>
            </a:r>
          </a:p>
        </p:txBody>
      </p:sp>
      <p:sp>
        <p:nvSpPr>
          <p:cNvPr id="69641" name="Text Box 9"/>
          <p:cNvSpPr txBox="1">
            <a:spLocks noChangeArrowheads="1"/>
          </p:cNvSpPr>
          <p:nvPr/>
        </p:nvSpPr>
        <p:spPr bwMode="auto">
          <a:xfrm>
            <a:off x="215900" y="3389313"/>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5000h</a:t>
            </a:r>
          </a:p>
        </p:txBody>
      </p:sp>
      <p:sp>
        <p:nvSpPr>
          <p:cNvPr id="69642" name="Text Box 10"/>
          <p:cNvSpPr txBox="1">
            <a:spLocks noChangeArrowheads="1"/>
          </p:cNvSpPr>
          <p:nvPr/>
        </p:nvSpPr>
        <p:spPr bwMode="auto">
          <a:xfrm>
            <a:off x="190500" y="3829050"/>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7000h</a:t>
            </a:r>
          </a:p>
        </p:txBody>
      </p:sp>
      <p:sp>
        <p:nvSpPr>
          <p:cNvPr id="69643" name="Text Box 11"/>
          <p:cNvSpPr txBox="1">
            <a:spLocks noChangeArrowheads="1"/>
          </p:cNvSpPr>
          <p:nvPr/>
        </p:nvSpPr>
        <p:spPr bwMode="auto">
          <a:xfrm>
            <a:off x="190500" y="4054475"/>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8000h</a:t>
            </a:r>
          </a:p>
        </p:txBody>
      </p:sp>
      <p:sp>
        <p:nvSpPr>
          <p:cNvPr id="69644" name="Text Box 12"/>
          <p:cNvSpPr txBox="1">
            <a:spLocks noChangeArrowheads="1"/>
          </p:cNvSpPr>
          <p:nvPr/>
        </p:nvSpPr>
        <p:spPr bwMode="auto">
          <a:xfrm>
            <a:off x="190500" y="4249738"/>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9000h</a:t>
            </a:r>
          </a:p>
        </p:txBody>
      </p:sp>
      <p:sp>
        <p:nvSpPr>
          <p:cNvPr id="69645" name="Text Box 13"/>
          <p:cNvSpPr txBox="1">
            <a:spLocks noChangeArrowheads="1"/>
          </p:cNvSpPr>
          <p:nvPr/>
        </p:nvSpPr>
        <p:spPr bwMode="auto">
          <a:xfrm>
            <a:off x="158750" y="4813300"/>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A000h</a:t>
            </a:r>
          </a:p>
        </p:txBody>
      </p:sp>
      <p:sp>
        <p:nvSpPr>
          <p:cNvPr id="69646" name="Text Box 14"/>
          <p:cNvSpPr txBox="1">
            <a:spLocks noChangeArrowheads="1"/>
          </p:cNvSpPr>
          <p:nvPr/>
        </p:nvSpPr>
        <p:spPr bwMode="auto">
          <a:xfrm>
            <a:off x="158750" y="5118100"/>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B000h</a:t>
            </a:r>
          </a:p>
        </p:txBody>
      </p:sp>
      <p:sp>
        <p:nvSpPr>
          <p:cNvPr id="69647" name="Text Box 15"/>
          <p:cNvSpPr txBox="1">
            <a:spLocks noChangeArrowheads="1"/>
          </p:cNvSpPr>
          <p:nvPr/>
        </p:nvSpPr>
        <p:spPr bwMode="auto">
          <a:xfrm>
            <a:off x="158750" y="5445125"/>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C000h</a:t>
            </a:r>
          </a:p>
        </p:txBody>
      </p:sp>
      <p:sp>
        <p:nvSpPr>
          <p:cNvPr id="69648" name="Text Box 16"/>
          <p:cNvSpPr txBox="1">
            <a:spLocks noChangeArrowheads="1"/>
          </p:cNvSpPr>
          <p:nvPr/>
        </p:nvSpPr>
        <p:spPr bwMode="auto">
          <a:xfrm>
            <a:off x="168275" y="5765800"/>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D000h</a:t>
            </a:r>
          </a:p>
        </p:txBody>
      </p:sp>
      <p:sp>
        <p:nvSpPr>
          <p:cNvPr id="69649" name="Text Box 17"/>
          <p:cNvSpPr txBox="1">
            <a:spLocks noChangeArrowheads="1"/>
          </p:cNvSpPr>
          <p:nvPr/>
        </p:nvSpPr>
        <p:spPr bwMode="auto">
          <a:xfrm>
            <a:off x="168275" y="6084888"/>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E000h</a:t>
            </a:r>
          </a:p>
        </p:txBody>
      </p:sp>
      <p:sp>
        <p:nvSpPr>
          <p:cNvPr id="69650" name="Text Box 18"/>
          <p:cNvSpPr txBox="1">
            <a:spLocks noChangeArrowheads="1"/>
          </p:cNvSpPr>
          <p:nvPr/>
        </p:nvSpPr>
        <p:spPr bwMode="auto">
          <a:xfrm>
            <a:off x="168275" y="6357938"/>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F000h</a:t>
            </a:r>
          </a:p>
        </p:txBody>
      </p:sp>
      <p:sp>
        <p:nvSpPr>
          <p:cNvPr id="69651" name="Text Box 19"/>
          <p:cNvSpPr txBox="1">
            <a:spLocks noChangeArrowheads="1"/>
          </p:cNvSpPr>
          <p:nvPr/>
        </p:nvSpPr>
        <p:spPr bwMode="auto">
          <a:xfrm>
            <a:off x="1011238" y="4197350"/>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9000h</a:t>
            </a:r>
            <a:r>
              <a:rPr lang="zh-CN" altLang="en-US"/>
              <a:t>～</a:t>
            </a:r>
            <a:r>
              <a:rPr lang="en-US" altLang="zh-CN"/>
              <a:t>97FF</a:t>
            </a:r>
          </a:p>
        </p:txBody>
      </p:sp>
      <p:sp>
        <p:nvSpPr>
          <p:cNvPr id="69652" name="Text Box 20"/>
          <p:cNvSpPr txBox="1">
            <a:spLocks noChangeArrowheads="1"/>
          </p:cNvSpPr>
          <p:nvPr/>
        </p:nvSpPr>
        <p:spPr bwMode="auto">
          <a:xfrm>
            <a:off x="1011238" y="4502150"/>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9800h</a:t>
            </a:r>
            <a:r>
              <a:rPr lang="zh-CN" altLang="en-US"/>
              <a:t>～</a:t>
            </a:r>
            <a:r>
              <a:rPr lang="en-US" altLang="zh-CN"/>
              <a:t>9FFF</a:t>
            </a:r>
          </a:p>
        </p:txBody>
      </p:sp>
      <p:sp>
        <p:nvSpPr>
          <p:cNvPr id="69653" name="Text Box 21"/>
          <p:cNvSpPr txBox="1">
            <a:spLocks noChangeArrowheads="1"/>
          </p:cNvSpPr>
          <p:nvPr/>
        </p:nvSpPr>
        <p:spPr bwMode="auto">
          <a:xfrm>
            <a:off x="1011238" y="4814888"/>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A000h</a:t>
            </a:r>
            <a:r>
              <a:rPr lang="zh-CN" altLang="en-US"/>
              <a:t>～</a:t>
            </a:r>
            <a:r>
              <a:rPr lang="en-US" altLang="zh-CN"/>
              <a:t>AFFF</a:t>
            </a:r>
          </a:p>
        </p:txBody>
      </p:sp>
      <p:sp>
        <p:nvSpPr>
          <p:cNvPr id="69654" name="Text Box 22"/>
          <p:cNvSpPr txBox="1">
            <a:spLocks noChangeArrowheads="1"/>
          </p:cNvSpPr>
          <p:nvPr/>
        </p:nvSpPr>
        <p:spPr bwMode="auto">
          <a:xfrm>
            <a:off x="1011238" y="5135563"/>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B000h</a:t>
            </a:r>
            <a:r>
              <a:rPr lang="zh-CN" altLang="en-US"/>
              <a:t>～</a:t>
            </a:r>
            <a:r>
              <a:rPr lang="en-US" altLang="zh-CN"/>
              <a:t>BFFF</a:t>
            </a:r>
          </a:p>
        </p:txBody>
      </p:sp>
      <p:sp>
        <p:nvSpPr>
          <p:cNvPr id="69655" name="Text Box 23"/>
          <p:cNvSpPr txBox="1">
            <a:spLocks noChangeArrowheads="1"/>
          </p:cNvSpPr>
          <p:nvPr/>
        </p:nvSpPr>
        <p:spPr bwMode="auto">
          <a:xfrm>
            <a:off x="1011238" y="5454650"/>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C000h</a:t>
            </a:r>
            <a:r>
              <a:rPr lang="zh-CN" altLang="en-US"/>
              <a:t>～</a:t>
            </a:r>
            <a:r>
              <a:rPr lang="en-US" altLang="zh-CN"/>
              <a:t>CFFF</a:t>
            </a:r>
          </a:p>
        </p:txBody>
      </p:sp>
      <p:sp>
        <p:nvSpPr>
          <p:cNvPr id="69656" name="Text Box 24"/>
          <p:cNvSpPr txBox="1">
            <a:spLocks noChangeArrowheads="1"/>
          </p:cNvSpPr>
          <p:nvPr/>
        </p:nvSpPr>
        <p:spPr bwMode="auto">
          <a:xfrm>
            <a:off x="1011238" y="5775325"/>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D000h</a:t>
            </a:r>
            <a:r>
              <a:rPr lang="zh-CN" altLang="en-US"/>
              <a:t>～</a:t>
            </a:r>
            <a:r>
              <a:rPr lang="en-US" altLang="zh-CN"/>
              <a:t>DFFF</a:t>
            </a:r>
          </a:p>
        </p:txBody>
      </p:sp>
      <p:sp>
        <p:nvSpPr>
          <p:cNvPr id="69657" name="Text Box 25"/>
          <p:cNvSpPr txBox="1">
            <a:spLocks noChangeArrowheads="1"/>
          </p:cNvSpPr>
          <p:nvPr/>
        </p:nvSpPr>
        <p:spPr bwMode="auto">
          <a:xfrm>
            <a:off x="1011238" y="6088063"/>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E000h</a:t>
            </a:r>
            <a:r>
              <a:rPr lang="zh-CN" altLang="en-US"/>
              <a:t>～</a:t>
            </a:r>
            <a:r>
              <a:rPr lang="en-US" altLang="zh-CN"/>
              <a:t>EFFF</a:t>
            </a:r>
          </a:p>
        </p:txBody>
      </p:sp>
      <p:sp>
        <p:nvSpPr>
          <p:cNvPr id="69658" name="Text Box 26"/>
          <p:cNvSpPr txBox="1">
            <a:spLocks noChangeArrowheads="1"/>
          </p:cNvSpPr>
          <p:nvPr/>
        </p:nvSpPr>
        <p:spPr bwMode="auto">
          <a:xfrm>
            <a:off x="1011238" y="6392863"/>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F000h</a:t>
            </a:r>
            <a:r>
              <a:rPr lang="zh-CN" altLang="en-US"/>
              <a:t>～</a:t>
            </a:r>
            <a:r>
              <a:rPr lang="en-US" altLang="zh-CN"/>
              <a:t>FFFF</a:t>
            </a:r>
          </a:p>
        </p:txBody>
      </p:sp>
      <p:sp>
        <p:nvSpPr>
          <p:cNvPr id="69659" name="Text Box 27"/>
          <p:cNvSpPr txBox="1">
            <a:spLocks noChangeArrowheads="1"/>
          </p:cNvSpPr>
          <p:nvPr/>
        </p:nvSpPr>
        <p:spPr bwMode="auto">
          <a:xfrm>
            <a:off x="2771775" y="6500813"/>
            <a:ext cx="1360488" cy="18097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sz="1600"/>
              <a:t>F800h</a:t>
            </a:r>
            <a:r>
              <a:rPr lang="zh-CN" altLang="en-US" sz="1600"/>
              <a:t>～</a:t>
            </a:r>
            <a:r>
              <a:rPr lang="en-US" altLang="zh-CN" sz="1600"/>
              <a:t>FFFF</a:t>
            </a:r>
            <a:endParaRPr lang="en-US" altLang="zh-CN" sz="1000"/>
          </a:p>
        </p:txBody>
      </p:sp>
      <p:sp>
        <p:nvSpPr>
          <p:cNvPr id="69660" name="Text Box 29"/>
          <p:cNvSpPr txBox="1">
            <a:spLocks noChangeArrowheads="1"/>
          </p:cNvSpPr>
          <p:nvPr/>
        </p:nvSpPr>
        <p:spPr bwMode="auto">
          <a:xfrm>
            <a:off x="4265613" y="4502150"/>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9000h</a:t>
            </a:r>
            <a:r>
              <a:rPr lang="zh-CN" altLang="en-US"/>
              <a:t>～</a:t>
            </a:r>
            <a:r>
              <a:rPr lang="en-US" altLang="zh-CN"/>
              <a:t>9FFF</a:t>
            </a:r>
          </a:p>
        </p:txBody>
      </p:sp>
      <p:sp>
        <p:nvSpPr>
          <p:cNvPr id="69661" name="Text Box 30"/>
          <p:cNvSpPr txBox="1">
            <a:spLocks noChangeArrowheads="1"/>
          </p:cNvSpPr>
          <p:nvPr/>
        </p:nvSpPr>
        <p:spPr bwMode="auto">
          <a:xfrm>
            <a:off x="4265613" y="4814888"/>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A000h</a:t>
            </a:r>
            <a:r>
              <a:rPr lang="zh-CN" altLang="en-US"/>
              <a:t>～</a:t>
            </a:r>
            <a:r>
              <a:rPr lang="en-US" altLang="zh-CN"/>
              <a:t>AFFF</a:t>
            </a:r>
          </a:p>
        </p:txBody>
      </p:sp>
      <p:sp>
        <p:nvSpPr>
          <p:cNvPr id="69662" name="Text Box 31"/>
          <p:cNvSpPr txBox="1">
            <a:spLocks noChangeArrowheads="1"/>
          </p:cNvSpPr>
          <p:nvPr/>
        </p:nvSpPr>
        <p:spPr bwMode="auto">
          <a:xfrm>
            <a:off x="4265613" y="5135563"/>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B000h</a:t>
            </a:r>
            <a:r>
              <a:rPr lang="zh-CN" altLang="en-US"/>
              <a:t>～</a:t>
            </a:r>
            <a:r>
              <a:rPr lang="en-US" altLang="zh-CN"/>
              <a:t>BFFF</a:t>
            </a:r>
          </a:p>
        </p:txBody>
      </p:sp>
      <p:sp>
        <p:nvSpPr>
          <p:cNvPr id="69663" name="Text Box 32"/>
          <p:cNvSpPr txBox="1">
            <a:spLocks noChangeArrowheads="1"/>
          </p:cNvSpPr>
          <p:nvPr/>
        </p:nvSpPr>
        <p:spPr bwMode="auto">
          <a:xfrm>
            <a:off x="4265613" y="5454650"/>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C000h</a:t>
            </a:r>
            <a:r>
              <a:rPr lang="zh-CN" altLang="en-US"/>
              <a:t>～</a:t>
            </a:r>
            <a:r>
              <a:rPr lang="en-US" altLang="zh-CN"/>
              <a:t>CFFF</a:t>
            </a:r>
          </a:p>
        </p:txBody>
      </p:sp>
      <p:sp>
        <p:nvSpPr>
          <p:cNvPr id="69664" name="Text Box 33"/>
          <p:cNvSpPr txBox="1">
            <a:spLocks noChangeArrowheads="1"/>
          </p:cNvSpPr>
          <p:nvPr/>
        </p:nvSpPr>
        <p:spPr bwMode="auto">
          <a:xfrm>
            <a:off x="4265613" y="5775325"/>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D000h</a:t>
            </a:r>
            <a:r>
              <a:rPr lang="zh-CN" altLang="en-US"/>
              <a:t>～</a:t>
            </a:r>
            <a:r>
              <a:rPr lang="en-US" altLang="zh-CN"/>
              <a:t>DFFF</a:t>
            </a:r>
          </a:p>
        </p:txBody>
      </p:sp>
      <p:sp>
        <p:nvSpPr>
          <p:cNvPr id="69665" name="Text Box 34"/>
          <p:cNvSpPr txBox="1">
            <a:spLocks noChangeArrowheads="1"/>
          </p:cNvSpPr>
          <p:nvPr/>
        </p:nvSpPr>
        <p:spPr bwMode="auto">
          <a:xfrm>
            <a:off x="4265613" y="6088063"/>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E000h</a:t>
            </a:r>
            <a:r>
              <a:rPr lang="zh-CN" altLang="en-US"/>
              <a:t>～</a:t>
            </a:r>
            <a:r>
              <a:rPr lang="en-US" altLang="zh-CN"/>
              <a:t>EFFF</a:t>
            </a:r>
          </a:p>
        </p:txBody>
      </p:sp>
      <p:sp>
        <p:nvSpPr>
          <p:cNvPr id="69666" name="Text Box 35"/>
          <p:cNvSpPr txBox="1">
            <a:spLocks noChangeArrowheads="1"/>
          </p:cNvSpPr>
          <p:nvPr/>
        </p:nvSpPr>
        <p:spPr bwMode="auto">
          <a:xfrm>
            <a:off x="4265613" y="6392863"/>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F000h</a:t>
            </a:r>
            <a:r>
              <a:rPr lang="zh-CN" altLang="en-US"/>
              <a:t>～</a:t>
            </a:r>
            <a:r>
              <a:rPr lang="en-US" altLang="zh-CN"/>
              <a:t>FFFF</a:t>
            </a:r>
          </a:p>
        </p:txBody>
      </p:sp>
      <p:sp>
        <p:nvSpPr>
          <p:cNvPr id="69667" name="Text Box 41"/>
          <p:cNvSpPr txBox="1">
            <a:spLocks noChangeArrowheads="1"/>
          </p:cNvSpPr>
          <p:nvPr/>
        </p:nvSpPr>
        <p:spPr bwMode="auto">
          <a:xfrm>
            <a:off x="7553325" y="5629275"/>
            <a:ext cx="1381125" cy="2540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C000h</a:t>
            </a:r>
            <a:r>
              <a:rPr lang="zh-CN" altLang="en-US" sz="1600"/>
              <a:t>～</a:t>
            </a:r>
            <a:r>
              <a:rPr lang="en-US" altLang="zh-CN" sz="1600"/>
              <a:t>CFFF</a:t>
            </a:r>
          </a:p>
        </p:txBody>
      </p:sp>
      <p:sp>
        <p:nvSpPr>
          <p:cNvPr id="69668" name="Text Box 42"/>
          <p:cNvSpPr txBox="1">
            <a:spLocks noChangeArrowheads="1"/>
          </p:cNvSpPr>
          <p:nvPr/>
        </p:nvSpPr>
        <p:spPr bwMode="auto">
          <a:xfrm>
            <a:off x="7553325" y="5876925"/>
            <a:ext cx="1381125" cy="2540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D000h</a:t>
            </a:r>
            <a:r>
              <a:rPr lang="zh-CN" altLang="en-US" sz="1600"/>
              <a:t>～</a:t>
            </a:r>
            <a:r>
              <a:rPr lang="en-US" altLang="zh-CN" sz="1600"/>
              <a:t>DFFF</a:t>
            </a:r>
          </a:p>
        </p:txBody>
      </p:sp>
      <p:sp>
        <p:nvSpPr>
          <p:cNvPr id="69669" name="Text Box 43"/>
          <p:cNvSpPr txBox="1">
            <a:spLocks noChangeArrowheads="1"/>
          </p:cNvSpPr>
          <p:nvPr/>
        </p:nvSpPr>
        <p:spPr bwMode="auto">
          <a:xfrm>
            <a:off x="7553325" y="6134100"/>
            <a:ext cx="1381125" cy="2540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E000h</a:t>
            </a:r>
            <a:r>
              <a:rPr lang="zh-CN" altLang="en-US" sz="1600"/>
              <a:t>～</a:t>
            </a:r>
            <a:r>
              <a:rPr lang="en-US" altLang="zh-CN" sz="1600"/>
              <a:t>EFFF</a:t>
            </a:r>
          </a:p>
        </p:txBody>
      </p:sp>
      <p:sp>
        <p:nvSpPr>
          <p:cNvPr id="69670" name="Text Box 44"/>
          <p:cNvSpPr txBox="1">
            <a:spLocks noChangeArrowheads="1"/>
          </p:cNvSpPr>
          <p:nvPr/>
        </p:nvSpPr>
        <p:spPr bwMode="auto">
          <a:xfrm>
            <a:off x="7553325" y="6410325"/>
            <a:ext cx="1381125" cy="2540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F000h</a:t>
            </a:r>
            <a:r>
              <a:rPr lang="zh-CN" altLang="en-US" sz="1600"/>
              <a:t>～</a:t>
            </a:r>
            <a:r>
              <a:rPr lang="en-US" altLang="zh-CN" sz="1600"/>
              <a:t>FFFF</a:t>
            </a:r>
          </a:p>
        </p:txBody>
      </p:sp>
      <p:sp>
        <p:nvSpPr>
          <p:cNvPr id="69671" name="Text Box 45"/>
          <p:cNvSpPr txBox="1">
            <a:spLocks noChangeArrowheads="1"/>
          </p:cNvSpPr>
          <p:nvPr/>
        </p:nvSpPr>
        <p:spPr bwMode="auto">
          <a:xfrm>
            <a:off x="4265613" y="2938463"/>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4000h</a:t>
            </a:r>
            <a:r>
              <a:rPr lang="zh-CN" altLang="en-US"/>
              <a:t>～</a:t>
            </a:r>
            <a:r>
              <a:rPr lang="en-US" altLang="zh-CN"/>
              <a:t>4FFF</a:t>
            </a:r>
          </a:p>
        </p:txBody>
      </p:sp>
      <p:sp>
        <p:nvSpPr>
          <p:cNvPr id="69672" name="Text Box 46"/>
          <p:cNvSpPr txBox="1">
            <a:spLocks noChangeArrowheads="1"/>
          </p:cNvSpPr>
          <p:nvPr/>
        </p:nvSpPr>
        <p:spPr bwMode="auto">
          <a:xfrm>
            <a:off x="4265613" y="3243263"/>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5000h</a:t>
            </a:r>
            <a:r>
              <a:rPr lang="zh-CN" altLang="en-US"/>
              <a:t>～</a:t>
            </a:r>
            <a:r>
              <a:rPr lang="en-US" altLang="zh-CN"/>
              <a:t>5FFF</a:t>
            </a:r>
          </a:p>
        </p:txBody>
      </p:sp>
      <p:sp>
        <p:nvSpPr>
          <p:cNvPr id="69673" name="Text Box 47"/>
          <p:cNvSpPr txBox="1">
            <a:spLocks noChangeArrowheads="1"/>
          </p:cNvSpPr>
          <p:nvPr/>
        </p:nvSpPr>
        <p:spPr bwMode="auto">
          <a:xfrm>
            <a:off x="4265613" y="3556000"/>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6000h</a:t>
            </a:r>
            <a:r>
              <a:rPr lang="zh-CN" altLang="en-US"/>
              <a:t>～</a:t>
            </a:r>
            <a:r>
              <a:rPr lang="en-US" altLang="zh-CN"/>
              <a:t>6FFF</a:t>
            </a:r>
          </a:p>
        </p:txBody>
      </p:sp>
      <p:sp>
        <p:nvSpPr>
          <p:cNvPr id="69674" name="Text Box 48"/>
          <p:cNvSpPr txBox="1">
            <a:spLocks noChangeArrowheads="1"/>
          </p:cNvSpPr>
          <p:nvPr/>
        </p:nvSpPr>
        <p:spPr bwMode="auto">
          <a:xfrm>
            <a:off x="4265613" y="3876675"/>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7000h</a:t>
            </a:r>
            <a:r>
              <a:rPr lang="zh-CN" altLang="en-US"/>
              <a:t>～</a:t>
            </a:r>
            <a:r>
              <a:rPr lang="en-US" altLang="zh-CN"/>
              <a:t>7FFF</a:t>
            </a:r>
          </a:p>
        </p:txBody>
      </p:sp>
      <p:sp>
        <p:nvSpPr>
          <p:cNvPr id="69675" name="Text Box 49"/>
          <p:cNvSpPr txBox="1">
            <a:spLocks noChangeArrowheads="1"/>
          </p:cNvSpPr>
          <p:nvPr/>
        </p:nvSpPr>
        <p:spPr bwMode="auto">
          <a:xfrm>
            <a:off x="4265613" y="4195763"/>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8000h</a:t>
            </a:r>
            <a:r>
              <a:rPr lang="zh-CN" altLang="en-US"/>
              <a:t>～</a:t>
            </a:r>
            <a:r>
              <a:rPr lang="en-US" altLang="zh-CN"/>
              <a:t>8FFF</a:t>
            </a:r>
          </a:p>
        </p:txBody>
      </p:sp>
      <p:sp>
        <p:nvSpPr>
          <p:cNvPr id="69676" name="Text Box 52"/>
          <p:cNvSpPr txBox="1">
            <a:spLocks noChangeArrowheads="1"/>
          </p:cNvSpPr>
          <p:nvPr/>
        </p:nvSpPr>
        <p:spPr bwMode="auto">
          <a:xfrm>
            <a:off x="1479550" y="2482850"/>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C541</a:t>
            </a:r>
          </a:p>
        </p:txBody>
      </p:sp>
      <p:sp>
        <p:nvSpPr>
          <p:cNvPr id="69677" name="Text Box 53"/>
          <p:cNvSpPr txBox="1">
            <a:spLocks noChangeArrowheads="1"/>
          </p:cNvSpPr>
          <p:nvPr/>
        </p:nvSpPr>
        <p:spPr bwMode="auto">
          <a:xfrm>
            <a:off x="2846388" y="2482850"/>
            <a:ext cx="1439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C542/C543</a:t>
            </a:r>
          </a:p>
        </p:txBody>
      </p:sp>
      <p:sp>
        <p:nvSpPr>
          <p:cNvPr id="69678" name="Text Box 54"/>
          <p:cNvSpPr txBox="1">
            <a:spLocks noChangeArrowheads="1"/>
          </p:cNvSpPr>
          <p:nvPr/>
        </p:nvSpPr>
        <p:spPr bwMode="auto">
          <a:xfrm>
            <a:off x="4430713" y="2482850"/>
            <a:ext cx="1439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C545/C546</a:t>
            </a:r>
          </a:p>
        </p:txBody>
      </p:sp>
      <p:sp>
        <p:nvSpPr>
          <p:cNvPr id="69679" name="Text Box 55"/>
          <p:cNvSpPr txBox="1">
            <a:spLocks noChangeArrowheads="1"/>
          </p:cNvSpPr>
          <p:nvPr/>
        </p:nvSpPr>
        <p:spPr bwMode="auto">
          <a:xfrm>
            <a:off x="6375400" y="2482850"/>
            <a:ext cx="792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C548</a:t>
            </a:r>
          </a:p>
        </p:txBody>
      </p:sp>
      <p:sp>
        <p:nvSpPr>
          <p:cNvPr id="69680" name="Text Box 56"/>
          <p:cNvSpPr txBox="1">
            <a:spLocks noChangeArrowheads="1"/>
          </p:cNvSpPr>
          <p:nvPr/>
        </p:nvSpPr>
        <p:spPr bwMode="auto">
          <a:xfrm>
            <a:off x="7599363" y="2482850"/>
            <a:ext cx="792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C549</a:t>
            </a:r>
          </a:p>
        </p:txBody>
      </p:sp>
      <p:sp>
        <p:nvSpPr>
          <p:cNvPr id="69681" name="Text Box 59"/>
          <p:cNvSpPr txBox="1">
            <a:spLocks noChangeArrowheads="1"/>
          </p:cNvSpPr>
          <p:nvPr/>
        </p:nvSpPr>
        <p:spPr bwMode="auto">
          <a:xfrm>
            <a:off x="6084888" y="6500813"/>
            <a:ext cx="1360487" cy="18097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sz="1600"/>
              <a:t>F800h</a:t>
            </a:r>
            <a:r>
              <a:rPr lang="zh-CN" altLang="en-US" sz="1600"/>
              <a:t>～</a:t>
            </a:r>
            <a:r>
              <a:rPr lang="en-US" altLang="zh-CN" sz="1600"/>
              <a:t>FFFF</a:t>
            </a:r>
            <a:endParaRPr lang="en-US" altLang="zh-CN" sz="1000"/>
          </a:p>
        </p:txBody>
      </p:sp>
      <p:sp>
        <p:nvSpPr>
          <p:cNvPr id="69682" name="Line 60" descr="小棋盘"/>
          <p:cNvSpPr>
            <a:spLocks noChangeShapeType="1"/>
          </p:cNvSpPr>
          <p:nvPr/>
        </p:nvSpPr>
        <p:spPr bwMode="auto">
          <a:xfrm>
            <a:off x="7596188" y="4041775"/>
            <a:ext cx="3048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66276"/>
                                        </p:tgtEl>
                                        <p:attrNameLst>
                                          <p:attrName>style.visibility</p:attrName>
                                        </p:attrNameLst>
                                      </p:cBhvr>
                                      <p:to>
                                        <p:strVal val="visible"/>
                                      </p:to>
                                    </p:set>
                                    <p:anim calcmode="lin" valueType="num">
                                      <p:cBhvr additive="base">
                                        <p:cTn id="7" dur="500" fill="hold"/>
                                        <p:tgtEl>
                                          <p:spTgt spid="566276"/>
                                        </p:tgtEl>
                                        <p:attrNameLst>
                                          <p:attrName>ppt_x</p:attrName>
                                        </p:attrNameLst>
                                      </p:cBhvr>
                                      <p:tavLst>
                                        <p:tav tm="0">
                                          <p:val>
                                            <p:strVal val="1+#ppt_w/2"/>
                                          </p:val>
                                        </p:tav>
                                        <p:tav tm="100000">
                                          <p:val>
                                            <p:strVal val="#ppt_x"/>
                                          </p:val>
                                        </p:tav>
                                      </p:tavLst>
                                    </p:anim>
                                    <p:anim calcmode="lin" valueType="num">
                                      <p:cBhvr additive="base">
                                        <p:cTn id="8" dur="500" fill="hold"/>
                                        <p:tgtEl>
                                          <p:spTgt spid="56627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566278"/>
                                        </p:tgtEl>
                                        <p:attrNameLst>
                                          <p:attrName>style.visibility</p:attrName>
                                        </p:attrNameLst>
                                      </p:cBhvr>
                                      <p:to>
                                        <p:strVal val="visible"/>
                                      </p:to>
                                    </p:set>
                                    <p:anim calcmode="lin" valueType="num">
                                      <p:cBhvr additive="base">
                                        <p:cTn id="12" dur="500" fill="hold"/>
                                        <p:tgtEl>
                                          <p:spTgt spid="566278"/>
                                        </p:tgtEl>
                                        <p:attrNameLst>
                                          <p:attrName>ppt_x</p:attrName>
                                        </p:attrNameLst>
                                      </p:cBhvr>
                                      <p:tavLst>
                                        <p:tav tm="0">
                                          <p:val>
                                            <p:strVal val="1+#ppt_w/2"/>
                                          </p:val>
                                        </p:tav>
                                        <p:tav tm="100000">
                                          <p:val>
                                            <p:strVal val="#ppt_x"/>
                                          </p:val>
                                        </p:tav>
                                      </p:tavLst>
                                    </p:anim>
                                    <p:anim calcmode="lin" valueType="num">
                                      <p:cBhvr additive="base">
                                        <p:cTn id="13" dur="500" fill="hold"/>
                                        <p:tgtEl>
                                          <p:spTgt spid="5662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6" grpId="0" animBg="1" autoUpdateAnimBg="0"/>
      <p:bldP spid="566278"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74B17F25-ED84-4FC1-AE08-8E4FAF2BE06F}" type="slidenum">
              <a:rPr lang="en-US" altLang="zh-CN" sz="1400" b="0"/>
              <a:pPr eaLnBrk="1" hangingPunct="1"/>
              <a:t>57</a:t>
            </a:fld>
            <a:endParaRPr lang="en-US" altLang="zh-CN" sz="1400" b="0"/>
          </a:p>
        </p:txBody>
      </p:sp>
      <p:sp>
        <p:nvSpPr>
          <p:cNvPr id="70659" name="Rectangle 2"/>
          <p:cNvSpPr>
            <a:spLocks noChangeArrowheads="1"/>
          </p:cNvSpPr>
          <p:nvPr/>
        </p:nvSpPr>
        <p:spPr bwMode="auto">
          <a:xfrm>
            <a:off x="533400" y="1295400"/>
            <a:ext cx="81534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zh-CN" altLang="en-US" sz="2800">
                <a:solidFill>
                  <a:srgbClr val="FF0066"/>
                </a:solidFill>
              </a:rPr>
              <a:t>当存储单元映象到程序空间时，处理器就能自动地对它们所处的地址范围寻址。</a:t>
            </a:r>
          </a:p>
          <a:p>
            <a:pPr eaLnBrk="1" hangingPunct="1">
              <a:lnSpc>
                <a:spcPct val="90000"/>
              </a:lnSpc>
              <a:spcBef>
                <a:spcPct val="50000"/>
              </a:spcBef>
            </a:pPr>
            <a:r>
              <a:rPr lang="zh-CN" altLang="en-US" sz="2800">
                <a:solidFill>
                  <a:schemeClr val="tx2"/>
                </a:solidFill>
              </a:rPr>
              <a:t>如果程序地址生成器（</a:t>
            </a:r>
            <a:r>
              <a:rPr lang="en-US" altLang="zh-CN" sz="2800">
                <a:solidFill>
                  <a:schemeClr val="tx2"/>
                </a:solidFill>
              </a:rPr>
              <a:t>PAGEN</a:t>
            </a:r>
            <a:r>
              <a:rPr lang="zh-CN" altLang="en-US" sz="2800">
                <a:solidFill>
                  <a:schemeClr val="tx2"/>
                </a:solidFill>
              </a:rPr>
              <a:t>）发出的地址处在片内存储器地址范围外，处理器就能自动地对外部寻址。</a:t>
            </a:r>
            <a:r>
              <a:rPr lang="zh-CN" altLang="en-US" sz="2800"/>
              <a:t>表</a:t>
            </a:r>
            <a:r>
              <a:rPr lang="en-US" altLang="zh-CN" sz="2800"/>
              <a:t>2-3</a:t>
            </a:r>
            <a:r>
              <a:rPr lang="zh-CN" altLang="en-US" sz="2800"/>
              <a:t>列出了</a:t>
            </a:r>
            <a:r>
              <a:rPr lang="en-US" altLang="zh-CN" sz="2800"/>
              <a:t>C54x</a:t>
            </a:r>
            <a:r>
              <a:rPr lang="zh-CN" altLang="en-US" sz="2800"/>
              <a:t>可用的片内程序存储器地址的容量。</a:t>
            </a:r>
          </a:p>
          <a:p>
            <a:pPr eaLnBrk="1" hangingPunct="1">
              <a:lnSpc>
                <a:spcPct val="90000"/>
              </a:lnSpc>
              <a:spcBef>
                <a:spcPct val="50000"/>
              </a:spcBef>
            </a:pPr>
            <a:r>
              <a:rPr lang="zh-CN" altLang="en-US" sz="2800">
                <a:solidFill>
                  <a:srgbClr val="CC00FF"/>
                </a:solidFill>
              </a:rPr>
              <a:t>为了增强处理器的性能，对片内</a:t>
            </a:r>
            <a:r>
              <a:rPr lang="en-US" altLang="zh-CN" sz="2800">
                <a:solidFill>
                  <a:srgbClr val="CC00FF"/>
                </a:solidFill>
              </a:rPr>
              <a:t>ROM</a:t>
            </a:r>
            <a:r>
              <a:rPr lang="zh-CN" altLang="en-US" sz="2800">
                <a:solidFill>
                  <a:srgbClr val="CC00FF"/>
                </a:solidFill>
              </a:rPr>
              <a:t>再细分为若干块，这样就可以在片内</a:t>
            </a:r>
            <a:r>
              <a:rPr lang="en-US" altLang="zh-CN" sz="2800">
                <a:solidFill>
                  <a:srgbClr val="CC00FF"/>
                </a:solidFill>
              </a:rPr>
              <a:t>ROM</a:t>
            </a:r>
            <a:r>
              <a:rPr lang="zh-CN" altLang="en-US" sz="2800">
                <a:solidFill>
                  <a:srgbClr val="CC00FF"/>
                </a:solidFill>
              </a:rPr>
              <a:t>的一个块内取指的同时，又对别的块中数据进行操作。</a:t>
            </a:r>
            <a:r>
              <a:rPr lang="zh-CN" altLang="en-US" sz="2800"/>
              <a:t>如上图所示为片内</a:t>
            </a:r>
            <a:r>
              <a:rPr lang="en-US" altLang="zh-CN" sz="2800"/>
              <a:t>ROM</a:t>
            </a:r>
            <a:r>
              <a:rPr lang="zh-CN" altLang="en-US" sz="2800"/>
              <a:t>的分块图。</a:t>
            </a:r>
          </a:p>
        </p:txBody>
      </p:sp>
    </p:spTree>
  </p:cSld>
  <p:clrMapOvr>
    <a:masterClrMapping/>
  </p:clrMapOvr>
  <p:transition spd="med">
    <p:pull dir="l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C74B414-2E95-49CF-ABAB-4409EA21EE3F}" type="slidenum">
              <a:rPr lang="en-US" altLang="zh-CN" sz="1400" b="0"/>
              <a:pPr eaLnBrk="1" hangingPunct="1"/>
              <a:t>58</a:t>
            </a:fld>
            <a:endParaRPr lang="en-US" altLang="zh-CN" sz="1400" b="0"/>
          </a:p>
        </p:txBody>
      </p:sp>
      <p:sp>
        <p:nvSpPr>
          <p:cNvPr id="71683" name="Rectangle 2"/>
          <p:cNvSpPr>
            <a:spLocks noChangeArrowheads="1"/>
          </p:cNvSpPr>
          <p:nvPr/>
        </p:nvSpPr>
        <p:spPr bwMode="auto">
          <a:xfrm>
            <a:off x="304800" y="1143000"/>
            <a:ext cx="8610600" cy="545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61988"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solidFill>
                  <a:schemeClr val="tx2"/>
                </a:solidFill>
              </a:rPr>
              <a:t>当处理器复位时，复位中断向量映象到程序空间的</a:t>
            </a:r>
            <a:r>
              <a:rPr lang="en-US" altLang="zh-CN" sz="3200">
                <a:solidFill>
                  <a:schemeClr val="tx2"/>
                </a:solidFill>
              </a:rPr>
              <a:t>FF80h</a:t>
            </a:r>
            <a:r>
              <a:rPr lang="zh-CN" altLang="en-US" sz="3200">
                <a:solidFill>
                  <a:schemeClr val="tx2"/>
                </a:solidFill>
              </a:rPr>
              <a:t>。</a:t>
            </a:r>
          </a:p>
          <a:p>
            <a:pPr eaLnBrk="1" hangingPunct="1">
              <a:spcBef>
                <a:spcPct val="50000"/>
              </a:spcBef>
            </a:pPr>
            <a:r>
              <a:rPr lang="zh-CN" altLang="en-US" sz="3200">
                <a:solidFill>
                  <a:srgbClr val="CC00FF"/>
                </a:solidFill>
              </a:rPr>
              <a:t>复位后，这些向量可以被重新映象到程序空间中任何一个</a:t>
            </a:r>
            <a:r>
              <a:rPr lang="en-US" altLang="zh-CN" sz="3200">
                <a:solidFill>
                  <a:srgbClr val="CC00FF"/>
                </a:solidFill>
              </a:rPr>
              <a:t>128</a:t>
            </a:r>
            <a:r>
              <a:rPr lang="zh-CN" altLang="en-US" sz="3200">
                <a:solidFill>
                  <a:srgbClr val="CC00FF"/>
                </a:solidFill>
              </a:rPr>
              <a:t>字页的开头。</a:t>
            </a:r>
            <a:r>
              <a:rPr lang="zh-CN" altLang="en-US" sz="3200"/>
              <a:t>这就很容易将中断向量表从引导</a:t>
            </a:r>
            <a:r>
              <a:rPr lang="en-US" altLang="zh-CN" sz="3200"/>
              <a:t>ROM</a:t>
            </a:r>
            <a:r>
              <a:rPr lang="zh-CN" altLang="en-US" sz="3200"/>
              <a:t>中移出来，然后再根据存储器分配图进行安排。</a:t>
            </a:r>
          </a:p>
          <a:p>
            <a:pPr eaLnBrk="1" hangingPunct="1">
              <a:spcBef>
                <a:spcPct val="50000"/>
              </a:spcBef>
            </a:pPr>
            <a:r>
              <a:rPr lang="en-US" altLang="zh-CN" sz="3200"/>
              <a:t>C54x</a:t>
            </a:r>
            <a:r>
              <a:rPr lang="zh-CN" altLang="en-US" sz="3200"/>
              <a:t>的片内</a:t>
            </a:r>
            <a:r>
              <a:rPr lang="en-US" altLang="zh-CN" sz="3200"/>
              <a:t>ROM</a:t>
            </a:r>
            <a:r>
              <a:rPr lang="zh-CN" altLang="en-US" sz="3200"/>
              <a:t>容量有大（</a:t>
            </a:r>
            <a:r>
              <a:rPr lang="en-US" altLang="zh-CN" sz="3200"/>
              <a:t>28K</a:t>
            </a:r>
            <a:r>
              <a:rPr lang="zh-CN" altLang="en-US" sz="3200"/>
              <a:t>或</a:t>
            </a:r>
            <a:r>
              <a:rPr lang="en-US" altLang="zh-CN" sz="3200"/>
              <a:t>48K</a:t>
            </a:r>
            <a:r>
              <a:rPr lang="zh-CN" altLang="en-US" sz="3200"/>
              <a:t>字）有小（</a:t>
            </a:r>
            <a:r>
              <a:rPr lang="en-US" altLang="zh-CN" sz="3200"/>
              <a:t>2K</a:t>
            </a:r>
            <a:r>
              <a:rPr lang="zh-CN" altLang="en-US" sz="3200"/>
              <a:t>字），容量大的片内</a:t>
            </a:r>
            <a:r>
              <a:rPr lang="en-US" altLang="zh-CN" sz="3200"/>
              <a:t>ROM</a:t>
            </a:r>
            <a:r>
              <a:rPr lang="zh-CN" altLang="en-US" sz="3200"/>
              <a:t>可以把用户的程序代码编写进去，然而片内高</a:t>
            </a:r>
            <a:r>
              <a:rPr lang="en-US" altLang="zh-CN" sz="3200"/>
              <a:t>2K</a:t>
            </a:r>
            <a:r>
              <a:rPr lang="zh-CN" altLang="en-US" sz="3200"/>
              <a:t>字</a:t>
            </a:r>
            <a:r>
              <a:rPr lang="en-US" altLang="zh-CN" sz="3200"/>
              <a:t>ROM</a:t>
            </a:r>
            <a:r>
              <a:rPr lang="zh-CN" altLang="en-US" sz="3200"/>
              <a:t>中的内容是由</a:t>
            </a:r>
            <a:r>
              <a:rPr lang="en-US" altLang="zh-CN" sz="3200"/>
              <a:t>TI</a:t>
            </a:r>
            <a:r>
              <a:rPr lang="zh-CN" altLang="en-US" sz="3200"/>
              <a:t>公司定义的。</a:t>
            </a:r>
          </a:p>
        </p:txBody>
      </p:sp>
    </p:spTree>
  </p:cSld>
  <p:clrMapOvr>
    <a:masterClrMapping/>
  </p:clrMapOvr>
  <p:transition spd="med">
    <p:pull dir="l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E921791-B818-4D5E-BB98-6C73251D3C51}" type="slidenum">
              <a:rPr lang="en-US" altLang="zh-CN" sz="1400" b="0"/>
              <a:pPr eaLnBrk="1" hangingPunct="1"/>
              <a:t>59</a:t>
            </a:fld>
            <a:endParaRPr lang="en-US" altLang="zh-CN" sz="1400" b="0"/>
          </a:p>
        </p:txBody>
      </p:sp>
      <p:sp>
        <p:nvSpPr>
          <p:cNvPr id="569346" name="Rectangle 2"/>
          <p:cNvSpPr>
            <a:spLocks noChangeArrowheads="1"/>
          </p:cNvSpPr>
          <p:nvPr/>
        </p:nvSpPr>
        <p:spPr bwMode="auto">
          <a:xfrm>
            <a:off x="2743200" y="1219200"/>
            <a:ext cx="3657600" cy="698500"/>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660066"/>
                </a:solidFill>
                <a:latin typeface="宋体" panose="02010600030101010101" pitchFamily="2" charset="-122"/>
              </a:rPr>
              <a:t>高端</a:t>
            </a:r>
            <a:r>
              <a:rPr lang="en-US" altLang="zh-CN" sz="3600">
                <a:solidFill>
                  <a:srgbClr val="660066"/>
                </a:solidFill>
                <a:latin typeface="宋体" panose="02010600030101010101" pitchFamily="2" charset="-122"/>
              </a:rPr>
              <a:t>2K</a:t>
            </a:r>
            <a:r>
              <a:rPr lang="zh-CN" altLang="en-US" sz="3600">
                <a:solidFill>
                  <a:srgbClr val="660066"/>
                </a:solidFill>
                <a:latin typeface="宋体" panose="02010600030101010101" pitchFamily="2" charset="-122"/>
              </a:rPr>
              <a:t>字的利用</a:t>
            </a:r>
            <a:r>
              <a:rPr lang="zh-CN" altLang="en-US" sz="3600" b="0">
                <a:latin typeface="宋体" panose="02010600030101010101" pitchFamily="2" charset="-122"/>
              </a:rPr>
              <a:t> </a:t>
            </a:r>
          </a:p>
        </p:txBody>
      </p:sp>
      <p:grpSp>
        <p:nvGrpSpPr>
          <p:cNvPr id="72708" name="Group 34"/>
          <p:cNvGrpSpPr>
            <a:grpSpLocks/>
          </p:cNvGrpSpPr>
          <p:nvPr/>
        </p:nvGrpSpPr>
        <p:grpSpPr bwMode="auto">
          <a:xfrm>
            <a:off x="819150" y="2420938"/>
            <a:ext cx="6921500" cy="3257550"/>
            <a:chOff x="516" y="1525"/>
            <a:chExt cx="4360" cy="2052"/>
          </a:xfrm>
        </p:grpSpPr>
        <p:sp>
          <p:nvSpPr>
            <p:cNvPr id="72709" name="Text Box 4"/>
            <p:cNvSpPr txBox="1">
              <a:spLocks noChangeArrowheads="1"/>
            </p:cNvSpPr>
            <p:nvPr/>
          </p:nvSpPr>
          <p:spPr bwMode="auto">
            <a:xfrm>
              <a:off x="572" y="1777"/>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F800h</a:t>
              </a:r>
            </a:p>
          </p:txBody>
        </p:sp>
        <p:sp>
          <p:nvSpPr>
            <p:cNvPr id="72710" name="Text Box 5"/>
            <p:cNvSpPr txBox="1">
              <a:spLocks noChangeArrowheads="1"/>
            </p:cNvSpPr>
            <p:nvPr/>
          </p:nvSpPr>
          <p:spPr bwMode="auto">
            <a:xfrm>
              <a:off x="516" y="2100"/>
              <a:ext cx="6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FB00h</a:t>
              </a:r>
            </a:p>
          </p:txBody>
        </p:sp>
        <p:sp>
          <p:nvSpPr>
            <p:cNvPr id="72711" name="Text Box 6"/>
            <p:cNvSpPr txBox="1">
              <a:spLocks noChangeArrowheads="1"/>
            </p:cNvSpPr>
            <p:nvPr/>
          </p:nvSpPr>
          <p:spPr bwMode="auto">
            <a:xfrm>
              <a:off x="572" y="1949"/>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F900h</a:t>
              </a:r>
            </a:p>
          </p:txBody>
        </p:sp>
        <p:sp>
          <p:nvSpPr>
            <p:cNvPr id="72712" name="Text Box 7"/>
            <p:cNvSpPr txBox="1">
              <a:spLocks noChangeArrowheads="1"/>
            </p:cNvSpPr>
            <p:nvPr/>
          </p:nvSpPr>
          <p:spPr bwMode="auto">
            <a:xfrm>
              <a:off x="566" y="2296"/>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FA00h</a:t>
              </a:r>
            </a:p>
          </p:txBody>
        </p:sp>
        <p:sp>
          <p:nvSpPr>
            <p:cNvPr id="72713" name="Text Box 8"/>
            <p:cNvSpPr txBox="1">
              <a:spLocks noChangeArrowheads="1"/>
            </p:cNvSpPr>
            <p:nvPr/>
          </p:nvSpPr>
          <p:spPr bwMode="auto">
            <a:xfrm>
              <a:off x="566" y="2478"/>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FC00h</a:t>
              </a:r>
            </a:p>
          </p:txBody>
        </p:sp>
        <p:sp>
          <p:nvSpPr>
            <p:cNvPr id="72714" name="Text Box 9"/>
            <p:cNvSpPr txBox="1">
              <a:spLocks noChangeArrowheads="1"/>
            </p:cNvSpPr>
            <p:nvPr/>
          </p:nvSpPr>
          <p:spPr bwMode="auto">
            <a:xfrm>
              <a:off x="566" y="2659"/>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FD00h</a:t>
              </a:r>
            </a:p>
          </p:txBody>
        </p:sp>
        <p:sp>
          <p:nvSpPr>
            <p:cNvPr id="72715" name="Text Box 10"/>
            <p:cNvSpPr txBox="1">
              <a:spLocks noChangeArrowheads="1"/>
            </p:cNvSpPr>
            <p:nvPr/>
          </p:nvSpPr>
          <p:spPr bwMode="auto">
            <a:xfrm>
              <a:off x="566" y="2841"/>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FE00h</a:t>
              </a:r>
            </a:p>
          </p:txBody>
        </p:sp>
        <p:sp>
          <p:nvSpPr>
            <p:cNvPr id="72716" name="Text Box 11"/>
            <p:cNvSpPr txBox="1">
              <a:spLocks noChangeArrowheads="1"/>
            </p:cNvSpPr>
            <p:nvPr/>
          </p:nvSpPr>
          <p:spPr bwMode="auto">
            <a:xfrm>
              <a:off x="566" y="3007"/>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FF00h</a:t>
              </a:r>
            </a:p>
          </p:txBody>
        </p:sp>
        <p:sp>
          <p:nvSpPr>
            <p:cNvPr id="72717" name="Text Box 12"/>
            <p:cNvSpPr txBox="1">
              <a:spLocks noChangeArrowheads="1"/>
            </p:cNvSpPr>
            <p:nvPr/>
          </p:nvSpPr>
          <p:spPr bwMode="auto">
            <a:xfrm>
              <a:off x="566" y="3181"/>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FF80h</a:t>
              </a:r>
            </a:p>
          </p:txBody>
        </p:sp>
        <p:sp>
          <p:nvSpPr>
            <p:cNvPr id="72718" name="Rectangle 13"/>
            <p:cNvSpPr>
              <a:spLocks noChangeArrowheads="1"/>
            </p:cNvSpPr>
            <p:nvPr/>
          </p:nvSpPr>
          <p:spPr bwMode="auto">
            <a:xfrm>
              <a:off x="1201" y="1797"/>
              <a:ext cx="1588" cy="118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719" name="Text Box 14"/>
            <p:cNvSpPr txBox="1">
              <a:spLocks noChangeArrowheads="1"/>
            </p:cNvSpPr>
            <p:nvPr/>
          </p:nvSpPr>
          <p:spPr bwMode="auto">
            <a:xfrm>
              <a:off x="1474" y="2296"/>
              <a:ext cx="9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用户程序</a:t>
              </a:r>
            </a:p>
          </p:txBody>
        </p:sp>
        <p:sp>
          <p:nvSpPr>
            <p:cNvPr id="72720" name="Rectangle 15"/>
            <p:cNvSpPr>
              <a:spLocks noChangeArrowheads="1"/>
            </p:cNvSpPr>
            <p:nvPr/>
          </p:nvSpPr>
          <p:spPr bwMode="auto">
            <a:xfrm>
              <a:off x="1201" y="2977"/>
              <a:ext cx="1588" cy="300"/>
            </a:xfrm>
            <a:prstGeom prst="rect">
              <a:avLst/>
            </a:prstGeom>
            <a:solidFill>
              <a:schemeClr val="bg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721" name="Rectangle 16"/>
            <p:cNvSpPr>
              <a:spLocks noChangeArrowheads="1"/>
            </p:cNvSpPr>
            <p:nvPr/>
          </p:nvSpPr>
          <p:spPr bwMode="auto">
            <a:xfrm>
              <a:off x="1201" y="3277"/>
              <a:ext cx="1588" cy="300"/>
            </a:xfrm>
            <a:prstGeom prst="rect">
              <a:avLst/>
            </a:prstGeom>
            <a:solidFill>
              <a:srgbClr val="FF6600"/>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722" name="Text Box 17"/>
            <p:cNvSpPr txBox="1">
              <a:spLocks noChangeArrowheads="1"/>
            </p:cNvSpPr>
            <p:nvPr/>
          </p:nvSpPr>
          <p:spPr bwMode="auto">
            <a:xfrm>
              <a:off x="1474" y="3031"/>
              <a:ext cx="998" cy="19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机内自检程序</a:t>
              </a:r>
            </a:p>
          </p:txBody>
        </p:sp>
        <p:sp>
          <p:nvSpPr>
            <p:cNvPr id="72723" name="Text Box 18"/>
            <p:cNvSpPr txBox="1">
              <a:spLocks noChangeArrowheads="1"/>
            </p:cNvSpPr>
            <p:nvPr/>
          </p:nvSpPr>
          <p:spPr bwMode="auto">
            <a:xfrm>
              <a:off x="1443" y="3327"/>
              <a:ext cx="9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中断向量表</a:t>
              </a:r>
            </a:p>
          </p:txBody>
        </p:sp>
        <p:sp>
          <p:nvSpPr>
            <p:cNvPr id="72724" name="Text Box 19"/>
            <p:cNvSpPr txBox="1">
              <a:spLocks noChangeArrowheads="1"/>
            </p:cNvSpPr>
            <p:nvPr/>
          </p:nvSpPr>
          <p:spPr bwMode="auto">
            <a:xfrm>
              <a:off x="1383" y="1525"/>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C541/C545/C546</a:t>
              </a:r>
            </a:p>
          </p:txBody>
        </p:sp>
        <p:sp>
          <p:nvSpPr>
            <p:cNvPr id="72725" name="Rectangle 20"/>
            <p:cNvSpPr>
              <a:spLocks noChangeArrowheads="1"/>
            </p:cNvSpPr>
            <p:nvPr/>
          </p:nvSpPr>
          <p:spPr bwMode="auto">
            <a:xfrm>
              <a:off x="2970" y="1797"/>
              <a:ext cx="1906" cy="118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726" name="Text Box 21"/>
            <p:cNvSpPr txBox="1">
              <a:spLocks noChangeArrowheads="1"/>
            </p:cNvSpPr>
            <p:nvPr/>
          </p:nvSpPr>
          <p:spPr bwMode="auto">
            <a:xfrm>
              <a:off x="3379" y="1843"/>
              <a:ext cx="9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自举加载程序</a:t>
              </a:r>
            </a:p>
          </p:txBody>
        </p:sp>
        <p:sp>
          <p:nvSpPr>
            <p:cNvPr id="72727" name="Rectangle 22"/>
            <p:cNvSpPr>
              <a:spLocks noChangeArrowheads="1"/>
            </p:cNvSpPr>
            <p:nvPr/>
          </p:nvSpPr>
          <p:spPr bwMode="auto">
            <a:xfrm>
              <a:off x="2970" y="2977"/>
              <a:ext cx="1906" cy="300"/>
            </a:xfrm>
            <a:prstGeom prst="rect">
              <a:avLst/>
            </a:prstGeom>
            <a:solidFill>
              <a:schemeClr val="bg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728" name="Rectangle 23"/>
            <p:cNvSpPr>
              <a:spLocks noChangeArrowheads="1"/>
            </p:cNvSpPr>
            <p:nvPr/>
          </p:nvSpPr>
          <p:spPr bwMode="auto">
            <a:xfrm>
              <a:off x="2970" y="3277"/>
              <a:ext cx="1906" cy="300"/>
            </a:xfrm>
            <a:prstGeom prst="rect">
              <a:avLst/>
            </a:prstGeom>
            <a:solidFill>
              <a:srgbClr val="FF6600"/>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729" name="Text Box 24"/>
            <p:cNvSpPr txBox="1">
              <a:spLocks noChangeArrowheads="1"/>
            </p:cNvSpPr>
            <p:nvPr/>
          </p:nvSpPr>
          <p:spPr bwMode="auto">
            <a:xfrm>
              <a:off x="3439" y="3027"/>
              <a:ext cx="998" cy="19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机内自检程序</a:t>
              </a:r>
            </a:p>
          </p:txBody>
        </p:sp>
        <p:sp>
          <p:nvSpPr>
            <p:cNvPr id="72730" name="Text Box 25"/>
            <p:cNvSpPr txBox="1">
              <a:spLocks noChangeArrowheads="1"/>
            </p:cNvSpPr>
            <p:nvPr/>
          </p:nvSpPr>
          <p:spPr bwMode="auto">
            <a:xfrm>
              <a:off x="3439" y="3317"/>
              <a:ext cx="9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中断向量表</a:t>
              </a:r>
            </a:p>
          </p:txBody>
        </p:sp>
        <p:sp>
          <p:nvSpPr>
            <p:cNvPr id="72731" name="Rectangle 26"/>
            <p:cNvSpPr>
              <a:spLocks noChangeArrowheads="1"/>
            </p:cNvSpPr>
            <p:nvPr/>
          </p:nvSpPr>
          <p:spPr bwMode="auto">
            <a:xfrm>
              <a:off x="2970" y="2679"/>
              <a:ext cx="1906" cy="300"/>
            </a:xfrm>
            <a:prstGeom prst="rect">
              <a:avLst/>
            </a:prstGeom>
            <a:solidFill>
              <a:schemeClr val="bg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732" name="Text Box 27"/>
            <p:cNvSpPr txBox="1">
              <a:spLocks noChangeArrowheads="1"/>
            </p:cNvSpPr>
            <p:nvPr/>
          </p:nvSpPr>
          <p:spPr bwMode="auto">
            <a:xfrm>
              <a:off x="2986" y="2750"/>
              <a:ext cx="18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256</a:t>
              </a:r>
              <a:r>
                <a:rPr lang="zh-CN" altLang="en-US"/>
                <a:t>字正弦函数值查找表</a:t>
              </a:r>
            </a:p>
          </p:txBody>
        </p:sp>
        <p:sp>
          <p:nvSpPr>
            <p:cNvPr id="72733" name="Rectangle 28"/>
            <p:cNvSpPr>
              <a:spLocks noChangeArrowheads="1"/>
            </p:cNvSpPr>
            <p:nvPr/>
          </p:nvSpPr>
          <p:spPr bwMode="auto">
            <a:xfrm>
              <a:off x="2970" y="2387"/>
              <a:ext cx="1906" cy="300"/>
            </a:xfrm>
            <a:prstGeom prst="rect">
              <a:avLst/>
            </a:prstGeom>
            <a:solidFill>
              <a:schemeClr val="bg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734" name="Text Box 29"/>
            <p:cNvSpPr txBox="1">
              <a:spLocks noChangeArrowheads="1"/>
            </p:cNvSpPr>
            <p:nvPr/>
          </p:nvSpPr>
          <p:spPr bwMode="auto">
            <a:xfrm>
              <a:off x="3223" y="2442"/>
              <a:ext cx="140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256</a:t>
              </a:r>
              <a:r>
                <a:rPr lang="zh-CN" altLang="en-US"/>
                <a:t>字</a:t>
              </a:r>
              <a:r>
                <a:rPr lang="en-US" altLang="zh-CN"/>
                <a:t>A</a:t>
              </a:r>
              <a:r>
                <a:rPr lang="zh-CN" altLang="en-US"/>
                <a:t>律压扩表</a:t>
              </a:r>
            </a:p>
          </p:txBody>
        </p:sp>
        <p:sp>
          <p:nvSpPr>
            <p:cNvPr id="72735" name="Rectangle 30"/>
            <p:cNvSpPr>
              <a:spLocks noChangeArrowheads="1"/>
            </p:cNvSpPr>
            <p:nvPr/>
          </p:nvSpPr>
          <p:spPr bwMode="auto">
            <a:xfrm>
              <a:off x="2970" y="2100"/>
              <a:ext cx="1906" cy="300"/>
            </a:xfrm>
            <a:prstGeom prst="rect">
              <a:avLst/>
            </a:prstGeom>
            <a:solidFill>
              <a:schemeClr val="bg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736" name="Text Box 32"/>
            <p:cNvSpPr txBox="1">
              <a:spLocks noChangeArrowheads="1"/>
            </p:cNvSpPr>
            <p:nvPr/>
          </p:nvSpPr>
          <p:spPr bwMode="auto">
            <a:xfrm>
              <a:off x="3197" y="2160"/>
              <a:ext cx="140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256</a:t>
              </a:r>
              <a:r>
                <a:rPr lang="zh-CN" altLang="en-US"/>
                <a:t>字</a:t>
              </a:r>
              <a:r>
                <a:rPr lang="en-US" altLang="zh-CN"/>
                <a:t>μ</a:t>
              </a:r>
              <a:r>
                <a:rPr lang="zh-CN" altLang="en-US"/>
                <a:t>律压扩表</a:t>
              </a:r>
            </a:p>
          </p:txBody>
        </p:sp>
        <p:sp>
          <p:nvSpPr>
            <p:cNvPr id="72737" name="Text Box 33"/>
            <p:cNvSpPr txBox="1">
              <a:spLocks noChangeArrowheads="1"/>
            </p:cNvSpPr>
            <p:nvPr/>
          </p:nvSpPr>
          <p:spPr bwMode="auto">
            <a:xfrm>
              <a:off x="3061" y="1525"/>
              <a:ext cx="17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C542/C543/C548/C549</a:t>
              </a:r>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569346"/>
                                        </p:tgtEl>
                                        <p:attrNameLst>
                                          <p:attrName>style.visibility</p:attrName>
                                        </p:attrNameLst>
                                      </p:cBhvr>
                                      <p:to>
                                        <p:strVal val="visible"/>
                                      </p:to>
                                    </p:set>
                                    <p:animEffect transition="in" filter="strips(downLeft)">
                                      <p:cBhvr>
                                        <p:cTn id="7" dur="500"/>
                                        <p:tgtEl>
                                          <p:spTgt spid="569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46"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0371" name="Rectangle 3"/>
          <p:cNvSpPr>
            <a:spLocks noGrp="1" noChangeArrowheads="1"/>
          </p:cNvSpPr>
          <p:nvPr>
            <p:ph type="title"/>
          </p:nvPr>
        </p:nvSpPr>
        <p:spPr bwMode="auto">
          <a:xfrm>
            <a:off x="1763713" y="981075"/>
            <a:ext cx="56388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66"/>
                </a:solidFill>
                <a:latin typeface="宋体" panose="02010600030101010101" pitchFamily="2" charset="-122"/>
              </a:rPr>
              <a:t>3</a:t>
            </a:r>
            <a:r>
              <a:rPr lang="zh-CN" altLang="en-US" b="1">
                <a:solidFill>
                  <a:srgbClr val="FF0066"/>
                </a:solidFill>
                <a:latin typeface="宋体" panose="02010600030101010101" pitchFamily="2" charset="-122"/>
              </a:rPr>
              <a:t>．数据存储器</a:t>
            </a:r>
            <a:r>
              <a:rPr lang="zh-CN" altLang="en-US"/>
              <a:t> </a:t>
            </a:r>
          </a:p>
        </p:txBody>
      </p:sp>
      <p:sp>
        <p:nvSpPr>
          <p:cNvPr id="7373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A4033FA-FDFA-428C-AA1B-DF1DD2FAD487}" type="slidenum">
              <a:rPr lang="en-US" altLang="zh-CN" sz="1400" b="0"/>
              <a:pPr eaLnBrk="1" hangingPunct="1"/>
              <a:t>60</a:t>
            </a:fld>
            <a:endParaRPr lang="en-US" altLang="zh-CN" sz="1400" b="0"/>
          </a:p>
        </p:txBody>
      </p:sp>
      <p:sp>
        <p:nvSpPr>
          <p:cNvPr id="570370" name="Line 2"/>
          <p:cNvSpPr>
            <a:spLocks noChangeShapeType="1"/>
          </p:cNvSpPr>
          <p:nvPr/>
        </p:nvSpPr>
        <p:spPr bwMode="auto">
          <a:xfrm>
            <a:off x="3810000" y="3048000"/>
            <a:ext cx="914400" cy="0"/>
          </a:xfrm>
          <a:prstGeom prst="line">
            <a:avLst/>
          </a:prstGeom>
          <a:noFill/>
          <a:ln w="762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70372" name="Rectangle 4" descr="5%"/>
          <p:cNvSpPr>
            <a:spLocks noChangeArrowheads="1"/>
          </p:cNvSpPr>
          <p:nvPr/>
        </p:nvSpPr>
        <p:spPr bwMode="auto">
          <a:xfrm>
            <a:off x="381000" y="2743200"/>
            <a:ext cx="3581400" cy="650875"/>
          </a:xfrm>
          <a:prstGeom prst="rect">
            <a:avLst/>
          </a:prstGeom>
          <a:pattFill prst="pct5">
            <a:fgClr>
              <a:srgbClr val="660066"/>
            </a:fgClr>
            <a:bgClr>
              <a:srgbClr val="FFFFFF"/>
            </a:bgClr>
          </a:pattFill>
          <a:ln w="9525">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solidFill>
                  <a:srgbClr val="FF0000"/>
                </a:solidFill>
              </a:rPr>
              <a:t>数据存储器类型</a:t>
            </a:r>
          </a:p>
        </p:txBody>
      </p:sp>
      <p:sp>
        <p:nvSpPr>
          <p:cNvPr id="570373" name="Rectangle 5" descr="小棋盘"/>
          <p:cNvSpPr>
            <a:spLocks noChangeArrowheads="1"/>
          </p:cNvSpPr>
          <p:nvPr/>
        </p:nvSpPr>
        <p:spPr bwMode="auto">
          <a:xfrm>
            <a:off x="4648200" y="1905000"/>
            <a:ext cx="4184650" cy="2298700"/>
          </a:xfrm>
          <a:prstGeom prst="rect">
            <a:avLst/>
          </a:prstGeom>
          <a:pattFill prst="smCheck">
            <a:fgClr>
              <a:schemeClr val="accent1"/>
            </a:fgClr>
            <a:bgClr>
              <a:srgbClr val="FFFFFF"/>
            </a:bgClr>
          </a:pattFill>
          <a:ln w="9525">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a:solidFill>
                  <a:schemeClr val="tx2"/>
                </a:solidFill>
                <a:latin typeface="宋体" panose="02010600030101010101" pitchFamily="2" charset="-122"/>
              </a:rPr>
              <a:t>RAM</a:t>
            </a:r>
            <a:r>
              <a:rPr lang="zh-CN" altLang="en-US" sz="3600">
                <a:solidFill>
                  <a:schemeClr val="tx2"/>
                </a:solidFill>
                <a:latin typeface="宋体" panose="02010600030101010101" pitchFamily="2" charset="-122"/>
              </a:rPr>
              <a:t>（</a:t>
            </a:r>
            <a:r>
              <a:rPr lang="en-US" altLang="zh-CN" sz="3600">
                <a:solidFill>
                  <a:schemeClr val="tx2"/>
                </a:solidFill>
                <a:latin typeface="宋体" panose="02010600030101010101" pitchFamily="2" charset="-122"/>
              </a:rPr>
              <a:t>SARAM</a:t>
            </a:r>
            <a:r>
              <a:rPr lang="zh-CN" altLang="en-US" sz="3600">
                <a:solidFill>
                  <a:schemeClr val="tx2"/>
                </a:solidFill>
                <a:latin typeface="宋体" panose="02010600030101010101" pitchFamily="2" charset="-122"/>
              </a:rPr>
              <a:t>）</a:t>
            </a:r>
          </a:p>
          <a:p>
            <a:pPr eaLnBrk="1" hangingPunct="1">
              <a:spcBef>
                <a:spcPct val="50000"/>
              </a:spcBef>
            </a:pPr>
            <a:r>
              <a:rPr lang="en-US" altLang="zh-CN" sz="3600">
                <a:solidFill>
                  <a:schemeClr val="tx2"/>
                </a:solidFill>
                <a:latin typeface="宋体" panose="02010600030101010101" pitchFamily="2" charset="-122"/>
              </a:rPr>
              <a:t>RAM</a:t>
            </a:r>
            <a:r>
              <a:rPr lang="zh-CN" altLang="en-US" sz="3600">
                <a:solidFill>
                  <a:schemeClr val="tx2"/>
                </a:solidFill>
                <a:latin typeface="宋体" panose="02010600030101010101" pitchFamily="2" charset="-122"/>
              </a:rPr>
              <a:t>（</a:t>
            </a:r>
            <a:r>
              <a:rPr lang="en-US" altLang="zh-CN" sz="3600">
                <a:solidFill>
                  <a:schemeClr val="tx2"/>
                </a:solidFill>
                <a:latin typeface="宋体" panose="02010600030101010101" pitchFamily="2" charset="-122"/>
              </a:rPr>
              <a:t>DARAM</a:t>
            </a:r>
            <a:r>
              <a:rPr lang="zh-CN" altLang="en-US" sz="3600">
                <a:solidFill>
                  <a:schemeClr val="tx2"/>
                </a:solidFill>
                <a:latin typeface="宋体" panose="02010600030101010101" pitchFamily="2" charset="-122"/>
              </a:rPr>
              <a:t>）</a:t>
            </a:r>
          </a:p>
          <a:p>
            <a:pPr eaLnBrk="1" hangingPunct="1">
              <a:spcBef>
                <a:spcPct val="50000"/>
              </a:spcBef>
            </a:pPr>
            <a:r>
              <a:rPr lang="zh-CN" altLang="en-US" sz="3600">
                <a:solidFill>
                  <a:schemeClr val="tx2"/>
                </a:solidFill>
                <a:latin typeface="宋体" panose="02010600030101010101" pitchFamily="2" charset="-122"/>
              </a:rPr>
              <a:t>片内</a:t>
            </a:r>
            <a:r>
              <a:rPr lang="en-US" altLang="zh-CN" sz="3600">
                <a:solidFill>
                  <a:schemeClr val="tx2"/>
                </a:solidFill>
                <a:latin typeface="宋体" panose="02010600030101010101" pitchFamily="2" charset="-122"/>
              </a:rPr>
              <a:t>ROM(</a:t>
            </a:r>
            <a:r>
              <a:rPr lang="zh-CN" altLang="en-US" sz="3600">
                <a:solidFill>
                  <a:schemeClr val="tx2"/>
                </a:solidFill>
                <a:latin typeface="宋体" panose="02010600030101010101" pitchFamily="2" charset="-122"/>
              </a:rPr>
              <a:t>软件映</a:t>
            </a:r>
            <a:r>
              <a:rPr lang="zh-CN" altLang="en-US" sz="3600">
                <a:solidFill>
                  <a:schemeClr val="tx2"/>
                </a:solidFill>
                <a:latin typeface="宋体" panose="02010600030101010101" pitchFamily="2" charset="-122"/>
                <a:cs typeface="Arial" panose="020B0604020202020204" pitchFamily="34" charset="0"/>
              </a:rPr>
              <a:t>像</a:t>
            </a:r>
            <a:r>
              <a:rPr lang="en-US" altLang="zh-CN" sz="3600">
                <a:solidFill>
                  <a:schemeClr val="tx2"/>
                </a:solidFill>
                <a:latin typeface="宋体" panose="02010600030101010101" pitchFamily="2" charset="-122"/>
              </a:rPr>
              <a:t>)</a:t>
            </a:r>
          </a:p>
        </p:txBody>
      </p:sp>
      <p:sp>
        <p:nvSpPr>
          <p:cNvPr id="570374" name="Rectangle 6"/>
          <p:cNvSpPr>
            <a:spLocks noChangeArrowheads="1"/>
          </p:cNvSpPr>
          <p:nvPr/>
        </p:nvSpPr>
        <p:spPr bwMode="auto">
          <a:xfrm>
            <a:off x="1447800" y="4495800"/>
            <a:ext cx="6248400" cy="698500"/>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FF"/>
                </a:solidFill>
                <a:latin typeface="宋体" panose="02010600030101010101" pitchFamily="2" charset="-122"/>
              </a:rPr>
              <a:t>片内</a:t>
            </a:r>
            <a:r>
              <a:rPr lang="en-US" altLang="zh-CN" sz="3600">
                <a:solidFill>
                  <a:srgbClr val="FF00FF"/>
                </a:solidFill>
                <a:latin typeface="宋体" panose="02010600030101010101" pitchFamily="2" charset="-122"/>
              </a:rPr>
              <a:t>/</a:t>
            </a:r>
            <a:r>
              <a:rPr lang="zh-CN" altLang="en-US" sz="3600">
                <a:solidFill>
                  <a:srgbClr val="FF00FF"/>
                </a:solidFill>
                <a:latin typeface="宋体" panose="02010600030101010101" pitchFamily="2" charset="-122"/>
              </a:rPr>
              <a:t>片外数据存储器的识别</a:t>
            </a:r>
          </a:p>
        </p:txBody>
      </p:sp>
      <p:sp>
        <p:nvSpPr>
          <p:cNvPr id="570375" name="AutoShape 7" descr="20%"/>
          <p:cNvSpPr>
            <a:spLocks noChangeArrowheads="1"/>
          </p:cNvSpPr>
          <p:nvPr/>
        </p:nvSpPr>
        <p:spPr bwMode="auto">
          <a:xfrm>
            <a:off x="990600" y="5486400"/>
            <a:ext cx="4267200" cy="609600"/>
          </a:xfrm>
          <a:prstGeom prst="wedgeRoundRectCallout">
            <a:avLst>
              <a:gd name="adj1" fmla="val -28236"/>
              <a:gd name="adj2" fmla="val -70574"/>
              <a:gd name="adj3" fmla="val 16667"/>
            </a:avLst>
          </a:prstGeom>
          <a:pattFill prst="pct20">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800"/>
              <a:t>由</a:t>
            </a:r>
            <a:r>
              <a:rPr lang="en-US" altLang="zh-CN" sz="2800"/>
              <a:t>OVLY</a:t>
            </a:r>
            <a:r>
              <a:rPr lang="zh-CN" altLang="en-US" sz="2800"/>
              <a:t>、 </a:t>
            </a:r>
            <a:r>
              <a:rPr lang="en-US" altLang="zh-CN" sz="2800"/>
              <a:t>DROM</a:t>
            </a:r>
            <a:r>
              <a:rPr lang="zh-CN" altLang="en-US" sz="2800"/>
              <a:t>确定</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70371"/>
                                        </p:tgtEl>
                                        <p:attrNameLst>
                                          <p:attrName>style.visibility</p:attrName>
                                        </p:attrNameLst>
                                      </p:cBhvr>
                                      <p:to>
                                        <p:strVal val="visible"/>
                                      </p:to>
                                    </p:set>
                                    <p:animEffect transition="in" filter="box(in)">
                                      <p:cBhvr>
                                        <p:cTn id="7" dur="500"/>
                                        <p:tgtEl>
                                          <p:spTgt spid="570371"/>
                                        </p:tgtEl>
                                      </p:cBhvr>
                                    </p:animEffect>
                                  </p:childTnLst>
                                </p:cTn>
                              </p:par>
                            </p:childTnLst>
                          </p:cTn>
                        </p:par>
                        <p:par>
                          <p:cTn id="8" fill="hold" nodeType="afterGroup">
                            <p:stCondLst>
                              <p:cond delay="500"/>
                            </p:stCondLst>
                            <p:childTnLst>
                              <p:par>
                                <p:cTn id="9" presetID="16" presetClass="entr" presetSubtype="26" fill="hold" grpId="0" nodeType="afterEffect">
                                  <p:stCondLst>
                                    <p:cond delay="0"/>
                                  </p:stCondLst>
                                  <p:childTnLst>
                                    <p:set>
                                      <p:cBhvr>
                                        <p:cTn id="10" dur="1" fill="hold">
                                          <p:stCondLst>
                                            <p:cond delay="0"/>
                                          </p:stCondLst>
                                        </p:cTn>
                                        <p:tgtEl>
                                          <p:spTgt spid="570372"/>
                                        </p:tgtEl>
                                        <p:attrNameLst>
                                          <p:attrName>style.visibility</p:attrName>
                                        </p:attrNameLst>
                                      </p:cBhvr>
                                      <p:to>
                                        <p:strVal val="visible"/>
                                      </p:to>
                                    </p:set>
                                    <p:animEffect transition="in" filter="barn(inHorizontal)">
                                      <p:cBhvr>
                                        <p:cTn id="11" dur="500"/>
                                        <p:tgtEl>
                                          <p:spTgt spid="570372"/>
                                        </p:tgtEl>
                                      </p:cBhvr>
                                    </p:animEffect>
                                  </p:childTnLst>
                                </p:cTn>
                              </p:par>
                            </p:childTnLst>
                          </p:cTn>
                        </p:par>
                        <p:par>
                          <p:cTn id="12" fill="hold" nodeType="afterGroup">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570370"/>
                                        </p:tgtEl>
                                        <p:attrNameLst>
                                          <p:attrName>style.visibility</p:attrName>
                                        </p:attrNameLst>
                                      </p:cBhvr>
                                      <p:to>
                                        <p:strVal val="visible"/>
                                      </p:to>
                                    </p:set>
                                    <p:animEffect transition="in" filter="slide(fromLeft)">
                                      <p:cBhvr>
                                        <p:cTn id="15" dur="500"/>
                                        <p:tgtEl>
                                          <p:spTgt spid="570370"/>
                                        </p:tgtEl>
                                      </p:cBhvr>
                                    </p:animEffect>
                                  </p:childTnLst>
                                </p:cTn>
                              </p:par>
                            </p:childTnLst>
                          </p:cTn>
                        </p:par>
                        <p:par>
                          <p:cTn id="16" fill="hold" nodeType="afterGroup">
                            <p:stCondLst>
                              <p:cond delay="1500"/>
                            </p:stCondLst>
                            <p:childTnLst>
                              <p:par>
                                <p:cTn id="17" presetID="18" presetClass="entr" presetSubtype="12" fill="hold" grpId="0" nodeType="afterEffect">
                                  <p:stCondLst>
                                    <p:cond delay="0"/>
                                  </p:stCondLst>
                                  <p:childTnLst>
                                    <p:set>
                                      <p:cBhvr>
                                        <p:cTn id="18" dur="1" fill="hold">
                                          <p:stCondLst>
                                            <p:cond delay="0"/>
                                          </p:stCondLst>
                                        </p:cTn>
                                        <p:tgtEl>
                                          <p:spTgt spid="570373"/>
                                        </p:tgtEl>
                                        <p:attrNameLst>
                                          <p:attrName>style.visibility</p:attrName>
                                        </p:attrNameLst>
                                      </p:cBhvr>
                                      <p:to>
                                        <p:strVal val="visible"/>
                                      </p:to>
                                    </p:set>
                                    <p:animEffect transition="in" filter="strips(downLeft)">
                                      <p:cBhvr>
                                        <p:cTn id="19" dur="500"/>
                                        <p:tgtEl>
                                          <p:spTgt spid="570373"/>
                                        </p:tgtEl>
                                      </p:cBhvr>
                                    </p:animEffect>
                                  </p:childTnLst>
                                </p:cTn>
                              </p:par>
                            </p:childTnLst>
                          </p:cTn>
                        </p:par>
                        <p:par>
                          <p:cTn id="20" fill="hold" nodeType="afterGroup">
                            <p:stCondLst>
                              <p:cond delay="2000"/>
                            </p:stCondLst>
                            <p:childTnLst>
                              <p:par>
                                <p:cTn id="21" presetID="2" presetClass="entr" presetSubtype="2" fill="hold" grpId="0" nodeType="afterEffect">
                                  <p:stCondLst>
                                    <p:cond delay="0"/>
                                  </p:stCondLst>
                                  <p:childTnLst>
                                    <p:set>
                                      <p:cBhvr>
                                        <p:cTn id="22" dur="1" fill="hold">
                                          <p:stCondLst>
                                            <p:cond delay="0"/>
                                          </p:stCondLst>
                                        </p:cTn>
                                        <p:tgtEl>
                                          <p:spTgt spid="570375"/>
                                        </p:tgtEl>
                                        <p:attrNameLst>
                                          <p:attrName>style.visibility</p:attrName>
                                        </p:attrNameLst>
                                      </p:cBhvr>
                                      <p:to>
                                        <p:strVal val="visible"/>
                                      </p:to>
                                    </p:set>
                                    <p:anim calcmode="lin" valueType="num">
                                      <p:cBhvr additive="base">
                                        <p:cTn id="23" dur="500" fill="hold"/>
                                        <p:tgtEl>
                                          <p:spTgt spid="570375"/>
                                        </p:tgtEl>
                                        <p:attrNameLst>
                                          <p:attrName>ppt_x</p:attrName>
                                        </p:attrNameLst>
                                      </p:cBhvr>
                                      <p:tavLst>
                                        <p:tav tm="0">
                                          <p:val>
                                            <p:strVal val="1+#ppt_w/2"/>
                                          </p:val>
                                        </p:tav>
                                        <p:tav tm="100000">
                                          <p:val>
                                            <p:strVal val="#ppt_x"/>
                                          </p:val>
                                        </p:tav>
                                      </p:tavLst>
                                    </p:anim>
                                    <p:anim calcmode="lin" valueType="num">
                                      <p:cBhvr additive="base">
                                        <p:cTn id="24" dur="500" fill="hold"/>
                                        <p:tgtEl>
                                          <p:spTgt spid="570375"/>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2500"/>
                            </p:stCondLst>
                            <p:childTnLst>
                              <p:par>
                                <p:cTn id="26" presetID="17" presetClass="entr" presetSubtype="10" fill="hold" grpId="0" nodeType="afterEffect">
                                  <p:stCondLst>
                                    <p:cond delay="0"/>
                                  </p:stCondLst>
                                  <p:childTnLst>
                                    <p:set>
                                      <p:cBhvr>
                                        <p:cTn id="27" dur="1" fill="hold">
                                          <p:stCondLst>
                                            <p:cond delay="0"/>
                                          </p:stCondLst>
                                        </p:cTn>
                                        <p:tgtEl>
                                          <p:spTgt spid="570374"/>
                                        </p:tgtEl>
                                        <p:attrNameLst>
                                          <p:attrName>style.visibility</p:attrName>
                                        </p:attrNameLst>
                                      </p:cBhvr>
                                      <p:to>
                                        <p:strVal val="visible"/>
                                      </p:to>
                                    </p:set>
                                    <p:anim calcmode="lin" valueType="num">
                                      <p:cBhvr>
                                        <p:cTn id="28" dur="500" fill="hold"/>
                                        <p:tgtEl>
                                          <p:spTgt spid="570374"/>
                                        </p:tgtEl>
                                        <p:attrNameLst>
                                          <p:attrName>ppt_w</p:attrName>
                                        </p:attrNameLst>
                                      </p:cBhvr>
                                      <p:tavLst>
                                        <p:tav tm="0">
                                          <p:val>
                                            <p:fltVal val="0"/>
                                          </p:val>
                                        </p:tav>
                                        <p:tav tm="100000">
                                          <p:val>
                                            <p:strVal val="#ppt_w"/>
                                          </p:val>
                                        </p:tav>
                                      </p:tavLst>
                                    </p:anim>
                                    <p:anim calcmode="lin" valueType="num">
                                      <p:cBhvr>
                                        <p:cTn id="29" dur="500" fill="hold"/>
                                        <p:tgtEl>
                                          <p:spTgt spid="57037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1" grpId="0" autoUpdateAnimBg="0"/>
      <p:bldP spid="570370" grpId="0" animBg="1"/>
      <p:bldP spid="570372" grpId="0" animBg="1" autoUpdateAnimBg="0"/>
      <p:bldP spid="570373" grpId="0" animBg="1" autoUpdateAnimBg="0"/>
      <p:bldP spid="570374" grpId="0" animBg="1" autoUpdateAnimBg="0"/>
      <p:bldP spid="570375"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4A66D79-26AD-4276-9959-A085DE0FF1BF}" type="slidenum">
              <a:rPr lang="en-US" altLang="zh-CN" sz="1400" b="0"/>
              <a:pPr eaLnBrk="1" hangingPunct="1"/>
              <a:t>61</a:t>
            </a:fld>
            <a:endParaRPr lang="en-US" altLang="zh-CN" sz="1400" b="0"/>
          </a:p>
        </p:txBody>
      </p:sp>
      <p:sp>
        <p:nvSpPr>
          <p:cNvPr id="74755" name="Rectangle 2"/>
          <p:cNvSpPr>
            <a:spLocks noChangeArrowheads="1"/>
          </p:cNvSpPr>
          <p:nvPr/>
        </p:nvSpPr>
        <p:spPr bwMode="auto">
          <a:xfrm>
            <a:off x="533400" y="1295400"/>
            <a:ext cx="8001000" cy="418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90513"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a:t>当处理器发出的地址处在片内存储器的范围时，就对片内的</a:t>
            </a:r>
            <a:r>
              <a:rPr lang="en-US" altLang="zh-CN" sz="3200"/>
              <a:t>RAM</a:t>
            </a:r>
            <a:r>
              <a:rPr lang="zh-CN" altLang="en-US" sz="3200"/>
              <a:t>或数据</a:t>
            </a:r>
            <a:r>
              <a:rPr lang="en-US" altLang="zh-CN" sz="3200"/>
              <a:t>ROM</a:t>
            </a:r>
            <a:r>
              <a:rPr lang="zh-CN" altLang="en-US" sz="3200"/>
              <a:t>（当</a:t>
            </a:r>
            <a:r>
              <a:rPr lang="en-US" altLang="zh-CN" sz="3200"/>
              <a:t>ROM</a:t>
            </a:r>
            <a:r>
              <a:rPr lang="zh-CN" altLang="en-US" sz="3200"/>
              <a:t>设为数据存储器时）寻址。当数据存储器地址产生器发出的地址不在片内存储器的范围内时，处理器就会自动地对外部数据存储器寻址。</a:t>
            </a:r>
          </a:p>
          <a:p>
            <a:pPr eaLnBrk="1" hangingPunct="1">
              <a:spcBef>
                <a:spcPct val="20000"/>
              </a:spcBef>
            </a:pPr>
            <a:r>
              <a:rPr lang="zh-CN" altLang="en-US" sz="3200">
                <a:solidFill>
                  <a:srgbClr val="FF00FF"/>
                </a:solidFill>
              </a:rPr>
              <a:t>数据存储器可以驻留在片内或者片外。</a:t>
            </a:r>
          </a:p>
          <a:p>
            <a:pPr algn="just" eaLnBrk="1" hangingPunct="1">
              <a:spcBef>
                <a:spcPct val="20000"/>
              </a:spcBef>
            </a:pPr>
            <a:r>
              <a:rPr lang="zh-CN" altLang="en-US" sz="3200">
                <a:solidFill>
                  <a:srgbClr val="CC00FF"/>
                </a:solidFill>
              </a:rPr>
              <a:t>片内</a:t>
            </a:r>
            <a:r>
              <a:rPr lang="en-US" altLang="zh-CN" sz="3200">
                <a:solidFill>
                  <a:srgbClr val="CC00FF"/>
                </a:solidFill>
              </a:rPr>
              <a:t>DARAM</a:t>
            </a:r>
            <a:r>
              <a:rPr lang="zh-CN" altLang="en-US" sz="3200">
                <a:solidFill>
                  <a:srgbClr val="CC00FF"/>
                </a:solidFill>
              </a:rPr>
              <a:t>都是数据存储空间。</a:t>
            </a:r>
            <a:endParaRPr lang="zh-CN" altLang="en-US" sz="3200"/>
          </a:p>
        </p:txBody>
      </p:sp>
    </p:spTree>
  </p:cSld>
  <p:clrMapOvr>
    <a:masterClrMapping/>
  </p:clrMapOvr>
  <p:transition spd="med">
    <p:pull dir="l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EF7E389-0183-42A2-BF71-354381DC1BB9}" type="slidenum">
              <a:rPr lang="en-US" altLang="zh-CN" sz="1400" b="0"/>
              <a:pPr eaLnBrk="1" hangingPunct="1"/>
              <a:t>62</a:t>
            </a:fld>
            <a:endParaRPr lang="en-US" altLang="zh-CN" sz="1400" b="0"/>
          </a:p>
        </p:txBody>
      </p:sp>
      <p:sp>
        <p:nvSpPr>
          <p:cNvPr id="75779" name="Rectangle 101"/>
          <p:cNvSpPr>
            <a:spLocks noChangeArrowheads="1"/>
          </p:cNvSpPr>
          <p:nvPr/>
        </p:nvSpPr>
        <p:spPr bwMode="auto">
          <a:xfrm>
            <a:off x="755650" y="935038"/>
            <a:ext cx="143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t>表</a:t>
            </a:r>
            <a:r>
              <a:rPr lang="en-US" altLang="zh-CN" sz="2400"/>
              <a:t>2-4</a:t>
            </a:r>
          </a:p>
        </p:txBody>
      </p:sp>
      <p:graphicFrame>
        <p:nvGraphicFramePr>
          <p:cNvPr id="572573" name="Group 157"/>
          <p:cNvGraphicFramePr>
            <a:graphicFrameLocks noGrp="1"/>
          </p:cNvGraphicFramePr>
          <p:nvPr/>
        </p:nvGraphicFramePr>
        <p:xfrm>
          <a:off x="395288" y="1341438"/>
          <a:ext cx="8353425" cy="4739959"/>
        </p:xfrm>
        <a:graphic>
          <a:graphicData uri="http://schemas.openxmlformats.org/drawingml/2006/table">
            <a:tbl>
              <a:tblPr/>
              <a:tblGrid>
                <a:gridCol w="1503362">
                  <a:extLst>
                    <a:ext uri="{9D8B030D-6E8A-4147-A177-3AD203B41FA5}">
                      <a16:colId xmlns:a16="http://schemas.microsoft.com/office/drawing/2014/main" val="20000"/>
                    </a:ext>
                  </a:extLst>
                </a:gridCol>
                <a:gridCol w="2414588">
                  <a:extLst>
                    <a:ext uri="{9D8B030D-6E8A-4147-A177-3AD203B41FA5}">
                      <a16:colId xmlns:a16="http://schemas.microsoft.com/office/drawing/2014/main" val="20001"/>
                    </a:ext>
                  </a:extLst>
                </a:gridCol>
                <a:gridCol w="2255837">
                  <a:extLst>
                    <a:ext uri="{9D8B030D-6E8A-4147-A177-3AD203B41FA5}">
                      <a16:colId xmlns:a16="http://schemas.microsoft.com/office/drawing/2014/main" val="20002"/>
                    </a:ext>
                  </a:extLst>
                </a:gridCol>
                <a:gridCol w="2179638">
                  <a:extLst>
                    <a:ext uri="{9D8B030D-6E8A-4147-A177-3AD203B41FA5}">
                      <a16:colId xmlns:a16="http://schemas.microsoft.com/office/drawing/2014/main" val="20003"/>
                    </a:ext>
                  </a:extLst>
                </a:gridCol>
              </a:tblGrid>
              <a:tr h="1809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器件</a:t>
                      </a:r>
                      <a:endParaRPr kumimoji="1" lang="zh-CN" altLang="en-US" sz="2800" b="0"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75000"/>
                        </a:lnSpc>
                        <a:spcBef>
                          <a:spcPct val="0"/>
                        </a:spcBef>
                        <a:spcAft>
                          <a:spcPct val="0"/>
                        </a:spcAft>
                        <a:buClrTx/>
                        <a:buSzTx/>
                        <a:buFontTx/>
                        <a:buNone/>
                        <a:tabLst/>
                      </a:pPr>
                      <a:r>
                        <a:rPr kumimoji="1" lang="zh-CN" altLang="en-US" sz="2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程序</a:t>
                      </a:r>
                      <a:r>
                        <a:rPr kumimoji="1" lang="en-US" altLang="zh-CN" sz="2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a:t>
                      </a:r>
                      <a:r>
                        <a:rPr kumimoji="1" lang="zh-CN" altLang="en-US" sz="2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数据</a:t>
                      </a:r>
                    </a:p>
                    <a:p>
                      <a:pPr marL="0" marR="0" lvl="0" indent="0" algn="ctr" defTabSz="914400" rtl="0" eaLnBrk="1" fontAlgn="base" latinLnBrk="0" hangingPunct="1">
                        <a:lnSpc>
                          <a:spcPct val="75000"/>
                        </a:lnSpc>
                        <a:spcBef>
                          <a:spcPct val="0"/>
                        </a:spcBef>
                        <a:spcAft>
                          <a:spcPct val="0"/>
                        </a:spcAft>
                        <a:buClrTx/>
                        <a:buSzTx/>
                        <a:buFontTx/>
                        <a:buNone/>
                        <a:tabLst/>
                      </a:pPr>
                      <a:r>
                        <a:rPr kumimoji="1" lang="en-US" altLang="zh-CN" sz="16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ROM</a:t>
                      </a:r>
                    </a:p>
                    <a:p>
                      <a:pPr marL="0" marR="0" lvl="0" indent="0" algn="ctr" defTabSz="914400" rtl="0" eaLnBrk="1" fontAlgn="base" latinLnBrk="0" hangingPunct="1">
                        <a:lnSpc>
                          <a:spcPct val="75000"/>
                        </a:lnSpc>
                        <a:spcBef>
                          <a:spcPct val="0"/>
                        </a:spcBef>
                        <a:spcAft>
                          <a:spcPct val="0"/>
                        </a:spcAft>
                        <a:buClrTx/>
                        <a:buSzTx/>
                        <a:buFontTx/>
                        <a:buNone/>
                        <a:tabLst/>
                      </a:pPr>
                      <a:r>
                        <a:rPr kumimoji="1" lang="en-US" altLang="zh-CN" sz="16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DROM=1</a:t>
                      </a:r>
                      <a:endParaRPr kumimoji="1" lang="en-US" altLang="zh-CN" sz="1600" b="0"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DARAM</a:t>
                      </a:r>
                      <a:endParaRPr kumimoji="1" lang="en-US" altLang="zh-CN" sz="2800" b="0"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SARAM</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67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C541</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8K</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C542</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7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C543</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51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51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C546</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67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24K</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51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C549</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8K</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24K</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spd="med">
    <p:pull dir="lu"/>
  </p:transition>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bwMode="auto">
          <a:xfrm>
            <a:off x="2195513" y="908050"/>
            <a:ext cx="45720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latin typeface="宋体" panose="02010600030101010101" pitchFamily="2" charset="-122"/>
              </a:rPr>
              <a:t>RAM</a:t>
            </a:r>
            <a:r>
              <a:rPr lang="zh-CN" altLang="en-US" b="1">
                <a:latin typeface="宋体" panose="02010600030101010101" pitchFamily="2" charset="-122"/>
              </a:rPr>
              <a:t>分块目的</a:t>
            </a:r>
            <a:endParaRPr lang="zh-CN" altLang="en-US" b="1"/>
          </a:p>
        </p:txBody>
      </p:sp>
      <p:sp>
        <p:nvSpPr>
          <p:cNvPr id="7680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81B206B0-68F2-47A7-9C68-5020B4BB7FE9}" type="slidenum">
              <a:rPr lang="en-US" altLang="zh-CN" sz="1400" b="0"/>
              <a:pPr eaLnBrk="1" hangingPunct="1"/>
              <a:t>63</a:t>
            </a:fld>
            <a:endParaRPr lang="en-US" altLang="zh-CN" sz="1400" b="0"/>
          </a:p>
        </p:txBody>
      </p:sp>
      <p:sp>
        <p:nvSpPr>
          <p:cNvPr id="76804" name="Text Box 6"/>
          <p:cNvSpPr txBox="1">
            <a:spLocks noChangeArrowheads="1"/>
          </p:cNvSpPr>
          <p:nvPr/>
        </p:nvSpPr>
        <p:spPr bwMode="auto">
          <a:xfrm>
            <a:off x="657225" y="1979613"/>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0000h</a:t>
            </a:r>
          </a:p>
        </p:txBody>
      </p:sp>
      <p:sp>
        <p:nvSpPr>
          <p:cNvPr id="76805" name="Text Box 10"/>
          <p:cNvSpPr txBox="1">
            <a:spLocks noChangeArrowheads="1"/>
          </p:cNvSpPr>
          <p:nvPr/>
        </p:nvSpPr>
        <p:spPr bwMode="auto">
          <a:xfrm>
            <a:off x="647700" y="3203575"/>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1000h</a:t>
            </a:r>
          </a:p>
        </p:txBody>
      </p:sp>
      <p:sp>
        <p:nvSpPr>
          <p:cNvPr id="76806" name="Text Box 12"/>
          <p:cNvSpPr txBox="1">
            <a:spLocks noChangeArrowheads="1"/>
          </p:cNvSpPr>
          <p:nvPr/>
        </p:nvSpPr>
        <p:spPr bwMode="auto">
          <a:xfrm>
            <a:off x="635000" y="2557463"/>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0800h</a:t>
            </a:r>
          </a:p>
        </p:txBody>
      </p:sp>
      <p:sp>
        <p:nvSpPr>
          <p:cNvPr id="76807" name="Text Box 13"/>
          <p:cNvSpPr txBox="1">
            <a:spLocks noChangeArrowheads="1"/>
          </p:cNvSpPr>
          <p:nvPr/>
        </p:nvSpPr>
        <p:spPr bwMode="auto">
          <a:xfrm>
            <a:off x="627063" y="4419600"/>
            <a:ext cx="792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2000h</a:t>
            </a:r>
          </a:p>
        </p:txBody>
      </p:sp>
      <p:sp>
        <p:nvSpPr>
          <p:cNvPr id="76808" name="Text Box 14"/>
          <p:cNvSpPr txBox="1">
            <a:spLocks noChangeArrowheads="1"/>
          </p:cNvSpPr>
          <p:nvPr/>
        </p:nvSpPr>
        <p:spPr bwMode="auto">
          <a:xfrm>
            <a:off x="619125" y="5284788"/>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4000h</a:t>
            </a:r>
          </a:p>
        </p:txBody>
      </p:sp>
      <p:sp>
        <p:nvSpPr>
          <p:cNvPr id="76809" name="Text Box 15"/>
          <p:cNvSpPr txBox="1">
            <a:spLocks noChangeArrowheads="1"/>
          </p:cNvSpPr>
          <p:nvPr/>
        </p:nvSpPr>
        <p:spPr bwMode="auto">
          <a:xfrm>
            <a:off x="619125" y="6003925"/>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6000h</a:t>
            </a:r>
          </a:p>
        </p:txBody>
      </p:sp>
      <p:sp>
        <p:nvSpPr>
          <p:cNvPr id="76810" name="Text Box 18"/>
          <p:cNvSpPr txBox="1">
            <a:spLocks noChangeArrowheads="1"/>
          </p:cNvSpPr>
          <p:nvPr/>
        </p:nvSpPr>
        <p:spPr bwMode="auto">
          <a:xfrm>
            <a:off x="1403350" y="1971675"/>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0000</a:t>
            </a:r>
            <a:r>
              <a:rPr lang="zh-CN" altLang="en-US"/>
              <a:t>～</a:t>
            </a:r>
            <a:r>
              <a:rPr lang="en-US" altLang="zh-CN"/>
              <a:t>03FF</a:t>
            </a:r>
          </a:p>
        </p:txBody>
      </p:sp>
      <p:sp>
        <p:nvSpPr>
          <p:cNvPr id="76811" name="Text Box 19"/>
          <p:cNvSpPr txBox="1">
            <a:spLocks noChangeArrowheads="1"/>
          </p:cNvSpPr>
          <p:nvPr/>
        </p:nvSpPr>
        <p:spPr bwMode="auto">
          <a:xfrm>
            <a:off x="1403350" y="2292350"/>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0400</a:t>
            </a:r>
            <a:r>
              <a:rPr lang="zh-CN" altLang="en-US"/>
              <a:t>～</a:t>
            </a:r>
            <a:r>
              <a:rPr lang="en-US" altLang="zh-CN"/>
              <a:t>07FF</a:t>
            </a:r>
          </a:p>
        </p:txBody>
      </p:sp>
      <p:sp>
        <p:nvSpPr>
          <p:cNvPr id="76812" name="Text Box 20"/>
          <p:cNvSpPr txBox="1">
            <a:spLocks noChangeArrowheads="1"/>
          </p:cNvSpPr>
          <p:nvPr/>
        </p:nvSpPr>
        <p:spPr bwMode="auto">
          <a:xfrm>
            <a:off x="1403350" y="2605088"/>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0800</a:t>
            </a:r>
            <a:r>
              <a:rPr lang="zh-CN" altLang="en-US"/>
              <a:t>～</a:t>
            </a:r>
            <a:r>
              <a:rPr lang="en-US" altLang="zh-CN"/>
              <a:t>0AFF</a:t>
            </a:r>
          </a:p>
        </p:txBody>
      </p:sp>
      <p:sp>
        <p:nvSpPr>
          <p:cNvPr id="76813" name="Text Box 21"/>
          <p:cNvSpPr txBox="1">
            <a:spLocks noChangeArrowheads="1"/>
          </p:cNvSpPr>
          <p:nvPr/>
        </p:nvSpPr>
        <p:spPr bwMode="auto">
          <a:xfrm>
            <a:off x="1403350" y="2922588"/>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0B00</a:t>
            </a:r>
            <a:r>
              <a:rPr lang="zh-CN" altLang="en-US"/>
              <a:t>～</a:t>
            </a:r>
            <a:r>
              <a:rPr lang="en-US" altLang="zh-CN"/>
              <a:t>0FFF</a:t>
            </a:r>
          </a:p>
        </p:txBody>
      </p:sp>
      <p:sp>
        <p:nvSpPr>
          <p:cNvPr id="76814" name="Text Box 22"/>
          <p:cNvSpPr txBox="1">
            <a:spLocks noChangeArrowheads="1"/>
          </p:cNvSpPr>
          <p:nvPr/>
        </p:nvSpPr>
        <p:spPr bwMode="auto">
          <a:xfrm>
            <a:off x="1403350" y="3225800"/>
            <a:ext cx="1727200" cy="314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1000</a:t>
            </a:r>
            <a:r>
              <a:rPr lang="zh-CN" altLang="en-US"/>
              <a:t>～</a:t>
            </a:r>
            <a:r>
              <a:rPr lang="en-US" altLang="zh-CN"/>
              <a:t>13FF</a:t>
            </a:r>
          </a:p>
        </p:txBody>
      </p:sp>
      <p:sp>
        <p:nvSpPr>
          <p:cNvPr id="76815" name="Text Box 44"/>
          <p:cNvSpPr txBox="1">
            <a:spLocks noChangeArrowheads="1"/>
          </p:cNvSpPr>
          <p:nvPr/>
        </p:nvSpPr>
        <p:spPr bwMode="auto">
          <a:xfrm>
            <a:off x="1905000" y="1631950"/>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C541</a:t>
            </a:r>
          </a:p>
        </p:txBody>
      </p:sp>
      <p:sp>
        <p:nvSpPr>
          <p:cNvPr id="76816" name="Text Box 45"/>
          <p:cNvSpPr txBox="1">
            <a:spLocks noChangeArrowheads="1"/>
          </p:cNvSpPr>
          <p:nvPr/>
        </p:nvSpPr>
        <p:spPr bwMode="auto">
          <a:xfrm>
            <a:off x="3419475" y="1631950"/>
            <a:ext cx="1439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C542/C543</a:t>
            </a:r>
          </a:p>
        </p:txBody>
      </p:sp>
      <p:sp>
        <p:nvSpPr>
          <p:cNvPr id="76817" name="Text Box 46"/>
          <p:cNvSpPr txBox="1">
            <a:spLocks noChangeArrowheads="1"/>
          </p:cNvSpPr>
          <p:nvPr/>
        </p:nvSpPr>
        <p:spPr bwMode="auto">
          <a:xfrm>
            <a:off x="5435600" y="1611313"/>
            <a:ext cx="1439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C545/C546</a:t>
            </a:r>
          </a:p>
        </p:txBody>
      </p:sp>
      <p:sp>
        <p:nvSpPr>
          <p:cNvPr id="76818" name="Text Box 47"/>
          <p:cNvSpPr txBox="1">
            <a:spLocks noChangeArrowheads="1"/>
          </p:cNvSpPr>
          <p:nvPr/>
        </p:nvSpPr>
        <p:spPr bwMode="auto">
          <a:xfrm>
            <a:off x="7380288" y="1611313"/>
            <a:ext cx="1371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C548/C49</a:t>
            </a:r>
          </a:p>
        </p:txBody>
      </p:sp>
      <p:sp>
        <p:nvSpPr>
          <p:cNvPr id="76819" name="Text Box 49"/>
          <p:cNvSpPr txBox="1">
            <a:spLocks noChangeArrowheads="1"/>
          </p:cNvSpPr>
          <p:nvPr/>
        </p:nvSpPr>
        <p:spPr bwMode="auto">
          <a:xfrm>
            <a:off x="3275013" y="1971675"/>
            <a:ext cx="1727200" cy="58578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800"/>
          </a:p>
          <a:p>
            <a:pPr algn="ctr" eaLnBrk="1" hangingPunct="1">
              <a:lnSpc>
                <a:spcPct val="70000"/>
              </a:lnSpc>
            </a:pPr>
            <a:r>
              <a:rPr lang="en-US" altLang="zh-CN"/>
              <a:t>0000</a:t>
            </a:r>
            <a:r>
              <a:rPr lang="zh-CN" altLang="en-US"/>
              <a:t>～</a:t>
            </a:r>
            <a:r>
              <a:rPr lang="en-US" altLang="zh-CN"/>
              <a:t>07FF</a:t>
            </a:r>
          </a:p>
          <a:p>
            <a:pPr algn="ctr" eaLnBrk="1" hangingPunct="1">
              <a:lnSpc>
                <a:spcPct val="70000"/>
              </a:lnSpc>
            </a:pPr>
            <a:endParaRPr lang="en-US" altLang="zh-CN" sz="1600"/>
          </a:p>
        </p:txBody>
      </p:sp>
      <p:sp>
        <p:nvSpPr>
          <p:cNvPr id="76820" name="Text Box 54"/>
          <p:cNvSpPr txBox="1">
            <a:spLocks noChangeArrowheads="1"/>
          </p:cNvSpPr>
          <p:nvPr/>
        </p:nvSpPr>
        <p:spPr bwMode="auto">
          <a:xfrm>
            <a:off x="3267075" y="2563813"/>
            <a:ext cx="1727200" cy="6477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a:p>
          <a:p>
            <a:pPr algn="ctr" eaLnBrk="1" hangingPunct="1">
              <a:lnSpc>
                <a:spcPct val="70000"/>
              </a:lnSpc>
            </a:pPr>
            <a:r>
              <a:rPr lang="en-US" altLang="zh-CN"/>
              <a:t>0800</a:t>
            </a:r>
            <a:r>
              <a:rPr lang="zh-CN" altLang="en-US"/>
              <a:t>～</a:t>
            </a:r>
            <a:r>
              <a:rPr lang="en-US" altLang="zh-CN"/>
              <a:t>0FFF</a:t>
            </a:r>
          </a:p>
          <a:p>
            <a:pPr algn="ctr" eaLnBrk="1" hangingPunct="1">
              <a:lnSpc>
                <a:spcPct val="70000"/>
              </a:lnSpc>
            </a:pPr>
            <a:endParaRPr lang="en-US" altLang="zh-CN"/>
          </a:p>
        </p:txBody>
      </p:sp>
      <p:sp>
        <p:nvSpPr>
          <p:cNvPr id="76821" name="Text Box 55"/>
          <p:cNvSpPr txBox="1">
            <a:spLocks noChangeArrowheads="1"/>
          </p:cNvSpPr>
          <p:nvPr/>
        </p:nvSpPr>
        <p:spPr bwMode="auto">
          <a:xfrm>
            <a:off x="3275013" y="3222625"/>
            <a:ext cx="1727200" cy="58578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800"/>
          </a:p>
          <a:p>
            <a:pPr algn="ctr" eaLnBrk="1" hangingPunct="1">
              <a:lnSpc>
                <a:spcPct val="70000"/>
              </a:lnSpc>
            </a:pPr>
            <a:r>
              <a:rPr lang="en-US" altLang="zh-CN"/>
              <a:t>1000</a:t>
            </a:r>
            <a:r>
              <a:rPr lang="zh-CN" altLang="en-US"/>
              <a:t>～</a:t>
            </a:r>
            <a:r>
              <a:rPr lang="en-US" altLang="zh-CN"/>
              <a:t>17FF</a:t>
            </a:r>
          </a:p>
          <a:p>
            <a:pPr algn="ctr" eaLnBrk="1" hangingPunct="1">
              <a:lnSpc>
                <a:spcPct val="70000"/>
              </a:lnSpc>
            </a:pPr>
            <a:endParaRPr lang="en-US" altLang="zh-CN" sz="1600"/>
          </a:p>
        </p:txBody>
      </p:sp>
      <p:sp>
        <p:nvSpPr>
          <p:cNvPr id="76822" name="Text Box 56"/>
          <p:cNvSpPr txBox="1">
            <a:spLocks noChangeArrowheads="1"/>
          </p:cNvSpPr>
          <p:nvPr/>
        </p:nvSpPr>
        <p:spPr bwMode="auto">
          <a:xfrm>
            <a:off x="5219700" y="1971675"/>
            <a:ext cx="1727200" cy="58578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800"/>
          </a:p>
          <a:p>
            <a:pPr algn="ctr" eaLnBrk="1" hangingPunct="1">
              <a:lnSpc>
                <a:spcPct val="70000"/>
              </a:lnSpc>
            </a:pPr>
            <a:r>
              <a:rPr lang="en-US" altLang="zh-CN"/>
              <a:t>0000</a:t>
            </a:r>
            <a:r>
              <a:rPr lang="zh-CN" altLang="en-US"/>
              <a:t>～</a:t>
            </a:r>
            <a:r>
              <a:rPr lang="en-US" altLang="zh-CN"/>
              <a:t>07FF</a:t>
            </a:r>
          </a:p>
          <a:p>
            <a:pPr algn="ctr" eaLnBrk="1" hangingPunct="1">
              <a:lnSpc>
                <a:spcPct val="70000"/>
              </a:lnSpc>
            </a:pPr>
            <a:endParaRPr lang="en-US" altLang="zh-CN" sz="1600"/>
          </a:p>
        </p:txBody>
      </p:sp>
      <p:sp>
        <p:nvSpPr>
          <p:cNvPr id="76823" name="Text Box 57"/>
          <p:cNvSpPr txBox="1">
            <a:spLocks noChangeArrowheads="1"/>
          </p:cNvSpPr>
          <p:nvPr/>
        </p:nvSpPr>
        <p:spPr bwMode="auto">
          <a:xfrm>
            <a:off x="5211763" y="2563813"/>
            <a:ext cx="1727200" cy="6477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a:p>
          <a:p>
            <a:pPr algn="ctr" eaLnBrk="1" hangingPunct="1">
              <a:lnSpc>
                <a:spcPct val="70000"/>
              </a:lnSpc>
            </a:pPr>
            <a:r>
              <a:rPr lang="en-US" altLang="zh-CN"/>
              <a:t>0800</a:t>
            </a:r>
            <a:r>
              <a:rPr lang="zh-CN" altLang="en-US"/>
              <a:t>～</a:t>
            </a:r>
            <a:r>
              <a:rPr lang="en-US" altLang="zh-CN"/>
              <a:t>0FFF</a:t>
            </a:r>
          </a:p>
          <a:p>
            <a:pPr algn="ctr" eaLnBrk="1" hangingPunct="1">
              <a:lnSpc>
                <a:spcPct val="70000"/>
              </a:lnSpc>
            </a:pPr>
            <a:endParaRPr lang="en-US" altLang="zh-CN"/>
          </a:p>
        </p:txBody>
      </p:sp>
      <p:sp>
        <p:nvSpPr>
          <p:cNvPr id="76824" name="Text Box 58"/>
          <p:cNvSpPr txBox="1">
            <a:spLocks noChangeArrowheads="1"/>
          </p:cNvSpPr>
          <p:nvPr/>
        </p:nvSpPr>
        <p:spPr bwMode="auto">
          <a:xfrm>
            <a:off x="5219700" y="3222625"/>
            <a:ext cx="1727200" cy="58578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800"/>
          </a:p>
          <a:p>
            <a:pPr algn="ctr" eaLnBrk="1" hangingPunct="1">
              <a:lnSpc>
                <a:spcPct val="70000"/>
              </a:lnSpc>
            </a:pPr>
            <a:r>
              <a:rPr lang="en-US" altLang="zh-CN"/>
              <a:t>1000</a:t>
            </a:r>
            <a:r>
              <a:rPr lang="zh-CN" altLang="en-US"/>
              <a:t>～</a:t>
            </a:r>
            <a:r>
              <a:rPr lang="en-US" altLang="zh-CN"/>
              <a:t>17FF</a:t>
            </a:r>
          </a:p>
          <a:p>
            <a:pPr algn="ctr" eaLnBrk="1" hangingPunct="1">
              <a:lnSpc>
                <a:spcPct val="70000"/>
              </a:lnSpc>
            </a:pPr>
            <a:endParaRPr lang="en-US" altLang="zh-CN" sz="1600"/>
          </a:p>
        </p:txBody>
      </p:sp>
      <p:sp>
        <p:nvSpPr>
          <p:cNvPr id="76825" name="Text Box 59"/>
          <p:cNvSpPr txBox="1">
            <a:spLocks noChangeArrowheads="1"/>
          </p:cNvSpPr>
          <p:nvPr/>
        </p:nvSpPr>
        <p:spPr bwMode="auto">
          <a:xfrm>
            <a:off x="7164388" y="1971675"/>
            <a:ext cx="1727200" cy="58578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800"/>
          </a:p>
          <a:p>
            <a:pPr algn="ctr" eaLnBrk="1" hangingPunct="1">
              <a:lnSpc>
                <a:spcPct val="70000"/>
              </a:lnSpc>
            </a:pPr>
            <a:r>
              <a:rPr lang="en-US" altLang="zh-CN"/>
              <a:t>0000</a:t>
            </a:r>
            <a:r>
              <a:rPr lang="zh-CN" altLang="en-US"/>
              <a:t>～</a:t>
            </a:r>
            <a:r>
              <a:rPr lang="en-US" altLang="zh-CN"/>
              <a:t>07FF</a:t>
            </a:r>
          </a:p>
          <a:p>
            <a:pPr algn="ctr" eaLnBrk="1" hangingPunct="1">
              <a:lnSpc>
                <a:spcPct val="70000"/>
              </a:lnSpc>
            </a:pPr>
            <a:endParaRPr lang="en-US" altLang="zh-CN" sz="1600"/>
          </a:p>
        </p:txBody>
      </p:sp>
      <p:sp>
        <p:nvSpPr>
          <p:cNvPr id="76826" name="Text Box 62"/>
          <p:cNvSpPr txBox="1">
            <a:spLocks noChangeArrowheads="1"/>
          </p:cNvSpPr>
          <p:nvPr/>
        </p:nvSpPr>
        <p:spPr bwMode="auto">
          <a:xfrm>
            <a:off x="7172325" y="2563813"/>
            <a:ext cx="1727200" cy="6477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a:p>
          <a:p>
            <a:pPr algn="ctr" eaLnBrk="1" hangingPunct="1">
              <a:lnSpc>
                <a:spcPct val="70000"/>
              </a:lnSpc>
            </a:pPr>
            <a:r>
              <a:rPr lang="en-US" altLang="zh-CN"/>
              <a:t>0800</a:t>
            </a:r>
            <a:r>
              <a:rPr lang="zh-CN" altLang="en-US"/>
              <a:t>～</a:t>
            </a:r>
            <a:r>
              <a:rPr lang="en-US" altLang="zh-CN"/>
              <a:t>0FFF</a:t>
            </a:r>
          </a:p>
          <a:p>
            <a:pPr algn="ctr" eaLnBrk="1" hangingPunct="1">
              <a:lnSpc>
                <a:spcPct val="70000"/>
              </a:lnSpc>
            </a:pPr>
            <a:endParaRPr lang="en-US" altLang="zh-CN"/>
          </a:p>
        </p:txBody>
      </p:sp>
      <p:sp>
        <p:nvSpPr>
          <p:cNvPr id="76827" name="Text Box 63"/>
          <p:cNvSpPr txBox="1">
            <a:spLocks noChangeArrowheads="1"/>
          </p:cNvSpPr>
          <p:nvPr/>
        </p:nvSpPr>
        <p:spPr bwMode="auto">
          <a:xfrm>
            <a:off x="7164388" y="3222625"/>
            <a:ext cx="1727200" cy="58578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800"/>
          </a:p>
          <a:p>
            <a:pPr algn="ctr" eaLnBrk="1" hangingPunct="1">
              <a:lnSpc>
                <a:spcPct val="70000"/>
              </a:lnSpc>
            </a:pPr>
            <a:r>
              <a:rPr lang="en-US" altLang="zh-CN"/>
              <a:t>1000</a:t>
            </a:r>
            <a:r>
              <a:rPr lang="zh-CN" altLang="en-US"/>
              <a:t>～</a:t>
            </a:r>
            <a:r>
              <a:rPr lang="en-US" altLang="zh-CN"/>
              <a:t>17FF</a:t>
            </a:r>
          </a:p>
          <a:p>
            <a:pPr algn="ctr" eaLnBrk="1" hangingPunct="1">
              <a:lnSpc>
                <a:spcPct val="70000"/>
              </a:lnSpc>
            </a:pPr>
            <a:endParaRPr lang="en-US" altLang="zh-CN" sz="1600"/>
          </a:p>
        </p:txBody>
      </p:sp>
      <p:sp>
        <p:nvSpPr>
          <p:cNvPr id="76828" name="Text Box 64"/>
          <p:cNvSpPr txBox="1">
            <a:spLocks noChangeArrowheads="1"/>
          </p:cNvSpPr>
          <p:nvPr/>
        </p:nvSpPr>
        <p:spPr bwMode="auto">
          <a:xfrm>
            <a:off x="7164388" y="4395788"/>
            <a:ext cx="1727200" cy="776287"/>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2800"/>
          </a:p>
          <a:p>
            <a:pPr algn="ctr" eaLnBrk="1" hangingPunct="1">
              <a:lnSpc>
                <a:spcPct val="70000"/>
              </a:lnSpc>
            </a:pPr>
            <a:r>
              <a:rPr lang="en-US" altLang="zh-CN"/>
              <a:t>2000</a:t>
            </a:r>
            <a:r>
              <a:rPr lang="zh-CN" altLang="en-US"/>
              <a:t>～</a:t>
            </a:r>
            <a:r>
              <a:rPr lang="en-US" altLang="zh-CN"/>
              <a:t>3FFF</a:t>
            </a:r>
          </a:p>
          <a:p>
            <a:pPr algn="ctr" eaLnBrk="1" hangingPunct="1">
              <a:lnSpc>
                <a:spcPct val="70000"/>
              </a:lnSpc>
            </a:pPr>
            <a:endParaRPr lang="en-US" altLang="zh-CN" sz="2400"/>
          </a:p>
        </p:txBody>
      </p:sp>
      <p:sp>
        <p:nvSpPr>
          <p:cNvPr id="76829" name="Text Box 65"/>
          <p:cNvSpPr txBox="1">
            <a:spLocks noChangeArrowheads="1"/>
          </p:cNvSpPr>
          <p:nvPr/>
        </p:nvSpPr>
        <p:spPr bwMode="auto">
          <a:xfrm>
            <a:off x="7164388" y="3808413"/>
            <a:ext cx="1727200" cy="585787"/>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800"/>
          </a:p>
          <a:p>
            <a:pPr algn="ctr" eaLnBrk="1" hangingPunct="1">
              <a:lnSpc>
                <a:spcPct val="70000"/>
              </a:lnSpc>
            </a:pPr>
            <a:r>
              <a:rPr lang="en-US" altLang="zh-CN"/>
              <a:t>1800</a:t>
            </a:r>
            <a:r>
              <a:rPr lang="zh-CN" altLang="en-US"/>
              <a:t>～</a:t>
            </a:r>
            <a:r>
              <a:rPr lang="en-US" altLang="zh-CN"/>
              <a:t>1FFF</a:t>
            </a:r>
          </a:p>
          <a:p>
            <a:pPr algn="ctr" eaLnBrk="1" hangingPunct="1">
              <a:lnSpc>
                <a:spcPct val="70000"/>
              </a:lnSpc>
            </a:pPr>
            <a:endParaRPr lang="en-US" altLang="zh-CN" sz="1600"/>
          </a:p>
        </p:txBody>
      </p:sp>
      <p:sp>
        <p:nvSpPr>
          <p:cNvPr id="76830" name="Text Box 66"/>
          <p:cNvSpPr txBox="1">
            <a:spLocks noChangeArrowheads="1"/>
          </p:cNvSpPr>
          <p:nvPr/>
        </p:nvSpPr>
        <p:spPr bwMode="auto">
          <a:xfrm>
            <a:off x="3275013" y="3808413"/>
            <a:ext cx="1727200" cy="585787"/>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800"/>
          </a:p>
          <a:p>
            <a:pPr algn="ctr" eaLnBrk="1" hangingPunct="1">
              <a:lnSpc>
                <a:spcPct val="70000"/>
              </a:lnSpc>
            </a:pPr>
            <a:r>
              <a:rPr lang="en-US" altLang="zh-CN"/>
              <a:t>1800</a:t>
            </a:r>
            <a:r>
              <a:rPr lang="zh-CN" altLang="en-US"/>
              <a:t>～</a:t>
            </a:r>
            <a:r>
              <a:rPr lang="en-US" altLang="zh-CN"/>
              <a:t>1FFF</a:t>
            </a:r>
          </a:p>
          <a:p>
            <a:pPr algn="ctr" eaLnBrk="1" hangingPunct="1">
              <a:lnSpc>
                <a:spcPct val="70000"/>
              </a:lnSpc>
            </a:pPr>
            <a:endParaRPr lang="en-US" altLang="zh-CN" sz="1600"/>
          </a:p>
        </p:txBody>
      </p:sp>
      <p:sp>
        <p:nvSpPr>
          <p:cNvPr id="76831" name="Text Box 67"/>
          <p:cNvSpPr txBox="1">
            <a:spLocks noChangeArrowheads="1"/>
          </p:cNvSpPr>
          <p:nvPr/>
        </p:nvSpPr>
        <p:spPr bwMode="auto">
          <a:xfrm>
            <a:off x="3275013" y="4395788"/>
            <a:ext cx="1727200" cy="585787"/>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800"/>
          </a:p>
          <a:p>
            <a:pPr algn="ctr" eaLnBrk="1" hangingPunct="1">
              <a:lnSpc>
                <a:spcPct val="70000"/>
              </a:lnSpc>
            </a:pPr>
            <a:r>
              <a:rPr lang="en-US" altLang="zh-CN"/>
              <a:t>2000</a:t>
            </a:r>
            <a:r>
              <a:rPr lang="zh-CN" altLang="en-US"/>
              <a:t>～</a:t>
            </a:r>
            <a:r>
              <a:rPr lang="en-US" altLang="zh-CN"/>
              <a:t>27FF</a:t>
            </a:r>
          </a:p>
          <a:p>
            <a:pPr algn="ctr" eaLnBrk="1" hangingPunct="1">
              <a:lnSpc>
                <a:spcPct val="70000"/>
              </a:lnSpc>
            </a:pPr>
            <a:endParaRPr lang="en-US" altLang="zh-CN" sz="1600"/>
          </a:p>
        </p:txBody>
      </p:sp>
      <p:sp>
        <p:nvSpPr>
          <p:cNvPr id="76832" name="Text Box 68"/>
          <p:cNvSpPr txBox="1">
            <a:spLocks noChangeArrowheads="1"/>
          </p:cNvSpPr>
          <p:nvPr/>
        </p:nvSpPr>
        <p:spPr bwMode="auto">
          <a:xfrm>
            <a:off x="7164388" y="5172075"/>
            <a:ext cx="1727200" cy="77628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2800"/>
          </a:p>
          <a:p>
            <a:pPr algn="ctr" eaLnBrk="1" hangingPunct="1">
              <a:lnSpc>
                <a:spcPct val="70000"/>
              </a:lnSpc>
            </a:pPr>
            <a:r>
              <a:rPr lang="en-US" altLang="zh-CN"/>
              <a:t>4000</a:t>
            </a:r>
            <a:r>
              <a:rPr lang="zh-CN" altLang="en-US"/>
              <a:t>～</a:t>
            </a:r>
            <a:r>
              <a:rPr lang="en-US" altLang="zh-CN"/>
              <a:t>5FFF</a:t>
            </a:r>
          </a:p>
          <a:p>
            <a:pPr algn="ctr" eaLnBrk="1" hangingPunct="1">
              <a:lnSpc>
                <a:spcPct val="70000"/>
              </a:lnSpc>
            </a:pPr>
            <a:endParaRPr lang="en-US" altLang="zh-CN" sz="2400"/>
          </a:p>
        </p:txBody>
      </p:sp>
      <p:sp>
        <p:nvSpPr>
          <p:cNvPr id="76833" name="Text Box 69"/>
          <p:cNvSpPr txBox="1">
            <a:spLocks noChangeArrowheads="1"/>
          </p:cNvSpPr>
          <p:nvPr/>
        </p:nvSpPr>
        <p:spPr bwMode="auto">
          <a:xfrm>
            <a:off x="7172325" y="5948363"/>
            <a:ext cx="1727200" cy="776287"/>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2800"/>
          </a:p>
          <a:p>
            <a:pPr algn="ctr" eaLnBrk="1" hangingPunct="1">
              <a:lnSpc>
                <a:spcPct val="70000"/>
              </a:lnSpc>
            </a:pPr>
            <a:r>
              <a:rPr lang="en-US" altLang="zh-CN"/>
              <a:t>6000</a:t>
            </a:r>
            <a:r>
              <a:rPr lang="zh-CN" altLang="en-US"/>
              <a:t>～</a:t>
            </a:r>
            <a:r>
              <a:rPr lang="en-US" altLang="zh-CN"/>
              <a:t>7FFF</a:t>
            </a:r>
          </a:p>
          <a:p>
            <a:pPr algn="ctr" eaLnBrk="1" hangingPunct="1">
              <a:lnSpc>
                <a:spcPct val="70000"/>
              </a:lnSpc>
            </a:pPr>
            <a:endParaRPr lang="en-US" altLang="zh-CN" sz="2400"/>
          </a:p>
        </p:txBody>
      </p:sp>
      <p:sp>
        <p:nvSpPr>
          <p:cNvPr id="76834" name="Text Box 70"/>
          <p:cNvSpPr txBox="1">
            <a:spLocks noChangeArrowheads="1"/>
          </p:cNvSpPr>
          <p:nvPr/>
        </p:nvSpPr>
        <p:spPr bwMode="auto">
          <a:xfrm>
            <a:off x="2843213" y="5589588"/>
            <a:ext cx="37449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C548/C549</a:t>
            </a:r>
            <a:r>
              <a:rPr lang="zh-CN" altLang="en-US"/>
              <a:t>的</a:t>
            </a:r>
            <a:r>
              <a:rPr lang="en-US" altLang="zh-CN"/>
              <a:t>2000 </a:t>
            </a:r>
            <a:r>
              <a:rPr lang="zh-CN" altLang="en-US"/>
              <a:t>～</a:t>
            </a:r>
            <a:r>
              <a:rPr lang="en-US" altLang="zh-CN"/>
              <a:t>7FFF</a:t>
            </a:r>
            <a:r>
              <a:rPr lang="zh-CN" altLang="en-US"/>
              <a:t>为单寻址</a:t>
            </a:r>
            <a:r>
              <a:rPr lang="en-US" altLang="zh-CN"/>
              <a:t>RAM</a:t>
            </a:r>
            <a:r>
              <a:rPr lang="zh-CN" altLang="en-US"/>
              <a:t>，其余为双寻址</a:t>
            </a:r>
            <a:r>
              <a:rPr lang="en-US" altLang="zh-CN"/>
              <a:t>RAM</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73442"/>
                                        </p:tgtEl>
                                        <p:attrNameLst>
                                          <p:attrName>style.visibility</p:attrName>
                                        </p:attrNameLst>
                                      </p:cBhvr>
                                      <p:to>
                                        <p:strVal val="visible"/>
                                      </p:to>
                                    </p:set>
                                    <p:anim calcmode="lin" valueType="num">
                                      <p:cBhvr additive="base">
                                        <p:cTn id="7" dur="500" fill="hold"/>
                                        <p:tgtEl>
                                          <p:spTgt spid="573442"/>
                                        </p:tgtEl>
                                        <p:attrNameLst>
                                          <p:attrName>ppt_x</p:attrName>
                                        </p:attrNameLst>
                                      </p:cBhvr>
                                      <p:tavLst>
                                        <p:tav tm="0">
                                          <p:val>
                                            <p:strVal val="0-#ppt_w/2"/>
                                          </p:val>
                                        </p:tav>
                                        <p:tav tm="100000">
                                          <p:val>
                                            <p:strVal val="#ppt_x"/>
                                          </p:val>
                                        </p:tav>
                                      </p:tavLst>
                                    </p:anim>
                                    <p:anim calcmode="lin" valueType="num">
                                      <p:cBhvr additive="base">
                                        <p:cTn id="8" dur="500" fill="hold"/>
                                        <p:tgtEl>
                                          <p:spTgt spid="5734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2"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92BF404-9DB5-46B8-8BFA-2112204EE325}" type="slidenum">
              <a:rPr lang="en-US" altLang="zh-CN" sz="1400" b="0"/>
              <a:pPr eaLnBrk="1" hangingPunct="1"/>
              <a:t>64</a:t>
            </a:fld>
            <a:endParaRPr lang="en-US" altLang="zh-CN" sz="1400" b="0"/>
          </a:p>
        </p:txBody>
      </p:sp>
      <p:sp>
        <p:nvSpPr>
          <p:cNvPr id="574466" name="Rectangle 2"/>
          <p:cNvSpPr>
            <a:spLocks noChangeArrowheads="1"/>
          </p:cNvSpPr>
          <p:nvPr/>
        </p:nvSpPr>
        <p:spPr bwMode="auto">
          <a:xfrm>
            <a:off x="228600" y="1219200"/>
            <a:ext cx="8534400" cy="4479925"/>
          </a:xfrm>
          <a:prstGeom prst="rect">
            <a:avLst/>
          </a:prstGeom>
          <a:noFill/>
          <a:ln w="9525">
            <a:noFill/>
            <a:miter lim="800000"/>
            <a:headEnd/>
            <a:tailEnd/>
          </a:ln>
          <a:effectLst/>
        </p:spPr>
        <p:txBody>
          <a:bodyPr>
            <a:spAutoFit/>
          </a:bodyPr>
          <a:lstStyle/>
          <a:p>
            <a:pPr indent="568325">
              <a:spcBef>
                <a:spcPct val="50000"/>
              </a:spcBef>
              <a:defRPr/>
            </a:pPr>
            <a:r>
              <a:rPr lang="zh-CN" altLang="en-US" sz="3200">
                <a:solidFill>
                  <a:srgbClr val="FF00FF"/>
                </a:solidFill>
              </a:rPr>
              <a:t>在双操作数寻址时，如果操作数驻留在同一块内，则要</a:t>
            </a:r>
            <a:r>
              <a:rPr lang="en-US" altLang="zh-CN" sz="3200">
                <a:solidFill>
                  <a:srgbClr val="FF00FF"/>
                </a:solidFill>
              </a:rPr>
              <a:t>2</a:t>
            </a:r>
            <a:r>
              <a:rPr lang="zh-CN" altLang="en-US" sz="3200">
                <a:solidFill>
                  <a:srgbClr val="FF00FF"/>
                </a:solidFill>
              </a:rPr>
              <a:t>个周期；若操作数驻留在不同块内，则只需</a:t>
            </a:r>
            <a:r>
              <a:rPr lang="en-US" altLang="zh-CN" sz="3200">
                <a:solidFill>
                  <a:srgbClr val="FF00FF"/>
                </a:solidFill>
              </a:rPr>
              <a:t>1</a:t>
            </a:r>
            <a:r>
              <a:rPr lang="zh-CN" altLang="en-US" sz="3200">
                <a:solidFill>
                  <a:srgbClr val="FF00FF"/>
                </a:solidFill>
              </a:rPr>
              <a:t>个周期就可以了。</a:t>
            </a:r>
          </a:p>
          <a:p>
            <a:pPr indent="568325">
              <a:spcBef>
                <a:spcPct val="50000"/>
              </a:spcBef>
              <a:defRPr/>
            </a:pPr>
            <a:r>
              <a:rPr lang="zh-CN" altLang="en-US" sz="3200"/>
              <a:t>为了提高处理器的性能，片内</a:t>
            </a:r>
            <a:r>
              <a:rPr lang="en-US" altLang="zh-CN" sz="3200"/>
              <a:t>RAM</a:t>
            </a:r>
            <a:r>
              <a:rPr lang="zh-CN" altLang="en-US" sz="3200"/>
              <a:t>也细分成若干块。</a:t>
            </a:r>
          </a:p>
          <a:p>
            <a:pPr indent="568325">
              <a:spcBef>
                <a:spcPct val="50000"/>
              </a:spcBef>
              <a:defRPr/>
            </a:pPr>
            <a:r>
              <a:rPr lang="zh-CN" altLang="en-US" sz="3200">
                <a:solidFill>
                  <a:schemeClr val="tx2"/>
                </a:solidFill>
                <a:effectLst>
                  <a:outerShdw blurRad="38100" dist="38100" dir="2700000" algn="tl">
                    <a:srgbClr val="C0C0C0"/>
                  </a:outerShdw>
                </a:effectLst>
              </a:rPr>
              <a:t>分块后，用户可以在同一个周期内从同一块</a:t>
            </a:r>
            <a:r>
              <a:rPr lang="en-US" altLang="zh-CN" sz="3200">
                <a:solidFill>
                  <a:schemeClr val="tx2"/>
                </a:solidFill>
                <a:effectLst>
                  <a:outerShdw blurRad="38100" dist="38100" dir="2700000" algn="tl">
                    <a:srgbClr val="C0C0C0"/>
                  </a:outerShdw>
                </a:effectLst>
              </a:rPr>
              <a:t>DARAM</a:t>
            </a:r>
            <a:r>
              <a:rPr lang="zh-CN" altLang="en-US" sz="3200">
                <a:solidFill>
                  <a:schemeClr val="tx2"/>
                </a:solidFill>
                <a:effectLst>
                  <a:outerShdw blurRad="38100" dist="38100" dir="2700000" algn="tl">
                    <a:srgbClr val="C0C0C0"/>
                  </a:outerShdw>
                </a:effectLst>
              </a:rPr>
              <a:t>取出两个操作数，并将数据写入到另一块</a:t>
            </a:r>
            <a:r>
              <a:rPr lang="en-US" altLang="zh-CN" sz="3200">
                <a:solidFill>
                  <a:schemeClr val="tx2"/>
                </a:solidFill>
                <a:effectLst>
                  <a:outerShdw blurRad="38100" dist="38100" dir="2700000" algn="tl">
                    <a:srgbClr val="C0C0C0"/>
                  </a:outerShdw>
                </a:effectLst>
              </a:rPr>
              <a:t>DARAM</a:t>
            </a:r>
            <a:r>
              <a:rPr lang="zh-CN" altLang="en-US" sz="3200">
                <a:solidFill>
                  <a:schemeClr val="tx2"/>
                </a:solidFill>
                <a:effectLst>
                  <a:outerShdw blurRad="38100" dist="38100" dir="2700000" algn="tl">
                    <a:srgbClr val="C0C0C0"/>
                  </a:outerShdw>
                </a:effectLst>
              </a:rPr>
              <a:t>中。</a:t>
            </a:r>
          </a:p>
        </p:txBody>
      </p:sp>
    </p:spTree>
  </p:cSld>
  <p:clrMapOvr>
    <a:masterClrMapping/>
  </p:clrMapOvr>
  <p:transition spd="med">
    <p:pull dir="lu"/>
  </p:transition>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bwMode="auto">
          <a:xfrm>
            <a:off x="685800" y="9906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latin typeface="宋体" panose="02010600030101010101" pitchFamily="2" charset="-122"/>
              </a:rPr>
              <a:t>DARAM</a:t>
            </a:r>
            <a:r>
              <a:rPr lang="zh-CN" altLang="en-US" b="1">
                <a:solidFill>
                  <a:srgbClr val="FF0000"/>
                </a:solidFill>
                <a:latin typeface="宋体" panose="02010600030101010101" pitchFamily="2" charset="-122"/>
              </a:rPr>
              <a:t>前</a:t>
            </a:r>
            <a:r>
              <a:rPr lang="en-US" altLang="zh-CN" b="1">
                <a:solidFill>
                  <a:srgbClr val="FF0000"/>
                </a:solidFill>
                <a:latin typeface="宋体" panose="02010600030101010101" pitchFamily="2" charset="-122"/>
              </a:rPr>
              <a:t>1K</a:t>
            </a:r>
            <a:r>
              <a:rPr lang="zh-CN" altLang="en-US" b="1">
                <a:solidFill>
                  <a:srgbClr val="FF0000"/>
                </a:solidFill>
                <a:latin typeface="宋体" panose="02010600030101010101" pitchFamily="2" charset="-122"/>
              </a:rPr>
              <a:t>数据存储器的配置</a:t>
            </a:r>
            <a:r>
              <a:rPr lang="zh-CN" altLang="en-US"/>
              <a:t> </a:t>
            </a:r>
          </a:p>
        </p:txBody>
      </p:sp>
      <p:sp>
        <p:nvSpPr>
          <p:cNvPr id="7885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A842BDF4-BAE0-4C61-AE43-21D65D59DD4F}" type="slidenum">
              <a:rPr lang="en-US" altLang="zh-CN" sz="1400" b="0"/>
              <a:pPr eaLnBrk="1" hangingPunct="1"/>
              <a:t>65</a:t>
            </a:fld>
            <a:endParaRPr lang="en-US" altLang="zh-CN" sz="1400" b="0"/>
          </a:p>
        </p:txBody>
      </p:sp>
      <p:grpSp>
        <p:nvGrpSpPr>
          <p:cNvPr id="78852" name="Group 31"/>
          <p:cNvGrpSpPr>
            <a:grpSpLocks/>
          </p:cNvGrpSpPr>
          <p:nvPr/>
        </p:nvGrpSpPr>
        <p:grpSpPr bwMode="auto">
          <a:xfrm>
            <a:off x="827088" y="2116138"/>
            <a:ext cx="4824412" cy="4102100"/>
            <a:chOff x="521" y="1333"/>
            <a:chExt cx="3039" cy="2584"/>
          </a:xfrm>
        </p:grpSpPr>
        <p:sp>
          <p:nvSpPr>
            <p:cNvPr id="78857" name="Text Box 8"/>
            <p:cNvSpPr txBox="1">
              <a:spLocks noChangeArrowheads="1"/>
            </p:cNvSpPr>
            <p:nvPr/>
          </p:nvSpPr>
          <p:spPr bwMode="auto">
            <a:xfrm>
              <a:off x="1156" y="1333"/>
              <a:ext cx="2404" cy="256"/>
            </a:xfrm>
            <a:prstGeom prst="rect">
              <a:avLst/>
            </a:prstGeom>
            <a:solidFill>
              <a:schemeClr va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0000"/>
                  </a:solidFill>
                </a:rPr>
                <a:t>存储器映象</a:t>
              </a:r>
              <a:r>
                <a:rPr lang="en-US" altLang="zh-CN">
                  <a:solidFill>
                    <a:srgbClr val="FF0000"/>
                  </a:solidFill>
                </a:rPr>
                <a:t>CPU</a:t>
              </a:r>
              <a:r>
                <a:rPr lang="zh-CN" altLang="en-US">
                  <a:solidFill>
                    <a:srgbClr val="FF0000"/>
                  </a:solidFill>
                </a:rPr>
                <a:t>寄存器</a:t>
              </a:r>
            </a:p>
          </p:txBody>
        </p:sp>
        <p:sp>
          <p:nvSpPr>
            <p:cNvPr id="78858" name="Text Box 9"/>
            <p:cNvSpPr txBox="1">
              <a:spLocks noChangeArrowheads="1"/>
            </p:cNvSpPr>
            <p:nvPr/>
          </p:nvSpPr>
          <p:spPr bwMode="auto">
            <a:xfrm>
              <a:off x="1156" y="1590"/>
              <a:ext cx="2404" cy="256"/>
            </a:xfrm>
            <a:prstGeom prst="rect">
              <a:avLst/>
            </a:prstGeom>
            <a:solidFill>
              <a:schemeClr val="accent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tx2"/>
                  </a:solidFill>
                </a:rPr>
                <a:t>存储器映象外围电路寄存器</a:t>
              </a:r>
            </a:p>
          </p:txBody>
        </p:sp>
        <p:sp>
          <p:nvSpPr>
            <p:cNvPr id="78859" name="Text Box 10"/>
            <p:cNvSpPr txBox="1">
              <a:spLocks noChangeArrowheads="1"/>
            </p:cNvSpPr>
            <p:nvPr/>
          </p:nvSpPr>
          <p:spPr bwMode="auto">
            <a:xfrm>
              <a:off x="1156" y="1852"/>
              <a:ext cx="2404" cy="256"/>
            </a:xfrm>
            <a:prstGeom prst="rect">
              <a:avLst/>
            </a:prstGeom>
            <a:solidFill>
              <a:schemeClr val="fo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暂存器</a:t>
              </a:r>
              <a:r>
                <a:rPr lang="en-US" altLang="zh-CN">
                  <a:solidFill>
                    <a:schemeClr val="bg1"/>
                  </a:solidFill>
                </a:rPr>
                <a:t>SPRAM(DP=0)</a:t>
              </a:r>
            </a:p>
          </p:txBody>
        </p:sp>
        <p:sp>
          <p:nvSpPr>
            <p:cNvPr id="78860" name="Text Box 11"/>
            <p:cNvSpPr txBox="1">
              <a:spLocks noChangeArrowheads="1"/>
            </p:cNvSpPr>
            <p:nvPr/>
          </p:nvSpPr>
          <p:spPr bwMode="auto">
            <a:xfrm>
              <a:off x="1156" y="2109"/>
              <a:ext cx="2404" cy="256"/>
            </a:xfrm>
            <a:prstGeom prst="rect">
              <a:avLst/>
            </a:prstGeom>
            <a:solidFill>
              <a:srgbClr val="FFFF99"/>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暂存器</a:t>
              </a:r>
              <a:r>
                <a:rPr lang="en-US" altLang="zh-CN"/>
                <a:t>DARAM(DP=1)</a:t>
              </a:r>
            </a:p>
          </p:txBody>
        </p:sp>
        <p:sp>
          <p:nvSpPr>
            <p:cNvPr id="78861" name="Text Box 12"/>
            <p:cNvSpPr txBox="1">
              <a:spLocks noChangeArrowheads="1"/>
            </p:cNvSpPr>
            <p:nvPr/>
          </p:nvSpPr>
          <p:spPr bwMode="auto">
            <a:xfrm>
              <a:off x="1156" y="2366"/>
              <a:ext cx="2404" cy="256"/>
            </a:xfrm>
            <a:prstGeom prst="rect">
              <a:avLst/>
            </a:prstGeom>
            <a:solidFill>
              <a:srgbClr val="FFFF99"/>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暂存器</a:t>
              </a:r>
              <a:r>
                <a:rPr lang="en-US" altLang="zh-CN"/>
                <a:t>DARAM(DP=2)</a:t>
              </a:r>
            </a:p>
          </p:txBody>
        </p:sp>
        <p:sp>
          <p:nvSpPr>
            <p:cNvPr id="78862" name="Text Box 13"/>
            <p:cNvSpPr txBox="1">
              <a:spLocks noChangeArrowheads="1"/>
            </p:cNvSpPr>
            <p:nvPr/>
          </p:nvSpPr>
          <p:spPr bwMode="auto">
            <a:xfrm>
              <a:off x="1156" y="2623"/>
              <a:ext cx="2404" cy="256"/>
            </a:xfrm>
            <a:prstGeom prst="rect">
              <a:avLst/>
            </a:prstGeom>
            <a:solidFill>
              <a:srgbClr val="FFFF99"/>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暂存器</a:t>
              </a:r>
              <a:r>
                <a:rPr lang="en-US" altLang="zh-CN"/>
                <a:t>DARAM(DP=3)</a:t>
              </a:r>
            </a:p>
          </p:txBody>
        </p:sp>
        <p:sp>
          <p:nvSpPr>
            <p:cNvPr id="78863" name="Text Box 14"/>
            <p:cNvSpPr txBox="1">
              <a:spLocks noChangeArrowheads="1"/>
            </p:cNvSpPr>
            <p:nvPr/>
          </p:nvSpPr>
          <p:spPr bwMode="auto">
            <a:xfrm>
              <a:off x="1156" y="2875"/>
              <a:ext cx="2404" cy="256"/>
            </a:xfrm>
            <a:prstGeom prst="rect">
              <a:avLst/>
            </a:prstGeom>
            <a:solidFill>
              <a:srgbClr val="FFFF99"/>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暂存器</a:t>
              </a:r>
              <a:r>
                <a:rPr lang="en-US" altLang="zh-CN"/>
                <a:t>DARAM(DP=4)</a:t>
              </a:r>
            </a:p>
          </p:txBody>
        </p:sp>
        <p:sp>
          <p:nvSpPr>
            <p:cNvPr id="78864" name="Text Box 15"/>
            <p:cNvSpPr txBox="1">
              <a:spLocks noChangeArrowheads="1"/>
            </p:cNvSpPr>
            <p:nvPr/>
          </p:nvSpPr>
          <p:spPr bwMode="auto">
            <a:xfrm>
              <a:off x="1156" y="3132"/>
              <a:ext cx="2404" cy="256"/>
            </a:xfrm>
            <a:prstGeom prst="rect">
              <a:avLst/>
            </a:prstGeom>
            <a:solidFill>
              <a:srgbClr val="FFFF99"/>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暂存器</a:t>
              </a:r>
              <a:r>
                <a:rPr lang="en-US" altLang="zh-CN"/>
                <a:t>DARAM(DP=5)</a:t>
              </a:r>
            </a:p>
          </p:txBody>
        </p:sp>
        <p:sp>
          <p:nvSpPr>
            <p:cNvPr id="78865" name="Text Box 16"/>
            <p:cNvSpPr txBox="1">
              <a:spLocks noChangeArrowheads="1"/>
            </p:cNvSpPr>
            <p:nvPr/>
          </p:nvSpPr>
          <p:spPr bwMode="auto">
            <a:xfrm>
              <a:off x="1156" y="3385"/>
              <a:ext cx="2404" cy="256"/>
            </a:xfrm>
            <a:prstGeom prst="rect">
              <a:avLst/>
            </a:prstGeom>
            <a:solidFill>
              <a:srgbClr val="FFFF99"/>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暂存器</a:t>
              </a:r>
              <a:r>
                <a:rPr lang="en-US" altLang="zh-CN"/>
                <a:t>DARAM(DP=6)</a:t>
              </a:r>
            </a:p>
          </p:txBody>
        </p:sp>
        <p:sp>
          <p:nvSpPr>
            <p:cNvPr id="78866" name="Text Box 17"/>
            <p:cNvSpPr txBox="1">
              <a:spLocks noChangeArrowheads="1"/>
            </p:cNvSpPr>
            <p:nvPr/>
          </p:nvSpPr>
          <p:spPr bwMode="auto">
            <a:xfrm>
              <a:off x="1156" y="3643"/>
              <a:ext cx="2404" cy="256"/>
            </a:xfrm>
            <a:prstGeom prst="rect">
              <a:avLst/>
            </a:prstGeom>
            <a:solidFill>
              <a:srgbClr val="FFFF99"/>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暂存器</a:t>
              </a:r>
              <a:r>
                <a:rPr lang="en-US" altLang="zh-CN"/>
                <a:t>DARAM(DP=7)</a:t>
              </a:r>
            </a:p>
          </p:txBody>
        </p:sp>
        <p:sp>
          <p:nvSpPr>
            <p:cNvPr id="78867" name="Text Box 19"/>
            <p:cNvSpPr txBox="1">
              <a:spLocks noChangeArrowheads="1"/>
            </p:cNvSpPr>
            <p:nvPr/>
          </p:nvSpPr>
          <p:spPr bwMode="auto">
            <a:xfrm>
              <a:off x="521" y="1353"/>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0000h</a:t>
              </a:r>
            </a:p>
          </p:txBody>
        </p:sp>
        <p:sp>
          <p:nvSpPr>
            <p:cNvPr id="78868" name="Text Box 20"/>
            <p:cNvSpPr txBox="1">
              <a:spLocks noChangeArrowheads="1"/>
            </p:cNvSpPr>
            <p:nvPr/>
          </p:nvSpPr>
          <p:spPr bwMode="auto">
            <a:xfrm>
              <a:off x="521" y="1615"/>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0020h</a:t>
              </a:r>
            </a:p>
          </p:txBody>
        </p:sp>
        <p:sp>
          <p:nvSpPr>
            <p:cNvPr id="78869" name="Text Box 21"/>
            <p:cNvSpPr txBox="1">
              <a:spLocks noChangeArrowheads="1"/>
            </p:cNvSpPr>
            <p:nvPr/>
          </p:nvSpPr>
          <p:spPr bwMode="auto">
            <a:xfrm>
              <a:off x="521" y="1857"/>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0060h</a:t>
              </a:r>
            </a:p>
          </p:txBody>
        </p:sp>
        <p:sp>
          <p:nvSpPr>
            <p:cNvPr id="78870" name="Text Box 22"/>
            <p:cNvSpPr txBox="1">
              <a:spLocks noChangeArrowheads="1"/>
            </p:cNvSpPr>
            <p:nvPr/>
          </p:nvSpPr>
          <p:spPr bwMode="auto">
            <a:xfrm>
              <a:off x="521" y="2104"/>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0080h</a:t>
              </a:r>
            </a:p>
          </p:txBody>
        </p:sp>
        <p:sp>
          <p:nvSpPr>
            <p:cNvPr id="78871" name="Text Box 23"/>
            <p:cNvSpPr txBox="1">
              <a:spLocks noChangeArrowheads="1"/>
            </p:cNvSpPr>
            <p:nvPr/>
          </p:nvSpPr>
          <p:spPr bwMode="auto">
            <a:xfrm>
              <a:off x="521" y="2377"/>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0100h</a:t>
              </a:r>
            </a:p>
          </p:txBody>
        </p:sp>
        <p:sp>
          <p:nvSpPr>
            <p:cNvPr id="78872" name="Text Box 24"/>
            <p:cNvSpPr txBox="1">
              <a:spLocks noChangeArrowheads="1"/>
            </p:cNvSpPr>
            <p:nvPr/>
          </p:nvSpPr>
          <p:spPr bwMode="auto">
            <a:xfrm>
              <a:off x="521" y="2639"/>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0180h</a:t>
              </a:r>
            </a:p>
          </p:txBody>
        </p:sp>
        <p:sp>
          <p:nvSpPr>
            <p:cNvPr id="78873" name="Text Box 25"/>
            <p:cNvSpPr txBox="1">
              <a:spLocks noChangeArrowheads="1"/>
            </p:cNvSpPr>
            <p:nvPr/>
          </p:nvSpPr>
          <p:spPr bwMode="auto">
            <a:xfrm>
              <a:off x="521" y="2881"/>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0200h</a:t>
              </a:r>
            </a:p>
          </p:txBody>
        </p:sp>
        <p:sp>
          <p:nvSpPr>
            <p:cNvPr id="78874" name="Text Box 26"/>
            <p:cNvSpPr txBox="1">
              <a:spLocks noChangeArrowheads="1"/>
            </p:cNvSpPr>
            <p:nvPr/>
          </p:nvSpPr>
          <p:spPr bwMode="auto">
            <a:xfrm>
              <a:off x="521" y="3128"/>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0280h</a:t>
              </a:r>
            </a:p>
          </p:txBody>
        </p:sp>
        <p:sp>
          <p:nvSpPr>
            <p:cNvPr id="78875" name="Text Box 27"/>
            <p:cNvSpPr txBox="1">
              <a:spLocks noChangeArrowheads="1"/>
            </p:cNvSpPr>
            <p:nvPr/>
          </p:nvSpPr>
          <p:spPr bwMode="auto">
            <a:xfrm>
              <a:off x="521" y="3420"/>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0300h</a:t>
              </a:r>
            </a:p>
          </p:txBody>
        </p:sp>
        <p:sp>
          <p:nvSpPr>
            <p:cNvPr id="78876" name="Text Box 28"/>
            <p:cNvSpPr txBox="1">
              <a:spLocks noChangeArrowheads="1"/>
            </p:cNvSpPr>
            <p:nvPr/>
          </p:nvSpPr>
          <p:spPr bwMode="auto">
            <a:xfrm>
              <a:off x="521" y="3667"/>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0380h</a:t>
              </a:r>
            </a:p>
          </p:txBody>
        </p:sp>
      </p:grpSp>
      <p:sp>
        <p:nvSpPr>
          <p:cNvPr id="78853" name="AutoShape 4" descr="小棋盘"/>
          <p:cNvSpPr>
            <a:spLocks noChangeArrowheads="1"/>
          </p:cNvSpPr>
          <p:nvPr/>
        </p:nvSpPr>
        <p:spPr bwMode="auto">
          <a:xfrm>
            <a:off x="5375275" y="1916113"/>
            <a:ext cx="2895600" cy="457200"/>
          </a:xfrm>
          <a:prstGeom prst="wedgeRoundRectCallout">
            <a:avLst>
              <a:gd name="adj1" fmla="val -55264"/>
              <a:gd name="adj2" fmla="val 21875"/>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FF0000"/>
                </a:solidFill>
              </a:rPr>
              <a:t>地址</a:t>
            </a:r>
            <a:r>
              <a:rPr lang="en-US" altLang="zh-CN" sz="2400">
                <a:solidFill>
                  <a:srgbClr val="FF0000"/>
                </a:solidFill>
              </a:rPr>
              <a:t>0000h~001Fh</a:t>
            </a:r>
          </a:p>
        </p:txBody>
      </p:sp>
      <p:sp>
        <p:nvSpPr>
          <p:cNvPr id="78854" name="AutoShape 5" descr="小棋盘"/>
          <p:cNvSpPr>
            <a:spLocks noChangeArrowheads="1"/>
          </p:cNvSpPr>
          <p:nvPr/>
        </p:nvSpPr>
        <p:spPr bwMode="auto">
          <a:xfrm>
            <a:off x="5580063" y="2781300"/>
            <a:ext cx="2819400" cy="457200"/>
          </a:xfrm>
          <a:prstGeom prst="wedgeRoundRectCallout">
            <a:avLst>
              <a:gd name="adj1" fmla="val -52759"/>
              <a:gd name="adj2" fmla="val -92361"/>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tx2"/>
                </a:solidFill>
              </a:rPr>
              <a:t>地址</a:t>
            </a:r>
            <a:r>
              <a:rPr lang="en-US" altLang="zh-CN" sz="2400">
                <a:solidFill>
                  <a:schemeClr val="tx2"/>
                </a:solidFill>
              </a:rPr>
              <a:t>0020h~005Fh</a:t>
            </a:r>
          </a:p>
        </p:txBody>
      </p:sp>
      <p:sp>
        <p:nvSpPr>
          <p:cNvPr id="78855" name="AutoShape 7" descr="小棋盘"/>
          <p:cNvSpPr>
            <a:spLocks noChangeArrowheads="1"/>
          </p:cNvSpPr>
          <p:nvPr/>
        </p:nvSpPr>
        <p:spPr bwMode="auto">
          <a:xfrm>
            <a:off x="5984875" y="4811713"/>
            <a:ext cx="2286000" cy="838200"/>
          </a:xfrm>
          <a:prstGeom prst="wedgeRoundRectCallout">
            <a:avLst>
              <a:gd name="adj1" fmla="val -108958"/>
              <a:gd name="adj2" fmla="val -46593"/>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en-US" altLang="zh-CN" sz="2400"/>
              <a:t>896</a:t>
            </a:r>
            <a:r>
              <a:rPr lang="zh-CN" altLang="en-US" sz="2400"/>
              <a:t>字</a:t>
            </a:r>
            <a:r>
              <a:rPr lang="en-US" altLang="zh-CN" sz="2400"/>
              <a:t>DARAM</a:t>
            </a:r>
          </a:p>
          <a:p>
            <a:pPr algn="just" eaLnBrk="1" hangingPunct="1">
              <a:spcBef>
                <a:spcPct val="20000"/>
              </a:spcBef>
            </a:pPr>
            <a:r>
              <a:rPr lang="en-US" altLang="zh-CN" sz="2400"/>
              <a:t>0080h~03FFh</a:t>
            </a:r>
          </a:p>
        </p:txBody>
      </p:sp>
      <p:sp>
        <p:nvSpPr>
          <p:cNvPr id="78856" name="AutoShape 6" descr="小棋盘"/>
          <p:cNvSpPr>
            <a:spLocks noChangeArrowheads="1"/>
          </p:cNvSpPr>
          <p:nvPr/>
        </p:nvSpPr>
        <p:spPr bwMode="auto">
          <a:xfrm>
            <a:off x="5075238" y="3587750"/>
            <a:ext cx="3124200" cy="838200"/>
          </a:xfrm>
          <a:prstGeom prst="wedgeRoundRectCallout">
            <a:avLst>
              <a:gd name="adj1" fmla="val -57014"/>
              <a:gd name="adj2" fmla="val -95644"/>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en-US" altLang="zh-CN" sz="2400">
                <a:solidFill>
                  <a:schemeClr val="folHlink"/>
                </a:solidFill>
              </a:rPr>
              <a:t>32</a:t>
            </a:r>
            <a:r>
              <a:rPr lang="zh-CN" altLang="en-US" sz="2400">
                <a:solidFill>
                  <a:schemeClr val="folHlink"/>
                </a:solidFill>
              </a:rPr>
              <a:t>字</a:t>
            </a:r>
            <a:r>
              <a:rPr lang="en-US" altLang="zh-CN" sz="2400">
                <a:solidFill>
                  <a:schemeClr val="folHlink"/>
                </a:solidFill>
              </a:rPr>
              <a:t>SPRAM</a:t>
            </a:r>
            <a:r>
              <a:rPr lang="zh-CN" altLang="en-US" sz="2400">
                <a:solidFill>
                  <a:schemeClr val="folHlink"/>
                </a:solidFill>
              </a:rPr>
              <a:t>便笺式存储器</a:t>
            </a:r>
            <a:r>
              <a:rPr lang="en-US" altLang="zh-CN" sz="2400">
                <a:solidFill>
                  <a:schemeClr val="folHlink"/>
                </a:solidFill>
              </a:rPr>
              <a:t>0060h~007Fh</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75490"/>
                                        </p:tgtEl>
                                        <p:attrNameLst>
                                          <p:attrName>style.visibility</p:attrName>
                                        </p:attrNameLst>
                                      </p:cBhvr>
                                      <p:to>
                                        <p:strVal val="visible"/>
                                      </p:to>
                                    </p:set>
                                    <p:animEffect transition="in" filter="box(in)">
                                      <p:cBhvr>
                                        <p:cTn id="7" dur="500"/>
                                        <p:tgtEl>
                                          <p:spTgt spid="575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0"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6514" name="Rectangle 2"/>
          <p:cNvSpPr>
            <a:spLocks noGrp="1" noChangeArrowheads="1"/>
          </p:cNvSpPr>
          <p:nvPr>
            <p:ph type="title"/>
          </p:nvPr>
        </p:nvSpPr>
        <p:spPr bwMode="auto">
          <a:xfrm>
            <a:off x="1547813" y="1196975"/>
            <a:ext cx="61722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66"/>
                </a:solidFill>
                <a:ea typeface="仿宋_GB2312" pitchFamily="49" charset="-122"/>
              </a:rPr>
              <a:t>4</a:t>
            </a:r>
            <a:r>
              <a:rPr lang="zh-CN" altLang="en-US" b="1">
                <a:solidFill>
                  <a:srgbClr val="FF0066"/>
                </a:solidFill>
                <a:ea typeface="仿宋_GB2312" pitchFamily="49" charset="-122"/>
              </a:rPr>
              <a:t>．存储器映</a:t>
            </a:r>
            <a:r>
              <a:rPr lang="zh-CN" altLang="en-US" b="1">
                <a:solidFill>
                  <a:srgbClr val="FF0066"/>
                </a:solidFill>
                <a:latin typeface="宋体" panose="02010600030101010101" pitchFamily="2" charset="-122"/>
              </a:rPr>
              <a:t>像</a:t>
            </a:r>
            <a:r>
              <a:rPr lang="zh-CN" altLang="en-US" b="1">
                <a:solidFill>
                  <a:srgbClr val="FF0066"/>
                </a:solidFill>
                <a:ea typeface="仿宋_GB2312" pitchFamily="49" charset="-122"/>
              </a:rPr>
              <a:t>寄存器</a:t>
            </a:r>
            <a:r>
              <a:rPr lang="zh-CN" altLang="en-US"/>
              <a:t> </a:t>
            </a:r>
          </a:p>
        </p:txBody>
      </p:sp>
      <p:sp>
        <p:nvSpPr>
          <p:cNvPr id="7987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3BE4419E-B532-410B-B97E-697C2F593FE9}" type="slidenum">
              <a:rPr lang="en-US" altLang="zh-CN" sz="1400" b="0"/>
              <a:pPr eaLnBrk="1" hangingPunct="1"/>
              <a:t>66</a:t>
            </a:fld>
            <a:endParaRPr lang="en-US" altLang="zh-CN" sz="1400" b="0"/>
          </a:p>
        </p:txBody>
      </p:sp>
      <p:sp>
        <p:nvSpPr>
          <p:cNvPr id="576515" name="AutoShape 3" descr="小棋盘"/>
          <p:cNvSpPr>
            <a:spLocks noChangeArrowheads="1"/>
          </p:cNvSpPr>
          <p:nvPr/>
        </p:nvSpPr>
        <p:spPr bwMode="auto">
          <a:xfrm>
            <a:off x="5257800" y="2362200"/>
            <a:ext cx="2895600" cy="457200"/>
          </a:xfrm>
          <a:prstGeom prst="wedgeRoundRectCallout">
            <a:avLst>
              <a:gd name="adj1" fmla="val -95560"/>
              <a:gd name="adj2" fmla="val 45139"/>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t>地址</a:t>
            </a:r>
            <a:r>
              <a:rPr lang="en-US" altLang="zh-CN" sz="2400"/>
              <a:t>0000h~001Fh</a:t>
            </a:r>
          </a:p>
        </p:txBody>
      </p:sp>
      <p:sp>
        <p:nvSpPr>
          <p:cNvPr id="576516" name="AutoShape 4" descr="小棋盘"/>
          <p:cNvSpPr>
            <a:spLocks noChangeArrowheads="1"/>
          </p:cNvSpPr>
          <p:nvPr/>
        </p:nvSpPr>
        <p:spPr bwMode="auto">
          <a:xfrm>
            <a:off x="5791200" y="3048000"/>
            <a:ext cx="2209800" cy="1219200"/>
          </a:xfrm>
          <a:prstGeom prst="wedgeRoundRectCallout">
            <a:avLst>
              <a:gd name="adj1" fmla="val -142671"/>
              <a:gd name="adj2" fmla="val -17579"/>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t>暂存</a:t>
            </a:r>
            <a:r>
              <a:rPr lang="en-US" altLang="zh-CN" sz="2400"/>
              <a:t>CPU</a:t>
            </a:r>
            <a:r>
              <a:rPr lang="zh-CN" altLang="en-US" sz="2400"/>
              <a:t>及对外设控制和交换的数据</a:t>
            </a:r>
          </a:p>
        </p:txBody>
      </p:sp>
      <p:sp>
        <p:nvSpPr>
          <p:cNvPr id="576517" name="AutoShape 5" descr="小棋盘"/>
          <p:cNvSpPr>
            <a:spLocks noChangeArrowheads="1"/>
          </p:cNvSpPr>
          <p:nvPr/>
        </p:nvSpPr>
        <p:spPr bwMode="auto">
          <a:xfrm>
            <a:off x="685800" y="5257800"/>
            <a:ext cx="7989888" cy="1295400"/>
          </a:xfrm>
          <a:prstGeom prst="wedgeRoundRectCallout">
            <a:avLst>
              <a:gd name="adj1" fmla="val 3051"/>
              <a:gd name="adj2" fmla="val -86889"/>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zh-CN" altLang="en-US" sz="2400">
                <a:latin typeface="宋体" panose="02010600030101010101" pitchFamily="2" charset="-122"/>
              </a:rPr>
              <a:t>寻址存储器映像 </a:t>
            </a:r>
            <a:r>
              <a:rPr lang="en-US" altLang="zh-CN" sz="2400">
                <a:latin typeface="宋体" panose="02010600030101010101" pitchFamily="2" charset="-122"/>
              </a:rPr>
              <a:t>CPU</a:t>
            </a:r>
            <a:r>
              <a:rPr lang="zh-CN" altLang="en-US" sz="2400">
                <a:latin typeface="宋体" panose="02010600030101010101" pitchFamily="2" charset="-122"/>
              </a:rPr>
              <a:t>寄存器，不需要</a:t>
            </a:r>
            <a:r>
              <a:rPr lang="zh-CN" altLang="en-US" sz="2400"/>
              <a:t>插入等待周期。</a:t>
            </a:r>
          </a:p>
          <a:p>
            <a:pPr eaLnBrk="1" hangingPunct="1">
              <a:lnSpc>
                <a:spcPct val="90000"/>
              </a:lnSpc>
              <a:spcBef>
                <a:spcPct val="50000"/>
              </a:spcBef>
            </a:pPr>
            <a:r>
              <a:rPr lang="zh-CN" altLang="en-US" sz="2400"/>
              <a:t>外围电路寄存器用于对外围电路的控制和存放数据，对它们寻址，需要</a:t>
            </a:r>
            <a:r>
              <a:rPr lang="en-US" altLang="zh-CN" sz="2400"/>
              <a:t>2</a:t>
            </a:r>
            <a:r>
              <a:rPr lang="zh-CN" altLang="en-US" sz="2400"/>
              <a:t>个机器周期。</a:t>
            </a:r>
          </a:p>
        </p:txBody>
      </p:sp>
      <p:sp>
        <p:nvSpPr>
          <p:cNvPr id="576518" name="Rectangle 6"/>
          <p:cNvSpPr>
            <a:spLocks noChangeArrowheads="1"/>
          </p:cNvSpPr>
          <p:nvPr/>
        </p:nvSpPr>
        <p:spPr bwMode="auto">
          <a:xfrm>
            <a:off x="2286000" y="2438400"/>
            <a:ext cx="1277938" cy="588963"/>
          </a:xfrm>
          <a:prstGeom prst="rect">
            <a:avLst/>
          </a:prstGeom>
          <a:solidFill>
            <a:schemeClr val="hlink"/>
          </a:solidFill>
          <a:ln w="9525">
            <a:solidFill>
              <a:schemeClr val="folHlink"/>
            </a:solidFill>
            <a:miter lim="800000"/>
            <a:headEnd/>
            <a:tailEnd/>
          </a:ln>
          <a:effectLst/>
        </p:spPr>
        <p:txBody>
          <a:bodyPr>
            <a:spAutoFit/>
          </a:bodyPr>
          <a:lstStyle/>
          <a:p>
            <a:pPr algn="ctr">
              <a:defRPr/>
            </a:pPr>
            <a:r>
              <a:rPr lang="zh-CN" altLang="en-US" sz="3200">
                <a:solidFill>
                  <a:srgbClr val="FF6600"/>
                </a:solidFill>
                <a:effectLst>
                  <a:outerShdw blurRad="38100" dist="38100" dir="2700000" algn="tl">
                    <a:srgbClr val="000000"/>
                  </a:outerShdw>
                </a:effectLst>
                <a:latin typeface="宋体" pitchFamily="2" charset="-122"/>
              </a:rPr>
              <a:t>位置</a:t>
            </a:r>
          </a:p>
        </p:txBody>
      </p:sp>
      <p:sp>
        <p:nvSpPr>
          <p:cNvPr id="576519" name="Rectangle 7"/>
          <p:cNvSpPr>
            <a:spLocks noChangeArrowheads="1"/>
          </p:cNvSpPr>
          <p:nvPr/>
        </p:nvSpPr>
        <p:spPr bwMode="auto">
          <a:xfrm>
            <a:off x="2286000" y="3200400"/>
            <a:ext cx="1277938" cy="579438"/>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solidFill>
                  <a:srgbClr val="FFFFFF"/>
                </a:solidFill>
                <a:latin typeface="宋体" panose="02010600030101010101" pitchFamily="2" charset="-122"/>
              </a:rPr>
              <a:t>作用</a:t>
            </a:r>
          </a:p>
        </p:txBody>
      </p:sp>
      <p:sp>
        <p:nvSpPr>
          <p:cNvPr id="576520" name="Rectangle 8"/>
          <p:cNvSpPr>
            <a:spLocks noChangeArrowheads="1"/>
          </p:cNvSpPr>
          <p:nvPr/>
        </p:nvSpPr>
        <p:spPr bwMode="auto">
          <a:xfrm>
            <a:off x="2286000" y="3962400"/>
            <a:ext cx="3038475" cy="588963"/>
          </a:xfrm>
          <a:prstGeom prst="rect">
            <a:avLst/>
          </a:prstGeom>
          <a:solidFill>
            <a:schemeClr val="bg2"/>
          </a:solidFill>
          <a:ln w="9525">
            <a:solidFill>
              <a:schemeClr val="tx1"/>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FF"/>
                </a:solidFill>
                <a:latin typeface="宋体" panose="02010600030101010101" pitchFamily="2" charset="-122"/>
              </a:rPr>
              <a:t>访问所需周期数</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76514"/>
                                        </p:tgtEl>
                                        <p:attrNameLst>
                                          <p:attrName>style.visibility</p:attrName>
                                        </p:attrNameLst>
                                      </p:cBhvr>
                                      <p:to>
                                        <p:strVal val="visible"/>
                                      </p:to>
                                    </p:set>
                                    <p:animEffect transition="in" filter="box(in)">
                                      <p:cBhvr>
                                        <p:cTn id="7" dur="500"/>
                                        <p:tgtEl>
                                          <p:spTgt spid="576514"/>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576518"/>
                                        </p:tgtEl>
                                        <p:attrNameLst>
                                          <p:attrName>style.visibility</p:attrName>
                                        </p:attrNameLst>
                                      </p:cBhvr>
                                      <p:to>
                                        <p:strVal val="visible"/>
                                      </p:to>
                                    </p:set>
                                    <p:anim calcmode="lin" valueType="num">
                                      <p:cBhvr additive="base">
                                        <p:cTn id="11" dur="500" fill="hold"/>
                                        <p:tgtEl>
                                          <p:spTgt spid="576518"/>
                                        </p:tgtEl>
                                        <p:attrNameLst>
                                          <p:attrName>ppt_x</p:attrName>
                                        </p:attrNameLst>
                                      </p:cBhvr>
                                      <p:tavLst>
                                        <p:tav tm="0">
                                          <p:val>
                                            <p:strVal val="0-#ppt_w/2"/>
                                          </p:val>
                                        </p:tav>
                                        <p:tav tm="100000">
                                          <p:val>
                                            <p:strVal val="#ppt_x"/>
                                          </p:val>
                                        </p:tav>
                                      </p:tavLst>
                                    </p:anim>
                                    <p:anim calcmode="lin" valueType="num">
                                      <p:cBhvr additive="base">
                                        <p:cTn id="12" dur="500" fill="hold"/>
                                        <p:tgtEl>
                                          <p:spTgt spid="576518"/>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576519"/>
                                        </p:tgtEl>
                                        <p:attrNameLst>
                                          <p:attrName>style.visibility</p:attrName>
                                        </p:attrNameLst>
                                      </p:cBhvr>
                                      <p:to>
                                        <p:strVal val="visible"/>
                                      </p:to>
                                    </p:set>
                                    <p:anim calcmode="lin" valueType="num">
                                      <p:cBhvr additive="base">
                                        <p:cTn id="16" dur="500" fill="hold"/>
                                        <p:tgtEl>
                                          <p:spTgt spid="576519"/>
                                        </p:tgtEl>
                                        <p:attrNameLst>
                                          <p:attrName>ppt_x</p:attrName>
                                        </p:attrNameLst>
                                      </p:cBhvr>
                                      <p:tavLst>
                                        <p:tav tm="0">
                                          <p:val>
                                            <p:strVal val="0-#ppt_w/2"/>
                                          </p:val>
                                        </p:tav>
                                        <p:tav tm="100000">
                                          <p:val>
                                            <p:strVal val="#ppt_x"/>
                                          </p:val>
                                        </p:tav>
                                      </p:tavLst>
                                    </p:anim>
                                    <p:anim calcmode="lin" valueType="num">
                                      <p:cBhvr additive="base">
                                        <p:cTn id="17" dur="500" fill="hold"/>
                                        <p:tgtEl>
                                          <p:spTgt spid="576519"/>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1500"/>
                            </p:stCondLst>
                            <p:childTnLst>
                              <p:par>
                                <p:cTn id="19" presetID="2" presetClass="entr" presetSubtype="8" fill="hold" grpId="0" nodeType="afterEffect">
                                  <p:stCondLst>
                                    <p:cond delay="0"/>
                                  </p:stCondLst>
                                  <p:childTnLst>
                                    <p:set>
                                      <p:cBhvr>
                                        <p:cTn id="20" dur="1" fill="hold">
                                          <p:stCondLst>
                                            <p:cond delay="0"/>
                                          </p:stCondLst>
                                        </p:cTn>
                                        <p:tgtEl>
                                          <p:spTgt spid="576520"/>
                                        </p:tgtEl>
                                        <p:attrNameLst>
                                          <p:attrName>style.visibility</p:attrName>
                                        </p:attrNameLst>
                                      </p:cBhvr>
                                      <p:to>
                                        <p:strVal val="visible"/>
                                      </p:to>
                                    </p:set>
                                    <p:anim calcmode="lin" valueType="num">
                                      <p:cBhvr additive="base">
                                        <p:cTn id="21" dur="500" fill="hold"/>
                                        <p:tgtEl>
                                          <p:spTgt spid="576520"/>
                                        </p:tgtEl>
                                        <p:attrNameLst>
                                          <p:attrName>ppt_x</p:attrName>
                                        </p:attrNameLst>
                                      </p:cBhvr>
                                      <p:tavLst>
                                        <p:tav tm="0">
                                          <p:val>
                                            <p:strVal val="0-#ppt_w/2"/>
                                          </p:val>
                                        </p:tav>
                                        <p:tav tm="100000">
                                          <p:val>
                                            <p:strVal val="#ppt_x"/>
                                          </p:val>
                                        </p:tav>
                                      </p:tavLst>
                                    </p:anim>
                                    <p:anim calcmode="lin" valueType="num">
                                      <p:cBhvr additive="base">
                                        <p:cTn id="22" dur="500" fill="hold"/>
                                        <p:tgtEl>
                                          <p:spTgt spid="576520"/>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2000"/>
                            </p:stCondLst>
                            <p:childTnLst>
                              <p:par>
                                <p:cTn id="24" presetID="2" presetClass="entr" presetSubtype="2" fill="hold" grpId="0" nodeType="afterEffect">
                                  <p:stCondLst>
                                    <p:cond delay="0"/>
                                  </p:stCondLst>
                                  <p:childTnLst>
                                    <p:set>
                                      <p:cBhvr>
                                        <p:cTn id="25" dur="1" fill="hold">
                                          <p:stCondLst>
                                            <p:cond delay="0"/>
                                          </p:stCondLst>
                                        </p:cTn>
                                        <p:tgtEl>
                                          <p:spTgt spid="576515"/>
                                        </p:tgtEl>
                                        <p:attrNameLst>
                                          <p:attrName>style.visibility</p:attrName>
                                        </p:attrNameLst>
                                      </p:cBhvr>
                                      <p:to>
                                        <p:strVal val="visible"/>
                                      </p:to>
                                    </p:set>
                                    <p:anim calcmode="lin" valueType="num">
                                      <p:cBhvr additive="base">
                                        <p:cTn id="26" dur="500" fill="hold"/>
                                        <p:tgtEl>
                                          <p:spTgt spid="576515"/>
                                        </p:tgtEl>
                                        <p:attrNameLst>
                                          <p:attrName>ppt_x</p:attrName>
                                        </p:attrNameLst>
                                      </p:cBhvr>
                                      <p:tavLst>
                                        <p:tav tm="0">
                                          <p:val>
                                            <p:strVal val="1+#ppt_w/2"/>
                                          </p:val>
                                        </p:tav>
                                        <p:tav tm="100000">
                                          <p:val>
                                            <p:strVal val="#ppt_x"/>
                                          </p:val>
                                        </p:tav>
                                      </p:tavLst>
                                    </p:anim>
                                    <p:anim calcmode="lin" valueType="num">
                                      <p:cBhvr additive="base">
                                        <p:cTn id="27" dur="500" fill="hold"/>
                                        <p:tgtEl>
                                          <p:spTgt spid="576515"/>
                                        </p:tgtEl>
                                        <p:attrNameLst>
                                          <p:attrName>ppt_y</p:attrName>
                                        </p:attrNameLst>
                                      </p:cBhvr>
                                      <p:tavLst>
                                        <p:tav tm="0">
                                          <p:val>
                                            <p:strVal val="#ppt_y"/>
                                          </p:val>
                                        </p:tav>
                                        <p:tav tm="100000">
                                          <p:val>
                                            <p:strVal val="#ppt_y"/>
                                          </p:val>
                                        </p:tav>
                                      </p:tavLst>
                                    </p:anim>
                                  </p:childTnLst>
                                </p:cTn>
                              </p:par>
                            </p:childTnLst>
                          </p:cTn>
                        </p:par>
                        <p:par>
                          <p:cTn id="28" fill="hold" nodeType="afterGroup">
                            <p:stCondLst>
                              <p:cond delay="2500"/>
                            </p:stCondLst>
                            <p:childTnLst>
                              <p:par>
                                <p:cTn id="29" presetID="2" presetClass="entr" presetSubtype="2" fill="hold" grpId="0" nodeType="afterEffect">
                                  <p:stCondLst>
                                    <p:cond delay="0"/>
                                  </p:stCondLst>
                                  <p:childTnLst>
                                    <p:set>
                                      <p:cBhvr>
                                        <p:cTn id="30" dur="1" fill="hold">
                                          <p:stCondLst>
                                            <p:cond delay="0"/>
                                          </p:stCondLst>
                                        </p:cTn>
                                        <p:tgtEl>
                                          <p:spTgt spid="576516"/>
                                        </p:tgtEl>
                                        <p:attrNameLst>
                                          <p:attrName>style.visibility</p:attrName>
                                        </p:attrNameLst>
                                      </p:cBhvr>
                                      <p:to>
                                        <p:strVal val="visible"/>
                                      </p:to>
                                    </p:set>
                                    <p:anim calcmode="lin" valueType="num">
                                      <p:cBhvr additive="base">
                                        <p:cTn id="31" dur="500" fill="hold"/>
                                        <p:tgtEl>
                                          <p:spTgt spid="576516"/>
                                        </p:tgtEl>
                                        <p:attrNameLst>
                                          <p:attrName>ppt_x</p:attrName>
                                        </p:attrNameLst>
                                      </p:cBhvr>
                                      <p:tavLst>
                                        <p:tav tm="0">
                                          <p:val>
                                            <p:strVal val="1+#ppt_w/2"/>
                                          </p:val>
                                        </p:tav>
                                        <p:tav tm="100000">
                                          <p:val>
                                            <p:strVal val="#ppt_x"/>
                                          </p:val>
                                        </p:tav>
                                      </p:tavLst>
                                    </p:anim>
                                    <p:anim calcmode="lin" valueType="num">
                                      <p:cBhvr additive="base">
                                        <p:cTn id="32" dur="500" fill="hold"/>
                                        <p:tgtEl>
                                          <p:spTgt spid="576516"/>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3000"/>
                            </p:stCondLst>
                            <p:childTnLst>
                              <p:par>
                                <p:cTn id="34" presetID="2" presetClass="entr" presetSubtype="2" fill="hold" grpId="0" nodeType="afterEffect">
                                  <p:stCondLst>
                                    <p:cond delay="0"/>
                                  </p:stCondLst>
                                  <p:childTnLst>
                                    <p:set>
                                      <p:cBhvr>
                                        <p:cTn id="35" dur="1" fill="hold">
                                          <p:stCondLst>
                                            <p:cond delay="0"/>
                                          </p:stCondLst>
                                        </p:cTn>
                                        <p:tgtEl>
                                          <p:spTgt spid="576517"/>
                                        </p:tgtEl>
                                        <p:attrNameLst>
                                          <p:attrName>style.visibility</p:attrName>
                                        </p:attrNameLst>
                                      </p:cBhvr>
                                      <p:to>
                                        <p:strVal val="visible"/>
                                      </p:to>
                                    </p:set>
                                    <p:anim calcmode="lin" valueType="num">
                                      <p:cBhvr additive="base">
                                        <p:cTn id="36" dur="500" fill="hold"/>
                                        <p:tgtEl>
                                          <p:spTgt spid="576517"/>
                                        </p:tgtEl>
                                        <p:attrNameLst>
                                          <p:attrName>ppt_x</p:attrName>
                                        </p:attrNameLst>
                                      </p:cBhvr>
                                      <p:tavLst>
                                        <p:tav tm="0">
                                          <p:val>
                                            <p:strVal val="1+#ppt_w/2"/>
                                          </p:val>
                                        </p:tav>
                                        <p:tav tm="100000">
                                          <p:val>
                                            <p:strVal val="#ppt_x"/>
                                          </p:val>
                                        </p:tav>
                                      </p:tavLst>
                                    </p:anim>
                                    <p:anim calcmode="lin" valueType="num">
                                      <p:cBhvr additive="base">
                                        <p:cTn id="37" dur="500" fill="hold"/>
                                        <p:tgtEl>
                                          <p:spTgt spid="5765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14" grpId="0" autoUpdateAnimBg="0"/>
      <p:bldP spid="576515" grpId="0" animBg="1" autoUpdateAnimBg="0"/>
      <p:bldP spid="576516" grpId="0" animBg="1" autoUpdateAnimBg="0"/>
      <p:bldP spid="576517" grpId="0" animBg="1" autoUpdateAnimBg="0"/>
      <p:bldP spid="576518" grpId="0" animBg="1" autoUpdateAnimBg="0"/>
      <p:bldP spid="576519" grpId="0" animBg="1" autoUpdateAnimBg="0"/>
      <p:bldP spid="576520"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3845FD67-6674-491A-BF81-846F3DE03057}" type="slidenum">
              <a:rPr lang="en-US" altLang="zh-CN" sz="1400" b="0"/>
              <a:pPr eaLnBrk="1" hangingPunct="1"/>
              <a:t>67</a:t>
            </a:fld>
            <a:endParaRPr lang="en-US" altLang="zh-CN" sz="1400" b="0"/>
          </a:p>
        </p:txBody>
      </p:sp>
      <p:graphicFrame>
        <p:nvGraphicFramePr>
          <p:cNvPr id="577924" name="Group 388"/>
          <p:cNvGraphicFramePr>
            <a:graphicFrameLocks noGrp="1"/>
          </p:cNvGraphicFramePr>
          <p:nvPr/>
        </p:nvGraphicFramePr>
        <p:xfrm>
          <a:off x="1258888" y="981075"/>
          <a:ext cx="7777162" cy="5857875"/>
        </p:xfrm>
        <a:graphic>
          <a:graphicData uri="http://schemas.openxmlformats.org/drawingml/2006/table">
            <a:tbl>
              <a:tblPr/>
              <a:tblGrid>
                <a:gridCol w="863600">
                  <a:extLst>
                    <a:ext uri="{9D8B030D-6E8A-4147-A177-3AD203B41FA5}">
                      <a16:colId xmlns:a16="http://schemas.microsoft.com/office/drawing/2014/main" val="20000"/>
                    </a:ext>
                  </a:extLst>
                </a:gridCol>
                <a:gridCol w="2557462">
                  <a:extLst>
                    <a:ext uri="{9D8B030D-6E8A-4147-A177-3AD203B41FA5}">
                      <a16:colId xmlns:a16="http://schemas.microsoft.com/office/drawing/2014/main" val="20001"/>
                    </a:ext>
                  </a:extLst>
                </a:gridCol>
                <a:gridCol w="1547813">
                  <a:extLst>
                    <a:ext uri="{9D8B030D-6E8A-4147-A177-3AD203B41FA5}">
                      <a16:colId xmlns:a16="http://schemas.microsoft.com/office/drawing/2014/main" val="20002"/>
                    </a:ext>
                  </a:extLst>
                </a:gridCol>
                <a:gridCol w="2808287">
                  <a:extLst>
                    <a:ext uri="{9D8B030D-6E8A-4147-A177-3AD203B41FA5}">
                      <a16:colId xmlns:a16="http://schemas.microsoft.com/office/drawing/2014/main" val="20003"/>
                    </a:ext>
                  </a:extLst>
                </a:gridCol>
              </a:tblGrid>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地址</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CPU</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寄存器名称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地址</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CPU</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寄存器名称</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A50021"/>
                          </a:solidFill>
                          <a:effectLst/>
                          <a:latin typeface="Times New Roman" panose="02020603050405020304" pitchFamily="18" charset="0"/>
                          <a:ea typeface="宋体" panose="02010600030101010101" pitchFamily="2" charset="-122"/>
                        </a:rPr>
                        <a:t>IMR</a:t>
                      </a:r>
                      <a:r>
                        <a:rPr kumimoji="1" lang="zh-CN" altLang="en-US" sz="1800" b="1" i="0" u="none" strike="noStrike" cap="none" normalizeH="0" baseline="0">
                          <a:ln>
                            <a:noFill/>
                          </a:ln>
                          <a:solidFill>
                            <a:srgbClr val="A50021"/>
                          </a:solidFill>
                          <a:effectLst/>
                          <a:latin typeface="Times New Roman" panose="02020603050405020304" pitchFamily="18" charset="0"/>
                          <a:ea typeface="宋体" panose="02010600030101010101" pitchFamily="2" charset="-122"/>
                        </a:rPr>
                        <a:t>中断屏蔽寄存器</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AR2</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（辅助寄存器</a:t>
                      </a: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2</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IFR</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中断标志寄存器</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AR3</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（辅助寄存器</a:t>
                      </a: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3</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 </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保留（用于测试）</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AR4</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（辅助寄存器</a:t>
                      </a: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4</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ST0</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AR5</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（辅助寄存器</a:t>
                      </a: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5</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ST1</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AR6</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（辅助寄存器</a:t>
                      </a: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6</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（累加器</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低字）</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AR7</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（辅助寄存器</a:t>
                      </a: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7</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AH</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（累加器</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高字）</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SP</a:t>
                      </a:r>
                      <a:r>
                        <a:rPr kumimoji="1" lang="zh-CN" altLang="en-US"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（堆栈指针）</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AG</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（累加器</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保护位）</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9900"/>
                          </a:solidFill>
                          <a:effectLst/>
                          <a:latin typeface="Times New Roman" panose="02020603050405020304" pitchFamily="18" charset="0"/>
                          <a:ea typeface="宋体" panose="02010600030101010101" pitchFamily="2" charset="-122"/>
                        </a:rPr>
                        <a:t>BK</a:t>
                      </a:r>
                      <a:r>
                        <a:rPr kumimoji="1" lang="zh-CN" altLang="en-US" sz="1800" b="1" i="0" u="none" strike="noStrike" cap="none" normalizeH="0" baseline="0" dirty="0">
                          <a:ln>
                            <a:noFill/>
                          </a:ln>
                          <a:solidFill>
                            <a:srgbClr val="FF9900"/>
                          </a:solidFill>
                          <a:effectLst/>
                          <a:latin typeface="Times New Roman" panose="02020603050405020304" pitchFamily="18" charset="0"/>
                          <a:ea typeface="宋体" panose="02010600030101010101" pitchFamily="2" charset="-122"/>
                        </a:rPr>
                        <a:t>循环缓冲长度寄存器</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BL</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（累加器</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低字）</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660066"/>
                          </a:solidFill>
                          <a:effectLst/>
                          <a:latin typeface="Times New Roman" panose="02020603050405020304" pitchFamily="18" charset="0"/>
                          <a:ea typeface="宋体" panose="02010600030101010101" pitchFamily="2" charset="-122"/>
                        </a:rPr>
                        <a:t>BRC</a:t>
                      </a:r>
                      <a:r>
                        <a:rPr kumimoji="1" lang="zh-CN" altLang="en-US" sz="1800" b="1" i="0" u="none" strike="noStrike" cap="none" normalizeH="0" baseline="0">
                          <a:ln>
                            <a:noFill/>
                          </a:ln>
                          <a:solidFill>
                            <a:srgbClr val="660066"/>
                          </a:solidFill>
                          <a:effectLst/>
                          <a:latin typeface="Times New Roman" panose="02020603050405020304" pitchFamily="18" charset="0"/>
                          <a:ea typeface="宋体" panose="02010600030101010101" pitchFamily="2" charset="-122"/>
                        </a:rPr>
                        <a:t>（块重复计数器）</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BH</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（累加器</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高字）</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1B</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660066"/>
                          </a:solidFill>
                          <a:effectLst/>
                          <a:latin typeface="Times New Roman" panose="02020603050405020304" pitchFamily="18" charset="0"/>
                          <a:ea typeface="宋体" panose="02010600030101010101" pitchFamily="2" charset="-122"/>
                        </a:rPr>
                        <a:t>RSA</a:t>
                      </a:r>
                      <a:r>
                        <a:rPr kumimoji="1" lang="zh-CN" altLang="en-US" sz="1800" b="1" i="0" u="none" strike="noStrike" cap="none" normalizeH="0" baseline="0">
                          <a:ln>
                            <a:noFill/>
                          </a:ln>
                          <a:solidFill>
                            <a:srgbClr val="660066"/>
                          </a:solidFill>
                          <a:effectLst/>
                          <a:latin typeface="Times New Roman" panose="02020603050405020304" pitchFamily="18" charset="0"/>
                          <a:ea typeface="宋体" panose="02010600030101010101" pitchFamily="2" charset="-122"/>
                        </a:rPr>
                        <a:t>块重复起始寄存器</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BG</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（累加器</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保护位）</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1C</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660066"/>
                          </a:solidFill>
                          <a:effectLst/>
                          <a:latin typeface="Times New Roman" panose="02020603050405020304" pitchFamily="18" charset="0"/>
                          <a:ea typeface="宋体" panose="02010600030101010101" pitchFamily="2" charset="-122"/>
                        </a:rPr>
                        <a:t>REA</a:t>
                      </a:r>
                      <a:r>
                        <a:rPr kumimoji="1" lang="zh-CN" altLang="en-US" sz="1800" b="1" i="0" u="none" strike="noStrike" cap="none" normalizeH="0" baseline="0">
                          <a:ln>
                            <a:noFill/>
                          </a:ln>
                          <a:solidFill>
                            <a:srgbClr val="660066"/>
                          </a:solidFill>
                          <a:effectLst/>
                          <a:latin typeface="Times New Roman" panose="02020603050405020304" pitchFamily="18" charset="0"/>
                          <a:ea typeface="宋体" panose="02010600030101010101" pitchFamily="2" charset="-122"/>
                        </a:rPr>
                        <a:t>块重复结束寄存器</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1D</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PMST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处理器工作方式</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54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XPC</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（程序计数器扩展）</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03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AR0</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（辅助寄存器</a:t>
                      </a: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0</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1E</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1F</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保留</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349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AR1</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（辅助寄存器</a:t>
                      </a:r>
                      <a:r>
                        <a:rPr kumimoji="1"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r>
                        <a:rPr kumimoji="1"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80986" name="Text Box 390" descr="小棋盘"/>
          <p:cNvSpPr txBox="1">
            <a:spLocks noChangeArrowheads="1"/>
          </p:cNvSpPr>
          <p:nvPr/>
        </p:nvSpPr>
        <p:spPr bwMode="auto">
          <a:xfrm>
            <a:off x="395288" y="1196975"/>
            <a:ext cx="533400" cy="4799013"/>
          </a:xfrm>
          <a:prstGeom prst="rect">
            <a:avLst/>
          </a:prstGeom>
          <a:pattFill prst="smCheck">
            <a:fgClr>
              <a:srgbClr val="FFFF00"/>
            </a:fgClr>
            <a:bgClr>
              <a:srgbClr val="FFFFFF"/>
            </a:bgClr>
          </a:pattFill>
          <a:ln w="9525">
            <a:solidFill>
              <a:srgbClr val="FF0066"/>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a:solidFill>
                  <a:schemeClr val="tx2"/>
                </a:solidFill>
              </a:rPr>
              <a:t>存储器映像</a:t>
            </a:r>
            <a:r>
              <a:rPr lang="en-US" altLang="zh-CN" sz="2800">
                <a:solidFill>
                  <a:schemeClr val="tx2"/>
                </a:solidFill>
              </a:rPr>
              <a:t>CPU</a:t>
            </a:r>
            <a:r>
              <a:rPr lang="zh-CN" altLang="en-US" sz="2800">
                <a:solidFill>
                  <a:schemeClr val="tx2"/>
                </a:solidFill>
              </a:rPr>
              <a:t>寄存器</a:t>
            </a:r>
          </a:p>
        </p:txBody>
      </p:sp>
    </p:spTree>
  </p:cSld>
  <p:clrMapOvr>
    <a:masterClrMapping/>
  </p:clrMapOvr>
  <p:transition spd="med">
    <p:pull dir="l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AE55BAEB-05DD-43D7-923A-3EC1F80AF8C9}" type="slidenum">
              <a:rPr lang="en-US" altLang="zh-CN" sz="1400" b="0"/>
              <a:pPr eaLnBrk="1" hangingPunct="1"/>
              <a:t>68</a:t>
            </a:fld>
            <a:endParaRPr lang="en-US" altLang="zh-CN" sz="1400" b="0"/>
          </a:p>
        </p:txBody>
      </p:sp>
      <p:sp>
        <p:nvSpPr>
          <p:cNvPr id="81923" name="Text Box 149" descr="小棋盘"/>
          <p:cNvSpPr txBox="1">
            <a:spLocks noChangeArrowheads="1"/>
          </p:cNvSpPr>
          <p:nvPr/>
        </p:nvSpPr>
        <p:spPr bwMode="auto">
          <a:xfrm>
            <a:off x="539750" y="1196975"/>
            <a:ext cx="533400" cy="5226050"/>
          </a:xfrm>
          <a:prstGeom prst="rect">
            <a:avLst/>
          </a:prstGeom>
          <a:pattFill prst="smCheck">
            <a:fgClr>
              <a:srgbClr val="FFFF00"/>
            </a:fgClr>
            <a:bgClr>
              <a:srgbClr val="FFFFFF"/>
            </a:bgClr>
          </a:pattFill>
          <a:ln w="9525">
            <a:solidFill>
              <a:srgbClr val="FF0066"/>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a:solidFill>
                  <a:schemeClr val="tx2"/>
                </a:solidFill>
              </a:rPr>
              <a:t>存储器映像在片外围寄存器</a:t>
            </a:r>
          </a:p>
        </p:txBody>
      </p:sp>
      <p:graphicFrame>
        <p:nvGraphicFramePr>
          <p:cNvPr id="578900" name="Group 340"/>
          <p:cNvGraphicFramePr>
            <a:graphicFrameLocks noGrp="1"/>
          </p:cNvGraphicFramePr>
          <p:nvPr/>
        </p:nvGraphicFramePr>
        <p:xfrm>
          <a:off x="1835150" y="1016000"/>
          <a:ext cx="6408738" cy="5852160"/>
        </p:xfrm>
        <a:graphic>
          <a:graphicData uri="http://schemas.openxmlformats.org/drawingml/2006/table">
            <a:tbl>
              <a:tblPr/>
              <a:tblGrid>
                <a:gridCol w="1368425">
                  <a:extLst>
                    <a:ext uri="{9D8B030D-6E8A-4147-A177-3AD203B41FA5}">
                      <a16:colId xmlns:a16="http://schemas.microsoft.com/office/drawing/2014/main" val="20000"/>
                    </a:ext>
                  </a:extLst>
                </a:gridCol>
                <a:gridCol w="1655763">
                  <a:extLst>
                    <a:ext uri="{9D8B030D-6E8A-4147-A177-3AD203B41FA5}">
                      <a16:colId xmlns:a16="http://schemas.microsoft.com/office/drawing/2014/main" val="20001"/>
                    </a:ext>
                  </a:extLst>
                </a:gridCol>
                <a:gridCol w="3384550">
                  <a:extLst>
                    <a:ext uri="{9D8B030D-6E8A-4147-A177-3AD203B41FA5}">
                      <a16:colId xmlns:a16="http://schemas.microsoft.com/office/drawing/2014/main" val="20002"/>
                    </a:ext>
                  </a:extLst>
                </a:gridCol>
              </a:tblGrid>
              <a:tr h="1809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地  址</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名  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说      明</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DRR0</a:t>
                      </a:r>
                      <a:endParaRPr kumimoji="1"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rgbClr val="006600"/>
                          </a:solidFill>
                          <a:effectLst/>
                          <a:latin typeface="宋体" panose="02010600030101010101" pitchFamily="2" charset="-122"/>
                          <a:ea typeface="宋体" panose="02010600030101010101" pitchFamily="2" charset="-122"/>
                        </a:rPr>
                        <a:t>串行端口</a:t>
                      </a:r>
                      <a:r>
                        <a:rPr kumimoji="1" lang="en-US" altLang="zh-CN" sz="1800" b="1" i="0" u="none" strike="noStrike" cap="none" normalizeH="0" baseline="0">
                          <a:ln>
                            <a:noFill/>
                          </a:ln>
                          <a:solidFill>
                            <a:srgbClr val="006600"/>
                          </a:solidFill>
                          <a:effectLst/>
                          <a:latin typeface="宋体" panose="02010600030101010101" pitchFamily="2" charset="-122"/>
                          <a:ea typeface="宋体" panose="02010600030101010101" pitchFamily="2" charset="-122"/>
                        </a:rPr>
                        <a:t>0</a:t>
                      </a:r>
                      <a:r>
                        <a:rPr kumimoji="1" lang="zh-CN" altLang="en-US" sz="1800" b="1" i="0" u="none" strike="noStrike" cap="none" normalizeH="0" baseline="0">
                          <a:ln>
                            <a:noFill/>
                          </a:ln>
                          <a:solidFill>
                            <a:srgbClr val="006600"/>
                          </a:solidFill>
                          <a:effectLst/>
                          <a:latin typeface="宋体" panose="02010600030101010101" pitchFamily="2" charset="-122"/>
                          <a:ea typeface="宋体" panose="02010600030101010101" pitchFamily="2" charset="-122"/>
                        </a:rPr>
                        <a:t>数据接收寄存器</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DXR0</a:t>
                      </a:r>
                      <a:endParaRPr kumimoji="1"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rgbClr val="006600"/>
                          </a:solidFill>
                          <a:effectLst/>
                          <a:latin typeface="宋体" panose="02010600030101010101" pitchFamily="2" charset="-122"/>
                          <a:ea typeface="宋体" panose="02010600030101010101" pitchFamily="2" charset="-122"/>
                        </a:rPr>
                        <a:t>串行端口</a:t>
                      </a:r>
                      <a:r>
                        <a:rPr kumimoji="1" lang="en-US" altLang="zh-CN" sz="1800" b="1" i="0" u="none" strike="noStrike" cap="none" normalizeH="0" baseline="0">
                          <a:ln>
                            <a:noFill/>
                          </a:ln>
                          <a:solidFill>
                            <a:srgbClr val="006600"/>
                          </a:solidFill>
                          <a:effectLst/>
                          <a:latin typeface="宋体" panose="02010600030101010101" pitchFamily="2" charset="-122"/>
                          <a:ea typeface="宋体" panose="02010600030101010101" pitchFamily="2" charset="-122"/>
                        </a:rPr>
                        <a:t>0</a:t>
                      </a:r>
                      <a:r>
                        <a:rPr kumimoji="1" lang="zh-CN" altLang="en-US" sz="1800" b="1" i="0" u="none" strike="noStrike" cap="none" normalizeH="0" baseline="0">
                          <a:ln>
                            <a:noFill/>
                          </a:ln>
                          <a:solidFill>
                            <a:srgbClr val="006600"/>
                          </a:solidFill>
                          <a:effectLst/>
                          <a:latin typeface="宋体" panose="02010600030101010101" pitchFamily="2" charset="-122"/>
                          <a:ea typeface="宋体" panose="02010600030101010101" pitchFamily="2" charset="-122"/>
                        </a:rPr>
                        <a:t>数据发送寄存器</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SPC0</a:t>
                      </a:r>
                      <a:endParaRPr kumimoji="1"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006600"/>
                          </a:solidFill>
                          <a:effectLst/>
                          <a:latin typeface="宋体" panose="02010600030101010101" pitchFamily="2" charset="-122"/>
                          <a:ea typeface="宋体" panose="02010600030101010101" pitchFamily="2" charset="-122"/>
                        </a:rPr>
                        <a:t>串行端口</a:t>
                      </a:r>
                      <a:r>
                        <a:rPr kumimoji="1" lang="en-US" altLang="zh-CN" sz="1800" b="1" i="0" u="none" strike="noStrike" cap="none" normalizeH="0" baseline="0">
                          <a:ln>
                            <a:noFill/>
                          </a:ln>
                          <a:solidFill>
                            <a:srgbClr val="006600"/>
                          </a:solidFill>
                          <a:effectLst/>
                          <a:latin typeface="宋体" panose="02010600030101010101" pitchFamily="2" charset="-122"/>
                          <a:ea typeface="宋体" panose="02010600030101010101" pitchFamily="2" charset="-122"/>
                        </a:rPr>
                        <a:t>0</a:t>
                      </a:r>
                      <a:r>
                        <a:rPr kumimoji="1" lang="zh-CN" altLang="en-US" sz="1800" b="1" i="0" u="none" strike="noStrike" cap="none" normalizeH="0" baseline="0">
                          <a:ln>
                            <a:noFill/>
                          </a:ln>
                          <a:solidFill>
                            <a:srgbClr val="006600"/>
                          </a:solidFill>
                          <a:effectLst/>
                          <a:latin typeface="宋体" panose="02010600030101010101" pitchFamily="2" charset="-122"/>
                          <a:ea typeface="宋体" panose="02010600030101010101" pitchFamily="2" charset="-122"/>
                        </a:rPr>
                        <a:t>数据控制寄存器</a:t>
                      </a:r>
                      <a:endParaRPr kumimoji="1"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保留</a:t>
                      </a:r>
                      <a:endParaRPr kumimoji="1"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24</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TIM</a:t>
                      </a:r>
                      <a:endParaRPr kumimoji="1"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9900CC"/>
                          </a:solidFill>
                          <a:effectLst/>
                          <a:latin typeface="宋体" panose="02010600030101010101" pitchFamily="2" charset="-122"/>
                          <a:ea typeface="宋体" panose="02010600030101010101" pitchFamily="2" charset="-122"/>
                        </a:rPr>
                        <a:t>定时寄存器</a:t>
                      </a:r>
                      <a:endParaRPr kumimoji="1"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PRD</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rgbClr val="9900CC"/>
                          </a:solidFill>
                          <a:effectLst/>
                          <a:latin typeface="宋体" panose="02010600030101010101" pitchFamily="2" charset="-122"/>
                          <a:ea typeface="宋体" panose="02010600030101010101" pitchFamily="2" charset="-122"/>
                        </a:rPr>
                        <a:t>定时周期寄存器</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26</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TCR</a:t>
                      </a:r>
                      <a:endParaRPr kumimoji="1"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9900CC"/>
                          </a:solidFill>
                          <a:effectLst/>
                          <a:latin typeface="宋体" panose="02010600030101010101" pitchFamily="2" charset="-122"/>
                          <a:ea typeface="宋体" panose="02010600030101010101" pitchFamily="2" charset="-122"/>
                        </a:rPr>
                        <a:t>定时控制寄存器</a:t>
                      </a:r>
                      <a:endParaRPr kumimoji="1"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27</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保留</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SWWSR</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2"/>
                          </a:solidFill>
                          <a:effectLst/>
                          <a:latin typeface="宋体" panose="02010600030101010101" pitchFamily="2" charset="-122"/>
                          <a:ea typeface="宋体" panose="02010600030101010101" pitchFamily="2" charset="-122"/>
                        </a:rPr>
                        <a:t>软件等待状态寄存器</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29</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BSCR</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A50021"/>
                          </a:solidFill>
                          <a:effectLst/>
                          <a:latin typeface="宋体" panose="02010600030101010101" pitchFamily="2" charset="-122"/>
                          <a:ea typeface="宋体" panose="02010600030101010101" pitchFamily="2" charset="-122"/>
                        </a:rPr>
                        <a:t>块切换控制寄存器</a:t>
                      </a:r>
                      <a:endParaRPr kumimoji="1"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2A</a:t>
                      </a: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2F</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1"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保留</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30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DRR1</a:t>
                      </a:r>
                      <a:endParaRPr kumimoji="1"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FF00FF"/>
                          </a:solidFill>
                          <a:effectLst/>
                          <a:latin typeface="宋体" panose="02010600030101010101" pitchFamily="2" charset="-122"/>
                          <a:ea typeface="宋体" panose="02010600030101010101" pitchFamily="2" charset="-122"/>
                        </a:rPr>
                        <a:t>串行端口</a:t>
                      </a:r>
                      <a:r>
                        <a:rPr kumimoji="1" lang="en-US" altLang="zh-CN" sz="1800" b="1" i="0" u="none" strike="noStrike" cap="none" normalizeH="0" baseline="0">
                          <a:ln>
                            <a:noFill/>
                          </a:ln>
                          <a:solidFill>
                            <a:srgbClr val="FF00FF"/>
                          </a:solidFill>
                          <a:effectLst/>
                          <a:latin typeface="宋体" panose="02010600030101010101" pitchFamily="2" charset="-122"/>
                          <a:ea typeface="宋体" panose="02010600030101010101" pitchFamily="2" charset="-122"/>
                        </a:rPr>
                        <a:t>1</a:t>
                      </a:r>
                      <a:r>
                        <a:rPr kumimoji="1" lang="zh-CN" altLang="en-US" sz="1800" b="1" i="0" u="none" strike="noStrike" cap="none" normalizeH="0" baseline="0">
                          <a:ln>
                            <a:noFill/>
                          </a:ln>
                          <a:solidFill>
                            <a:srgbClr val="FF00FF"/>
                          </a:solidFill>
                          <a:effectLst/>
                          <a:latin typeface="宋体" panose="02010600030101010101" pitchFamily="2" charset="-122"/>
                          <a:ea typeface="宋体" panose="02010600030101010101" pitchFamily="2" charset="-122"/>
                        </a:rPr>
                        <a:t>数据接收寄存器</a:t>
                      </a:r>
                      <a:endParaRPr kumimoji="1"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31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DXR1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FF00FF"/>
                          </a:solidFill>
                          <a:effectLst/>
                          <a:latin typeface="宋体" panose="02010600030101010101" pitchFamily="2" charset="-122"/>
                          <a:ea typeface="宋体" panose="02010600030101010101" pitchFamily="2" charset="-122"/>
                        </a:rPr>
                        <a:t>串行端口</a:t>
                      </a:r>
                      <a:r>
                        <a:rPr kumimoji="1" lang="en-US" altLang="zh-CN" sz="1800" b="1" i="0" u="none" strike="noStrike" cap="none" normalizeH="0" baseline="0">
                          <a:ln>
                            <a:noFill/>
                          </a:ln>
                          <a:solidFill>
                            <a:srgbClr val="FF00FF"/>
                          </a:solidFill>
                          <a:effectLst/>
                          <a:latin typeface="宋体" panose="02010600030101010101" pitchFamily="2" charset="-122"/>
                          <a:ea typeface="宋体" panose="02010600030101010101" pitchFamily="2" charset="-122"/>
                        </a:rPr>
                        <a:t>1</a:t>
                      </a:r>
                      <a:r>
                        <a:rPr kumimoji="1" lang="zh-CN" altLang="en-US" sz="1800" b="1" i="0" u="none" strike="noStrike" cap="none" normalizeH="0" baseline="0">
                          <a:ln>
                            <a:noFill/>
                          </a:ln>
                          <a:solidFill>
                            <a:srgbClr val="FF00FF"/>
                          </a:solidFill>
                          <a:effectLst/>
                          <a:latin typeface="宋体" panose="02010600030101010101" pitchFamily="2" charset="-122"/>
                          <a:ea typeface="宋体" panose="02010600030101010101" pitchFamily="2" charset="-122"/>
                        </a:rPr>
                        <a:t>数据发送寄存器</a:t>
                      </a:r>
                      <a:endParaRPr kumimoji="1"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19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32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SPC1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FF00FF"/>
                          </a:solidFill>
                          <a:effectLst/>
                          <a:latin typeface="宋体" panose="02010600030101010101" pitchFamily="2" charset="-122"/>
                          <a:ea typeface="宋体" panose="02010600030101010101" pitchFamily="2" charset="-122"/>
                        </a:rPr>
                        <a:t>串行端口</a:t>
                      </a:r>
                      <a:r>
                        <a:rPr kumimoji="1" lang="en-US" altLang="zh-CN" sz="1800" b="1" i="0" u="none" strike="noStrike" cap="none" normalizeH="0" baseline="0">
                          <a:ln>
                            <a:noFill/>
                          </a:ln>
                          <a:solidFill>
                            <a:srgbClr val="FF00FF"/>
                          </a:solidFill>
                          <a:effectLst/>
                          <a:latin typeface="宋体" panose="02010600030101010101" pitchFamily="2" charset="-122"/>
                          <a:ea typeface="宋体" panose="02010600030101010101" pitchFamily="2" charset="-122"/>
                        </a:rPr>
                        <a:t>1</a:t>
                      </a:r>
                      <a:r>
                        <a:rPr kumimoji="1" lang="zh-CN" altLang="en-US" sz="1800" b="1" i="0" u="none" strike="noStrike" cap="none" normalizeH="0" baseline="0">
                          <a:ln>
                            <a:noFill/>
                          </a:ln>
                          <a:solidFill>
                            <a:srgbClr val="FF00FF"/>
                          </a:solidFill>
                          <a:effectLst/>
                          <a:latin typeface="宋体" panose="02010600030101010101" pitchFamily="2" charset="-122"/>
                          <a:ea typeface="宋体" panose="02010600030101010101" pitchFamily="2" charset="-122"/>
                        </a:rPr>
                        <a:t>数据控制寄存器</a:t>
                      </a:r>
                      <a:endParaRPr kumimoji="1"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857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33 </a:t>
                      </a: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5F</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1"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保留</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81994" name="Text Box 341"/>
          <p:cNvSpPr txBox="1">
            <a:spLocks noChangeArrowheads="1"/>
          </p:cNvSpPr>
          <p:nvPr/>
        </p:nvSpPr>
        <p:spPr bwMode="auto">
          <a:xfrm>
            <a:off x="8459788" y="1052513"/>
            <a:ext cx="533400" cy="5653087"/>
          </a:xfrm>
          <a:prstGeom prst="rect">
            <a:avLst/>
          </a:prstGeom>
          <a:solidFill>
            <a:srgbClr val="9900CC"/>
          </a:solidFill>
          <a:ln w="9525">
            <a:solidFill>
              <a:srgbClr val="FF0066"/>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a:solidFill>
                  <a:srgbClr val="FFFF99"/>
                </a:solidFill>
              </a:rPr>
              <a:t>不同款式芯片配置会有所不同</a:t>
            </a:r>
          </a:p>
        </p:txBody>
      </p:sp>
    </p:spTree>
  </p:cSld>
  <p:clrMapOvr>
    <a:masterClrMapping/>
  </p:clrMapOvr>
  <p:transition spd="med">
    <p:pull dir="l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1406404-5657-4CF4-83EF-A6CF9E53C799}" type="slidenum">
              <a:rPr lang="en-US" altLang="zh-CN" sz="1400" b="0"/>
              <a:pPr eaLnBrk="1" hangingPunct="1"/>
              <a:t>69</a:t>
            </a:fld>
            <a:endParaRPr lang="en-US" altLang="zh-CN" sz="1400" b="0"/>
          </a:p>
        </p:txBody>
      </p:sp>
      <p:sp>
        <p:nvSpPr>
          <p:cNvPr id="579586" name="Rectangle 2"/>
          <p:cNvSpPr>
            <a:spLocks noChangeArrowheads="1"/>
          </p:cNvSpPr>
          <p:nvPr/>
        </p:nvSpPr>
        <p:spPr bwMode="auto">
          <a:xfrm>
            <a:off x="1371600" y="1143000"/>
            <a:ext cx="6324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4400">
                <a:solidFill>
                  <a:srgbClr val="FF0000"/>
                </a:solidFill>
                <a:latin typeface="宋体" panose="02010600030101010101" pitchFamily="2" charset="-122"/>
              </a:rPr>
              <a:t>第五节  在片外围电路</a:t>
            </a:r>
          </a:p>
        </p:txBody>
      </p:sp>
      <p:sp>
        <p:nvSpPr>
          <p:cNvPr id="579587" name="Rectangle 3"/>
          <p:cNvSpPr>
            <a:spLocks noChangeArrowheads="1"/>
          </p:cNvSpPr>
          <p:nvPr/>
        </p:nvSpPr>
        <p:spPr bwMode="auto">
          <a:xfrm>
            <a:off x="3352800" y="2438400"/>
            <a:ext cx="5486400" cy="3560763"/>
          </a:xfrm>
          <a:prstGeom prst="rect">
            <a:avLst/>
          </a:prstGeom>
          <a:noFill/>
          <a:ln w="57150">
            <a:solidFill>
              <a:srgbClr val="99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latin typeface="宋体" panose="02010600030101010101" pitchFamily="2" charset="-122"/>
              </a:rPr>
              <a:t>通用</a:t>
            </a:r>
            <a:r>
              <a:rPr lang="en-US" altLang="zh-CN" sz="3200">
                <a:latin typeface="宋体" panose="02010600030101010101" pitchFamily="2" charset="-122"/>
              </a:rPr>
              <a:t>I/O</a:t>
            </a:r>
            <a:r>
              <a:rPr lang="zh-CN" altLang="en-US" sz="3200">
                <a:latin typeface="宋体" panose="02010600030101010101" pitchFamily="2" charset="-122"/>
              </a:rPr>
              <a:t>引脚</a:t>
            </a:r>
          </a:p>
          <a:p>
            <a:pPr eaLnBrk="1" hangingPunct="1"/>
            <a:r>
              <a:rPr lang="zh-CN" altLang="en-US" sz="3200">
                <a:latin typeface="宋体" panose="02010600030101010101" pitchFamily="2" charset="-122"/>
              </a:rPr>
              <a:t>定时器</a:t>
            </a:r>
          </a:p>
          <a:p>
            <a:pPr eaLnBrk="1" hangingPunct="1"/>
            <a:r>
              <a:rPr lang="zh-CN" altLang="en-US" sz="3200">
                <a:latin typeface="宋体" panose="02010600030101010101" pitchFamily="2" charset="-122"/>
              </a:rPr>
              <a:t>时钟发生器</a:t>
            </a:r>
          </a:p>
          <a:p>
            <a:pPr eaLnBrk="1" hangingPunct="1"/>
            <a:r>
              <a:rPr lang="zh-CN" altLang="en-US" sz="3200">
                <a:latin typeface="宋体" panose="02010600030101010101" pitchFamily="2" charset="-122"/>
              </a:rPr>
              <a:t>主机接口</a:t>
            </a:r>
          </a:p>
          <a:p>
            <a:pPr eaLnBrk="1" hangingPunct="1"/>
            <a:r>
              <a:rPr lang="zh-CN" altLang="en-US" sz="3200">
                <a:latin typeface="宋体" panose="02010600030101010101" pitchFamily="2" charset="-122"/>
              </a:rPr>
              <a:t>软件可编程等待状态发生器</a:t>
            </a:r>
          </a:p>
          <a:p>
            <a:pPr eaLnBrk="1" hangingPunct="1"/>
            <a:r>
              <a:rPr lang="zh-CN" altLang="en-US" sz="3200">
                <a:latin typeface="宋体" panose="02010600030101010101" pitchFamily="2" charset="-122"/>
              </a:rPr>
              <a:t>可编程分区开关</a:t>
            </a:r>
          </a:p>
          <a:p>
            <a:pPr eaLnBrk="1" hangingPunct="1"/>
            <a:r>
              <a:rPr lang="zh-CN" altLang="en-US" sz="3200">
                <a:latin typeface="宋体" panose="02010600030101010101" pitchFamily="2" charset="-122"/>
              </a:rPr>
              <a:t>串行口</a:t>
            </a:r>
          </a:p>
        </p:txBody>
      </p:sp>
      <p:sp>
        <p:nvSpPr>
          <p:cNvPr id="579588" name="Rectangle 4" descr="小棋盘"/>
          <p:cNvSpPr>
            <a:spLocks noChangeArrowheads="1"/>
          </p:cNvSpPr>
          <p:nvPr/>
        </p:nvSpPr>
        <p:spPr bwMode="auto">
          <a:xfrm>
            <a:off x="228600" y="3124200"/>
            <a:ext cx="2438400" cy="2773363"/>
          </a:xfrm>
          <a:prstGeom prst="rect">
            <a:avLst/>
          </a:prstGeom>
          <a:pattFill prst="smCheck">
            <a:fgClr>
              <a:srgbClr val="FFFF00"/>
            </a:fgClr>
            <a:bgClr>
              <a:srgbClr val="FFFFFF"/>
            </a:bgClr>
          </a:pattFill>
          <a:ln w="57150">
            <a:solidFill>
              <a:srgbClr val="339933"/>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solidFill>
                  <a:srgbClr val="FF0000"/>
                </a:solidFill>
              </a:rPr>
              <a:t>C54x</a:t>
            </a:r>
            <a:r>
              <a:rPr lang="zh-CN" altLang="en-US" sz="2800">
                <a:solidFill>
                  <a:srgbClr val="FF0000"/>
                </a:solidFill>
              </a:rPr>
              <a:t>的</a:t>
            </a:r>
            <a:r>
              <a:rPr lang="en-US" altLang="zh-CN" sz="2800">
                <a:solidFill>
                  <a:srgbClr val="FF0000"/>
                </a:solidFill>
              </a:rPr>
              <a:t>x</a:t>
            </a:r>
            <a:r>
              <a:rPr lang="zh-CN" altLang="en-US" sz="2800">
                <a:solidFill>
                  <a:srgbClr val="FF0000"/>
                </a:solidFill>
              </a:rPr>
              <a:t>反映</a:t>
            </a:r>
            <a:r>
              <a:rPr lang="zh-CN" altLang="en-US" sz="3600">
                <a:solidFill>
                  <a:schemeClr val="tx2"/>
                </a:solidFill>
                <a:latin typeface="宋体" panose="02010600030101010101" pitchFamily="2" charset="-122"/>
              </a:rPr>
              <a:t>不同</a:t>
            </a:r>
          </a:p>
          <a:p>
            <a:pPr algn="ctr" eaLnBrk="1" hangingPunct="1"/>
            <a:r>
              <a:rPr lang="zh-CN" altLang="en-US" sz="3600">
                <a:solidFill>
                  <a:schemeClr val="tx2"/>
                </a:solidFill>
                <a:latin typeface="宋体" panose="02010600030101010101" pitchFamily="2" charset="-122"/>
              </a:rPr>
              <a:t>子系列</a:t>
            </a:r>
          </a:p>
          <a:p>
            <a:pPr algn="ctr" eaLnBrk="1" hangingPunct="1"/>
            <a:r>
              <a:rPr lang="zh-CN" altLang="en-US" sz="3600">
                <a:solidFill>
                  <a:schemeClr val="tx2"/>
                </a:solidFill>
                <a:latin typeface="宋体" panose="02010600030101010101" pitchFamily="2" charset="-122"/>
              </a:rPr>
              <a:t>器件</a:t>
            </a:r>
          </a:p>
          <a:p>
            <a:pPr algn="ctr" eaLnBrk="1" hangingPunct="1"/>
            <a:r>
              <a:rPr lang="zh-CN" altLang="en-US" sz="3600">
                <a:solidFill>
                  <a:schemeClr val="tx2"/>
                </a:solidFill>
                <a:latin typeface="宋体" panose="02010600030101010101" pitchFamily="2" charset="-122"/>
              </a:rPr>
              <a:t>差别</a:t>
            </a:r>
          </a:p>
        </p:txBody>
      </p:sp>
      <p:sp>
        <p:nvSpPr>
          <p:cNvPr id="579589" name="AutoShape 5"/>
          <p:cNvSpPr>
            <a:spLocks noChangeArrowheads="1"/>
          </p:cNvSpPr>
          <p:nvPr/>
        </p:nvSpPr>
        <p:spPr bwMode="auto">
          <a:xfrm>
            <a:off x="2667000" y="4038600"/>
            <a:ext cx="609600" cy="609600"/>
          </a:xfrm>
          <a:prstGeom prst="notchedRightArrow">
            <a:avLst>
              <a:gd name="adj1" fmla="val 50000"/>
              <a:gd name="adj2" fmla="val 25000"/>
            </a:avLst>
          </a:prstGeom>
          <a:solidFill>
            <a:schemeClr val="tx2"/>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 name="Group 6"/>
          <p:cNvGrpSpPr>
            <a:grpSpLocks/>
          </p:cNvGrpSpPr>
          <p:nvPr/>
        </p:nvGrpSpPr>
        <p:grpSpPr bwMode="auto">
          <a:xfrm>
            <a:off x="6477000" y="2895600"/>
            <a:ext cx="2209800" cy="1295400"/>
            <a:chOff x="4080" y="1824"/>
            <a:chExt cx="1392" cy="816"/>
          </a:xfrm>
        </p:grpSpPr>
        <p:sp>
          <p:nvSpPr>
            <p:cNvPr id="82952" name="AutoShape 7" descr="小棋盘"/>
            <p:cNvSpPr>
              <a:spLocks noChangeArrowheads="1"/>
            </p:cNvSpPr>
            <p:nvPr/>
          </p:nvSpPr>
          <p:spPr bwMode="auto">
            <a:xfrm>
              <a:off x="4080" y="1824"/>
              <a:ext cx="1392" cy="816"/>
            </a:xfrm>
            <a:prstGeom prst="wedgeRoundRectCallout">
              <a:avLst>
                <a:gd name="adj1" fmla="val -67458"/>
                <a:gd name="adj2" fmla="val -48407"/>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FF00FF"/>
                  </a:solidFill>
                </a:rPr>
                <a:t>有</a:t>
              </a:r>
              <a:r>
                <a:rPr lang="en-US" altLang="zh-CN" sz="2400">
                  <a:solidFill>
                    <a:srgbClr val="FF00FF"/>
                  </a:solidFill>
                </a:rPr>
                <a:t>2</a:t>
              </a:r>
              <a:r>
                <a:rPr lang="zh-CN" altLang="en-US" sz="2400">
                  <a:solidFill>
                    <a:srgbClr val="FF00FF"/>
                  </a:solidFill>
                </a:rPr>
                <a:t>个受软件控制的专用引脚</a:t>
              </a:r>
              <a:r>
                <a:rPr lang="en-US" altLang="zh-CN" sz="2400">
                  <a:solidFill>
                    <a:srgbClr val="FF00FF"/>
                  </a:solidFill>
                </a:rPr>
                <a:t>XF</a:t>
              </a:r>
              <a:r>
                <a:rPr lang="zh-CN" altLang="en-US" sz="2400">
                  <a:solidFill>
                    <a:srgbClr val="FF00FF"/>
                  </a:solidFill>
                </a:rPr>
                <a:t>和</a:t>
              </a:r>
              <a:r>
                <a:rPr lang="en-US" altLang="zh-CN" sz="2400">
                  <a:solidFill>
                    <a:srgbClr val="FF00FF"/>
                  </a:solidFill>
                </a:rPr>
                <a:t>BIO</a:t>
              </a:r>
            </a:p>
          </p:txBody>
        </p:sp>
        <p:sp>
          <p:nvSpPr>
            <p:cNvPr id="82953" name="Line 8"/>
            <p:cNvSpPr>
              <a:spLocks noChangeShapeType="1"/>
            </p:cNvSpPr>
            <p:nvPr/>
          </p:nvSpPr>
          <p:spPr bwMode="auto">
            <a:xfrm>
              <a:off x="4848" y="2352"/>
              <a:ext cx="336"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79586"/>
                                        </p:tgtEl>
                                        <p:attrNameLst>
                                          <p:attrName>style.visibility</p:attrName>
                                        </p:attrNameLst>
                                      </p:cBhvr>
                                      <p:to>
                                        <p:strVal val="visible"/>
                                      </p:to>
                                    </p:set>
                                    <p:animEffect transition="in" filter="dissolve">
                                      <p:cBhvr>
                                        <p:cTn id="7" dur="500"/>
                                        <p:tgtEl>
                                          <p:spTgt spid="579586"/>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579588"/>
                                        </p:tgtEl>
                                        <p:attrNameLst>
                                          <p:attrName>style.visibility</p:attrName>
                                        </p:attrNameLst>
                                      </p:cBhvr>
                                      <p:to>
                                        <p:strVal val="visible"/>
                                      </p:to>
                                    </p:set>
                                    <p:anim calcmode="lin" valueType="num">
                                      <p:cBhvr additive="base">
                                        <p:cTn id="11" dur="500" fill="hold"/>
                                        <p:tgtEl>
                                          <p:spTgt spid="579588"/>
                                        </p:tgtEl>
                                        <p:attrNameLst>
                                          <p:attrName>ppt_x</p:attrName>
                                        </p:attrNameLst>
                                      </p:cBhvr>
                                      <p:tavLst>
                                        <p:tav tm="0">
                                          <p:val>
                                            <p:strVal val="0-#ppt_w/2"/>
                                          </p:val>
                                        </p:tav>
                                        <p:tav tm="100000">
                                          <p:val>
                                            <p:strVal val="#ppt_x"/>
                                          </p:val>
                                        </p:tav>
                                      </p:tavLst>
                                    </p:anim>
                                    <p:anim calcmode="lin" valueType="num">
                                      <p:cBhvr additive="base">
                                        <p:cTn id="12" dur="500" fill="hold"/>
                                        <p:tgtEl>
                                          <p:spTgt spid="579588"/>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579589"/>
                                        </p:tgtEl>
                                        <p:attrNameLst>
                                          <p:attrName>style.visibility</p:attrName>
                                        </p:attrNameLst>
                                      </p:cBhvr>
                                      <p:to>
                                        <p:strVal val="visible"/>
                                      </p:to>
                                    </p:set>
                                    <p:animEffect transition="in" filter="slide(fromLeft)">
                                      <p:cBhvr>
                                        <p:cTn id="16" dur="500"/>
                                        <p:tgtEl>
                                          <p:spTgt spid="579589"/>
                                        </p:tgtEl>
                                      </p:cBhvr>
                                    </p:animEffect>
                                  </p:childTnLst>
                                </p:cTn>
                              </p:par>
                            </p:childTnLst>
                          </p:cTn>
                        </p:par>
                        <p:par>
                          <p:cTn id="17" fill="hold" nodeType="afterGroup">
                            <p:stCondLst>
                              <p:cond delay="1500"/>
                            </p:stCondLst>
                            <p:childTnLst>
                              <p:par>
                                <p:cTn id="18" presetID="16" presetClass="entr" presetSubtype="37" fill="hold" grpId="0" nodeType="afterEffect">
                                  <p:stCondLst>
                                    <p:cond delay="0"/>
                                  </p:stCondLst>
                                  <p:childTnLst>
                                    <p:set>
                                      <p:cBhvr>
                                        <p:cTn id="19" dur="1" fill="hold">
                                          <p:stCondLst>
                                            <p:cond delay="0"/>
                                          </p:stCondLst>
                                        </p:cTn>
                                        <p:tgtEl>
                                          <p:spTgt spid="579587"/>
                                        </p:tgtEl>
                                        <p:attrNameLst>
                                          <p:attrName>style.visibility</p:attrName>
                                        </p:attrNameLst>
                                      </p:cBhvr>
                                      <p:to>
                                        <p:strVal val="visible"/>
                                      </p:to>
                                    </p:set>
                                    <p:animEffect transition="in" filter="barn(outVertical)">
                                      <p:cBhvr>
                                        <p:cTn id="20" dur="500"/>
                                        <p:tgtEl>
                                          <p:spTgt spid="57958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1+#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6" grpId="0" autoUpdateAnimBg="0"/>
      <p:bldP spid="579587" grpId="0" animBg="1" autoUpdateAnimBg="0"/>
      <p:bldP spid="579588" grpId="0" animBg="1" autoUpdateAnimBg="0"/>
      <p:bldP spid="57958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1A93910-909E-42E8-B6A1-F0A4D6677726}" type="slidenum">
              <a:rPr lang="en-US" altLang="zh-CN" sz="1400" b="0"/>
              <a:pPr eaLnBrk="1" hangingPunct="1"/>
              <a:t>70</a:t>
            </a:fld>
            <a:endParaRPr lang="en-US" altLang="zh-CN" sz="1400" b="0"/>
          </a:p>
        </p:txBody>
      </p:sp>
      <p:sp>
        <p:nvSpPr>
          <p:cNvPr id="580610" name="Rectangle 2"/>
          <p:cNvSpPr>
            <a:spLocks noChangeArrowheads="1"/>
          </p:cNvSpPr>
          <p:nvPr/>
        </p:nvSpPr>
        <p:spPr bwMode="auto">
          <a:xfrm>
            <a:off x="2590800" y="1219200"/>
            <a:ext cx="40957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4000">
                <a:solidFill>
                  <a:srgbClr val="FF0066"/>
                </a:solidFill>
                <a:latin typeface="宋体" panose="02010600030101010101" pitchFamily="2" charset="-122"/>
              </a:rPr>
              <a:t>一、通用</a:t>
            </a:r>
            <a:r>
              <a:rPr lang="en-US" altLang="zh-CN" sz="4000">
                <a:solidFill>
                  <a:srgbClr val="FF0066"/>
                </a:solidFill>
                <a:latin typeface="宋体" panose="02010600030101010101" pitchFamily="2" charset="-122"/>
              </a:rPr>
              <a:t>I/O</a:t>
            </a:r>
            <a:r>
              <a:rPr lang="zh-CN" altLang="en-US" sz="4000">
                <a:solidFill>
                  <a:srgbClr val="FF0066"/>
                </a:solidFill>
                <a:latin typeface="宋体" panose="02010600030101010101" pitchFamily="2" charset="-122"/>
              </a:rPr>
              <a:t>引脚</a:t>
            </a:r>
            <a:r>
              <a:rPr lang="zh-CN" altLang="en-US" sz="3200"/>
              <a:t> </a:t>
            </a:r>
          </a:p>
        </p:txBody>
      </p:sp>
      <p:sp>
        <p:nvSpPr>
          <p:cNvPr id="580611" name="Rectangle 3" descr="小棋盘"/>
          <p:cNvSpPr>
            <a:spLocks noChangeArrowheads="1"/>
          </p:cNvSpPr>
          <p:nvPr/>
        </p:nvSpPr>
        <p:spPr bwMode="auto">
          <a:xfrm>
            <a:off x="838200" y="1828800"/>
            <a:ext cx="1143000" cy="588963"/>
          </a:xfrm>
          <a:prstGeom prst="rect">
            <a:avLst/>
          </a:prstGeom>
          <a:pattFill prst="smCheck">
            <a:fgClr>
              <a:srgbClr val="FFFF00"/>
            </a:fgClr>
            <a:bgClr>
              <a:srgbClr val="FFFFFF"/>
            </a:bgClr>
          </a:patt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chemeClr val="tx2"/>
                </a:solidFill>
                <a:latin typeface="宋体" panose="02010600030101010101" pitchFamily="2" charset="-122"/>
              </a:rPr>
              <a:t>特点</a:t>
            </a:r>
          </a:p>
        </p:txBody>
      </p:sp>
      <p:grpSp>
        <p:nvGrpSpPr>
          <p:cNvPr id="2054" name="Group 19"/>
          <p:cNvGrpSpPr>
            <a:grpSpLocks/>
          </p:cNvGrpSpPr>
          <p:nvPr/>
        </p:nvGrpSpPr>
        <p:grpSpPr bwMode="auto">
          <a:xfrm>
            <a:off x="827088" y="3740150"/>
            <a:ext cx="5562600" cy="590550"/>
            <a:chOff x="521" y="2356"/>
            <a:chExt cx="3504" cy="372"/>
          </a:xfrm>
        </p:grpSpPr>
        <p:graphicFrame>
          <p:nvGraphicFramePr>
            <p:cNvPr id="2050" name="Object 5"/>
            <p:cNvGraphicFramePr>
              <a:graphicFrameLocks noChangeAspect="1"/>
            </p:cNvGraphicFramePr>
            <p:nvPr/>
          </p:nvGraphicFramePr>
          <p:xfrm>
            <a:off x="521" y="2387"/>
            <a:ext cx="471" cy="341"/>
          </p:xfrm>
          <a:graphic>
            <a:graphicData uri="http://schemas.openxmlformats.org/presentationml/2006/ole">
              <mc:AlternateContent xmlns:mc="http://schemas.openxmlformats.org/markup-compatibility/2006">
                <mc:Choice xmlns:v="urn:schemas-microsoft-com:vml" Requires="v">
                  <p:oleObj spid="_x0000_s2091" name="公式" r:id="rId3" imgW="279279" imgH="203112" progId="">
                    <p:embed/>
                  </p:oleObj>
                </mc:Choice>
                <mc:Fallback>
                  <p:oleObj name="公式" r:id="rId3" imgW="279279" imgH="203112" progId="">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 y="2387"/>
                          <a:ext cx="471" cy="3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67" name="Rectangle 6"/>
            <p:cNvSpPr>
              <a:spLocks noChangeArrowheads="1"/>
            </p:cNvSpPr>
            <p:nvPr/>
          </p:nvSpPr>
          <p:spPr bwMode="auto">
            <a:xfrm>
              <a:off x="1193" y="2356"/>
              <a:ext cx="28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003300"/>
                  </a:solidFill>
                  <a:latin typeface="宋体" panose="02010600030101010101" pitchFamily="2" charset="-122"/>
                </a:rPr>
                <a:t>收信号     </a:t>
              </a:r>
              <a:r>
                <a:rPr lang="en-US" altLang="zh-CN" sz="3200">
                  <a:solidFill>
                    <a:srgbClr val="003300"/>
                  </a:solidFill>
                  <a:latin typeface="宋体" panose="02010600030101010101" pitchFamily="2" charset="-122"/>
                  <a:cs typeface="Arial" panose="020B0604020202020204" pitchFamily="34" charset="0"/>
                </a:rPr>
                <a:t>XC  2</a:t>
              </a:r>
              <a:r>
                <a:rPr lang="zh-CN" altLang="en-US" sz="3200">
                  <a:solidFill>
                    <a:srgbClr val="003300"/>
                  </a:solidFill>
                  <a:latin typeface="宋体" panose="02010600030101010101" pitchFamily="2" charset="-122"/>
                  <a:cs typeface="Arial" panose="020B0604020202020204" pitchFamily="34" charset="0"/>
                </a:rPr>
                <a:t>，</a:t>
              </a:r>
              <a:r>
                <a:rPr lang="en-US" altLang="zh-CN" sz="3200">
                  <a:solidFill>
                    <a:srgbClr val="003300"/>
                  </a:solidFill>
                  <a:latin typeface="宋体" panose="02010600030101010101" pitchFamily="2" charset="-122"/>
                  <a:cs typeface="Arial" panose="020B0604020202020204" pitchFamily="34" charset="0"/>
                </a:rPr>
                <a:t>BIO</a:t>
              </a:r>
              <a:r>
                <a:rPr lang="en-US" altLang="zh-CN" sz="3200">
                  <a:latin typeface="宋体" panose="02010600030101010101" pitchFamily="2" charset="-122"/>
                </a:rPr>
                <a:t> </a:t>
              </a:r>
            </a:p>
          </p:txBody>
        </p:sp>
      </p:grpSp>
      <p:grpSp>
        <p:nvGrpSpPr>
          <p:cNvPr id="3" name="Group 7"/>
          <p:cNvGrpSpPr>
            <a:grpSpLocks/>
          </p:cNvGrpSpPr>
          <p:nvPr/>
        </p:nvGrpSpPr>
        <p:grpSpPr bwMode="auto">
          <a:xfrm>
            <a:off x="838200" y="2362200"/>
            <a:ext cx="5380038" cy="1143000"/>
            <a:chOff x="528" y="1488"/>
            <a:chExt cx="3389" cy="720"/>
          </a:xfrm>
        </p:grpSpPr>
        <p:sp>
          <p:nvSpPr>
            <p:cNvPr id="2063" name="Rectangle 8"/>
            <p:cNvSpPr>
              <a:spLocks noChangeArrowheads="1"/>
            </p:cNvSpPr>
            <p:nvPr/>
          </p:nvSpPr>
          <p:spPr bwMode="auto">
            <a:xfrm>
              <a:off x="2640" y="1536"/>
              <a:ext cx="1277"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latin typeface="宋体" panose="02010600030101010101" pitchFamily="2" charset="-122"/>
                  <a:cs typeface="Arial" panose="020B0604020202020204" pitchFamily="34" charset="0"/>
                </a:rPr>
                <a:t>SSBX  XF</a:t>
              </a:r>
              <a:r>
                <a:rPr lang="en-US" altLang="zh-CN" sz="3200">
                  <a:latin typeface="宋体" panose="02010600030101010101" pitchFamily="2" charset="-122"/>
                </a:rPr>
                <a:t> </a:t>
              </a:r>
            </a:p>
            <a:p>
              <a:pPr eaLnBrk="1" hangingPunct="1"/>
              <a:r>
                <a:rPr lang="en-US" altLang="zh-CN" sz="3200">
                  <a:latin typeface="宋体" panose="02010600030101010101" pitchFamily="2" charset="-122"/>
                  <a:cs typeface="Arial" panose="020B0604020202020204" pitchFamily="34" charset="0"/>
                </a:rPr>
                <a:t>RSBX  XF</a:t>
              </a:r>
            </a:p>
          </p:txBody>
        </p:sp>
        <p:sp>
          <p:nvSpPr>
            <p:cNvPr id="2064" name="Rectangle 9"/>
            <p:cNvSpPr>
              <a:spLocks noChangeArrowheads="1"/>
            </p:cNvSpPr>
            <p:nvPr/>
          </p:nvSpPr>
          <p:spPr bwMode="auto">
            <a:xfrm>
              <a:off x="528" y="1713"/>
              <a:ext cx="5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latin typeface="宋体" panose="02010600030101010101" pitchFamily="2" charset="-122"/>
                </a:rPr>
                <a:t>XF</a:t>
              </a:r>
            </a:p>
          </p:txBody>
        </p:sp>
        <p:sp>
          <p:nvSpPr>
            <p:cNvPr id="2065" name="Rectangle 10"/>
            <p:cNvSpPr>
              <a:spLocks noChangeArrowheads="1"/>
            </p:cNvSpPr>
            <p:nvPr/>
          </p:nvSpPr>
          <p:spPr bwMode="auto">
            <a:xfrm>
              <a:off x="1152" y="1713"/>
              <a:ext cx="8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latin typeface="宋体" panose="02010600030101010101" pitchFamily="2" charset="-122"/>
                </a:rPr>
                <a:t>发信号</a:t>
              </a:r>
            </a:p>
          </p:txBody>
        </p:sp>
        <p:sp>
          <p:nvSpPr>
            <p:cNvPr id="2066" name="AutoShape 11"/>
            <p:cNvSpPr>
              <a:spLocks/>
            </p:cNvSpPr>
            <p:nvPr/>
          </p:nvSpPr>
          <p:spPr bwMode="auto">
            <a:xfrm>
              <a:off x="2112" y="1488"/>
              <a:ext cx="288" cy="720"/>
            </a:xfrm>
            <a:prstGeom prst="leftBrace">
              <a:avLst>
                <a:gd name="adj1" fmla="val 20833"/>
                <a:gd name="adj2" fmla="val 50000"/>
              </a:avLst>
            </a:prstGeom>
            <a:noFill/>
            <a:ln w="1905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2056" name="Group 12"/>
          <p:cNvGrpSpPr>
            <a:grpSpLocks/>
          </p:cNvGrpSpPr>
          <p:nvPr/>
        </p:nvGrpSpPr>
        <p:grpSpPr bwMode="auto">
          <a:xfrm>
            <a:off x="7010400" y="1143000"/>
            <a:ext cx="1882775" cy="3657600"/>
            <a:chOff x="4416" y="720"/>
            <a:chExt cx="1186" cy="2304"/>
          </a:xfrm>
        </p:grpSpPr>
        <p:sp>
          <p:nvSpPr>
            <p:cNvPr id="2061" name="AutoShape 13" descr="小棋盘"/>
            <p:cNvSpPr>
              <a:spLocks noChangeArrowheads="1"/>
            </p:cNvSpPr>
            <p:nvPr/>
          </p:nvSpPr>
          <p:spPr bwMode="auto">
            <a:xfrm>
              <a:off x="4416" y="720"/>
              <a:ext cx="1186" cy="2304"/>
            </a:xfrm>
            <a:prstGeom prst="wedgeRoundRectCallout">
              <a:avLst>
                <a:gd name="adj1" fmla="val -80398"/>
                <a:gd name="adj2" fmla="val 27301"/>
                <a:gd name="adj3" fmla="val 16667"/>
              </a:avLst>
            </a:prstGeom>
            <a:pattFill prst="smCheck">
              <a:fgClr>
                <a:schemeClr val="accent1"/>
              </a:fgClr>
              <a:bgClr>
                <a:schemeClr val="bg1"/>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25000"/>
                </a:spcBef>
              </a:pPr>
              <a:r>
                <a:rPr lang="zh-CN" altLang="en-US" sz="2400">
                  <a:solidFill>
                    <a:srgbClr val="FF00FF"/>
                  </a:solidFill>
                </a:rPr>
                <a:t>如果</a:t>
              </a:r>
              <a:r>
                <a:rPr lang="en-US" altLang="zh-CN" sz="2400">
                  <a:solidFill>
                    <a:srgbClr val="FF00FF"/>
                  </a:solidFill>
                </a:rPr>
                <a:t>BIO    </a:t>
              </a:r>
              <a:r>
                <a:rPr lang="zh-CN" altLang="en-US" sz="2400">
                  <a:solidFill>
                    <a:srgbClr val="FF00FF"/>
                  </a:solidFill>
                </a:rPr>
                <a:t>引脚为低电平（条件满足），则执行后面的</a:t>
              </a:r>
              <a:r>
                <a:rPr lang="en-US" altLang="zh-CN" sz="2400">
                  <a:solidFill>
                    <a:srgbClr val="FF00FF"/>
                  </a:solidFill>
                </a:rPr>
                <a:t>1</a:t>
              </a:r>
              <a:r>
                <a:rPr lang="zh-CN" altLang="en-US" sz="2400">
                  <a:solidFill>
                    <a:srgbClr val="FF00FF"/>
                  </a:solidFill>
                </a:rPr>
                <a:t>条双字或</a:t>
              </a:r>
              <a:r>
                <a:rPr lang="en-US" altLang="zh-CN" sz="2400">
                  <a:solidFill>
                    <a:srgbClr val="FF00FF"/>
                  </a:solidFill>
                </a:rPr>
                <a:t>2</a:t>
              </a:r>
              <a:r>
                <a:rPr lang="zh-CN" altLang="en-US" sz="2400">
                  <a:solidFill>
                    <a:srgbClr val="FF00FF"/>
                  </a:solidFill>
                </a:rPr>
                <a:t>条单字指令；否则，执行</a:t>
              </a:r>
              <a:r>
                <a:rPr lang="en-US" altLang="zh-CN" sz="2400">
                  <a:solidFill>
                    <a:srgbClr val="FF00FF"/>
                  </a:solidFill>
                </a:rPr>
                <a:t>2</a:t>
              </a:r>
              <a:r>
                <a:rPr lang="zh-CN" altLang="en-US" sz="2400">
                  <a:solidFill>
                    <a:srgbClr val="FF00FF"/>
                  </a:solidFill>
                </a:rPr>
                <a:t>条</a:t>
              </a:r>
              <a:r>
                <a:rPr lang="en-US" altLang="zh-CN" sz="2400">
                  <a:solidFill>
                    <a:srgbClr val="FF00FF"/>
                  </a:solidFill>
                </a:rPr>
                <a:t>NOP</a:t>
              </a:r>
              <a:r>
                <a:rPr lang="zh-CN" altLang="en-US" sz="2400">
                  <a:solidFill>
                    <a:srgbClr val="FF00FF"/>
                  </a:solidFill>
                </a:rPr>
                <a:t>指令。</a:t>
              </a:r>
            </a:p>
          </p:txBody>
        </p:sp>
        <p:sp>
          <p:nvSpPr>
            <p:cNvPr id="2062" name="Line 14" descr="小棋盘"/>
            <p:cNvSpPr>
              <a:spLocks noChangeShapeType="1"/>
            </p:cNvSpPr>
            <p:nvPr/>
          </p:nvSpPr>
          <p:spPr bwMode="auto">
            <a:xfrm>
              <a:off x="4921" y="799"/>
              <a:ext cx="318"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057" name="Group 15"/>
          <p:cNvGrpSpPr>
            <a:grpSpLocks/>
          </p:cNvGrpSpPr>
          <p:nvPr/>
        </p:nvGrpSpPr>
        <p:grpSpPr bwMode="auto">
          <a:xfrm>
            <a:off x="250825" y="5013325"/>
            <a:ext cx="8686800" cy="1546225"/>
            <a:chOff x="158" y="3158"/>
            <a:chExt cx="5472" cy="974"/>
          </a:xfrm>
        </p:grpSpPr>
        <p:sp>
          <p:nvSpPr>
            <p:cNvPr id="2058" name="Rectangle 16"/>
            <p:cNvSpPr>
              <a:spLocks noChangeArrowheads="1"/>
            </p:cNvSpPr>
            <p:nvPr/>
          </p:nvSpPr>
          <p:spPr bwMode="auto">
            <a:xfrm>
              <a:off x="158" y="3158"/>
              <a:ext cx="5472" cy="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25000"/>
                </a:spcBef>
              </a:pPr>
              <a:r>
                <a:rPr lang="en-US" altLang="zh-CN" sz="2800">
                  <a:solidFill>
                    <a:schemeClr val="tx2"/>
                  </a:solidFill>
                </a:rPr>
                <a:t>BIO</a:t>
              </a:r>
              <a:r>
                <a:rPr lang="zh-CN" altLang="en-US" sz="2800">
                  <a:solidFill>
                    <a:schemeClr val="tx2"/>
                  </a:solidFill>
                </a:rPr>
                <a:t>为分支转移输入引脚，用来监控外围设备。在时间要求苛刻的循环中，不允许受干扰，此时可以根据 </a:t>
              </a:r>
              <a:r>
                <a:rPr lang="en-US" altLang="zh-CN" sz="2800">
                  <a:solidFill>
                    <a:schemeClr val="tx2"/>
                  </a:solidFill>
                </a:rPr>
                <a:t>BIO</a:t>
              </a:r>
              <a:r>
                <a:rPr lang="zh-CN" altLang="en-US" sz="2800">
                  <a:solidFill>
                    <a:schemeClr val="tx2"/>
                  </a:solidFill>
                </a:rPr>
                <a:t>引脚的状态（即外围设备的状态）决定分支转移的去向，以替代中断。</a:t>
              </a:r>
              <a:endParaRPr lang="zh-CN" altLang="en-US" sz="2800"/>
            </a:p>
          </p:txBody>
        </p:sp>
        <p:sp>
          <p:nvSpPr>
            <p:cNvPr id="2059" name="Line 17"/>
            <p:cNvSpPr>
              <a:spLocks noChangeShapeType="1"/>
            </p:cNvSpPr>
            <p:nvPr/>
          </p:nvSpPr>
          <p:spPr bwMode="auto">
            <a:xfrm>
              <a:off x="446" y="3158"/>
              <a:ext cx="432"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60" name="Line 18"/>
            <p:cNvSpPr>
              <a:spLocks noChangeShapeType="1"/>
            </p:cNvSpPr>
            <p:nvPr/>
          </p:nvSpPr>
          <p:spPr bwMode="auto">
            <a:xfrm>
              <a:off x="511" y="3655"/>
              <a:ext cx="432"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80610"/>
                                        </p:tgtEl>
                                        <p:attrNameLst>
                                          <p:attrName>style.visibility</p:attrName>
                                        </p:attrNameLst>
                                      </p:cBhvr>
                                      <p:to>
                                        <p:strVal val="visible"/>
                                      </p:to>
                                    </p:set>
                                    <p:animEffect transition="in" filter="slide(fromBottom)">
                                      <p:cBhvr>
                                        <p:cTn id="7" dur="500"/>
                                        <p:tgtEl>
                                          <p:spTgt spid="580610"/>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580611"/>
                                        </p:tgtEl>
                                        <p:attrNameLst>
                                          <p:attrName>style.visibility</p:attrName>
                                        </p:attrNameLst>
                                      </p:cBhvr>
                                      <p:to>
                                        <p:strVal val="visible"/>
                                      </p:to>
                                    </p:set>
                                    <p:animEffect transition="in" filter="slide(fromBottom)">
                                      <p:cBhvr>
                                        <p:cTn id="11" dur="500"/>
                                        <p:tgtEl>
                                          <p:spTgt spid="580611"/>
                                        </p:tgtEl>
                                      </p:cBhvr>
                                    </p:animEffect>
                                  </p:childTnLst>
                                </p:cTn>
                              </p:par>
                            </p:childTnLst>
                          </p:cTn>
                        </p:par>
                        <p:par>
                          <p:cTn id="12" fill="hold" nodeType="afterGroup">
                            <p:stCondLst>
                              <p:cond delay="1000"/>
                            </p:stCondLst>
                            <p:childTnLst>
                              <p:par>
                                <p:cTn id="13" presetID="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0-#ppt_w/2"/>
                                          </p:val>
                                        </p:tav>
                                        <p:tav tm="100000">
                                          <p:val>
                                            <p:strVal val="#ppt_x"/>
                                          </p:val>
                                        </p:tav>
                                      </p:tavLst>
                                    </p:anim>
                                    <p:anim calcmode="lin" valueType="num">
                                      <p:cBhvr additive="base">
                                        <p:cTn id="16"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0" grpId="0" autoUpdateAnimBg="0"/>
      <p:bldP spid="580611"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bwMode="auto">
          <a:xfrm>
            <a:off x="1981200" y="1066800"/>
            <a:ext cx="44958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66"/>
                </a:solidFill>
                <a:latin typeface="宋体" panose="02010600030101010101" pitchFamily="2" charset="-122"/>
              </a:rPr>
              <a:t>二、定时器</a:t>
            </a:r>
            <a:r>
              <a:rPr lang="zh-CN" altLang="en-US"/>
              <a:t> </a:t>
            </a:r>
          </a:p>
        </p:txBody>
      </p:sp>
      <p:sp>
        <p:nvSpPr>
          <p:cNvPr id="8397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A6CB9C7B-4E69-4FF9-826F-EC9902A0880B}" type="slidenum">
              <a:rPr lang="en-US" altLang="zh-CN" sz="1400" b="0"/>
              <a:pPr eaLnBrk="1" hangingPunct="1"/>
              <a:t>71</a:t>
            </a:fld>
            <a:endParaRPr lang="en-US" altLang="zh-CN" sz="1400" b="0"/>
          </a:p>
        </p:txBody>
      </p:sp>
      <p:sp>
        <p:nvSpPr>
          <p:cNvPr id="581635" name="Rectangle 3" descr="小棋盘"/>
          <p:cNvSpPr>
            <a:spLocks noChangeArrowheads="1"/>
          </p:cNvSpPr>
          <p:nvPr/>
        </p:nvSpPr>
        <p:spPr bwMode="auto">
          <a:xfrm>
            <a:off x="457200" y="3505200"/>
            <a:ext cx="1600200" cy="568325"/>
          </a:xfrm>
          <a:prstGeom prst="rect">
            <a:avLst/>
          </a:prstGeom>
          <a:pattFill prst="smCheck">
            <a:fgClr>
              <a:srgbClr val="FFFF00"/>
            </a:fgClr>
            <a:bgClr>
              <a:srgbClr val="FFFFFF"/>
            </a:bgClr>
          </a:pattFill>
          <a:ln w="38100">
            <a:solidFill>
              <a:schemeClr val="accent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zh-CN" altLang="en-US" sz="3200">
                <a:solidFill>
                  <a:srgbClr val="008000"/>
                </a:solidFill>
                <a:latin typeface="宋体" panose="02010600030101010101" pitchFamily="2" charset="-122"/>
              </a:rPr>
              <a:t>结构图</a:t>
            </a:r>
          </a:p>
        </p:txBody>
      </p:sp>
      <p:sp>
        <p:nvSpPr>
          <p:cNvPr id="581637" name="Rectangle 5" descr="小棋盘"/>
          <p:cNvSpPr>
            <a:spLocks noChangeArrowheads="1"/>
          </p:cNvSpPr>
          <p:nvPr/>
        </p:nvSpPr>
        <p:spPr bwMode="auto">
          <a:xfrm>
            <a:off x="323850" y="4868863"/>
            <a:ext cx="1981200" cy="617537"/>
          </a:xfrm>
          <a:prstGeom prst="rect">
            <a:avLst/>
          </a:prstGeom>
          <a:pattFill prst="smCheck">
            <a:fgClr>
              <a:srgbClr val="FFFF00"/>
            </a:fgClr>
            <a:bgClr>
              <a:srgbClr val="FFFFFF"/>
            </a:bgClr>
          </a:pattFill>
          <a:ln w="38100">
            <a:solidFill>
              <a:srgbClr val="008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chemeClr val="tx2"/>
                </a:solidFill>
                <a:latin typeface="宋体" panose="02010600030101010101" pitchFamily="2" charset="-122"/>
              </a:rPr>
              <a:t>工作过程</a:t>
            </a:r>
          </a:p>
        </p:txBody>
      </p:sp>
      <p:sp>
        <p:nvSpPr>
          <p:cNvPr id="581638" name="Rectangle 6" descr="小棋盘"/>
          <p:cNvSpPr>
            <a:spLocks noChangeArrowheads="1"/>
          </p:cNvSpPr>
          <p:nvPr/>
        </p:nvSpPr>
        <p:spPr bwMode="auto">
          <a:xfrm>
            <a:off x="685800" y="2209800"/>
            <a:ext cx="1222375" cy="617538"/>
          </a:xfrm>
          <a:prstGeom prst="rect">
            <a:avLst/>
          </a:prstGeom>
          <a:pattFill prst="smCheck">
            <a:fgClr>
              <a:srgbClr val="FFFF00"/>
            </a:fgClr>
            <a:bgClr>
              <a:srgbClr val="FFFFFF"/>
            </a:bgClr>
          </a:pattFill>
          <a:ln w="38100">
            <a:solidFill>
              <a:srgbClr val="FFCC66"/>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00"/>
                </a:solidFill>
                <a:latin typeface="宋体" panose="02010600030101010101" pitchFamily="2" charset="-122"/>
              </a:rPr>
              <a:t>功能</a:t>
            </a:r>
          </a:p>
        </p:txBody>
      </p:sp>
      <p:grpSp>
        <p:nvGrpSpPr>
          <p:cNvPr id="83975" name="Group 57"/>
          <p:cNvGrpSpPr>
            <a:grpSpLocks/>
          </p:cNvGrpSpPr>
          <p:nvPr/>
        </p:nvGrpSpPr>
        <p:grpSpPr bwMode="auto">
          <a:xfrm>
            <a:off x="2411413" y="2133600"/>
            <a:ext cx="6121400" cy="3760788"/>
            <a:chOff x="1746" y="2614"/>
            <a:chExt cx="3856" cy="2369"/>
          </a:xfrm>
        </p:grpSpPr>
        <p:sp>
          <p:nvSpPr>
            <p:cNvPr id="83976" name="Text Box 7"/>
            <p:cNvSpPr txBox="1">
              <a:spLocks noChangeArrowheads="1"/>
            </p:cNvSpPr>
            <p:nvPr/>
          </p:nvSpPr>
          <p:spPr bwMode="auto">
            <a:xfrm>
              <a:off x="1746" y="3249"/>
              <a:ext cx="771" cy="294"/>
            </a:xfrm>
            <a:prstGeom prst="rect">
              <a:avLst/>
            </a:prstGeom>
            <a:solidFill>
              <a:srgbClr val="FF00FF"/>
            </a:solidFill>
            <a:ln w="9525">
              <a:solidFill>
                <a:srgbClr val="00FF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PRD</a:t>
              </a:r>
            </a:p>
          </p:txBody>
        </p:sp>
        <p:sp>
          <p:nvSpPr>
            <p:cNvPr id="83977" name="Text Box 8"/>
            <p:cNvSpPr txBox="1">
              <a:spLocks noChangeArrowheads="1"/>
            </p:cNvSpPr>
            <p:nvPr/>
          </p:nvSpPr>
          <p:spPr bwMode="auto">
            <a:xfrm>
              <a:off x="1746" y="3702"/>
              <a:ext cx="771" cy="294"/>
            </a:xfrm>
            <a:prstGeom prst="rect">
              <a:avLst/>
            </a:prstGeom>
            <a:solidFill>
              <a:srgbClr val="FF00FF"/>
            </a:solidFill>
            <a:ln w="9525">
              <a:solidFill>
                <a:srgbClr val="00FF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TIM</a:t>
              </a:r>
            </a:p>
          </p:txBody>
        </p:sp>
        <p:sp>
          <p:nvSpPr>
            <p:cNvPr id="83978" name="Text Box 9"/>
            <p:cNvSpPr txBox="1">
              <a:spLocks noChangeArrowheads="1"/>
            </p:cNvSpPr>
            <p:nvPr/>
          </p:nvSpPr>
          <p:spPr bwMode="auto">
            <a:xfrm>
              <a:off x="1746" y="3996"/>
              <a:ext cx="771" cy="294"/>
            </a:xfrm>
            <a:prstGeom prst="rect">
              <a:avLst/>
            </a:prstGeom>
            <a:solidFill>
              <a:srgbClr val="FF00FF"/>
            </a:solidFill>
            <a:ln w="9525">
              <a:solidFill>
                <a:srgbClr val="00FF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Borrow</a:t>
              </a:r>
            </a:p>
          </p:txBody>
        </p:sp>
        <p:sp>
          <p:nvSpPr>
            <p:cNvPr id="83979" name="Line 10"/>
            <p:cNvSpPr>
              <a:spLocks noChangeShapeType="1"/>
            </p:cNvSpPr>
            <p:nvPr/>
          </p:nvSpPr>
          <p:spPr bwMode="auto">
            <a:xfrm flipH="1">
              <a:off x="2426" y="3748"/>
              <a:ext cx="90" cy="90"/>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80" name="Line 11"/>
            <p:cNvSpPr>
              <a:spLocks noChangeShapeType="1"/>
            </p:cNvSpPr>
            <p:nvPr/>
          </p:nvSpPr>
          <p:spPr bwMode="auto">
            <a:xfrm flipH="1" flipV="1">
              <a:off x="2426" y="3838"/>
              <a:ext cx="91" cy="91"/>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81" name="Text Box 12"/>
            <p:cNvSpPr txBox="1">
              <a:spLocks noChangeArrowheads="1"/>
            </p:cNvSpPr>
            <p:nvPr/>
          </p:nvSpPr>
          <p:spPr bwMode="auto">
            <a:xfrm>
              <a:off x="2880" y="3249"/>
              <a:ext cx="771" cy="294"/>
            </a:xfrm>
            <a:prstGeom prst="rect">
              <a:avLst/>
            </a:prstGeom>
            <a:solidFill>
              <a:srgbClr val="FF6600"/>
            </a:solidFill>
            <a:ln w="9525">
              <a:solidFill>
                <a:srgbClr val="00FF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TDDR</a:t>
              </a:r>
            </a:p>
          </p:txBody>
        </p:sp>
        <p:sp>
          <p:nvSpPr>
            <p:cNvPr id="83982" name="Text Box 13"/>
            <p:cNvSpPr txBox="1">
              <a:spLocks noChangeArrowheads="1"/>
            </p:cNvSpPr>
            <p:nvPr/>
          </p:nvSpPr>
          <p:spPr bwMode="auto">
            <a:xfrm>
              <a:off x="2880" y="3702"/>
              <a:ext cx="771" cy="294"/>
            </a:xfrm>
            <a:prstGeom prst="rect">
              <a:avLst/>
            </a:prstGeom>
            <a:solidFill>
              <a:srgbClr val="FF6600"/>
            </a:solidFill>
            <a:ln w="9525">
              <a:solidFill>
                <a:srgbClr val="00FF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PSC</a:t>
              </a:r>
            </a:p>
          </p:txBody>
        </p:sp>
        <p:sp>
          <p:nvSpPr>
            <p:cNvPr id="83983" name="Text Box 14"/>
            <p:cNvSpPr txBox="1">
              <a:spLocks noChangeArrowheads="1"/>
            </p:cNvSpPr>
            <p:nvPr/>
          </p:nvSpPr>
          <p:spPr bwMode="auto">
            <a:xfrm>
              <a:off x="2880" y="3996"/>
              <a:ext cx="771" cy="294"/>
            </a:xfrm>
            <a:prstGeom prst="rect">
              <a:avLst/>
            </a:prstGeom>
            <a:solidFill>
              <a:srgbClr val="FF6600"/>
            </a:solidFill>
            <a:ln w="9525">
              <a:solidFill>
                <a:srgbClr val="00FF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Borrow</a:t>
              </a:r>
            </a:p>
          </p:txBody>
        </p:sp>
        <p:sp>
          <p:nvSpPr>
            <p:cNvPr id="83984" name="Line 15"/>
            <p:cNvSpPr>
              <a:spLocks noChangeShapeType="1"/>
            </p:cNvSpPr>
            <p:nvPr/>
          </p:nvSpPr>
          <p:spPr bwMode="auto">
            <a:xfrm flipH="1">
              <a:off x="3560" y="3748"/>
              <a:ext cx="90" cy="90"/>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85" name="Line 16"/>
            <p:cNvSpPr>
              <a:spLocks noChangeShapeType="1"/>
            </p:cNvSpPr>
            <p:nvPr/>
          </p:nvSpPr>
          <p:spPr bwMode="auto">
            <a:xfrm flipH="1" flipV="1">
              <a:off x="3560" y="3838"/>
              <a:ext cx="91" cy="91"/>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86" name="Text Box 17"/>
            <p:cNvSpPr txBox="1">
              <a:spLocks noChangeArrowheads="1"/>
            </p:cNvSpPr>
            <p:nvPr/>
          </p:nvSpPr>
          <p:spPr bwMode="auto">
            <a:xfrm>
              <a:off x="2245" y="2689"/>
              <a:ext cx="272" cy="386"/>
            </a:xfrm>
            <a:prstGeom prst="rect">
              <a:avLst/>
            </a:prstGeom>
            <a:solidFill>
              <a:schemeClr val="bg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50000"/>
                </a:lnSpc>
              </a:pPr>
              <a:endParaRPr lang="en-US" altLang="zh-CN" sz="2400"/>
            </a:p>
            <a:p>
              <a:pPr algn="ctr" eaLnBrk="1" hangingPunct="1">
                <a:lnSpc>
                  <a:spcPct val="50000"/>
                </a:lnSpc>
              </a:pPr>
              <a:r>
                <a:rPr lang="en-US" altLang="zh-CN" sz="2400"/>
                <a:t>+</a:t>
              </a:r>
            </a:p>
            <a:p>
              <a:pPr algn="ctr" eaLnBrk="1" hangingPunct="1">
                <a:lnSpc>
                  <a:spcPct val="40000"/>
                </a:lnSpc>
              </a:pPr>
              <a:endParaRPr lang="en-US" altLang="zh-CN" sz="2400"/>
            </a:p>
          </p:txBody>
        </p:sp>
        <p:sp>
          <p:nvSpPr>
            <p:cNvPr id="83987" name="Text Box 18"/>
            <p:cNvSpPr txBox="1">
              <a:spLocks noChangeArrowheads="1"/>
            </p:cNvSpPr>
            <p:nvPr/>
          </p:nvSpPr>
          <p:spPr bwMode="auto">
            <a:xfrm>
              <a:off x="3833" y="2840"/>
              <a:ext cx="272" cy="386"/>
            </a:xfrm>
            <a:prstGeom prst="rect">
              <a:avLst/>
            </a:prstGeom>
            <a:solidFill>
              <a:schemeClr val="bg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50000"/>
                </a:lnSpc>
              </a:pPr>
              <a:endParaRPr lang="en-US" altLang="zh-CN" sz="2400"/>
            </a:p>
            <a:p>
              <a:pPr algn="ctr" eaLnBrk="1" hangingPunct="1">
                <a:lnSpc>
                  <a:spcPct val="50000"/>
                </a:lnSpc>
              </a:pPr>
              <a:r>
                <a:rPr lang="en-US" altLang="zh-CN" sz="2400"/>
                <a:t>+</a:t>
              </a:r>
            </a:p>
            <a:p>
              <a:pPr algn="ctr" eaLnBrk="1" hangingPunct="1">
                <a:lnSpc>
                  <a:spcPct val="40000"/>
                </a:lnSpc>
              </a:pPr>
              <a:endParaRPr lang="en-US" altLang="zh-CN" sz="2400"/>
            </a:p>
          </p:txBody>
        </p:sp>
        <p:sp>
          <p:nvSpPr>
            <p:cNvPr id="83988" name="Text Box 19"/>
            <p:cNvSpPr txBox="1">
              <a:spLocks noChangeArrowheads="1"/>
            </p:cNvSpPr>
            <p:nvPr/>
          </p:nvSpPr>
          <p:spPr bwMode="auto">
            <a:xfrm>
              <a:off x="4513" y="2750"/>
              <a:ext cx="272" cy="386"/>
            </a:xfrm>
            <a:prstGeom prst="rect">
              <a:avLst/>
            </a:prstGeom>
            <a:solidFill>
              <a:schemeClr val="bg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50000"/>
                </a:lnSpc>
              </a:pPr>
              <a:endParaRPr lang="en-US" altLang="zh-CN" sz="2400"/>
            </a:p>
            <a:p>
              <a:pPr algn="ctr" eaLnBrk="1" hangingPunct="1">
                <a:lnSpc>
                  <a:spcPct val="50000"/>
                </a:lnSpc>
              </a:pPr>
              <a:r>
                <a:rPr lang="en-US" altLang="zh-CN" sz="2400"/>
                <a:t>+</a:t>
              </a:r>
            </a:p>
            <a:p>
              <a:pPr algn="ctr" eaLnBrk="1" hangingPunct="1">
                <a:lnSpc>
                  <a:spcPct val="40000"/>
                </a:lnSpc>
              </a:pPr>
              <a:endParaRPr lang="en-US" altLang="zh-CN" sz="2400"/>
            </a:p>
          </p:txBody>
        </p:sp>
        <p:sp>
          <p:nvSpPr>
            <p:cNvPr id="83989" name="Text Box 20"/>
            <p:cNvSpPr txBox="1">
              <a:spLocks noChangeArrowheads="1"/>
            </p:cNvSpPr>
            <p:nvPr/>
          </p:nvSpPr>
          <p:spPr bwMode="auto">
            <a:xfrm>
              <a:off x="4513" y="3634"/>
              <a:ext cx="272" cy="386"/>
            </a:xfrm>
            <a:prstGeom prst="rect">
              <a:avLst/>
            </a:prstGeom>
            <a:solidFill>
              <a:schemeClr val="bg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50000"/>
                </a:lnSpc>
              </a:pPr>
              <a:endParaRPr lang="en-US" altLang="zh-CN" sz="2400"/>
            </a:p>
            <a:p>
              <a:pPr algn="ctr" eaLnBrk="1" hangingPunct="1">
                <a:lnSpc>
                  <a:spcPct val="50000"/>
                </a:lnSpc>
              </a:pPr>
              <a:endParaRPr lang="en-US" altLang="zh-CN" sz="2400"/>
            </a:p>
            <a:p>
              <a:pPr algn="ctr" eaLnBrk="1" hangingPunct="1">
                <a:lnSpc>
                  <a:spcPct val="40000"/>
                </a:lnSpc>
              </a:pPr>
              <a:endParaRPr lang="en-US" altLang="zh-CN" sz="2400"/>
            </a:p>
          </p:txBody>
        </p:sp>
        <p:sp>
          <p:nvSpPr>
            <p:cNvPr id="83990" name="AutoShape 21"/>
            <p:cNvSpPr>
              <a:spLocks noChangeArrowheads="1"/>
            </p:cNvSpPr>
            <p:nvPr/>
          </p:nvSpPr>
          <p:spPr bwMode="auto">
            <a:xfrm rot="5400000">
              <a:off x="3887" y="4611"/>
              <a:ext cx="318" cy="425"/>
            </a:xfrm>
            <a:prstGeom prst="triangle">
              <a:avLst>
                <a:gd name="adj" fmla="val 50000"/>
              </a:avLst>
            </a:prstGeom>
            <a:solidFill>
              <a:schemeClr val="bg2"/>
            </a:solidFill>
            <a:ln w="9525">
              <a:solidFill>
                <a:srgbClr val="FF00FF"/>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3991" name="Oval 22"/>
            <p:cNvSpPr>
              <a:spLocks noChangeArrowheads="1"/>
            </p:cNvSpPr>
            <p:nvPr/>
          </p:nvSpPr>
          <p:spPr bwMode="auto">
            <a:xfrm>
              <a:off x="4785" y="3884"/>
              <a:ext cx="45" cy="46"/>
            </a:xfrm>
            <a:prstGeom prst="ellipse">
              <a:avLst/>
            </a:prstGeom>
            <a:solidFill>
              <a:schemeClr val="accent1"/>
            </a:solidFill>
            <a:ln w="9525">
              <a:solidFill>
                <a:srgbClr val="FF00FF"/>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3992" name="Line 23"/>
            <p:cNvSpPr>
              <a:spLocks noChangeShapeType="1"/>
            </p:cNvSpPr>
            <p:nvPr/>
          </p:nvSpPr>
          <p:spPr bwMode="auto">
            <a:xfrm>
              <a:off x="4785" y="2840"/>
              <a:ext cx="544" cy="0"/>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93" name="Line 24"/>
            <p:cNvSpPr>
              <a:spLocks noChangeShapeType="1"/>
            </p:cNvSpPr>
            <p:nvPr/>
          </p:nvSpPr>
          <p:spPr bwMode="auto">
            <a:xfrm>
              <a:off x="4785" y="3022"/>
              <a:ext cx="544" cy="0"/>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94" name="Line 25"/>
            <p:cNvSpPr>
              <a:spLocks noChangeShapeType="1"/>
            </p:cNvSpPr>
            <p:nvPr/>
          </p:nvSpPr>
          <p:spPr bwMode="auto">
            <a:xfrm>
              <a:off x="4785" y="3702"/>
              <a:ext cx="544" cy="0"/>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95" name="Line 26"/>
            <p:cNvSpPr>
              <a:spLocks noChangeShapeType="1"/>
            </p:cNvSpPr>
            <p:nvPr/>
          </p:nvSpPr>
          <p:spPr bwMode="auto">
            <a:xfrm>
              <a:off x="4815" y="3904"/>
              <a:ext cx="499" cy="0"/>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96" name="Line 27"/>
            <p:cNvSpPr>
              <a:spLocks noChangeShapeType="1"/>
            </p:cNvSpPr>
            <p:nvPr/>
          </p:nvSpPr>
          <p:spPr bwMode="auto">
            <a:xfrm>
              <a:off x="4105" y="2931"/>
              <a:ext cx="408" cy="0"/>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97" name="Line 28"/>
            <p:cNvSpPr>
              <a:spLocks noChangeShapeType="1"/>
            </p:cNvSpPr>
            <p:nvPr/>
          </p:nvSpPr>
          <p:spPr bwMode="auto">
            <a:xfrm>
              <a:off x="2517" y="2976"/>
              <a:ext cx="136" cy="0"/>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98" name="Line 29"/>
            <p:cNvSpPr>
              <a:spLocks noChangeShapeType="1"/>
            </p:cNvSpPr>
            <p:nvPr/>
          </p:nvSpPr>
          <p:spPr bwMode="auto">
            <a:xfrm>
              <a:off x="2517" y="2795"/>
              <a:ext cx="1724" cy="0"/>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3999" name="Line 30"/>
            <p:cNvSpPr>
              <a:spLocks noChangeShapeType="1"/>
            </p:cNvSpPr>
            <p:nvPr/>
          </p:nvSpPr>
          <p:spPr bwMode="auto">
            <a:xfrm flipV="1">
              <a:off x="2109" y="2886"/>
              <a:ext cx="0" cy="363"/>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00" name="Line 31"/>
            <p:cNvSpPr>
              <a:spLocks noChangeShapeType="1"/>
            </p:cNvSpPr>
            <p:nvPr/>
          </p:nvSpPr>
          <p:spPr bwMode="auto">
            <a:xfrm>
              <a:off x="2109" y="2886"/>
              <a:ext cx="13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01" name="Line 32"/>
            <p:cNvSpPr>
              <a:spLocks noChangeShapeType="1"/>
            </p:cNvSpPr>
            <p:nvPr/>
          </p:nvSpPr>
          <p:spPr bwMode="auto">
            <a:xfrm flipV="1">
              <a:off x="2109" y="3566"/>
              <a:ext cx="0" cy="136"/>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02" name="Line 33"/>
            <p:cNvSpPr>
              <a:spLocks noChangeShapeType="1"/>
            </p:cNvSpPr>
            <p:nvPr/>
          </p:nvSpPr>
          <p:spPr bwMode="auto">
            <a:xfrm flipV="1">
              <a:off x="3243" y="3022"/>
              <a:ext cx="0" cy="227"/>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03" name="Line 34"/>
            <p:cNvSpPr>
              <a:spLocks noChangeShapeType="1"/>
            </p:cNvSpPr>
            <p:nvPr/>
          </p:nvSpPr>
          <p:spPr bwMode="auto">
            <a:xfrm>
              <a:off x="3243" y="3022"/>
              <a:ext cx="59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04" name="Line 35"/>
            <p:cNvSpPr>
              <a:spLocks noChangeShapeType="1"/>
            </p:cNvSpPr>
            <p:nvPr/>
          </p:nvSpPr>
          <p:spPr bwMode="auto">
            <a:xfrm flipV="1">
              <a:off x="3243" y="3566"/>
              <a:ext cx="0" cy="136"/>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05" name="Line 36"/>
            <p:cNvSpPr>
              <a:spLocks noChangeShapeType="1"/>
            </p:cNvSpPr>
            <p:nvPr/>
          </p:nvSpPr>
          <p:spPr bwMode="auto">
            <a:xfrm flipV="1">
              <a:off x="4241" y="2795"/>
              <a:ext cx="0" cy="13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06" name="Line 37"/>
            <p:cNvSpPr>
              <a:spLocks noChangeShapeType="1"/>
            </p:cNvSpPr>
            <p:nvPr/>
          </p:nvSpPr>
          <p:spPr bwMode="auto">
            <a:xfrm flipV="1">
              <a:off x="2154" y="4320"/>
              <a:ext cx="0" cy="51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07" name="Line 38"/>
            <p:cNvSpPr>
              <a:spLocks noChangeShapeType="1"/>
            </p:cNvSpPr>
            <p:nvPr/>
          </p:nvSpPr>
          <p:spPr bwMode="auto">
            <a:xfrm>
              <a:off x="2154" y="4428"/>
              <a:ext cx="499"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08" name="Line 39"/>
            <p:cNvSpPr>
              <a:spLocks noChangeShapeType="1"/>
            </p:cNvSpPr>
            <p:nvPr/>
          </p:nvSpPr>
          <p:spPr bwMode="auto">
            <a:xfrm flipV="1">
              <a:off x="2653" y="2976"/>
              <a:ext cx="0" cy="145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09" name="Line 40"/>
            <p:cNvSpPr>
              <a:spLocks noChangeShapeType="1"/>
            </p:cNvSpPr>
            <p:nvPr/>
          </p:nvSpPr>
          <p:spPr bwMode="auto">
            <a:xfrm flipV="1">
              <a:off x="4241" y="3113"/>
              <a:ext cx="0" cy="131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10" name="Line 41"/>
            <p:cNvSpPr>
              <a:spLocks noChangeShapeType="1"/>
            </p:cNvSpPr>
            <p:nvPr/>
          </p:nvSpPr>
          <p:spPr bwMode="auto">
            <a:xfrm>
              <a:off x="4105" y="3113"/>
              <a:ext cx="136" cy="0"/>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11" name="Line 42"/>
            <p:cNvSpPr>
              <a:spLocks noChangeShapeType="1"/>
            </p:cNvSpPr>
            <p:nvPr/>
          </p:nvSpPr>
          <p:spPr bwMode="auto">
            <a:xfrm>
              <a:off x="2517" y="3838"/>
              <a:ext cx="272" cy="0"/>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12" name="Line 43"/>
            <p:cNvSpPr>
              <a:spLocks noChangeShapeType="1"/>
            </p:cNvSpPr>
            <p:nvPr/>
          </p:nvSpPr>
          <p:spPr bwMode="auto">
            <a:xfrm flipV="1">
              <a:off x="2789" y="3838"/>
              <a:ext cx="0" cy="59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13" name="Line 44"/>
            <p:cNvSpPr>
              <a:spLocks noChangeShapeType="1"/>
            </p:cNvSpPr>
            <p:nvPr/>
          </p:nvSpPr>
          <p:spPr bwMode="auto">
            <a:xfrm>
              <a:off x="2789" y="4428"/>
              <a:ext cx="145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14" name="Line 45"/>
            <p:cNvSpPr>
              <a:spLocks noChangeShapeType="1"/>
            </p:cNvSpPr>
            <p:nvPr/>
          </p:nvSpPr>
          <p:spPr bwMode="auto">
            <a:xfrm flipV="1">
              <a:off x="3243" y="4287"/>
              <a:ext cx="0" cy="136"/>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15" name="Line 46"/>
            <p:cNvSpPr>
              <a:spLocks noChangeShapeType="1"/>
            </p:cNvSpPr>
            <p:nvPr/>
          </p:nvSpPr>
          <p:spPr bwMode="auto">
            <a:xfrm>
              <a:off x="3651" y="3838"/>
              <a:ext cx="862" cy="0"/>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4016" name="Line 47"/>
            <p:cNvSpPr>
              <a:spLocks noChangeShapeType="1"/>
            </p:cNvSpPr>
            <p:nvPr/>
          </p:nvSpPr>
          <p:spPr bwMode="auto">
            <a:xfrm>
              <a:off x="2154" y="4609"/>
              <a:ext cx="3175"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17" name="Line 48"/>
            <p:cNvSpPr>
              <a:spLocks noChangeShapeType="1"/>
            </p:cNvSpPr>
            <p:nvPr/>
          </p:nvSpPr>
          <p:spPr bwMode="auto">
            <a:xfrm>
              <a:off x="2154" y="4836"/>
              <a:ext cx="1679"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18" name="Line 49"/>
            <p:cNvSpPr>
              <a:spLocks noChangeShapeType="1"/>
            </p:cNvSpPr>
            <p:nvPr/>
          </p:nvSpPr>
          <p:spPr bwMode="auto">
            <a:xfrm>
              <a:off x="4266" y="4816"/>
              <a:ext cx="1043"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19" name="Text Box 50"/>
            <p:cNvSpPr txBox="1">
              <a:spLocks noChangeArrowheads="1"/>
            </p:cNvSpPr>
            <p:nvPr/>
          </p:nvSpPr>
          <p:spPr bwMode="auto">
            <a:xfrm>
              <a:off x="4830" y="4320"/>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TINT</a:t>
              </a:r>
            </a:p>
          </p:txBody>
        </p:sp>
        <p:sp>
          <p:nvSpPr>
            <p:cNvPr id="84020" name="Text Box 51"/>
            <p:cNvSpPr txBox="1">
              <a:spLocks noChangeArrowheads="1"/>
            </p:cNvSpPr>
            <p:nvPr/>
          </p:nvSpPr>
          <p:spPr bwMode="auto">
            <a:xfrm>
              <a:off x="4830" y="4609"/>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TOUT</a:t>
              </a:r>
            </a:p>
          </p:txBody>
        </p:sp>
        <p:sp>
          <p:nvSpPr>
            <p:cNvPr id="84021" name="Text Box 52"/>
            <p:cNvSpPr txBox="1">
              <a:spLocks noChangeArrowheads="1"/>
            </p:cNvSpPr>
            <p:nvPr/>
          </p:nvSpPr>
          <p:spPr bwMode="auto">
            <a:xfrm>
              <a:off x="4830" y="3929"/>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TSS</a:t>
              </a:r>
            </a:p>
          </p:txBody>
        </p:sp>
        <p:sp>
          <p:nvSpPr>
            <p:cNvPr id="84022" name="Text Box 53"/>
            <p:cNvSpPr txBox="1">
              <a:spLocks noChangeArrowheads="1"/>
            </p:cNvSpPr>
            <p:nvPr/>
          </p:nvSpPr>
          <p:spPr bwMode="auto">
            <a:xfrm>
              <a:off x="4785" y="3430"/>
              <a:ext cx="8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CLKOUT</a:t>
              </a:r>
            </a:p>
          </p:txBody>
        </p:sp>
        <p:sp>
          <p:nvSpPr>
            <p:cNvPr id="84023" name="Text Box 54"/>
            <p:cNvSpPr txBox="1">
              <a:spLocks noChangeArrowheads="1"/>
            </p:cNvSpPr>
            <p:nvPr/>
          </p:nvSpPr>
          <p:spPr bwMode="auto">
            <a:xfrm>
              <a:off x="4785" y="3022"/>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TRB</a:t>
              </a:r>
            </a:p>
          </p:txBody>
        </p:sp>
        <p:sp>
          <p:nvSpPr>
            <p:cNvPr id="84024" name="Text Box 55"/>
            <p:cNvSpPr txBox="1">
              <a:spLocks noChangeArrowheads="1"/>
            </p:cNvSpPr>
            <p:nvPr/>
          </p:nvSpPr>
          <p:spPr bwMode="auto">
            <a:xfrm>
              <a:off x="4785" y="2614"/>
              <a:ext cx="7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SRESET</a:t>
              </a:r>
            </a:p>
          </p:txBody>
        </p:sp>
        <p:sp>
          <p:nvSpPr>
            <p:cNvPr id="84025" name="Line 56"/>
            <p:cNvSpPr>
              <a:spLocks noChangeShapeType="1"/>
            </p:cNvSpPr>
            <p:nvPr/>
          </p:nvSpPr>
          <p:spPr bwMode="auto">
            <a:xfrm>
              <a:off x="4830" y="2659"/>
              <a:ext cx="54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81634"/>
                                        </p:tgtEl>
                                        <p:attrNameLst>
                                          <p:attrName>style.visibility</p:attrName>
                                        </p:attrNameLst>
                                      </p:cBhvr>
                                      <p:to>
                                        <p:strVal val="visible"/>
                                      </p:to>
                                    </p:set>
                                    <p:anim calcmode="lin" valueType="num">
                                      <p:cBhvr additive="base">
                                        <p:cTn id="7" dur="500" fill="hold"/>
                                        <p:tgtEl>
                                          <p:spTgt spid="581634"/>
                                        </p:tgtEl>
                                        <p:attrNameLst>
                                          <p:attrName>ppt_x</p:attrName>
                                        </p:attrNameLst>
                                      </p:cBhvr>
                                      <p:tavLst>
                                        <p:tav tm="0">
                                          <p:val>
                                            <p:strVal val="#ppt_x"/>
                                          </p:val>
                                        </p:tav>
                                        <p:tav tm="100000">
                                          <p:val>
                                            <p:strVal val="#ppt_x"/>
                                          </p:val>
                                        </p:tav>
                                      </p:tavLst>
                                    </p:anim>
                                    <p:anim calcmode="lin" valueType="num">
                                      <p:cBhvr additive="base">
                                        <p:cTn id="8" dur="500" fill="hold"/>
                                        <p:tgtEl>
                                          <p:spTgt spid="581634"/>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581638"/>
                                        </p:tgtEl>
                                        <p:attrNameLst>
                                          <p:attrName>style.visibility</p:attrName>
                                        </p:attrNameLst>
                                      </p:cBhvr>
                                      <p:to>
                                        <p:strVal val="visible"/>
                                      </p:to>
                                    </p:set>
                                    <p:animEffect transition="in" filter="slide(fromTop)">
                                      <p:cBhvr>
                                        <p:cTn id="12" dur="500"/>
                                        <p:tgtEl>
                                          <p:spTgt spid="581638"/>
                                        </p:tgtEl>
                                      </p:cBhvr>
                                    </p:animEffect>
                                  </p:childTnLst>
                                </p:cTn>
                              </p:par>
                            </p:childTnLst>
                          </p:cTn>
                        </p:par>
                        <p:par>
                          <p:cTn id="13" fill="hold" nodeType="afterGroup">
                            <p:stCondLst>
                              <p:cond delay="1000"/>
                            </p:stCondLst>
                            <p:childTnLst>
                              <p:par>
                                <p:cTn id="14" presetID="12" presetClass="entr" presetSubtype="1" fill="hold" grpId="0" nodeType="afterEffect">
                                  <p:stCondLst>
                                    <p:cond delay="0"/>
                                  </p:stCondLst>
                                  <p:childTnLst>
                                    <p:set>
                                      <p:cBhvr>
                                        <p:cTn id="15" dur="1" fill="hold">
                                          <p:stCondLst>
                                            <p:cond delay="0"/>
                                          </p:stCondLst>
                                        </p:cTn>
                                        <p:tgtEl>
                                          <p:spTgt spid="581635"/>
                                        </p:tgtEl>
                                        <p:attrNameLst>
                                          <p:attrName>style.visibility</p:attrName>
                                        </p:attrNameLst>
                                      </p:cBhvr>
                                      <p:to>
                                        <p:strVal val="visible"/>
                                      </p:to>
                                    </p:set>
                                    <p:animEffect transition="in" filter="slide(fromTop)">
                                      <p:cBhvr>
                                        <p:cTn id="16" dur="500"/>
                                        <p:tgtEl>
                                          <p:spTgt spid="581635"/>
                                        </p:tgtEl>
                                      </p:cBhvr>
                                    </p:animEffect>
                                  </p:childTnLst>
                                </p:cTn>
                              </p:par>
                            </p:childTnLst>
                          </p:cTn>
                        </p:par>
                        <p:par>
                          <p:cTn id="17" fill="hold" nodeType="afterGroup">
                            <p:stCondLst>
                              <p:cond delay="1500"/>
                            </p:stCondLst>
                            <p:childTnLst>
                              <p:par>
                                <p:cTn id="18" presetID="12" presetClass="entr" presetSubtype="1" fill="hold" grpId="0" nodeType="afterEffect">
                                  <p:stCondLst>
                                    <p:cond delay="0"/>
                                  </p:stCondLst>
                                  <p:childTnLst>
                                    <p:set>
                                      <p:cBhvr>
                                        <p:cTn id="19" dur="1" fill="hold">
                                          <p:stCondLst>
                                            <p:cond delay="0"/>
                                          </p:stCondLst>
                                        </p:cTn>
                                        <p:tgtEl>
                                          <p:spTgt spid="581637"/>
                                        </p:tgtEl>
                                        <p:attrNameLst>
                                          <p:attrName>style.visibility</p:attrName>
                                        </p:attrNameLst>
                                      </p:cBhvr>
                                      <p:to>
                                        <p:strVal val="visible"/>
                                      </p:to>
                                    </p:set>
                                    <p:animEffect transition="in" filter="slide(fromTop)">
                                      <p:cBhvr>
                                        <p:cTn id="20" dur="500"/>
                                        <p:tgtEl>
                                          <p:spTgt spid="581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4" grpId="0" autoUpdateAnimBg="0"/>
      <p:bldP spid="581635" grpId="0" animBg="1" autoUpdateAnimBg="0"/>
      <p:bldP spid="581637" grpId="0" animBg="1" autoUpdateAnimBg="0"/>
      <p:bldP spid="581638" grpId="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7445AFD7-9C88-49A6-A636-63604B101D1F}" type="slidenum">
              <a:rPr lang="en-US" altLang="zh-CN" sz="1400" b="0"/>
              <a:pPr eaLnBrk="1" hangingPunct="1"/>
              <a:t>72</a:t>
            </a:fld>
            <a:endParaRPr lang="en-US" altLang="zh-CN" sz="1400" b="0"/>
          </a:p>
        </p:txBody>
      </p:sp>
      <p:sp>
        <p:nvSpPr>
          <p:cNvPr id="582658" name="Rectangle 2"/>
          <p:cNvSpPr>
            <a:spLocks noChangeArrowheads="1"/>
          </p:cNvSpPr>
          <p:nvPr/>
        </p:nvSpPr>
        <p:spPr bwMode="auto">
          <a:xfrm>
            <a:off x="1752600" y="1219200"/>
            <a:ext cx="5937250" cy="1778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chemeClr val="tx2"/>
                </a:solidFill>
                <a:latin typeface="宋体" panose="02010600030101010101" pitchFamily="2" charset="-122"/>
              </a:rPr>
              <a:t>定时器寄存器（</a:t>
            </a:r>
            <a:r>
              <a:rPr lang="en-US" altLang="zh-CN" sz="3600">
                <a:solidFill>
                  <a:schemeClr val="tx2"/>
                </a:solidFill>
                <a:latin typeface="宋体" panose="02010600030101010101" pitchFamily="2" charset="-122"/>
              </a:rPr>
              <a:t>TIM</a:t>
            </a:r>
            <a:r>
              <a:rPr lang="zh-CN" altLang="en-US" sz="3600">
                <a:solidFill>
                  <a:schemeClr val="tx2"/>
                </a:solidFill>
                <a:latin typeface="宋体" panose="02010600030101010101" pitchFamily="2" charset="-122"/>
              </a:rPr>
              <a:t>）</a:t>
            </a:r>
          </a:p>
          <a:p>
            <a:pPr eaLnBrk="1" hangingPunct="1"/>
            <a:r>
              <a:rPr lang="zh-CN" altLang="en-US" sz="3600">
                <a:solidFill>
                  <a:schemeClr val="tx2"/>
                </a:solidFill>
                <a:latin typeface="宋体" panose="02010600030101010101" pitchFamily="2" charset="-122"/>
              </a:rPr>
              <a:t>定时器周期寄存器（</a:t>
            </a:r>
            <a:r>
              <a:rPr lang="en-US" altLang="zh-CN" sz="3600">
                <a:solidFill>
                  <a:schemeClr val="tx2"/>
                </a:solidFill>
                <a:latin typeface="宋体" panose="02010600030101010101" pitchFamily="2" charset="-122"/>
              </a:rPr>
              <a:t>PRD</a:t>
            </a:r>
            <a:r>
              <a:rPr lang="zh-CN" altLang="en-US" sz="3600">
                <a:solidFill>
                  <a:schemeClr val="tx2"/>
                </a:solidFill>
                <a:latin typeface="宋体" panose="02010600030101010101" pitchFamily="2" charset="-122"/>
              </a:rPr>
              <a:t>）</a:t>
            </a:r>
          </a:p>
          <a:p>
            <a:pPr eaLnBrk="1" hangingPunct="1"/>
            <a:r>
              <a:rPr lang="zh-CN" altLang="en-US" sz="3600">
                <a:solidFill>
                  <a:schemeClr val="tx2"/>
                </a:solidFill>
                <a:latin typeface="宋体" panose="02010600030101010101" pitchFamily="2" charset="-122"/>
              </a:rPr>
              <a:t>定时器控制器寄存器（</a:t>
            </a:r>
            <a:r>
              <a:rPr lang="en-US" altLang="zh-CN" sz="3600">
                <a:solidFill>
                  <a:schemeClr val="tx2"/>
                </a:solidFill>
                <a:latin typeface="宋体" panose="02010600030101010101" pitchFamily="2" charset="-122"/>
              </a:rPr>
              <a:t>TCR</a:t>
            </a:r>
            <a:r>
              <a:rPr lang="zh-CN" altLang="en-US" sz="3600">
                <a:solidFill>
                  <a:schemeClr val="tx2"/>
                </a:solidFill>
                <a:latin typeface="宋体" panose="02010600030101010101" pitchFamily="2" charset="-122"/>
              </a:rPr>
              <a:t>）</a:t>
            </a:r>
          </a:p>
        </p:txBody>
      </p:sp>
      <p:sp>
        <p:nvSpPr>
          <p:cNvPr id="582659" name="Rectangle 3" descr="大棋盘"/>
          <p:cNvSpPr>
            <a:spLocks noChangeArrowheads="1"/>
          </p:cNvSpPr>
          <p:nvPr/>
        </p:nvSpPr>
        <p:spPr bwMode="auto">
          <a:xfrm>
            <a:off x="381000" y="1295400"/>
            <a:ext cx="1143000" cy="1123950"/>
          </a:xfrm>
          <a:prstGeom prst="rect">
            <a:avLst/>
          </a:prstGeom>
          <a:pattFill prst="lgCheck">
            <a:fgClr>
              <a:srgbClr val="FFFF00"/>
            </a:fgClr>
            <a:bgClr>
              <a:srgbClr val="FFFFFF"/>
            </a:bgClr>
          </a:pattFill>
          <a:ln w="57150">
            <a:solidFill>
              <a:srgbClr val="339933"/>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66"/>
                </a:solidFill>
                <a:latin typeface="宋体" panose="02010600030101010101" pitchFamily="2" charset="-122"/>
              </a:rPr>
              <a:t>主要</a:t>
            </a:r>
          </a:p>
          <a:p>
            <a:pPr eaLnBrk="1" hangingPunct="1"/>
            <a:r>
              <a:rPr lang="zh-CN" altLang="en-US" sz="3200">
                <a:solidFill>
                  <a:srgbClr val="FF0066"/>
                </a:solidFill>
                <a:latin typeface="宋体" panose="02010600030101010101" pitchFamily="2" charset="-122"/>
              </a:rPr>
              <a:t>部件</a:t>
            </a:r>
          </a:p>
        </p:txBody>
      </p:sp>
      <p:grpSp>
        <p:nvGrpSpPr>
          <p:cNvPr id="2" name="Group 4"/>
          <p:cNvGrpSpPr>
            <a:grpSpLocks/>
          </p:cNvGrpSpPr>
          <p:nvPr/>
        </p:nvGrpSpPr>
        <p:grpSpPr bwMode="auto">
          <a:xfrm>
            <a:off x="609600" y="3810000"/>
            <a:ext cx="7696200" cy="987425"/>
            <a:chOff x="384" y="3120"/>
            <a:chExt cx="4848" cy="622"/>
          </a:xfrm>
        </p:grpSpPr>
        <p:grpSp>
          <p:nvGrpSpPr>
            <p:cNvPr id="85008" name="Group 5"/>
            <p:cNvGrpSpPr>
              <a:grpSpLocks/>
            </p:cNvGrpSpPr>
            <p:nvPr/>
          </p:nvGrpSpPr>
          <p:grpSpPr bwMode="auto">
            <a:xfrm>
              <a:off x="384" y="3120"/>
              <a:ext cx="1008" cy="621"/>
              <a:chOff x="576" y="2112"/>
              <a:chExt cx="768" cy="621"/>
            </a:xfrm>
          </p:grpSpPr>
          <p:sp>
            <p:nvSpPr>
              <p:cNvPr id="85024" name="Text Box 6"/>
              <p:cNvSpPr txBox="1">
                <a:spLocks noChangeArrowheads="1"/>
              </p:cNvSpPr>
              <p:nvPr/>
            </p:nvSpPr>
            <p:spPr bwMode="auto">
              <a:xfrm>
                <a:off x="576" y="2400"/>
                <a:ext cx="768" cy="333"/>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a:t>保留</a:t>
                </a:r>
              </a:p>
            </p:txBody>
          </p:sp>
          <p:sp>
            <p:nvSpPr>
              <p:cNvPr id="85025" name="Text Box 7"/>
              <p:cNvSpPr txBox="1">
                <a:spLocks noChangeArrowheads="1"/>
              </p:cNvSpPr>
              <p:nvPr/>
            </p:nvSpPr>
            <p:spPr bwMode="auto">
              <a:xfrm>
                <a:off x="624" y="2112"/>
                <a:ext cx="6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15</a:t>
                </a:r>
                <a:r>
                  <a:rPr lang="zh-CN" altLang="en-US" sz="2800">
                    <a:latin typeface="宋体" panose="02010600030101010101" pitchFamily="2" charset="-122"/>
                  </a:rPr>
                  <a:t>～</a:t>
                </a:r>
                <a:r>
                  <a:rPr lang="zh-CN" altLang="en-US" sz="2800"/>
                  <a:t> </a:t>
                </a:r>
                <a:r>
                  <a:rPr lang="en-US" altLang="zh-CN" sz="2800"/>
                  <a:t>12</a:t>
                </a:r>
              </a:p>
            </p:txBody>
          </p:sp>
        </p:grpSp>
        <p:grpSp>
          <p:nvGrpSpPr>
            <p:cNvPr id="85009" name="Group 8"/>
            <p:cNvGrpSpPr>
              <a:grpSpLocks/>
            </p:cNvGrpSpPr>
            <p:nvPr/>
          </p:nvGrpSpPr>
          <p:grpSpPr bwMode="auto">
            <a:xfrm>
              <a:off x="1392" y="3120"/>
              <a:ext cx="624" cy="621"/>
              <a:chOff x="1344" y="2112"/>
              <a:chExt cx="480" cy="621"/>
            </a:xfrm>
          </p:grpSpPr>
          <p:sp>
            <p:nvSpPr>
              <p:cNvPr id="85022" name="Text Box 9"/>
              <p:cNvSpPr txBox="1">
                <a:spLocks noChangeArrowheads="1"/>
              </p:cNvSpPr>
              <p:nvPr/>
            </p:nvSpPr>
            <p:spPr bwMode="auto">
              <a:xfrm>
                <a:off x="1344" y="2400"/>
                <a:ext cx="480" cy="333"/>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soft</a:t>
                </a:r>
              </a:p>
            </p:txBody>
          </p:sp>
          <p:sp>
            <p:nvSpPr>
              <p:cNvPr id="85023" name="Text Box 10"/>
              <p:cNvSpPr txBox="1">
                <a:spLocks noChangeArrowheads="1"/>
              </p:cNvSpPr>
              <p:nvPr/>
            </p:nvSpPr>
            <p:spPr bwMode="auto">
              <a:xfrm>
                <a:off x="1392" y="2112"/>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11</a:t>
                </a:r>
              </a:p>
            </p:txBody>
          </p:sp>
        </p:grpSp>
        <p:grpSp>
          <p:nvGrpSpPr>
            <p:cNvPr id="85010" name="Group 11"/>
            <p:cNvGrpSpPr>
              <a:grpSpLocks/>
            </p:cNvGrpSpPr>
            <p:nvPr/>
          </p:nvGrpSpPr>
          <p:grpSpPr bwMode="auto">
            <a:xfrm>
              <a:off x="2016" y="3120"/>
              <a:ext cx="624" cy="621"/>
              <a:chOff x="1344" y="2112"/>
              <a:chExt cx="480" cy="621"/>
            </a:xfrm>
          </p:grpSpPr>
          <p:sp>
            <p:nvSpPr>
              <p:cNvPr id="85020" name="Text Box 12"/>
              <p:cNvSpPr txBox="1">
                <a:spLocks noChangeArrowheads="1"/>
              </p:cNvSpPr>
              <p:nvPr/>
            </p:nvSpPr>
            <p:spPr bwMode="auto">
              <a:xfrm>
                <a:off x="1344" y="2400"/>
                <a:ext cx="480" cy="333"/>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free</a:t>
                </a:r>
              </a:p>
            </p:txBody>
          </p:sp>
          <p:sp>
            <p:nvSpPr>
              <p:cNvPr id="85021" name="Text Box 13"/>
              <p:cNvSpPr txBox="1">
                <a:spLocks noChangeArrowheads="1"/>
              </p:cNvSpPr>
              <p:nvPr/>
            </p:nvSpPr>
            <p:spPr bwMode="auto">
              <a:xfrm>
                <a:off x="1392" y="2112"/>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10</a:t>
                </a:r>
              </a:p>
            </p:txBody>
          </p:sp>
        </p:grpSp>
        <p:sp>
          <p:nvSpPr>
            <p:cNvPr id="85011" name="Text Box 14"/>
            <p:cNvSpPr txBox="1">
              <a:spLocks noChangeArrowheads="1"/>
            </p:cNvSpPr>
            <p:nvPr/>
          </p:nvSpPr>
          <p:spPr bwMode="auto">
            <a:xfrm>
              <a:off x="2640" y="3408"/>
              <a:ext cx="720" cy="333"/>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PSC</a:t>
              </a:r>
            </a:p>
          </p:txBody>
        </p:sp>
        <p:sp>
          <p:nvSpPr>
            <p:cNvPr id="85012" name="Text Box 15"/>
            <p:cNvSpPr txBox="1">
              <a:spLocks noChangeArrowheads="1"/>
            </p:cNvSpPr>
            <p:nvPr/>
          </p:nvSpPr>
          <p:spPr bwMode="auto">
            <a:xfrm>
              <a:off x="2592" y="3120"/>
              <a:ext cx="69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9 </a:t>
              </a:r>
              <a:r>
                <a:rPr lang="zh-CN" altLang="en-US" sz="2800">
                  <a:latin typeface="宋体" panose="02010600030101010101" pitchFamily="2" charset="-122"/>
                </a:rPr>
                <a:t>～</a:t>
              </a:r>
              <a:r>
                <a:rPr lang="zh-CN" altLang="en-US" sz="2800"/>
                <a:t> </a:t>
              </a:r>
              <a:r>
                <a:rPr lang="en-US" altLang="zh-CN" sz="2800"/>
                <a:t>6</a:t>
              </a:r>
            </a:p>
          </p:txBody>
        </p:sp>
        <p:sp>
          <p:nvSpPr>
            <p:cNvPr id="85013" name="Text Box 16"/>
            <p:cNvSpPr txBox="1">
              <a:spLocks noChangeArrowheads="1"/>
            </p:cNvSpPr>
            <p:nvPr/>
          </p:nvSpPr>
          <p:spPr bwMode="auto">
            <a:xfrm>
              <a:off x="3312" y="3409"/>
              <a:ext cx="624" cy="333"/>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TRB</a:t>
              </a:r>
            </a:p>
          </p:txBody>
        </p:sp>
        <p:sp>
          <p:nvSpPr>
            <p:cNvPr id="85014" name="Text Box 17"/>
            <p:cNvSpPr txBox="1">
              <a:spLocks noChangeArrowheads="1"/>
            </p:cNvSpPr>
            <p:nvPr/>
          </p:nvSpPr>
          <p:spPr bwMode="auto">
            <a:xfrm>
              <a:off x="3504" y="3120"/>
              <a:ext cx="3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5</a:t>
              </a:r>
            </a:p>
          </p:txBody>
        </p:sp>
        <p:grpSp>
          <p:nvGrpSpPr>
            <p:cNvPr id="85015" name="Group 18"/>
            <p:cNvGrpSpPr>
              <a:grpSpLocks/>
            </p:cNvGrpSpPr>
            <p:nvPr/>
          </p:nvGrpSpPr>
          <p:grpSpPr bwMode="auto">
            <a:xfrm>
              <a:off x="4464" y="3120"/>
              <a:ext cx="768" cy="621"/>
              <a:chOff x="576" y="2112"/>
              <a:chExt cx="768" cy="621"/>
            </a:xfrm>
          </p:grpSpPr>
          <p:sp>
            <p:nvSpPr>
              <p:cNvPr id="85018" name="Text Box 19"/>
              <p:cNvSpPr txBox="1">
                <a:spLocks noChangeArrowheads="1"/>
              </p:cNvSpPr>
              <p:nvPr/>
            </p:nvSpPr>
            <p:spPr bwMode="auto">
              <a:xfrm>
                <a:off x="576" y="2400"/>
                <a:ext cx="768" cy="333"/>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TDDR</a:t>
                </a:r>
              </a:p>
            </p:txBody>
          </p:sp>
          <p:sp>
            <p:nvSpPr>
              <p:cNvPr id="85019" name="Text Box 20"/>
              <p:cNvSpPr txBox="1">
                <a:spLocks noChangeArrowheads="1"/>
              </p:cNvSpPr>
              <p:nvPr/>
            </p:nvSpPr>
            <p:spPr bwMode="auto">
              <a:xfrm>
                <a:off x="624" y="2112"/>
                <a:ext cx="6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3</a:t>
                </a:r>
                <a:r>
                  <a:rPr lang="zh-CN" altLang="en-US" sz="2800">
                    <a:latin typeface="宋体" panose="02010600030101010101" pitchFamily="2" charset="-122"/>
                  </a:rPr>
                  <a:t>～</a:t>
                </a:r>
                <a:r>
                  <a:rPr lang="zh-CN" altLang="en-US" sz="2800"/>
                  <a:t> </a:t>
                </a:r>
                <a:r>
                  <a:rPr lang="en-US" altLang="zh-CN" sz="2800"/>
                  <a:t>0</a:t>
                </a:r>
              </a:p>
            </p:txBody>
          </p:sp>
        </p:grpSp>
        <p:sp>
          <p:nvSpPr>
            <p:cNvPr id="85016" name="Text Box 21"/>
            <p:cNvSpPr txBox="1">
              <a:spLocks noChangeArrowheads="1"/>
            </p:cNvSpPr>
            <p:nvPr/>
          </p:nvSpPr>
          <p:spPr bwMode="auto">
            <a:xfrm>
              <a:off x="3888" y="3408"/>
              <a:ext cx="576" cy="333"/>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TSS</a:t>
              </a:r>
            </a:p>
          </p:txBody>
        </p:sp>
        <p:sp>
          <p:nvSpPr>
            <p:cNvPr id="85017" name="Text Box 22"/>
            <p:cNvSpPr txBox="1">
              <a:spLocks noChangeArrowheads="1"/>
            </p:cNvSpPr>
            <p:nvPr/>
          </p:nvSpPr>
          <p:spPr bwMode="auto">
            <a:xfrm>
              <a:off x="4032" y="3120"/>
              <a:ext cx="3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4</a:t>
              </a:r>
            </a:p>
          </p:txBody>
        </p:sp>
      </p:grpSp>
      <p:sp>
        <p:nvSpPr>
          <p:cNvPr id="582679" name="Rectangle 23"/>
          <p:cNvSpPr>
            <a:spLocks noChangeArrowheads="1"/>
          </p:cNvSpPr>
          <p:nvPr/>
        </p:nvSpPr>
        <p:spPr bwMode="auto">
          <a:xfrm>
            <a:off x="2209800" y="3200400"/>
            <a:ext cx="4984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solidFill>
                  <a:srgbClr val="FF00FF"/>
                </a:solidFill>
                <a:latin typeface="宋体" panose="02010600030101010101" pitchFamily="2" charset="-122"/>
              </a:rPr>
              <a:t>TCR</a:t>
            </a:r>
            <a:r>
              <a:rPr lang="zh-CN" altLang="en-US" sz="3600">
                <a:solidFill>
                  <a:srgbClr val="FF00FF"/>
                </a:solidFill>
                <a:latin typeface="宋体" panose="02010600030101010101" pitchFamily="2" charset="-122"/>
              </a:rPr>
              <a:t>中的控制位和状态位</a:t>
            </a:r>
          </a:p>
        </p:txBody>
      </p:sp>
      <p:sp>
        <p:nvSpPr>
          <p:cNvPr id="582680" name="AutoShape 24" descr="小棋盘"/>
          <p:cNvSpPr>
            <a:spLocks noChangeArrowheads="1"/>
          </p:cNvSpPr>
          <p:nvPr/>
        </p:nvSpPr>
        <p:spPr bwMode="auto">
          <a:xfrm>
            <a:off x="4572000" y="5084763"/>
            <a:ext cx="1728788" cy="1439862"/>
          </a:xfrm>
          <a:prstGeom prst="wedgeRoundRectCallout">
            <a:avLst>
              <a:gd name="adj1" fmla="val 14556"/>
              <a:gd name="adj2" fmla="val -61356"/>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20000"/>
              </a:spcBef>
            </a:pPr>
            <a:r>
              <a:rPr lang="en-US" altLang="zh-CN" sz="2400"/>
              <a:t>1</a:t>
            </a:r>
            <a:r>
              <a:rPr lang="zh-CN" altLang="en-US" sz="2400"/>
              <a:t>用</a:t>
            </a:r>
            <a:r>
              <a:rPr lang="en-US" altLang="zh-CN" sz="2400"/>
              <a:t>PRD</a:t>
            </a:r>
            <a:r>
              <a:rPr lang="zh-CN" altLang="en-US" sz="2400"/>
              <a:t>加载</a:t>
            </a:r>
            <a:r>
              <a:rPr lang="en-US" altLang="zh-CN" sz="2400"/>
              <a:t>TIM</a:t>
            </a:r>
            <a:r>
              <a:rPr lang="zh-CN" altLang="en-US" sz="2400"/>
              <a:t>，</a:t>
            </a:r>
            <a:r>
              <a:rPr lang="en-US" altLang="zh-CN" sz="2400"/>
              <a:t>TDDR</a:t>
            </a:r>
          </a:p>
          <a:p>
            <a:pPr algn="just" eaLnBrk="1" hangingPunct="1">
              <a:lnSpc>
                <a:spcPct val="80000"/>
              </a:lnSpc>
              <a:spcBef>
                <a:spcPct val="20000"/>
              </a:spcBef>
            </a:pPr>
            <a:r>
              <a:rPr lang="zh-CN" altLang="en-US" sz="2400"/>
              <a:t>加载</a:t>
            </a:r>
            <a:r>
              <a:rPr lang="en-US" altLang="zh-CN" sz="2400"/>
              <a:t>PSC</a:t>
            </a:r>
          </a:p>
        </p:txBody>
      </p:sp>
      <p:sp>
        <p:nvSpPr>
          <p:cNvPr id="582681" name="AutoShape 25" descr="小棋盘"/>
          <p:cNvSpPr>
            <a:spLocks noChangeArrowheads="1"/>
          </p:cNvSpPr>
          <p:nvPr/>
        </p:nvSpPr>
        <p:spPr bwMode="auto">
          <a:xfrm>
            <a:off x="6477000" y="5105400"/>
            <a:ext cx="1190625" cy="1600200"/>
          </a:xfrm>
          <a:prstGeom prst="wedgeRoundRectCallout">
            <a:avLst>
              <a:gd name="adj1" fmla="val -35199"/>
              <a:gd name="adj2" fmla="val -62403"/>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tx2"/>
                </a:solidFill>
              </a:rPr>
              <a:t>为</a:t>
            </a:r>
            <a:r>
              <a:rPr lang="en-US" altLang="zh-CN" sz="2400">
                <a:solidFill>
                  <a:schemeClr val="tx2"/>
                </a:solidFill>
              </a:rPr>
              <a:t>0</a:t>
            </a:r>
            <a:r>
              <a:rPr lang="zh-CN" altLang="en-US" sz="2400">
                <a:solidFill>
                  <a:schemeClr val="tx2"/>
                </a:solidFill>
              </a:rPr>
              <a:t>启动定时器，为</a:t>
            </a:r>
            <a:r>
              <a:rPr lang="en-US" altLang="zh-CN" sz="2400">
                <a:solidFill>
                  <a:schemeClr val="tx2"/>
                </a:solidFill>
              </a:rPr>
              <a:t>1</a:t>
            </a:r>
            <a:r>
              <a:rPr lang="zh-CN" altLang="en-US" sz="2400">
                <a:solidFill>
                  <a:schemeClr val="tx2"/>
                </a:solidFill>
              </a:rPr>
              <a:t>关</a:t>
            </a:r>
          </a:p>
        </p:txBody>
      </p:sp>
      <p:sp>
        <p:nvSpPr>
          <p:cNvPr id="582682" name="AutoShape 26" descr="小棋盘"/>
          <p:cNvSpPr>
            <a:spLocks noChangeArrowheads="1"/>
          </p:cNvSpPr>
          <p:nvPr/>
        </p:nvSpPr>
        <p:spPr bwMode="auto">
          <a:xfrm>
            <a:off x="7924800" y="4953000"/>
            <a:ext cx="914400" cy="1524000"/>
          </a:xfrm>
          <a:prstGeom prst="wedgeRoundRectCallout">
            <a:avLst>
              <a:gd name="adj1" fmla="val -84722"/>
              <a:gd name="adj2" fmla="val -51148"/>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t>定时器分频系数</a:t>
            </a:r>
          </a:p>
        </p:txBody>
      </p:sp>
      <p:sp>
        <p:nvSpPr>
          <p:cNvPr id="582683" name="AutoShape 27" descr="小棋盘"/>
          <p:cNvSpPr>
            <a:spLocks noChangeArrowheads="1"/>
          </p:cNvSpPr>
          <p:nvPr/>
        </p:nvSpPr>
        <p:spPr bwMode="auto">
          <a:xfrm>
            <a:off x="6858000" y="1219200"/>
            <a:ext cx="1981200" cy="533400"/>
          </a:xfrm>
          <a:prstGeom prst="wedgeRoundRectCallout">
            <a:avLst>
              <a:gd name="adj1" fmla="val -84778"/>
              <a:gd name="adj2" fmla="val 2977"/>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800">
                <a:solidFill>
                  <a:schemeClr val="tx2"/>
                </a:solidFill>
              </a:rPr>
              <a:t>减</a:t>
            </a:r>
            <a:r>
              <a:rPr lang="en-US" altLang="zh-CN" sz="2800">
                <a:solidFill>
                  <a:schemeClr val="tx2"/>
                </a:solidFill>
              </a:rPr>
              <a:t>1</a:t>
            </a:r>
            <a:r>
              <a:rPr lang="zh-CN" altLang="en-US" sz="2800">
                <a:solidFill>
                  <a:schemeClr val="tx2"/>
                </a:solidFill>
              </a:rPr>
              <a:t>计数器</a:t>
            </a:r>
          </a:p>
        </p:txBody>
      </p:sp>
      <p:sp>
        <p:nvSpPr>
          <p:cNvPr id="582684" name="AutoShape 28" descr="小棋盘"/>
          <p:cNvSpPr>
            <a:spLocks noChangeArrowheads="1"/>
          </p:cNvSpPr>
          <p:nvPr/>
        </p:nvSpPr>
        <p:spPr bwMode="auto">
          <a:xfrm>
            <a:off x="8001000" y="2590800"/>
            <a:ext cx="914400" cy="1219200"/>
          </a:xfrm>
          <a:prstGeom prst="wedgeRoundRectCallout">
            <a:avLst>
              <a:gd name="adj1" fmla="val -156426"/>
              <a:gd name="adj2" fmla="val -84375"/>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folHlink"/>
                </a:solidFill>
              </a:rPr>
              <a:t>存放时间常数</a:t>
            </a:r>
          </a:p>
        </p:txBody>
      </p:sp>
      <p:sp>
        <p:nvSpPr>
          <p:cNvPr id="582685" name="AutoShape 29" descr="小棋盘"/>
          <p:cNvSpPr>
            <a:spLocks noChangeArrowheads="1"/>
          </p:cNvSpPr>
          <p:nvPr/>
        </p:nvSpPr>
        <p:spPr bwMode="auto">
          <a:xfrm>
            <a:off x="2514600" y="5334000"/>
            <a:ext cx="1981200" cy="1295400"/>
          </a:xfrm>
          <a:prstGeom prst="wedgeRoundRectCallout">
            <a:avLst>
              <a:gd name="adj1" fmla="val 49759"/>
              <a:gd name="adj2" fmla="val -86764"/>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20000"/>
              </a:spcBef>
            </a:pPr>
            <a:r>
              <a:rPr lang="zh-CN" altLang="en-US" sz="2400">
                <a:solidFill>
                  <a:srgbClr val="006600"/>
                </a:solidFill>
              </a:rPr>
              <a:t>预定标计数器，</a:t>
            </a:r>
            <a:r>
              <a:rPr lang="zh-CN" altLang="en-US" sz="2400">
                <a:solidFill>
                  <a:srgbClr val="FF6600"/>
                </a:solidFill>
              </a:rPr>
              <a:t>减到</a:t>
            </a:r>
            <a:r>
              <a:rPr lang="en-US" altLang="zh-CN" sz="2400">
                <a:solidFill>
                  <a:srgbClr val="FF6600"/>
                </a:solidFill>
              </a:rPr>
              <a:t>0</a:t>
            </a:r>
            <a:r>
              <a:rPr lang="zh-CN" altLang="en-US" sz="2400">
                <a:solidFill>
                  <a:srgbClr val="FF6600"/>
                </a:solidFill>
              </a:rPr>
              <a:t>从</a:t>
            </a:r>
            <a:r>
              <a:rPr lang="en-US" altLang="zh-CN" sz="2400">
                <a:solidFill>
                  <a:srgbClr val="FF6600"/>
                </a:solidFill>
              </a:rPr>
              <a:t>TDDR</a:t>
            </a:r>
            <a:r>
              <a:rPr lang="zh-CN" altLang="en-US" sz="2400">
                <a:solidFill>
                  <a:srgbClr val="FF6600"/>
                </a:solidFill>
              </a:rPr>
              <a:t>加载</a:t>
            </a:r>
            <a:r>
              <a:rPr lang="en-US" altLang="zh-CN" sz="2400">
                <a:solidFill>
                  <a:srgbClr val="FF6600"/>
                </a:solidFill>
              </a:rPr>
              <a:t>PSC</a:t>
            </a:r>
            <a:endParaRPr lang="en-US" altLang="zh-CN" sz="2400">
              <a:solidFill>
                <a:srgbClr val="006600"/>
              </a:solidFill>
            </a:endParaRPr>
          </a:p>
        </p:txBody>
      </p:sp>
      <p:grpSp>
        <p:nvGrpSpPr>
          <p:cNvPr id="7" name="Group 30"/>
          <p:cNvGrpSpPr>
            <a:grpSpLocks/>
          </p:cNvGrpSpPr>
          <p:nvPr/>
        </p:nvGrpSpPr>
        <p:grpSpPr bwMode="auto">
          <a:xfrm>
            <a:off x="152400" y="5029200"/>
            <a:ext cx="1905000" cy="1371600"/>
            <a:chOff x="96" y="3168"/>
            <a:chExt cx="1200" cy="864"/>
          </a:xfrm>
        </p:grpSpPr>
        <p:sp>
          <p:nvSpPr>
            <p:cNvPr id="85006" name="AutoShape 31" descr="小棋盘"/>
            <p:cNvSpPr>
              <a:spLocks noChangeArrowheads="1"/>
            </p:cNvSpPr>
            <p:nvPr/>
          </p:nvSpPr>
          <p:spPr bwMode="auto">
            <a:xfrm>
              <a:off x="144" y="3264"/>
              <a:ext cx="1104" cy="528"/>
            </a:xfrm>
            <a:prstGeom prst="wedgeRoundRectCallout">
              <a:avLst>
                <a:gd name="adj1" fmla="val 88769"/>
                <a:gd name="adj2" fmla="val -84847"/>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rgbClr val="006600"/>
                  </a:solidFill>
                </a:rPr>
                <a:t>为</a:t>
              </a:r>
            </a:p>
          </p:txBody>
        </p:sp>
        <p:sp>
          <p:nvSpPr>
            <p:cNvPr id="85007" name="AutoShape 32" descr="小棋盘"/>
            <p:cNvSpPr>
              <a:spLocks noChangeArrowheads="1"/>
            </p:cNvSpPr>
            <p:nvPr/>
          </p:nvSpPr>
          <p:spPr bwMode="auto">
            <a:xfrm>
              <a:off x="96" y="3168"/>
              <a:ext cx="1200" cy="864"/>
            </a:xfrm>
            <a:prstGeom prst="wedgeRoundRectCallout">
              <a:avLst>
                <a:gd name="adj1" fmla="val 114500"/>
                <a:gd name="adj2" fmla="val -63310"/>
                <a:gd name="adj3" fmla="val 16667"/>
              </a:avLst>
            </a:prstGeom>
            <a:pattFill prst="smCheck">
              <a:fgClr>
                <a:srgbClr val="FFFF00"/>
              </a:fgClr>
              <a:bgClr>
                <a:srgbClr val="FFFFFF"/>
              </a:bgClr>
            </a:patt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en-US" altLang="zh-CN" sz="2400">
                  <a:solidFill>
                    <a:srgbClr val="006600"/>
                  </a:solidFill>
                </a:rPr>
                <a:t>00</a:t>
              </a:r>
              <a:r>
                <a:rPr lang="zh-CN" altLang="en-US" sz="2400">
                  <a:solidFill>
                    <a:srgbClr val="006600"/>
                  </a:solidFill>
                </a:rPr>
                <a:t>立即停</a:t>
              </a:r>
            </a:p>
            <a:p>
              <a:pPr algn="just" eaLnBrk="1" hangingPunct="1">
                <a:spcBef>
                  <a:spcPct val="20000"/>
                </a:spcBef>
              </a:pPr>
              <a:r>
                <a:rPr lang="en-US" altLang="zh-CN" sz="2400">
                  <a:solidFill>
                    <a:srgbClr val="006600"/>
                  </a:solidFill>
                </a:rPr>
                <a:t>01</a:t>
              </a:r>
              <a:r>
                <a:rPr lang="zh-CN" altLang="en-US" sz="2400">
                  <a:solidFill>
                    <a:srgbClr val="006600"/>
                  </a:solidFill>
                </a:rPr>
                <a:t>减到</a:t>
              </a:r>
              <a:r>
                <a:rPr lang="en-US" altLang="zh-CN" sz="2400">
                  <a:solidFill>
                    <a:srgbClr val="006600"/>
                  </a:solidFill>
                </a:rPr>
                <a:t>0</a:t>
              </a:r>
              <a:r>
                <a:rPr lang="zh-CN" altLang="en-US" sz="2400">
                  <a:solidFill>
                    <a:srgbClr val="006600"/>
                  </a:solidFill>
                </a:rPr>
                <a:t>停</a:t>
              </a:r>
            </a:p>
            <a:p>
              <a:pPr algn="just" eaLnBrk="1" hangingPunct="1">
                <a:spcBef>
                  <a:spcPct val="20000"/>
                </a:spcBef>
              </a:pPr>
              <a:r>
                <a:rPr lang="en-US" altLang="zh-CN" sz="2400">
                  <a:solidFill>
                    <a:srgbClr val="006600"/>
                  </a:solidFill>
                </a:rPr>
                <a:t>1x</a:t>
              </a:r>
              <a:r>
                <a:rPr lang="zh-CN" altLang="en-US" sz="2400">
                  <a:solidFill>
                    <a:srgbClr val="006600"/>
                  </a:solidFill>
                </a:rPr>
                <a:t>继续运行</a:t>
              </a:r>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582659"/>
                                        </p:tgtEl>
                                        <p:attrNameLst>
                                          <p:attrName>style.visibility</p:attrName>
                                        </p:attrNameLst>
                                      </p:cBhvr>
                                      <p:to>
                                        <p:strVal val="visible"/>
                                      </p:to>
                                    </p:set>
                                    <p:anim calcmode="lin" valueType="num">
                                      <p:cBhvr>
                                        <p:cTn id="7" dur="500" fill="hold"/>
                                        <p:tgtEl>
                                          <p:spTgt spid="582659"/>
                                        </p:tgtEl>
                                        <p:attrNameLst>
                                          <p:attrName>ppt_w</p:attrName>
                                        </p:attrNameLst>
                                      </p:cBhvr>
                                      <p:tavLst>
                                        <p:tav tm="0">
                                          <p:val>
                                            <p:fltVal val="0"/>
                                          </p:val>
                                        </p:tav>
                                        <p:tav tm="100000">
                                          <p:val>
                                            <p:strVal val="#ppt_w"/>
                                          </p:val>
                                        </p:tav>
                                      </p:tavLst>
                                    </p:anim>
                                    <p:anim calcmode="lin" valueType="num">
                                      <p:cBhvr>
                                        <p:cTn id="8" dur="500" fill="hold"/>
                                        <p:tgtEl>
                                          <p:spTgt spid="582659"/>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582658"/>
                                        </p:tgtEl>
                                        <p:attrNameLst>
                                          <p:attrName>style.visibility</p:attrName>
                                        </p:attrNameLst>
                                      </p:cBhvr>
                                      <p:to>
                                        <p:strVal val="visible"/>
                                      </p:to>
                                    </p:set>
                                    <p:anim calcmode="lin" valueType="num">
                                      <p:cBhvr>
                                        <p:cTn id="12" dur="500" fill="hold"/>
                                        <p:tgtEl>
                                          <p:spTgt spid="582658"/>
                                        </p:tgtEl>
                                        <p:attrNameLst>
                                          <p:attrName>ppt_w</p:attrName>
                                        </p:attrNameLst>
                                      </p:cBhvr>
                                      <p:tavLst>
                                        <p:tav tm="0">
                                          <p:val>
                                            <p:fltVal val="0"/>
                                          </p:val>
                                        </p:tav>
                                        <p:tav tm="100000">
                                          <p:val>
                                            <p:strVal val="#ppt_w"/>
                                          </p:val>
                                        </p:tav>
                                      </p:tavLst>
                                    </p:anim>
                                    <p:anim calcmode="lin" valueType="num">
                                      <p:cBhvr>
                                        <p:cTn id="13" dur="500" fill="hold"/>
                                        <p:tgtEl>
                                          <p:spTgt spid="582658"/>
                                        </p:tgtEl>
                                        <p:attrNameLst>
                                          <p:attrName>ppt_h</p:attrName>
                                        </p:attrNameLst>
                                      </p:cBhvr>
                                      <p:tavLst>
                                        <p:tav tm="0">
                                          <p:val>
                                            <p:strVal val="#ppt_h"/>
                                          </p:val>
                                        </p:tav>
                                        <p:tav tm="100000">
                                          <p:val>
                                            <p:strVal val="#ppt_h"/>
                                          </p:val>
                                        </p:tav>
                                      </p:tavLst>
                                    </p:anim>
                                  </p:childTnLst>
                                </p:cTn>
                              </p:par>
                            </p:childTnLst>
                          </p:cTn>
                        </p:par>
                        <p:par>
                          <p:cTn id="14" fill="hold" nodeType="afterGroup">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582683"/>
                                        </p:tgtEl>
                                        <p:attrNameLst>
                                          <p:attrName>style.visibility</p:attrName>
                                        </p:attrNameLst>
                                      </p:cBhvr>
                                      <p:to>
                                        <p:strVal val="visible"/>
                                      </p:to>
                                    </p:set>
                                    <p:anim calcmode="lin" valueType="num">
                                      <p:cBhvr additive="base">
                                        <p:cTn id="17" dur="500" fill="hold"/>
                                        <p:tgtEl>
                                          <p:spTgt spid="582683"/>
                                        </p:tgtEl>
                                        <p:attrNameLst>
                                          <p:attrName>ppt_x</p:attrName>
                                        </p:attrNameLst>
                                      </p:cBhvr>
                                      <p:tavLst>
                                        <p:tav tm="0">
                                          <p:val>
                                            <p:strVal val="1+#ppt_w/2"/>
                                          </p:val>
                                        </p:tav>
                                        <p:tav tm="100000">
                                          <p:val>
                                            <p:strVal val="#ppt_x"/>
                                          </p:val>
                                        </p:tav>
                                      </p:tavLst>
                                    </p:anim>
                                    <p:anim calcmode="lin" valueType="num">
                                      <p:cBhvr additive="base">
                                        <p:cTn id="18" dur="500" fill="hold"/>
                                        <p:tgtEl>
                                          <p:spTgt spid="582683"/>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582684"/>
                                        </p:tgtEl>
                                        <p:attrNameLst>
                                          <p:attrName>style.visibility</p:attrName>
                                        </p:attrNameLst>
                                      </p:cBhvr>
                                      <p:to>
                                        <p:strVal val="visible"/>
                                      </p:to>
                                    </p:set>
                                    <p:anim calcmode="lin" valueType="num">
                                      <p:cBhvr additive="base">
                                        <p:cTn id="22" dur="500" fill="hold"/>
                                        <p:tgtEl>
                                          <p:spTgt spid="582684"/>
                                        </p:tgtEl>
                                        <p:attrNameLst>
                                          <p:attrName>ppt_x</p:attrName>
                                        </p:attrNameLst>
                                      </p:cBhvr>
                                      <p:tavLst>
                                        <p:tav tm="0">
                                          <p:val>
                                            <p:strVal val="1+#ppt_w/2"/>
                                          </p:val>
                                        </p:tav>
                                        <p:tav tm="100000">
                                          <p:val>
                                            <p:strVal val="#ppt_x"/>
                                          </p:val>
                                        </p:tav>
                                      </p:tavLst>
                                    </p:anim>
                                    <p:anim calcmode="lin" valueType="num">
                                      <p:cBhvr additive="base">
                                        <p:cTn id="23" dur="500" fill="hold"/>
                                        <p:tgtEl>
                                          <p:spTgt spid="582684"/>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17" presetClass="entr" presetSubtype="10" fill="hold" grpId="0" nodeType="afterEffect">
                                  <p:stCondLst>
                                    <p:cond delay="0"/>
                                  </p:stCondLst>
                                  <p:childTnLst>
                                    <p:set>
                                      <p:cBhvr>
                                        <p:cTn id="26" dur="1" fill="hold">
                                          <p:stCondLst>
                                            <p:cond delay="0"/>
                                          </p:stCondLst>
                                        </p:cTn>
                                        <p:tgtEl>
                                          <p:spTgt spid="582679"/>
                                        </p:tgtEl>
                                        <p:attrNameLst>
                                          <p:attrName>style.visibility</p:attrName>
                                        </p:attrNameLst>
                                      </p:cBhvr>
                                      <p:to>
                                        <p:strVal val="visible"/>
                                      </p:to>
                                    </p:set>
                                    <p:anim calcmode="lin" valueType="num">
                                      <p:cBhvr>
                                        <p:cTn id="27" dur="500" fill="hold"/>
                                        <p:tgtEl>
                                          <p:spTgt spid="582679"/>
                                        </p:tgtEl>
                                        <p:attrNameLst>
                                          <p:attrName>ppt_w</p:attrName>
                                        </p:attrNameLst>
                                      </p:cBhvr>
                                      <p:tavLst>
                                        <p:tav tm="0">
                                          <p:val>
                                            <p:fltVal val="0"/>
                                          </p:val>
                                        </p:tav>
                                        <p:tav tm="100000">
                                          <p:val>
                                            <p:strVal val="#ppt_w"/>
                                          </p:val>
                                        </p:tav>
                                      </p:tavLst>
                                    </p:anim>
                                    <p:anim calcmode="lin" valueType="num">
                                      <p:cBhvr>
                                        <p:cTn id="28" dur="500" fill="hold"/>
                                        <p:tgtEl>
                                          <p:spTgt spid="582679"/>
                                        </p:tgtEl>
                                        <p:attrNameLst>
                                          <p:attrName>ppt_h</p:attrName>
                                        </p:attrNameLst>
                                      </p:cBhvr>
                                      <p:tavLst>
                                        <p:tav tm="0">
                                          <p:val>
                                            <p:strVal val="#ppt_h"/>
                                          </p:val>
                                        </p:tav>
                                        <p:tav tm="100000">
                                          <p:val>
                                            <p:strVal val="#ppt_h"/>
                                          </p:val>
                                        </p:tav>
                                      </p:tavLst>
                                    </p:anim>
                                  </p:childTnLst>
                                </p:cTn>
                              </p:par>
                            </p:childTnLst>
                          </p:cTn>
                        </p:par>
                        <p:par>
                          <p:cTn id="29" fill="hold" nodeType="afterGroup">
                            <p:stCondLst>
                              <p:cond delay="2500"/>
                            </p:stCondLst>
                            <p:childTnLst>
                              <p:par>
                                <p:cTn id="30" presetID="2" presetClass="entr" presetSubtype="8"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0-#ppt_w/2"/>
                                          </p:val>
                                        </p:tav>
                                        <p:tav tm="100000">
                                          <p:val>
                                            <p:strVal val="#ppt_x"/>
                                          </p:val>
                                        </p:tav>
                                      </p:tavLst>
                                    </p:anim>
                                    <p:anim calcmode="lin" valueType="num">
                                      <p:cBhvr additive="base">
                                        <p:cTn id="33" dur="500" fill="hold"/>
                                        <p:tgtEl>
                                          <p:spTgt spid="2"/>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3000"/>
                            </p:stCondLst>
                            <p:childTnLst>
                              <p:par>
                                <p:cTn id="35" presetID="2" presetClass="entr" presetSubtype="8" fill="hold"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0-#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582685"/>
                                        </p:tgtEl>
                                        <p:attrNameLst>
                                          <p:attrName>style.visibility</p:attrName>
                                        </p:attrNameLst>
                                      </p:cBhvr>
                                      <p:to>
                                        <p:strVal val="visible"/>
                                      </p:to>
                                    </p:set>
                                    <p:anim calcmode="lin" valueType="num">
                                      <p:cBhvr additive="base">
                                        <p:cTn id="42" dur="500" fill="hold"/>
                                        <p:tgtEl>
                                          <p:spTgt spid="582685"/>
                                        </p:tgtEl>
                                        <p:attrNameLst>
                                          <p:attrName>ppt_x</p:attrName>
                                        </p:attrNameLst>
                                      </p:cBhvr>
                                      <p:tavLst>
                                        <p:tav tm="0">
                                          <p:val>
                                            <p:strVal val="#ppt_x"/>
                                          </p:val>
                                        </p:tav>
                                        <p:tav tm="100000">
                                          <p:val>
                                            <p:strVal val="#ppt_x"/>
                                          </p:val>
                                        </p:tav>
                                      </p:tavLst>
                                    </p:anim>
                                    <p:anim calcmode="lin" valueType="num">
                                      <p:cBhvr additive="base">
                                        <p:cTn id="43" dur="500" fill="hold"/>
                                        <p:tgtEl>
                                          <p:spTgt spid="582685"/>
                                        </p:tgtEl>
                                        <p:attrNameLst>
                                          <p:attrName>ppt_y</p:attrName>
                                        </p:attrNameLst>
                                      </p:cBhvr>
                                      <p:tavLst>
                                        <p:tav tm="0">
                                          <p:val>
                                            <p:strVal val="1+#ppt_h/2"/>
                                          </p:val>
                                        </p:tav>
                                        <p:tav tm="100000">
                                          <p:val>
                                            <p:strVal val="#ppt_y"/>
                                          </p:val>
                                        </p:tav>
                                      </p:tavLst>
                                    </p:anim>
                                  </p:childTnLst>
                                </p:cTn>
                              </p:par>
                            </p:childTnLst>
                          </p:cTn>
                        </p:par>
                        <p:par>
                          <p:cTn id="44" fill="hold" nodeType="afterGroup">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582680"/>
                                        </p:tgtEl>
                                        <p:attrNameLst>
                                          <p:attrName>style.visibility</p:attrName>
                                        </p:attrNameLst>
                                      </p:cBhvr>
                                      <p:to>
                                        <p:strVal val="visible"/>
                                      </p:to>
                                    </p:set>
                                    <p:anim calcmode="lin" valueType="num">
                                      <p:cBhvr additive="base">
                                        <p:cTn id="47" dur="500" fill="hold"/>
                                        <p:tgtEl>
                                          <p:spTgt spid="582680"/>
                                        </p:tgtEl>
                                        <p:attrNameLst>
                                          <p:attrName>ppt_x</p:attrName>
                                        </p:attrNameLst>
                                      </p:cBhvr>
                                      <p:tavLst>
                                        <p:tav tm="0">
                                          <p:val>
                                            <p:strVal val="#ppt_x"/>
                                          </p:val>
                                        </p:tav>
                                        <p:tav tm="100000">
                                          <p:val>
                                            <p:strVal val="#ppt_x"/>
                                          </p:val>
                                        </p:tav>
                                      </p:tavLst>
                                    </p:anim>
                                    <p:anim calcmode="lin" valueType="num">
                                      <p:cBhvr additive="base">
                                        <p:cTn id="48" dur="500" fill="hold"/>
                                        <p:tgtEl>
                                          <p:spTgt spid="582680"/>
                                        </p:tgtEl>
                                        <p:attrNameLst>
                                          <p:attrName>ppt_y</p:attrName>
                                        </p:attrNameLst>
                                      </p:cBhvr>
                                      <p:tavLst>
                                        <p:tav tm="0">
                                          <p:val>
                                            <p:strVal val="1+#ppt_h/2"/>
                                          </p:val>
                                        </p:tav>
                                        <p:tav tm="100000">
                                          <p:val>
                                            <p:strVal val="#ppt_y"/>
                                          </p:val>
                                        </p:tav>
                                      </p:tavLst>
                                    </p:anim>
                                  </p:childTnLst>
                                </p:cTn>
                              </p:par>
                            </p:childTnLst>
                          </p:cTn>
                        </p:par>
                        <p:par>
                          <p:cTn id="49" fill="hold" nodeType="afterGroup">
                            <p:stCondLst>
                              <p:cond delay="4500"/>
                            </p:stCondLst>
                            <p:childTnLst>
                              <p:par>
                                <p:cTn id="50" presetID="2" presetClass="entr" presetSubtype="4" fill="hold" grpId="0" nodeType="afterEffect">
                                  <p:stCondLst>
                                    <p:cond delay="0"/>
                                  </p:stCondLst>
                                  <p:childTnLst>
                                    <p:set>
                                      <p:cBhvr>
                                        <p:cTn id="51" dur="1" fill="hold">
                                          <p:stCondLst>
                                            <p:cond delay="0"/>
                                          </p:stCondLst>
                                        </p:cTn>
                                        <p:tgtEl>
                                          <p:spTgt spid="582681"/>
                                        </p:tgtEl>
                                        <p:attrNameLst>
                                          <p:attrName>style.visibility</p:attrName>
                                        </p:attrNameLst>
                                      </p:cBhvr>
                                      <p:to>
                                        <p:strVal val="visible"/>
                                      </p:to>
                                    </p:set>
                                    <p:anim calcmode="lin" valueType="num">
                                      <p:cBhvr additive="base">
                                        <p:cTn id="52" dur="500" fill="hold"/>
                                        <p:tgtEl>
                                          <p:spTgt spid="582681"/>
                                        </p:tgtEl>
                                        <p:attrNameLst>
                                          <p:attrName>ppt_x</p:attrName>
                                        </p:attrNameLst>
                                      </p:cBhvr>
                                      <p:tavLst>
                                        <p:tav tm="0">
                                          <p:val>
                                            <p:strVal val="#ppt_x"/>
                                          </p:val>
                                        </p:tav>
                                        <p:tav tm="100000">
                                          <p:val>
                                            <p:strVal val="#ppt_x"/>
                                          </p:val>
                                        </p:tav>
                                      </p:tavLst>
                                    </p:anim>
                                    <p:anim calcmode="lin" valueType="num">
                                      <p:cBhvr additive="base">
                                        <p:cTn id="53" dur="500" fill="hold"/>
                                        <p:tgtEl>
                                          <p:spTgt spid="582681"/>
                                        </p:tgtEl>
                                        <p:attrNameLst>
                                          <p:attrName>ppt_y</p:attrName>
                                        </p:attrNameLst>
                                      </p:cBhvr>
                                      <p:tavLst>
                                        <p:tav tm="0">
                                          <p:val>
                                            <p:strVal val="1+#ppt_h/2"/>
                                          </p:val>
                                        </p:tav>
                                        <p:tav tm="100000">
                                          <p:val>
                                            <p:strVal val="#ppt_y"/>
                                          </p:val>
                                        </p:tav>
                                      </p:tavLst>
                                    </p:anim>
                                  </p:childTnLst>
                                </p:cTn>
                              </p:par>
                            </p:childTnLst>
                          </p:cTn>
                        </p:par>
                        <p:par>
                          <p:cTn id="54" fill="hold" nodeType="afterGroup">
                            <p:stCondLst>
                              <p:cond delay="5000"/>
                            </p:stCondLst>
                            <p:childTnLst>
                              <p:par>
                                <p:cTn id="55" presetID="2" presetClass="entr" presetSubtype="2" fill="hold" grpId="0" nodeType="afterEffect">
                                  <p:stCondLst>
                                    <p:cond delay="0"/>
                                  </p:stCondLst>
                                  <p:childTnLst>
                                    <p:set>
                                      <p:cBhvr>
                                        <p:cTn id="56" dur="1" fill="hold">
                                          <p:stCondLst>
                                            <p:cond delay="0"/>
                                          </p:stCondLst>
                                        </p:cTn>
                                        <p:tgtEl>
                                          <p:spTgt spid="582682"/>
                                        </p:tgtEl>
                                        <p:attrNameLst>
                                          <p:attrName>style.visibility</p:attrName>
                                        </p:attrNameLst>
                                      </p:cBhvr>
                                      <p:to>
                                        <p:strVal val="visible"/>
                                      </p:to>
                                    </p:set>
                                    <p:anim calcmode="lin" valueType="num">
                                      <p:cBhvr additive="base">
                                        <p:cTn id="57" dur="500" fill="hold"/>
                                        <p:tgtEl>
                                          <p:spTgt spid="582682"/>
                                        </p:tgtEl>
                                        <p:attrNameLst>
                                          <p:attrName>ppt_x</p:attrName>
                                        </p:attrNameLst>
                                      </p:cBhvr>
                                      <p:tavLst>
                                        <p:tav tm="0">
                                          <p:val>
                                            <p:strVal val="1+#ppt_w/2"/>
                                          </p:val>
                                        </p:tav>
                                        <p:tav tm="100000">
                                          <p:val>
                                            <p:strVal val="#ppt_x"/>
                                          </p:val>
                                        </p:tav>
                                      </p:tavLst>
                                    </p:anim>
                                    <p:anim calcmode="lin" valueType="num">
                                      <p:cBhvr additive="base">
                                        <p:cTn id="58" dur="500" fill="hold"/>
                                        <p:tgtEl>
                                          <p:spTgt spid="5826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8" grpId="0" animBg="1" autoUpdateAnimBg="0"/>
      <p:bldP spid="582659" grpId="0" animBg="1" autoUpdateAnimBg="0"/>
      <p:bldP spid="582679" grpId="0" autoUpdateAnimBg="0"/>
      <p:bldP spid="582680" grpId="0" animBg="1" autoUpdateAnimBg="0"/>
      <p:bldP spid="582681" grpId="0" animBg="1" autoUpdateAnimBg="0"/>
      <p:bldP spid="582682" grpId="0" animBg="1" autoUpdateAnimBg="0"/>
      <p:bldP spid="582683" grpId="0" animBg="1" autoUpdateAnimBg="0"/>
      <p:bldP spid="582684" grpId="0" animBg="1" autoUpdateAnimBg="0"/>
      <p:bldP spid="582685" grpId="0" animBg="1"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A55A4F88-EF6E-4CCE-94A2-BE6258333300}" type="slidenum">
              <a:rPr lang="en-US" altLang="zh-CN" sz="1400" b="0"/>
              <a:pPr eaLnBrk="1" hangingPunct="1"/>
              <a:t>73</a:t>
            </a:fld>
            <a:endParaRPr lang="en-US" altLang="zh-CN" sz="1400" b="0"/>
          </a:p>
        </p:txBody>
      </p:sp>
      <p:grpSp>
        <p:nvGrpSpPr>
          <p:cNvPr id="86019" name="Group 2"/>
          <p:cNvGrpSpPr>
            <a:grpSpLocks/>
          </p:cNvGrpSpPr>
          <p:nvPr/>
        </p:nvGrpSpPr>
        <p:grpSpPr bwMode="auto">
          <a:xfrm>
            <a:off x="228600" y="1066800"/>
            <a:ext cx="8686800" cy="5243513"/>
            <a:chOff x="144" y="672"/>
            <a:chExt cx="5472" cy="3303"/>
          </a:xfrm>
        </p:grpSpPr>
        <p:sp>
          <p:nvSpPr>
            <p:cNvPr id="86020" name="Rectangle 3"/>
            <p:cNvSpPr>
              <a:spLocks noChangeArrowheads="1"/>
            </p:cNvSpPr>
            <p:nvPr/>
          </p:nvSpPr>
          <p:spPr bwMode="auto">
            <a:xfrm>
              <a:off x="144" y="672"/>
              <a:ext cx="5472" cy="3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6832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25000"/>
                </a:spcBef>
              </a:pPr>
              <a:r>
                <a:rPr lang="zh-CN" altLang="en-US" sz="2800"/>
                <a:t>在正常工作情况下，当</a:t>
              </a:r>
              <a:r>
                <a:rPr lang="en-US" altLang="zh-CN" sz="2800"/>
                <a:t>TIM</a:t>
              </a:r>
              <a:r>
                <a:rPr lang="zh-CN" altLang="en-US" sz="2800"/>
                <a:t>减到</a:t>
              </a:r>
              <a:r>
                <a:rPr lang="en-US" altLang="zh-CN" sz="2800"/>
                <a:t>0</a:t>
              </a:r>
              <a:r>
                <a:rPr lang="zh-CN" altLang="en-US" sz="2800"/>
                <a:t>后，</a:t>
              </a:r>
              <a:r>
                <a:rPr lang="en-US" altLang="zh-CN" sz="2800"/>
                <a:t>PRD</a:t>
              </a:r>
              <a:r>
                <a:rPr lang="zh-CN" altLang="en-US" sz="2800"/>
                <a:t>中的时间常数自动地加载到</a:t>
              </a:r>
              <a:r>
                <a:rPr lang="en-US" altLang="zh-CN" sz="2800"/>
                <a:t>TIM</a:t>
              </a:r>
              <a:r>
                <a:rPr lang="zh-CN" altLang="en-US" sz="2800"/>
                <a:t>。</a:t>
              </a:r>
            </a:p>
            <a:p>
              <a:pPr eaLnBrk="1" hangingPunct="1">
                <a:lnSpc>
                  <a:spcPct val="85000"/>
                </a:lnSpc>
                <a:spcBef>
                  <a:spcPct val="25000"/>
                </a:spcBef>
              </a:pPr>
              <a:r>
                <a:rPr lang="zh-CN" altLang="en-US" sz="2800">
                  <a:solidFill>
                    <a:schemeClr val="tx2"/>
                  </a:solidFill>
                </a:rPr>
                <a:t>当系统复位（</a:t>
              </a:r>
              <a:r>
                <a:rPr lang="en-US" altLang="zh-CN" sz="2800">
                  <a:solidFill>
                    <a:schemeClr val="tx2"/>
                  </a:solidFill>
                </a:rPr>
                <a:t>SRESET</a:t>
              </a:r>
              <a:r>
                <a:rPr lang="zh-CN" altLang="en-US" sz="2800">
                  <a:solidFill>
                    <a:schemeClr val="tx2"/>
                  </a:solidFill>
                </a:rPr>
                <a:t>置</a:t>
              </a:r>
              <a:r>
                <a:rPr lang="en-US" altLang="zh-CN" sz="2800">
                  <a:solidFill>
                    <a:schemeClr val="tx2"/>
                  </a:solidFill>
                </a:rPr>
                <a:t>1</a:t>
              </a:r>
              <a:r>
                <a:rPr lang="zh-CN" altLang="en-US" sz="2800">
                  <a:solidFill>
                    <a:schemeClr val="tx2"/>
                  </a:solidFill>
                </a:rPr>
                <a:t>）或者定时器单独复位（</a:t>
              </a:r>
              <a:r>
                <a:rPr lang="en-US" altLang="zh-CN" sz="2800">
                  <a:solidFill>
                    <a:schemeClr val="tx2"/>
                  </a:solidFill>
                </a:rPr>
                <a:t>TRB</a:t>
              </a:r>
              <a:r>
                <a:rPr lang="zh-CN" altLang="en-US" sz="2800">
                  <a:solidFill>
                    <a:schemeClr val="tx2"/>
                  </a:solidFill>
                </a:rPr>
                <a:t>置</a:t>
              </a:r>
              <a:r>
                <a:rPr lang="en-US" altLang="zh-CN" sz="2800">
                  <a:solidFill>
                    <a:schemeClr val="tx2"/>
                  </a:solidFill>
                </a:rPr>
                <a:t>1</a:t>
              </a:r>
              <a:r>
                <a:rPr lang="zh-CN" altLang="en-US" sz="2800">
                  <a:solidFill>
                    <a:schemeClr val="tx2"/>
                  </a:solidFill>
                </a:rPr>
                <a:t>）时，</a:t>
              </a:r>
              <a:r>
                <a:rPr lang="en-US" altLang="zh-CN" sz="2800">
                  <a:solidFill>
                    <a:schemeClr val="tx2"/>
                  </a:solidFill>
                </a:rPr>
                <a:t>PRD</a:t>
              </a:r>
              <a:r>
                <a:rPr lang="zh-CN" altLang="en-US" sz="2800">
                  <a:solidFill>
                    <a:schemeClr val="tx2"/>
                  </a:solidFill>
                </a:rPr>
                <a:t>中的时间常数重新加载到</a:t>
              </a:r>
              <a:r>
                <a:rPr lang="en-US" altLang="zh-CN" sz="2800">
                  <a:solidFill>
                    <a:schemeClr val="tx2"/>
                  </a:solidFill>
                </a:rPr>
                <a:t>TIM</a:t>
              </a:r>
              <a:r>
                <a:rPr lang="zh-CN" altLang="en-US" sz="2800">
                  <a:solidFill>
                    <a:schemeClr val="tx2"/>
                  </a:solidFill>
                </a:rPr>
                <a:t>。</a:t>
              </a:r>
            </a:p>
            <a:p>
              <a:pPr eaLnBrk="1" hangingPunct="1">
                <a:lnSpc>
                  <a:spcPct val="85000"/>
                </a:lnSpc>
                <a:spcBef>
                  <a:spcPct val="25000"/>
                </a:spcBef>
              </a:pPr>
              <a:r>
                <a:rPr lang="zh-CN" altLang="en-US" sz="2800"/>
                <a:t>复位后，定时器控制寄存器（</a:t>
              </a:r>
              <a:r>
                <a:rPr lang="en-US" altLang="zh-CN" sz="2800"/>
                <a:t>TCR</a:t>
              </a:r>
              <a:r>
                <a:rPr lang="zh-CN" altLang="en-US" sz="2800"/>
                <a:t>）的停止状态位</a:t>
              </a:r>
              <a:r>
                <a:rPr lang="en-US" altLang="zh-CN" sz="2800"/>
                <a:t>TSS=0</a:t>
              </a:r>
              <a:r>
                <a:rPr lang="zh-CN" altLang="en-US" sz="2800"/>
                <a:t>，定时器启动工作，时钟信号</a:t>
              </a:r>
              <a:r>
                <a:rPr lang="en-US" altLang="zh-CN" sz="2800"/>
                <a:t>CLKOUT</a:t>
              </a:r>
              <a:r>
                <a:rPr lang="zh-CN" altLang="en-US" sz="2800"/>
                <a:t>加到预定标计数器</a:t>
              </a:r>
              <a:r>
                <a:rPr lang="en-US" altLang="zh-CN" sz="2800"/>
                <a:t>PSC</a:t>
              </a:r>
              <a:r>
                <a:rPr lang="zh-CN" altLang="en-US" sz="2800"/>
                <a:t>。</a:t>
              </a:r>
              <a:endParaRPr lang="zh-CN" altLang="en-US" sz="2800">
                <a:solidFill>
                  <a:srgbClr val="FF00FF"/>
                </a:solidFill>
              </a:endParaRPr>
            </a:p>
            <a:p>
              <a:pPr eaLnBrk="1" hangingPunct="1">
                <a:lnSpc>
                  <a:spcPct val="85000"/>
                </a:lnSpc>
                <a:spcBef>
                  <a:spcPct val="25000"/>
                </a:spcBef>
              </a:pPr>
              <a:r>
                <a:rPr lang="en-US" altLang="zh-CN" sz="2800">
                  <a:solidFill>
                    <a:srgbClr val="FF00FF"/>
                  </a:solidFill>
                </a:rPr>
                <a:t>PSC</a:t>
              </a:r>
              <a:r>
                <a:rPr lang="zh-CN" altLang="en-US" sz="2800">
                  <a:solidFill>
                    <a:srgbClr val="FF00FF"/>
                  </a:solidFill>
                </a:rPr>
                <a:t>是一个减</a:t>
              </a:r>
              <a:r>
                <a:rPr lang="en-US" altLang="zh-CN" sz="2800">
                  <a:solidFill>
                    <a:srgbClr val="FF00FF"/>
                  </a:solidFill>
                </a:rPr>
                <a:t>1</a:t>
              </a:r>
              <a:r>
                <a:rPr lang="zh-CN" altLang="en-US" sz="2800">
                  <a:solidFill>
                    <a:srgbClr val="FF00FF"/>
                  </a:solidFill>
                </a:rPr>
                <a:t>计数器，每当复位或其减到</a:t>
              </a:r>
              <a:r>
                <a:rPr lang="en-US" altLang="zh-CN" sz="2800">
                  <a:solidFill>
                    <a:srgbClr val="FF00FF"/>
                  </a:solidFill>
                </a:rPr>
                <a:t>0</a:t>
              </a:r>
              <a:r>
                <a:rPr lang="zh-CN" altLang="en-US" sz="2800">
                  <a:solidFill>
                    <a:srgbClr val="FF00FF"/>
                  </a:solidFill>
                </a:rPr>
                <a:t>后，自动地将定时器分频系数</a:t>
              </a:r>
              <a:r>
                <a:rPr lang="en-US" altLang="zh-CN" sz="2800">
                  <a:solidFill>
                    <a:srgbClr val="FF00FF"/>
                  </a:solidFill>
                </a:rPr>
                <a:t>TDDR</a:t>
              </a:r>
              <a:r>
                <a:rPr lang="zh-CN" altLang="en-US" sz="2800">
                  <a:solidFill>
                    <a:srgbClr val="FF00FF"/>
                  </a:solidFill>
                </a:rPr>
                <a:t>加载到</a:t>
              </a:r>
              <a:r>
                <a:rPr lang="en-US" altLang="zh-CN" sz="2800">
                  <a:solidFill>
                    <a:srgbClr val="FF00FF"/>
                  </a:solidFill>
                </a:rPr>
                <a:t>PSC</a:t>
              </a:r>
              <a:r>
                <a:rPr lang="zh-CN" altLang="en-US" sz="2800">
                  <a:solidFill>
                    <a:srgbClr val="FF00FF"/>
                  </a:solidFill>
                </a:rPr>
                <a:t>。</a:t>
              </a:r>
              <a:r>
                <a:rPr lang="en-US" altLang="zh-CN" sz="2800">
                  <a:solidFill>
                    <a:srgbClr val="FF00FF"/>
                  </a:solidFill>
                </a:rPr>
                <a:t>PSC</a:t>
              </a:r>
              <a:r>
                <a:rPr lang="zh-CN" altLang="en-US" sz="2800">
                  <a:solidFill>
                    <a:srgbClr val="FF00FF"/>
                  </a:solidFill>
                </a:rPr>
                <a:t>在</a:t>
              </a:r>
              <a:r>
                <a:rPr lang="en-US" altLang="zh-CN" sz="2800">
                  <a:solidFill>
                    <a:srgbClr val="FF00FF"/>
                  </a:solidFill>
                </a:rPr>
                <a:t>CLKOUT</a:t>
              </a:r>
              <a:r>
                <a:rPr lang="zh-CN" altLang="en-US" sz="2800">
                  <a:solidFill>
                    <a:srgbClr val="FF00FF"/>
                  </a:solidFill>
                </a:rPr>
                <a:t>作用下，作减</a:t>
              </a:r>
              <a:r>
                <a:rPr lang="en-US" altLang="zh-CN" sz="2800">
                  <a:solidFill>
                    <a:srgbClr val="FF00FF"/>
                  </a:solidFill>
                </a:rPr>
                <a:t>1</a:t>
              </a:r>
              <a:r>
                <a:rPr lang="zh-CN" altLang="en-US" sz="2800">
                  <a:solidFill>
                    <a:srgbClr val="FF00FF"/>
                  </a:solidFill>
                </a:rPr>
                <a:t>计数。当</a:t>
              </a:r>
              <a:r>
                <a:rPr lang="en-US" altLang="zh-CN" sz="2800">
                  <a:solidFill>
                    <a:srgbClr val="FF00FF"/>
                  </a:solidFill>
                </a:rPr>
                <a:t>PSC</a:t>
              </a:r>
              <a:r>
                <a:rPr lang="zh-CN" altLang="en-US" sz="2800">
                  <a:solidFill>
                    <a:srgbClr val="FF00FF"/>
                  </a:solidFill>
                </a:rPr>
                <a:t>减到</a:t>
              </a:r>
              <a:r>
                <a:rPr lang="en-US" altLang="zh-CN" sz="2800">
                  <a:solidFill>
                    <a:srgbClr val="FF00FF"/>
                  </a:solidFill>
                </a:rPr>
                <a:t>0</a:t>
              </a:r>
              <a:r>
                <a:rPr lang="zh-CN" altLang="en-US" sz="2800">
                  <a:solidFill>
                    <a:srgbClr val="FF00FF"/>
                  </a:solidFill>
                </a:rPr>
                <a:t>后，产生一个借位信号，令</a:t>
              </a:r>
              <a:r>
                <a:rPr lang="en-US" altLang="zh-CN" sz="2800">
                  <a:solidFill>
                    <a:srgbClr val="FF00FF"/>
                  </a:solidFill>
                </a:rPr>
                <a:t>TIM</a:t>
              </a:r>
              <a:r>
                <a:rPr lang="zh-CN" altLang="en-US" sz="2800">
                  <a:solidFill>
                    <a:srgbClr val="FF00FF"/>
                  </a:solidFill>
                </a:rPr>
                <a:t>作减</a:t>
              </a:r>
              <a:r>
                <a:rPr lang="en-US" altLang="zh-CN" sz="2800">
                  <a:solidFill>
                    <a:srgbClr val="FF00FF"/>
                  </a:solidFill>
                </a:rPr>
                <a:t>1</a:t>
              </a:r>
              <a:r>
                <a:rPr lang="zh-CN" altLang="en-US" sz="2800">
                  <a:solidFill>
                    <a:srgbClr val="FF00FF"/>
                  </a:solidFill>
                </a:rPr>
                <a:t>计数。</a:t>
              </a:r>
            </a:p>
            <a:p>
              <a:pPr eaLnBrk="1" hangingPunct="1">
                <a:lnSpc>
                  <a:spcPct val="85000"/>
                </a:lnSpc>
                <a:spcBef>
                  <a:spcPct val="25000"/>
                </a:spcBef>
              </a:pPr>
              <a:r>
                <a:rPr lang="en-US" altLang="zh-CN" sz="2800">
                  <a:solidFill>
                    <a:schemeClr val="folHlink"/>
                  </a:solidFill>
                </a:rPr>
                <a:t>TIM</a:t>
              </a:r>
              <a:r>
                <a:rPr lang="zh-CN" altLang="en-US" sz="2800">
                  <a:solidFill>
                    <a:schemeClr val="folHlink"/>
                  </a:solidFill>
                </a:rPr>
                <a:t>减到</a:t>
              </a:r>
              <a:r>
                <a:rPr lang="en-US" altLang="zh-CN" sz="2800">
                  <a:solidFill>
                    <a:schemeClr val="folHlink"/>
                  </a:solidFill>
                </a:rPr>
                <a:t>0</a:t>
              </a:r>
              <a:r>
                <a:rPr lang="zh-CN" altLang="en-US" sz="2800">
                  <a:solidFill>
                    <a:schemeClr val="folHlink"/>
                  </a:solidFill>
                </a:rPr>
                <a:t>后，产生定时中断信号</a:t>
              </a:r>
              <a:r>
                <a:rPr lang="en-US" altLang="zh-CN" sz="2800">
                  <a:solidFill>
                    <a:schemeClr val="folHlink"/>
                  </a:solidFill>
                </a:rPr>
                <a:t>TINT</a:t>
              </a:r>
              <a:r>
                <a:rPr lang="zh-CN" altLang="en-US" sz="2800">
                  <a:solidFill>
                    <a:schemeClr val="folHlink"/>
                  </a:solidFill>
                </a:rPr>
                <a:t>，传送至</a:t>
              </a:r>
              <a:r>
                <a:rPr lang="en-US" altLang="zh-CN" sz="2800">
                  <a:solidFill>
                    <a:schemeClr val="folHlink"/>
                  </a:solidFill>
                </a:rPr>
                <a:t>CPU</a:t>
              </a:r>
              <a:r>
                <a:rPr lang="zh-CN" altLang="en-US" sz="2800">
                  <a:solidFill>
                    <a:schemeClr val="folHlink"/>
                  </a:solidFill>
                </a:rPr>
                <a:t>和定时器输出引脚</a:t>
              </a:r>
              <a:r>
                <a:rPr lang="en-US" altLang="zh-CN" sz="2800">
                  <a:solidFill>
                    <a:schemeClr val="folHlink"/>
                  </a:solidFill>
                </a:rPr>
                <a:t>TOUT</a:t>
              </a:r>
              <a:r>
                <a:rPr lang="zh-CN" altLang="en-US" sz="2800">
                  <a:solidFill>
                    <a:schemeClr val="folHlink"/>
                  </a:solidFill>
                </a:rPr>
                <a:t>。</a:t>
              </a:r>
            </a:p>
          </p:txBody>
        </p:sp>
        <p:sp>
          <p:nvSpPr>
            <p:cNvPr id="86021" name="Line 4"/>
            <p:cNvSpPr>
              <a:spLocks noChangeShapeType="1"/>
            </p:cNvSpPr>
            <p:nvPr/>
          </p:nvSpPr>
          <p:spPr bwMode="auto">
            <a:xfrm>
              <a:off x="1920" y="1200"/>
              <a:ext cx="816"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med">
    <p:pull dir="lu"/>
  </p:transition>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p:cNvSpPr>
            <a:spLocks noGrp="1" noChangeArrowheads="1"/>
          </p:cNvSpPr>
          <p:nvPr>
            <p:ph idx="1"/>
          </p:nvPr>
        </p:nvSpPr>
        <p:spPr bwMode="auto">
          <a:xfrm>
            <a:off x="161925" y="1219200"/>
            <a:ext cx="8839200" cy="1295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buFontTx/>
              <a:buNone/>
            </a:pPr>
            <a:r>
              <a:rPr lang="zh-CN" altLang="en-US" b="1">
                <a:solidFill>
                  <a:srgbClr val="FF0000"/>
                </a:solidFill>
                <a:latin typeface="宋体" panose="02010600030101010101" pitchFamily="2" charset="-122"/>
              </a:rPr>
              <a:t>定时中断的周期计算</a:t>
            </a:r>
            <a:r>
              <a:rPr lang="zh-CN" altLang="en-US" b="1">
                <a:solidFill>
                  <a:srgbClr val="FF0000"/>
                </a:solidFill>
              </a:rPr>
              <a:t> </a:t>
            </a:r>
          </a:p>
          <a:p>
            <a:pPr marL="0" indent="0" eaLnBrk="1" hangingPunct="1">
              <a:buFontTx/>
              <a:buNone/>
            </a:pPr>
            <a:r>
              <a:rPr lang="zh-CN" altLang="en-US" b="1">
                <a:solidFill>
                  <a:schemeClr val="folHlink"/>
                </a:solidFill>
                <a:latin typeface="宋体" panose="02010600030101010101" pitchFamily="2" charset="-122"/>
              </a:rPr>
              <a:t>定时中断周期</a:t>
            </a:r>
            <a:r>
              <a:rPr lang="en-US" altLang="zh-CN" b="1">
                <a:solidFill>
                  <a:schemeClr val="folHlink"/>
                </a:solidFill>
                <a:latin typeface="宋体" panose="02010600030101010101" pitchFamily="2" charset="-122"/>
              </a:rPr>
              <a:t>=CLKOUT×</a:t>
            </a:r>
            <a:r>
              <a:rPr lang="zh-CN" altLang="en-US" b="1">
                <a:solidFill>
                  <a:schemeClr val="folHlink"/>
                </a:solidFill>
                <a:latin typeface="宋体" panose="02010600030101010101" pitchFamily="2" charset="-122"/>
              </a:rPr>
              <a:t>（</a:t>
            </a:r>
            <a:r>
              <a:rPr lang="en-US" altLang="zh-CN" b="1">
                <a:solidFill>
                  <a:schemeClr val="folHlink"/>
                </a:solidFill>
                <a:latin typeface="宋体" panose="02010600030101010101" pitchFamily="2" charset="-122"/>
              </a:rPr>
              <a:t>TDDR+1</a:t>
            </a:r>
            <a:r>
              <a:rPr lang="zh-CN" altLang="en-US" b="1">
                <a:solidFill>
                  <a:schemeClr val="folHlink"/>
                </a:solidFill>
                <a:latin typeface="宋体" panose="02010600030101010101" pitchFamily="2" charset="-122"/>
              </a:rPr>
              <a:t>）</a:t>
            </a:r>
            <a:r>
              <a:rPr lang="en-US" altLang="zh-CN" b="1">
                <a:solidFill>
                  <a:schemeClr val="folHlink"/>
                </a:solidFill>
                <a:latin typeface="宋体" panose="02010600030101010101" pitchFamily="2" charset="-122"/>
              </a:rPr>
              <a:t>×</a:t>
            </a:r>
            <a:r>
              <a:rPr lang="zh-CN" altLang="en-US" b="1">
                <a:solidFill>
                  <a:schemeClr val="folHlink"/>
                </a:solidFill>
                <a:latin typeface="宋体" panose="02010600030101010101" pitchFamily="2" charset="-122"/>
              </a:rPr>
              <a:t>（</a:t>
            </a:r>
            <a:r>
              <a:rPr lang="en-US" altLang="zh-CN" b="1">
                <a:solidFill>
                  <a:schemeClr val="folHlink"/>
                </a:solidFill>
                <a:latin typeface="宋体" panose="02010600030101010101" pitchFamily="2" charset="-122"/>
              </a:rPr>
              <a:t>PRD+1</a:t>
            </a:r>
            <a:r>
              <a:rPr lang="zh-CN" altLang="en-US" b="1">
                <a:solidFill>
                  <a:schemeClr val="folHlink"/>
                </a:solidFill>
                <a:latin typeface="宋体" panose="02010600030101010101" pitchFamily="2" charset="-122"/>
              </a:rPr>
              <a:t>）</a:t>
            </a:r>
          </a:p>
        </p:txBody>
      </p:sp>
      <p:sp>
        <p:nvSpPr>
          <p:cNvPr id="8704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D6985AB-8D50-4488-B9F8-C2BFA9CDF8FF}" type="slidenum">
              <a:rPr lang="en-US" altLang="zh-CN" sz="1400" b="0"/>
              <a:pPr eaLnBrk="1" hangingPunct="1"/>
              <a:t>74</a:t>
            </a:fld>
            <a:endParaRPr lang="en-US" altLang="zh-CN" sz="1400" b="0"/>
          </a:p>
        </p:txBody>
      </p:sp>
      <p:sp>
        <p:nvSpPr>
          <p:cNvPr id="584707" name="Rectangle 3"/>
          <p:cNvSpPr>
            <a:spLocks noChangeArrowheads="1"/>
          </p:cNvSpPr>
          <p:nvPr/>
        </p:nvSpPr>
        <p:spPr bwMode="auto">
          <a:xfrm>
            <a:off x="5508625" y="4292600"/>
            <a:ext cx="1098550"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3200">
                <a:latin typeface="宋体" panose="02010600030101010101" pitchFamily="2" charset="-122"/>
              </a:rPr>
              <a:t>TOUT</a:t>
            </a:r>
          </a:p>
          <a:p>
            <a:pPr eaLnBrk="1" hangingPunct="1">
              <a:lnSpc>
                <a:spcPct val="90000"/>
              </a:lnSpc>
              <a:spcBef>
                <a:spcPct val="50000"/>
              </a:spcBef>
            </a:pPr>
            <a:r>
              <a:rPr lang="en-US" altLang="zh-CN" sz="3200">
                <a:latin typeface="宋体" panose="02010600030101010101" pitchFamily="2" charset="-122"/>
              </a:rPr>
              <a:t>TINT</a:t>
            </a:r>
            <a:r>
              <a:rPr lang="en-US" altLang="zh-CN" sz="3200"/>
              <a:t> </a:t>
            </a:r>
          </a:p>
        </p:txBody>
      </p:sp>
      <p:grpSp>
        <p:nvGrpSpPr>
          <p:cNvPr id="87045" name="Group 16"/>
          <p:cNvGrpSpPr>
            <a:grpSpLocks/>
          </p:cNvGrpSpPr>
          <p:nvPr/>
        </p:nvGrpSpPr>
        <p:grpSpPr bwMode="auto">
          <a:xfrm>
            <a:off x="900113" y="4343400"/>
            <a:ext cx="4357687" cy="1066800"/>
            <a:chOff x="567" y="2736"/>
            <a:chExt cx="2745" cy="672"/>
          </a:xfrm>
        </p:grpSpPr>
        <p:sp>
          <p:nvSpPr>
            <p:cNvPr id="87055" name="Rectangle 5"/>
            <p:cNvSpPr>
              <a:spLocks noChangeArrowheads="1"/>
            </p:cNvSpPr>
            <p:nvPr/>
          </p:nvSpPr>
          <p:spPr bwMode="auto">
            <a:xfrm>
              <a:off x="567" y="2886"/>
              <a:ext cx="1968" cy="340"/>
            </a:xfrm>
            <a:prstGeom prst="rect">
              <a:avLst/>
            </a:prstGeom>
            <a:solidFill>
              <a:srgbClr val="FF6600"/>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zh-CN" altLang="en-US" sz="3200">
                  <a:solidFill>
                    <a:schemeClr val="bg1"/>
                  </a:solidFill>
                  <a:latin typeface="宋体" panose="02010600030101010101" pitchFamily="2" charset="-122"/>
                </a:rPr>
                <a:t>定时器输出信号</a:t>
              </a:r>
              <a:endParaRPr lang="zh-CN" altLang="en-US" sz="3200">
                <a:solidFill>
                  <a:schemeClr val="bg1"/>
                </a:solidFill>
              </a:endParaRPr>
            </a:p>
          </p:txBody>
        </p:sp>
        <p:sp>
          <p:nvSpPr>
            <p:cNvPr id="87056" name="AutoShape 6"/>
            <p:cNvSpPr>
              <a:spLocks/>
            </p:cNvSpPr>
            <p:nvPr/>
          </p:nvSpPr>
          <p:spPr bwMode="auto">
            <a:xfrm>
              <a:off x="2688" y="2736"/>
              <a:ext cx="624" cy="672"/>
            </a:xfrm>
            <a:prstGeom prst="leftBrace">
              <a:avLst>
                <a:gd name="adj1" fmla="val 8974"/>
                <a:gd name="adj2" fmla="val 50000"/>
              </a:avLst>
            </a:prstGeom>
            <a:noFill/>
            <a:ln w="412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7"/>
          <p:cNvGrpSpPr>
            <a:grpSpLocks/>
          </p:cNvGrpSpPr>
          <p:nvPr/>
        </p:nvGrpSpPr>
        <p:grpSpPr bwMode="auto">
          <a:xfrm>
            <a:off x="914400" y="2590800"/>
            <a:ext cx="6780213" cy="528638"/>
            <a:chOff x="576" y="1632"/>
            <a:chExt cx="4271" cy="333"/>
          </a:xfrm>
        </p:grpSpPr>
        <p:sp>
          <p:nvSpPr>
            <p:cNvPr id="87052" name="Rectangle 8"/>
            <p:cNvSpPr>
              <a:spLocks noChangeArrowheads="1"/>
            </p:cNvSpPr>
            <p:nvPr/>
          </p:nvSpPr>
          <p:spPr bwMode="auto">
            <a:xfrm>
              <a:off x="576" y="1632"/>
              <a:ext cx="1690" cy="333"/>
            </a:xfrm>
            <a:prstGeom prst="rect">
              <a:avLst/>
            </a:prstGeom>
            <a:solidFill>
              <a:schemeClr val="bg1"/>
            </a:solidFill>
            <a:ln w="9525">
              <a:solidFill>
                <a:schemeClr val="tx2"/>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chemeClr val="folHlink"/>
                  </a:solidFill>
                </a:rPr>
                <a:t>如何关闭定时器</a:t>
              </a:r>
            </a:p>
          </p:txBody>
        </p:sp>
        <p:sp>
          <p:nvSpPr>
            <p:cNvPr id="87053" name="Rectangle 9"/>
            <p:cNvSpPr>
              <a:spLocks noChangeArrowheads="1"/>
            </p:cNvSpPr>
            <p:nvPr/>
          </p:nvSpPr>
          <p:spPr bwMode="auto">
            <a:xfrm>
              <a:off x="3072" y="1632"/>
              <a:ext cx="17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9900"/>
                  </a:solidFill>
                </a:rPr>
                <a:t>TCR</a:t>
              </a:r>
              <a:r>
                <a:rPr lang="zh-CN" altLang="en-US" sz="2800">
                  <a:solidFill>
                    <a:srgbClr val="009900"/>
                  </a:solidFill>
                </a:rPr>
                <a:t>的</a:t>
              </a:r>
              <a:r>
                <a:rPr lang="en-US" altLang="zh-CN" sz="2800">
                  <a:solidFill>
                    <a:srgbClr val="009900"/>
                  </a:solidFill>
                </a:rPr>
                <a:t>TSS</a:t>
              </a:r>
              <a:r>
                <a:rPr lang="zh-CN" altLang="en-US" sz="2800">
                  <a:solidFill>
                    <a:srgbClr val="009900"/>
                  </a:solidFill>
                </a:rPr>
                <a:t>位置</a:t>
              </a:r>
              <a:r>
                <a:rPr lang="en-US" altLang="zh-CN" sz="2800">
                  <a:solidFill>
                    <a:srgbClr val="009900"/>
                  </a:solidFill>
                </a:rPr>
                <a:t>1</a:t>
              </a:r>
            </a:p>
          </p:txBody>
        </p:sp>
        <p:sp>
          <p:nvSpPr>
            <p:cNvPr id="87054" name="Line 10"/>
            <p:cNvSpPr>
              <a:spLocks noChangeShapeType="1"/>
            </p:cNvSpPr>
            <p:nvPr/>
          </p:nvSpPr>
          <p:spPr bwMode="auto">
            <a:xfrm flipH="1">
              <a:off x="2352" y="1824"/>
              <a:ext cx="720" cy="0"/>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11"/>
          <p:cNvGrpSpPr>
            <a:grpSpLocks/>
          </p:cNvGrpSpPr>
          <p:nvPr/>
        </p:nvGrpSpPr>
        <p:grpSpPr bwMode="auto">
          <a:xfrm>
            <a:off x="914400" y="3429000"/>
            <a:ext cx="6846888" cy="636588"/>
            <a:chOff x="576" y="2160"/>
            <a:chExt cx="4313" cy="401"/>
          </a:xfrm>
        </p:grpSpPr>
        <p:sp>
          <p:nvSpPr>
            <p:cNvPr id="87049" name="Rectangle 12"/>
            <p:cNvSpPr>
              <a:spLocks noChangeArrowheads="1"/>
            </p:cNvSpPr>
            <p:nvPr/>
          </p:nvSpPr>
          <p:spPr bwMode="auto">
            <a:xfrm>
              <a:off x="576" y="2160"/>
              <a:ext cx="2064" cy="401"/>
            </a:xfrm>
            <a:prstGeom prst="rect">
              <a:avLst/>
            </a:prstGeom>
            <a:solidFill>
              <a:srgbClr val="FFFFFF"/>
            </a:solidFill>
            <a:ln w="57150">
              <a:solidFill>
                <a:schemeClr val="accent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latin typeface="宋体" panose="02010600030101010101" pitchFamily="2" charset="-122"/>
                </a:rPr>
                <a:t>定时器如何节电</a:t>
              </a:r>
            </a:p>
          </p:txBody>
        </p:sp>
        <p:sp>
          <p:nvSpPr>
            <p:cNvPr id="87050" name="Rectangle 13"/>
            <p:cNvSpPr>
              <a:spLocks noChangeArrowheads="1"/>
            </p:cNvSpPr>
            <p:nvPr/>
          </p:nvSpPr>
          <p:spPr bwMode="auto">
            <a:xfrm>
              <a:off x="3648" y="2160"/>
              <a:ext cx="1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70986"/>
                  </a:solidFill>
                </a:rPr>
                <a:t>关闭定时器</a:t>
              </a:r>
            </a:p>
          </p:txBody>
        </p:sp>
        <p:sp>
          <p:nvSpPr>
            <p:cNvPr id="87051" name="Line 14"/>
            <p:cNvSpPr>
              <a:spLocks noChangeShapeType="1"/>
            </p:cNvSpPr>
            <p:nvPr/>
          </p:nvSpPr>
          <p:spPr bwMode="auto">
            <a:xfrm flipH="1">
              <a:off x="2832" y="2352"/>
              <a:ext cx="720" cy="0"/>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584719" name="AutoShape 15" descr="小棋盘"/>
          <p:cNvSpPr>
            <a:spLocks noChangeArrowheads="1"/>
          </p:cNvSpPr>
          <p:nvPr/>
        </p:nvSpPr>
        <p:spPr bwMode="auto">
          <a:xfrm>
            <a:off x="1676400" y="5791200"/>
            <a:ext cx="5257800" cy="533400"/>
          </a:xfrm>
          <a:prstGeom prst="wedgeRoundRectCallout">
            <a:avLst>
              <a:gd name="adj1" fmla="val -213"/>
              <a:gd name="adj2" fmla="val -105060"/>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800">
                <a:solidFill>
                  <a:schemeClr val="tx2"/>
                </a:solidFill>
              </a:rPr>
              <a:t>作用：产生外部所需时钟信号</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3" presetClass="entr" presetSubtype="10" fill="hold" grpId="0" nodeType="afterEffect">
                                  <p:stCondLst>
                                    <p:cond delay="0"/>
                                  </p:stCondLst>
                                  <p:childTnLst>
                                    <p:set>
                                      <p:cBhvr>
                                        <p:cTn id="16" dur="1" fill="hold">
                                          <p:stCondLst>
                                            <p:cond delay="0"/>
                                          </p:stCondLst>
                                        </p:cTn>
                                        <p:tgtEl>
                                          <p:spTgt spid="584707"/>
                                        </p:tgtEl>
                                        <p:attrNameLst>
                                          <p:attrName>style.visibility</p:attrName>
                                        </p:attrNameLst>
                                      </p:cBhvr>
                                      <p:to>
                                        <p:strVal val="visible"/>
                                      </p:to>
                                    </p:set>
                                    <p:animEffect transition="in" filter="blinds(horizontal)">
                                      <p:cBhvr>
                                        <p:cTn id="17" dur="500"/>
                                        <p:tgtEl>
                                          <p:spTgt spid="584707"/>
                                        </p:tgtEl>
                                      </p:cBhvr>
                                    </p:animEffect>
                                  </p:childTnLst>
                                </p:cTn>
                              </p:par>
                            </p:childTnLst>
                          </p:cTn>
                        </p:par>
                        <p:par>
                          <p:cTn id="18" fill="hold" nodeType="afterGroup">
                            <p:stCondLst>
                              <p:cond delay="1500"/>
                            </p:stCondLst>
                            <p:childTnLst>
                              <p:par>
                                <p:cTn id="19" presetID="2" presetClass="entr" presetSubtype="2" fill="hold" grpId="0" nodeType="afterEffect">
                                  <p:stCondLst>
                                    <p:cond delay="0"/>
                                  </p:stCondLst>
                                  <p:childTnLst>
                                    <p:set>
                                      <p:cBhvr>
                                        <p:cTn id="20" dur="1" fill="hold">
                                          <p:stCondLst>
                                            <p:cond delay="0"/>
                                          </p:stCondLst>
                                        </p:cTn>
                                        <p:tgtEl>
                                          <p:spTgt spid="584719"/>
                                        </p:tgtEl>
                                        <p:attrNameLst>
                                          <p:attrName>style.visibility</p:attrName>
                                        </p:attrNameLst>
                                      </p:cBhvr>
                                      <p:to>
                                        <p:strVal val="visible"/>
                                      </p:to>
                                    </p:set>
                                    <p:anim calcmode="lin" valueType="num">
                                      <p:cBhvr additive="base">
                                        <p:cTn id="21" dur="500" fill="hold"/>
                                        <p:tgtEl>
                                          <p:spTgt spid="584719"/>
                                        </p:tgtEl>
                                        <p:attrNameLst>
                                          <p:attrName>ppt_x</p:attrName>
                                        </p:attrNameLst>
                                      </p:cBhvr>
                                      <p:tavLst>
                                        <p:tav tm="0">
                                          <p:val>
                                            <p:strVal val="1+#ppt_w/2"/>
                                          </p:val>
                                        </p:tav>
                                        <p:tav tm="100000">
                                          <p:val>
                                            <p:strVal val="#ppt_x"/>
                                          </p:val>
                                        </p:tav>
                                      </p:tavLst>
                                    </p:anim>
                                    <p:anim calcmode="lin" valueType="num">
                                      <p:cBhvr additive="base">
                                        <p:cTn id="22" dur="500" fill="hold"/>
                                        <p:tgtEl>
                                          <p:spTgt spid="5847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07" grpId="0" autoUpdateAnimBg="0"/>
      <p:bldP spid="584719" grpId="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3C14A0F-800B-495D-B55D-18D9EEA1CBCF}" type="slidenum">
              <a:rPr lang="en-US" altLang="zh-CN" sz="1400" b="0"/>
              <a:pPr eaLnBrk="1" hangingPunct="1"/>
              <a:t>75</a:t>
            </a:fld>
            <a:endParaRPr lang="en-US" altLang="zh-CN" sz="1400" b="0"/>
          </a:p>
        </p:txBody>
      </p:sp>
      <p:sp>
        <p:nvSpPr>
          <p:cNvPr id="585730" name="Rectangle 2"/>
          <p:cNvSpPr>
            <a:spLocks noChangeArrowheads="1"/>
          </p:cNvSpPr>
          <p:nvPr/>
        </p:nvSpPr>
        <p:spPr bwMode="auto">
          <a:xfrm>
            <a:off x="1447800" y="2286000"/>
            <a:ext cx="6508750" cy="1858963"/>
          </a:xfrm>
          <a:prstGeom prst="rect">
            <a:avLst/>
          </a:prstGeom>
          <a:solidFill>
            <a:schemeClr val="hlink"/>
          </a:solidFill>
          <a:ln w="57150">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solidFill>
                  <a:schemeClr val="folHlink"/>
                </a:solidFill>
                <a:latin typeface="宋体" panose="02010600030101010101" pitchFamily="2" charset="-122"/>
              </a:rPr>
              <a:t>1</a:t>
            </a:r>
            <a:r>
              <a:rPr lang="zh-CN" altLang="en-US" sz="2800">
                <a:solidFill>
                  <a:schemeClr val="folHlink"/>
                </a:solidFill>
                <a:latin typeface="宋体" panose="02010600030101010101" pitchFamily="2" charset="-122"/>
              </a:rPr>
              <a:t>）</a:t>
            </a:r>
            <a:r>
              <a:rPr lang="en-US" altLang="zh-CN" sz="2800">
                <a:solidFill>
                  <a:schemeClr val="folHlink"/>
                </a:solidFill>
                <a:latin typeface="宋体" panose="02010600030101010101" pitchFamily="2" charset="-122"/>
              </a:rPr>
              <a:t>TCR</a:t>
            </a:r>
            <a:r>
              <a:rPr lang="zh-CN" altLang="en-US" sz="2800">
                <a:solidFill>
                  <a:schemeClr val="folHlink"/>
                </a:solidFill>
                <a:latin typeface="宋体" panose="02010600030101010101" pitchFamily="2" charset="-122"/>
              </a:rPr>
              <a:t>中的</a:t>
            </a:r>
            <a:r>
              <a:rPr lang="en-US" altLang="zh-CN" sz="2800">
                <a:solidFill>
                  <a:schemeClr val="folHlink"/>
                </a:solidFill>
                <a:latin typeface="宋体" panose="02010600030101010101" pitchFamily="2" charset="-122"/>
              </a:rPr>
              <a:t>TSS</a:t>
            </a:r>
            <a:r>
              <a:rPr lang="zh-CN" altLang="en-US" sz="2800">
                <a:solidFill>
                  <a:schemeClr val="folHlink"/>
                </a:solidFill>
                <a:latin typeface="宋体" panose="02010600030101010101" pitchFamily="2" charset="-122"/>
              </a:rPr>
              <a:t>位置</a:t>
            </a:r>
            <a:r>
              <a:rPr lang="en-US" altLang="zh-CN" sz="2800">
                <a:solidFill>
                  <a:schemeClr val="folHlink"/>
                </a:solidFill>
                <a:latin typeface="宋体" panose="02010600030101010101" pitchFamily="2" charset="-122"/>
              </a:rPr>
              <a:t>1</a:t>
            </a:r>
            <a:r>
              <a:rPr lang="zh-CN" altLang="en-US" sz="2800">
                <a:solidFill>
                  <a:schemeClr val="folHlink"/>
                </a:solidFill>
                <a:latin typeface="宋体" panose="02010600030101010101" pitchFamily="2" charset="-122"/>
              </a:rPr>
              <a:t>，关闭定时器。</a:t>
            </a:r>
            <a:endParaRPr lang="zh-CN" altLang="en-US" sz="2800">
              <a:solidFill>
                <a:schemeClr val="folHlink"/>
              </a:solidFill>
              <a:latin typeface="Arial" panose="020B0604020202020204" pitchFamily="34" charset="0"/>
              <a:cs typeface="Arial" panose="020B0604020202020204" pitchFamily="34" charset="0"/>
            </a:endParaRPr>
          </a:p>
          <a:p>
            <a:pPr eaLnBrk="1" hangingPunct="1">
              <a:spcBef>
                <a:spcPct val="50000"/>
              </a:spcBef>
            </a:pPr>
            <a:r>
              <a:rPr lang="en-US" altLang="zh-CN" sz="2800">
                <a:solidFill>
                  <a:schemeClr val="folHlink"/>
                </a:solidFill>
                <a:latin typeface="宋体" panose="02010600030101010101" pitchFamily="2" charset="-122"/>
              </a:rPr>
              <a:t>2</a:t>
            </a:r>
            <a:r>
              <a:rPr lang="zh-CN" altLang="en-US" sz="2800">
                <a:solidFill>
                  <a:schemeClr val="folHlink"/>
                </a:solidFill>
                <a:latin typeface="宋体" panose="02010600030101010101" pitchFamily="2" charset="-122"/>
              </a:rPr>
              <a:t>）加载</a:t>
            </a:r>
            <a:r>
              <a:rPr lang="en-US" altLang="zh-CN" sz="2800">
                <a:solidFill>
                  <a:schemeClr val="folHlink"/>
                </a:solidFill>
                <a:latin typeface="宋体" panose="02010600030101010101" pitchFamily="2" charset="-122"/>
              </a:rPr>
              <a:t>PRD</a:t>
            </a:r>
            <a:r>
              <a:rPr lang="zh-CN" altLang="en-US" sz="2800">
                <a:solidFill>
                  <a:schemeClr val="folHlink"/>
                </a:solidFill>
                <a:latin typeface="宋体" panose="02010600030101010101" pitchFamily="2" charset="-122"/>
              </a:rPr>
              <a:t>。</a:t>
            </a:r>
            <a:endParaRPr lang="zh-CN" altLang="en-US" sz="2800">
              <a:solidFill>
                <a:schemeClr val="folHlink"/>
              </a:solidFill>
              <a:latin typeface="Arial" panose="020B0604020202020204" pitchFamily="34" charset="0"/>
              <a:cs typeface="Arial" panose="020B0604020202020204" pitchFamily="34" charset="0"/>
            </a:endParaRPr>
          </a:p>
          <a:p>
            <a:pPr eaLnBrk="1" hangingPunct="1">
              <a:spcBef>
                <a:spcPct val="50000"/>
              </a:spcBef>
            </a:pPr>
            <a:r>
              <a:rPr lang="en-US" altLang="zh-CN" sz="2800">
                <a:solidFill>
                  <a:schemeClr val="folHlink"/>
                </a:solidFill>
                <a:latin typeface="宋体" panose="02010600030101010101" pitchFamily="2" charset="-122"/>
              </a:rPr>
              <a:t>3</a:t>
            </a:r>
            <a:r>
              <a:rPr lang="zh-CN" altLang="en-US" sz="2800">
                <a:solidFill>
                  <a:schemeClr val="folHlink"/>
                </a:solidFill>
                <a:latin typeface="宋体" panose="02010600030101010101" pitchFamily="2" charset="-122"/>
              </a:rPr>
              <a:t>）重新加载</a:t>
            </a:r>
            <a:r>
              <a:rPr lang="en-US" altLang="zh-CN" sz="2800">
                <a:solidFill>
                  <a:schemeClr val="folHlink"/>
                </a:solidFill>
                <a:latin typeface="宋体" panose="02010600030101010101" pitchFamily="2" charset="-122"/>
              </a:rPr>
              <a:t>TCR</a:t>
            </a:r>
            <a:endParaRPr lang="en-US" altLang="zh-CN" sz="2800">
              <a:solidFill>
                <a:schemeClr val="folHlink"/>
              </a:solidFill>
            </a:endParaRPr>
          </a:p>
        </p:txBody>
      </p:sp>
      <p:sp>
        <p:nvSpPr>
          <p:cNvPr id="585731" name="Rectangle 3"/>
          <p:cNvSpPr>
            <a:spLocks noChangeArrowheads="1"/>
          </p:cNvSpPr>
          <p:nvPr/>
        </p:nvSpPr>
        <p:spPr bwMode="auto">
          <a:xfrm>
            <a:off x="2555875" y="1268413"/>
            <a:ext cx="4176713" cy="587375"/>
          </a:xfrm>
          <a:prstGeom prst="rect">
            <a:avLst/>
          </a:prstGeom>
          <a:solidFill>
            <a:schemeClr val="bg1"/>
          </a:solidFill>
          <a:ln w="57150">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pPr>
            <a:r>
              <a:rPr lang="zh-CN" altLang="en-US" sz="3200">
                <a:solidFill>
                  <a:srgbClr val="FF0066"/>
                </a:solidFill>
                <a:latin typeface="宋体" panose="02010600030101010101" pitchFamily="2" charset="-122"/>
              </a:rPr>
              <a:t>定时器初始化的步骤</a:t>
            </a:r>
            <a:r>
              <a:rPr lang="zh-CN" altLang="en-US" sz="3200"/>
              <a:t> </a:t>
            </a:r>
          </a:p>
        </p:txBody>
      </p:sp>
      <p:sp>
        <p:nvSpPr>
          <p:cNvPr id="585732" name="Rectangle 4" descr="小棋盘"/>
          <p:cNvSpPr>
            <a:spLocks noChangeArrowheads="1"/>
          </p:cNvSpPr>
          <p:nvPr/>
        </p:nvSpPr>
        <p:spPr bwMode="auto">
          <a:xfrm>
            <a:off x="5943600" y="4572000"/>
            <a:ext cx="2590800" cy="1858963"/>
          </a:xfrm>
          <a:prstGeom prst="rect">
            <a:avLst/>
          </a:prstGeom>
          <a:pattFill prst="smCheck">
            <a:fgClr>
              <a:srgbClr val="FFFF00"/>
            </a:fgClr>
            <a:bgClr>
              <a:srgbClr val="FFFFFF"/>
            </a:bgClr>
          </a:pattFill>
          <a:ln w="57150">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a:latin typeface="宋体" panose="02010600030101010101" pitchFamily="2" charset="-122"/>
              </a:rPr>
              <a:t>使</a:t>
            </a:r>
            <a:r>
              <a:rPr lang="en-US" altLang="zh-CN" sz="2800">
                <a:latin typeface="宋体" panose="02010600030101010101" pitchFamily="2" charset="-122"/>
              </a:rPr>
              <a:t>TDDR</a:t>
            </a:r>
            <a:r>
              <a:rPr lang="zh-CN" altLang="en-US" sz="2800">
                <a:latin typeface="宋体" panose="02010600030101010101" pitchFamily="2" charset="-122"/>
              </a:rPr>
              <a:t>初始化</a:t>
            </a:r>
          </a:p>
          <a:p>
            <a:pPr eaLnBrk="1" hangingPunct="1">
              <a:spcBef>
                <a:spcPct val="50000"/>
              </a:spcBef>
            </a:pPr>
            <a:r>
              <a:rPr lang="zh-CN" altLang="en-US" sz="2800">
                <a:latin typeface="宋体" panose="02010600030101010101" pitchFamily="2" charset="-122"/>
              </a:rPr>
              <a:t>令</a:t>
            </a:r>
            <a:r>
              <a:rPr lang="en-US" altLang="zh-CN" sz="2800">
                <a:latin typeface="宋体" panose="02010600030101010101" pitchFamily="2" charset="-122"/>
              </a:rPr>
              <a:t>TSS</a:t>
            </a:r>
            <a:r>
              <a:rPr lang="zh-CN" altLang="en-US" sz="2800">
                <a:latin typeface="宋体" panose="02010600030101010101" pitchFamily="2" charset="-122"/>
              </a:rPr>
              <a:t>位为</a:t>
            </a:r>
            <a:r>
              <a:rPr lang="en-US" altLang="zh-CN" sz="2800">
                <a:latin typeface="宋体" panose="02010600030101010101" pitchFamily="2" charset="-122"/>
              </a:rPr>
              <a:t>0</a:t>
            </a:r>
          </a:p>
          <a:p>
            <a:pPr eaLnBrk="1" hangingPunct="1">
              <a:spcBef>
                <a:spcPct val="50000"/>
              </a:spcBef>
            </a:pPr>
            <a:r>
              <a:rPr lang="en-US" altLang="zh-CN" sz="2800">
                <a:latin typeface="宋体" panose="02010600030101010101" pitchFamily="2" charset="-122"/>
              </a:rPr>
              <a:t>TRB</a:t>
            </a:r>
            <a:r>
              <a:rPr lang="zh-CN" altLang="en-US" sz="2800">
                <a:latin typeface="宋体" panose="02010600030101010101" pitchFamily="2" charset="-122"/>
              </a:rPr>
              <a:t>位置</a:t>
            </a:r>
            <a:r>
              <a:rPr lang="en-US" altLang="zh-CN" sz="2800">
                <a:latin typeface="宋体" panose="02010600030101010101" pitchFamily="2" charset="-122"/>
              </a:rPr>
              <a:t>1</a:t>
            </a:r>
          </a:p>
        </p:txBody>
      </p:sp>
      <p:sp>
        <p:nvSpPr>
          <p:cNvPr id="585733" name="AutoShape 5"/>
          <p:cNvSpPr>
            <a:spLocks noChangeArrowheads="1"/>
          </p:cNvSpPr>
          <p:nvPr/>
        </p:nvSpPr>
        <p:spPr bwMode="auto">
          <a:xfrm flipV="1">
            <a:off x="3200400" y="4648200"/>
            <a:ext cx="1981200" cy="1600200"/>
          </a:xfrm>
          <a:custGeom>
            <a:avLst/>
            <a:gdLst>
              <a:gd name="T0" fmla="*/ 127254494 w 21600"/>
              <a:gd name="T1" fmla="*/ 0 h 21600"/>
              <a:gd name="T2" fmla="*/ 127254494 w 21600"/>
              <a:gd name="T3" fmla="*/ 66727223 h 21600"/>
              <a:gd name="T4" fmla="*/ 27232788 w 21600"/>
              <a:gd name="T5" fmla="*/ 118548144 h 21600"/>
              <a:gd name="T6" fmla="*/ 181720047 w 21600"/>
              <a:gd name="T7" fmla="*/ 333636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00FF"/>
          </a:solidFill>
          <a:ln w="9525">
            <a:solidFill>
              <a:schemeClr val="tx1"/>
            </a:solidFill>
            <a:miter lim="800000"/>
            <a:headEnd/>
            <a:tailEnd/>
          </a:ln>
        </p:spPr>
        <p:txBody>
          <a:bodyPr wrap="none" anchor="ctr"/>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85731"/>
                                        </p:tgtEl>
                                        <p:attrNameLst>
                                          <p:attrName>style.visibility</p:attrName>
                                        </p:attrNameLst>
                                      </p:cBhvr>
                                      <p:to>
                                        <p:strVal val="visible"/>
                                      </p:to>
                                    </p:set>
                                    <p:animEffect transition="in" filter="dissolve">
                                      <p:cBhvr>
                                        <p:cTn id="7" dur="500"/>
                                        <p:tgtEl>
                                          <p:spTgt spid="585731"/>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85730"/>
                                        </p:tgtEl>
                                        <p:attrNameLst>
                                          <p:attrName>style.visibility</p:attrName>
                                        </p:attrNameLst>
                                      </p:cBhvr>
                                      <p:to>
                                        <p:strVal val="visible"/>
                                      </p:to>
                                    </p:set>
                                    <p:animEffect transition="in" filter="dissolve">
                                      <p:cBhvr>
                                        <p:cTn id="11" dur="500"/>
                                        <p:tgtEl>
                                          <p:spTgt spid="585730"/>
                                        </p:tgtEl>
                                      </p:cBhvr>
                                    </p:animEffect>
                                  </p:childTnLst>
                                </p:cTn>
                              </p:par>
                            </p:childTnLst>
                          </p:cTn>
                        </p:par>
                        <p:par>
                          <p:cTn id="12" fill="hold" nodeType="afterGroup">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585733"/>
                                        </p:tgtEl>
                                        <p:attrNameLst>
                                          <p:attrName>style.visibility</p:attrName>
                                        </p:attrNameLst>
                                      </p:cBhvr>
                                      <p:to>
                                        <p:strVal val="visible"/>
                                      </p:to>
                                    </p:set>
                                    <p:animEffect transition="in" filter="strips(downRight)">
                                      <p:cBhvr>
                                        <p:cTn id="15" dur="500"/>
                                        <p:tgtEl>
                                          <p:spTgt spid="585733"/>
                                        </p:tgtEl>
                                      </p:cBhvr>
                                    </p:animEffect>
                                  </p:childTnLst>
                                </p:cTn>
                              </p:par>
                            </p:childTnLst>
                          </p:cTn>
                        </p:par>
                        <p:par>
                          <p:cTn id="16" fill="hold" nodeType="afterGroup">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585732"/>
                                        </p:tgtEl>
                                        <p:attrNameLst>
                                          <p:attrName>style.visibility</p:attrName>
                                        </p:attrNameLst>
                                      </p:cBhvr>
                                      <p:to>
                                        <p:strVal val="visible"/>
                                      </p:to>
                                    </p:set>
                                    <p:animEffect transition="in" filter="dissolve">
                                      <p:cBhvr>
                                        <p:cTn id="19" dur="500"/>
                                        <p:tgtEl>
                                          <p:spTgt spid="585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0" grpId="0" animBg="1" autoUpdateAnimBg="0"/>
      <p:bldP spid="585731" grpId="0" animBg="1" autoUpdateAnimBg="0"/>
      <p:bldP spid="585732" grpId="0" animBg="1" autoUpdateAnimBg="0"/>
      <p:bldP spid="58573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31B8651-DBDB-4A6C-B5B4-22130A9494D3}" type="slidenum">
              <a:rPr lang="en-US" altLang="zh-CN" sz="1400" b="0"/>
              <a:pPr eaLnBrk="1" hangingPunct="1"/>
              <a:t>76</a:t>
            </a:fld>
            <a:endParaRPr lang="en-US" altLang="zh-CN" sz="1400" b="0"/>
          </a:p>
        </p:txBody>
      </p:sp>
      <p:sp>
        <p:nvSpPr>
          <p:cNvPr id="586754" name="Rectangle 2"/>
          <p:cNvSpPr>
            <a:spLocks noChangeArrowheads="1"/>
          </p:cNvSpPr>
          <p:nvPr/>
        </p:nvSpPr>
        <p:spPr bwMode="auto">
          <a:xfrm>
            <a:off x="1331913" y="1412875"/>
            <a:ext cx="7092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chemeClr val="tx2"/>
                </a:solidFill>
                <a:latin typeface="宋体" panose="02010600030101010101" pitchFamily="2" charset="-122"/>
              </a:rPr>
              <a:t>开放定时中断</a:t>
            </a:r>
            <a:r>
              <a:rPr lang="zh-CN" altLang="en-US" sz="3200" b="0"/>
              <a:t> </a:t>
            </a:r>
            <a:r>
              <a:rPr lang="zh-CN" altLang="en-US" sz="3200">
                <a:latin typeface="宋体" panose="02010600030101010101" pitchFamily="2" charset="-122"/>
              </a:rPr>
              <a:t>（假定</a:t>
            </a:r>
            <a:r>
              <a:rPr lang="en-US" altLang="zh-CN" sz="3200">
                <a:latin typeface="宋体" panose="02010600030101010101" pitchFamily="2" charset="-122"/>
              </a:rPr>
              <a:t>INTM=1</a:t>
            </a:r>
            <a:r>
              <a:rPr lang="zh-CN" altLang="en-US" sz="3200">
                <a:latin typeface="宋体" panose="02010600030101010101" pitchFamily="2" charset="-122"/>
              </a:rPr>
              <a:t>关中断）</a:t>
            </a:r>
          </a:p>
        </p:txBody>
      </p:sp>
      <p:sp>
        <p:nvSpPr>
          <p:cNvPr id="586755" name="Rectangle 3"/>
          <p:cNvSpPr>
            <a:spLocks noChangeArrowheads="1"/>
          </p:cNvSpPr>
          <p:nvPr/>
        </p:nvSpPr>
        <p:spPr bwMode="auto">
          <a:xfrm>
            <a:off x="179388" y="2438400"/>
            <a:ext cx="8713787"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a:latin typeface="宋体" panose="02010600030101010101" pitchFamily="2" charset="-122"/>
              </a:rPr>
              <a:t>1</a:t>
            </a:r>
            <a:r>
              <a:rPr lang="zh-CN" altLang="en-US" sz="3200">
                <a:latin typeface="宋体" panose="02010600030101010101" pitchFamily="2" charset="-122"/>
              </a:rPr>
              <a:t>）将中断标志寄存器</a:t>
            </a:r>
            <a:r>
              <a:rPr lang="en-US" altLang="zh-CN" sz="3200">
                <a:latin typeface="宋体" panose="02010600030101010101" pitchFamily="2" charset="-122"/>
              </a:rPr>
              <a:t>IFR</a:t>
            </a:r>
            <a:r>
              <a:rPr lang="zh-CN" altLang="en-US" sz="3200">
                <a:latin typeface="宋体" panose="02010600030101010101" pitchFamily="2" charset="-122"/>
              </a:rPr>
              <a:t>中的</a:t>
            </a:r>
            <a:r>
              <a:rPr lang="en-US" altLang="zh-CN" sz="3200">
                <a:latin typeface="宋体" panose="02010600030101010101" pitchFamily="2" charset="-122"/>
              </a:rPr>
              <a:t>TINT</a:t>
            </a:r>
            <a:r>
              <a:rPr lang="zh-CN" altLang="en-US" sz="3200">
                <a:latin typeface="宋体" panose="02010600030101010101" pitchFamily="2" charset="-122"/>
              </a:rPr>
              <a:t>位置</a:t>
            </a:r>
            <a:r>
              <a:rPr lang="en-US" altLang="zh-CN" sz="3200">
                <a:latin typeface="宋体" panose="02010600030101010101" pitchFamily="2" charset="-122"/>
              </a:rPr>
              <a:t>1</a:t>
            </a:r>
            <a:r>
              <a:rPr lang="zh-CN" altLang="en-US" sz="3200">
                <a:latin typeface="宋体" panose="02010600030101010101" pitchFamily="2" charset="-122"/>
              </a:rPr>
              <a:t>，清除 </a:t>
            </a:r>
          </a:p>
          <a:p>
            <a:pPr eaLnBrk="1" hangingPunct="1">
              <a:spcBef>
                <a:spcPct val="50000"/>
              </a:spcBef>
            </a:pPr>
            <a:r>
              <a:rPr lang="zh-CN" altLang="en-US" sz="3200">
                <a:latin typeface="宋体" panose="02010600030101010101" pitchFamily="2" charset="-122"/>
              </a:rPr>
              <a:t>   定时器中断。</a:t>
            </a:r>
          </a:p>
          <a:p>
            <a:pPr eaLnBrk="1" hangingPunct="1">
              <a:spcBef>
                <a:spcPct val="50000"/>
              </a:spcBef>
            </a:pPr>
            <a:r>
              <a:rPr lang="en-US" altLang="zh-CN" sz="3200">
                <a:latin typeface="宋体" panose="02010600030101010101" pitchFamily="2" charset="-122"/>
              </a:rPr>
              <a:t>2</a:t>
            </a:r>
            <a:r>
              <a:rPr lang="zh-CN" altLang="en-US" sz="3200">
                <a:latin typeface="宋体" panose="02010600030101010101" pitchFamily="2" charset="-122"/>
              </a:rPr>
              <a:t>）将中断屏蔽寄存器</a:t>
            </a:r>
            <a:r>
              <a:rPr lang="en-US" altLang="zh-CN" sz="3200">
                <a:latin typeface="宋体" panose="02010600030101010101" pitchFamily="2" charset="-122"/>
              </a:rPr>
              <a:t>IMR</a:t>
            </a:r>
            <a:r>
              <a:rPr lang="zh-CN" altLang="en-US" sz="3200">
                <a:latin typeface="宋体" panose="02010600030101010101" pitchFamily="2" charset="-122"/>
              </a:rPr>
              <a:t>中的</a:t>
            </a:r>
            <a:r>
              <a:rPr lang="en-US" altLang="zh-CN" sz="3200">
                <a:latin typeface="宋体" panose="02010600030101010101" pitchFamily="2" charset="-122"/>
              </a:rPr>
              <a:t>TINT</a:t>
            </a:r>
            <a:r>
              <a:rPr lang="zh-CN" altLang="en-US" sz="3200">
                <a:latin typeface="宋体" panose="02010600030101010101" pitchFamily="2" charset="-122"/>
              </a:rPr>
              <a:t>位置</a:t>
            </a:r>
            <a:r>
              <a:rPr lang="en-US" altLang="zh-CN" sz="3200">
                <a:latin typeface="宋体" panose="02010600030101010101" pitchFamily="2" charset="-122"/>
              </a:rPr>
              <a:t>1</a:t>
            </a:r>
            <a:r>
              <a:rPr lang="zh-CN" altLang="en-US" sz="3200">
                <a:latin typeface="宋体" panose="02010600030101010101" pitchFamily="2" charset="-122"/>
              </a:rPr>
              <a:t>，开放 </a:t>
            </a:r>
          </a:p>
          <a:p>
            <a:pPr eaLnBrk="1" hangingPunct="1">
              <a:spcBef>
                <a:spcPct val="50000"/>
              </a:spcBef>
            </a:pPr>
            <a:r>
              <a:rPr lang="zh-CN" altLang="en-US" sz="3200">
                <a:latin typeface="宋体" panose="02010600030101010101" pitchFamily="2" charset="-122"/>
              </a:rPr>
              <a:t>   定时器中断。</a:t>
            </a:r>
          </a:p>
          <a:p>
            <a:pPr eaLnBrk="1" hangingPunct="1">
              <a:spcBef>
                <a:spcPct val="50000"/>
              </a:spcBef>
            </a:pPr>
            <a:r>
              <a:rPr lang="en-US" altLang="zh-CN" sz="3200">
                <a:latin typeface="宋体" panose="02010600030101010101" pitchFamily="2" charset="-122"/>
              </a:rPr>
              <a:t>3</a:t>
            </a:r>
            <a:r>
              <a:rPr lang="zh-CN" altLang="en-US" sz="3200">
                <a:latin typeface="宋体" panose="02010600030101010101" pitchFamily="2" charset="-122"/>
              </a:rPr>
              <a:t>）将</a:t>
            </a:r>
            <a:r>
              <a:rPr lang="en-US" altLang="zh-CN" sz="3200">
                <a:latin typeface="宋体" panose="02010600030101010101" pitchFamily="2" charset="-122"/>
              </a:rPr>
              <a:t>ST1</a:t>
            </a:r>
            <a:r>
              <a:rPr lang="zh-CN" altLang="en-US" sz="3200">
                <a:latin typeface="宋体" panose="02010600030101010101" pitchFamily="2" charset="-122"/>
              </a:rPr>
              <a:t>中的</a:t>
            </a:r>
            <a:r>
              <a:rPr lang="en-US" altLang="zh-CN" sz="3200">
                <a:latin typeface="宋体" panose="02010600030101010101" pitchFamily="2" charset="-122"/>
              </a:rPr>
              <a:t>INTM</a:t>
            </a:r>
            <a:r>
              <a:rPr lang="zh-CN" altLang="en-US" sz="3200">
                <a:latin typeface="宋体" panose="02010600030101010101" pitchFamily="2" charset="-122"/>
              </a:rPr>
              <a:t>位清</a:t>
            </a:r>
            <a:r>
              <a:rPr lang="en-US" altLang="zh-CN" sz="3200">
                <a:latin typeface="宋体" panose="02010600030101010101" pitchFamily="2" charset="-122"/>
              </a:rPr>
              <a:t>0</a:t>
            </a:r>
            <a:r>
              <a:rPr lang="zh-CN" altLang="en-US" sz="3200">
                <a:latin typeface="宋体" panose="02010600030101010101" pitchFamily="2" charset="-122"/>
              </a:rPr>
              <a:t>，从整体上开放中断。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586754"/>
                                        </p:tgtEl>
                                        <p:attrNameLst>
                                          <p:attrName>style.visibility</p:attrName>
                                        </p:attrNameLst>
                                      </p:cBhvr>
                                      <p:to>
                                        <p:strVal val="visible"/>
                                      </p:to>
                                    </p:set>
                                    <p:animEffect transition="in" filter="randombar(vertical)">
                                      <p:cBhvr>
                                        <p:cTn id="7" dur="500"/>
                                        <p:tgtEl>
                                          <p:spTgt spid="586754"/>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86755"/>
                                        </p:tgtEl>
                                        <p:attrNameLst>
                                          <p:attrName>style.visibility</p:attrName>
                                        </p:attrNameLst>
                                      </p:cBhvr>
                                      <p:to>
                                        <p:strVal val="visible"/>
                                      </p:to>
                                    </p:set>
                                    <p:animEffect transition="in" filter="blinds(horizontal)">
                                      <p:cBhvr>
                                        <p:cTn id="11" dur="500"/>
                                        <p:tgtEl>
                                          <p:spTgt spid="586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54" grpId="0" autoUpdateAnimBg="0"/>
      <p:bldP spid="586755"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7778" name="Rectangle 2"/>
          <p:cNvSpPr>
            <a:spLocks noGrp="1" noChangeArrowheads="1"/>
          </p:cNvSpPr>
          <p:nvPr>
            <p:ph type="title"/>
          </p:nvPr>
        </p:nvSpPr>
        <p:spPr bwMode="auto">
          <a:xfrm>
            <a:off x="2209800" y="914400"/>
            <a:ext cx="41148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编程举例</a:t>
            </a:r>
            <a:r>
              <a:rPr lang="zh-CN" altLang="en-US" b="1"/>
              <a:t> </a:t>
            </a:r>
          </a:p>
        </p:txBody>
      </p:sp>
      <p:sp>
        <p:nvSpPr>
          <p:cNvPr id="90115" name="Rectangle 3"/>
          <p:cNvSpPr>
            <a:spLocks noGrp="1" noChangeArrowheads="1"/>
          </p:cNvSpPr>
          <p:nvPr>
            <p:ph idx="1"/>
          </p:nvPr>
        </p:nvSpPr>
        <p:spPr bwMode="auto">
          <a:xfrm>
            <a:off x="250825" y="1700213"/>
            <a:ext cx="8642350" cy="4857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80000"/>
              </a:lnSpc>
              <a:buFontTx/>
              <a:buNone/>
            </a:pPr>
            <a:r>
              <a:rPr lang="en-US" altLang="zh-CN" sz="2400" b="1">
                <a:latin typeface="宋体" panose="02010600030101010101" pitchFamily="2" charset="-122"/>
              </a:rPr>
              <a:t>STM  #0000h</a:t>
            </a:r>
            <a:r>
              <a:rPr lang="zh-CN" altLang="en-US" sz="2400" b="1">
                <a:latin typeface="宋体" panose="02010600030101010101" pitchFamily="2" charset="-122"/>
              </a:rPr>
              <a:t>，</a:t>
            </a:r>
            <a:r>
              <a:rPr lang="en-US" altLang="zh-CN" sz="2400" b="1">
                <a:latin typeface="宋体" panose="02010600030101010101" pitchFamily="2" charset="-122"/>
              </a:rPr>
              <a:t>SWWSR </a:t>
            </a:r>
            <a:r>
              <a:rPr lang="zh-CN" altLang="en-US" sz="2400" b="1">
                <a:latin typeface="宋体" panose="02010600030101010101" pitchFamily="2" charset="-122"/>
              </a:rPr>
              <a:t>；不插等待周期</a:t>
            </a:r>
          </a:p>
          <a:p>
            <a:pPr algn="just" eaLnBrk="1" hangingPunct="1">
              <a:lnSpc>
                <a:spcPct val="80000"/>
              </a:lnSpc>
              <a:buFontTx/>
              <a:buNone/>
            </a:pPr>
            <a:r>
              <a:rPr lang="zh-CN" altLang="en-US" sz="2400" b="1">
                <a:latin typeface="宋体" panose="02010600030101010101" pitchFamily="2" charset="-122"/>
              </a:rPr>
              <a:t>                   ；（软件等待状态寄存器置</a:t>
            </a:r>
            <a:r>
              <a:rPr lang="en-US" altLang="zh-CN" sz="2400" b="1">
                <a:latin typeface="宋体" panose="02010600030101010101" pitchFamily="2" charset="-122"/>
              </a:rPr>
              <a:t>0</a:t>
            </a:r>
            <a:r>
              <a:rPr lang="zh-CN" altLang="en-US" sz="2400" b="1">
                <a:latin typeface="宋体" panose="02010600030101010101" pitchFamily="2" charset="-122"/>
              </a:rPr>
              <a:t>）</a:t>
            </a:r>
            <a:endParaRPr lang="zh-CN" altLang="en-US" sz="2400" b="1">
              <a:latin typeface="Arial" panose="020B0604020202020204" pitchFamily="34" charset="0"/>
              <a:cs typeface="Arial" panose="020B0604020202020204" pitchFamily="34" charset="0"/>
            </a:endParaRPr>
          </a:p>
          <a:p>
            <a:pPr algn="just" eaLnBrk="1" hangingPunct="1">
              <a:lnSpc>
                <a:spcPct val="80000"/>
              </a:lnSpc>
              <a:buFontTx/>
              <a:buNone/>
            </a:pPr>
            <a:r>
              <a:rPr lang="en-US" altLang="zh-CN" sz="2400" b="1">
                <a:latin typeface="宋体" panose="02010600030101010101" pitchFamily="2" charset="-122"/>
              </a:rPr>
              <a:t>STM  #0010h</a:t>
            </a:r>
            <a:r>
              <a:rPr lang="zh-CN" altLang="en-US" sz="2400" b="1">
                <a:latin typeface="宋体" panose="02010600030101010101" pitchFamily="2" charset="-122"/>
              </a:rPr>
              <a:t>，</a:t>
            </a:r>
            <a:r>
              <a:rPr lang="en-US" altLang="zh-CN" sz="2400" b="1">
                <a:latin typeface="宋体" panose="02010600030101010101" pitchFamily="2" charset="-122"/>
              </a:rPr>
              <a:t>TCR   </a:t>
            </a:r>
            <a:r>
              <a:rPr lang="zh-CN" altLang="en-US" sz="2400" b="1">
                <a:latin typeface="宋体" panose="02010600030101010101" pitchFamily="2" charset="-122"/>
              </a:rPr>
              <a:t>；</a:t>
            </a:r>
            <a:r>
              <a:rPr lang="en-US" altLang="zh-CN" sz="2400" b="1">
                <a:latin typeface="宋体" panose="02010600030101010101" pitchFamily="2" charset="-122"/>
              </a:rPr>
              <a:t>TSS=1</a:t>
            </a:r>
            <a:r>
              <a:rPr lang="zh-CN" altLang="en-US" sz="2400" b="1">
                <a:latin typeface="宋体" panose="02010600030101010101" pitchFamily="2" charset="-122"/>
              </a:rPr>
              <a:t>（</a:t>
            </a:r>
            <a:r>
              <a:rPr lang="en-US" altLang="zh-CN" sz="2400" b="1">
                <a:latin typeface="宋体" panose="02010600030101010101" pitchFamily="2" charset="-122"/>
              </a:rPr>
              <a:t>TCR</a:t>
            </a:r>
            <a:r>
              <a:rPr lang="zh-CN" altLang="en-US" sz="2400" b="1">
                <a:latin typeface="宋体" panose="02010600030101010101" pitchFamily="2" charset="-122"/>
              </a:rPr>
              <a:t>第</a:t>
            </a:r>
            <a:r>
              <a:rPr lang="en-US" altLang="zh-CN" sz="2400" b="1">
                <a:latin typeface="宋体" panose="02010600030101010101" pitchFamily="2" charset="-122"/>
              </a:rPr>
              <a:t>5</a:t>
            </a:r>
            <a:r>
              <a:rPr lang="zh-CN" altLang="en-US" sz="2400" b="1">
                <a:latin typeface="宋体" panose="02010600030101010101" pitchFamily="2" charset="-122"/>
              </a:rPr>
              <a:t>位</a:t>
            </a:r>
            <a:r>
              <a:rPr lang="en-US" altLang="zh-CN" sz="2400" b="1">
                <a:latin typeface="宋体" panose="02010600030101010101" pitchFamily="2" charset="-122"/>
              </a:rPr>
              <a:t>TSS</a:t>
            </a:r>
            <a:r>
              <a:rPr lang="zh-CN" altLang="en-US" sz="2400" b="1">
                <a:latin typeface="宋体" panose="02010600030101010101" pitchFamily="2" charset="-122"/>
              </a:rPr>
              <a:t>置</a:t>
            </a:r>
            <a:r>
              <a:rPr lang="en-US" altLang="zh-CN" sz="2400" b="1">
                <a:latin typeface="宋体" panose="02010600030101010101" pitchFamily="2" charset="-122"/>
              </a:rPr>
              <a:t>1</a:t>
            </a:r>
            <a:r>
              <a:rPr lang="zh-CN" altLang="en-US" sz="2400" b="1">
                <a:latin typeface="宋体" panose="02010600030101010101" pitchFamily="2" charset="-122"/>
              </a:rPr>
              <a:t>）</a:t>
            </a:r>
            <a:endParaRPr lang="zh-CN" altLang="en-US" sz="2400" b="1">
              <a:latin typeface="Arial" panose="020B0604020202020204" pitchFamily="34" charset="0"/>
              <a:cs typeface="Arial" panose="020B0604020202020204" pitchFamily="34" charset="0"/>
            </a:endParaRPr>
          </a:p>
          <a:p>
            <a:pPr algn="just" eaLnBrk="1" hangingPunct="1">
              <a:lnSpc>
                <a:spcPct val="80000"/>
              </a:lnSpc>
              <a:buFontTx/>
              <a:buNone/>
            </a:pPr>
            <a:r>
              <a:rPr lang="en-US" altLang="zh-CN" sz="2400" b="1">
                <a:latin typeface="宋体" panose="02010600030101010101" pitchFamily="2" charset="-122"/>
              </a:rPr>
              <a:t>STM  #0020h</a:t>
            </a:r>
            <a:r>
              <a:rPr lang="zh-CN" altLang="en-US" sz="2400" b="1">
                <a:latin typeface="宋体" panose="02010600030101010101" pitchFamily="2" charset="-122"/>
              </a:rPr>
              <a:t>，</a:t>
            </a:r>
            <a:r>
              <a:rPr lang="en-US" altLang="zh-CN" sz="2400" b="1">
                <a:latin typeface="宋体" panose="02010600030101010101" pitchFamily="2" charset="-122"/>
              </a:rPr>
              <a:t>PRD   </a:t>
            </a:r>
            <a:r>
              <a:rPr lang="zh-CN" altLang="en-US" sz="2400" b="1">
                <a:latin typeface="宋体" panose="02010600030101010101" pitchFamily="2" charset="-122"/>
              </a:rPr>
              <a:t>；加载定时器周期寄存器（</a:t>
            </a:r>
            <a:r>
              <a:rPr lang="en-US" altLang="zh-CN" sz="2400" b="1">
                <a:latin typeface="宋体" panose="02010600030101010101" pitchFamily="2" charset="-122"/>
              </a:rPr>
              <a:t>PRD</a:t>
            </a:r>
            <a:r>
              <a:rPr lang="zh-CN" altLang="en-US" sz="2400" b="1">
                <a:latin typeface="宋体" panose="02010600030101010101" pitchFamily="2" charset="-122"/>
              </a:rPr>
              <a:t>）</a:t>
            </a:r>
            <a:endParaRPr lang="zh-CN" altLang="en-US" sz="2400" b="1">
              <a:latin typeface="Arial" panose="020B0604020202020204" pitchFamily="34" charset="0"/>
              <a:cs typeface="Arial" panose="020B0604020202020204" pitchFamily="34" charset="0"/>
            </a:endParaRPr>
          </a:p>
          <a:p>
            <a:pPr algn="just" eaLnBrk="1" hangingPunct="1">
              <a:lnSpc>
                <a:spcPct val="80000"/>
              </a:lnSpc>
              <a:buFontTx/>
              <a:buNone/>
            </a:pPr>
            <a:r>
              <a:rPr lang="zh-CN" altLang="en-US" sz="2400" b="1">
                <a:latin typeface="宋体" panose="02010600030101010101" pitchFamily="2" charset="-122"/>
              </a:rPr>
              <a:t>     　　；定时中断周期</a:t>
            </a:r>
            <a:r>
              <a:rPr lang="en-US" altLang="zh-CN" sz="2400" b="1">
                <a:latin typeface="宋体" panose="02010600030101010101" pitchFamily="2" charset="-122"/>
              </a:rPr>
              <a:t>=CLKOUT×</a:t>
            </a:r>
            <a:r>
              <a:rPr lang="zh-CN" altLang="en-US" sz="2400" b="1">
                <a:latin typeface="宋体" panose="02010600030101010101" pitchFamily="2" charset="-122"/>
              </a:rPr>
              <a:t>（</a:t>
            </a:r>
            <a:r>
              <a:rPr lang="en-US" altLang="zh-CN" sz="2400" b="1">
                <a:latin typeface="宋体" panose="02010600030101010101" pitchFamily="2" charset="-122"/>
              </a:rPr>
              <a:t>TDDR+1</a:t>
            </a:r>
            <a:r>
              <a:rPr lang="zh-CN" altLang="en-US" sz="2400" b="1">
                <a:latin typeface="宋体" panose="02010600030101010101" pitchFamily="2" charset="-122"/>
              </a:rPr>
              <a:t>）</a:t>
            </a:r>
            <a:r>
              <a:rPr lang="en-US" altLang="zh-CN" sz="2400" b="1">
                <a:latin typeface="宋体" panose="02010600030101010101" pitchFamily="2" charset="-122"/>
              </a:rPr>
              <a:t>×</a:t>
            </a:r>
            <a:r>
              <a:rPr lang="zh-CN" altLang="en-US" sz="2400" b="1">
                <a:latin typeface="宋体" panose="02010600030101010101" pitchFamily="2" charset="-122"/>
              </a:rPr>
              <a:t>（</a:t>
            </a:r>
            <a:r>
              <a:rPr lang="en-US" altLang="zh-CN" sz="2400" b="1">
                <a:latin typeface="宋体" panose="02010600030101010101" pitchFamily="2" charset="-122"/>
              </a:rPr>
              <a:t>PRD+1</a:t>
            </a:r>
            <a:r>
              <a:rPr lang="zh-CN" altLang="en-US" sz="2400" b="1">
                <a:latin typeface="宋体" panose="02010600030101010101" pitchFamily="2" charset="-122"/>
              </a:rPr>
              <a:t>）</a:t>
            </a:r>
            <a:endParaRPr lang="zh-CN" altLang="en-US" sz="2400" b="1">
              <a:latin typeface="Arial" panose="020B0604020202020204" pitchFamily="34" charset="0"/>
              <a:cs typeface="Arial" panose="020B0604020202020204" pitchFamily="34" charset="0"/>
            </a:endParaRPr>
          </a:p>
          <a:p>
            <a:pPr algn="just" eaLnBrk="1" hangingPunct="1">
              <a:lnSpc>
                <a:spcPct val="80000"/>
              </a:lnSpc>
              <a:buFontTx/>
              <a:buNone/>
            </a:pPr>
            <a:r>
              <a:rPr lang="en-US" altLang="zh-CN" sz="2400" b="1">
                <a:latin typeface="宋体" panose="02010600030101010101" pitchFamily="2" charset="-122"/>
              </a:rPr>
              <a:t>STM  #0C20h</a:t>
            </a:r>
            <a:r>
              <a:rPr lang="zh-CN" altLang="en-US" sz="2400" b="1">
                <a:latin typeface="宋体" panose="02010600030101010101" pitchFamily="2" charset="-122"/>
              </a:rPr>
              <a:t>，</a:t>
            </a:r>
            <a:r>
              <a:rPr lang="en-US" altLang="zh-CN" sz="2400" b="1">
                <a:latin typeface="宋体" panose="02010600030101010101" pitchFamily="2" charset="-122"/>
              </a:rPr>
              <a:t>TCR   </a:t>
            </a:r>
            <a:r>
              <a:rPr lang="zh-CN" altLang="en-US" sz="2400" b="1">
                <a:latin typeface="宋体" panose="02010600030101010101" pitchFamily="2" charset="-122"/>
              </a:rPr>
              <a:t>；定时分频系数</a:t>
            </a:r>
            <a:r>
              <a:rPr lang="en-US" altLang="zh-CN" sz="2400" b="1">
                <a:latin typeface="宋体" panose="02010600030101010101" pitchFamily="2" charset="-122"/>
              </a:rPr>
              <a:t>TDDR</a:t>
            </a:r>
            <a:r>
              <a:rPr lang="zh-CN" altLang="en-US" sz="2400" b="1">
                <a:latin typeface="宋体" panose="02010600030101010101" pitchFamily="2" charset="-122"/>
              </a:rPr>
              <a:t>初始化为</a:t>
            </a:r>
            <a:r>
              <a:rPr lang="en-US" altLang="zh-CN" sz="2400" b="1">
                <a:latin typeface="宋体" panose="02010600030101010101" pitchFamily="2" charset="-122"/>
              </a:rPr>
              <a:t>0</a:t>
            </a:r>
            <a:endParaRPr lang="en-US" altLang="zh-CN" sz="2400" b="1">
              <a:latin typeface="Arial" panose="020B0604020202020204" pitchFamily="34" charset="0"/>
              <a:cs typeface="Arial" panose="020B0604020202020204" pitchFamily="34" charset="0"/>
            </a:endParaRPr>
          </a:p>
          <a:p>
            <a:pPr algn="just" eaLnBrk="1" hangingPunct="1">
              <a:lnSpc>
                <a:spcPct val="80000"/>
              </a:lnSpc>
              <a:buFontTx/>
              <a:buNone/>
            </a:pPr>
            <a:r>
              <a:rPr lang="en-US" altLang="zh-CN" sz="2400" b="1">
                <a:latin typeface="宋体" panose="02010600030101010101" pitchFamily="2" charset="-122"/>
              </a:rPr>
              <a:t>                   </a:t>
            </a:r>
            <a:r>
              <a:rPr lang="zh-CN" altLang="en-US" sz="2400" b="1">
                <a:latin typeface="宋体" panose="02010600030101010101" pitchFamily="2" charset="-122"/>
              </a:rPr>
              <a:t>；</a:t>
            </a:r>
            <a:r>
              <a:rPr lang="en-US" altLang="zh-CN" sz="2400" b="1">
                <a:latin typeface="宋体" panose="02010600030101010101" pitchFamily="2" charset="-122"/>
              </a:rPr>
              <a:t>TSS=0</a:t>
            </a:r>
            <a:r>
              <a:rPr lang="zh-CN" altLang="en-US" sz="2400" b="1">
                <a:latin typeface="宋体" panose="02010600030101010101" pitchFamily="2" charset="-122"/>
              </a:rPr>
              <a:t>，启动定时器工作</a:t>
            </a:r>
            <a:endParaRPr lang="zh-CN" altLang="en-US" sz="2400" b="1">
              <a:latin typeface="Arial" panose="020B0604020202020204" pitchFamily="34" charset="0"/>
              <a:cs typeface="Arial" panose="020B0604020202020204" pitchFamily="34" charset="0"/>
            </a:endParaRPr>
          </a:p>
          <a:p>
            <a:pPr algn="just" eaLnBrk="1" hangingPunct="1">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TRB=1</a:t>
            </a:r>
            <a:r>
              <a:rPr lang="zh-CN" altLang="en-US" sz="2400" b="1">
                <a:latin typeface="宋体" panose="02010600030101010101" pitchFamily="2" charset="-122"/>
              </a:rPr>
              <a:t>，当</a:t>
            </a:r>
            <a:r>
              <a:rPr lang="en-US" altLang="zh-CN" sz="2400" b="1">
                <a:latin typeface="宋体" panose="02010600030101010101" pitchFamily="2" charset="-122"/>
              </a:rPr>
              <a:t>TIM</a:t>
            </a:r>
            <a:r>
              <a:rPr lang="zh-CN" altLang="en-US" sz="2400" b="1">
                <a:latin typeface="宋体" panose="02010600030101010101" pitchFamily="2" charset="-122"/>
              </a:rPr>
              <a:t>减到</a:t>
            </a:r>
            <a:r>
              <a:rPr lang="en-US" altLang="zh-CN" sz="2400" b="1">
                <a:latin typeface="宋体" panose="02010600030101010101" pitchFamily="2" charset="-122"/>
              </a:rPr>
              <a:t>0</a:t>
            </a:r>
            <a:r>
              <a:rPr lang="zh-CN" altLang="en-US" sz="2400" b="1">
                <a:latin typeface="宋体" panose="02010600030101010101" pitchFamily="2" charset="-122"/>
              </a:rPr>
              <a:t>后重新加载</a:t>
            </a:r>
            <a:r>
              <a:rPr lang="en-US" altLang="zh-CN" sz="2400" b="1">
                <a:latin typeface="宋体" panose="02010600030101010101" pitchFamily="2" charset="-122"/>
              </a:rPr>
              <a:t>PRD</a:t>
            </a:r>
            <a:endParaRPr lang="en-US" altLang="zh-CN" sz="2400" b="1">
              <a:latin typeface="Arial" panose="020B0604020202020204" pitchFamily="34" charset="0"/>
              <a:cs typeface="Arial" panose="020B0604020202020204" pitchFamily="34" charset="0"/>
            </a:endParaRPr>
          </a:p>
          <a:p>
            <a:pPr algn="just" eaLnBrk="1" hangingPunct="1">
              <a:lnSpc>
                <a:spcPct val="80000"/>
              </a:lnSpc>
              <a:buFontTx/>
              <a:buNone/>
            </a:pPr>
            <a:r>
              <a:rPr lang="en-US" altLang="zh-CN" sz="2400" b="1">
                <a:latin typeface="宋体" panose="02010600030101010101" pitchFamily="2" charset="-122"/>
              </a:rPr>
              <a:t>            </a:t>
            </a:r>
            <a:r>
              <a:rPr lang="zh-CN" altLang="en-US" sz="2400" b="1">
                <a:latin typeface="宋体" panose="02010600030101010101" pitchFamily="2" charset="-122"/>
              </a:rPr>
              <a:t>；</a:t>
            </a:r>
            <a:r>
              <a:rPr lang="en-US" altLang="zh-CN" sz="2400" b="1">
                <a:latin typeface="宋体" panose="02010600030101010101" pitchFamily="2" charset="-122"/>
              </a:rPr>
              <a:t>Soft=1</a:t>
            </a:r>
            <a:r>
              <a:rPr lang="zh-CN" altLang="en-US" sz="2400" b="1">
                <a:latin typeface="宋体" panose="02010600030101010101" pitchFamily="2" charset="-122"/>
              </a:rPr>
              <a:t>，</a:t>
            </a:r>
            <a:r>
              <a:rPr lang="en-US" altLang="zh-CN" sz="2400" b="1">
                <a:latin typeface="宋体" panose="02010600030101010101" pitchFamily="2" charset="-122"/>
              </a:rPr>
              <a:t>Free=1</a:t>
            </a:r>
            <a:r>
              <a:rPr lang="zh-CN" altLang="en-US" sz="2400" b="1">
                <a:latin typeface="宋体" panose="02010600030101010101" pitchFamily="2" charset="-122"/>
              </a:rPr>
              <a:t>定时器遇到断点后继续运行</a:t>
            </a:r>
            <a:endParaRPr lang="zh-CN" altLang="en-US" sz="2400" b="1">
              <a:latin typeface="Arial" panose="020B0604020202020204" pitchFamily="34" charset="0"/>
              <a:cs typeface="Arial" panose="020B0604020202020204" pitchFamily="34" charset="0"/>
            </a:endParaRPr>
          </a:p>
          <a:p>
            <a:pPr algn="just" eaLnBrk="1" hangingPunct="1">
              <a:lnSpc>
                <a:spcPct val="80000"/>
              </a:lnSpc>
              <a:buFontTx/>
              <a:buNone/>
            </a:pPr>
            <a:r>
              <a:rPr lang="en-US" altLang="zh-CN" sz="2400" b="1">
                <a:latin typeface="宋体" panose="02010600030101010101" pitchFamily="2" charset="-122"/>
              </a:rPr>
              <a:t>STM  #0008h</a:t>
            </a:r>
            <a:r>
              <a:rPr lang="zh-CN" altLang="en-US" sz="2400" b="1">
                <a:latin typeface="宋体" panose="02010600030101010101" pitchFamily="2" charset="-122"/>
              </a:rPr>
              <a:t>，</a:t>
            </a:r>
            <a:r>
              <a:rPr lang="en-US" altLang="zh-CN" sz="2400" b="1">
                <a:latin typeface="宋体" panose="02010600030101010101" pitchFamily="2" charset="-122"/>
              </a:rPr>
              <a:t>IFR   </a:t>
            </a:r>
            <a:r>
              <a:rPr lang="zh-CN" altLang="en-US" sz="2400" b="1">
                <a:latin typeface="宋体" panose="02010600030101010101" pitchFamily="2" charset="-122"/>
              </a:rPr>
              <a:t>；清除定时器中断</a:t>
            </a:r>
            <a:endParaRPr lang="zh-CN" altLang="en-US" sz="2400" b="1">
              <a:latin typeface="Arial" panose="020B0604020202020204" pitchFamily="34" charset="0"/>
              <a:cs typeface="Arial" panose="020B0604020202020204" pitchFamily="34" charset="0"/>
            </a:endParaRPr>
          </a:p>
          <a:p>
            <a:pPr algn="just" eaLnBrk="1" hangingPunct="1">
              <a:lnSpc>
                <a:spcPct val="80000"/>
              </a:lnSpc>
              <a:buFontTx/>
              <a:buNone/>
            </a:pPr>
            <a:r>
              <a:rPr lang="en-US" altLang="zh-CN" sz="2400" b="1">
                <a:latin typeface="宋体" panose="02010600030101010101" pitchFamily="2" charset="-122"/>
              </a:rPr>
              <a:t>STM  #0008h</a:t>
            </a:r>
            <a:r>
              <a:rPr lang="zh-CN" altLang="en-US" sz="2400" b="1">
                <a:latin typeface="宋体" panose="02010600030101010101" pitchFamily="2" charset="-122"/>
              </a:rPr>
              <a:t>，</a:t>
            </a:r>
            <a:r>
              <a:rPr lang="en-US" altLang="zh-CN" sz="2400" b="1">
                <a:latin typeface="宋体" panose="02010600030101010101" pitchFamily="2" charset="-122"/>
              </a:rPr>
              <a:t>IMR   </a:t>
            </a:r>
            <a:r>
              <a:rPr lang="zh-CN" altLang="en-US" sz="2400" b="1">
                <a:latin typeface="宋体" panose="02010600030101010101" pitchFamily="2" charset="-122"/>
              </a:rPr>
              <a:t>；开放定时器中断</a:t>
            </a:r>
            <a:endParaRPr lang="zh-CN" altLang="en-US" sz="2400" b="1">
              <a:latin typeface="Arial" panose="020B0604020202020204" pitchFamily="34" charset="0"/>
              <a:cs typeface="Arial" panose="020B0604020202020204" pitchFamily="34" charset="0"/>
            </a:endParaRPr>
          </a:p>
          <a:p>
            <a:pPr algn="just" eaLnBrk="1" hangingPunct="1">
              <a:lnSpc>
                <a:spcPct val="80000"/>
              </a:lnSpc>
              <a:buFontTx/>
              <a:buNone/>
            </a:pPr>
            <a:r>
              <a:rPr lang="en-US" altLang="zh-CN" sz="2400" b="1">
                <a:latin typeface="宋体" panose="02010600030101010101" pitchFamily="2" charset="-122"/>
              </a:rPr>
              <a:t>RSBX INTM    </a:t>
            </a:r>
            <a:r>
              <a:rPr lang="zh-CN" altLang="en-US" sz="2400" b="1">
                <a:latin typeface="宋体" panose="02010600030101010101" pitchFamily="2" charset="-122"/>
              </a:rPr>
              <a:t>；开放中断（状态寄存器</a:t>
            </a:r>
            <a:r>
              <a:rPr lang="en-US" altLang="zh-CN" sz="2400" b="1">
                <a:latin typeface="宋体" panose="02010600030101010101" pitchFamily="2" charset="-122"/>
              </a:rPr>
              <a:t>ST1</a:t>
            </a:r>
            <a:r>
              <a:rPr lang="zh-CN" altLang="en-US" sz="2400" b="1">
                <a:latin typeface="宋体" panose="02010600030101010101" pitchFamily="2" charset="-122"/>
              </a:rPr>
              <a:t>的</a:t>
            </a:r>
            <a:r>
              <a:rPr lang="en-US" altLang="zh-CN" sz="2400" b="1">
                <a:latin typeface="宋体" panose="02010600030101010101" pitchFamily="2" charset="-122"/>
              </a:rPr>
              <a:t>INTM</a:t>
            </a:r>
            <a:r>
              <a:rPr lang="zh-CN" altLang="en-US" sz="2400" b="1">
                <a:latin typeface="宋体" panose="02010600030101010101" pitchFamily="2" charset="-122"/>
              </a:rPr>
              <a:t>位复位）</a:t>
            </a:r>
            <a:endParaRPr lang="zh-CN" altLang="en-US" sz="2400" b="1">
              <a:latin typeface="Arial" panose="020B0604020202020204" pitchFamily="34" charset="0"/>
              <a:cs typeface="Arial" panose="020B0604020202020204" pitchFamily="34" charset="0"/>
            </a:endParaRPr>
          </a:p>
          <a:p>
            <a:pPr algn="just" eaLnBrk="1" hangingPunct="1">
              <a:lnSpc>
                <a:spcPct val="80000"/>
              </a:lnSpc>
              <a:buFontTx/>
              <a:buNone/>
            </a:pPr>
            <a:r>
              <a:rPr lang="en-US" altLang="zh-CN" sz="2400" b="1"/>
              <a:t>…</a:t>
            </a:r>
            <a:endParaRPr lang="en-US" altLang="zh-CN" sz="2400" b="1">
              <a:latin typeface="宋体" panose="02010600030101010101" pitchFamily="2" charset="-122"/>
            </a:endParaRPr>
          </a:p>
        </p:txBody>
      </p:sp>
      <p:sp>
        <p:nvSpPr>
          <p:cNvPr id="9011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A85E83C-EAB7-4CA5-82AB-6EDDA5087988}" type="slidenum">
              <a:rPr lang="en-US" altLang="zh-CN" sz="1400" b="0"/>
              <a:pPr eaLnBrk="1" hangingPunct="1"/>
              <a:t>77</a:t>
            </a:fld>
            <a:endParaRPr lang="en-US" altLang="zh-CN" sz="1400" b="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87778"/>
                                        </p:tgtEl>
                                        <p:attrNameLst>
                                          <p:attrName>style.visibility</p:attrName>
                                        </p:attrNameLst>
                                      </p:cBhvr>
                                      <p:to>
                                        <p:strVal val="visible"/>
                                      </p:to>
                                    </p:set>
                                    <p:animEffect transition="in" filter="slide(fromLeft)">
                                      <p:cBhvr>
                                        <p:cTn id="7" dur="500"/>
                                        <p:tgtEl>
                                          <p:spTgt spid="587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78"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8802" name="Rectangle 2"/>
          <p:cNvSpPr>
            <a:spLocks noGrp="1" noChangeArrowheads="1"/>
          </p:cNvSpPr>
          <p:nvPr>
            <p:ph type="title"/>
          </p:nvPr>
        </p:nvSpPr>
        <p:spPr bwMode="auto">
          <a:xfrm>
            <a:off x="2209800" y="990600"/>
            <a:ext cx="4724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66"/>
                </a:solidFill>
                <a:latin typeface="宋体" panose="02010600030101010101" pitchFamily="2" charset="-122"/>
              </a:rPr>
              <a:t>三、时钟发生器</a:t>
            </a:r>
            <a:r>
              <a:rPr lang="zh-CN" altLang="en-US" b="1"/>
              <a:t> </a:t>
            </a:r>
          </a:p>
        </p:txBody>
      </p:sp>
      <p:sp>
        <p:nvSpPr>
          <p:cNvPr id="9113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69FF7C2-EE46-435E-B64B-CBA883E4AE16}" type="slidenum">
              <a:rPr lang="en-US" altLang="zh-CN" sz="1400" b="0"/>
              <a:pPr eaLnBrk="1" hangingPunct="1"/>
              <a:t>78</a:t>
            </a:fld>
            <a:endParaRPr lang="en-US" altLang="zh-CN" sz="1400" b="0"/>
          </a:p>
        </p:txBody>
      </p:sp>
      <p:sp>
        <p:nvSpPr>
          <p:cNvPr id="588803" name="Rectangle 3"/>
          <p:cNvSpPr>
            <a:spLocks noChangeArrowheads="1"/>
          </p:cNvSpPr>
          <p:nvPr/>
        </p:nvSpPr>
        <p:spPr bwMode="auto">
          <a:xfrm>
            <a:off x="3886200" y="1905000"/>
            <a:ext cx="4321175" cy="636588"/>
          </a:xfrm>
          <a:prstGeom prst="rect">
            <a:avLst/>
          </a:prstGeom>
          <a:noFill/>
          <a:ln w="571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latin typeface="宋体" panose="02010600030101010101" pitchFamily="2" charset="-122"/>
              </a:rPr>
              <a:t>两种参考时钟输入方式</a:t>
            </a:r>
          </a:p>
        </p:txBody>
      </p:sp>
      <p:grpSp>
        <p:nvGrpSpPr>
          <p:cNvPr id="2" name="Group 5"/>
          <p:cNvGrpSpPr>
            <a:grpSpLocks/>
          </p:cNvGrpSpPr>
          <p:nvPr/>
        </p:nvGrpSpPr>
        <p:grpSpPr bwMode="auto">
          <a:xfrm>
            <a:off x="2627313" y="2852738"/>
            <a:ext cx="5746750" cy="762000"/>
            <a:chOff x="1776" y="1776"/>
            <a:chExt cx="3620" cy="480"/>
          </a:xfrm>
        </p:grpSpPr>
        <p:sp>
          <p:nvSpPr>
            <p:cNvPr id="91186" name="Line 6"/>
            <p:cNvSpPr>
              <a:spLocks noChangeShapeType="1"/>
            </p:cNvSpPr>
            <p:nvPr/>
          </p:nvSpPr>
          <p:spPr bwMode="auto">
            <a:xfrm flipH="1">
              <a:off x="3120" y="1776"/>
              <a:ext cx="240" cy="480"/>
            </a:xfrm>
            <a:prstGeom prst="line">
              <a:avLst/>
            </a:prstGeom>
            <a:noFill/>
            <a:ln w="7620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1187" name="Line 7"/>
            <p:cNvSpPr>
              <a:spLocks noChangeShapeType="1"/>
            </p:cNvSpPr>
            <p:nvPr/>
          </p:nvSpPr>
          <p:spPr bwMode="auto">
            <a:xfrm>
              <a:off x="3888" y="1776"/>
              <a:ext cx="240" cy="480"/>
            </a:xfrm>
            <a:prstGeom prst="line">
              <a:avLst/>
            </a:prstGeom>
            <a:noFill/>
            <a:ln w="7620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1188" name="Rectangle 8"/>
            <p:cNvSpPr>
              <a:spLocks noChangeArrowheads="1"/>
            </p:cNvSpPr>
            <p:nvPr/>
          </p:nvSpPr>
          <p:spPr bwMode="auto">
            <a:xfrm>
              <a:off x="1776" y="1776"/>
              <a:ext cx="12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400">
                  <a:ea typeface="黑体" panose="02010609060101010101" pitchFamily="49" charset="-122"/>
                </a:rPr>
                <a:t>内部振荡电路</a:t>
              </a:r>
            </a:p>
          </p:txBody>
        </p:sp>
        <p:sp>
          <p:nvSpPr>
            <p:cNvPr id="91189" name="Rectangle 9"/>
            <p:cNvSpPr>
              <a:spLocks noChangeArrowheads="1"/>
            </p:cNvSpPr>
            <p:nvPr/>
          </p:nvSpPr>
          <p:spPr bwMode="auto">
            <a:xfrm>
              <a:off x="4128" y="1776"/>
              <a:ext cx="12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r>
                <a:rPr kumimoji="0" lang="zh-CN" altLang="en-US" sz="2400">
                  <a:ea typeface="黑体" panose="02010609060101010101" pitchFamily="49" charset="-122"/>
                </a:rPr>
                <a:t>晶体振荡电路</a:t>
              </a:r>
            </a:p>
          </p:txBody>
        </p:sp>
      </p:grpSp>
      <p:sp>
        <p:nvSpPr>
          <p:cNvPr id="588810" name="Rectangle 10"/>
          <p:cNvSpPr>
            <a:spLocks noChangeArrowheads="1"/>
          </p:cNvSpPr>
          <p:nvPr/>
        </p:nvSpPr>
        <p:spPr bwMode="auto">
          <a:xfrm>
            <a:off x="762000" y="2133600"/>
            <a:ext cx="1371600" cy="2374900"/>
          </a:xfrm>
          <a:prstGeom prst="rect">
            <a:avLst/>
          </a:prstGeom>
          <a:solidFill>
            <a:schemeClr val="bg1"/>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Char char="•"/>
            </a:pPr>
            <a:r>
              <a:rPr lang="zh-CN" altLang="en-US" sz="3200">
                <a:solidFill>
                  <a:srgbClr val="FF0066"/>
                </a:solidFill>
                <a:latin typeface="宋体" panose="02010600030101010101" pitchFamily="2" charset="-122"/>
              </a:rPr>
              <a:t>作用</a:t>
            </a:r>
            <a:r>
              <a:rPr lang="zh-CN" altLang="en-US" sz="2800"/>
              <a:t>为</a:t>
            </a:r>
            <a:r>
              <a:rPr lang="en-US" altLang="zh-CN" sz="2800"/>
              <a:t>C54x</a:t>
            </a:r>
            <a:r>
              <a:rPr lang="zh-CN" altLang="en-US" sz="2800"/>
              <a:t>提供时钟信号</a:t>
            </a:r>
            <a:endParaRPr lang="zh-CN" altLang="en-US" sz="3200"/>
          </a:p>
          <a:p>
            <a:pPr eaLnBrk="1" hangingPunct="1">
              <a:lnSpc>
                <a:spcPct val="90000"/>
              </a:lnSpc>
              <a:spcBef>
                <a:spcPct val="50000"/>
              </a:spcBef>
              <a:buFontTx/>
              <a:buChar char="•"/>
            </a:pPr>
            <a:r>
              <a:rPr lang="zh-CN" altLang="en-US" sz="3200">
                <a:solidFill>
                  <a:srgbClr val="FF0066"/>
                </a:solidFill>
                <a:latin typeface="宋体" panose="02010600030101010101" pitchFamily="2" charset="-122"/>
              </a:rPr>
              <a:t>组成</a:t>
            </a:r>
          </a:p>
        </p:txBody>
      </p:sp>
      <p:sp>
        <p:nvSpPr>
          <p:cNvPr id="588811" name="AutoShape 11" descr="小棋盘"/>
          <p:cNvSpPr>
            <a:spLocks noChangeArrowheads="1"/>
          </p:cNvSpPr>
          <p:nvPr/>
        </p:nvSpPr>
        <p:spPr bwMode="auto">
          <a:xfrm>
            <a:off x="152400" y="5257800"/>
            <a:ext cx="2590800" cy="990600"/>
          </a:xfrm>
          <a:prstGeom prst="wedgeRoundRectCallout">
            <a:avLst>
              <a:gd name="adj1" fmla="val -6495"/>
              <a:gd name="adj2" fmla="val -117787"/>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400">
                <a:solidFill>
                  <a:schemeClr val="tx2"/>
                </a:solidFill>
              </a:rPr>
              <a:t>内部振荡器</a:t>
            </a:r>
          </a:p>
          <a:p>
            <a:pPr algn="just" eaLnBrk="1" hangingPunct="1">
              <a:spcBef>
                <a:spcPct val="20000"/>
              </a:spcBef>
            </a:pPr>
            <a:r>
              <a:rPr lang="zh-CN" altLang="en-US" sz="2400">
                <a:solidFill>
                  <a:schemeClr val="tx2"/>
                </a:solidFill>
              </a:rPr>
              <a:t>锁相环（</a:t>
            </a:r>
            <a:r>
              <a:rPr lang="en-US" altLang="zh-CN" sz="2400">
                <a:solidFill>
                  <a:schemeClr val="tx2"/>
                </a:solidFill>
              </a:rPr>
              <a:t>PLL</a:t>
            </a:r>
            <a:r>
              <a:rPr lang="zh-CN" altLang="en-US" sz="2400">
                <a:solidFill>
                  <a:schemeClr val="tx2"/>
                </a:solidFill>
              </a:rPr>
              <a:t>）</a:t>
            </a:r>
          </a:p>
        </p:txBody>
      </p:sp>
      <p:sp>
        <p:nvSpPr>
          <p:cNvPr id="91144" name="Text Box 12"/>
          <p:cNvSpPr txBox="1">
            <a:spLocks noChangeArrowheads="1"/>
          </p:cNvSpPr>
          <p:nvPr/>
        </p:nvSpPr>
        <p:spPr bwMode="auto">
          <a:xfrm>
            <a:off x="3348038" y="4076700"/>
            <a:ext cx="1873250" cy="863600"/>
          </a:xfrm>
          <a:prstGeom prst="rect">
            <a:avLst/>
          </a:prstGeom>
          <a:solidFill>
            <a:schemeClr val="accent1"/>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p:txBody>
      </p:sp>
      <p:sp>
        <p:nvSpPr>
          <p:cNvPr id="91145" name="Text Box 13"/>
          <p:cNvSpPr txBox="1">
            <a:spLocks noChangeArrowheads="1"/>
          </p:cNvSpPr>
          <p:nvPr/>
        </p:nvSpPr>
        <p:spPr bwMode="auto">
          <a:xfrm>
            <a:off x="6013450" y="4651375"/>
            <a:ext cx="1873250" cy="863600"/>
          </a:xfrm>
          <a:prstGeom prst="rect">
            <a:avLst/>
          </a:prstGeom>
          <a:solidFill>
            <a:schemeClr val="tx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p:txBody>
      </p:sp>
      <p:sp>
        <p:nvSpPr>
          <p:cNvPr id="91146" name="Text Box 14"/>
          <p:cNvSpPr txBox="1">
            <a:spLocks noChangeArrowheads="1"/>
          </p:cNvSpPr>
          <p:nvPr/>
        </p:nvSpPr>
        <p:spPr bwMode="auto">
          <a:xfrm>
            <a:off x="3421063" y="4148138"/>
            <a:ext cx="1728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TMS320C54x</a:t>
            </a:r>
          </a:p>
        </p:txBody>
      </p:sp>
      <p:sp>
        <p:nvSpPr>
          <p:cNvPr id="91147" name="Text Box 15"/>
          <p:cNvSpPr txBox="1">
            <a:spLocks noChangeArrowheads="1"/>
          </p:cNvSpPr>
          <p:nvPr/>
        </p:nvSpPr>
        <p:spPr bwMode="auto">
          <a:xfrm>
            <a:off x="3492500" y="45085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X1</a:t>
            </a:r>
          </a:p>
        </p:txBody>
      </p:sp>
      <p:sp>
        <p:nvSpPr>
          <p:cNvPr id="91148" name="Text Box 16"/>
          <p:cNvSpPr txBox="1">
            <a:spLocks noChangeArrowheads="1"/>
          </p:cNvSpPr>
          <p:nvPr/>
        </p:nvSpPr>
        <p:spPr bwMode="auto">
          <a:xfrm>
            <a:off x="4572000" y="45085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X2</a:t>
            </a:r>
          </a:p>
        </p:txBody>
      </p:sp>
      <p:sp>
        <p:nvSpPr>
          <p:cNvPr id="91149" name="Text Box 17"/>
          <p:cNvSpPr txBox="1">
            <a:spLocks noChangeArrowheads="1"/>
          </p:cNvSpPr>
          <p:nvPr/>
        </p:nvSpPr>
        <p:spPr bwMode="auto">
          <a:xfrm>
            <a:off x="6229350" y="4843463"/>
            <a:ext cx="158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晶体振荡器</a:t>
            </a:r>
          </a:p>
        </p:txBody>
      </p:sp>
      <p:sp>
        <p:nvSpPr>
          <p:cNvPr id="91150" name="Line 18"/>
          <p:cNvSpPr>
            <a:spLocks noChangeShapeType="1"/>
          </p:cNvSpPr>
          <p:nvPr/>
        </p:nvSpPr>
        <p:spPr bwMode="auto">
          <a:xfrm>
            <a:off x="3492500" y="4940300"/>
            <a:ext cx="0" cy="79216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51" name="Line 19"/>
          <p:cNvSpPr>
            <a:spLocks noChangeShapeType="1"/>
          </p:cNvSpPr>
          <p:nvPr/>
        </p:nvSpPr>
        <p:spPr bwMode="auto">
          <a:xfrm>
            <a:off x="5005388" y="4940300"/>
            <a:ext cx="0" cy="79216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91152" name="Group 28"/>
          <p:cNvGrpSpPr>
            <a:grpSpLocks/>
          </p:cNvGrpSpPr>
          <p:nvPr/>
        </p:nvGrpSpPr>
        <p:grpSpPr bwMode="auto">
          <a:xfrm>
            <a:off x="3924300" y="5195888"/>
            <a:ext cx="647700" cy="647700"/>
            <a:chOff x="2653" y="3612"/>
            <a:chExt cx="408" cy="408"/>
          </a:xfrm>
        </p:grpSpPr>
        <p:sp>
          <p:nvSpPr>
            <p:cNvPr id="91179" name="Rectangle 21"/>
            <p:cNvSpPr>
              <a:spLocks noChangeArrowheads="1"/>
            </p:cNvSpPr>
            <p:nvPr/>
          </p:nvSpPr>
          <p:spPr bwMode="auto">
            <a:xfrm>
              <a:off x="2835" y="3612"/>
              <a:ext cx="45" cy="13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180" name="Line 22"/>
            <p:cNvSpPr>
              <a:spLocks noChangeShapeType="1"/>
            </p:cNvSpPr>
            <p:nvPr/>
          </p:nvSpPr>
          <p:spPr bwMode="auto">
            <a:xfrm>
              <a:off x="2789" y="3612"/>
              <a:ext cx="0" cy="13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81" name="Line 23"/>
            <p:cNvSpPr>
              <a:spLocks noChangeShapeType="1"/>
            </p:cNvSpPr>
            <p:nvPr/>
          </p:nvSpPr>
          <p:spPr bwMode="auto">
            <a:xfrm>
              <a:off x="2925" y="3612"/>
              <a:ext cx="0" cy="13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82" name="Line 24"/>
            <p:cNvSpPr>
              <a:spLocks noChangeShapeType="1"/>
            </p:cNvSpPr>
            <p:nvPr/>
          </p:nvSpPr>
          <p:spPr bwMode="auto">
            <a:xfrm>
              <a:off x="2653" y="3884"/>
              <a:ext cx="0" cy="13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83" name="Line 25"/>
            <p:cNvSpPr>
              <a:spLocks noChangeShapeType="1"/>
            </p:cNvSpPr>
            <p:nvPr/>
          </p:nvSpPr>
          <p:spPr bwMode="auto">
            <a:xfrm>
              <a:off x="2699" y="3884"/>
              <a:ext cx="0" cy="13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84" name="Line 26"/>
            <p:cNvSpPr>
              <a:spLocks noChangeShapeType="1"/>
            </p:cNvSpPr>
            <p:nvPr/>
          </p:nvSpPr>
          <p:spPr bwMode="auto">
            <a:xfrm>
              <a:off x="3016" y="3884"/>
              <a:ext cx="0" cy="13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85" name="Line 27"/>
            <p:cNvSpPr>
              <a:spLocks noChangeShapeType="1"/>
            </p:cNvSpPr>
            <p:nvPr/>
          </p:nvSpPr>
          <p:spPr bwMode="auto">
            <a:xfrm>
              <a:off x="3061" y="3884"/>
              <a:ext cx="0" cy="13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91153" name="Line 29"/>
          <p:cNvSpPr>
            <a:spLocks noChangeShapeType="1"/>
          </p:cNvSpPr>
          <p:nvPr/>
        </p:nvSpPr>
        <p:spPr bwMode="auto">
          <a:xfrm flipH="1">
            <a:off x="3492500" y="5732463"/>
            <a:ext cx="431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54" name="Line 30"/>
          <p:cNvSpPr>
            <a:spLocks noChangeShapeType="1"/>
          </p:cNvSpPr>
          <p:nvPr/>
        </p:nvSpPr>
        <p:spPr bwMode="auto">
          <a:xfrm flipH="1">
            <a:off x="3997325" y="5732463"/>
            <a:ext cx="50323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55" name="Line 31"/>
          <p:cNvSpPr>
            <a:spLocks noChangeShapeType="1"/>
          </p:cNvSpPr>
          <p:nvPr/>
        </p:nvSpPr>
        <p:spPr bwMode="auto">
          <a:xfrm flipH="1">
            <a:off x="4572000" y="5732463"/>
            <a:ext cx="431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56" name="Line 32"/>
          <p:cNvSpPr>
            <a:spLocks noChangeShapeType="1"/>
          </p:cNvSpPr>
          <p:nvPr/>
        </p:nvSpPr>
        <p:spPr bwMode="auto">
          <a:xfrm flipH="1">
            <a:off x="3492500" y="5300663"/>
            <a:ext cx="6477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57" name="Line 33"/>
          <p:cNvSpPr>
            <a:spLocks noChangeShapeType="1"/>
          </p:cNvSpPr>
          <p:nvPr/>
        </p:nvSpPr>
        <p:spPr bwMode="auto">
          <a:xfrm flipH="1">
            <a:off x="4356100" y="5300663"/>
            <a:ext cx="6477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58" name="Line 34"/>
          <p:cNvSpPr>
            <a:spLocks noChangeShapeType="1"/>
          </p:cNvSpPr>
          <p:nvPr/>
        </p:nvSpPr>
        <p:spPr bwMode="auto">
          <a:xfrm flipH="1">
            <a:off x="4213225" y="5732463"/>
            <a:ext cx="0" cy="2159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59" name="Line 35"/>
          <p:cNvSpPr>
            <a:spLocks noChangeShapeType="1"/>
          </p:cNvSpPr>
          <p:nvPr/>
        </p:nvSpPr>
        <p:spPr bwMode="auto">
          <a:xfrm flipH="1">
            <a:off x="4100513" y="5948363"/>
            <a:ext cx="2159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60" name="Line 36"/>
          <p:cNvSpPr>
            <a:spLocks noChangeShapeType="1"/>
          </p:cNvSpPr>
          <p:nvPr/>
        </p:nvSpPr>
        <p:spPr bwMode="auto">
          <a:xfrm>
            <a:off x="6300788" y="5516563"/>
            <a:ext cx="0" cy="36036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61" name="Line 37"/>
          <p:cNvSpPr>
            <a:spLocks noChangeShapeType="1"/>
          </p:cNvSpPr>
          <p:nvPr/>
        </p:nvSpPr>
        <p:spPr bwMode="auto">
          <a:xfrm>
            <a:off x="7524750" y="5516563"/>
            <a:ext cx="0" cy="36036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62" name="Line 38"/>
          <p:cNvSpPr>
            <a:spLocks noChangeShapeType="1"/>
          </p:cNvSpPr>
          <p:nvPr/>
        </p:nvSpPr>
        <p:spPr bwMode="auto">
          <a:xfrm>
            <a:off x="6300788" y="4292600"/>
            <a:ext cx="0" cy="36036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63" name="Line 39"/>
          <p:cNvSpPr>
            <a:spLocks noChangeShapeType="1"/>
          </p:cNvSpPr>
          <p:nvPr/>
        </p:nvSpPr>
        <p:spPr bwMode="auto">
          <a:xfrm>
            <a:off x="7524750" y="4292600"/>
            <a:ext cx="0" cy="36036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64" name="Text Box 40"/>
          <p:cNvSpPr txBox="1">
            <a:spLocks noChangeArrowheads="1"/>
          </p:cNvSpPr>
          <p:nvPr/>
        </p:nvSpPr>
        <p:spPr bwMode="auto">
          <a:xfrm>
            <a:off x="3421063" y="5876925"/>
            <a:ext cx="719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20p</a:t>
            </a:r>
          </a:p>
        </p:txBody>
      </p:sp>
      <p:sp>
        <p:nvSpPr>
          <p:cNvPr id="91165" name="Text Box 41"/>
          <p:cNvSpPr txBox="1">
            <a:spLocks noChangeArrowheads="1"/>
          </p:cNvSpPr>
          <p:nvPr/>
        </p:nvSpPr>
        <p:spPr bwMode="auto">
          <a:xfrm>
            <a:off x="4429125" y="5876925"/>
            <a:ext cx="719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20p</a:t>
            </a:r>
          </a:p>
        </p:txBody>
      </p:sp>
      <p:sp>
        <p:nvSpPr>
          <p:cNvPr id="91166" name="Text Box 42"/>
          <p:cNvSpPr txBox="1">
            <a:spLocks noChangeArrowheads="1"/>
          </p:cNvSpPr>
          <p:nvPr/>
        </p:nvSpPr>
        <p:spPr bwMode="auto">
          <a:xfrm>
            <a:off x="6300788" y="5516563"/>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a:t>
            </a:r>
          </a:p>
        </p:txBody>
      </p:sp>
      <p:sp>
        <p:nvSpPr>
          <p:cNvPr id="91167" name="Text Box 43"/>
          <p:cNvSpPr txBox="1">
            <a:spLocks noChangeArrowheads="1"/>
          </p:cNvSpPr>
          <p:nvPr/>
        </p:nvSpPr>
        <p:spPr bwMode="auto">
          <a:xfrm>
            <a:off x="7524750" y="5516563"/>
            <a:ext cx="360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a:t>
            </a:r>
          </a:p>
        </p:txBody>
      </p:sp>
      <p:sp>
        <p:nvSpPr>
          <p:cNvPr id="91168" name="Text Box 44"/>
          <p:cNvSpPr txBox="1">
            <a:spLocks noChangeArrowheads="1"/>
          </p:cNvSpPr>
          <p:nvPr/>
        </p:nvSpPr>
        <p:spPr bwMode="auto">
          <a:xfrm>
            <a:off x="7524750" y="4292600"/>
            <a:ext cx="360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3</a:t>
            </a:r>
          </a:p>
        </p:txBody>
      </p:sp>
      <p:sp>
        <p:nvSpPr>
          <p:cNvPr id="91169" name="Text Box 45"/>
          <p:cNvSpPr txBox="1">
            <a:spLocks noChangeArrowheads="1"/>
          </p:cNvSpPr>
          <p:nvPr/>
        </p:nvSpPr>
        <p:spPr bwMode="auto">
          <a:xfrm>
            <a:off x="6300788" y="4292600"/>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a:t>
            </a:r>
          </a:p>
        </p:txBody>
      </p:sp>
      <p:sp>
        <p:nvSpPr>
          <p:cNvPr id="91170" name="Text Box 46"/>
          <p:cNvSpPr txBox="1">
            <a:spLocks noChangeArrowheads="1"/>
          </p:cNvSpPr>
          <p:nvPr/>
        </p:nvSpPr>
        <p:spPr bwMode="auto">
          <a:xfrm>
            <a:off x="6084888" y="5876925"/>
            <a:ext cx="720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N.C</a:t>
            </a:r>
          </a:p>
        </p:txBody>
      </p:sp>
      <p:sp>
        <p:nvSpPr>
          <p:cNvPr id="91171" name="Text Box 47"/>
          <p:cNvSpPr txBox="1">
            <a:spLocks noChangeArrowheads="1"/>
          </p:cNvSpPr>
          <p:nvPr/>
        </p:nvSpPr>
        <p:spPr bwMode="auto">
          <a:xfrm>
            <a:off x="7164388" y="5876925"/>
            <a:ext cx="1008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GND</a:t>
            </a:r>
          </a:p>
        </p:txBody>
      </p:sp>
      <p:sp>
        <p:nvSpPr>
          <p:cNvPr id="91172" name="Text Box 48"/>
          <p:cNvSpPr txBox="1">
            <a:spLocks noChangeArrowheads="1"/>
          </p:cNvSpPr>
          <p:nvPr/>
        </p:nvSpPr>
        <p:spPr bwMode="auto">
          <a:xfrm>
            <a:off x="5940425" y="3860800"/>
            <a:ext cx="64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Vcc</a:t>
            </a:r>
          </a:p>
        </p:txBody>
      </p:sp>
      <p:sp>
        <p:nvSpPr>
          <p:cNvPr id="91173" name="Text Box 49"/>
          <p:cNvSpPr txBox="1">
            <a:spLocks noChangeArrowheads="1"/>
          </p:cNvSpPr>
          <p:nvPr/>
        </p:nvSpPr>
        <p:spPr bwMode="auto">
          <a:xfrm>
            <a:off x="7164388" y="3860800"/>
            <a:ext cx="792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输出</a:t>
            </a:r>
          </a:p>
        </p:txBody>
      </p:sp>
      <p:sp>
        <p:nvSpPr>
          <p:cNvPr id="91174" name="Line 51"/>
          <p:cNvSpPr>
            <a:spLocks noChangeShapeType="1"/>
          </p:cNvSpPr>
          <p:nvPr/>
        </p:nvSpPr>
        <p:spPr bwMode="auto">
          <a:xfrm>
            <a:off x="5111750" y="5157788"/>
            <a:ext cx="180975" cy="323850"/>
          </a:xfrm>
          <a:prstGeom prst="line">
            <a:avLst/>
          </a:prstGeom>
          <a:noFill/>
          <a:ln w="28575">
            <a:solidFill>
              <a:schemeClr val="folHlink"/>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75" name="Text Box 52"/>
          <p:cNvSpPr txBox="1">
            <a:spLocks noChangeArrowheads="1"/>
          </p:cNvSpPr>
          <p:nvPr/>
        </p:nvSpPr>
        <p:spPr bwMode="auto">
          <a:xfrm>
            <a:off x="5040313" y="5408613"/>
            <a:ext cx="7191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folHlink"/>
                </a:solidFill>
              </a:rPr>
              <a:t>外部输入</a:t>
            </a:r>
          </a:p>
        </p:txBody>
      </p:sp>
      <p:sp>
        <p:nvSpPr>
          <p:cNvPr id="91176" name="Text Box 53"/>
          <p:cNvSpPr txBox="1">
            <a:spLocks noChangeArrowheads="1"/>
          </p:cNvSpPr>
          <p:nvPr/>
        </p:nvSpPr>
        <p:spPr bwMode="auto">
          <a:xfrm>
            <a:off x="2376488" y="4113213"/>
            <a:ext cx="71913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folHlink"/>
                </a:solidFill>
              </a:rPr>
              <a:t>外部输入时，不用</a:t>
            </a:r>
          </a:p>
        </p:txBody>
      </p:sp>
      <p:sp>
        <p:nvSpPr>
          <p:cNvPr id="91177" name="Line 54"/>
          <p:cNvSpPr>
            <a:spLocks noChangeShapeType="1"/>
          </p:cNvSpPr>
          <p:nvPr/>
        </p:nvSpPr>
        <p:spPr bwMode="auto">
          <a:xfrm flipH="1">
            <a:off x="3059113" y="5013325"/>
            <a:ext cx="288925" cy="180975"/>
          </a:xfrm>
          <a:prstGeom prst="line">
            <a:avLst/>
          </a:prstGeom>
          <a:noFill/>
          <a:ln w="28575">
            <a:solidFill>
              <a:schemeClr val="folHlink"/>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178" name="矩形 56"/>
          <p:cNvSpPr>
            <a:spLocks noChangeArrowheads="1"/>
          </p:cNvSpPr>
          <p:nvPr/>
        </p:nvSpPr>
        <p:spPr bwMode="auto">
          <a:xfrm>
            <a:off x="4221163" y="3228975"/>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9900CC"/>
                </a:solidFill>
              </a:rPr>
              <a:t>不用</a:t>
            </a:r>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88802"/>
                                        </p:tgtEl>
                                        <p:attrNameLst>
                                          <p:attrName>style.visibility</p:attrName>
                                        </p:attrNameLst>
                                      </p:cBhvr>
                                      <p:to>
                                        <p:strVal val="visible"/>
                                      </p:to>
                                    </p:set>
                                    <p:anim calcmode="lin" valueType="num">
                                      <p:cBhvr additive="base">
                                        <p:cTn id="7" dur="500" fill="hold"/>
                                        <p:tgtEl>
                                          <p:spTgt spid="588802"/>
                                        </p:tgtEl>
                                        <p:attrNameLst>
                                          <p:attrName>ppt_x</p:attrName>
                                        </p:attrNameLst>
                                      </p:cBhvr>
                                      <p:tavLst>
                                        <p:tav tm="0">
                                          <p:val>
                                            <p:strVal val="0-#ppt_w/2"/>
                                          </p:val>
                                        </p:tav>
                                        <p:tav tm="100000">
                                          <p:val>
                                            <p:strVal val="#ppt_x"/>
                                          </p:val>
                                        </p:tav>
                                      </p:tavLst>
                                    </p:anim>
                                    <p:anim calcmode="lin" valueType="num">
                                      <p:cBhvr additive="base">
                                        <p:cTn id="8" dur="500" fill="hold"/>
                                        <p:tgtEl>
                                          <p:spTgt spid="58880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588810"/>
                                        </p:tgtEl>
                                        <p:attrNameLst>
                                          <p:attrName>style.visibility</p:attrName>
                                        </p:attrNameLst>
                                      </p:cBhvr>
                                      <p:to>
                                        <p:strVal val="visible"/>
                                      </p:to>
                                    </p:set>
                                    <p:animEffect transition="in" filter="slide(fromLeft)">
                                      <p:cBhvr>
                                        <p:cTn id="12" dur="500"/>
                                        <p:tgtEl>
                                          <p:spTgt spid="588810"/>
                                        </p:tgtEl>
                                      </p:cBhvr>
                                    </p:animEffect>
                                  </p:childTnLst>
                                </p:cTn>
                              </p:par>
                            </p:childTnLst>
                          </p:cTn>
                        </p:par>
                        <p:par>
                          <p:cTn id="13" fill="hold" nodeType="afterGroup">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588811"/>
                                        </p:tgtEl>
                                        <p:attrNameLst>
                                          <p:attrName>style.visibility</p:attrName>
                                        </p:attrNameLst>
                                      </p:cBhvr>
                                      <p:to>
                                        <p:strVal val="visible"/>
                                      </p:to>
                                    </p:set>
                                    <p:anim calcmode="lin" valueType="num">
                                      <p:cBhvr additive="base">
                                        <p:cTn id="16" dur="500" fill="hold"/>
                                        <p:tgtEl>
                                          <p:spTgt spid="588811"/>
                                        </p:tgtEl>
                                        <p:attrNameLst>
                                          <p:attrName>ppt_x</p:attrName>
                                        </p:attrNameLst>
                                      </p:cBhvr>
                                      <p:tavLst>
                                        <p:tav tm="0">
                                          <p:val>
                                            <p:strVal val="1+#ppt_w/2"/>
                                          </p:val>
                                        </p:tav>
                                        <p:tav tm="100000">
                                          <p:val>
                                            <p:strVal val="#ppt_x"/>
                                          </p:val>
                                        </p:tav>
                                      </p:tavLst>
                                    </p:anim>
                                    <p:anim calcmode="lin" valueType="num">
                                      <p:cBhvr additive="base">
                                        <p:cTn id="17" dur="500" fill="hold"/>
                                        <p:tgtEl>
                                          <p:spTgt spid="588811"/>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1500"/>
                            </p:stCondLst>
                            <p:childTnLst>
                              <p:par>
                                <p:cTn id="19" presetID="12" presetClass="entr" presetSubtype="1" fill="hold" grpId="0" nodeType="afterEffect">
                                  <p:stCondLst>
                                    <p:cond delay="0"/>
                                  </p:stCondLst>
                                  <p:childTnLst>
                                    <p:set>
                                      <p:cBhvr>
                                        <p:cTn id="20" dur="1" fill="hold">
                                          <p:stCondLst>
                                            <p:cond delay="0"/>
                                          </p:stCondLst>
                                        </p:cTn>
                                        <p:tgtEl>
                                          <p:spTgt spid="588803"/>
                                        </p:tgtEl>
                                        <p:attrNameLst>
                                          <p:attrName>style.visibility</p:attrName>
                                        </p:attrNameLst>
                                      </p:cBhvr>
                                      <p:to>
                                        <p:strVal val="visible"/>
                                      </p:to>
                                    </p:set>
                                    <p:animEffect transition="in" filter="slide(fromTop)">
                                      <p:cBhvr>
                                        <p:cTn id="21" dur="500"/>
                                        <p:tgtEl>
                                          <p:spTgt spid="588803"/>
                                        </p:tgtEl>
                                      </p:cBhvr>
                                    </p:animEffect>
                                  </p:childTnLst>
                                </p:cTn>
                              </p:par>
                            </p:childTnLst>
                          </p:cTn>
                        </p:par>
                        <p:par>
                          <p:cTn id="22" fill="hold" nodeType="afterGroup">
                            <p:stCondLst>
                              <p:cond delay="2000"/>
                            </p:stCondLst>
                            <p:childTnLst>
                              <p:par>
                                <p:cTn id="23" presetID="2" presetClass="entr" presetSubtype="8"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0-#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02" grpId="0" autoUpdateAnimBg="0"/>
      <p:bldP spid="588803" grpId="0" animBg="1" autoUpdateAnimBg="0"/>
      <p:bldP spid="588810" grpId="0" animBg="1" autoUpdateAnimBg="0"/>
      <p:bldP spid="588811" grpId="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9826" name="Rectangle 2"/>
          <p:cNvSpPr>
            <a:spLocks noGrp="1" noChangeArrowheads="1"/>
          </p:cNvSpPr>
          <p:nvPr>
            <p:ph type="title"/>
          </p:nvPr>
        </p:nvSpPr>
        <p:spPr bwMode="auto">
          <a:xfrm>
            <a:off x="2362200" y="1052513"/>
            <a:ext cx="3810000" cy="792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时钟频率</a:t>
            </a:r>
            <a:r>
              <a:rPr lang="zh-CN" altLang="en-US"/>
              <a:t> </a:t>
            </a:r>
          </a:p>
        </p:txBody>
      </p:sp>
      <p:sp>
        <p:nvSpPr>
          <p:cNvPr id="9216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729DEC3-EE08-4614-9AF9-9D2026412AF9}" type="slidenum">
              <a:rPr lang="en-US" altLang="zh-CN" sz="1400" b="0"/>
              <a:pPr eaLnBrk="1" hangingPunct="1"/>
              <a:t>79</a:t>
            </a:fld>
            <a:endParaRPr lang="en-US" altLang="zh-CN" sz="1400" b="0"/>
          </a:p>
        </p:txBody>
      </p:sp>
      <p:sp>
        <p:nvSpPr>
          <p:cNvPr id="589827" name="Rectangle 3" descr="小棋盘"/>
          <p:cNvSpPr>
            <a:spLocks noChangeArrowheads="1"/>
          </p:cNvSpPr>
          <p:nvPr/>
        </p:nvSpPr>
        <p:spPr bwMode="auto">
          <a:xfrm>
            <a:off x="5181600" y="2438400"/>
            <a:ext cx="3276600" cy="1804988"/>
          </a:xfrm>
          <a:prstGeom prst="rect">
            <a:avLst/>
          </a:prstGeom>
          <a:pattFill prst="smCheck">
            <a:fgClr>
              <a:srgbClr val="FFFF00"/>
            </a:fgClr>
            <a:bgClr>
              <a:srgbClr val="FFFFFF"/>
            </a:bgClr>
          </a:pattFill>
          <a:ln w="57150">
            <a:solidFill>
              <a:srgbClr val="339933"/>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sz="3200">
                <a:solidFill>
                  <a:srgbClr val="FF00FF"/>
                </a:solidFill>
                <a:latin typeface="宋体" panose="02010600030101010101" pitchFamily="2" charset="-122"/>
              </a:rPr>
              <a:t>晶体振荡频率</a:t>
            </a:r>
          </a:p>
          <a:p>
            <a:pPr algn="ctr" eaLnBrk="1" hangingPunct="1">
              <a:spcBef>
                <a:spcPct val="20000"/>
              </a:spcBef>
            </a:pPr>
            <a:r>
              <a:rPr lang="zh-CN" altLang="en-US" sz="3200">
                <a:solidFill>
                  <a:srgbClr val="FF00FF"/>
                </a:solidFill>
                <a:latin typeface="宋体" panose="02010600030101010101" pitchFamily="2" charset="-122"/>
              </a:rPr>
              <a:t>外部时钟频率</a:t>
            </a:r>
          </a:p>
          <a:p>
            <a:pPr algn="ctr" eaLnBrk="1" hangingPunct="1">
              <a:spcBef>
                <a:spcPct val="20000"/>
              </a:spcBef>
            </a:pPr>
            <a:r>
              <a:rPr lang="en-US" altLang="zh-CN" sz="3200">
                <a:solidFill>
                  <a:srgbClr val="FF00FF"/>
                </a:solidFill>
                <a:latin typeface="宋体" panose="02010600030101010101" pitchFamily="2" charset="-122"/>
              </a:rPr>
              <a:t>CLKIN</a:t>
            </a:r>
          </a:p>
        </p:txBody>
      </p:sp>
      <p:grpSp>
        <p:nvGrpSpPr>
          <p:cNvPr id="2" name="Group 4"/>
          <p:cNvGrpSpPr>
            <a:grpSpLocks/>
          </p:cNvGrpSpPr>
          <p:nvPr/>
        </p:nvGrpSpPr>
        <p:grpSpPr bwMode="auto">
          <a:xfrm>
            <a:off x="3962400" y="2362200"/>
            <a:ext cx="762000" cy="1066800"/>
            <a:chOff x="2352" y="1200"/>
            <a:chExt cx="480" cy="672"/>
          </a:xfrm>
        </p:grpSpPr>
        <p:sp>
          <p:nvSpPr>
            <p:cNvPr id="92171" name="Line 5"/>
            <p:cNvSpPr>
              <a:spLocks noChangeShapeType="1"/>
            </p:cNvSpPr>
            <p:nvPr/>
          </p:nvSpPr>
          <p:spPr bwMode="auto">
            <a:xfrm>
              <a:off x="2352" y="1680"/>
              <a:ext cx="480" cy="0"/>
            </a:xfrm>
            <a:prstGeom prst="line">
              <a:avLst/>
            </a:prstGeom>
            <a:noFill/>
            <a:ln w="762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2172" name="Line 6"/>
            <p:cNvSpPr>
              <a:spLocks noChangeShapeType="1"/>
            </p:cNvSpPr>
            <p:nvPr/>
          </p:nvSpPr>
          <p:spPr bwMode="auto">
            <a:xfrm>
              <a:off x="2352" y="1872"/>
              <a:ext cx="480" cy="0"/>
            </a:xfrm>
            <a:prstGeom prst="line">
              <a:avLst/>
            </a:prstGeom>
            <a:noFill/>
            <a:ln w="762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2173" name="Rectangle 7"/>
            <p:cNvSpPr>
              <a:spLocks noChangeArrowheads="1"/>
            </p:cNvSpPr>
            <p:nvPr/>
          </p:nvSpPr>
          <p:spPr bwMode="auto">
            <a:xfrm>
              <a:off x="2400" y="1200"/>
              <a:ext cx="352"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800">
                  <a:latin typeface="宋体" panose="02010600030101010101" pitchFamily="2" charset="-122"/>
                </a:rPr>
                <a:t>?</a:t>
              </a:r>
            </a:p>
          </p:txBody>
        </p:sp>
      </p:grpSp>
      <p:sp>
        <p:nvSpPr>
          <p:cNvPr id="589832" name="Rectangle 8"/>
          <p:cNvSpPr>
            <a:spLocks noChangeArrowheads="1"/>
          </p:cNvSpPr>
          <p:nvPr/>
        </p:nvSpPr>
        <p:spPr bwMode="auto">
          <a:xfrm>
            <a:off x="3124200" y="5286375"/>
            <a:ext cx="2476500" cy="989013"/>
          </a:xfrm>
          <a:prstGeom prst="rect">
            <a:avLst/>
          </a:prstGeom>
          <a:solidFill>
            <a:srgbClr val="339933"/>
          </a:solidFill>
          <a:ln w="57150">
            <a:solidFill>
              <a:srgbClr val="FF00FF"/>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20000"/>
              </a:spcBef>
            </a:pPr>
            <a:r>
              <a:rPr lang="zh-CN" altLang="en-US" sz="3200">
                <a:solidFill>
                  <a:schemeClr val="accent2"/>
                </a:solidFill>
                <a:latin typeface="宋体" panose="02010600030101010101" pitchFamily="2" charset="-122"/>
              </a:rPr>
              <a:t>内部</a:t>
            </a:r>
            <a:r>
              <a:rPr lang="en-US" altLang="zh-CN" sz="3200">
                <a:solidFill>
                  <a:schemeClr val="accent2"/>
                </a:solidFill>
                <a:latin typeface="宋体" panose="02010600030101010101" pitchFamily="2" charset="-122"/>
              </a:rPr>
              <a:t>PLL</a:t>
            </a:r>
            <a:r>
              <a:rPr lang="zh-CN" altLang="en-US" sz="3200">
                <a:solidFill>
                  <a:schemeClr val="accent2"/>
                </a:solidFill>
                <a:latin typeface="宋体" panose="02010600030101010101" pitchFamily="2" charset="-122"/>
              </a:rPr>
              <a:t>功能</a:t>
            </a:r>
          </a:p>
          <a:p>
            <a:pPr algn="ctr" eaLnBrk="1" hangingPunct="1">
              <a:lnSpc>
                <a:spcPct val="90000"/>
              </a:lnSpc>
              <a:spcBef>
                <a:spcPct val="20000"/>
              </a:spcBef>
            </a:pPr>
            <a:r>
              <a:rPr lang="zh-CN" altLang="en-US" sz="2400">
                <a:solidFill>
                  <a:schemeClr val="bg1"/>
                </a:solidFill>
              </a:rPr>
              <a:t>倍频和信号提纯</a:t>
            </a:r>
          </a:p>
        </p:txBody>
      </p:sp>
      <p:sp>
        <p:nvSpPr>
          <p:cNvPr id="589833" name="AutoShape 9"/>
          <p:cNvSpPr>
            <a:spLocks noChangeArrowheads="1"/>
          </p:cNvSpPr>
          <p:nvPr/>
        </p:nvSpPr>
        <p:spPr bwMode="auto">
          <a:xfrm>
            <a:off x="3962400" y="3962400"/>
            <a:ext cx="685800" cy="838200"/>
          </a:xfrm>
          <a:prstGeom prst="upArrow">
            <a:avLst>
              <a:gd name="adj1" fmla="val 50000"/>
              <a:gd name="adj2" fmla="val 30556"/>
            </a:avLst>
          </a:prstGeom>
          <a:solidFill>
            <a:srgbClr val="99CC00"/>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9834" name="Rectangle 10" descr="小棋盘"/>
          <p:cNvSpPr>
            <a:spLocks noChangeArrowheads="1"/>
          </p:cNvSpPr>
          <p:nvPr/>
        </p:nvSpPr>
        <p:spPr bwMode="auto">
          <a:xfrm>
            <a:off x="609600" y="2514600"/>
            <a:ext cx="2819400" cy="977900"/>
          </a:xfrm>
          <a:prstGeom prst="rect">
            <a:avLst/>
          </a:prstGeom>
          <a:pattFill prst="smCheck">
            <a:fgClr>
              <a:srgbClr val="FFFF00"/>
            </a:fgClr>
            <a:bgClr>
              <a:srgbClr val="FFFFFF"/>
            </a:bgClr>
          </a:patt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3200">
                <a:latin typeface="宋体" panose="02010600030101010101" pitchFamily="2" charset="-122"/>
              </a:rPr>
              <a:t>CPU</a:t>
            </a:r>
            <a:r>
              <a:rPr lang="zh-CN" altLang="en-US" sz="3200">
                <a:latin typeface="宋体" panose="02010600030101010101" pitchFamily="2" charset="-122"/>
              </a:rPr>
              <a:t>工作时钟频率</a:t>
            </a:r>
            <a:r>
              <a:rPr lang="en-US" altLang="zh-CN" sz="3200"/>
              <a:t>CLKOUT</a:t>
            </a:r>
          </a:p>
        </p:txBody>
      </p:sp>
      <p:sp>
        <p:nvSpPr>
          <p:cNvPr id="589835" name="AutoShape 11" descr="小棋盘"/>
          <p:cNvSpPr>
            <a:spLocks noChangeArrowheads="1"/>
          </p:cNvSpPr>
          <p:nvPr/>
        </p:nvSpPr>
        <p:spPr bwMode="auto">
          <a:xfrm>
            <a:off x="228600" y="4495800"/>
            <a:ext cx="2438400" cy="1752600"/>
          </a:xfrm>
          <a:prstGeom prst="wedgeRoundRectCallout">
            <a:avLst>
              <a:gd name="adj1" fmla="val -5861"/>
              <a:gd name="adj2" fmla="val -88676"/>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009900"/>
                </a:solidFill>
              </a:rPr>
              <a:t>等于外部时钟源或内部振荡频率乘以系数</a:t>
            </a:r>
            <a:r>
              <a:rPr lang="en-US" altLang="zh-CN" sz="2400">
                <a:solidFill>
                  <a:srgbClr val="009900"/>
                </a:solidFill>
              </a:rPr>
              <a:t>N</a:t>
            </a:r>
            <a:r>
              <a:rPr lang="zh-CN" altLang="en-US" sz="2400">
                <a:solidFill>
                  <a:srgbClr val="009900"/>
                </a:solidFill>
              </a:rPr>
              <a:t>（</a:t>
            </a:r>
            <a:r>
              <a:rPr lang="en-US" altLang="zh-CN" sz="2400">
                <a:solidFill>
                  <a:srgbClr val="009900"/>
                </a:solidFill>
              </a:rPr>
              <a:t>PLL×N</a:t>
            </a:r>
            <a:r>
              <a:rPr lang="zh-CN" altLang="en-US" sz="2400">
                <a:solidFill>
                  <a:srgbClr val="009900"/>
                </a:solidFill>
              </a:rPr>
              <a:t>）</a:t>
            </a:r>
          </a:p>
        </p:txBody>
      </p:sp>
      <p:sp>
        <p:nvSpPr>
          <p:cNvPr id="92170" name="Rectangle 12" descr="小棋盘"/>
          <p:cNvSpPr>
            <a:spLocks noChangeArrowheads="1"/>
          </p:cNvSpPr>
          <p:nvPr/>
        </p:nvSpPr>
        <p:spPr bwMode="auto">
          <a:xfrm>
            <a:off x="5940425" y="4941888"/>
            <a:ext cx="2411413" cy="1076325"/>
          </a:xfrm>
          <a:prstGeom prst="rect">
            <a:avLst/>
          </a:prstGeom>
          <a:pattFill prst="smCheck">
            <a:fgClr>
              <a:schemeClr val="accent1"/>
            </a:fgClr>
            <a:bgClr>
              <a:schemeClr val="bg1"/>
            </a:bgClr>
          </a:patt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00"/>
                </a:solidFill>
              </a:rPr>
              <a:t>可硬件或软件配置</a:t>
            </a:r>
            <a:r>
              <a:rPr lang="en-US" altLang="zh-CN" sz="3200">
                <a:solidFill>
                  <a:srgbClr val="FF0000"/>
                </a:solidFill>
              </a:rPr>
              <a:t>PLL</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589826"/>
                                        </p:tgtEl>
                                        <p:attrNameLst>
                                          <p:attrName>style.visibility</p:attrName>
                                        </p:attrNameLst>
                                      </p:cBhvr>
                                      <p:to>
                                        <p:strVal val="visible"/>
                                      </p:to>
                                    </p:set>
                                    <p:animEffect transition="in" filter="box(out)">
                                      <p:cBhvr>
                                        <p:cTn id="7" dur="500"/>
                                        <p:tgtEl>
                                          <p:spTgt spid="589826"/>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589834"/>
                                        </p:tgtEl>
                                        <p:attrNameLst>
                                          <p:attrName>style.visibility</p:attrName>
                                        </p:attrNameLst>
                                      </p:cBhvr>
                                      <p:to>
                                        <p:strVal val="visible"/>
                                      </p:to>
                                    </p:set>
                                    <p:animEffect transition="in" filter="slide(fromLeft)">
                                      <p:cBhvr>
                                        <p:cTn id="11" dur="500"/>
                                        <p:tgtEl>
                                          <p:spTgt spid="589834"/>
                                        </p:tgtEl>
                                      </p:cBhvr>
                                    </p:animEffect>
                                  </p:childTnLst>
                                </p:cTn>
                              </p:par>
                            </p:childTnLst>
                          </p:cTn>
                        </p:par>
                        <p:par>
                          <p:cTn id="12" fill="hold" nodeType="afterGroup">
                            <p:stCondLst>
                              <p:cond delay="1000"/>
                            </p:stCondLst>
                            <p:childTnLst>
                              <p:par>
                                <p:cTn id="13" presetID="12" presetClass="entr" presetSubtype="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slide(fromTop)">
                                      <p:cBhvr>
                                        <p:cTn id="15" dur="500"/>
                                        <p:tgtEl>
                                          <p:spTgt spid="2"/>
                                        </p:tgtEl>
                                      </p:cBhvr>
                                    </p:animEffect>
                                  </p:childTnLst>
                                </p:cTn>
                              </p:par>
                            </p:childTnLst>
                          </p:cTn>
                        </p:par>
                        <p:par>
                          <p:cTn id="16" fill="hold" nodeType="afterGroup">
                            <p:stCondLst>
                              <p:cond delay="1500"/>
                            </p:stCondLst>
                            <p:childTnLst>
                              <p:par>
                                <p:cTn id="17" presetID="2" presetClass="entr" presetSubtype="2" fill="hold" grpId="0" nodeType="afterEffect">
                                  <p:stCondLst>
                                    <p:cond delay="0"/>
                                  </p:stCondLst>
                                  <p:childTnLst>
                                    <p:set>
                                      <p:cBhvr>
                                        <p:cTn id="18" dur="1" fill="hold">
                                          <p:stCondLst>
                                            <p:cond delay="0"/>
                                          </p:stCondLst>
                                        </p:cTn>
                                        <p:tgtEl>
                                          <p:spTgt spid="589835"/>
                                        </p:tgtEl>
                                        <p:attrNameLst>
                                          <p:attrName>style.visibility</p:attrName>
                                        </p:attrNameLst>
                                      </p:cBhvr>
                                      <p:to>
                                        <p:strVal val="visible"/>
                                      </p:to>
                                    </p:set>
                                    <p:anim calcmode="lin" valueType="num">
                                      <p:cBhvr additive="base">
                                        <p:cTn id="19" dur="500" fill="hold"/>
                                        <p:tgtEl>
                                          <p:spTgt spid="589835"/>
                                        </p:tgtEl>
                                        <p:attrNameLst>
                                          <p:attrName>ppt_x</p:attrName>
                                        </p:attrNameLst>
                                      </p:cBhvr>
                                      <p:tavLst>
                                        <p:tav tm="0">
                                          <p:val>
                                            <p:strVal val="1+#ppt_w/2"/>
                                          </p:val>
                                        </p:tav>
                                        <p:tav tm="100000">
                                          <p:val>
                                            <p:strVal val="#ppt_x"/>
                                          </p:val>
                                        </p:tav>
                                      </p:tavLst>
                                    </p:anim>
                                    <p:anim calcmode="lin" valueType="num">
                                      <p:cBhvr additive="base">
                                        <p:cTn id="20" dur="500" fill="hold"/>
                                        <p:tgtEl>
                                          <p:spTgt spid="589835"/>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2000"/>
                            </p:stCondLst>
                            <p:childTnLst>
                              <p:par>
                                <p:cTn id="22" presetID="12" presetClass="entr" presetSubtype="2" fill="hold" grpId="0" nodeType="afterEffect">
                                  <p:stCondLst>
                                    <p:cond delay="0"/>
                                  </p:stCondLst>
                                  <p:childTnLst>
                                    <p:set>
                                      <p:cBhvr>
                                        <p:cTn id="23" dur="1" fill="hold">
                                          <p:stCondLst>
                                            <p:cond delay="0"/>
                                          </p:stCondLst>
                                        </p:cTn>
                                        <p:tgtEl>
                                          <p:spTgt spid="589827"/>
                                        </p:tgtEl>
                                        <p:attrNameLst>
                                          <p:attrName>style.visibility</p:attrName>
                                        </p:attrNameLst>
                                      </p:cBhvr>
                                      <p:to>
                                        <p:strVal val="visible"/>
                                      </p:to>
                                    </p:set>
                                    <p:animEffect transition="in" filter="slide(fromRight)">
                                      <p:cBhvr>
                                        <p:cTn id="24" dur="500"/>
                                        <p:tgtEl>
                                          <p:spTgt spid="589827"/>
                                        </p:tgtEl>
                                      </p:cBhvr>
                                    </p:animEffect>
                                  </p:childTnLst>
                                </p:cTn>
                              </p:par>
                            </p:childTnLst>
                          </p:cTn>
                        </p:par>
                        <p:par>
                          <p:cTn id="25" fill="hold" nodeType="afterGroup">
                            <p:stCondLst>
                              <p:cond delay="2500"/>
                            </p:stCondLst>
                            <p:childTnLst>
                              <p:par>
                                <p:cTn id="26" presetID="12" presetClass="entr" presetSubtype="4" fill="hold" grpId="0" nodeType="afterEffect">
                                  <p:stCondLst>
                                    <p:cond delay="0"/>
                                  </p:stCondLst>
                                  <p:childTnLst>
                                    <p:set>
                                      <p:cBhvr>
                                        <p:cTn id="27" dur="1" fill="hold">
                                          <p:stCondLst>
                                            <p:cond delay="0"/>
                                          </p:stCondLst>
                                        </p:cTn>
                                        <p:tgtEl>
                                          <p:spTgt spid="589833"/>
                                        </p:tgtEl>
                                        <p:attrNameLst>
                                          <p:attrName>style.visibility</p:attrName>
                                        </p:attrNameLst>
                                      </p:cBhvr>
                                      <p:to>
                                        <p:strVal val="visible"/>
                                      </p:to>
                                    </p:set>
                                    <p:animEffect transition="in" filter="slide(fromBottom)">
                                      <p:cBhvr>
                                        <p:cTn id="28" dur="500"/>
                                        <p:tgtEl>
                                          <p:spTgt spid="589833"/>
                                        </p:tgtEl>
                                      </p:cBhvr>
                                    </p:animEffect>
                                  </p:childTnLst>
                                </p:cTn>
                              </p:par>
                            </p:childTnLst>
                          </p:cTn>
                        </p:par>
                        <p:par>
                          <p:cTn id="29" fill="hold" nodeType="afterGroup">
                            <p:stCondLst>
                              <p:cond delay="3000"/>
                            </p:stCondLst>
                            <p:childTnLst>
                              <p:par>
                                <p:cTn id="30" presetID="12" presetClass="entr" presetSubtype="4" fill="hold" grpId="0" nodeType="afterEffect">
                                  <p:stCondLst>
                                    <p:cond delay="0"/>
                                  </p:stCondLst>
                                  <p:childTnLst>
                                    <p:set>
                                      <p:cBhvr>
                                        <p:cTn id="31" dur="1" fill="hold">
                                          <p:stCondLst>
                                            <p:cond delay="0"/>
                                          </p:stCondLst>
                                        </p:cTn>
                                        <p:tgtEl>
                                          <p:spTgt spid="589832"/>
                                        </p:tgtEl>
                                        <p:attrNameLst>
                                          <p:attrName>style.visibility</p:attrName>
                                        </p:attrNameLst>
                                      </p:cBhvr>
                                      <p:to>
                                        <p:strVal val="visible"/>
                                      </p:to>
                                    </p:set>
                                    <p:animEffect transition="in" filter="slide(fromBottom)">
                                      <p:cBhvr>
                                        <p:cTn id="32" dur="500"/>
                                        <p:tgtEl>
                                          <p:spTgt spid="589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26" grpId="0" autoUpdateAnimBg="0"/>
      <p:bldP spid="589827" grpId="0" animBg="1" autoUpdateAnimBg="0"/>
      <p:bldP spid="589832" grpId="0" animBg="1" autoUpdateAnimBg="0"/>
      <p:bldP spid="589833" grpId="0" animBg="1"/>
      <p:bldP spid="589834" grpId="0" animBg="1" autoUpdateAnimBg="0"/>
      <p:bldP spid="589835" grpId="0"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91134" name="Group 286"/>
          <p:cNvGraphicFramePr>
            <a:graphicFrameLocks noGrp="1"/>
          </p:cNvGraphicFramePr>
          <p:nvPr/>
        </p:nvGraphicFramePr>
        <p:xfrm>
          <a:off x="468313" y="1989138"/>
          <a:ext cx="8229600" cy="4323080"/>
        </p:xfrm>
        <a:graphic>
          <a:graphicData uri="http://schemas.openxmlformats.org/drawingml/2006/table">
            <a:tbl>
              <a:tblPr/>
              <a:tblGrid>
                <a:gridCol w="790575">
                  <a:extLst>
                    <a:ext uri="{9D8B030D-6E8A-4147-A177-3AD203B41FA5}">
                      <a16:colId xmlns:a16="http://schemas.microsoft.com/office/drawing/2014/main" val="20000"/>
                    </a:ext>
                  </a:extLst>
                </a:gridCol>
                <a:gridCol w="792162">
                  <a:extLst>
                    <a:ext uri="{9D8B030D-6E8A-4147-A177-3AD203B41FA5}">
                      <a16:colId xmlns:a16="http://schemas.microsoft.com/office/drawing/2014/main" val="20001"/>
                    </a:ext>
                  </a:extLst>
                </a:gridCol>
                <a:gridCol w="865188">
                  <a:extLst>
                    <a:ext uri="{9D8B030D-6E8A-4147-A177-3AD203B41FA5}">
                      <a16:colId xmlns:a16="http://schemas.microsoft.com/office/drawing/2014/main" val="20002"/>
                    </a:ext>
                  </a:extLst>
                </a:gridCol>
                <a:gridCol w="2735262">
                  <a:extLst>
                    <a:ext uri="{9D8B030D-6E8A-4147-A177-3AD203B41FA5}">
                      <a16:colId xmlns:a16="http://schemas.microsoft.com/office/drawing/2014/main" val="20003"/>
                    </a:ext>
                  </a:extLst>
                </a:gridCol>
                <a:gridCol w="3046413">
                  <a:extLst>
                    <a:ext uri="{9D8B030D-6E8A-4147-A177-3AD203B41FA5}">
                      <a16:colId xmlns:a16="http://schemas.microsoft.com/office/drawing/2014/main" val="20004"/>
                    </a:ext>
                  </a:extLst>
                </a:gridCol>
              </a:tblGrid>
              <a:tr h="431800">
                <a:tc gridSpan="3">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引脚状态</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时钟方式</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508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CLKMD1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CLKMD2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CLKMD3</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选择方案</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选择方案</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内时钟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内时钟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4.5</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内振荡器</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内振荡器</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工作频率</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停止方式</a:t>
                      </a:r>
                      <a:r>
                        <a:rPr kumimoji="1" lang="zh-CN" altLang="en-US" sz="18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 </a:t>
                      </a:r>
                      <a:r>
                        <a:rPr kumimoji="1" lang="en-US" altLang="zh-CN" sz="18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IDLE3</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停止方式</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9325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E613AA2-5D9D-4FF8-91A0-353A295E6590}" type="slidenum">
              <a:rPr lang="en-US" altLang="zh-CN" sz="1400" b="0"/>
              <a:pPr eaLnBrk="1" hangingPunct="1"/>
              <a:t>80</a:t>
            </a:fld>
            <a:endParaRPr lang="en-US" altLang="zh-CN" sz="1400" b="0"/>
          </a:p>
        </p:txBody>
      </p:sp>
      <p:grpSp>
        <p:nvGrpSpPr>
          <p:cNvPr id="2" name="Group 147"/>
          <p:cNvGrpSpPr>
            <a:grpSpLocks/>
          </p:cNvGrpSpPr>
          <p:nvPr/>
        </p:nvGrpSpPr>
        <p:grpSpPr bwMode="auto">
          <a:xfrm>
            <a:off x="6877050" y="1412875"/>
            <a:ext cx="1905000" cy="533400"/>
            <a:chOff x="4416" y="864"/>
            <a:chExt cx="1200" cy="336"/>
          </a:xfrm>
        </p:grpSpPr>
        <p:sp>
          <p:nvSpPr>
            <p:cNvPr id="93256" name="AutoShape 148" descr="小棋盘"/>
            <p:cNvSpPr>
              <a:spLocks noChangeArrowheads="1"/>
            </p:cNvSpPr>
            <p:nvPr/>
          </p:nvSpPr>
          <p:spPr bwMode="auto">
            <a:xfrm>
              <a:off x="4512" y="912"/>
              <a:ext cx="768" cy="240"/>
            </a:xfrm>
            <a:prstGeom prst="wedgeRoundRectCallout">
              <a:avLst>
                <a:gd name="adj1" fmla="val -176694"/>
                <a:gd name="adj2" fmla="val 190000"/>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endParaRPr lang="zh-CN" altLang="zh-CN" sz="2400">
                <a:solidFill>
                  <a:srgbClr val="9966FF"/>
                </a:solidFill>
              </a:endParaRPr>
            </a:p>
          </p:txBody>
        </p:sp>
        <p:sp>
          <p:nvSpPr>
            <p:cNvPr id="93257" name="AutoShape 149" descr="小棋盘"/>
            <p:cNvSpPr>
              <a:spLocks noChangeArrowheads="1"/>
            </p:cNvSpPr>
            <p:nvPr/>
          </p:nvSpPr>
          <p:spPr bwMode="auto">
            <a:xfrm>
              <a:off x="4416" y="864"/>
              <a:ext cx="1200" cy="336"/>
            </a:xfrm>
            <a:prstGeom prst="wedgeRoundRectCallout">
              <a:avLst>
                <a:gd name="adj1" fmla="val -23083"/>
                <a:gd name="adj2" fmla="val 109523"/>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r>
                <a:rPr lang="zh-CN" altLang="en-US" sz="2400">
                  <a:solidFill>
                    <a:srgbClr val="FF0000"/>
                  </a:solidFill>
                </a:rPr>
                <a:t>依器件而定</a:t>
              </a:r>
            </a:p>
          </p:txBody>
        </p:sp>
      </p:grpSp>
      <p:sp>
        <p:nvSpPr>
          <p:cNvPr id="93253" name="Rectangle 232" descr="小棋盘"/>
          <p:cNvSpPr>
            <a:spLocks noChangeArrowheads="1"/>
          </p:cNvSpPr>
          <p:nvPr/>
        </p:nvSpPr>
        <p:spPr bwMode="auto">
          <a:xfrm>
            <a:off x="2484438" y="1125538"/>
            <a:ext cx="4248150" cy="588962"/>
          </a:xfrm>
          <a:prstGeom prst="rect">
            <a:avLst/>
          </a:prstGeom>
          <a:pattFill prst="smCheck">
            <a:fgClr>
              <a:schemeClr val="accent1"/>
            </a:fgClr>
            <a:bgClr>
              <a:schemeClr val="bg1"/>
            </a:bgClr>
          </a:patt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00"/>
                </a:solidFill>
              </a:rPr>
              <a:t>（</a:t>
            </a:r>
            <a:r>
              <a:rPr lang="en-US" altLang="zh-CN" sz="3200">
                <a:solidFill>
                  <a:srgbClr val="FF0000"/>
                </a:solidFill>
              </a:rPr>
              <a:t>1</a:t>
            </a:r>
            <a:r>
              <a:rPr lang="zh-CN" altLang="en-US" sz="3200">
                <a:solidFill>
                  <a:srgbClr val="FF0000"/>
                </a:solidFill>
              </a:rPr>
              <a:t>）硬件配置的</a:t>
            </a:r>
            <a:r>
              <a:rPr lang="en-US" altLang="zh-CN" sz="3200">
                <a:solidFill>
                  <a:srgbClr val="FF0000"/>
                </a:solidFill>
              </a:rPr>
              <a:t>PLL</a:t>
            </a:r>
          </a:p>
        </p:txBody>
      </p:sp>
      <p:sp>
        <p:nvSpPr>
          <p:cNvPr id="93254" name="Rectangle 287"/>
          <p:cNvSpPr>
            <a:spLocks noChangeArrowheads="1"/>
          </p:cNvSpPr>
          <p:nvPr/>
        </p:nvSpPr>
        <p:spPr bwMode="auto">
          <a:xfrm>
            <a:off x="215900" y="1125538"/>
            <a:ext cx="19796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a:solidFill>
                  <a:schemeClr val="folHlink"/>
                </a:solidFill>
              </a:rPr>
              <a:t>针对：</a:t>
            </a:r>
            <a:r>
              <a:rPr lang="en-US" altLang="zh-CN" sz="1800">
                <a:solidFill>
                  <a:schemeClr val="folHlink"/>
                </a:solidFill>
              </a:rPr>
              <a:t>C541,C542,</a:t>
            </a:r>
          </a:p>
          <a:p>
            <a:pPr eaLnBrk="1" hangingPunct="1"/>
            <a:r>
              <a:rPr lang="en-US" altLang="zh-CN" sz="1800">
                <a:solidFill>
                  <a:schemeClr val="folHlink"/>
                </a:solidFill>
              </a:rPr>
              <a:t>C543,C545,C546</a:t>
            </a:r>
          </a:p>
        </p:txBody>
      </p:sp>
      <p:sp>
        <p:nvSpPr>
          <p:cNvPr id="93255" name="AutoShape 289"/>
          <p:cNvSpPr>
            <a:spLocks noChangeArrowheads="1"/>
          </p:cNvSpPr>
          <p:nvPr/>
        </p:nvSpPr>
        <p:spPr bwMode="auto">
          <a:xfrm>
            <a:off x="2087563" y="1268413"/>
            <a:ext cx="288925" cy="323850"/>
          </a:xfrm>
          <a:prstGeom prst="rightArrow">
            <a:avLst>
              <a:gd name="adj1" fmla="val 50000"/>
              <a:gd name="adj2" fmla="val 25000"/>
            </a:avLst>
          </a:prstGeom>
          <a:solidFill>
            <a:schemeClr val="accent1"/>
          </a:solidFill>
          <a:ln w="9525">
            <a:solidFill>
              <a:srgbClr val="FF99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D788B8D-280E-496E-8099-F29583765162}" type="slidenum">
              <a:rPr lang="en-US" altLang="zh-CN" sz="1400" b="0"/>
              <a:pPr eaLnBrk="1" hangingPunct="1"/>
              <a:t>81</a:t>
            </a:fld>
            <a:endParaRPr lang="en-US" altLang="zh-CN" sz="1400" b="0"/>
          </a:p>
        </p:txBody>
      </p:sp>
      <p:sp>
        <p:nvSpPr>
          <p:cNvPr id="591875" name="Rectangle 3" descr="小棋盘"/>
          <p:cNvSpPr>
            <a:spLocks noChangeArrowheads="1"/>
          </p:cNvSpPr>
          <p:nvPr/>
        </p:nvSpPr>
        <p:spPr bwMode="auto">
          <a:xfrm>
            <a:off x="1439863" y="1665288"/>
            <a:ext cx="6397625" cy="698500"/>
          </a:xfrm>
          <a:prstGeom prst="rect">
            <a:avLst/>
          </a:prstGeom>
          <a:pattFill prst="smCheck">
            <a:fgClr>
              <a:schemeClr val="accent1"/>
            </a:fgClr>
            <a:bgClr>
              <a:schemeClr val="bg1"/>
            </a:bgClr>
          </a:pattFill>
          <a:ln w="57150">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00"/>
                </a:solidFill>
                <a:latin typeface="宋体" panose="02010600030101010101" pitchFamily="2" charset="-122"/>
              </a:rPr>
              <a:t>时钟工作方式寄存器</a:t>
            </a:r>
            <a:r>
              <a:rPr lang="en-US" altLang="zh-CN" sz="3600">
                <a:solidFill>
                  <a:srgbClr val="FF0000"/>
                </a:solidFill>
                <a:latin typeface="宋体" panose="02010600030101010101" pitchFamily="2" charset="-122"/>
              </a:rPr>
              <a:t>(CLKMD)</a:t>
            </a:r>
            <a:endParaRPr lang="en-US" altLang="zh-CN" sz="3600">
              <a:solidFill>
                <a:srgbClr val="FF0000"/>
              </a:solidFill>
            </a:endParaRPr>
          </a:p>
        </p:txBody>
      </p:sp>
      <p:sp>
        <p:nvSpPr>
          <p:cNvPr id="591876" name="Rectangle 4"/>
          <p:cNvSpPr>
            <a:spLocks noChangeArrowheads="1"/>
          </p:cNvSpPr>
          <p:nvPr/>
        </p:nvSpPr>
        <p:spPr bwMode="auto">
          <a:xfrm>
            <a:off x="3203575" y="2636838"/>
            <a:ext cx="1803400" cy="698500"/>
          </a:xfrm>
          <a:prstGeom prst="rect">
            <a:avLst/>
          </a:prstGeom>
          <a:solidFill>
            <a:srgbClr val="339933"/>
          </a:solidFill>
          <a:ln w="57150">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chemeClr val="bg1"/>
                </a:solidFill>
                <a:latin typeface="宋体" panose="02010600030101010101" pitchFamily="2" charset="-122"/>
              </a:rPr>
              <a:t>作用</a:t>
            </a:r>
          </a:p>
        </p:txBody>
      </p:sp>
      <p:grpSp>
        <p:nvGrpSpPr>
          <p:cNvPr id="2" name="Group 5"/>
          <p:cNvGrpSpPr>
            <a:grpSpLocks/>
          </p:cNvGrpSpPr>
          <p:nvPr/>
        </p:nvGrpSpPr>
        <p:grpSpPr bwMode="auto">
          <a:xfrm>
            <a:off x="250825" y="3500438"/>
            <a:ext cx="8610600" cy="2651125"/>
            <a:chOff x="336" y="2400"/>
            <a:chExt cx="5040" cy="1670"/>
          </a:xfrm>
        </p:grpSpPr>
        <p:grpSp>
          <p:nvGrpSpPr>
            <p:cNvPr id="94222" name="Group 6"/>
            <p:cNvGrpSpPr>
              <a:grpSpLocks/>
            </p:cNvGrpSpPr>
            <p:nvPr/>
          </p:nvGrpSpPr>
          <p:grpSpPr bwMode="auto">
            <a:xfrm>
              <a:off x="336" y="2400"/>
              <a:ext cx="5040" cy="1073"/>
              <a:chOff x="432" y="2736"/>
              <a:chExt cx="5040" cy="1073"/>
            </a:xfrm>
          </p:grpSpPr>
          <p:sp>
            <p:nvSpPr>
              <p:cNvPr id="94229" name="Text Box 7"/>
              <p:cNvSpPr txBox="1">
                <a:spLocks noChangeArrowheads="1"/>
              </p:cNvSpPr>
              <p:nvPr/>
            </p:nvSpPr>
            <p:spPr bwMode="auto">
              <a:xfrm>
                <a:off x="432" y="3072"/>
                <a:ext cx="816" cy="737"/>
              </a:xfrm>
              <a:prstGeom prst="rect">
                <a:avLst/>
              </a:prstGeom>
              <a:solidFill>
                <a:srgbClr val="FFFF00"/>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PLL</a:t>
                </a:r>
              </a:p>
              <a:p>
                <a:pPr algn="ctr" eaLnBrk="1" hangingPunct="1">
                  <a:spcBef>
                    <a:spcPct val="50000"/>
                  </a:spcBef>
                </a:pPr>
                <a:r>
                  <a:rPr lang="en-US" altLang="zh-CN" sz="2800"/>
                  <a:t>MUL</a:t>
                </a:r>
              </a:p>
            </p:txBody>
          </p:sp>
          <p:sp>
            <p:nvSpPr>
              <p:cNvPr id="94230" name="Text Box 8"/>
              <p:cNvSpPr txBox="1">
                <a:spLocks noChangeArrowheads="1"/>
              </p:cNvSpPr>
              <p:nvPr/>
            </p:nvSpPr>
            <p:spPr bwMode="auto">
              <a:xfrm>
                <a:off x="432" y="2736"/>
                <a:ext cx="84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15</a:t>
                </a:r>
                <a:r>
                  <a:rPr lang="zh-CN" altLang="en-US" sz="2800">
                    <a:latin typeface="宋体" panose="02010600030101010101" pitchFamily="2" charset="-122"/>
                  </a:rPr>
                  <a:t>～</a:t>
                </a:r>
                <a:r>
                  <a:rPr lang="zh-CN" altLang="en-US" sz="2800"/>
                  <a:t> </a:t>
                </a:r>
                <a:r>
                  <a:rPr lang="en-US" altLang="zh-CN" sz="2800"/>
                  <a:t>12</a:t>
                </a:r>
              </a:p>
            </p:txBody>
          </p:sp>
          <p:sp>
            <p:nvSpPr>
              <p:cNvPr id="94231" name="Text Box 9"/>
              <p:cNvSpPr txBox="1">
                <a:spLocks noChangeArrowheads="1"/>
              </p:cNvSpPr>
              <p:nvPr/>
            </p:nvSpPr>
            <p:spPr bwMode="auto">
              <a:xfrm>
                <a:off x="1248" y="3072"/>
                <a:ext cx="576" cy="737"/>
              </a:xfrm>
              <a:prstGeom prst="rect">
                <a:avLst/>
              </a:prstGeom>
              <a:solidFill>
                <a:srgbClr val="FFFF00"/>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PLL</a:t>
                </a:r>
              </a:p>
              <a:p>
                <a:pPr algn="ctr" eaLnBrk="1" hangingPunct="1">
                  <a:spcBef>
                    <a:spcPct val="50000"/>
                  </a:spcBef>
                </a:pPr>
                <a:r>
                  <a:rPr lang="en-US" altLang="zh-CN" sz="2800"/>
                  <a:t>DIV</a:t>
                </a:r>
              </a:p>
            </p:txBody>
          </p:sp>
          <p:sp>
            <p:nvSpPr>
              <p:cNvPr id="94232" name="Text Box 10"/>
              <p:cNvSpPr txBox="1">
                <a:spLocks noChangeArrowheads="1"/>
              </p:cNvSpPr>
              <p:nvPr/>
            </p:nvSpPr>
            <p:spPr bwMode="auto">
              <a:xfrm>
                <a:off x="3120" y="2736"/>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2</a:t>
                </a:r>
              </a:p>
            </p:txBody>
          </p:sp>
          <p:sp>
            <p:nvSpPr>
              <p:cNvPr id="94233" name="Text Box 11"/>
              <p:cNvSpPr txBox="1">
                <a:spLocks noChangeArrowheads="1"/>
              </p:cNvSpPr>
              <p:nvPr/>
            </p:nvSpPr>
            <p:spPr bwMode="auto">
              <a:xfrm>
                <a:off x="1824" y="3072"/>
                <a:ext cx="912" cy="737"/>
              </a:xfrm>
              <a:prstGeom prst="rect">
                <a:avLst/>
              </a:prstGeom>
              <a:solidFill>
                <a:srgbClr val="FFFF00"/>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PLL</a:t>
                </a:r>
              </a:p>
              <a:p>
                <a:pPr algn="ctr" eaLnBrk="1" hangingPunct="1">
                  <a:spcBef>
                    <a:spcPct val="50000"/>
                  </a:spcBef>
                </a:pPr>
                <a:r>
                  <a:rPr lang="en-US" altLang="zh-CN" sz="2800"/>
                  <a:t>COUNT</a:t>
                </a:r>
              </a:p>
            </p:txBody>
          </p:sp>
          <p:sp>
            <p:nvSpPr>
              <p:cNvPr id="94234" name="Text Box 12"/>
              <p:cNvSpPr txBox="1">
                <a:spLocks noChangeArrowheads="1"/>
              </p:cNvSpPr>
              <p:nvPr/>
            </p:nvSpPr>
            <p:spPr bwMode="auto">
              <a:xfrm>
                <a:off x="1344" y="2736"/>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11</a:t>
                </a:r>
              </a:p>
            </p:txBody>
          </p:sp>
          <p:sp>
            <p:nvSpPr>
              <p:cNvPr id="94235" name="Text Box 13"/>
              <p:cNvSpPr txBox="1">
                <a:spLocks noChangeArrowheads="1"/>
              </p:cNvSpPr>
              <p:nvPr/>
            </p:nvSpPr>
            <p:spPr bwMode="auto">
              <a:xfrm>
                <a:off x="2736" y="3072"/>
                <a:ext cx="960" cy="737"/>
              </a:xfrm>
              <a:prstGeom prst="rect">
                <a:avLst/>
              </a:prstGeom>
              <a:solidFill>
                <a:srgbClr val="FFFF00"/>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PLL</a:t>
                </a:r>
              </a:p>
              <a:p>
                <a:pPr algn="ctr" eaLnBrk="1" hangingPunct="1">
                  <a:spcBef>
                    <a:spcPct val="50000"/>
                  </a:spcBef>
                </a:pPr>
                <a:r>
                  <a:rPr lang="en-US" altLang="zh-CN" sz="2800"/>
                  <a:t>ON/OFF</a:t>
                </a:r>
              </a:p>
            </p:txBody>
          </p:sp>
          <p:sp>
            <p:nvSpPr>
              <p:cNvPr id="94236" name="Text Box 14"/>
              <p:cNvSpPr txBox="1">
                <a:spLocks noChangeArrowheads="1"/>
              </p:cNvSpPr>
              <p:nvPr/>
            </p:nvSpPr>
            <p:spPr bwMode="auto">
              <a:xfrm>
                <a:off x="1920" y="2736"/>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10 </a:t>
                </a:r>
                <a:r>
                  <a:rPr lang="zh-CN" altLang="en-US" sz="2800">
                    <a:latin typeface="宋体" panose="02010600030101010101" pitchFamily="2" charset="-122"/>
                  </a:rPr>
                  <a:t>～</a:t>
                </a:r>
                <a:r>
                  <a:rPr lang="zh-CN" altLang="en-US" sz="2800"/>
                  <a:t> </a:t>
                </a:r>
                <a:r>
                  <a:rPr lang="en-US" altLang="zh-CN" sz="2800"/>
                  <a:t>3</a:t>
                </a:r>
              </a:p>
            </p:txBody>
          </p:sp>
          <p:sp>
            <p:nvSpPr>
              <p:cNvPr id="94237" name="Text Box 15"/>
              <p:cNvSpPr txBox="1">
                <a:spLocks noChangeArrowheads="1"/>
              </p:cNvSpPr>
              <p:nvPr/>
            </p:nvSpPr>
            <p:spPr bwMode="auto">
              <a:xfrm>
                <a:off x="3696" y="3072"/>
                <a:ext cx="768" cy="737"/>
              </a:xfrm>
              <a:prstGeom prst="rect">
                <a:avLst/>
              </a:prstGeom>
              <a:solidFill>
                <a:srgbClr val="FFFF00"/>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PLL</a:t>
                </a:r>
              </a:p>
              <a:p>
                <a:pPr algn="ctr" eaLnBrk="1" hangingPunct="1">
                  <a:spcBef>
                    <a:spcPct val="50000"/>
                  </a:spcBef>
                </a:pPr>
                <a:r>
                  <a:rPr lang="en-US" altLang="zh-CN" sz="2800"/>
                  <a:t>NDIV</a:t>
                </a:r>
              </a:p>
            </p:txBody>
          </p:sp>
          <p:sp>
            <p:nvSpPr>
              <p:cNvPr id="94238" name="Text Box 16"/>
              <p:cNvSpPr txBox="1">
                <a:spLocks noChangeArrowheads="1"/>
              </p:cNvSpPr>
              <p:nvPr/>
            </p:nvSpPr>
            <p:spPr bwMode="auto">
              <a:xfrm>
                <a:off x="3936" y="2736"/>
                <a:ext cx="3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a:t>
                </a:r>
              </a:p>
            </p:txBody>
          </p:sp>
          <p:sp>
            <p:nvSpPr>
              <p:cNvPr id="94239" name="Text Box 17"/>
              <p:cNvSpPr txBox="1">
                <a:spLocks noChangeArrowheads="1"/>
              </p:cNvSpPr>
              <p:nvPr/>
            </p:nvSpPr>
            <p:spPr bwMode="auto">
              <a:xfrm>
                <a:off x="4848" y="2736"/>
                <a:ext cx="4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0</a:t>
                </a:r>
              </a:p>
            </p:txBody>
          </p:sp>
          <p:sp>
            <p:nvSpPr>
              <p:cNvPr id="94240" name="Text Box 18"/>
              <p:cNvSpPr txBox="1">
                <a:spLocks noChangeArrowheads="1"/>
              </p:cNvSpPr>
              <p:nvPr/>
            </p:nvSpPr>
            <p:spPr bwMode="auto">
              <a:xfrm>
                <a:off x="4464" y="3072"/>
                <a:ext cx="1008" cy="737"/>
              </a:xfrm>
              <a:prstGeom prst="rect">
                <a:avLst/>
              </a:prstGeom>
              <a:solidFill>
                <a:srgbClr val="FFFF00"/>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PLL</a:t>
                </a:r>
              </a:p>
              <a:p>
                <a:pPr algn="ctr" eaLnBrk="1" hangingPunct="1">
                  <a:spcBef>
                    <a:spcPct val="50000"/>
                  </a:spcBef>
                </a:pPr>
                <a:r>
                  <a:rPr lang="en-US" altLang="zh-CN" sz="2800"/>
                  <a:t>STATUS</a:t>
                </a:r>
              </a:p>
            </p:txBody>
          </p:sp>
        </p:grpSp>
        <p:sp>
          <p:nvSpPr>
            <p:cNvPr id="94223" name="Rectangle 19"/>
            <p:cNvSpPr>
              <a:spLocks noChangeArrowheads="1"/>
            </p:cNvSpPr>
            <p:nvPr/>
          </p:nvSpPr>
          <p:spPr bwMode="auto">
            <a:xfrm>
              <a:off x="3600" y="3552"/>
              <a:ext cx="82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66"/>
                  </a:solidFill>
                  <a:latin typeface="宋体" panose="02010600030101010101" pitchFamily="2" charset="-122"/>
                </a:rPr>
                <a:t>时钟发生</a:t>
              </a:r>
            </a:p>
            <a:p>
              <a:pPr eaLnBrk="1" hangingPunct="1"/>
              <a:r>
                <a:rPr lang="zh-CN" altLang="en-US" sz="2400">
                  <a:solidFill>
                    <a:srgbClr val="FF0066"/>
                  </a:solidFill>
                  <a:latin typeface="宋体" panose="02010600030101010101" pitchFamily="2" charset="-122"/>
                </a:rPr>
                <a:t>器选择位</a:t>
              </a:r>
            </a:p>
          </p:txBody>
        </p:sp>
        <p:sp>
          <p:nvSpPr>
            <p:cNvPr id="94224" name="Rectangle 20"/>
            <p:cNvSpPr>
              <a:spLocks noChangeArrowheads="1"/>
            </p:cNvSpPr>
            <p:nvPr/>
          </p:nvSpPr>
          <p:spPr bwMode="auto">
            <a:xfrm>
              <a:off x="480" y="3600"/>
              <a:ext cx="4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66"/>
                  </a:solidFill>
                  <a:latin typeface="宋体" panose="02010600030101010101" pitchFamily="2" charset="-122"/>
                </a:rPr>
                <a:t>乘数</a:t>
              </a:r>
            </a:p>
          </p:txBody>
        </p:sp>
        <p:sp>
          <p:nvSpPr>
            <p:cNvPr id="94225" name="Rectangle 21"/>
            <p:cNvSpPr>
              <a:spLocks noChangeArrowheads="1"/>
            </p:cNvSpPr>
            <p:nvPr/>
          </p:nvSpPr>
          <p:spPr bwMode="auto">
            <a:xfrm>
              <a:off x="1248" y="3600"/>
              <a:ext cx="4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66"/>
                  </a:solidFill>
                  <a:latin typeface="宋体" panose="02010600030101010101" pitchFamily="2" charset="-122"/>
                </a:rPr>
                <a:t>除数</a:t>
              </a:r>
            </a:p>
          </p:txBody>
        </p:sp>
        <p:sp>
          <p:nvSpPr>
            <p:cNvPr id="94226" name="Rectangle 22"/>
            <p:cNvSpPr>
              <a:spLocks noChangeArrowheads="1"/>
            </p:cNvSpPr>
            <p:nvPr/>
          </p:nvSpPr>
          <p:spPr bwMode="auto">
            <a:xfrm>
              <a:off x="1872" y="3600"/>
              <a:ext cx="6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66"/>
                  </a:solidFill>
                  <a:latin typeface="宋体" panose="02010600030101010101" pitchFamily="2" charset="-122"/>
                </a:rPr>
                <a:t>计数器</a:t>
              </a:r>
            </a:p>
          </p:txBody>
        </p:sp>
        <p:sp>
          <p:nvSpPr>
            <p:cNvPr id="94227" name="Rectangle 23"/>
            <p:cNvSpPr>
              <a:spLocks noChangeArrowheads="1"/>
            </p:cNvSpPr>
            <p:nvPr/>
          </p:nvSpPr>
          <p:spPr bwMode="auto">
            <a:xfrm>
              <a:off x="2736" y="3600"/>
              <a:ext cx="7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66"/>
                  </a:solidFill>
                  <a:latin typeface="宋体" panose="02010600030101010101" pitchFamily="2" charset="-122"/>
                </a:rPr>
                <a:t>通</a:t>
              </a:r>
              <a:r>
                <a:rPr lang="en-US" altLang="zh-CN" sz="2400">
                  <a:solidFill>
                    <a:srgbClr val="FF0066"/>
                  </a:solidFill>
                  <a:latin typeface="宋体" panose="02010600030101010101" pitchFamily="2" charset="-122"/>
                </a:rPr>
                <a:t>/</a:t>
              </a:r>
              <a:r>
                <a:rPr lang="zh-CN" altLang="en-US" sz="2400">
                  <a:solidFill>
                    <a:srgbClr val="FF0066"/>
                  </a:solidFill>
                  <a:latin typeface="宋体" panose="02010600030101010101" pitchFamily="2" charset="-122"/>
                </a:rPr>
                <a:t>断位</a:t>
              </a:r>
            </a:p>
          </p:txBody>
        </p:sp>
        <p:sp>
          <p:nvSpPr>
            <p:cNvPr id="94228" name="Rectangle 24"/>
            <p:cNvSpPr>
              <a:spLocks noChangeArrowheads="1"/>
            </p:cNvSpPr>
            <p:nvPr/>
          </p:nvSpPr>
          <p:spPr bwMode="auto">
            <a:xfrm>
              <a:off x="4536" y="3552"/>
              <a:ext cx="64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a:solidFill>
                    <a:srgbClr val="FF0066"/>
                  </a:solidFill>
                  <a:latin typeface="宋体" panose="02010600030101010101" pitchFamily="2" charset="-122"/>
                </a:rPr>
                <a:t>工作状</a:t>
              </a:r>
            </a:p>
            <a:p>
              <a:pPr algn="ctr" eaLnBrk="1" hangingPunct="1"/>
              <a:r>
                <a:rPr lang="zh-CN" altLang="en-US" sz="2400">
                  <a:solidFill>
                    <a:srgbClr val="FF0066"/>
                  </a:solidFill>
                  <a:latin typeface="宋体" panose="02010600030101010101" pitchFamily="2" charset="-122"/>
                </a:rPr>
                <a:t>态位</a:t>
              </a:r>
            </a:p>
          </p:txBody>
        </p:sp>
      </p:grpSp>
      <p:sp>
        <p:nvSpPr>
          <p:cNvPr id="591897" name="AutoShape 25" descr="小棋盘"/>
          <p:cNvSpPr>
            <a:spLocks noChangeArrowheads="1"/>
          </p:cNvSpPr>
          <p:nvPr/>
        </p:nvSpPr>
        <p:spPr bwMode="auto">
          <a:xfrm>
            <a:off x="6400800" y="2438400"/>
            <a:ext cx="2286000" cy="1219200"/>
          </a:xfrm>
          <a:prstGeom prst="wedgeRoundRectCallout">
            <a:avLst>
              <a:gd name="adj1" fmla="val -94792"/>
              <a:gd name="adj2" fmla="val -8463"/>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009900"/>
                </a:solidFill>
              </a:rPr>
              <a:t>用来定义</a:t>
            </a:r>
            <a:r>
              <a:rPr lang="en-US" altLang="zh-CN" sz="2400">
                <a:solidFill>
                  <a:srgbClr val="009900"/>
                </a:solidFill>
              </a:rPr>
              <a:t>PLL</a:t>
            </a:r>
            <a:r>
              <a:rPr lang="zh-CN" altLang="en-US" sz="2400">
                <a:solidFill>
                  <a:srgbClr val="009900"/>
                </a:solidFill>
              </a:rPr>
              <a:t>时钟模块中的时钟配置</a:t>
            </a:r>
          </a:p>
        </p:txBody>
      </p:sp>
      <p:sp>
        <p:nvSpPr>
          <p:cNvPr id="591898" name="AutoShape 26" descr="小棋盘"/>
          <p:cNvSpPr>
            <a:spLocks noChangeArrowheads="1"/>
          </p:cNvSpPr>
          <p:nvPr/>
        </p:nvSpPr>
        <p:spPr bwMode="auto">
          <a:xfrm>
            <a:off x="381000" y="6118225"/>
            <a:ext cx="2438400" cy="550863"/>
          </a:xfrm>
          <a:prstGeom prst="wedgeRoundRectCallout">
            <a:avLst>
              <a:gd name="adj1" fmla="val 68097"/>
              <a:gd name="adj2" fmla="val -99856"/>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009900"/>
                </a:solidFill>
              </a:rPr>
              <a:t>每</a:t>
            </a:r>
            <a:r>
              <a:rPr lang="en-US" altLang="zh-CN" sz="2400">
                <a:solidFill>
                  <a:srgbClr val="009900"/>
                </a:solidFill>
              </a:rPr>
              <a:t>16</a:t>
            </a:r>
            <a:r>
              <a:rPr lang="zh-CN" altLang="en-US" sz="2400">
                <a:solidFill>
                  <a:srgbClr val="009900"/>
                </a:solidFill>
              </a:rPr>
              <a:t>个时钟减</a:t>
            </a:r>
            <a:r>
              <a:rPr lang="en-US" altLang="zh-CN" sz="2400">
                <a:solidFill>
                  <a:srgbClr val="009900"/>
                </a:solidFill>
              </a:rPr>
              <a:t>1</a:t>
            </a:r>
          </a:p>
        </p:txBody>
      </p:sp>
      <p:sp>
        <p:nvSpPr>
          <p:cNvPr id="591899" name="AutoShape 27" descr="小棋盘"/>
          <p:cNvSpPr>
            <a:spLocks noChangeArrowheads="1"/>
          </p:cNvSpPr>
          <p:nvPr/>
        </p:nvSpPr>
        <p:spPr bwMode="auto">
          <a:xfrm>
            <a:off x="3048000" y="6042025"/>
            <a:ext cx="2209800" cy="482600"/>
          </a:xfrm>
          <a:prstGeom prst="wedgeRoundRectCallout">
            <a:avLst>
              <a:gd name="adj1" fmla="val 35343"/>
              <a:gd name="adj2" fmla="val -76644"/>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009900"/>
                </a:solidFill>
              </a:rPr>
              <a:t>控制</a:t>
            </a:r>
            <a:r>
              <a:rPr lang="en-US" altLang="zh-CN" sz="2400">
                <a:solidFill>
                  <a:srgbClr val="009900"/>
                </a:solidFill>
              </a:rPr>
              <a:t>PLL</a:t>
            </a:r>
            <a:r>
              <a:rPr lang="zh-CN" altLang="en-US" sz="2400">
                <a:solidFill>
                  <a:srgbClr val="009900"/>
                </a:solidFill>
              </a:rPr>
              <a:t>通断</a:t>
            </a:r>
          </a:p>
        </p:txBody>
      </p:sp>
      <p:sp>
        <p:nvSpPr>
          <p:cNvPr id="591900" name="AutoShape 28" descr="小棋盘"/>
          <p:cNvSpPr>
            <a:spLocks noChangeArrowheads="1"/>
          </p:cNvSpPr>
          <p:nvPr/>
        </p:nvSpPr>
        <p:spPr bwMode="auto">
          <a:xfrm>
            <a:off x="5435600" y="6165850"/>
            <a:ext cx="3168650" cy="482600"/>
          </a:xfrm>
          <a:prstGeom prst="wedgeRoundRectCallout">
            <a:avLst>
              <a:gd name="adj1" fmla="val 18838"/>
              <a:gd name="adj2" fmla="val -89144"/>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009900"/>
                </a:solidFill>
              </a:rPr>
              <a:t>0</a:t>
            </a:r>
            <a:r>
              <a:rPr lang="zh-CN" altLang="en-US" sz="2400">
                <a:solidFill>
                  <a:srgbClr val="009900"/>
                </a:solidFill>
              </a:rPr>
              <a:t>为</a:t>
            </a:r>
            <a:r>
              <a:rPr lang="en-US" altLang="zh-CN" sz="2400">
                <a:solidFill>
                  <a:srgbClr val="009900"/>
                </a:solidFill>
              </a:rPr>
              <a:t>DIV</a:t>
            </a:r>
            <a:r>
              <a:rPr lang="zh-CN" altLang="en-US" sz="2400">
                <a:solidFill>
                  <a:srgbClr val="009900"/>
                </a:solidFill>
              </a:rPr>
              <a:t>，</a:t>
            </a:r>
            <a:r>
              <a:rPr lang="en-US" altLang="zh-CN" sz="2400">
                <a:solidFill>
                  <a:srgbClr val="009900"/>
                </a:solidFill>
              </a:rPr>
              <a:t>1</a:t>
            </a:r>
            <a:r>
              <a:rPr lang="zh-CN" altLang="en-US" sz="2400">
                <a:solidFill>
                  <a:srgbClr val="009900"/>
                </a:solidFill>
              </a:rPr>
              <a:t>为 </a:t>
            </a:r>
            <a:r>
              <a:rPr lang="en-US" altLang="zh-CN" sz="2400">
                <a:solidFill>
                  <a:srgbClr val="009900"/>
                </a:solidFill>
              </a:rPr>
              <a:t>PLL</a:t>
            </a:r>
          </a:p>
        </p:txBody>
      </p:sp>
      <p:sp>
        <p:nvSpPr>
          <p:cNvPr id="591901" name="AutoShape 29" descr="小棋盘"/>
          <p:cNvSpPr>
            <a:spLocks noChangeArrowheads="1"/>
          </p:cNvSpPr>
          <p:nvPr/>
        </p:nvSpPr>
        <p:spPr bwMode="auto">
          <a:xfrm>
            <a:off x="5435600" y="6165850"/>
            <a:ext cx="3168650" cy="482600"/>
          </a:xfrm>
          <a:prstGeom prst="wedgeRoundRectCallout">
            <a:avLst>
              <a:gd name="adj1" fmla="val -15079"/>
              <a:gd name="adj2" fmla="val -83222"/>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009900"/>
                </a:solidFill>
              </a:rPr>
              <a:t>0</a:t>
            </a:r>
            <a:r>
              <a:rPr lang="zh-CN" altLang="en-US" sz="2400">
                <a:solidFill>
                  <a:srgbClr val="009900"/>
                </a:solidFill>
              </a:rPr>
              <a:t>为</a:t>
            </a:r>
            <a:r>
              <a:rPr lang="en-US" altLang="zh-CN" sz="2400">
                <a:solidFill>
                  <a:srgbClr val="009900"/>
                </a:solidFill>
              </a:rPr>
              <a:t>DIV</a:t>
            </a:r>
            <a:r>
              <a:rPr lang="zh-CN" altLang="en-US" sz="2400">
                <a:solidFill>
                  <a:srgbClr val="009900"/>
                </a:solidFill>
              </a:rPr>
              <a:t>，</a:t>
            </a:r>
            <a:r>
              <a:rPr lang="en-US" altLang="zh-CN" sz="2400">
                <a:solidFill>
                  <a:srgbClr val="009900"/>
                </a:solidFill>
              </a:rPr>
              <a:t>1</a:t>
            </a:r>
            <a:r>
              <a:rPr lang="zh-CN" altLang="en-US" sz="2400">
                <a:solidFill>
                  <a:srgbClr val="009900"/>
                </a:solidFill>
              </a:rPr>
              <a:t>为 </a:t>
            </a:r>
            <a:r>
              <a:rPr lang="en-US" altLang="zh-CN" sz="2400">
                <a:solidFill>
                  <a:srgbClr val="009900"/>
                </a:solidFill>
              </a:rPr>
              <a:t>PLL</a:t>
            </a:r>
          </a:p>
        </p:txBody>
      </p:sp>
      <p:sp>
        <p:nvSpPr>
          <p:cNvPr id="94219" name="Rectangle 30"/>
          <p:cNvSpPr>
            <a:spLocks noChangeArrowheads="1"/>
          </p:cNvSpPr>
          <p:nvPr/>
        </p:nvSpPr>
        <p:spPr bwMode="auto">
          <a:xfrm>
            <a:off x="179388" y="981075"/>
            <a:ext cx="17287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a:solidFill>
                  <a:schemeClr val="folHlink"/>
                </a:solidFill>
              </a:rPr>
              <a:t>针对：</a:t>
            </a:r>
            <a:r>
              <a:rPr lang="en-US" altLang="zh-CN" sz="1800">
                <a:solidFill>
                  <a:schemeClr val="folHlink"/>
                </a:solidFill>
              </a:rPr>
              <a:t>C545A,</a:t>
            </a:r>
          </a:p>
          <a:p>
            <a:pPr eaLnBrk="1" hangingPunct="1"/>
            <a:r>
              <a:rPr lang="en-US" altLang="zh-CN" sz="1800">
                <a:solidFill>
                  <a:schemeClr val="folHlink"/>
                </a:solidFill>
              </a:rPr>
              <a:t>C546A</a:t>
            </a:r>
            <a:r>
              <a:rPr lang="zh-CN" altLang="en-US" sz="1800">
                <a:solidFill>
                  <a:schemeClr val="folHlink"/>
                </a:solidFill>
              </a:rPr>
              <a:t>，</a:t>
            </a:r>
            <a:r>
              <a:rPr lang="en-US" altLang="zh-CN" sz="1800">
                <a:solidFill>
                  <a:schemeClr val="folHlink"/>
                </a:solidFill>
              </a:rPr>
              <a:t>C548</a:t>
            </a:r>
          </a:p>
        </p:txBody>
      </p:sp>
      <p:sp>
        <p:nvSpPr>
          <p:cNvPr id="94220" name="AutoShape 31"/>
          <p:cNvSpPr>
            <a:spLocks noChangeArrowheads="1"/>
          </p:cNvSpPr>
          <p:nvPr/>
        </p:nvSpPr>
        <p:spPr bwMode="auto">
          <a:xfrm>
            <a:off x="1908175" y="1125538"/>
            <a:ext cx="288925" cy="323850"/>
          </a:xfrm>
          <a:prstGeom prst="rightArrow">
            <a:avLst>
              <a:gd name="adj1" fmla="val 50000"/>
              <a:gd name="adj2" fmla="val 25000"/>
            </a:avLst>
          </a:prstGeom>
          <a:solidFill>
            <a:schemeClr val="accent1"/>
          </a:solidFill>
          <a:ln w="9525">
            <a:solidFill>
              <a:srgbClr val="FF99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4221" name="Rectangle 32" descr="小棋盘"/>
          <p:cNvSpPr>
            <a:spLocks noChangeArrowheads="1"/>
          </p:cNvSpPr>
          <p:nvPr/>
        </p:nvSpPr>
        <p:spPr bwMode="auto">
          <a:xfrm>
            <a:off x="2519363" y="981075"/>
            <a:ext cx="4032250" cy="588963"/>
          </a:xfrm>
          <a:prstGeom prst="rect">
            <a:avLst/>
          </a:prstGeom>
          <a:pattFill prst="smCheck">
            <a:fgClr>
              <a:schemeClr val="accent1"/>
            </a:fgClr>
            <a:bgClr>
              <a:schemeClr val="bg1"/>
            </a:bgClr>
          </a:pattFill>
          <a:ln w="9525">
            <a:solidFill>
              <a:srgbClr val="FF00FF"/>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00"/>
                </a:solidFill>
              </a:rPr>
              <a:t>（</a:t>
            </a:r>
            <a:r>
              <a:rPr lang="en-US" altLang="zh-CN" sz="3200">
                <a:solidFill>
                  <a:srgbClr val="FF0000"/>
                </a:solidFill>
              </a:rPr>
              <a:t>1</a:t>
            </a:r>
            <a:r>
              <a:rPr lang="zh-CN" altLang="en-US" sz="3200">
                <a:solidFill>
                  <a:srgbClr val="FF0000"/>
                </a:solidFill>
              </a:rPr>
              <a:t>）软件配置的</a:t>
            </a:r>
            <a:r>
              <a:rPr lang="en-US" altLang="zh-CN" sz="3200">
                <a:solidFill>
                  <a:srgbClr val="FF0000"/>
                </a:solidFill>
              </a:rPr>
              <a:t>PLL</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91875"/>
                                        </p:tgtEl>
                                        <p:attrNameLst>
                                          <p:attrName>style.visibility</p:attrName>
                                        </p:attrNameLst>
                                      </p:cBhvr>
                                      <p:to>
                                        <p:strVal val="visible"/>
                                      </p:to>
                                    </p:set>
                                    <p:animEffect transition="in" filter="wipe(up)">
                                      <p:cBhvr>
                                        <p:cTn id="7" dur="500"/>
                                        <p:tgtEl>
                                          <p:spTgt spid="591875"/>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91876"/>
                                        </p:tgtEl>
                                        <p:attrNameLst>
                                          <p:attrName>style.visibility</p:attrName>
                                        </p:attrNameLst>
                                      </p:cBhvr>
                                      <p:to>
                                        <p:strVal val="visible"/>
                                      </p:to>
                                    </p:set>
                                    <p:animEffect transition="in" filter="wipe(up)">
                                      <p:cBhvr>
                                        <p:cTn id="11" dur="500"/>
                                        <p:tgtEl>
                                          <p:spTgt spid="591876"/>
                                        </p:tgtEl>
                                      </p:cBhvr>
                                    </p:animEffect>
                                  </p:childTnLst>
                                </p:cTn>
                              </p:par>
                            </p:childTnLst>
                          </p:cTn>
                        </p:par>
                        <p:par>
                          <p:cTn id="12" fill="hold" nodeType="afterGroup">
                            <p:stCondLst>
                              <p:cond delay="1000"/>
                            </p:stCondLst>
                            <p:childTnLst>
                              <p:par>
                                <p:cTn id="13" presetID="2" presetClass="entr" presetSubtype="2" fill="hold" grpId="0" nodeType="afterEffect">
                                  <p:stCondLst>
                                    <p:cond delay="0"/>
                                  </p:stCondLst>
                                  <p:childTnLst>
                                    <p:set>
                                      <p:cBhvr>
                                        <p:cTn id="14" dur="1" fill="hold">
                                          <p:stCondLst>
                                            <p:cond delay="0"/>
                                          </p:stCondLst>
                                        </p:cTn>
                                        <p:tgtEl>
                                          <p:spTgt spid="591897"/>
                                        </p:tgtEl>
                                        <p:attrNameLst>
                                          <p:attrName>style.visibility</p:attrName>
                                        </p:attrNameLst>
                                      </p:cBhvr>
                                      <p:to>
                                        <p:strVal val="visible"/>
                                      </p:to>
                                    </p:set>
                                    <p:anim calcmode="lin" valueType="num">
                                      <p:cBhvr additive="base">
                                        <p:cTn id="15" dur="500" fill="hold"/>
                                        <p:tgtEl>
                                          <p:spTgt spid="591897"/>
                                        </p:tgtEl>
                                        <p:attrNameLst>
                                          <p:attrName>ppt_x</p:attrName>
                                        </p:attrNameLst>
                                      </p:cBhvr>
                                      <p:tavLst>
                                        <p:tav tm="0">
                                          <p:val>
                                            <p:strVal val="1+#ppt_w/2"/>
                                          </p:val>
                                        </p:tav>
                                        <p:tav tm="100000">
                                          <p:val>
                                            <p:strVal val="#ppt_x"/>
                                          </p:val>
                                        </p:tav>
                                      </p:tavLst>
                                    </p:anim>
                                    <p:anim calcmode="lin" valueType="num">
                                      <p:cBhvr additive="base">
                                        <p:cTn id="16" dur="500" fill="hold"/>
                                        <p:tgtEl>
                                          <p:spTgt spid="591897"/>
                                        </p:tgtEl>
                                        <p:attrNameLst>
                                          <p:attrName>ppt_y</p:attrName>
                                        </p:attrNameLst>
                                      </p:cBhvr>
                                      <p:tavLst>
                                        <p:tav tm="0">
                                          <p:val>
                                            <p:strVal val="#ppt_y"/>
                                          </p:val>
                                        </p:tav>
                                        <p:tav tm="100000">
                                          <p:val>
                                            <p:strVal val="#ppt_y"/>
                                          </p:val>
                                        </p:tav>
                                      </p:tavLst>
                                    </p:anim>
                                  </p:childTnLst>
                                </p:cTn>
                              </p:par>
                            </p:childTnLst>
                          </p:cTn>
                        </p:par>
                        <p:par>
                          <p:cTn id="17" fill="hold" nodeType="afterGroup">
                            <p:stCondLst>
                              <p:cond delay="1500"/>
                            </p:stCondLst>
                            <p:childTnLst>
                              <p:par>
                                <p:cTn id="18" presetID="22" presetClass="entr" presetSubtype="1"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500"/>
                                        <p:tgtEl>
                                          <p:spTgt spid="2"/>
                                        </p:tgtEl>
                                      </p:cBhvr>
                                    </p:animEffect>
                                  </p:childTnLst>
                                </p:cTn>
                              </p:par>
                            </p:childTnLst>
                          </p:cTn>
                        </p:par>
                        <p:par>
                          <p:cTn id="21" fill="hold" nodeType="afterGroup">
                            <p:stCondLst>
                              <p:cond delay="2000"/>
                            </p:stCondLst>
                            <p:childTnLst>
                              <p:par>
                                <p:cTn id="22" presetID="2" presetClass="entr" presetSubtype="4" fill="hold" grpId="0" nodeType="afterEffect">
                                  <p:stCondLst>
                                    <p:cond delay="0"/>
                                  </p:stCondLst>
                                  <p:childTnLst>
                                    <p:set>
                                      <p:cBhvr>
                                        <p:cTn id="23" dur="1" fill="hold">
                                          <p:stCondLst>
                                            <p:cond delay="0"/>
                                          </p:stCondLst>
                                        </p:cTn>
                                        <p:tgtEl>
                                          <p:spTgt spid="591898"/>
                                        </p:tgtEl>
                                        <p:attrNameLst>
                                          <p:attrName>style.visibility</p:attrName>
                                        </p:attrNameLst>
                                      </p:cBhvr>
                                      <p:to>
                                        <p:strVal val="visible"/>
                                      </p:to>
                                    </p:set>
                                    <p:anim calcmode="lin" valueType="num">
                                      <p:cBhvr additive="base">
                                        <p:cTn id="24" dur="500" fill="hold"/>
                                        <p:tgtEl>
                                          <p:spTgt spid="591898"/>
                                        </p:tgtEl>
                                        <p:attrNameLst>
                                          <p:attrName>ppt_x</p:attrName>
                                        </p:attrNameLst>
                                      </p:cBhvr>
                                      <p:tavLst>
                                        <p:tav tm="0">
                                          <p:val>
                                            <p:strVal val="#ppt_x"/>
                                          </p:val>
                                        </p:tav>
                                        <p:tav tm="100000">
                                          <p:val>
                                            <p:strVal val="#ppt_x"/>
                                          </p:val>
                                        </p:tav>
                                      </p:tavLst>
                                    </p:anim>
                                    <p:anim calcmode="lin" valueType="num">
                                      <p:cBhvr additive="base">
                                        <p:cTn id="25" dur="500" fill="hold"/>
                                        <p:tgtEl>
                                          <p:spTgt spid="591898"/>
                                        </p:tgtEl>
                                        <p:attrNameLst>
                                          <p:attrName>ppt_y</p:attrName>
                                        </p:attrNameLst>
                                      </p:cBhvr>
                                      <p:tavLst>
                                        <p:tav tm="0">
                                          <p:val>
                                            <p:strVal val="1+#ppt_h/2"/>
                                          </p:val>
                                        </p:tav>
                                        <p:tav tm="100000">
                                          <p:val>
                                            <p:strVal val="#ppt_y"/>
                                          </p:val>
                                        </p:tav>
                                      </p:tavLst>
                                    </p:anim>
                                  </p:childTnLst>
                                </p:cTn>
                              </p:par>
                            </p:childTnLst>
                          </p:cTn>
                        </p:par>
                        <p:par>
                          <p:cTn id="26" fill="hold" nodeType="afterGroup">
                            <p:stCondLst>
                              <p:cond delay="2500"/>
                            </p:stCondLst>
                            <p:childTnLst>
                              <p:par>
                                <p:cTn id="27" presetID="2" presetClass="entr" presetSubtype="4" fill="hold" grpId="0" nodeType="afterEffect">
                                  <p:stCondLst>
                                    <p:cond delay="0"/>
                                  </p:stCondLst>
                                  <p:childTnLst>
                                    <p:set>
                                      <p:cBhvr>
                                        <p:cTn id="28" dur="1" fill="hold">
                                          <p:stCondLst>
                                            <p:cond delay="0"/>
                                          </p:stCondLst>
                                        </p:cTn>
                                        <p:tgtEl>
                                          <p:spTgt spid="591899"/>
                                        </p:tgtEl>
                                        <p:attrNameLst>
                                          <p:attrName>style.visibility</p:attrName>
                                        </p:attrNameLst>
                                      </p:cBhvr>
                                      <p:to>
                                        <p:strVal val="visible"/>
                                      </p:to>
                                    </p:set>
                                    <p:anim calcmode="lin" valueType="num">
                                      <p:cBhvr additive="base">
                                        <p:cTn id="29" dur="500" fill="hold"/>
                                        <p:tgtEl>
                                          <p:spTgt spid="591899"/>
                                        </p:tgtEl>
                                        <p:attrNameLst>
                                          <p:attrName>ppt_x</p:attrName>
                                        </p:attrNameLst>
                                      </p:cBhvr>
                                      <p:tavLst>
                                        <p:tav tm="0">
                                          <p:val>
                                            <p:strVal val="#ppt_x"/>
                                          </p:val>
                                        </p:tav>
                                        <p:tav tm="100000">
                                          <p:val>
                                            <p:strVal val="#ppt_x"/>
                                          </p:val>
                                        </p:tav>
                                      </p:tavLst>
                                    </p:anim>
                                    <p:anim calcmode="lin" valueType="num">
                                      <p:cBhvr additive="base">
                                        <p:cTn id="30" dur="500" fill="hold"/>
                                        <p:tgtEl>
                                          <p:spTgt spid="591899"/>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3000"/>
                            </p:stCondLst>
                            <p:childTnLst>
                              <p:par>
                                <p:cTn id="32" presetID="2" presetClass="entr" presetSubtype="4" fill="hold" grpId="0" nodeType="afterEffect">
                                  <p:stCondLst>
                                    <p:cond delay="0"/>
                                  </p:stCondLst>
                                  <p:childTnLst>
                                    <p:set>
                                      <p:cBhvr>
                                        <p:cTn id="33" dur="1" fill="hold">
                                          <p:stCondLst>
                                            <p:cond delay="0"/>
                                          </p:stCondLst>
                                        </p:cTn>
                                        <p:tgtEl>
                                          <p:spTgt spid="591900"/>
                                        </p:tgtEl>
                                        <p:attrNameLst>
                                          <p:attrName>style.visibility</p:attrName>
                                        </p:attrNameLst>
                                      </p:cBhvr>
                                      <p:to>
                                        <p:strVal val="visible"/>
                                      </p:to>
                                    </p:set>
                                    <p:anim calcmode="lin" valueType="num">
                                      <p:cBhvr additive="base">
                                        <p:cTn id="34" dur="500" fill="hold"/>
                                        <p:tgtEl>
                                          <p:spTgt spid="591900"/>
                                        </p:tgtEl>
                                        <p:attrNameLst>
                                          <p:attrName>ppt_x</p:attrName>
                                        </p:attrNameLst>
                                      </p:cBhvr>
                                      <p:tavLst>
                                        <p:tav tm="0">
                                          <p:val>
                                            <p:strVal val="#ppt_x"/>
                                          </p:val>
                                        </p:tav>
                                        <p:tav tm="100000">
                                          <p:val>
                                            <p:strVal val="#ppt_x"/>
                                          </p:val>
                                        </p:tav>
                                      </p:tavLst>
                                    </p:anim>
                                    <p:anim calcmode="lin" valueType="num">
                                      <p:cBhvr additive="base">
                                        <p:cTn id="35" dur="500" fill="hold"/>
                                        <p:tgtEl>
                                          <p:spTgt spid="591900"/>
                                        </p:tgtEl>
                                        <p:attrNameLst>
                                          <p:attrName>ppt_y</p:attrName>
                                        </p:attrNameLst>
                                      </p:cBhvr>
                                      <p:tavLst>
                                        <p:tav tm="0">
                                          <p:val>
                                            <p:strVal val="1+#ppt_h/2"/>
                                          </p:val>
                                        </p:tav>
                                        <p:tav tm="100000">
                                          <p:val>
                                            <p:strVal val="#ppt_y"/>
                                          </p:val>
                                        </p:tav>
                                      </p:tavLst>
                                    </p:anim>
                                  </p:childTnLst>
                                </p:cTn>
                              </p:par>
                            </p:childTnLst>
                          </p:cTn>
                        </p:par>
                        <p:par>
                          <p:cTn id="36" fill="hold" nodeType="afterGroup">
                            <p:stCondLst>
                              <p:cond delay="3500"/>
                            </p:stCondLst>
                            <p:childTnLst>
                              <p:par>
                                <p:cTn id="37" presetID="2" presetClass="entr" presetSubtype="4" fill="hold" grpId="0" nodeType="afterEffect">
                                  <p:stCondLst>
                                    <p:cond delay="0"/>
                                  </p:stCondLst>
                                  <p:childTnLst>
                                    <p:set>
                                      <p:cBhvr>
                                        <p:cTn id="38" dur="1" fill="hold">
                                          <p:stCondLst>
                                            <p:cond delay="0"/>
                                          </p:stCondLst>
                                        </p:cTn>
                                        <p:tgtEl>
                                          <p:spTgt spid="591901"/>
                                        </p:tgtEl>
                                        <p:attrNameLst>
                                          <p:attrName>style.visibility</p:attrName>
                                        </p:attrNameLst>
                                      </p:cBhvr>
                                      <p:to>
                                        <p:strVal val="visible"/>
                                      </p:to>
                                    </p:set>
                                    <p:anim calcmode="lin" valueType="num">
                                      <p:cBhvr additive="base">
                                        <p:cTn id="39" dur="500" fill="hold"/>
                                        <p:tgtEl>
                                          <p:spTgt spid="591901"/>
                                        </p:tgtEl>
                                        <p:attrNameLst>
                                          <p:attrName>ppt_x</p:attrName>
                                        </p:attrNameLst>
                                      </p:cBhvr>
                                      <p:tavLst>
                                        <p:tav tm="0">
                                          <p:val>
                                            <p:strVal val="#ppt_x"/>
                                          </p:val>
                                        </p:tav>
                                        <p:tav tm="100000">
                                          <p:val>
                                            <p:strVal val="#ppt_x"/>
                                          </p:val>
                                        </p:tav>
                                      </p:tavLst>
                                    </p:anim>
                                    <p:anim calcmode="lin" valueType="num">
                                      <p:cBhvr additive="base">
                                        <p:cTn id="40" dur="500" fill="hold"/>
                                        <p:tgtEl>
                                          <p:spTgt spid="5919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875" grpId="0" animBg="1" autoUpdateAnimBg="0"/>
      <p:bldP spid="591876" grpId="0" animBg="1" autoUpdateAnimBg="0"/>
      <p:bldP spid="591897" grpId="0" animBg="1" autoUpdateAnimBg="0"/>
      <p:bldP spid="591898" grpId="0" animBg="1" autoUpdateAnimBg="0"/>
      <p:bldP spid="591899" grpId="0" animBg="1" autoUpdateAnimBg="0"/>
      <p:bldP spid="591900" grpId="0" animBg="1" autoUpdateAnimBg="0"/>
      <p:bldP spid="591901" grpId="0" animBg="1"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2898" name="Rectangle 2"/>
          <p:cNvSpPr>
            <a:spLocks noGrp="1" noChangeArrowheads="1"/>
          </p:cNvSpPr>
          <p:nvPr>
            <p:ph type="title"/>
          </p:nvPr>
        </p:nvSpPr>
        <p:spPr bwMode="auto">
          <a:xfrm>
            <a:off x="685800" y="990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软件编程时钟方式</a:t>
            </a:r>
            <a:r>
              <a:rPr lang="zh-CN" altLang="en-US" b="1"/>
              <a:t> </a:t>
            </a:r>
          </a:p>
        </p:txBody>
      </p:sp>
      <p:sp>
        <p:nvSpPr>
          <p:cNvPr id="9523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2EB31B6-963F-4B48-AA02-FC53F6938767}" type="slidenum">
              <a:rPr lang="en-US" altLang="zh-CN" sz="1400" b="0"/>
              <a:pPr eaLnBrk="1" hangingPunct="1"/>
              <a:t>82</a:t>
            </a:fld>
            <a:endParaRPr lang="en-US" altLang="zh-CN" sz="1400" b="0"/>
          </a:p>
        </p:txBody>
      </p:sp>
      <p:sp>
        <p:nvSpPr>
          <p:cNvPr id="592899" name="Rectangle 3"/>
          <p:cNvSpPr>
            <a:spLocks noChangeArrowheads="1"/>
          </p:cNvSpPr>
          <p:nvPr/>
        </p:nvSpPr>
        <p:spPr bwMode="auto">
          <a:xfrm>
            <a:off x="990600" y="3276600"/>
            <a:ext cx="7099300" cy="642938"/>
          </a:xfrm>
          <a:prstGeom prst="rect">
            <a:avLst/>
          </a:prstGeom>
          <a:solidFill>
            <a:schemeClr val="bg1"/>
          </a:solidFill>
          <a:ln w="57150">
            <a:solidFill>
              <a:schemeClr val="tx1"/>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zh-CN" altLang="en-US" sz="3600">
                <a:solidFill>
                  <a:srgbClr val="FF0066"/>
                </a:solidFill>
                <a:latin typeface="宋体" panose="02010600030101010101" pitchFamily="2" charset="-122"/>
              </a:rPr>
              <a:t>工作时钟  </a:t>
            </a:r>
            <a:r>
              <a:rPr lang="en-US" altLang="zh-CN" sz="3600">
                <a:solidFill>
                  <a:srgbClr val="FF0066"/>
                </a:solidFill>
                <a:latin typeface="宋体" panose="02010600030101010101" pitchFamily="2" charset="-122"/>
              </a:rPr>
              <a:t>CLKOUT=CLKIN×</a:t>
            </a:r>
            <a:r>
              <a:rPr lang="zh-CN" altLang="en-US" sz="3600">
                <a:solidFill>
                  <a:srgbClr val="FF0066"/>
                </a:solidFill>
                <a:latin typeface="宋体" panose="02010600030101010101" pitchFamily="2" charset="-122"/>
              </a:rPr>
              <a:t>乘系数</a:t>
            </a:r>
            <a:endParaRPr lang="zh-CN" altLang="en-US" sz="2800">
              <a:solidFill>
                <a:srgbClr val="FF0066"/>
              </a:solidFill>
            </a:endParaRPr>
          </a:p>
        </p:txBody>
      </p:sp>
      <p:sp>
        <p:nvSpPr>
          <p:cNvPr id="592900" name="Rectangle 4"/>
          <p:cNvSpPr>
            <a:spLocks noChangeArrowheads="1"/>
          </p:cNvSpPr>
          <p:nvPr/>
        </p:nvSpPr>
        <p:spPr bwMode="auto">
          <a:xfrm>
            <a:off x="2438400" y="4267200"/>
            <a:ext cx="3394075" cy="65087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solidFill>
                  <a:schemeClr val="folHlink"/>
                </a:solidFill>
                <a:latin typeface="宋体" panose="02010600030101010101" pitchFamily="2" charset="-122"/>
              </a:rPr>
              <a:t>CLKOUT</a:t>
            </a:r>
            <a:r>
              <a:rPr lang="zh-CN" altLang="en-US" sz="3600">
                <a:solidFill>
                  <a:schemeClr val="folHlink"/>
                </a:solidFill>
                <a:latin typeface="宋体" panose="02010600030101010101" pitchFamily="2" charset="-122"/>
              </a:rPr>
              <a:t>启动过程</a:t>
            </a:r>
          </a:p>
        </p:txBody>
      </p:sp>
      <p:sp>
        <p:nvSpPr>
          <p:cNvPr id="592901" name="Rectangle 5"/>
          <p:cNvSpPr>
            <a:spLocks noChangeArrowheads="1"/>
          </p:cNvSpPr>
          <p:nvPr/>
        </p:nvSpPr>
        <p:spPr bwMode="auto">
          <a:xfrm>
            <a:off x="381000" y="5638800"/>
            <a:ext cx="1111250" cy="650875"/>
          </a:xfrm>
          <a:prstGeom prst="rect">
            <a:avLst/>
          </a:prstGeom>
          <a:solidFill>
            <a:schemeClr val="accent2"/>
          </a:solidFill>
          <a:ln w="9525">
            <a:solidFill>
              <a:srgbClr val="0066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chemeClr val="tx2"/>
                </a:solidFill>
                <a:latin typeface="宋体" panose="02010600030101010101" pitchFamily="2" charset="-122"/>
              </a:rPr>
              <a:t>复位</a:t>
            </a:r>
          </a:p>
        </p:txBody>
      </p:sp>
      <p:sp>
        <p:nvSpPr>
          <p:cNvPr id="592902" name="Rectangle 6"/>
          <p:cNvSpPr>
            <a:spLocks noChangeArrowheads="1"/>
          </p:cNvSpPr>
          <p:nvPr/>
        </p:nvSpPr>
        <p:spPr bwMode="auto">
          <a:xfrm>
            <a:off x="3810000" y="5867400"/>
            <a:ext cx="17922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solidFill>
                  <a:schemeClr val="tx2"/>
                </a:solidFill>
                <a:latin typeface="宋体" panose="02010600030101010101" pitchFamily="2" charset="-122"/>
              </a:rPr>
              <a:t>DIV</a:t>
            </a:r>
            <a:r>
              <a:rPr lang="zh-CN" altLang="en-US" sz="3600">
                <a:solidFill>
                  <a:schemeClr val="tx2"/>
                </a:solidFill>
                <a:latin typeface="宋体" panose="02010600030101010101" pitchFamily="2" charset="-122"/>
              </a:rPr>
              <a:t>工作</a:t>
            </a:r>
          </a:p>
        </p:txBody>
      </p:sp>
      <p:grpSp>
        <p:nvGrpSpPr>
          <p:cNvPr id="2" name="Group 7"/>
          <p:cNvGrpSpPr>
            <a:grpSpLocks/>
          </p:cNvGrpSpPr>
          <p:nvPr/>
        </p:nvGrpSpPr>
        <p:grpSpPr bwMode="auto">
          <a:xfrm>
            <a:off x="1905000" y="5181600"/>
            <a:ext cx="4846638" cy="641350"/>
            <a:chOff x="1200" y="3264"/>
            <a:chExt cx="3053" cy="404"/>
          </a:xfrm>
        </p:grpSpPr>
        <p:sp>
          <p:nvSpPr>
            <p:cNvPr id="95246" name="Rectangle 8"/>
            <p:cNvSpPr>
              <a:spLocks noChangeArrowheads="1"/>
            </p:cNvSpPr>
            <p:nvPr/>
          </p:nvSpPr>
          <p:spPr bwMode="auto">
            <a:xfrm>
              <a:off x="3408" y="3264"/>
              <a:ext cx="845" cy="404"/>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003300"/>
                  </a:solidFill>
                  <a:latin typeface="宋体" panose="02010600030101010101" pitchFamily="2" charset="-122"/>
                </a:rPr>
                <a:t>锁定</a:t>
              </a:r>
              <a:endParaRPr lang="zh-CN" altLang="en-US" sz="3600">
                <a:solidFill>
                  <a:schemeClr val="accent2"/>
                </a:solidFill>
                <a:latin typeface="宋体" panose="02010600030101010101" pitchFamily="2" charset="-122"/>
              </a:endParaRPr>
            </a:p>
          </p:txBody>
        </p:sp>
        <p:sp>
          <p:nvSpPr>
            <p:cNvPr id="95247" name="Rectangle 9"/>
            <p:cNvSpPr>
              <a:spLocks noChangeArrowheads="1"/>
            </p:cNvSpPr>
            <p:nvPr/>
          </p:nvSpPr>
          <p:spPr bwMode="auto">
            <a:xfrm>
              <a:off x="1200" y="3264"/>
              <a:ext cx="694" cy="404"/>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chemeClr val="accent2"/>
                  </a:solidFill>
                  <a:latin typeface="宋体" panose="02010600030101010101" pitchFamily="2" charset="-122"/>
                </a:rPr>
                <a:t>加载</a:t>
              </a:r>
            </a:p>
          </p:txBody>
        </p:sp>
        <p:sp>
          <p:nvSpPr>
            <p:cNvPr id="95248" name="Rectangle 10"/>
            <p:cNvSpPr>
              <a:spLocks noChangeArrowheads="1"/>
            </p:cNvSpPr>
            <p:nvPr/>
          </p:nvSpPr>
          <p:spPr bwMode="auto">
            <a:xfrm>
              <a:off x="2016" y="3264"/>
              <a:ext cx="1268" cy="404"/>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chemeClr val="bg1"/>
                  </a:solidFill>
                  <a:latin typeface="宋体" panose="02010600030101010101" pitchFamily="2" charset="-122"/>
                </a:rPr>
                <a:t>延迟定时</a:t>
              </a:r>
            </a:p>
          </p:txBody>
        </p:sp>
      </p:grpSp>
      <p:sp>
        <p:nvSpPr>
          <p:cNvPr id="592907" name="Line 11"/>
          <p:cNvSpPr>
            <a:spLocks noChangeShapeType="1"/>
          </p:cNvSpPr>
          <p:nvPr/>
        </p:nvSpPr>
        <p:spPr bwMode="auto">
          <a:xfrm>
            <a:off x="1828800" y="5943600"/>
            <a:ext cx="4876800" cy="0"/>
          </a:xfrm>
          <a:prstGeom prst="line">
            <a:avLst/>
          </a:prstGeom>
          <a:noFill/>
          <a:ln w="762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2908" name="Rectangle 12"/>
          <p:cNvSpPr>
            <a:spLocks noChangeArrowheads="1"/>
          </p:cNvSpPr>
          <p:nvPr/>
        </p:nvSpPr>
        <p:spPr bwMode="auto">
          <a:xfrm>
            <a:off x="7315200" y="4724400"/>
            <a:ext cx="1158875" cy="1797050"/>
          </a:xfrm>
          <a:prstGeom prst="rect">
            <a:avLst/>
          </a:prstGeom>
          <a:solidFill>
            <a:schemeClr val="hlink"/>
          </a:solidFill>
          <a:ln w="57150">
            <a:solidFill>
              <a:schemeClr val="tx2"/>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600">
                <a:solidFill>
                  <a:srgbClr val="FFFFFF"/>
                </a:solidFill>
                <a:latin typeface="宋体" panose="02010600030101010101" pitchFamily="2" charset="-122"/>
              </a:rPr>
              <a:t>PLL</a:t>
            </a:r>
          </a:p>
          <a:p>
            <a:pPr algn="ctr" eaLnBrk="1" hangingPunct="1"/>
            <a:r>
              <a:rPr lang="zh-CN" altLang="en-US" sz="3600">
                <a:solidFill>
                  <a:srgbClr val="FFFFFF"/>
                </a:solidFill>
                <a:latin typeface="宋体" panose="02010600030101010101" pitchFamily="2" charset="-122"/>
              </a:rPr>
              <a:t>开始</a:t>
            </a:r>
          </a:p>
          <a:p>
            <a:pPr algn="ctr" eaLnBrk="1" hangingPunct="1"/>
            <a:r>
              <a:rPr lang="zh-CN" altLang="en-US" sz="3600">
                <a:solidFill>
                  <a:srgbClr val="FFFFFF"/>
                </a:solidFill>
                <a:latin typeface="宋体" panose="02010600030101010101" pitchFamily="2" charset="-122"/>
              </a:rPr>
              <a:t>定时</a:t>
            </a:r>
          </a:p>
        </p:txBody>
      </p:sp>
      <p:sp>
        <p:nvSpPr>
          <p:cNvPr id="592909" name="Rectangle 13"/>
          <p:cNvSpPr>
            <a:spLocks noChangeArrowheads="1"/>
          </p:cNvSpPr>
          <p:nvPr/>
        </p:nvSpPr>
        <p:spPr bwMode="auto">
          <a:xfrm>
            <a:off x="2743200" y="1828800"/>
            <a:ext cx="3082925" cy="1270000"/>
          </a:xfrm>
          <a:prstGeom prst="rect">
            <a:avLst/>
          </a:prstGeom>
          <a:noFill/>
          <a:ln w="57150">
            <a:solidFill>
              <a:srgbClr val="33993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Char char="•"/>
            </a:pPr>
            <a:r>
              <a:rPr lang="zh-CN" altLang="en-US" sz="3200">
                <a:latin typeface="宋体" panose="02010600030101010101" pitchFamily="2" charset="-122"/>
              </a:rPr>
              <a:t>第一：</a:t>
            </a:r>
            <a:r>
              <a:rPr lang="en-US" altLang="zh-CN" sz="3200">
                <a:latin typeface="宋体" panose="02010600030101010101" pitchFamily="2" charset="-122"/>
              </a:rPr>
              <a:t>PLL</a:t>
            </a:r>
            <a:r>
              <a:rPr lang="zh-CN" altLang="en-US" sz="3200">
                <a:latin typeface="宋体" panose="02010600030101010101" pitchFamily="2" charset="-122"/>
              </a:rPr>
              <a:t>方式</a:t>
            </a:r>
            <a:r>
              <a:rPr lang="zh-CN" altLang="en-US" sz="3200"/>
              <a:t> </a:t>
            </a:r>
          </a:p>
          <a:p>
            <a:pPr eaLnBrk="1" hangingPunct="1">
              <a:lnSpc>
                <a:spcPct val="90000"/>
              </a:lnSpc>
              <a:spcBef>
                <a:spcPct val="50000"/>
              </a:spcBef>
              <a:buFontTx/>
              <a:buChar char="•"/>
            </a:pPr>
            <a:r>
              <a:rPr lang="zh-CN" altLang="en-US" sz="3200">
                <a:latin typeface="宋体" panose="02010600030101010101" pitchFamily="2" charset="-122"/>
              </a:rPr>
              <a:t>第二：</a:t>
            </a:r>
            <a:r>
              <a:rPr lang="en-US" altLang="zh-CN" sz="3200">
                <a:latin typeface="宋体" panose="02010600030101010101" pitchFamily="2" charset="-122"/>
              </a:rPr>
              <a:t>DIV</a:t>
            </a:r>
            <a:r>
              <a:rPr lang="zh-CN" altLang="en-US" sz="3200">
                <a:latin typeface="宋体" panose="02010600030101010101" pitchFamily="2" charset="-122"/>
              </a:rPr>
              <a:t>方式</a:t>
            </a:r>
          </a:p>
        </p:txBody>
      </p:sp>
      <p:sp>
        <p:nvSpPr>
          <p:cNvPr id="592910" name="AutoShape 14" descr="小棋盘"/>
          <p:cNvSpPr>
            <a:spLocks noChangeArrowheads="1"/>
          </p:cNvSpPr>
          <p:nvPr/>
        </p:nvSpPr>
        <p:spPr bwMode="auto">
          <a:xfrm>
            <a:off x="6397625" y="1603375"/>
            <a:ext cx="2627313" cy="1516063"/>
          </a:xfrm>
          <a:prstGeom prst="wedgeRoundRectCallout">
            <a:avLst>
              <a:gd name="adj1" fmla="val -71176"/>
              <a:gd name="adj2" fmla="val -12514"/>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t>输入时钟</a:t>
            </a:r>
            <a:r>
              <a:rPr lang="en-US" altLang="zh-CN" sz="2400"/>
              <a:t>CLKIN</a:t>
            </a:r>
            <a:r>
              <a:rPr lang="zh-CN" altLang="en-US" sz="2400"/>
              <a:t>乘以从</a:t>
            </a:r>
            <a:r>
              <a:rPr lang="en-US" altLang="zh-CN" sz="2400"/>
              <a:t>0.25~15</a:t>
            </a:r>
            <a:r>
              <a:rPr lang="zh-CN" altLang="en-US" sz="2400"/>
              <a:t>共</a:t>
            </a:r>
            <a:r>
              <a:rPr lang="en-US" altLang="zh-CN" sz="2400"/>
              <a:t>31</a:t>
            </a:r>
            <a:r>
              <a:rPr lang="zh-CN" altLang="en-US" sz="2400"/>
              <a:t>个系数中的一个系数</a:t>
            </a:r>
          </a:p>
        </p:txBody>
      </p:sp>
      <p:sp>
        <p:nvSpPr>
          <p:cNvPr id="592911" name="AutoShape 15" descr="小棋盘"/>
          <p:cNvSpPr>
            <a:spLocks noChangeArrowheads="1"/>
          </p:cNvSpPr>
          <p:nvPr/>
        </p:nvSpPr>
        <p:spPr bwMode="auto">
          <a:xfrm>
            <a:off x="228600" y="1828800"/>
            <a:ext cx="1860550" cy="1219200"/>
          </a:xfrm>
          <a:prstGeom prst="wedgeRoundRectCallout">
            <a:avLst>
              <a:gd name="adj1" fmla="val 85926"/>
              <a:gd name="adj2" fmla="val 26694"/>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t>输入时钟</a:t>
            </a:r>
            <a:r>
              <a:rPr lang="en-US" altLang="zh-CN" sz="2400"/>
              <a:t>CLKIN</a:t>
            </a:r>
            <a:r>
              <a:rPr lang="zh-CN" altLang="en-US" sz="2400"/>
              <a:t>除以</a:t>
            </a:r>
            <a:r>
              <a:rPr lang="en-US" altLang="zh-CN" sz="2400"/>
              <a:t>2</a:t>
            </a:r>
            <a:r>
              <a:rPr lang="zh-CN" altLang="en-US" sz="2400"/>
              <a:t>或</a:t>
            </a:r>
            <a:r>
              <a:rPr lang="en-US" altLang="zh-CN" sz="2400"/>
              <a:t>4</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92898"/>
                                        </p:tgtEl>
                                        <p:attrNameLst>
                                          <p:attrName>style.visibility</p:attrName>
                                        </p:attrNameLst>
                                      </p:cBhvr>
                                      <p:to>
                                        <p:strVal val="visible"/>
                                      </p:to>
                                    </p:set>
                                    <p:anim calcmode="lin" valueType="num">
                                      <p:cBhvr additive="base">
                                        <p:cTn id="7" dur="500" fill="hold"/>
                                        <p:tgtEl>
                                          <p:spTgt spid="592898"/>
                                        </p:tgtEl>
                                        <p:attrNameLst>
                                          <p:attrName>ppt_x</p:attrName>
                                        </p:attrNameLst>
                                      </p:cBhvr>
                                      <p:tavLst>
                                        <p:tav tm="0">
                                          <p:val>
                                            <p:strVal val="0-#ppt_w/2"/>
                                          </p:val>
                                        </p:tav>
                                        <p:tav tm="100000">
                                          <p:val>
                                            <p:strVal val="#ppt_x"/>
                                          </p:val>
                                        </p:tav>
                                      </p:tavLst>
                                    </p:anim>
                                    <p:anim calcmode="lin" valueType="num">
                                      <p:cBhvr additive="base">
                                        <p:cTn id="8" dur="500" fill="hold"/>
                                        <p:tgtEl>
                                          <p:spTgt spid="59289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92909"/>
                                        </p:tgtEl>
                                        <p:attrNameLst>
                                          <p:attrName>style.visibility</p:attrName>
                                        </p:attrNameLst>
                                      </p:cBhvr>
                                      <p:to>
                                        <p:strVal val="visible"/>
                                      </p:to>
                                    </p:set>
                                    <p:anim calcmode="lin" valueType="num">
                                      <p:cBhvr additive="base">
                                        <p:cTn id="12" dur="500" fill="hold"/>
                                        <p:tgtEl>
                                          <p:spTgt spid="592909"/>
                                        </p:tgtEl>
                                        <p:attrNameLst>
                                          <p:attrName>ppt_x</p:attrName>
                                        </p:attrNameLst>
                                      </p:cBhvr>
                                      <p:tavLst>
                                        <p:tav tm="0">
                                          <p:val>
                                            <p:strVal val="0-#ppt_w/2"/>
                                          </p:val>
                                        </p:tav>
                                        <p:tav tm="100000">
                                          <p:val>
                                            <p:strVal val="#ppt_x"/>
                                          </p:val>
                                        </p:tav>
                                      </p:tavLst>
                                    </p:anim>
                                    <p:anim calcmode="lin" valueType="num">
                                      <p:cBhvr additive="base">
                                        <p:cTn id="13" dur="500" fill="hold"/>
                                        <p:tgtEl>
                                          <p:spTgt spid="59290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92899"/>
                                        </p:tgtEl>
                                        <p:attrNameLst>
                                          <p:attrName>style.visibility</p:attrName>
                                        </p:attrNameLst>
                                      </p:cBhvr>
                                      <p:to>
                                        <p:strVal val="visible"/>
                                      </p:to>
                                    </p:set>
                                    <p:anim calcmode="lin" valueType="num">
                                      <p:cBhvr additive="base">
                                        <p:cTn id="17" dur="500" fill="hold"/>
                                        <p:tgtEl>
                                          <p:spTgt spid="592899"/>
                                        </p:tgtEl>
                                        <p:attrNameLst>
                                          <p:attrName>ppt_x</p:attrName>
                                        </p:attrNameLst>
                                      </p:cBhvr>
                                      <p:tavLst>
                                        <p:tav tm="0">
                                          <p:val>
                                            <p:strVal val="0-#ppt_w/2"/>
                                          </p:val>
                                        </p:tav>
                                        <p:tav tm="100000">
                                          <p:val>
                                            <p:strVal val="#ppt_x"/>
                                          </p:val>
                                        </p:tav>
                                      </p:tavLst>
                                    </p:anim>
                                    <p:anim calcmode="lin" valueType="num">
                                      <p:cBhvr additive="base">
                                        <p:cTn id="18" dur="500" fill="hold"/>
                                        <p:tgtEl>
                                          <p:spTgt spid="592899"/>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592910"/>
                                        </p:tgtEl>
                                        <p:attrNameLst>
                                          <p:attrName>style.visibility</p:attrName>
                                        </p:attrNameLst>
                                      </p:cBhvr>
                                      <p:to>
                                        <p:strVal val="visible"/>
                                      </p:to>
                                    </p:set>
                                    <p:anim calcmode="lin" valueType="num">
                                      <p:cBhvr additive="base">
                                        <p:cTn id="22" dur="500" fill="hold"/>
                                        <p:tgtEl>
                                          <p:spTgt spid="592910"/>
                                        </p:tgtEl>
                                        <p:attrNameLst>
                                          <p:attrName>ppt_x</p:attrName>
                                        </p:attrNameLst>
                                      </p:cBhvr>
                                      <p:tavLst>
                                        <p:tav tm="0">
                                          <p:val>
                                            <p:strVal val="1+#ppt_w/2"/>
                                          </p:val>
                                        </p:tav>
                                        <p:tav tm="100000">
                                          <p:val>
                                            <p:strVal val="#ppt_x"/>
                                          </p:val>
                                        </p:tav>
                                      </p:tavLst>
                                    </p:anim>
                                    <p:anim calcmode="lin" valueType="num">
                                      <p:cBhvr additive="base">
                                        <p:cTn id="23" dur="500" fill="hold"/>
                                        <p:tgtEl>
                                          <p:spTgt spid="592910"/>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592911"/>
                                        </p:tgtEl>
                                        <p:attrNameLst>
                                          <p:attrName>style.visibility</p:attrName>
                                        </p:attrNameLst>
                                      </p:cBhvr>
                                      <p:to>
                                        <p:strVal val="visible"/>
                                      </p:to>
                                    </p:set>
                                    <p:anim calcmode="lin" valueType="num">
                                      <p:cBhvr additive="base">
                                        <p:cTn id="27" dur="500" fill="hold"/>
                                        <p:tgtEl>
                                          <p:spTgt spid="592911"/>
                                        </p:tgtEl>
                                        <p:attrNameLst>
                                          <p:attrName>ppt_x</p:attrName>
                                        </p:attrNameLst>
                                      </p:cBhvr>
                                      <p:tavLst>
                                        <p:tav tm="0">
                                          <p:val>
                                            <p:strVal val="0-#ppt_w/2"/>
                                          </p:val>
                                        </p:tav>
                                        <p:tav tm="100000">
                                          <p:val>
                                            <p:strVal val="#ppt_x"/>
                                          </p:val>
                                        </p:tav>
                                      </p:tavLst>
                                    </p:anim>
                                    <p:anim calcmode="lin" valueType="num">
                                      <p:cBhvr additive="base">
                                        <p:cTn id="28" dur="500" fill="hold"/>
                                        <p:tgtEl>
                                          <p:spTgt spid="592911"/>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592900"/>
                                        </p:tgtEl>
                                        <p:attrNameLst>
                                          <p:attrName>style.visibility</p:attrName>
                                        </p:attrNameLst>
                                      </p:cBhvr>
                                      <p:to>
                                        <p:strVal val="visible"/>
                                      </p:to>
                                    </p:set>
                                    <p:anim calcmode="lin" valueType="num">
                                      <p:cBhvr additive="base">
                                        <p:cTn id="32" dur="500" fill="hold"/>
                                        <p:tgtEl>
                                          <p:spTgt spid="592900"/>
                                        </p:tgtEl>
                                        <p:attrNameLst>
                                          <p:attrName>ppt_x</p:attrName>
                                        </p:attrNameLst>
                                      </p:cBhvr>
                                      <p:tavLst>
                                        <p:tav tm="0">
                                          <p:val>
                                            <p:strVal val="0-#ppt_w/2"/>
                                          </p:val>
                                        </p:tav>
                                        <p:tav tm="100000">
                                          <p:val>
                                            <p:strVal val="#ppt_x"/>
                                          </p:val>
                                        </p:tav>
                                      </p:tavLst>
                                    </p:anim>
                                    <p:anim calcmode="lin" valueType="num">
                                      <p:cBhvr additive="base">
                                        <p:cTn id="33" dur="500" fill="hold"/>
                                        <p:tgtEl>
                                          <p:spTgt spid="592900"/>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592901"/>
                                        </p:tgtEl>
                                        <p:attrNameLst>
                                          <p:attrName>style.visibility</p:attrName>
                                        </p:attrNameLst>
                                      </p:cBhvr>
                                      <p:to>
                                        <p:strVal val="visible"/>
                                      </p:to>
                                    </p:set>
                                    <p:anim calcmode="lin" valueType="num">
                                      <p:cBhvr additive="base">
                                        <p:cTn id="37" dur="500" fill="hold"/>
                                        <p:tgtEl>
                                          <p:spTgt spid="592901"/>
                                        </p:tgtEl>
                                        <p:attrNameLst>
                                          <p:attrName>ppt_x</p:attrName>
                                        </p:attrNameLst>
                                      </p:cBhvr>
                                      <p:tavLst>
                                        <p:tav tm="0">
                                          <p:val>
                                            <p:strVal val="0-#ppt_w/2"/>
                                          </p:val>
                                        </p:tav>
                                        <p:tav tm="100000">
                                          <p:val>
                                            <p:strVal val="#ppt_x"/>
                                          </p:val>
                                        </p:tav>
                                      </p:tavLst>
                                    </p:anim>
                                    <p:anim calcmode="lin" valueType="num">
                                      <p:cBhvr additive="base">
                                        <p:cTn id="38" dur="500" fill="hold"/>
                                        <p:tgtEl>
                                          <p:spTgt spid="592901"/>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3500"/>
                            </p:stCondLst>
                            <p:childTnLst>
                              <p:par>
                                <p:cTn id="40" presetID="12" presetClass="entr" presetSubtype="8" fill="hold" grpId="0" nodeType="afterEffect">
                                  <p:stCondLst>
                                    <p:cond delay="0"/>
                                  </p:stCondLst>
                                  <p:childTnLst>
                                    <p:set>
                                      <p:cBhvr>
                                        <p:cTn id="41" dur="1" fill="hold">
                                          <p:stCondLst>
                                            <p:cond delay="0"/>
                                          </p:stCondLst>
                                        </p:cTn>
                                        <p:tgtEl>
                                          <p:spTgt spid="592907"/>
                                        </p:tgtEl>
                                        <p:attrNameLst>
                                          <p:attrName>style.visibility</p:attrName>
                                        </p:attrNameLst>
                                      </p:cBhvr>
                                      <p:to>
                                        <p:strVal val="visible"/>
                                      </p:to>
                                    </p:set>
                                    <p:animEffect transition="in" filter="slide(fromLeft)">
                                      <p:cBhvr>
                                        <p:cTn id="42" dur="500"/>
                                        <p:tgtEl>
                                          <p:spTgt spid="592907"/>
                                        </p:tgtEl>
                                      </p:cBhvr>
                                    </p:animEffect>
                                  </p:childTnLst>
                                </p:cTn>
                              </p:par>
                            </p:childTnLst>
                          </p:cTn>
                        </p:par>
                        <p:par>
                          <p:cTn id="43" fill="hold" nodeType="afterGroup">
                            <p:stCondLst>
                              <p:cond delay="4000"/>
                            </p:stCondLst>
                            <p:childTnLst>
                              <p:par>
                                <p:cTn id="44" presetID="12" presetClass="entr" presetSubtype="4" fill="hold" nodeType="after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slide(fromBottom)">
                                      <p:cBhvr>
                                        <p:cTn id="46" dur="500"/>
                                        <p:tgtEl>
                                          <p:spTgt spid="2"/>
                                        </p:tgtEl>
                                      </p:cBhvr>
                                    </p:animEffect>
                                  </p:childTnLst>
                                </p:cTn>
                              </p:par>
                            </p:childTnLst>
                          </p:cTn>
                        </p:par>
                        <p:par>
                          <p:cTn id="47" fill="hold" nodeType="afterGroup">
                            <p:stCondLst>
                              <p:cond delay="4500"/>
                            </p:stCondLst>
                            <p:childTnLst>
                              <p:par>
                                <p:cTn id="48" presetID="12" presetClass="entr" presetSubtype="8" fill="hold" grpId="0" nodeType="afterEffect">
                                  <p:stCondLst>
                                    <p:cond delay="0"/>
                                  </p:stCondLst>
                                  <p:childTnLst>
                                    <p:set>
                                      <p:cBhvr>
                                        <p:cTn id="49" dur="1" fill="hold">
                                          <p:stCondLst>
                                            <p:cond delay="0"/>
                                          </p:stCondLst>
                                        </p:cTn>
                                        <p:tgtEl>
                                          <p:spTgt spid="592902"/>
                                        </p:tgtEl>
                                        <p:attrNameLst>
                                          <p:attrName>style.visibility</p:attrName>
                                        </p:attrNameLst>
                                      </p:cBhvr>
                                      <p:to>
                                        <p:strVal val="visible"/>
                                      </p:to>
                                    </p:set>
                                    <p:animEffect transition="in" filter="slide(fromLeft)">
                                      <p:cBhvr>
                                        <p:cTn id="50" dur="500"/>
                                        <p:tgtEl>
                                          <p:spTgt spid="592902"/>
                                        </p:tgtEl>
                                      </p:cBhvr>
                                    </p:animEffect>
                                  </p:childTnLst>
                                </p:cTn>
                              </p:par>
                            </p:childTnLst>
                          </p:cTn>
                        </p:par>
                        <p:par>
                          <p:cTn id="51" fill="hold" nodeType="afterGroup">
                            <p:stCondLst>
                              <p:cond delay="5000"/>
                            </p:stCondLst>
                            <p:childTnLst>
                              <p:par>
                                <p:cTn id="52" presetID="12" presetClass="entr" presetSubtype="4" fill="hold" grpId="0" nodeType="afterEffect">
                                  <p:stCondLst>
                                    <p:cond delay="0"/>
                                  </p:stCondLst>
                                  <p:childTnLst>
                                    <p:set>
                                      <p:cBhvr>
                                        <p:cTn id="53" dur="1" fill="hold">
                                          <p:stCondLst>
                                            <p:cond delay="0"/>
                                          </p:stCondLst>
                                        </p:cTn>
                                        <p:tgtEl>
                                          <p:spTgt spid="592908"/>
                                        </p:tgtEl>
                                        <p:attrNameLst>
                                          <p:attrName>style.visibility</p:attrName>
                                        </p:attrNameLst>
                                      </p:cBhvr>
                                      <p:to>
                                        <p:strVal val="visible"/>
                                      </p:to>
                                    </p:set>
                                    <p:animEffect transition="in" filter="slide(fromBottom)">
                                      <p:cBhvr>
                                        <p:cTn id="54" dur="500"/>
                                        <p:tgtEl>
                                          <p:spTgt spid="592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898" grpId="0" autoUpdateAnimBg="0"/>
      <p:bldP spid="592899" grpId="0" animBg="1" autoUpdateAnimBg="0"/>
      <p:bldP spid="592900" grpId="0" animBg="1" autoUpdateAnimBg="0"/>
      <p:bldP spid="592901" grpId="0" animBg="1" autoUpdateAnimBg="0"/>
      <p:bldP spid="592902" grpId="0" autoUpdateAnimBg="0"/>
      <p:bldP spid="592907" grpId="0" animBg="1"/>
      <p:bldP spid="592908" grpId="0" animBg="1" autoUpdateAnimBg="0"/>
      <p:bldP spid="592909" grpId="0" animBg="1" autoUpdateAnimBg="0"/>
      <p:bldP spid="592910" grpId="0" animBg="1" autoUpdateAnimBg="0"/>
      <p:bldP spid="592911"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EB12AE4-EEB5-452E-B416-AB7B90D21CEE}" type="slidenum">
              <a:rPr lang="en-US" altLang="zh-CN" sz="1400" b="0"/>
              <a:pPr eaLnBrk="1" hangingPunct="1"/>
              <a:t>83</a:t>
            </a:fld>
            <a:endParaRPr lang="en-US" altLang="zh-CN" sz="1400" b="0"/>
          </a:p>
        </p:txBody>
      </p:sp>
      <p:graphicFrame>
        <p:nvGraphicFramePr>
          <p:cNvPr id="594038" name="Group 118"/>
          <p:cNvGraphicFramePr>
            <a:graphicFrameLocks noGrp="1"/>
          </p:cNvGraphicFramePr>
          <p:nvPr/>
        </p:nvGraphicFramePr>
        <p:xfrm>
          <a:off x="323850" y="1773238"/>
          <a:ext cx="8569325" cy="4064001"/>
        </p:xfrm>
        <a:graphic>
          <a:graphicData uri="http://schemas.openxmlformats.org/drawingml/2006/table">
            <a:tbl>
              <a:tblPr/>
              <a:tblGrid>
                <a:gridCol w="1655763">
                  <a:extLst>
                    <a:ext uri="{9D8B030D-6E8A-4147-A177-3AD203B41FA5}">
                      <a16:colId xmlns:a16="http://schemas.microsoft.com/office/drawing/2014/main" val="20000"/>
                    </a:ext>
                  </a:extLst>
                </a:gridCol>
                <a:gridCol w="1655762">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gridCol w="3457575">
                  <a:extLst>
                    <a:ext uri="{9D8B030D-6E8A-4147-A177-3AD203B41FA5}">
                      <a16:colId xmlns:a16="http://schemas.microsoft.com/office/drawing/2014/main" val="20003"/>
                    </a:ext>
                  </a:extLst>
                </a:gridCol>
              </a:tblGrid>
              <a:tr h="5810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PLLNDIV</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PLLDIV</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PLLMUL</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乘系数</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0.25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10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PLLMUL</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或偶数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PLLMUL</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10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奇数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PLLMUL ÷4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6301" name="Rectangle 109"/>
          <p:cNvSpPr>
            <a:spLocks noChangeArrowheads="1"/>
          </p:cNvSpPr>
          <p:nvPr/>
        </p:nvSpPr>
        <p:spPr bwMode="auto">
          <a:xfrm>
            <a:off x="684213" y="1268413"/>
            <a:ext cx="904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表</a:t>
            </a:r>
            <a:r>
              <a:rPr lang="en-US" altLang="zh-CN"/>
              <a:t>2-10</a:t>
            </a:r>
          </a:p>
        </p:txBody>
      </p:sp>
      <p:sp>
        <p:nvSpPr>
          <p:cNvPr id="96302" name="Rectangle 110"/>
          <p:cNvSpPr>
            <a:spLocks noChangeArrowheads="1"/>
          </p:cNvSpPr>
          <p:nvPr/>
        </p:nvSpPr>
        <p:spPr bwMode="auto">
          <a:xfrm>
            <a:off x="3708400" y="1125538"/>
            <a:ext cx="17907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FF00FF"/>
                </a:solidFill>
              </a:rPr>
              <a:t>PLL</a:t>
            </a:r>
            <a:r>
              <a:rPr lang="zh-CN" altLang="en-US" sz="3200">
                <a:solidFill>
                  <a:srgbClr val="FF00FF"/>
                </a:solidFill>
              </a:rPr>
              <a:t>系数</a:t>
            </a:r>
          </a:p>
        </p:txBody>
      </p:sp>
    </p:spTree>
  </p:cSld>
  <p:clrMapOvr>
    <a:masterClrMapping/>
  </p:clrMapOvr>
  <p:transition spd="med">
    <p:pull dir="lu"/>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9A5A7E7-4630-40C2-AD1C-C05E66A161E6}" type="slidenum">
              <a:rPr lang="en-US" altLang="zh-CN" sz="1400" b="0"/>
              <a:pPr eaLnBrk="1" hangingPunct="1"/>
              <a:t>84</a:t>
            </a:fld>
            <a:endParaRPr lang="en-US" altLang="zh-CN" sz="1400" b="0"/>
          </a:p>
        </p:txBody>
      </p:sp>
      <p:graphicFrame>
        <p:nvGraphicFramePr>
          <p:cNvPr id="595223" name="Group 279"/>
          <p:cNvGraphicFramePr>
            <a:graphicFrameLocks noGrp="1"/>
          </p:cNvGraphicFramePr>
          <p:nvPr/>
        </p:nvGraphicFramePr>
        <p:xfrm>
          <a:off x="127000" y="1844675"/>
          <a:ext cx="8929688" cy="4583113"/>
        </p:xfrm>
        <a:graphic>
          <a:graphicData uri="http://schemas.openxmlformats.org/drawingml/2006/table">
            <a:tbl>
              <a:tblPr/>
              <a:tblGrid>
                <a:gridCol w="1512888">
                  <a:extLst>
                    <a:ext uri="{9D8B030D-6E8A-4147-A177-3AD203B41FA5}">
                      <a16:colId xmlns:a16="http://schemas.microsoft.com/office/drawing/2014/main" val="20000"/>
                    </a:ext>
                  </a:extLst>
                </a:gridCol>
                <a:gridCol w="1655762">
                  <a:extLst>
                    <a:ext uri="{9D8B030D-6E8A-4147-A177-3AD203B41FA5}">
                      <a16:colId xmlns:a16="http://schemas.microsoft.com/office/drawing/2014/main" val="20001"/>
                    </a:ext>
                  </a:extLst>
                </a:gridCol>
                <a:gridCol w="1584325">
                  <a:extLst>
                    <a:ext uri="{9D8B030D-6E8A-4147-A177-3AD203B41FA5}">
                      <a16:colId xmlns:a16="http://schemas.microsoft.com/office/drawing/2014/main" val="20002"/>
                    </a:ext>
                  </a:extLst>
                </a:gridCol>
                <a:gridCol w="1728788">
                  <a:extLst>
                    <a:ext uri="{9D8B030D-6E8A-4147-A177-3AD203B41FA5}">
                      <a16:colId xmlns:a16="http://schemas.microsoft.com/office/drawing/2014/main" val="20003"/>
                    </a:ext>
                  </a:extLst>
                </a:gridCol>
                <a:gridCol w="2447925">
                  <a:extLst>
                    <a:ext uri="{9D8B030D-6E8A-4147-A177-3AD203B41FA5}">
                      <a16:colId xmlns:a16="http://schemas.microsoft.com/office/drawing/2014/main" val="20004"/>
                    </a:ext>
                  </a:extLst>
                </a:gridCol>
              </a:tblGrid>
              <a:tr h="406400">
                <a:tc gridSpan="3">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引脚状态</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CLKMD</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寄存器复位值</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时钟方式</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831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CLKMD1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CLKMD2</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CLKMD3</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0000h</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工频</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1000h</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工频</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2000h</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工频</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4000h</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工频</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内振荡器</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6000h</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工频</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941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7000h</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工频</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内振荡器</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0007h</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工频</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外时钟</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停止方式</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97347" name="Rectangle 223"/>
          <p:cNvSpPr>
            <a:spLocks noChangeArrowheads="1"/>
          </p:cNvSpPr>
          <p:nvPr/>
        </p:nvSpPr>
        <p:spPr bwMode="auto">
          <a:xfrm>
            <a:off x="2484438" y="1125538"/>
            <a:ext cx="42640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00"/>
                </a:solidFill>
              </a:rPr>
              <a:t>复位时设置的时钟方式</a:t>
            </a:r>
          </a:p>
        </p:txBody>
      </p:sp>
      <p:sp>
        <p:nvSpPr>
          <p:cNvPr id="97348" name="Rectangle 224"/>
          <p:cNvSpPr>
            <a:spLocks noChangeArrowheads="1"/>
          </p:cNvSpPr>
          <p:nvPr/>
        </p:nvSpPr>
        <p:spPr bwMode="auto">
          <a:xfrm>
            <a:off x="468313" y="1341438"/>
            <a:ext cx="904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表</a:t>
            </a:r>
            <a:r>
              <a:rPr lang="en-US" altLang="zh-CN"/>
              <a:t>2-11</a:t>
            </a:r>
          </a:p>
        </p:txBody>
      </p:sp>
    </p:spTree>
  </p:cSld>
  <p:clrMapOvr>
    <a:masterClrMapping/>
  </p:clrMapOvr>
  <p:transition spd="med">
    <p:pull dir="lu"/>
  </p:transition>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bwMode="auto">
          <a:xfrm>
            <a:off x="2057400" y="1066800"/>
            <a:ext cx="44958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锁定定时器</a:t>
            </a:r>
            <a:r>
              <a:rPr lang="zh-CN" altLang="en-US" b="1"/>
              <a:t> </a:t>
            </a:r>
          </a:p>
        </p:txBody>
      </p:sp>
      <p:sp>
        <p:nvSpPr>
          <p:cNvPr id="98307" name="Rectangle 3"/>
          <p:cNvSpPr>
            <a:spLocks noGrp="1" noChangeArrowheads="1"/>
          </p:cNvSpPr>
          <p:nvPr>
            <p:ph idx="1"/>
          </p:nvPr>
        </p:nvSpPr>
        <p:spPr bwMode="auto">
          <a:xfrm>
            <a:off x="1981200" y="1981200"/>
            <a:ext cx="5029200" cy="1981200"/>
          </a:xfrm>
          <a:noFill/>
          <a:ln>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eaLnBrk="1" hangingPunct="1"/>
            <a:r>
              <a:rPr lang="zh-CN" altLang="en-US" sz="3600" b="1">
                <a:solidFill>
                  <a:srgbClr val="FF00FF"/>
                </a:solidFill>
                <a:latin typeface="宋体" panose="02010600030101010101" pitchFamily="2" charset="-122"/>
              </a:rPr>
              <a:t>工作方式 </a:t>
            </a:r>
          </a:p>
          <a:p>
            <a:pPr eaLnBrk="1" hangingPunct="1"/>
            <a:r>
              <a:rPr lang="zh-CN" altLang="en-US" sz="3600" b="1">
                <a:solidFill>
                  <a:srgbClr val="FF00FF"/>
                </a:solidFill>
                <a:latin typeface="宋体" panose="02010600030101010101" pitchFamily="2" charset="-122"/>
              </a:rPr>
              <a:t>锁定延时时间的设定 </a:t>
            </a:r>
          </a:p>
          <a:p>
            <a:pPr eaLnBrk="1" hangingPunct="1"/>
            <a:r>
              <a:rPr lang="en-US" altLang="zh-CN" sz="3600" b="1">
                <a:solidFill>
                  <a:srgbClr val="FF00FF"/>
                </a:solidFill>
                <a:latin typeface="宋体" panose="02010600030101010101" pitchFamily="2" charset="-122"/>
              </a:rPr>
              <a:t>PLLCOUNT</a:t>
            </a:r>
            <a:r>
              <a:rPr lang="zh-CN" altLang="en-US" sz="3600" b="1">
                <a:solidFill>
                  <a:srgbClr val="FF00FF"/>
                </a:solidFill>
                <a:latin typeface="宋体" panose="02010600030101010101" pitchFamily="2" charset="-122"/>
              </a:rPr>
              <a:t>的数值设定</a:t>
            </a:r>
          </a:p>
        </p:txBody>
      </p:sp>
      <p:sp>
        <p:nvSpPr>
          <p:cNvPr id="9830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6B8F194C-4936-4F4F-A662-DDA47EBEC314}" type="slidenum">
              <a:rPr lang="en-US" altLang="zh-CN" sz="1400" b="0"/>
              <a:pPr eaLnBrk="1" hangingPunct="1"/>
              <a:t>85</a:t>
            </a:fld>
            <a:endParaRPr lang="en-US" altLang="zh-CN" sz="1400" b="0"/>
          </a:p>
        </p:txBody>
      </p:sp>
      <p:sp>
        <p:nvSpPr>
          <p:cNvPr id="595972" name="Rectangle 4"/>
          <p:cNvSpPr>
            <a:spLocks noChangeArrowheads="1"/>
          </p:cNvSpPr>
          <p:nvPr/>
        </p:nvSpPr>
        <p:spPr bwMode="auto">
          <a:xfrm>
            <a:off x="528638" y="4621213"/>
            <a:ext cx="2022475" cy="1200150"/>
          </a:xfrm>
          <a:prstGeom prst="rect">
            <a:avLst/>
          </a:prstGeom>
          <a:solidFill>
            <a:schemeClr val="accent2"/>
          </a:solidFill>
          <a:ln w="9525">
            <a:solidFill>
              <a:srgbClr val="FF00FF"/>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600">
                <a:latin typeface="宋体" panose="02010600030101010101" pitchFamily="2" charset="-122"/>
              </a:rPr>
              <a:t>DIV</a:t>
            </a:r>
          </a:p>
          <a:p>
            <a:pPr algn="ctr" eaLnBrk="1" hangingPunct="1"/>
            <a:r>
              <a:rPr lang="zh-CN" altLang="en-US" sz="3600">
                <a:latin typeface="宋体" panose="02010600030101010101" pitchFamily="2" charset="-122"/>
              </a:rPr>
              <a:t>工作方式</a:t>
            </a:r>
          </a:p>
        </p:txBody>
      </p:sp>
      <p:sp>
        <p:nvSpPr>
          <p:cNvPr id="595973" name="Rectangle 5"/>
          <p:cNvSpPr>
            <a:spLocks noChangeArrowheads="1"/>
          </p:cNvSpPr>
          <p:nvPr/>
        </p:nvSpPr>
        <p:spPr bwMode="auto">
          <a:xfrm>
            <a:off x="2965450" y="5181600"/>
            <a:ext cx="31686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latin typeface="宋体" panose="02010600030101010101" pitchFamily="2" charset="-122"/>
              </a:rPr>
              <a:t>时钟发生器</a:t>
            </a:r>
          </a:p>
          <a:p>
            <a:pPr algn="ctr" eaLnBrk="1" hangingPunct="1"/>
            <a:r>
              <a:rPr lang="zh-CN" altLang="en-US" sz="3600">
                <a:latin typeface="宋体" panose="02010600030101010101" pitchFamily="2" charset="-122"/>
              </a:rPr>
              <a:t>按</a:t>
            </a:r>
            <a:r>
              <a:rPr lang="en-US" altLang="zh-CN" sz="3600">
                <a:latin typeface="宋体" panose="02010600030101010101" pitchFamily="2" charset="-122"/>
              </a:rPr>
              <a:t>DIV</a:t>
            </a:r>
            <a:r>
              <a:rPr lang="zh-CN" altLang="en-US" sz="3600">
                <a:latin typeface="宋体" panose="02010600030101010101" pitchFamily="2" charset="-122"/>
              </a:rPr>
              <a:t>方式工作</a:t>
            </a:r>
          </a:p>
        </p:txBody>
      </p:sp>
      <p:sp>
        <p:nvSpPr>
          <p:cNvPr id="595974" name="Rectangle 6"/>
          <p:cNvSpPr>
            <a:spLocks noChangeArrowheads="1"/>
          </p:cNvSpPr>
          <p:nvPr/>
        </p:nvSpPr>
        <p:spPr bwMode="auto">
          <a:xfrm>
            <a:off x="6443663" y="4508500"/>
            <a:ext cx="2089150" cy="1254125"/>
          </a:xfrm>
          <a:prstGeom prst="rect">
            <a:avLst/>
          </a:prstGeom>
          <a:solidFill>
            <a:schemeClr val="hlink"/>
          </a:solidFill>
          <a:ln w="9525">
            <a:solidFill>
              <a:schemeClr val="fo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5000"/>
              </a:lnSpc>
              <a:spcBef>
                <a:spcPct val="40000"/>
              </a:spcBef>
            </a:pPr>
            <a:r>
              <a:rPr lang="en-US" altLang="zh-CN" sz="3600">
                <a:solidFill>
                  <a:srgbClr val="FF0000"/>
                </a:solidFill>
                <a:latin typeface="宋体" panose="02010600030101010101" pitchFamily="2" charset="-122"/>
              </a:rPr>
              <a:t>PLL</a:t>
            </a:r>
          </a:p>
          <a:p>
            <a:pPr algn="ctr" eaLnBrk="1" hangingPunct="1">
              <a:lnSpc>
                <a:spcPct val="85000"/>
              </a:lnSpc>
              <a:spcBef>
                <a:spcPct val="40000"/>
              </a:spcBef>
            </a:pPr>
            <a:r>
              <a:rPr lang="zh-CN" altLang="en-US" sz="3600">
                <a:solidFill>
                  <a:srgbClr val="FF0000"/>
                </a:solidFill>
                <a:latin typeface="宋体" panose="02010600030101010101" pitchFamily="2" charset="-122"/>
              </a:rPr>
              <a:t>工作方式</a:t>
            </a:r>
            <a:endParaRPr lang="zh-CN" altLang="en-US" sz="3600">
              <a:solidFill>
                <a:srgbClr val="FF0000"/>
              </a:solidFill>
              <a:latin typeface="宋体" panose="02010600030101010101" pitchFamily="2" charset="-122"/>
              <a:cs typeface="Arial" panose="020B0604020202020204" pitchFamily="34" charset="0"/>
            </a:endParaRPr>
          </a:p>
        </p:txBody>
      </p:sp>
      <p:sp>
        <p:nvSpPr>
          <p:cNvPr id="595975" name="Rectangle 7"/>
          <p:cNvSpPr>
            <a:spLocks noChangeArrowheads="1"/>
          </p:cNvSpPr>
          <p:nvPr/>
        </p:nvSpPr>
        <p:spPr bwMode="auto">
          <a:xfrm>
            <a:off x="2819400" y="4419600"/>
            <a:ext cx="3395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latin typeface="宋体" panose="02010600030101010101" pitchFamily="2" charset="-122"/>
              </a:rPr>
              <a:t>锁定定时器工作</a:t>
            </a:r>
          </a:p>
        </p:txBody>
      </p:sp>
      <p:sp>
        <p:nvSpPr>
          <p:cNvPr id="595976" name="Line 8"/>
          <p:cNvSpPr>
            <a:spLocks noChangeShapeType="1"/>
          </p:cNvSpPr>
          <p:nvPr/>
        </p:nvSpPr>
        <p:spPr bwMode="auto">
          <a:xfrm>
            <a:off x="2667000" y="5105400"/>
            <a:ext cx="3505200" cy="0"/>
          </a:xfrm>
          <a:prstGeom prst="line">
            <a:avLst/>
          </a:prstGeom>
          <a:noFill/>
          <a:ln w="7620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5977" name="AutoShape 9" descr="小棋盘"/>
          <p:cNvSpPr>
            <a:spLocks noChangeArrowheads="1"/>
          </p:cNvSpPr>
          <p:nvPr/>
        </p:nvSpPr>
        <p:spPr bwMode="auto">
          <a:xfrm>
            <a:off x="6877050" y="1557338"/>
            <a:ext cx="1728788" cy="1079500"/>
          </a:xfrm>
          <a:prstGeom prst="wedgeRoundRectCallout">
            <a:avLst>
              <a:gd name="adj1" fmla="val -172222"/>
              <a:gd name="adj2" fmla="val 26764"/>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009900"/>
                </a:solidFill>
              </a:rPr>
              <a:t>通过减计数来延时</a:t>
            </a:r>
          </a:p>
        </p:txBody>
      </p:sp>
      <p:sp>
        <p:nvSpPr>
          <p:cNvPr id="98315" name="Rectangle 10"/>
          <p:cNvSpPr>
            <a:spLocks noChangeArrowheads="1"/>
          </p:cNvSpPr>
          <p:nvPr/>
        </p:nvSpPr>
        <p:spPr bwMode="auto">
          <a:xfrm>
            <a:off x="7019925" y="6021388"/>
            <a:ext cx="89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6600"/>
                </a:solidFill>
                <a:latin typeface="宋体" panose="02010600030101010101" pitchFamily="2" charset="-122"/>
              </a:rPr>
              <a:t>结束</a:t>
            </a:r>
          </a:p>
        </p:txBody>
      </p:sp>
      <p:sp>
        <p:nvSpPr>
          <p:cNvPr id="98316" name="Rectangle 11"/>
          <p:cNvSpPr>
            <a:spLocks noChangeArrowheads="1"/>
          </p:cNvSpPr>
          <p:nvPr/>
        </p:nvSpPr>
        <p:spPr bwMode="auto">
          <a:xfrm>
            <a:off x="1042988" y="6021388"/>
            <a:ext cx="89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6600"/>
                </a:solidFill>
                <a:latin typeface="宋体" panose="02010600030101010101" pitchFamily="2" charset="-122"/>
              </a:rPr>
              <a:t>开始</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95970"/>
                                        </p:tgtEl>
                                        <p:attrNameLst>
                                          <p:attrName>style.visibility</p:attrName>
                                        </p:attrNameLst>
                                      </p:cBhvr>
                                      <p:to>
                                        <p:strVal val="visible"/>
                                      </p:to>
                                    </p:set>
                                    <p:anim calcmode="lin" valueType="num">
                                      <p:cBhvr additive="base">
                                        <p:cTn id="7" dur="500" fill="hold"/>
                                        <p:tgtEl>
                                          <p:spTgt spid="595970"/>
                                        </p:tgtEl>
                                        <p:attrNameLst>
                                          <p:attrName>ppt_x</p:attrName>
                                        </p:attrNameLst>
                                      </p:cBhvr>
                                      <p:tavLst>
                                        <p:tav tm="0">
                                          <p:val>
                                            <p:strVal val="1+#ppt_w/2"/>
                                          </p:val>
                                        </p:tav>
                                        <p:tav tm="100000">
                                          <p:val>
                                            <p:strVal val="#ppt_x"/>
                                          </p:val>
                                        </p:tav>
                                      </p:tavLst>
                                    </p:anim>
                                    <p:anim calcmode="lin" valueType="num">
                                      <p:cBhvr additive="base">
                                        <p:cTn id="8" dur="500" fill="hold"/>
                                        <p:tgtEl>
                                          <p:spTgt spid="59597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95972"/>
                                        </p:tgtEl>
                                        <p:attrNameLst>
                                          <p:attrName>style.visibility</p:attrName>
                                        </p:attrNameLst>
                                      </p:cBhvr>
                                      <p:to>
                                        <p:strVal val="visible"/>
                                      </p:to>
                                    </p:set>
                                    <p:anim calcmode="lin" valueType="num">
                                      <p:cBhvr additive="base">
                                        <p:cTn id="12" dur="500" fill="hold"/>
                                        <p:tgtEl>
                                          <p:spTgt spid="595972"/>
                                        </p:tgtEl>
                                        <p:attrNameLst>
                                          <p:attrName>ppt_x</p:attrName>
                                        </p:attrNameLst>
                                      </p:cBhvr>
                                      <p:tavLst>
                                        <p:tav tm="0">
                                          <p:val>
                                            <p:strVal val="#ppt_x"/>
                                          </p:val>
                                        </p:tav>
                                        <p:tav tm="100000">
                                          <p:val>
                                            <p:strVal val="#ppt_x"/>
                                          </p:val>
                                        </p:tav>
                                      </p:tavLst>
                                    </p:anim>
                                    <p:anim calcmode="lin" valueType="num">
                                      <p:cBhvr additive="base">
                                        <p:cTn id="13" dur="500" fill="hold"/>
                                        <p:tgtEl>
                                          <p:spTgt spid="595972"/>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595976"/>
                                        </p:tgtEl>
                                        <p:attrNameLst>
                                          <p:attrName>style.visibility</p:attrName>
                                        </p:attrNameLst>
                                      </p:cBhvr>
                                      <p:to>
                                        <p:strVal val="visible"/>
                                      </p:to>
                                    </p:set>
                                    <p:animEffect transition="in" filter="slide(fromLeft)">
                                      <p:cBhvr>
                                        <p:cTn id="17" dur="500"/>
                                        <p:tgtEl>
                                          <p:spTgt spid="595976"/>
                                        </p:tgtEl>
                                      </p:cBhvr>
                                    </p:animEffect>
                                  </p:childTnLst>
                                </p:cTn>
                              </p:par>
                            </p:childTnLst>
                          </p:cTn>
                        </p:par>
                        <p:par>
                          <p:cTn id="18" fill="hold" nodeType="afterGroup">
                            <p:stCondLst>
                              <p:cond delay="1500"/>
                            </p:stCondLst>
                            <p:childTnLst>
                              <p:par>
                                <p:cTn id="19" presetID="12" presetClass="entr" presetSubtype="8" fill="hold" grpId="0" nodeType="afterEffect">
                                  <p:stCondLst>
                                    <p:cond delay="0"/>
                                  </p:stCondLst>
                                  <p:childTnLst>
                                    <p:set>
                                      <p:cBhvr>
                                        <p:cTn id="20" dur="1" fill="hold">
                                          <p:stCondLst>
                                            <p:cond delay="0"/>
                                          </p:stCondLst>
                                        </p:cTn>
                                        <p:tgtEl>
                                          <p:spTgt spid="595975"/>
                                        </p:tgtEl>
                                        <p:attrNameLst>
                                          <p:attrName>style.visibility</p:attrName>
                                        </p:attrNameLst>
                                      </p:cBhvr>
                                      <p:to>
                                        <p:strVal val="visible"/>
                                      </p:to>
                                    </p:set>
                                    <p:animEffect transition="in" filter="slide(fromLeft)">
                                      <p:cBhvr>
                                        <p:cTn id="21" dur="500"/>
                                        <p:tgtEl>
                                          <p:spTgt spid="595975"/>
                                        </p:tgtEl>
                                      </p:cBhvr>
                                    </p:animEffect>
                                  </p:childTnLst>
                                </p:cTn>
                              </p:par>
                            </p:childTnLst>
                          </p:cTn>
                        </p:par>
                        <p:par>
                          <p:cTn id="22" fill="hold" nodeType="afterGroup">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595973"/>
                                        </p:tgtEl>
                                        <p:attrNameLst>
                                          <p:attrName>style.visibility</p:attrName>
                                        </p:attrNameLst>
                                      </p:cBhvr>
                                      <p:to>
                                        <p:strVal val="visible"/>
                                      </p:to>
                                    </p:set>
                                    <p:animEffect transition="in" filter="slide(fromLeft)">
                                      <p:cBhvr>
                                        <p:cTn id="25" dur="500"/>
                                        <p:tgtEl>
                                          <p:spTgt spid="595973"/>
                                        </p:tgtEl>
                                      </p:cBhvr>
                                    </p:animEffect>
                                  </p:childTnLst>
                                </p:cTn>
                              </p:par>
                            </p:childTnLst>
                          </p:cTn>
                        </p:par>
                        <p:par>
                          <p:cTn id="26" fill="hold" nodeType="afterGroup">
                            <p:stCondLst>
                              <p:cond delay="2500"/>
                            </p:stCondLst>
                            <p:childTnLst>
                              <p:par>
                                <p:cTn id="27" presetID="2" presetClass="entr" presetSubtype="4" fill="hold" grpId="0" nodeType="afterEffect">
                                  <p:stCondLst>
                                    <p:cond delay="0"/>
                                  </p:stCondLst>
                                  <p:childTnLst>
                                    <p:set>
                                      <p:cBhvr>
                                        <p:cTn id="28" dur="1" fill="hold">
                                          <p:stCondLst>
                                            <p:cond delay="0"/>
                                          </p:stCondLst>
                                        </p:cTn>
                                        <p:tgtEl>
                                          <p:spTgt spid="595974"/>
                                        </p:tgtEl>
                                        <p:attrNameLst>
                                          <p:attrName>style.visibility</p:attrName>
                                        </p:attrNameLst>
                                      </p:cBhvr>
                                      <p:to>
                                        <p:strVal val="visible"/>
                                      </p:to>
                                    </p:set>
                                    <p:anim calcmode="lin" valueType="num">
                                      <p:cBhvr additive="base">
                                        <p:cTn id="29" dur="500" fill="hold"/>
                                        <p:tgtEl>
                                          <p:spTgt spid="595974"/>
                                        </p:tgtEl>
                                        <p:attrNameLst>
                                          <p:attrName>ppt_x</p:attrName>
                                        </p:attrNameLst>
                                      </p:cBhvr>
                                      <p:tavLst>
                                        <p:tav tm="0">
                                          <p:val>
                                            <p:strVal val="#ppt_x"/>
                                          </p:val>
                                        </p:tav>
                                        <p:tav tm="100000">
                                          <p:val>
                                            <p:strVal val="#ppt_x"/>
                                          </p:val>
                                        </p:tav>
                                      </p:tavLst>
                                    </p:anim>
                                    <p:anim calcmode="lin" valueType="num">
                                      <p:cBhvr additive="base">
                                        <p:cTn id="30" dur="500" fill="hold"/>
                                        <p:tgtEl>
                                          <p:spTgt spid="595974"/>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3000"/>
                            </p:stCondLst>
                            <p:childTnLst>
                              <p:par>
                                <p:cTn id="32" presetID="2" presetClass="entr" presetSubtype="2" fill="hold" grpId="0" nodeType="afterEffect">
                                  <p:stCondLst>
                                    <p:cond delay="0"/>
                                  </p:stCondLst>
                                  <p:childTnLst>
                                    <p:set>
                                      <p:cBhvr>
                                        <p:cTn id="33" dur="1" fill="hold">
                                          <p:stCondLst>
                                            <p:cond delay="0"/>
                                          </p:stCondLst>
                                        </p:cTn>
                                        <p:tgtEl>
                                          <p:spTgt spid="595977"/>
                                        </p:tgtEl>
                                        <p:attrNameLst>
                                          <p:attrName>style.visibility</p:attrName>
                                        </p:attrNameLst>
                                      </p:cBhvr>
                                      <p:to>
                                        <p:strVal val="visible"/>
                                      </p:to>
                                    </p:set>
                                    <p:anim calcmode="lin" valueType="num">
                                      <p:cBhvr additive="base">
                                        <p:cTn id="34" dur="500" fill="hold"/>
                                        <p:tgtEl>
                                          <p:spTgt spid="595977"/>
                                        </p:tgtEl>
                                        <p:attrNameLst>
                                          <p:attrName>ppt_x</p:attrName>
                                        </p:attrNameLst>
                                      </p:cBhvr>
                                      <p:tavLst>
                                        <p:tav tm="0">
                                          <p:val>
                                            <p:strVal val="1+#ppt_w/2"/>
                                          </p:val>
                                        </p:tav>
                                        <p:tav tm="100000">
                                          <p:val>
                                            <p:strVal val="#ppt_x"/>
                                          </p:val>
                                        </p:tav>
                                      </p:tavLst>
                                    </p:anim>
                                    <p:anim calcmode="lin" valueType="num">
                                      <p:cBhvr additive="base">
                                        <p:cTn id="35" dur="500" fill="hold"/>
                                        <p:tgtEl>
                                          <p:spTgt spid="5959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0" grpId="0" autoUpdateAnimBg="0"/>
      <p:bldP spid="595972" grpId="0" animBg="1" autoUpdateAnimBg="0"/>
      <p:bldP spid="595973" grpId="0" autoUpdateAnimBg="0"/>
      <p:bldP spid="595974" grpId="0" animBg="1" autoUpdateAnimBg="0"/>
      <p:bldP spid="595975" grpId="0" autoUpdateAnimBg="0"/>
      <p:bldP spid="595976" grpId="0" animBg="1"/>
      <p:bldP spid="595977" grpId="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AC4E08F-5441-4F6E-8368-ED36BED68FF3}" type="slidenum">
              <a:rPr lang="en-US" altLang="zh-CN" sz="1400" b="0"/>
              <a:pPr eaLnBrk="1" hangingPunct="1"/>
              <a:t>86</a:t>
            </a:fld>
            <a:endParaRPr lang="en-US" altLang="zh-CN" sz="1400" b="0"/>
          </a:p>
        </p:txBody>
      </p:sp>
      <p:sp>
        <p:nvSpPr>
          <p:cNvPr id="99331" name="Rectangle 2"/>
          <p:cNvSpPr>
            <a:spLocks noChangeArrowheads="1"/>
          </p:cNvSpPr>
          <p:nvPr/>
        </p:nvSpPr>
        <p:spPr bwMode="auto">
          <a:xfrm>
            <a:off x="503238" y="1520825"/>
            <a:ext cx="8135937"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762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zh-CN" altLang="en-US" sz="2800">
                <a:solidFill>
                  <a:srgbClr val="FF00FF"/>
                </a:solidFill>
              </a:rPr>
              <a:t>在</a:t>
            </a:r>
            <a:r>
              <a:rPr lang="en-US" altLang="zh-CN" sz="2800">
                <a:solidFill>
                  <a:srgbClr val="FF00FF"/>
                </a:solidFill>
              </a:rPr>
              <a:t>PLL</a:t>
            </a:r>
            <a:r>
              <a:rPr lang="zh-CN" altLang="en-US" sz="2800">
                <a:solidFill>
                  <a:srgbClr val="FF00FF"/>
                </a:solidFill>
              </a:rPr>
              <a:t>锁定之前，</a:t>
            </a:r>
            <a:r>
              <a:rPr lang="en-US" altLang="zh-CN" sz="2800">
                <a:solidFill>
                  <a:srgbClr val="FF00FF"/>
                </a:solidFill>
              </a:rPr>
              <a:t>CLKOUT</a:t>
            </a:r>
            <a:r>
              <a:rPr lang="zh-CN" altLang="en-US" sz="2800">
                <a:solidFill>
                  <a:srgbClr val="FF00FF"/>
                </a:solidFill>
              </a:rPr>
              <a:t>是不能用作</a:t>
            </a:r>
            <a:r>
              <a:rPr lang="en-US" altLang="zh-CN" sz="2800">
                <a:solidFill>
                  <a:srgbClr val="FF00FF"/>
                </a:solidFill>
              </a:rPr>
              <a:t>C54x</a:t>
            </a:r>
            <a:r>
              <a:rPr lang="zh-CN" altLang="en-US" sz="2800">
                <a:solidFill>
                  <a:srgbClr val="FF00FF"/>
                </a:solidFill>
              </a:rPr>
              <a:t>时钟的。</a:t>
            </a:r>
          </a:p>
          <a:p>
            <a:pPr eaLnBrk="1" hangingPunct="1">
              <a:lnSpc>
                <a:spcPct val="90000"/>
              </a:lnSpc>
              <a:spcBef>
                <a:spcPct val="50000"/>
              </a:spcBef>
            </a:pPr>
            <a:r>
              <a:rPr lang="zh-CN" altLang="en-US" sz="2800">
                <a:solidFill>
                  <a:srgbClr val="FF00FF"/>
                </a:solidFill>
              </a:rPr>
              <a:t>为此，通过对</a:t>
            </a:r>
            <a:r>
              <a:rPr lang="en-US" altLang="zh-CN" sz="2800">
                <a:solidFill>
                  <a:srgbClr val="FF00FF"/>
                </a:solidFill>
              </a:rPr>
              <a:t>CLKMD</a:t>
            </a:r>
            <a:r>
              <a:rPr lang="zh-CN" altLang="en-US" sz="2800">
                <a:solidFill>
                  <a:srgbClr val="FF00FF"/>
                </a:solidFill>
              </a:rPr>
              <a:t>寄存器中的</a:t>
            </a:r>
            <a:r>
              <a:rPr lang="en-US" altLang="zh-CN" sz="2800">
                <a:solidFill>
                  <a:srgbClr val="FF00FF"/>
                </a:solidFill>
              </a:rPr>
              <a:t>PLLCOUNT</a:t>
            </a:r>
            <a:r>
              <a:rPr lang="zh-CN" altLang="en-US" sz="2800">
                <a:solidFill>
                  <a:srgbClr val="FF00FF"/>
                </a:solidFill>
              </a:rPr>
              <a:t>位编程，就可以很方便地自动延迟定时，直到</a:t>
            </a:r>
            <a:r>
              <a:rPr lang="en-US" altLang="zh-CN" sz="2800">
                <a:solidFill>
                  <a:srgbClr val="FF00FF"/>
                </a:solidFill>
              </a:rPr>
              <a:t>PLL</a:t>
            </a:r>
            <a:r>
              <a:rPr lang="zh-CN" altLang="en-US" sz="2800">
                <a:solidFill>
                  <a:srgbClr val="FF00FF"/>
                </a:solidFill>
              </a:rPr>
              <a:t>锁定为止。</a:t>
            </a:r>
          </a:p>
          <a:p>
            <a:pPr eaLnBrk="1" hangingPunct="1">
              <a:lnSpc>
                <a:spcPct val="90000"/>
              </a:lnSpc>
              <a:spcBef>
                <a:spcPct val="50000"/>
              </a:spcBef>
            </a:pPr>
            <a:r>
              <a:rPr lang="zh-CN" altLang="en-US" sz="2800"/>
              <a:t>这主要靠</a:t>
            </a:r>
            <a:r>
              <a:rPr lang="en-US" altLang="zh-CN" sz="2800"/>
              <a:t>PLL</a:t>
            </a:r>
            <a:r>
              <a:rPr lang="zh-CN" altLang="en-US" sz="2800"/>
              <a:t>中的锁定定时器，</a:t>
            </a:r>
            <a:r>
              <a:rPr lang="en-US" altLang="zh-CN" sz="2800"/>
              <a:t>PLLCOUNT</a:t>
            </a:r>
            <a:r>
              <a:rPr lang="zh-CN" altLang="en-US" sz="2800"/>
              <a:t>的数值（</a:t>
            </a:r>
            <a:r>
              <a:rPr lang="en-US" altLang="zh-CN" sz="2800"/>
              <a:t>0~255</a:t>
            </a:r>
            <a:r>
              <a:rPr lang="zh-CN" altLang="en-US" sz="2800"/>
              <a:t>）加载给锁定定时器后，每来</a:t>
            </a:r>
            <a:r>
              <a:rPr lang="en-US" altLang="zh-CN" sz="2800"/>
              <a:t>16</a:t>
            </a:r>
            <a:r>
              <a:rPr lang="zh-CN" altLang="en-US" sz="2800"/>
              <a:t>个输入时钟</a:t>
            </a:r>
            <a:r>
              <a:rPr lang="en-US" altLang="zh-CN" sz="2800"/>
              <a:t>CLKIN</a:t>
            </a:r>
            <a:r>
              <a:rPr lang="zh-CN" altLang="en-US" sz="2800"/>
              <a:t>，它就减</a:t>
            </a:r>
            <a:r>
              <a:rPr lang="en-US" altLang="zh-CN" sz="2800"/>
              <a:t>1</a:t>
            </a:r>
            <a:r>
              <a:rPr lang="zh-CN" altLang="en-US" sz="2800"/>
              <a:t>，一直减到</a:t>
            </a:r>
            <a:r>
              <a:rPr lang="en-US" altLang="zh-CN" sz="2800"/>
              <a:t>0</a:t>
            </a:r>
            <a:r>
              <a:rPr lang="zh-CN" altLang="en-US" sz="2800"/>
              <a:t>为止。</a:t>
            </a:r>
          </a:p>
          <a:p>
            <a:pPr eaLnBrk="1" hangingPunct="1">
              <a:lnSpc>
                <a:spcPct val="90000"/>
              </a:lnSpc>
              <a:spcBef>
                <a:spcPct val="50000"/>
              </a:spcBef>
            </a:pPr>
            <a:r>
              <a:rPr lang="zh-CN" altLang="en-US" sz="2800"/>
              <a:t>因此，锁定延时时间的设定可以从</a:t>
            </a:r>
            <a:r>
              <a:rPr lang="en-US" altLang="zh-CN" sz="2800"/>
              <a:t>0~</a:t>
            </a:r>
            <a:r>
              <a:rPr lang="zh-CN" altLang="en-US" sz="2800"/>
              <a:t>（</a:t>
            </a:r>
            <a:r>
              <a:rPr lang="en-US" altLang="zh-CN" sz="2800"/>
              <a:t>255×16×CLKIN</a:t>
            </a:r>
            <a:r>
              <a:rPr lang="zh-CN" altLang="en-US" sz="2800"/>
              <a:t>）周期。</a:t>
            </a:r>
            <a:r>
              <a:rPr lang="en-US" altLang="zh-CN" sz="2800"/>
              <a:t>PLL</a:t>
            </a:r>
            <a:r>
              <a:rPr lang="zh-CN" altLang="en-US" sz="2800"/>
              <a:t>锁定时间会随</a:t>
            </a:r>
            <a:r>
              <a:rPr lang="en-US" altLang="zh-CN" sz="2800"/>
              <a:t>CLKOUT</a:t>
            </a:r>
            <a:r>
              <a:rPr lang="zh-CN" altLang="en-US" sz="2800"/>
              <a:t>的增加而线性增加。</a:t>
            </a:r>
          </a:p>
        </p:txBody>
      </p:sp>
    </p:spTree>
  </p:cSld>
  <p:clrMapOvr>
    <a:masterClrMapping/>
  </p:clrMapOvr>
  <p:transition spd="med">
    <p:pull dir="lu"/>
  </p:transition>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8018" name="Rectangle 2"/>
          <p:cNvSpPr>
            <a:spLocks noGrp="1" noChangeArrowheads="1"/>
          </p:cNvSpPr>
          <p:nvPr>
            <p:ph type="title"/>
          </p:nvPr>
        </p:nvSpPr>
        <p:spPr bwMode="auto">
          <a:xfrm>
            <a:off x="2781300" y="1143000"/>
            <a:ext cx="35433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设计举例</a:t>
            </a:r>
            <a:r>
              <a:rPr lang="zh-CN" altLang="en-US" b="1"/>
              <a:t> </a:t>
            </a:r>
          </a:p>
        </p:txBody>
      </p:sp>
      <p:sp>
        <p:nvSpPr>
          <p:cNvPr id="100355" name="Rectangle 3"/>
          <p:cNvSpPr>
            <a:spLocks noGrp="1" noChangeArrowheads="1"/>
          </p:cNvSpPr>
          <p:nvPr>
            <p:ph idx="1"/>
          </p:nvPr>
        </p:nvSpPr>
        <p:spPr bwMode="auto">
          <a:xfrm>
            <a:off x="228600" y="1981200"/>
            <a:ext cx="85344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r>
              <a:rPr lang="zh-CN" altLang="en-US" b="1">
                <a:latin typeface="宋体" panose="02010600030101010101" pitchFamily="2" charset="-122"/>
              </a:rPr>
              <a:t>如果要从</a:t>
            </a:r>
            <a:r>
              <a:rPr lang="en-US" altLang="zh-CN" b="1">
                <a:latin typeface="宋体" panose="02010600030101010101" pitchFamily="2" charset="-122"/>
              </a:rPr>
              <a:t>DIV</a:t>
            </a:r>
            <a:r>
              <a:rPr lang="zh-CN" altLang="en-US" b="1">
                <a:latin typeface="宋体" panose="02010600030101010101" pitchFamily="2" charset="-122"/>
              </a:rPr>
              <a:t>方式转到</a:t>
            </a:r>
            <a:r>
              <a:rPr lang="en-US" altLang="zh-CN" b="1">
                <a:latin typeface="宋体" panose="02010600030101010101" pitchFamily="2" charset="-122"/>
              </a:rPr>
              <a:t>PLL×3</a:t>
            </a:r>
            <a:r>
              <a:rPr lang="zh-CN" altLang="en-US" b="1">
                <a:latin typeface="宋体" panose="02010600030101010101" pitchFamily="2" charset="-122"/>
              </a:rPr>
              <a:t>方式，已知</a:t>
            </a:r>
            <a:r>
              <a:rPr lang="en-US" altLang="zh-CN" b="1">
                <a:latin typeface="宋体" panose="02010600030101010101" pitchFamily="2" charset="-122"/>
              </a:rPr>
              <a:t>CLKIN</a:t>
            </a:r>
            <a:r>
              <a:rPr lang="zh-CN" altLang="en-US" b="1">
                <a:latin typeface="宋体" panose="02010600030101010101" pitchFamily="2" charset="-122"/>
              </a:rPr>
              <a:t>的频率为</a:t>
            </a:r>
            <a:r>
              <a:rPr lang="en-US" altLang="zh-CN" b="1">
                <a:latin typeface="宋体" panose="02010600030101010101" pitchFamily="2" charset="-122"/>
              </a:rPr>
              <a:t>13MHz</a:t>
            </a:r>
            <a:r>
              <a:rPr lang="zh-CN" altLang="en-US" b="1">
                <a:latin typeface="宋体" panose="02010600030101010101" pitchFamily="2" charset="-122"/>
              </a:rPr>
              <a:t>，</a:t>
            </a:r>
            <a:r>
              <a:rPr lang="en-US" altLang="zh-CN" b="1">
                <a:latin typeface="宋体" panose="02010600030101010101" pitchFamily="2" charset="-122"/>
              </a:rPr>
              <a:t>PLLCOUNT=41</a:t>
            </a:r>
            <a:r>
              <a:rPr lang="zh-CN" altLang="en-US" b="1">
                <a:latin typeface="宋体" panose="02010600030101010101" pitchFamily="2" charset="-122"/>
              </a:rPr>
              <a:t>（十进制数），只要在程序中加入如下指令即可：</a:t>
            </a:r>
            <a:endParaRPr lang="zh-CN" altLang="en-US" b="1">
              <a:latin typeface="Arial" panose="020B0604020202020204" pitchFamily="34" charset="0"/>
              <a:cs typeface="Arial" panose="020B0604020202020204" pitchFamily="34" charset="0"/>
            </a:endParaRPr>
          </a:p>
          <a:p>
            <a:pPr algn="just" eaLnBrk="1" hangingPunct="1"/>
            <a:r>
              <a:rPr lang="en-US" altLang="zh-CN" b="1">
                <a:latin typeface="宋体" panose="02010600030101010101" pitchFamily="2" charset="-122"/>
              </a:rPr>
              <a:t>STM #</a:t>
            </a:r>
            <a:r>
              <a:rPr lang="en-US" altLang="zh-CN" b="1">
                <a:solidFill>
                  <a:schemeClr val="tx2"/>
                </a:solidFill>
                <a:latin typeface="宋体" panose="02010600030101010101" pitchFamily="2" charset="-122"/>
              </a:rPr>
              <a:t>0010</a:t>
            </a:r>
            <a:r>
              <a:rPr lang="en-US" altLang="zh-CN" b="1">
                <a:latin typeface="宋体" panose="02010600030101010101" pitchFamily="2" charset="-122"/>
              </a:rPr>
              <a:t> 0</a:t>
            </a:r>
            <a:r>
              <a:rPr lang="en-US" altLang="zh-CN" b="1">
                <a:solidFill>
                  <a:srgbClr val="FF0000"/>
                </a:solidFill>
                <a:latin typeface="宋体" panose="02010600030101010101" pitchFamily="2" charset="-122"/>
              </a:rPr>
              <a:t>001 0100</a:t>
            </a:r>
            <a:r>
              <a:rPr lang="en-US" altLang="zh-CN" b="1">
                <a:latin typeface="宋体" panose="02010600030101010101" pitchFamily="2" charset="-122"/>
              </a:rPr>
              <a:t> </a:t>
            </a:r>
            <a:r>
              <a:rPr lang="en-US" altLang="zh-CN" b="1">
                <a:solidFill>
                  <a:srgbClr val="FF0000"/>
                </a:solidFill>
                <a:latin typeface="宋体" panose="02010600030101010101" pitchFamily="2" charset="-122"/>
              </a:rPr>
              <a:t>1</a:t>
            </a:r>
            <a:r>
              <a:rPr lang="en-US" altLang="zh-CN" b="1">
                <a:solidFill>
                  <a:schemeClr val="folHlink"/>
                </a:solidFill>
                <a:latin typeface="宋体" panose="02010600030101010101" pitchFamily="2" charset="-122"/>
              </a:rPr>
              <a:t>1</a:t>
            </a:r>
            <a:r>
              <a:rPr lang="en-US" altLang="zh-CN" b="1">
                <a:solidFill>
                  <a:srgbClr val="FF00FF"/>
                </a:solidFill>
                <a:latin typeface="宋体" panose="02010600030101010101" pitchFamily="2" charset="-122"/>
              </a:rPr>
              <a:t>1</a:t>
            </a:r>
            <a:r>
              <a:rPr lang="en-US" altLang="zh-CN" b="1">
                <a:solidFill>
                  <a:srgbClr val="CC3300"/>
                </a:solidFill>
                <a:latin typeface="宋体" panose="02010600030101010101" pitchFamily="2" charset="-122"/>
              </a:rPr>
              <a:t>1</a:t>
            </a:r>
            <a:r>
              <a:rPr lang="en-US" altLang="zh-CN" b="1">
                <a:latin typeface="宋体" panose="02010600030101010101" pitchFamily="2" charset="-122"/>
              </a:rPr>
              <a:t> b</a:t>
            </a:r>
            <a:r>
              <a:rPr lang="zh-CN" altLang="en-US" b="1">
                <a:latin typeface="宋体" panose="02010600030101010101" pitchFamily="2" charset="-122"/>
              </a:rPr>
              <a:t>，</a:t>
            </a:r>
            <a:r>
              <a:rPr lang="en-US" altLang="zh-CN" b="1">
                <a:latin typeface="宋体" panose="02010600030101010101" pitchFamily="2" charset="-122"/>
              </a:rPr>
              <a:t>CLKMD</a:t>
            </a:r>
            <a:endParaRPr lang="en-US" altLang="zh-CN" b="1">
              <a:latin typeface="Arial" panose="020B0604020202020204" pitchFamily="34" charset="0"/>
              <a:cs typeface="Arial" panose="020B0604020202020204" pitchFamily="34" charset="0"/>
            </a:endParaRPr>
          </a:p>
          <a:p>
            <a:pPr algn="just" eaLnBrk="1" hangingPunct="1"/>
            <a:r>
              <a:rPr lang="zh-CN" altLang="en-US" b="1">
                <a:latin typeface="宋体" panose="02010600030101010101" pitchFamily="2" charset="-122"/>
              </a:rPr>
              <a:t>其中，</a:t>
            </a:r>
            <a:r>
              <a:rPr lang="en-US" altLang="zh-CN" b="1">
                <a:solidFill>
                  <a:schemeClr val="tx2"/>
                </a:solidFill>
                <a:latin typeface="宋体" panose="02010600030101010101" pitchFamily="2" charset="-122"/>
              </a:rPr>
              <a:t>PLLMUL=0010</a:t>
            </a:r>
            <a:r>
              <a:rPr lang="zh-CN" altLang="en-US" b="1">
                <a:latin typeface="宋体" panose="02010600030101010101" pitchFamily="2" charset="-122"/>
              </a:rPr>
              <a:t>，</a:t>
            </a:r>
            <a:r>
              <a:rPr lang="en-US" altLang="zh-CN" b="1">
                <a:latin typeface="宋体" panose="02010600030101010101" pitchFamily="2" charset="-122"/>
              </a:rPr>
              <a:t>PLLDIV=0</a:t>
            </a:r>
            <a:r>
              <a:rPr lang="zh-CN" altLang="en-US" b="1">
                <a:latin typeface="宋体" panose="02010600030101010101" pitchFamily="2" charset="-122"/>
              </a:rPr>
              <a:t>，</a:t>
            </a:r>
            <a:r>
              <a:rPr lang="en-US" altLang="zh-CN" b="1">
                <a:solidFill>
                  <a:srgbClr val="FF00FF"/>
                </a:solidFill>
                <a:latin typeface="宋体" panose="02010600030101010101" pitchFamily="2" charset="-122"/>
              </a:rPr>
              <a:t>PLLNDIV=1</a:t>
            </a:r>
            <a:r>
              <a:rPr lang="zh-CN" altLang="en-US" b="1">
                <a:latin typeface="宋体" panose="02010600030101010101" pitchFamily="2" charset="-122"/>
              </a:rPr>
              <a:t>，故由表</a:t>
            </a:r>
            <a:r>
              <a:rPr lang="en-US" altLang="zh-CN" b="1">
                <a:latin typeface="宋体" panose="02010600030101010101" pitchFamily="2" charset="-122"/>
              </a:rPr>
              <a:t>2-10</a:t>
            </a:r>
            <a:r>
              <a:rPr lang="zh-CN" altLang="en-US" b="1">
                <a:latin typeface="宋体" panose="02010600030101010101" pitchFamily="2" charset="-122"/>
              </a:rPr>
              <a:t>可得乘系数为</a:t>
            </a:r>
            <a:r>
              <a:rPr lang="en-US" altLang="zh-CN" b="1">
                <a:latin typeface="宋体" panose="02010600030101010101" pitchFamily="2" charset="-122"/>
              </a:rPr>
              <a:t>3</a:t>
            </a:r>
            <a:r>
              <a:rPr lang="zh-CN" altLang="en-US" b="1">
                <a:latin typeface="宋体" panose="02010600030101010101" pitchFamily="2" charset="-122"/>
              </a:rPr>
              <a:t>；</a:t>
            </a:r>
            <a:r>
              <a:rPr lang="en-US" altLang="zh-CN" b="1">
                <a:solidFill>
                  <a:schemeClr val="folHlink"/>
                </a:solidFill>
                <a:latin typeface="宋体" panose="02010600030101010101" pitchFamily="2" charset="-122"/>
              </a:rPr>
              <a:t>PLLON/OFF=1</a:t>
            </a:r>
            <a:r>
              <a:rPr lang="zh-CN" altLang="en-US" b="1">
                <a:latin typeface="宋体" panose="02010600030101010101" pitchFamily="2" charset="-122"/>
              </a:rPr>
              <a:t>，表</a:t>
            </a:r>
            <a:r>
              <a:rPr lang="en-US" altLang="zh-CN" b="1">
                <a:latin typeface="宋体" panose="02010600030101010101" pitchFamily="2" charset="-122"/>
              </a:rPr>
              <a:t>2-9</a:t>
            </a:r>
            <a:r>
              <a:rPr lang="zh-CN" altLang="en-US" b="1">
                <a:latin typeface="宋体" panose="02010600030101010101" pitchFamily="2" charset="-122"/>
              </a:rPr>
              <a:t>知</a:t>
            </a:r>
            <a:r>
              <a:rPr lang="en-US" altLang="zh-CN" b="1">
                <a:latin typeface="宋体" panose="02010600030101010101" pitchFamily="2" charset="-122"/>
              </a:rPr>
              <a:t>PLL</a:t>
            </a:r>
            <a:r>
              <a:rPr lang="zh-CN" altLang="en-US" b="1">
                <a:latin typeface="宋体" panose="02010600030101010101" pitchFamily="2" charset="-122"/>
              </a:rPr>
              <a:t>工作；</a:t>
            </a:r>
            <a:r>
              <a:rPr lang="en-US" altLang="zh-CN" b="1">
                <a:solidFill>
                  <a:srgbClr val="FF6600"/>
                </a:solidFill>
                <a:latin typeface="宋体" panose="02010600030101010101" pitchFamily="2" charset="-122"/>
              </a:rPr>
              <a:t>PLLCOUNT=00101001</a:t>
            </a:r>
            <a:r>
              <a:rPr lang="zh-CN" altLang="en-US" b="1">
                <a:latin typeface="宋体" panose="02010600030101010101" pitchFamily="2" charset="-122"/>
              </a:rPr>
              <a:t>，十进制计数值为</a:t>
            </a:r>
            <a:r>
              <a:rPr lang="en-US" altLang="zh-CN" b="1">
                <a:latin typeface="宋体" panose="02010600030101010101" pitchFamily="2" charset="-122"/>
              </a:rPr>
              <a:t>41</a:t>
            </a:r>
            <a:r>
              <a:rPr lang="zh-CN" altLang="en-US" b="1">
                <a:latin typeface="宋体" panose="02010600030101010101" pitchFamily="2" charset="-122"/>
              </a:rPr>
              <a:t>。</a:t>
            </a:r>
            <a:endParaRPr lang="zh-CN" altLang="en-US" b="1"/>
          </a:p>
        </p:txBody>
      </p:sp>
      <p:sp>
        <p:nvSpPr>
          <p:cNvPr id="10035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607DC3F6-642F-43F0-B041-9FFFDF72CFC6}" type="slidenum">
              <a:rPr lang="en-US" altLang="zh-CN" sz="1400" b="0"/>
              <a:pPr eaLnBrk="1" hangingPunct="1"/>
              <a:t>87</a:t>
            </a:fld>
            <a:endParaRPr lang="en-US" altLang="zh-CN" sz="1400" b="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98018"/>
                                        </p:tgtEl>
                                        <p:attrNameLst>
                                          <p:attrName>style.visibility</p:attrName>
                                        </p:attrNameLst>
                                      </p:cBhvr>
                                      <p:to>
                                        <p:strVal val="visible"/>
                                      </p:to>
                                    </p:set>
                                    <p:anim calcmode="lin" valueType="num">
                                      <p:cBhvr additive="base">
                                        <p:cTn id="7" dur="500" fill="hold"/>
                                        <p:tgtEl>
                                          <p:spTgt spid="598018"/>
                                        </p:tgtEl>
                                        <p:attrNameLst>
                                          <p:attrName>ppt_x</p:attrName>
                                        </p:attrNameLst>
                                      </p:cBhvr>
                                      <p:tavLst>
                                        <p:tav tm="0">
                                          <p:val>
                                            <p:strVal val="0-#ppt_w/2"/>
                                          </p:val>
                                        </p:tav>
                                        <p:tav tm="100000">
                                          <p:val>
                                            <p:strVal val="#ppt_x"/>
                                          </p:val>
                                        </p:tav>
                                      </p:tavLst>
                                    </p:anim>
                                    <p:anim calcmode="lin" valueType="num">
                                      <p:cBhvr additive="base">
                                        <p:cTn id="8" dur="500" fill="hold"/>
                                        <p:tgtEl>
                                          <p:spTgt spid="5980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18"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9043" name="Rectangle 3"/>
          <p:cNvSpPr>
            <a:spLocks noGrp="1" noChangeArrowheads="1"/>
          </p:cNvSpPr>
          <p:nvPr>
            <p:ph type="title"/>
          </p:nvPr>
        </p:nvSpPr>
        <p:spPr bwMode="auto">
          <a:xfrm>
            <a:off x="1905000" y="1143000"/>
            <a:ext cx="49530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四、复位电路</a:t>
            </a:r>
            <a:r>
              <a:rPr lang="zh-CN" altLang="en-US"/>
              <a:t> </a:t>
            </a:r>
          </a:p>
        </p:txBody>
      </p:sp>
      <p:sp>
        <p:nvSpPr>
          <p:cNvPr id="101379" name="Rectangle 4" descr="小棋盘"/>
          <p:cNvSpPr>
            <a:spLocks noGrp="1" noChangeArrowheads="1"/>
          </p:cNvSpPr>
          <p:nvPr>
            <p:ph idx="1"/>
          </p:nvPr>
        </p:nvSpPr>
        <p:spPr bwMode="auto">
          <a:xfrm>
            <a:off x="1219200" y="2057400"/>
            <a:ext cx="1600200" cy="609600"/>
          </a:xfrm>
          <a:pattFill prst="smCheck">
            <a:fgClr>
              <a:schemeClr val="accent1"/>
            </a:fgClr>
            <a:bgClr>
              <a:srgbClr val="FFFFFF"/>
            </a:bgClr>
          </a:pattFill>
          <a:ln>
            <a:solidFill>
              <a:schemeClr val="accent2"/>
            </a:solidFill>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功能</a:t>
            </a:r>
            <a:endParaRPr lang="zh-CN" altLang="en-US" b="1">
              <a:solidFill>
                <a:srgbClr val="FF0000"/>
              </a:solidFill>
            </a:endParaRPr>
          </a:p>
        </p:txBody>
      </p:sp>
      <p:sp>
        <p:nvSpPr>
          <p:cNvPr id="10138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43A3C04-431B-4EF5-8730-458246F52B99}" type="slidenum">
              <a:rPr lang="en-US" altLang="zh-CN" sz="1400" b="0"/>
              <a:pPr eaLnBrk="1" hangingPunct="1"/>
              <a:t>88</a:t>
            </a:fld>
            <a:endParaRPr lang="en-US" altLang="zh-CN" sz="1400" b="0"/>
          </a:p>
        </p:txBody>
      </p:sp>
      <p:sp>
        <p:nvSpPr>
          <p:cNvPr id="599045" name="Text Box 5"/>
          <p:cNvSpPr txBox="1">
            <a:spLocks noChangeArrowheads="1"/>
          </p:cNvSpPr>
          <p:nvPr/>
        </p:nvSpPr>
        <p:spPr bwMode="auto">
          <a:xfrm>
            <a:off x="685800" y="5867400"/>
            <a:ext cx="70104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spcAft>
                <a:spcPts val="800"/>
              </a:spcAft>
            </a:pPr>
            <a:r>
              <a:rPr kumimoji="0" lang="zh-CN" altLang="en-US" sz="2800">
                <a:latin typeface="宋体" panose="02010600030101010101" pitchFamily="2" charset="-122"/>
              </a:rPr>
              <a:t>简单的复位电路</a:t>
            </a:r>
            <a:r>
              <a:rPr kumimoji="0" lang="zh-CN" altLang="en-US" sz="2800">
                <a:solidFill>
                  <a:srgbClr val="FF00FF"/>
                </a:solidFill>
                <a:latin typeface="宋体" panose="02010600030101010101" pitchFamily="2" charset="-122"/>
              </a:rPr>
              <a:t>   </a:t>
            </a:r>
            <a:r>
              <a:rPr kumimoji="0" lang="zh-CN" altLang="en-US" sz="2800">
                <a:latin typeface="宋体" panose="02010600030101010101" pitchFamily="2" charset="-122"/>
              </a:rPr>
              <a:t>有监视功能的复位电路</a:t>
            </a:r>
          </a:p>
        </p:txBody>
      </p:sp>
      <p:sp>
        <p:nvSpPr>
          <p:cNvPr id="599046" name="AutoShape 6" descr="小棋盘"/>
          <p:cNvSpPr>
            <a:spLocks noChangeArrowheads="1"/>
          </p:cNvSpPr>
          <p:nvPr/>
        </p:nvSpPr>
        <p:spPr bwMode="auto">
          <a:xfrm>
            <a:off x="3995738" y="1905000"/>
            <a:ext cx="4919662" cy="1295400"/>
          </a:xfrm>
          <a:prstGeom prst="wedgeRoundRectCallout">
            <a:avLst>
              <a:gd name="adj1" fmla="val -68426"/>
              <a:gd name="adj2" fmla="val -15319"/>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FF"/>
                </a:solidFill>
              </a:rPr>
              <a:t>在</a:t>
            </a:r>
            <a:r>
              <a:rPr lang="en-US" altLang="zh-CN" sz="2400">
                <a:solidFill>
                  <a:srgbClr val="FF00FF"/>
                </a:solidFill>
              </a:rPr>
              <a:t>DSP</a:t>
            </a:r>
            <a:r>
              <a:rPr lang="zh-CN" altLang="en-US" sz="2400">
                <a:solidFill>
                  <a:srgbClr val="FF00FF"/>
                </a:solidFill>
              </a:rPr>
              <a:t>上电后，系统的晶体振荡器需</a:t>
            </a:r>
            <a:r>
              <a:rPr lang="en-US" altLang="zh-CN" sz="2400">
                <a:solidFill>
                  <a:srgbClr val="FF00FF"/>
                </a:solidFill>
              </a:rPr>
              <a:t>100ms~200ms</a:t>
            </a:r>
            <a:r>
              <a:rPr lang="zh-CN" altLang="en-US" sz="2400">
                <a:solidFill>
                  <a:srgbClr val="FF00FF"/>
                </a:solidFill>
              </a:rPr>
              <a:t>的稳定期，应在复位引脚上加一复位信号。</a:t>
            </a:r>
          </a:p>
        </p:txBody>
      </p:sp>
      <p:grpSp>
        <p:nvGrpSpPr>
          <p:cNvPr id="101383" name="Group 59"/>
          <p:cNvGrpSpPr>
            <a:grpSpLocks/>
          </p:cNvGrpSpPr>
          <p:nvPr/>
        </p:nvGrpSpPr>
        <p:grpSpPr bwMode="auto">
          <a:xfrm>
            <a:off x="5435600" y="3429000"/>
            <a:ext cx="3240088" cy="2125663"/>
            <a:chOff x="3424" y="2205"/>
            <a:chExt cx="2041" cy="1339"/>
          </a:xfrm>
        </p:grpSpPr>
        <p:sp>
          <p:nvSpPr>
            <p:cNvPr id="101411" name="Text Box 32"/>
            <p:cNvSpPr txBox="1">
              <a:spLocks noChangeArrowheads="1"/>
            </p:cNvSpPr>
            <p:nvPr/>
          </p:nvSpPr>
          <p:spPr bwMode="auto">
            <a:xfrm>
              <a:off x="3878" y="2342"/>
              <a:ext cx="544" cy="832"/>
            </a:xfrm>
            <a:prstGeom prst="rect">
              <a:avLst/>
            </a:prstGeom>
            <a:solidFill>
              <a:schemeClr val="bg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a:solidFill>
                  <a:schemeClr val="bg1"/>
                </a:solidFill>
              </a:endParaRPr>
            </a:p>
            <a:p>
              <a:pPr algn="ctr" eaLnBrk="1" hangingPunct="1"/>
              <a:r>
                <a:rPr lang="en-US" altLang="zh-CN">
                  <a:solidFill>
                    <a:srgbClr val="FF0000"/>
                  </a:solidFill>
                </a:rPr>
                <a:t>MAX</a:t>
              </a:r>
            </a:p>
            <a:p>
              <a:pPr algn="ctr" eaLnBrk="1" hangingPunct="1"/>
              <a:r>
                <a:rPr lang="en-US" altLang="zh-CN">
                  <a:solidFill>
                    <a:srgbClr val="FF0000"/>
                  </a:solidFill>
                </a:rPr>
                <a:t>706</a:t>
              </a:r>
            </a:p>
            <a:p>
              <a:pPr algn="ctr" eaLnBrk="1" hangingPunct="1"/>
              <a:endParaRPr lang="en-US" altLang="zh-CN">
                <a:solidFill>
                  <a:srgbClr val="FF0000"/>
                </a:solidFill>
              </a:endParaRPr>
            </a:p>
          </p:txBody>
        </p:sp>
        <p:sp>
          <p:nvSpPr>
            <p:cNvPr id="101412" name="Line 33"/>
            <p:cNvSpPr>
              <a:spLocks noChangeShapeType="1"/>
            </p:cNvSpPr>
            <p:nvPr/>
          </p:nvSpPr>
          <p:spPr bwMode="auto">
            <a:xfrm>
              <a:off x="4422" y="2432"/>
              <a:ext cx="13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13" name="Line 34"/>
            <p:cNvSpPr>
              <a:spLocks noChangeShapeType="1"/>
            </p:cNvSpPr>
            <p:nvPr/>
          </p:nvSpPr>
          <p:spPr bwMode="auto">
            <a:xfrm>
              <a:off x="4422" y="2659"/>
              <a:ext cx="13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14" name="Line 35"/>
            <p:cNvSpPr>
              <a:spLocks noChangeShapeType="1"/>
            </p:cNvSpPr>
            <p:nvPr/>
          </p:nvSpPr>
          <p:spPr bwMode="auto">
            <a:xfrm>
              <a:off x="4422" y="2886"/>
              <a:ext cx="13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15" name="Line 36"/>
            <p:cNvSpPr>
              <a:spLocks noChangeShapeType="1"/>
            </p:cNvSpPr>
            <p:nvPr/>
          </p:nvSpPr>
          <p:spPr bwMode="auto">
            <a:xfrm>
              <a:off x="4422" y="3113"/>
              <a:ext cx="13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16" name="Line 37"/>
            <p:cNvSpPr>
              <a:spLocks noChangeShapeType="1"/>
            </p:cNvSpPr>
            <p:nvPr/>
          </p:nvSpPr>
          <p:spPr bwMode="auto">
            <a:xfrm>
              <a:off x="3742" y="2432"/>
              <a:ext cx="13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17" name="Line 38"/>
            <p:cNvSpPr>
              <a:spLocks noChangeShapeType="1"/>
            </p:cNvSpPr>
            <p:nvPr/>
          </p:nvSpPr>
          <p:spPr bwMode="auto">
            <a:xfrm>
              <a:off x="3742" y="2659"/>
              <a:ext cx="13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18" name="Line 39"/>
            <p:cNvSpPr>
              <a:spLocks noChangeShapeType="1"/>
            </p:cNvSpPr>
            <p:nvPr/>
          </p:nvSpPr>
          <p:spPr bwMode="auto">
            <a:xfrm>
              <a:off x="3742" y="2886"/>
              <a:ext cx="13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19" name="Line 40"/>
            <p:cNvSpPr>
              <a:spLocks noChangeShapeType="1"/>
            </p:cNvSpPr>
            <p:nvPr/>
          </p:nvSpPr>
          <p:spPr bwMode="auto">
            <a:xfrm>
              <a:off x="3742" y="3113"/>
              <a:ext cx="13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20" name="Line 41"/>
            <p:cNvSpPr>
              <a:spLocks noChangeShapeType="1"/>
            </p:cNvSpPr>
            <p:nvPr/>
          </p:nvSpPr>
          <p:spPr bwMode="auto">
            <a:xfrm>
              <a:off x="3742" y="2886"/>
              <a:ext cx="0" cy="54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21" name="Line 42"/>
            <p:cNvSpPr>
              <a:spLocks noChangeShapeType="1"/>
            </p:cNvSpPr>
            <p:nvPr/>
          </p:nvSpPr>
          <p:spPr bwMode="auto">
            <a:xfrm>
              <a:off x="3666" y="3425"/>
              <a:ext cx="13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22" name="Line 43"/>
            <p:cNvSpPr>
              <a:spLocks noChangeShapeType="1"/>
            </p:cNvSpPr>
            <p:nvPr/>
          </p:nvSpPr>
          <p:spPr bwMode="auto">
            <a:xfrm>
              <a:off x="3742" y="2205"/>
              <a:ext cx="0" cy="22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23" name="Line 44"/>
            <p:cNvSpPr>
              <a:spLocks noChangeShapeType="1"/>
            </p:cNvSpPr>
            <p:nvPr/>
          </p:nvSpPr>
          <p:spPr bwMode="auto">
            <a:xfrm>
              <a:off x="4558" y="2215"/>
              <a:ext cx="0" cy="22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24" name="Line 45"/>
            <p:cNvSpPr>
              <a:spLocks noChangeShapeType="1"/>
            </p:cNvSpPr>
            <p:nvPr/>
          </p:nvSpPr>
          <p:spPr bwMode="auto">
            <a:xfrm>
              <a:off x="3742" y="2205"/>
              <a:ext cx="81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25" name="Text Box 46"/>
            <p:cNvSpPr txBox="1">
              <a:spLocks noChangeArrowheads="1"/>
            </p:cNvSpPr>
            <p:nvPr/>
          </p:nvSpPr>
          <p:spPr bwMode="auto">
            <a:xfrm>
              <a:off x="3424" y="2478"/>
              <a:ext cx="4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Vcc</a:t>
              </a:r>
            </a:p>
          </p:txBody>
        </p:sp>
        <p:sp>
          <p:nvSpPr>
            <p:cNvPr id="101426" name="Text Box 47"/>
            <p:cNvSpPr txBox="1">
              <a:spLocks noChangeArrowheads="1"/>
            </p:cNvSpPr>
            <p:nvPr/>
          </p:nvSpPr>
          <p:spPr bwMode="auto">
            <a:xfrm>
              <a:off x="3712" y="2205"/>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a:t>
              </a:r>
            </a:p>
          </p:txBody>
        </p:sp>
        <p:sp>
          <p:nvSpPr>
            <p:cNvPr id="101427" name="Text Box 48"/>
            <p:cNvSpPr txBox="1">
              <a:spLocks noChangeArrowheads="1"/>
            </p:cNvSpPr>
            <p:nvPr/>
          </p:nvSpPr>
          <p:spPr bwMode="auto">
            <a:xfrm>
              <a:off x="3722" y="2432"/>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a:t>
              </a:r>
            </a:p>
          </p:txBody>
        </p:sp>
        <p:sp>
          <p:nvSpPr>
            <p:cNvPr id="101428" name="Text Box 49"/>
            <p:cNvSpPr txBox="1">
              <a:spLocks noChangeArrowheads="1"/>
            </p:cNvSpPr>
            <p:nvPr/>
          </p:nvSpPr>
          <p:spPr bwMode="auto">
            <a:xfrm>
              <a:off x="3716" y="2659"/>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3</a:t>
              </a:r>
            </a:p>
          </p:txBody>
        </p:sp>
        <p:sp>
          <p:nvSpPr>
            <p:cNvPr id="101429" name="Text Box 50"/>
            <p:cNvSpPr txBox="1">
              <a:spLocks noChangeArrowheads="1"/>
            </p:cNvSpPr>
            <p:nvPr/>
          </p:nvSpPr>
          <p:spPr bwMode="auto">
            <a:xfrm>
              <a:off x="3716" y="2886"/>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a:t>
              </a:r>
            </a:p>
          </p:txBody>
        </p:sp>
        <p:sp>
          <p:nvSpPr>
            <p:cNvPr id="101430" name="Text Box 51"/>
            <p:cNvSpPr txBox="1">
              <a:spLocks noChangeArrowheads="1"/>
            </p:cNvSpPr>
            <p:nvPr/>
          </p:nvSpPr>
          <p:spPr bwMode="auto">
            <a:xfrm>
              <a:off x="4397" y="2205"/>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a:t>
              </a:r>
            </a:p>
          </p:txBody>
        </p:sp>
        <p:sp>
          <p:nvSpPr>
            <p:cNvPr id="101431" name="Text Box 52"/>
            <p:cNvSpPr txBox="1">
              <a:spLocks noChangeArrowheads="1"/>
            </p:cNvSpPr>
            <p:nvPr/>
          </p:nvSpPr>
          <p:spPr bwMode="auto">
            <a:xfrm>
              <a:off x="4377" y="2432"/>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a:t>
              </a:r>
            </a:p>
          </p:txBody>
        </p:sp>
        <p:sp>
          <p:nvSpPr>
            <p:cNvPr id="101432" name="Text Box 53"/>
            <p:cNvSpPr txBox="1">
              <a:spLocks noChangeArrowheads="1"/>
            </p:cNvSpPr>
            <p:nvPr/>
          </p:nvSpPr>
          <p:spPr bwMode="auto">
            <a:xfrm>
              <a:off x="4402" y="2659"/>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6</a:t>
              </a:r>
            </a:p>
          </p:txBody>
        </p:sp>
        <p:sp>
          <p:nvSpPr>
            <p:cNvPr id="101433" name="Text Box 54"/>
            <p:cNvSpPr txBox="1">
              <a:spLocks noChangeArrowheads="1"/>
            </p:cNvSpPr>
            <p:nvPr/>
          </p:nvSpPr>
          <p:spPr bwMode="auto">
            <a:xfrm>
              <a:off x="4402" y="2886"/>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5</a:t>
              </a:r>
            </a:p>
          </p:txBody>
        </p:sp>
        <p:sp>
          <p:nvSpPr>
            <p:cNvPr id="101434" name="Text Box 55"/>
            <p:cNvSpPr txBox="1">
              <a:spLocks noChangeArrowheads="1"/>
            </p:cNvSpPr>
            <p:nvPr/>
          </p:nvSpPr>
          <p:spPr bwMode="auto">
            <a:xfrm>
              <a:off x="4649" y="2523"/>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复位输出</a:t>
              </a:r>
            </a:p>
          </p:txBody>
        </p:sp>
        <p:sp>
          <p:nvSpPr>
            <p:cNvPr id="101435" name="Text Box 56"/>
            <p:cNvSpPr txBox="1">
              <a:spLocks noChangeArrowheads="1"/>
            </p:cNvSpPr>
            <p:nvPr/>
          </p:nvSpPr>
          <p:spPr bwMode="auto">
            <a:xfrm>
              <a:off x="4674" y="2750"/>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WDI</a:t>
              </a:r>
            </a:p>
          </p:txBody>
        </p:sp>
        <p:sp>
          <p:nvSpPr>
            <p:cNvPr id="101436" name="Text Box 57"/>
            <p:cNvSpPr txBox="1">
              <a:spLocks noChangeArrowheads="1"/>
            </p:cNvSpPr>
            <p:nvPr/>
          </p:nvSpPr>
          <p:spPr bwMode="auto">
            <a:xfrm>
              <a:off x="3742" y="3294"/>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GND</a:t>
              </a:r>
            </a:p>
          </p:txBody>
        </p:sp>
      </p:grpSp>
      <p:grpSp>
        <p:nvGrpSpPr>
          <p:cNvPr id="101384" name="Group 64"/>
          <p:cNvGrpSpPr>
            <a:grpSpLocks/>
          </p:cNvGrpSpPr>
          <p:nvPr/>
        </p:nvGrpSpPr>
        <p:grpSpPr bwMode="auto">
          <a:xfrm>
            <a:off x="250825" y="3068638"/>
            <a:ext cx="4608513" cy="2413000"/>
            <a:chOff x="158" y="1933"/>
            <a:chExt cx="2903" cy="1520"/>
          </a:xfrm>
        </p:grpSpPr>
        <p:sp>
          <p:nvSpPr>
            <p:cNvPr id="101385" name="Rectangle 7"/>
            <p:cNvSpPr>
              <a:spLocks noChangeArrowheads="1"/>
            </p:cNvSpPr>
            <p:nvPr/>
          </p:nvSpPr>
          <p:spPr bwMode="auto">
            <a:xfrm>
              <a:off x="793" y="2341"/>
              <a:ext cx="91" cy="18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1386" name="Line 8"/>
            <p:cNvSpPr>
              <a:spLocks noChangeShapeType="1"/>
            </p:cNvSpPr>
            <p:nvPr/>
          </p:nvSpPr>
          <p:spPr bwMode="auto">
            <a:xfrm>
              <a:off x="838" y="2115"/>
              <a:ext cx="0" cy="22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387" name="Line 9"/>
            <p:cNvSpPr>
              <a:spLocks noChangeShapeType="1"/>
            </p:cNvSpPr>
            <p:nvPr/>
          </p:nvSpPr>
          <p:spPr bwMode="auto">
            <a:xfrm>
              <a:off x="838" y="2523"/>
              <a:ext cx="0" cy="54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388" name="Line 10"/>
            <p:cNvSpPr>
              <a:spLocks noChangeShapeType="1"/>
            </p:cNvSpPr>
            <p:nvPr/>
          </p:nvSpPr>
          <p:spPr bwMode="auto">
            <a:xfrm>
              <a:off x="763" y="3073"/>
              <a:ext cx="13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389" name="Line 11"/>
            <p:cNvSpPr>
              <a:spLocks noChangeShapeType="1"/>
            </p:cNvSpPr>
            <p:nvPr/>
          </p:nvSpPr>
          <p:spPr bwMode="auto">
            <a:xfrm>
              <a:off x="763" y="3118"/>
              <a:ext cx="13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390" name="Line 12"/>
            <p:cNvSpPr>
              <a:spLocks noChangeShapeType="1"/>
            </p:cNvSpPr>
            <p:nvPr/>
          </p:nvSpPr>
          <p:spPr bwMode="auto">
            <a:xfrm>
              <a:off x="838" y="3118"/>
              <a:ext cx="0" cy="22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391" name="Line 13"/>
            <p:cNvSpPr>
              <a:spLocks noChangeShapeType="1"/>
            </p:cNvSpPr>
            <p:nvPr/>
          </p:nvSpPr>
          <p:spPr bwMode="auto">
            <a:xfrm>
              <a:off x="768" y="3339"/>
              <a:ext cx="13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392" name="Line 14"/>
            <p:cNvSpPr>
              <a:spLocks noChangeShapeType="1"/>
            </p:cNvSpPr>
            <p:nvPr/>
          </p:nvSpPr>
          <p:spPr bwMode="auto">
            <a:xfrm>
              <a:off x="838" y="2795"/>
              <a:ext cx="409"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393" name="AutoShape 15"/>
            <p:cNvSpPr>
              <a:spLocks noChangeArrowheads="1"/>
            </p:cNvSpPr>
            <p:nvPr/>
          </p:nvSpPr>
          <p:spPr bwMode="auto">
            <a:xfrm rot="5400000">
              <a:off x="1292" y="2634"/>
              <a:ext cx="227" cy="317"/>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1394" name="AutoShape 16"/>
            <p:cNvSpPr>
              <a:spLocks noChangeArrowheads="1"/>
            </p:cNvSpPr>
            <p:nvPr/>
          </p:nvSpPr>
          <p:spPr bwMode="auto">
            <a:xfrm rot="5400000">
              <a:off x="1791" y="2634"/>
              <a:ext cx="227" cy="317"/>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1395" name="Oval 17"/>
            <p:cNvSpPr>
              <a:spLocks noChangeArrowheads="1"/>
            </p:cNvSpPr>
            <p:nvPr/>
          </p:nvSpPr>
          <p:spPr bwMode="auto">
            <a:xfrm>
              <a:off x="1519" y="2750"/>
              <a:ext cx="90" cy="90"/>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1396" name="Oval 18"/>
            <p:cNvSpPr>
              <a:spLocks noChangeArrowheads="1"/>
            </p:cNvSpPr>
            <p:nvPr/>
          </p:nvSpPr>
          <p:spPr bwMode="auto">
            <a:xfrm>
              <a:off x="2028" y="2750"/>
              <a:ext cx="90" cy="90"/>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1397" name="Line 19"/>
            <p:cNvSpPr>
              <a:spLocks noChangeShapeType="1"/>
            </p:cNvSpPr>
            <p:nvPr/>
          </p:nvSpPr>
          <p:spPr bwMode="auto">
            <a:xfrm>
              <a:off x="1609" y="2795"/>
              <a:ext cx="13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398" name="Text Box 21"/>
            <p:cNvSpPr txBox="1">
              <a:spLocks noChangeArrowheads="1"/>
            </p:cNvSpPr>
            <p:nvPr/>
          </p:nvSpPr>
          <p:spPr bwMode="auto">
            <a:xfrm>
              <a:off x="2517" y="2478"/>
              <a:ext cx="544" cy="640"/>
            </a:xfrm>
            <a:prstGeom prst="rect">
              <a:avLst/>
            </a:prstGeom>
            <a:solidFill>
              <a:srgbClr val="FF0000"/>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chemeClr val="bg1"/>
                  </a:solidFill>
                </a:rPr>
                <a:t>TMS</a:t>
              </a:r>
            </a:p>
            <a:p>
              <a:pPr algn="ctr" eaLnBrk="1" hangingPunct="1"/>
              <a:r>
                <a:rPr lang="en-US" altLang="zh-CN">
                  <a:solidFill>
                    <a:schemeClr val="bg1"/>
                  </a:solidFill>
                </a:rPr>
                <a:t>320</a:t>
              </a:r>
            </a:p>
            <a:p>
              <a:pPr algn="ctr" eaLnBrk="1" hangingPunct="1"/>
              <a:r>
                <a:rPr lang="en-US" altLang="zh-CN">
                  <a:solidFill>
                    <a:schemeClr val="bg1"/>
                  </a:solidFill>
                </a:rPr>
                <a:t>DSP</a:t>
              </a:r>
            </a:p>
          </p:txBody>
        </p:sp>
        <p:sp>
          <p:nvSpPr>
            <p:cNvPr id="101399" name="Line 22"/>
            <p:cNvSpPr>
              <a:spLocks noChangeShapeType="1"/>
            </p:cNvSpPr>
            <p:nvPr/>
          </p:nvSpPr>
          <p:spPr bwMode="auto">
            <a:xfrm>
              <a:off x="2108" y="2795"/>
              <a:ext cx="409"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00" name="Text Box 23"/>
            <p:cNvSpPr txBox="1">
              <a:spLocks noChangeArrowheads="1"/>
            </p:cNvSpPr>
            <p:nvPr/>
          </p:nvSpPr>
          <p:spPr bwMode="auto">
            <a:xfrm>
              <a:off x="929" y="2976"/>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a:t>
              </a:r>
            </a:p>
          </p:txBody>
        </p:sp>
        <p:sp>
          <p:nvSpPr>
            <p:cNvPr id="101401" name="Text Box 24"/>
            <p:cNvSpPr txBox="1">
              <a:spLocks noChangeArrowheads="1"/>
            </p:cNvSpPr>
            <p:nvPr/>
          </p:nvSpPr>
          <p:spPr bwMode="auto">
            <a:xfrm>
              <a:off x="158" y="2931"/>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4.7μF</a:t>
              </a:r>
            </a:p>
          </p:txBody>
        </p:sp>
        <p:sp>
          <p:nvSpPr>
            <p:cNvPr id="101402" name="Text Box 25"/>
            <p:cNvSpPr txBox="1">
              <a:spLocks noChangeArrowheads="1"/>
            </p:cNvSpPr>
            <p:nvPr/>
          </p:nvSpPr>
          <p:spPr bwMode="auto">
            <a:xfrm>
              <a:off x="158" y="2296"/>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100K</a:t>
              </a:r>
            </a:p>
          </p:txBody>
        </p:sp>
        <p:sp>
          <p:nvSpPr>
            <p:cNvPr id="101403" name="Text Box 26"/>
            <p:cNvSpPr txBox="1">
              <a:spLocks noChangeArrowheads="1"/>
            </p:cNvSpPr>
            <p:nvPr/>
          </p:nvSpPr>
          <p:spPr bwMode="auto">
            <a:xfrm>
              <a:off x="974" y="2296"/>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a:t>
              </a:r>
            </a:p>
          </p:txBody>
        </p:sp>
        <p:sp>
          <p:nvSpPr>
            <p:cNvPr id="101404" name="Text Box 27"/>
            <p:cNvSpPr txBox="1">
              <a:spLocks noChangeArrowheads="1"/>
            </p:cNvSpPr>
            <p:nvPr/>
          </p:nvSpPr>
          <p:spPr bwMode="auto">
            <a:xfrm>
              <a:off x="1292" y="2886"/>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74HC14</a:t>
              </a:r>
            </a:p>
          </p:txBody>
        </p:sp>
        <p:sp>
          <p:nvSpPr>
            <p:cNvPr id="101405" name="Text Box 28"/>
            <p:cNvSpPr txBox="1">
              <a:spLocks noChangeArrowheads="1"/>
            </p:cNvSpPr>
            <p:nvPr/>
          </p:nvSpPr>
          <p:spPr bwMode="auto">
            <a:xfrm>
              <a:off x="2108" y="2523"/>
              <a:ext cx="3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RS</a:t>
              </a:r>
            </a:p>
          </p:txBody>
        </p:sp>
        <p:sp>
          <p:nvSpPr>
            <p:cNvPr id="101406" name="Line 29"/>
            <p:cNvSpPr>
              <a:spLocks noChangeShapeType="1"/>
            </p:cNvSpPr>
            <p:nvPr/>
          </p:nvSpPr>
          <p:spPr bwMode="auto">
            <a:xfrm>
              <a:off x="2164" y="2543"/>
              <a:ext cx="18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407" name="Text Box 30"/>
            <p:cNvSpPr txBox="1">
              <a:spLocks noChangeArrowheads="1"/>
            </p:cNvSpPr>
            <p:nvPr/>
          </p:nvSpPr>
          <p:spPr bwMode="auto">
            <a:xfrm>
              <a:off x="929" y="1933"/>
              <a:ext cx="4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Vcc</a:t>
              </a:r>
            </a:p>
          </p:txBody>
        </p:sp>
        <p:sp>
          <p:nvSpPr>
            <p:cNvPr id="101408" name="Text Box 58"/>
            <p:cNvSpPr txBox="1">
              <a:spLocks noChangeArrowheads="1"/>
            </p:cNvSpPr>
            <p:nvPr/>
          </p:nvSpPr>
          <p:spPr bwMode="auto">
            <a:xfrm>
              <a:off x="930" y="3203"/>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GND</a:t>
              </a:r>
            </a:p>
          </p:txBody>
        </p:sp>
        <p:sp>
          <p:nvSpPr>
            <p:cNvPr id="101409" name="Text Box 61"/>
            <p:cNvSpPr txBox="1">
              <a:spLocks noChangeArrowheads="1"/>
            </p:cNvSpPr>
            <p:nvPr/>
          </p:nvSpPr>
          <p:spPr bwMode="auto">
            <a:xfrm>
              <a:off x="567" y="2659"/>
              <a:ext cx="2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A</a:t>
              </a:r>
            </a:p>
          </p:txBody>
        </p:sp>
        <p:sp>
          <p:nvSpPr>
            <p:cNvPr id="101410" name="Oval 63"/>
            <p:cNvSpPr>
              <a:spLocks noChangeArrowheads="1"/>
            </p:cNvSpPr>
            <p:nvPr/>
          </p:nvSpPr>
          <p:spPr bwMode="auto">
            <a:xfrm>
              <a:off x="793" y="2035"/>
              <a:ext cx="90" cy="9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99043"/>
                                        </p:tgtEl>
                                        <p:attrNameLst>
                                          <p:attrName>style.visibility</p:attrName>
                                        </p:attrNameLst>
                                      </p:cBhvr>
                                      <p:to>
                                        <p:strVal val="visible"/>
                                      </p:to>
                                    </p:set>
                                    <p:anim calcmode="lin" valueType="num">
                                      <p:cBhvr additive="base">
                                        <p:cTn id="7" dur="500" fill="hold"/>
                                        <p:tgtEl>
                                          <p:spTgt spid="599043"/>
                                        </p:tgtEl>
                                        <p:attrNameLst>
                                          <p:attrName>ppt_x</p:attrName>
                                        </p:attrNameLst>
                                      </p:cBhvr>
                                      <p:tavLst>
                                        <p:tav tm="0">
                                          <p:val>
                                            <p:strVal val="0-#ppt_w/2"/>
                                          </p:val>
                                        </p:tav>
                                        <p:tav tm="100000">
                                          <p:val>
                                            <p:strVal val="#ppt_x"/>
                                          </p:val>
                                        </p:tav>
                                      </p:tavLst>
                                    </p:anim>
                                    <p:anim calcmode="lin" valueType="num">
                                      <p:cBhvr additive="base">
                                        <p:cTn id="8" dur="500" fill="hold"/>
                                        <p:tgtEl>
                                          <p:spTgt spid="59904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599046"/>
                                        </p:tgtEl>
                                        <p:attrNameLst>
                                          <p:attrName>style.visibility</p:attrName>
                                        </p:attrNameLst>
                                      </p:cBhvr>
                                      <p:to>
                                        <p:strVal val="visible"/>
                                      </p:to>
                                    </p:set>
                                    <p:anim calcmode="lin" valueType="num">
                                      <p:cBhvr additive="base">
                                        <p:cTn id="12" dur="500" fill="hold"/>
                                        <p:tgtEl>
                                          <p:spTgt spid="599046"/>
                                        </p:tgtEl>
                                        <p:attrNameLst>
                                          <p:attrName>ppt_x</p:attrName>
                                        </p:attrNameLst>
                                      </p:cBhvr>
                                      <p:tavLst>
                                        <p:tav tm="0">
                                          <p:val>
                                            <p:strVal val="1+#ppt_w/2"/>
                                          </p:val>
                                        </p:tav>
                                        <p:tav tm="100000">
                                          <p:val>
                                            <p:strVal val="#ppt_x"/>
                                          </p:val>
                                        </p:tav>
                                      </p:tavLst>
                                    </p:anim>
                                    <p:anim calcmode="lin" valueType="num">
                                      <p:cBhvr additive="base">
                                        <p:cTn id="13" dur="500" fill="hold"/>
                                        <p:tgtEl>
                                          <p:spTgt spid="599046"/>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99045"/>
                                        </p:tgtEl>
                                        <p:attrNameLst>
                                          <p:attrName>style.visibility</p:attrName>
                                        </p:attrNameLst>
                                      </p:cBhvr>
                                      <p:to>
                                        <p:strVal val="visible"/>
                                      </p:to>
                                    </p:set>
                                    <p:anim calcmode="lin" valueType="num">
                                      <p:cBhvr additive="base">
                                        <p:cTn id="17" dur="500" fill="hold"/>
                                        <p:tgtEl>
                                          <p:spTgt spid="599045"/>
                                        </p:tgtEl>
                                        <p:attrNameLst>
                                          <p:attrName>ppt_x</p:attrName>
                                        </p:attrNameLst>
                                      </p:cBhvr>
                                      <p:tavLst>
                                        <p:tav tm="0">
                                          <p:val>
                                            <p:strVal val="#ppt_x"/>
                                          </p:val>
                                        </p:tav>
                                        <p:tav tm="100000">
                                          <p:val>
                                            <p:strVal val="#ppt_x"/>
                                          </p:val>
                                        </p:tav>
                                      </p:tavLst>
                                    </p:anim>
                                    <p:anim calcmode="lin" valueType="num">
                                      <p:cBhvr additive="base">
                                        <p:cTn id="18" dur="500" fill="hold"/>
                                        <p:tgtEl>
                                          <p:spTgt spid="5990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043" grpId="0" autoUpdateAnimBg="0"/>
      <p:bldP spid="599045" grpId="0" autoUpdateAnimBg="0"/>
      <p:bldP spid="599046" grpId="0" animBg="1"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C6949C3-DECD-42CC-8955-EE24830AD96C}" type="slidenum">
              <a:rPr lang="en-US" altLang="zh-CN" sz="1400" b="0"/>
              <a:pPr eaLnBrk="1" hangingPunct="1"/>
              <a:t>89</a:t>
            </a:fld>
            <a:endParaRPr lang="en-US" altLang="zh-CN" sz="1400" b="0"/>
          </a:p>
        </p:txBody>
      </p:sp>
      <p:sp>
        <p:nvSpPr>
          <p:cNvPr id="102403" name="Rectangle 2"/>
          <p:cNvSpPr>
            <a:spLocks noChangeArrowheads="1"/>
          </p:cNvSpPr>
          <p:nvPr/>
        </p:nvSpPr>
        <p:spPr bwMode="auto">
          <a:xfrm>
            <a:off x="381000" y="1295400"/>
            <a:ext cx="83820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762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3200"/>
              <a:t>具有监视（</a:t>
            </a:r>
            <a:r>
              <a:rPr lang="en-US" altLang="zh-CN" sz="3200"/>
              <a:t>Watchdog</a:t>
            </a:r>
            <a:r>
              <a:rPr lang="zh-CN" altLang="en-US" sz="3200"/>
              <a:t>）功能的自动复位电路。它除了具有上电复位功能外，还具有监视系统运行并在系统发生故障或死机时再次进行复位的能力。</a:t>
            </a:r>
          </a:p>
          <a:p>
            <a:pPr algn="just" eaLnBrk="1" hangingPunct="1">
              <a:spcBef>
                <a:spcPct val="20000"/>
              </a:spcBef>
            </a:pPr>
            <a:r>
              <a:rPr lang="zh-CN" altLang="en-US" sz="3200">
                <a:solidFill>
                  <a:srgbClr val="FF00FF"/>
                </a:solidFill>
              </a:rPr>
              <a:t>其基本原理是：</a:t>
            </a:r>
            <a:r>
              <a:rPr lang="zh-CN" altLang="en-US" sz="3200">
                <a:solidFill>
                  <a:schemeClr val="tx2"/>
                </a:solidFill>
              </a:rPr>
              <a:t>为电路提供一个用于监视系统运行的监视线</a:t>
            </a:r>
            <a:r>
              <a:rPr lang="en-US" altLang="zh-CN" sz="3200">
                <a:solidFill>
                  <a:schemeClr val="tx2"/>
                </a:solidFill>
              </a:rPr>
              <a:t>(WDI)</a:t>
            </a:r>
            <a:r>
              <a:rPr lang="zh-CN" altLang="en-US" sz="3200">
                <a:solidFill>
                  <a:schemeClr val="tx2"/>
                </a:solidFill>
              </a:rPr>
              <a:t>，当系统正常运行时，应在规定的时间内给监视线提供一个高低电平发生变化的信号，如果在规定的时间内这个信号不发生变化，自动复位电路就认为系统运行不正常并重新对系统进行复位。</a:t>
            </a:r>
          </a:p>
        </p:txBody>
      </p:sp>
    </p:spTree>
  </p:cSld>
  <p:clrMapOvr>
    <a:masterClrMapping/>
  </p:clrMapOvr>
  <p:transition spd="med">
    <p:pull dir="lu"/>
  </p:transition>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bwMode="auto">
          <a:xfrm>
            <a:off x="2362200" y="1066800"/>
            <a:ext cx="42672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五、主机接口</a:t>
            </a:r>
            <a:r>
              <a:rPr lang="zh-CN" altLang="en-US"/>
              <a:t> </a:t>
            </a:r>
          </a:p>
        </p:txBody>
      </p:sp>
      <p:sp>
        <p:nvSpPr>
          <p:cNvPr id="601091" name="Rectangle 3" descr="小棋盘"/>
          <p:cNvSpPr>
            <a:spLocks noGrp="1" noChangeArrowheads="1"/>
          </p:cNvSpPr>
          <p:nvPr>
            <p:ph idx="1"/>
          </p:nvPr>
        </p:nvSpPr>
        <p:spPr bwMode="auto">
          <a:xfrm>
            <a:off x="157163" y="2565400"/>
            <a:ext cx="1751012" cy="3130550"/>
          </a:xfrm>
          <a:pattFill prst="smCheck">
            <a:fgClr>
              <a:schemeClr val="accent1"/>
            </a:fgClr>
            <a:bgClr>
              <a:schemeClr val="bg1"/>
            </a:bgClr>
          </a:pattFill>
          <a:ln w="3175">
            <a:solidFill>
              <a:srgbClr val="FF00FF"/>
            </a:solidFill>
            <a:miter lim="800000"/>
            <a:headEnd/>
            <a:tailEnd/>
          </a:ln>
        </p:spPr>
        <p:txBody>
          <a:bodyPr vert="horz" wrap="square" lIns="91440" tIns="45720" rIns="91440" bIns="45720" numCol="1" anchor="t" anchorCtr="0" compatLnSpc="1">
            <a:prstTxWarp prst="textNoShape">
              <a:avLst/>
            </a:prstTxWarp>
          </a:bodyPr>
          <a:lstStyle/>
          <a:p>
            <a:pPr marL="0" indent="0" eaLnBrk="1" hangingPunct="1">
              <a:lnSpc>
                <a:spcPct val="90000"/>
              </a:lnSpc>
              <a:defRPr/>
            </a:pPr>
            <a:r>
              <a:rPr lang="zh-CN" altLang="en-US" sz="3600" b="1">
                <a:solidFill>
                  <a:srgbClr val="FF0000"/>
                </a:solidFill>
                <a:latin typeface="宋体" pitchFamily="2" charset="-122"/>
              </a:rPr>
              <a:t>功能</a:t>
            </a:r>
          </a:p>
          <a:p>
            <a:pPr marL="0" indent="0" eaLnBrk="1" hangingPunct="1">
              <a:lnSpc>
                <a:spcPct val="90000"/>
              </a:lnSpc>
              <a:buFontTx/>
              <a:buNone/>
              <a:defRPr/>
            </a:pPr>
            <a:r>
              <a:rPr lang="zh-CN" altLang="en-US" sz="2800" b="1">
                <a:solidFill>
                  <a:schemeClr val="tx2"/>
                </a:solidFill>
                <a:effectLst>
                  <a:outerShdw blurRad="38100" dist="38100" dir="2700000" algn="tl">
                    <a:srgbClr val="C0C0C0"/>
                  </a:outerShdw>
                </a:effectLst>
              </a:rPr>
              <a:t>用来与主设备或主处理器接口。</a:t>
            </a:r>
            <a:r>
              <a:rPr lang="zh-CN" altLang="en-US" sz="3600" b="1">
                <a:latin typeface="宋体" pitchFamily="2" charset="-122"/>
              </a:rPr>
              <a:t> </a:t>
            </a:r>
          </a:p>
          <a:p>
            <a:pPr marL="0" indent="0" eaLnBrk="1" hangingPunct="1">
              <a:lnSpc>
                <a:spcPct val="90000"/>
              </a:lnSpc>
              <a:defRPr/>
            </a:pPr>
            <a:r>
              <a:rPr lang="zh-CN" altLang="en-US" sz="3600" b="1">
                <a:solidFill>
                  <a:srgbClr val="FF0000"/>
                </a:solidFill>
                <a:latin typeface="宋体" pitchFamily="2" charset="-122"/>
              </a:rPr>
              <a:t>结构</a:t>
            </a:r>
          </a:p>
        </p:txBody>
      </p:sp>
      <p:sp>
        <p:nvSpPr>
          <p:cNvPr id="10342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2A4DB88-3A76-4B5E-BA5B-BAC8974537DD}" type="slidenum">
              <a:rPr lang="en-US" altLang="zh-CN" sz="1400" b="0"/>
              <a:pPr eaLnBrk="1" hangingPunct="1"/>
              <a:t>90</a:t>
            </a:fld>
            <a:endParaRPr lang="en-US" altLang="zh-CN" sz="1400" b="0"/>
          </a:p>
        </p:txBody>
      </p:sp>
      <p:sp>
        <p:nvSpPr>
          <p:cNvPr id="103429" name="Rectangle 76"/>
          <p:cNvSpPr>
            <a:spLocks noChangeArrowheads="1"/>
          </p:cNvSpPr>
          <p:nvPr/>
        </p:nvSpPr>
        <p:spPr bwMode="auto">
          <a:xfrm>
            <a:off x="2843213" y="1916113"/>
            <a:ext cx="4897437" cy="4464050"/>
          </a:xfrm>
          <a:prstGeom prst="rect">
            <a:avLst/>
          </a:prstGeom>
          <a:solidFill>
            <a:srgbClr val="FFFF99"/>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430" name="Text Box 10"/>
          <p:cNvSpPr txBox="1">
            <a:spLocks noChangeArrowheads="1"/>
          </p:cNvSpPr>
          <p:nvPr/>
        </p:nvSpPr>
        <p:spPr bwMode="auto">
          <a:xfrm>
            <a:off x="5580063" y="2133600"/>
            <a:ext cx="2016125" cy="425450"/>
          </a:xfrm>
          <a:prstGeom prst="rect">
            <a:avLst/>
          </a:prstGeom>
          <a:solidFill>
            <a:srgbClr val="FF00FF"/>
          </a:solidFill>
          <a:ln w="28575">
            <a:solidFill>
              <a:schemeClr val="tx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HPI</a:t>
            </a:r>
            <a:r>
              <a:rPr lang="zh-CN" altLang="en-US">
                <a:solidFill>
                  <a:schemeClr val="bg1"/>
                </a:solidFill>
              </a:rPr>
              <a:t>控制寄存器</a:t>
            </a:r>
          </a:p>
        </p:txBody>
      </p:sp>
      <p:sp>
        <p:nvSpPr>
          <p:cNvPr id="103431" name="Text Box 11"/>
          <p:cNvSpPr txBox="1">
            <a:spLocks noChangeArrowheads="1"/>
          </p:cNvSpPr>
          <p:nvPr/>
        </p:nvSpPr>
        <p:spPr bwMode="auto">
          <a:xfrm>
            <a:off x="3286125" y="2422525"/>
            <a:ext cx="158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tx2"/>
                </a:solidFill>
              </a:rPr>
              <a:t>数据锁存器</a:t>
            </a:r>
          </a:p>
        </p:txBody>
      </p:sp>
      <p:sp>
        <p:nvSpPr>
          <p:cNvPr id="103432" name="Text Box 12"/>
          <p:cNvSpPr txBox="1">
            <a:spLocks noChangeArrowheads="1"/>
          </p:cNvSpPr>
          <p:nvPr/>
        </p:nvSpPr>
        <p:spPr bwMode="auto">
          <a:xfrm>
            <a:off x="3292475" y="3892550"/>
            <a:ext cx="158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00FF"/>
                </a:solidFill>
              </a:rPr>
              <a:t>地址寄存器</a:t>
            </a:r>
          </a:p>
        </p:txBody>
      </p:sp>
      <p:sp>
        <p:nvSpPr>
          <p:cNvPr id="103433" name="Text Box 13"/>
          <p:cNvSpPr txBox="1">
            <a:spLocks noChangeArrowheads="1"/>
          </p:cNvSpPr>
          <p:nvPr/>
        </p:nvSpPr>
        <p:spPr bwMode="auto">
          <a:xfrm>
            <a:off x="2987675" y="5510213"/>
            <a:ext cx="1873250" cy="425450"/>
          </a:xfrm>
          <a:prstGeom prst="rect">
            <a:avLst/>
          </a:prstGeom>
          <a:solidFill>
            <a:srgbClr val="FF6600"/>
          </a:solidFill>
          <a:ln w="28575">
            <a:solidFill>
              <a:schemeClr val="tx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HPI</a:t>
            </a:r>
            <a:r>
              <a:rPr lang="zh-CN" altLang="en-US">
                <a:solidFill>
                  <a:schemeClr val="bg1"/>
                </a:solidFill>
              </a:rPr>
              <a:t>控制逻辑</a:t>
            </a:r>
          </a:p>
        </p:txBody>
      </p:sp>
      <p:sp>
        <p:nvSpPr>
          <p:cNvPr id="103434" name="Text Box 14"/>
          <p:cNvSpPr txBox="1">
            <a:spLocks noChangeArrowheads="1"/>
          </p:cNvSpPr>
          <p:nvPr/>
        </p:nvSpPr>
        <p:spPr bwMode="auto">
          <a:xfrm>
            <a:off x="5040313" y="5481638"/>
            <a:ext cx="2016125" cy="760412"/>
          </a:xfrm>
          <a:prstGeom prst="rect">
            <a:avLst/>
          </a:prstGeom>
          <a:solidFill>
            <a:schemeClr val="folHlink"/>
          </a:solidFill>
          <a:ln w="28575">
            <a:solidFill>
              <a:schemeClr val="tx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10000"/>
              </a:spcBef>
            </a:pPr>
            <a:r>
              <a:rPr lang="zh-CN" altLang="en-US">
                <a:solidFill>
                  <a:schemeClr val="bg2"/>
                </a:solidFill>
              </a:rPr>
              <a:t>数据      地址</a:t>
            </a:r>
          </a:p>
          <a:p>
            <a:pPr algn="ctr" eaLnBrk="1" hangingPunct="1">
              <a:spcBef>
                <a:spcPct val="10000"/>
              </a:spcBef>
            </a:pPr>
            <a:r>
              <a:rPr lang="en-US" altLang="zh-CN">
                <a:solidFill>
                  <a:schemeClr val="bg2"/>
                </a:solidFill>
              </a:rPr>
              <a:t>HPI</a:t>
            </a:r>
            <a:r>
              <a:rPr lang="zh-CN" altLang="en-US">
                <a:solidFill>
                  <a:schemeClr val="bg2"/>
                </a:solidFill>
              </a:rPr>
              <a:t>存储器块</a:t>
            </a:r>
          </a:p>
        </p:txBody>
      </p:sp>
      <p:sp>
        <p:nvSpPr>
          <p:cNvPr id="103435" name="Text Box 15"/>
          <p:cNvSpPr txBox="1">
            <a:spLocks noChangeArrowheads="1"/>
          </p:cNvSpPr>
          <p:nvPr/>
        </p:nvSpPr>
        <p:spPr bwMode="auto">
          <a:xfrm>
            <a:off x="5724525" y="3284538"/>
            <a:ext cx="158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二选一开关</a:t>
            </a:r>
          </a:p>
        </p:txBody>
      </p:sp>
      <p:sp>
        <p:nvSpPr>
          <p:cNvPr id="103436" name="Text Box 16"/>
          <p:cNvSpPr txBox="1">
            <a:spLocks noChangeArrowheads="1"/>
          </p:cNvSpPr>
          <p:nvPr/>
        </p:nvSpPr>
        <p:spPr bwMode="auto">
          <a:xfrm>
            <a:off x="7667625" y="2565400"/>
            <a:ext cx="1260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folHlink"/>
                </a:solidFill>
              </a:rPr>
              <a:t>DSP</a:t>
            </a:r>
            <a:r>
              <a:rPr lang="zh-CN" altLang="en-US">
                <a:solidFill>
                  <a:schemeClr val="folHlink"/>
                </a:solidFill>
              </a:rPr>
              <a:t>数据</a:t>
            </a:r>
          </a:p>
        </p:txBody>
      </p:sp>
      <p:sp>
        <p:nvSpPr>
          <p:cNvPr id="103437" name="Text Box 18"/>
          <p:cNvSpPr txBox="1">
            <a:spLocks noChangeArrowheads="1"/>
          </p:cNvSpPr>
          <p:nvPr/>
        </p:nvSpPr>
        <p:spPr bwMode="auto">
          <a:xfrm>
            <a:off x="2051050" y="2773363"/>
            <a:ext cx="7921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FF00FF"/>
                </a:solidFill>
              </a:rPr>
              <a:t>主机接口数据</a:t>
            </a:r>
          </a:p>
        </p:txBody>
      </p:sp>
      <p:sp>
        <p:nvSpPr>
          <p:cNvPr id="103438" name="Text Box 19"/>
          <p:cNvSpPr txBox="1">
            <a:spLocks noChangeArrowheads="1"/>
          </p:cNvSpPr>
          <p:nvPr/>
        </p:nvSpPr>
        <p:spPr bwMode="auto">
          <a:xfrm>
            <a:off x="2051050" y="4652963"/>
            <a:ext cx="7921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FF0000"/>
                </a:solidFill>
              </a:rPr>
              <a:t>接口控制信号</a:t>
            </a:r>
          </a:p>
        </p:txBody>
      </p:sp>
      <p:sp>
        <p:nvSpPr>
          <p:cNvPr id="103439" name="Text Box 20"/>
          <p:cNvSpPr txBox="1">
            <a:spLocks noChangeArrowheads="1"/>
          </p:cNvSpPr>
          <p:nvPr/>
        </p:nvSpPr>
        <p:spPr bwMode="auto">
          <a:xfrm>
            <a:off x="3419475" y="4321175"/>
            <a:ext cx="431800" cy="882650"/>
          </a:xfrm>
          <a:prstGeom prst="rect">
            <a:avLst/>
          </a:prstGeom>
          <a:solidFill>
            <a:srgbClr val="FF00FF"/>
          </a:solidFill>
          <a:ln w="28575">
            <a:solidFill>
              <a:schemeClr val="tx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p:txBody>
      </p:sp>
      <p:sp>
        <p:nvSpPr>
          <p:cNvPr id="103440" name="Text Box 21"/>
          <p:cNvSpPr txBox="1">
            <a:spLocks noChangeArrowheads="1"/>
          </p:cNvSpPr>
          <p:nvPr/>
        </p:nvSpPr>
        <p:spPr bwMode="auto">
          <a:xfrm>
            <a:off x="3419475" y="2846388"/>
            <a:ext cx="431800" cy="882650"/>
          </a:xfrm>
          <a:prstGeom prst="rect">
            <a:avLst/>
          </a:prstGeom>
          <a:solidFill>
            <a:schemeClr val="bg2"/>
          </a:solidFill>
          <a:ln w="28575">
            <a:solidFill>
              <a:schemeClr val="tx1"/>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p:txBody>
      </p:sp>
      <p:sp>
        <p:nvSpPr>
          <p:cNvPr id="103441" name="Line 22"/>
          <p:cNvSpPr>
            <a:spLocks noChangeShapeType="1"/>
          </p:cNvSpPr>
          <p:nvPr/>
        </p:nvSpPr>
        <p:spPr bwMode="auto">
          <a:xfrm>
            <a:off x="3059113" y="2341563"/>
            <a:ext cx="0" cy="266382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42" name="Line 23"/>
          <p:cNvSpPr>
            <a:spLocks noChangeShapeType="1"/>
          </p:cNvSpPr>
          <p:nvPr/>
        </p:nvSpPr>
        <p:spPr bwMode="auto">
          <a:xfrm>
            <a:off x="3059113" y="2341563"/>
            <a:ext cx="2520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43" name="Line 24"/>
          <p:cNvSpPr>
            <a:spLocks noChangeShapeType="1"/>
          </p:cNvSpPr>
          <p:nvPr/>
        </p:nvSpPr>
        <p:spPr bwMode="auto">
          <a:xfrm>
            <a:off x="3419475" y="3278188"/>
            <a:ext cx="431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44" name="Line 25"/>
          <p:cNvSpPr>
            <a:spLocks noChangeShapeType="1"/>
          </p:cNvSpPr>
          <p:nvPr/>
        </p:nvSpPr>
        <p:spPr bwMode="auto">
          <a:xfrm>
            <a:off x="3059113" y="3062288"/>
            <a:ext cx="360362"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45" name="Line 26"/>
          <p:cNvSpPr>
            <a:spLocks noChangeShapeType="1"/>
          </p:cNvSpPr>
          <p:nvPr/>
        </p:nvSpPr>
        <p:spPr bwMode="auto">
          <a:xfrm>
            <a:off x="3059113" y="3494088"/>
            <a:ext cx="360362"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46" name="Line 27"/>
          <p:cNvSpPr>
            <a:spLocks noChangeShapeType="1"/>
          </p:cNvSpPr>
          <p:nvPr/>
        </p:nvSpPr>
        <p:spPr bwMode="auto">
          <a:xfrm>
            <a:off x="3851275" y="3494088"/>
            <a:ext cx="360363" cy="0"/>
          </a:xfrm>
          <a:prstGeom prst="line">
            <a:avLst/>
          </a:prstGeom>
          <a:noFill/>
          <a:ln w="28575">
            <a:solidFill>
              <a:schemeClr val="folHlink"/>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47" name="Line 28"/>
          <p:cNvSpPr>
            <a:spLocks noChangeShapeType="1"/>
          </p:cNvSpPr>
          <p:nvPr/>
        </p:nvSpPr>
        <p:spPr bwMode="auto">
          <a:xfrm>
            <a:off x="3851275" y="2989263"/>
            <a:ext cx="360363" cy="0"/>
          </a:xfrm>
          <a:prstGeom prst="line">
            <a:avLst/>
          </a:prstGeom>
          <a:noFill/>
          <a:ln w="28575">
            <a:solidFill>
              <a:schemeClr val="folHlink"/>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48" name="Line 29"/>
          <p:cNvSpPr>
            <a:spLocks noChangeShapeType="1"/>
          </p:cNvSpPr>
          <p:nvPr/>
        </p:nvSpPr>
        <p:spPr bwMode="auto">
          <a:xfrm>
            <a:off x="4211638" y="2989263"/>
            <a:ext cx="0" cy="504825"/>
          </a:xfrm>
          <a:prstGeom prst="line">
            <a:avLst/>
          </a:prstGeom>
          <a:noFill/>
          <a:ln w="28575">
            <a:solidFill>
              <a:schemeClr val="folHlink"/>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49" name="Text Box 30"/>
          <p:cNvSpPr txBox="1">
            <a:spLocks noChangeArrowheads="1"/>
          </p:cNvSpPr>
          <p:nvPr/>
        </p:nvSpPr>
        <p:spPr bwMode="auto">
          <a:xfrm>
            <a:off x="3851275" y="2989263"/>
            <a:ext cx="288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folHlink"/>
                </a:solidFill>
              </a:rPr>
              <a:t>8</a:t>
            </a:r>
          </a:p>
        </p:txBody>
      </p:sp>
      <p:sp>
        <p:nvSpPr>
          <p:cNvPr id="103450" name="Text Box 31"/>
          <p:cNvSpPr txBox="1">
            <a:spLocks noChangeArrowheads="1"/>
          </p:cNvSpPr>
          <p:nvPr/>
        </p:nvSpPr>
        <p:spPr bwMode="auto">
          <a:xfrm>
            <a:off x="3851275" y="3494088"/>
            <a:ext cx="288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folHlink"/>
                </a:solidFill>
              </a:rPr>
              <a:t>8</a:t>
            </a:r>
          </a:p>
        </p:txBody>
      </p:sp>
      <p:sp>
        <p:nvSpPr>
          <p:cNvPr id="103451" name="Line 32"/>
          <p:cNvSpPr>
            <a:spLocks noChangeShapeType="1"/>
          </p:cNvSpPr>
          <p:nvPr/>
        </p:nvSpPr>
        <p:spPr bwMode="auto">
          <a:xfrm flipH="1">
            <a:off x="3995738" y="2917825"/>
            <a:ext cx="71437" cy="144463"/>
          </a:xfrm>
          <a:prstGeom prst="line">
            <a:avLst/>
          </a:prstGeom>
          <a:noFill/>
          <a:ln w="952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52" name="Line 33"/>
          <p:cNvSpPr>
            <a:spLocks noChangeShapeType="1"/>
          </p:cNvSpPr>
          <p:nvPr/>
        </p:nvSpPr>
        <p:spPr bwMode="auto">
          <a:xfrm flipH="1">
            <a:off x="3995738" y="3421063"/>
            <a:ext cx="71437" cy="144462"/>
          </a:xfrm>
          <a:prstGeom prst="line">
            <a:avLst/>
          </a:prstGeom>
          <a:noFill/>
          <a:ln w="952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53" name="Line 34"/>
          <p:cNvSpPr>
            <a:spLocks noChangeShapeType="1"/>
          </p:cNvSpPr>
          <p:nvPr/>
        </p:nvSpPr>
        <p:spPr bwMode="auto">
          <a:xfrm>
            <a:off x="3419475" y="4789488"/>
            <a:ext cx="431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54" name="Line 35"/>
          <p:cNvSpPr>
            <a:spLocks noChangeShapeType="1"/>
          </p:cNvSpPr>
          <p:nvPr/>
        </p:nvSpPr>
        <p:spPr bwMode="auto">
          <a:xfrm>
            <a:off x="3059113" y="4573588"/>
            <a:ext cx="360362"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55" name="Line 36"/>
          <p:cNvSpPr>
            <a:spLocks noChangeShapeType="1"/>
          </p:cNvSpPr>
          <p:nvPr/>
        </p:nvSpPr>
        <p:spPr bwMode="auto">
          <a:xfrm>
            <a:off x="3059113" y="5005388"/>
            <a:ext cx="360362" cy="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56" name="Line 37"/>
          <p:cNvSpPr>
            <a:spLocks noChangeShapeType="1"/>
          </p:cNvSpPr>
          <p:nvPr/>
        </p:nvSpPr>
        <p:spPr bwMode="auto">
          <a:xfrm>
            <a:off x="3851275" y="5005388"/>
            <a:ext cx="360363" cy="0"/>
          </a:xfrm>
          <a:prstGeom prst="line">
            <a:avLst/>
          </a:prstGeom>
          <a:noFill/>
          <a:ln w="28575">
            <a:solidFill>
              <a:srgbClr val="FF66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57" name="Line 38"/>
          <p:cNvSpPr>
            <a:spLocks noChangeShapeType="1"/>
          </p:cNvSpPr>
          <p:nvPr/>
        </p:nvSpPr>
        <p:spPr bwMode="auto">
          <a:xfrm>
            <a:off x="4211638" y="4500563"/>
            <a:ext cx="0" cy="504825"/>
          </a:xfrm>
          <a:prstGeom prst="line">
            <a:avLst/>
          </a:prstGeom>
          <a:noFill/>
          <a:ln w="28575">
            <a:solidFill>
              <a:srgbClr val="FF66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58" name="Text Box 39"/>
          <p:cNvSpPr txBox="1">
            <a:spLocks noChangeArrowheads="1"/>
          </p:cNvSpPr>
          <p:nvPr/>
        </p:nvSpPr>
        <p:spPr bwMode="auto">
          <a:xfrm>
            <a:off x="3851275" y="4500563"/>
            <a:ext cx="288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6600"/>
                </a:solidFill>
              </a:rPr>
              <a:t>8</a:t>
            </a:r>
          </a:p>
        </p:txBody>
      </p:sp>
      <p:sp>
        <p:nvSpPr>
          <p:cNvPr id="103459" name="Line 40"/>
          <p:cNvSpPr>
            <a:spLocks noChangeShapeType="1"/>
          </p:cNvSpPr>
          <p:nvPr/>
        </p:nvSpPr>
        <p:spPr bwMode="auto">
          <a:xfrm flipH="1">
            <a:off x="3995738" y="4429125"/>
            <a:ext cx="71437" cy="144463"/>
          </a:xfrm>
          <a:prstGeom prst="line">
            <a:avLst/>
          </a:prstGeom>
          <a:noFill/>
          <a:ln w="9525">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0" name="Line 41"/>
          <p:cNvSpPr>
            <a:spLocks noChangeShapeType="1"/>
          </p:cNvSpPr>
          <p:nvPr/>
        </p:nvSpPr>
        <p:spPr bwMode="auto">
          <a:xfrm flipH="1">
            <a:off x="3995738" y="4932363"/>
            <a:ext cx="71437" cy="144462"/>
          </a:xfrm>
          <a:prstGeom prst="line">
            <a:avLst/>
          </a:prstGeom>
          <a:noFill/>
          <a:ln w="9525">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1" name="Line 42"/>
          <p:cNvSpPr>
            <a:spLocks noChangeShapeType="1"/>
          </p:cNvSpPr>
          <p:nvPr/>
        </p:nvSpPr>
        <p:spPr bwMode="auto">
          <a:xfrm>
            <a:off x="3851275" y="4502150"/>
            <a:ext cx="360363" cy="0"/>
          </a:xfrm>
          <a:prstGeom prst="line">
            <a:avLst/>
          </a:prstGeom>
          <a:noFill/>
          <a:ln w="28575">
            <a:solidFill>
              <a:srgbClr val="FF66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2" name="Text Box 43"/>
          <p:cNvSpPr txBox="1">
            <a:spLocks noChangeArrowheads="1"/>
          </p:cNvSpPr>
          <p:nvPr/>
        </p:nvSpPr>
        <p:spPr bwMode="auto">
          <a:xfrm>
            <a:off x="3851275" y="5005388"/>
            <a:ext cx="288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6600"/>
                </a:solidFill>
              </a:rPr>
              <a:t>8</a:t>
            </a:r>
          </a:p>
        </p:txBody>
      </p:sp>
      <p:sp>
        <p:nvSpPr>
          <p:cNvPr id="103463" name="Line 45"/>
          <p:cNvSpPr>
            <a:spLocks noChangeShapeType="1"/>
          </p:cNvSpPr>
          <p:nvPr/>
        </p:nvSpPr>
        <p:spPr bwMode="auto">
          <a:xfrm>
            <a:off x="4211638" y="2989263"/>
            <a:ext cx="792162" cy="0"/>
          </a:xfrm>
          <a:prstGeom prst="line">
            <a:avLst/>
          </a:prstGeom>
          <a:noFill/>
          <a:ln w="57150">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4" name="Line 46"/>
          <p:cNvSpPr>
            <a:spLocks noChangeShapeType="1"/>
          </p:cNvSpPr>
          <p:nvPr/>
        </p:nvSpPr>
        <p:spPr bwMode="auto">
          <a:xfrm>
            <a:off x="4211638" y="4502150"/>
            <a:ext cx="2447925" cy="0"/>
          </a:xfrm>
          <a:prstGeom prst="line">
            <a:avLst/>
          </a:prstGeom>
          <a:noFill/>
          <a:ln w="57150">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5" name="Text Box 47"/>
          <p:cNvSpPr txBox="1">
            <a:spLocks noChangeArrowheads="1"/>
          </p:cNvSpPr>
          <p:nvPr/>
        </p:nvSpPr>
        <p:spPr bwMode="auto">
          <a:xfrm>
            <a:off x="4787900" y="3349625"/>
            <a:ext cx="865188" cy="425450"/>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MUX</a:t>
            </a:r>
          </a:p>
        </p:txBody>
      </p:sp>
      <p:sp>
        <p:nvSpPr>
          <p:cNvPr id="103466" name="Line 48"/>
          <p:cNvSpPr>
            <a:spLocks noChangeShapeType="1"/>
          </p:cNvSpPr>
          <p:nvPr/>
        </p:nvSpPr>
        <p:spPr bwMode="auto">
          <a:xfrm>
            <a:off x="5003800" y="2989263"/>
            <a:ext cx="0" cy="360362"/>
          </a:xfrm>
          <a:prstGeom prst="line">
            <a:avLst/>
          </a:prstGeom>
          <a:noFill/>
          <a:ln w="5715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67" name="Line 49"/>
          <p:cNvSpPr>
            <a:spLocks noChangeShapeType="1"/>
          </p:cNvSpPr>
          <p:nvPr/>
        </p:nvSpPr>
        <p:spPr bwMode="auto">
          <a:xfrm>
            <a:off x="5364163" y="2989263"/>
            <a:ext cx="0" cy="360362"/>
          </a:xfrm>
          <a:prstGeom prst="line">
            <a:avLst/>
          </a:prstGeom>
          <a:noFill/>
          <a:ln w="5715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68" name="Line 50"/>
          <p:cNvSpPr>
            <a:spLocks noChangeShapeType="1"/>
          </p:cNvSpPr>
          <p:nvPr/>
        </p:nvSpPr>
        <p:spPr bwMode="auto">
          <a:xfrm>
            <a:off x="5364163" y="2989263"/>
            <a:ext cx="3024187" cy="0"/>
          </a:xfrm>
          <a:prstGeom prst="line">
            <a:avLst/>
          </a:prstGeom>
          <a:noFill/>
          <a:ln w="5715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69" name="Text Box 51"/>
          <p:cNvSpPr txBox="1">
            <a:spLocks noChangeArrowheads="1"/>
          </p:cNvSpPr>
          <p:nvPr/>
        </p:nvSpPr>
        <p:spPr bwMode="auto">
          <a:xfrm>
            <a:off x="6011863" y="4076700"/>
            <a:ext cx="158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二选一开关</a:t>
            </a:r>
          </a:p>
        </p:txBody>
      </p:sp>
      <p:sp>
        <p:nvSpPr>
          <p:cNvPr id="103470" name="Text Box 52"/>
          <p:cNvSpPr txBox="1">
            <a:spLocks noChangeArrowheads="1"/>
          </p:cNvSpPr>
          <p:nvPr/>
        </p:nvSpPr>
        <p:spPr bwMode="auto">
          <a:xfrm>
            <a:off x="7667625" y="4076700"/>
            <a:ext cx="1260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6600"/>
                </a:solidFill>
              </a:rPr>
              <a:t>DSP</a:t>
            </a:r>
            <a:r>
              <a:rPr lang="zh-CN" altLang="en-US">
                <a:solidFill>
                  <a:srgbClr val="FF6600"/>
                </a:solidFill>
              </a:rPr>
              <a:t>地址</a:t>
            </a:r>
          </a:p>
        </p:txBody>
      </p:sp>
      <p:sp>
        <p:nvSpPr>
          <p:cNvPr id="103471" name="Line 54"/>
          <p:cNvSpPr>
            <a:spLocks noChangeShapeType="1"/>
          </p:cNvSpPr>
          <p:nvPr/>
        </p:nvSpPr>
        <p:spPr bwMode="auto">
          <a:xfrm>
            <a:off x="5219700" y="3781425"/>
            <a:ext cx="0" cy="1700213"/>
          </a:xfrm>
          <a:prstGeom prst="line">
            <a:avLst/>
          </a:prstGeom>
          <a:noFill/>
          <a:ln w="57150">
            <a:solidFill>
              <a:schemeClr val="bg2"/>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72" name="Line 56"/>
          <p:cNvSpPr>
            <a:spLocks noChangeShapeType="1"/>
          </p:cNvSpPr>
          <p:nvPr/>
        </p:nvSpPr>
        <p:spPr bwMode="auto">
          <a:xfrm>
            <a:off x="7019925" y="4502150"/>
            <a:ext cx="1368425" cy="0"/>
          </a:xfrm>
          <a:prstGeom prst="line">
            <a:avLst/>
          </a:prstGeom>
          <a:noFill/>
          <a:ln w="571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73" name="Text Box 58"/>
          <p:cNvSpPr txBox="1">
            <a:spLocks noChangeArrowheads="1"/>
          </p:cNvSpPr>
          <p:nvPr/>
        </p:nvSpPr>
        <p:spPr bwMode="auto">
          <a:xfrm>
            <a:off x="6443663" y="4762500"/>
            <a:ext cx="865187" cy="333375"/>
          </a:xfrm>
          <a:prstGeom prst="rect">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a:t>MUX</a:t>
            </a:r>
          </a:p>
        </p:txBody>
      </p:sp>
      <p:sp>
        <p:nvSpPr>
          <p:cNvPr id="103474" name="Line 59"/>
          <p:cNvSpPr>
            <a:spLocks noChangeShapeType="1"/>
          </p:cNvSpPr>
          <p:nvPr/>
        </p:nvSpPr>
        <p:spPr bwMode="auto">
          <a:xfrm>
            <a:off x="6659563" y="4484688"/>
            <a:ext cx="0" cy="260350"/>
          </a:xfrm>
          <a:prstGeom prst="line">
            <a:avLst/>
          </a:prstGeom>
          <a:noFill/>
          <a:ln w="571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75" name="Line 60"/>
          <p:cNvSpPr>
            <a:spLocks noChangeShapeType="1"/>
          </p:cNvSpPr>
          <p:nvPr/>
        </p:nvSpPr>
        <p:spPr bwMode="auto">
          <a:xfrm>
            <a:off x="7019925" y="4478338"/>
            <a:ext cx="0" cy="266700"/>
          </a:xfrm>
          <a:prstGeom prst="line">
            <a:avLst/>
          </a:prstGeom>
          <a:noFill/>
          <a:ln w="571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76" name="Line 61"/>
          <p:cNvSpPr>
            <a:spLocks noChangeShapeType="1"/>
          </p:cNvSpPr>
          <p:nvPr/>
        </p:nvSpPr>
        <p:spPr bwMode="auto">
          <a:xfrm>
            <a:off x="6840538" y="5102225"/>
            <a:ext cx="0" cy="379413"/>
          </a:xfrm>
          <a:prstGeom prst="line">
            <a:avLst/>
          </a:prstGeom>
          <a:noFill/>
          <a:ln w="57150">
            <a:solidFill>
              <a:srgbClr val="FF6600"/>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77" name="Line 62"/>
          <p:cNvSpPr>
            <a:spLocks noChangeShapeType="1"/>
          </p:cNvSpPr>
          <p:nvPr/>
        </p:nvSpPr>
        <p:spPr bwMode="auto">
          <a:xfrm>
            <a:off x="2124075" y="3925888"/>
            <a:ext cx="936625" cy="0"/>
          </a:xfrm>
          <a:prstGeom prst="line">
            <a:avLst/>
          </a:prstGeom>
          <a:noFill/>
          <a:ln w="28575">
            <a:solidFill>
              <a:srgbClr val="FF00FF"/>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78" name="Line 63"/>
          <p:cNvSpPr>
            <a:spLocks noChangeShapeType="1"/>
          </p:cNvSpPr>
          <p:nvPr/>
        </p:nvSpPr>
        <p:spPr bwMode="auto">
          <a:xfrm flipH="1">
            <a:off x="2555875" y="3854450"/>
            <a:ext cx="71438" cy="144463"/>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9" name="Text Box 64"/>
          <p:cNvSpPr txBox="1">
            <a:spLocks noChangeArrowheads="1"/>
          </p:cNvSpPr>
          <p:nvPr/>
        </p:nvSpPr>
        <p:spPr bwMode="auto">
          <a:xfrm>
            <a:off x="2411413" y="3925888"/>
            <a:ext cx="288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a:t>
            </a:r>
          </a:p>
        </p:txBody>
      </p:sp>
      <p:sp>
        <p:nvSpPr>
          <p:cNvPr id="103480" name="Line 65"/>
          <p:cNvSpPr>
            <a:spLocks noChangeShapeType="1"/>
          </p:cNvSpPr>
          <p:nvPr/>
        </p:nvSpPr>
        <p:spPr bwMode="auto">
          <a:xfrm>
            <a:off x="2051050" y="5726113"/>
            <a:ext cx="936625" cy="0"/>
          </a:xfrm>
          <a:prstGeom prst="line">
            <a:avLst/>
          </a:prstGeom>
          <a:noFill/>
          <a:ln w="38100">
            <a:solidFill>
              <a:srgbClr val="FF0000"/>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81" name="Line 66"/>
          <p:cNvSpPr>
            <a:spLocks noChangeShapeType="1"/>
          </p:cNvSpPr>
          <p:nvPr/>
        </p:nvSpPr>
        <p:spPr bwMode="auto">
          <a:xfrm flipH="1">
            <a:off x="2482850" y="5654675"/>
            <a:ext cx="71438" cy="144463"/>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2" name="Text Box 67"/>
          <p:cNvSpPr txBox="1">
            <a:spLocks noChangeArrowheads="1"/>
          </p:cNvSpPr>
          <p:nvPr/>
        </p:nvSpPr>
        <p:spPr bwMode="auto">
          <a:xfrm>
            <a:off x="2268538" y="5726113"/>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0000"/>
                </a:solidFill>
              </a:rPr>
              <a:t>10</a:t>
            </a:r>
          </a:p>
        </p:txBody>
      </p:sp>
      <p:sp>
        <p:nvSpPr>
          <p:cNvPr id="103483" name="Line 68"/>
          <p:cNvSpPr>
            <a:spLocks noChangeShapeType="1"/>
          </p:cNvSpPr>
          <p:nvPr/>
        </p:nvSpPr>
        <p:spPr bwMode="auto">
          <a:xfrm flipH="1">
            <a:off x="5100638" y="4076700"/>
            <a:ext cx="214312" cy="144463"/>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4" name="Text Box 69"/>
          <p:cNvSpPr txBox="1">
            <a:spLocks noChangeArrowheads="1"/>
          </p:cNvSpPr>
          <p:nvPr/>
        </p:nvSpPr>
        <p:spPr bwMode="auto">
          <a:xfrm>
            <a:off x="5292725" y="38608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2"/>
                </a:solidFill>
              </a:rPr>
              <a:t>16</a:t>
            </a:r>
          </a:p>
        </p:txBody>
      </p:sp>
      <p:sp>
        <p:nvSpPr>
          <p:cNvPr id="103485" name="Line 70"/>
          <p:cNvSpPr>
            <a:spLocks noChangeShapeType="1"/>
          </p:cNvSpPr>
          <p:nvPr/>
        </p:nvSpPr>
        <p:spPr bwMode="auto">
          <a:xfrm>
            <a:off x="6588125" y="2557463"/>
            <a:ext cx="0" cy="431800"/>
          </a:xfrm>
          <a:prstGeom prst="line">
            <a:avLst/>
          </a:prstGeom>
          <a:noFill/>
          <a:ln w="57150">
            <a:solidFill>
              <a:schemeClr val="folHlink"/>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6" name="Line 71"/>
          <p:cNvSpPr>
            <a:spLocks noChangeShapeType="1"/>
          </p:cNvSpPr>
          <p:nvPr/>
        </p:nvSpPr>
        <p:spPr bwMode="auto">
          <a:xfrm flipH="1">
            <a:off x="5940425" y="2917825"/>
            <a:ext cx="214313" cy="144463"/>
          </a:xfrm>
          <a:prstGeom prst="line">
            <a:avLst/>
          </a:prstGeom>
          <a:noFill/>
          <a:ln w="952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7" name="Text Box 72"/>
          <p:cNvSpPr txBox="1">
            <a:spLocks noChangeArrowheads="1"/>
          </p:cNvSpPr>
          <p:nvPr/>
        </p:nvSpPr>
        <p:spPr bwMode="auto">
          <a:xfrm>
            <a:off x="5795963" y="2557463"/>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folHlink"/>
                </a:solidFill>
              </a:rPr>
              <a:t>16</a:t>
            </a:r>
          </a:p>
        </p:txBody>
      </p:sp>
      <p:sp>
        <p:nvSpPr>
          <p:cNvPr id="103488" name="Text Box 73"/>
          <p:cNvSpPr txBox="1">
            <a:spLocks noChangeArrowheads="1"/>
          </p:cNvSpPr>
          <p:nvPr/>
        </p:nvSpPr>
        <p:spPr bwMode="auto">
          <a:xfrm>
            <a:off x="5867400" y="4581525"/>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6600"/>
                </a:solidFill>
              </a:rPr>
              <a:t>16</a:t>
            </a:r>
          </a:p>
        </p:txBody>
      </p:sp>
      <p:sp>
        <p:nvSpPr>
          <p:cNvPr id="103489" name="Line 74"/>
          <p:cNvSpPr>
            <a:spLocks noChangeShapeType="1"/>
          </p:cNvSpPr>
          <p:nvPr/>
        </p:nvSpPr>
        <p:spPr bwMode="auto">
          <a:xfrm flipH="1">
            <a:off x="6011863" y="4429125"/>
            <a:ext cx="214312" cy="144463"/>
          </a:xfrm>
          <a:prstGeom prst="line">
            <a:avLst/>
          </a:prstGeom>
          <a:noFill/>
          <a:ln w="9525">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90" name="Text Box 77"/>
          <p:cNvSpPr txBox="1">
            <a:spLocks noChangeArrowheads="1"/>
          </p:cNvSpPr>
          <p:nvPr/>
        </p:nvSpPr>
        <p:spPr bwMode="auto">
          <a:xfrm>
            <a:off x="3381375" y="2852738"/>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CC0000"/>
                </a:solidFill>
              </a:rPr>
              <a:t>高</a:t>
            </a:r>
          </a:p>
        </p:txBody>
      </p:sp>
      <p:sp>
        <p:nvSpPr>
          <p:cNvPr id="103491" name="Text Box 78"/>
          <p:cNvSpPr txBox="1">
            <a:spLocks noChangeArrowheads="1"/>
          </p:cNvSpPr>
          <p:nvPr/>
        </p:nvSpPr>
        <p:spPr bwMode="auto">
          <a:xfrm>
            <a:off x="3419475" y="4365625"/>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高</a:t>
            </a:r>
          </a:p>
        </p:txBody>
      </p:sp>
      <p:sp>
        <p:nvSpPr>
          <p:cNvPr id="103492" name="Text Box 79"/>
          <p:cNvSpPr txBox="1">
            <a:spLocks noChangeArrowheads="1"/>
          </p:cNvSpPr>
          <p:nvPr/>
        </p:nvSpPr>
        <p:spPr bwMode="auto">
          <a:xfrm>
            <a:off x="3419475" y="4797425"/>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低</a:t>
            </a:r>
          </a:p>
        </p:txBody>
      </p:sp>
      <p:sp>
        <p:nvSpPr>
          <p:cNvPr id="103493" name="Text Box 80"/>
          <p:cNvSpPr txBox="1">
            <a:spLocks noChangeArrowheads="1"/>
          </p:cNvSpPr>
          <p:nvPr/>
        </p:nvSpPr>
        <p:spPr bwMode="auto">
          <a:xfrm>
            <a:off x="3419475" y="3284538"/>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CC0000"/>
                </a:solidFill>
              </a:rPr>
              <a:t>低</a:t>
            </a:r>
          </a:p>
        </p:txBody>
      </p:sp>
      <p:sp>
        <p:nvSpPr>
          <p:cNvPr id="2" name="矩形 1"/>
          <p:cNvSpPr/>
          <p:nvPr/>
        </p:nvSpPr>
        <p:spPr>
          <a:xfrm>
            <a:off x="7777163" y="5426056"/>
            <a:ext cx="1260474" cy="954107"/>
          </a:xfrm>
          <a:prstGeom prst="rect">
            <a:avLst/>
          </a:prstGeom>
        </p:spPr>
        <p:txBody>
          <a:bodyPr wrap="square">
            <a:spAutoFit/>
          </a:bodyPr>
          <a:lstStyle/>
          <a:p>
            <a:r>
              <a:rPr lang="en-US" altLang="zh-CN" sz="1400" dirty="0"/>
              <a:t>DARAM</a:t>
            </a:r>
            <a:r>
              <a:rPr lang="zh-CN" altLang="en-US" sz="1400" dirty="0"/>
              <a:t>数据存储空间的地址为</a:t>
            </a:r>
            <a:r>
              <a:rPr lang="en-US" altLang="zh-CN" sz="1400" dirty="0"/>
              <a:t>1000h~17FFh</a:t>
            </a:r>
            <a:endParaRPr lang="zh-CN" altLang="en-US" sz="1400" dirty="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1090"/>
                                        </p:tgtEl>
                                        <p:attrNameLst>
                                          <p:attrName>style.visibility</p:attrName>
                                        </p:attrNameLst>
                                      </p:cBhvr>
                                      <p:to>
                                        <p:strVal val="visible"/>
                                      </p:to>
                                    </p:set>
                                    <p:anim calcmode="lin" valueType="num">
                                      <p:cBhvr additive="base">
                                        <p:cTn id="7" dur="500" fill="hold"/>
                                        <p:tgtEl>
                                          <p:spTgt spid="601090"/>
                                        </p:tgtEl>
                                        <p:attrNameLst>
                                          <p:attrName>ppt_x</p:attrName>
                                        </p:attrNameLst>
                                      </p:cBhvr>
                                      <p:tavLst>
                                        <p:tav tm="0">
                                          <p:val>
                                            <p:strVal val="1+#ppt_w/2"/>
                                          </p:val>
                                        </p:tav>
                                        <p:tav tm="100000">
                                          <p:val>
                                            <p:strVal val="#ppt_x"/>
                                          </p:val>
                                        </p:tav>
                                      </p:tavLst>
                                    </p:anim>
                                    <p:anim calcmode="lin" valueType="num">
                                      <p:cBhvr additive="base">
                                        <p:cTn id="8" dur="500" fill="hold"/>
                                        <p:tgtEl>
                                          <p:spTgt spid="6010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090"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B80C600-8DD4-47BD-A966-9EC93F0E0B90}" type="slidenum">
              <a:rPr lang="en-US" altLang="zh-CN" sz="1400" b="0"/>
              <a:pPr eaLnBrk="1" hangingPunct="1"/>
              <a:t>91</a:t>
            </a:fld>
            <a:endParaRPr lang="en-US" altLang="zh-CN" sz="1400" b="0"/>
          </a:p>
        </p:txBody>
      </p:sp>
      <p:sp>
        <p:nvSpPr>
          <p:cNvPr id="602114" name="Rectangle 2"/>
          <p:cNvSpPr>
            <a:spLocks noChangeArrowheads="1"/>
          </p:cNvSpPr>
          <p:nvPr/>
        </p:nvSpPr>
        <p:spPr bwMode="auto">
          <a:xfrm>
            <a:off x="381000" y="1143000"/>
            <a:ext cx="6676828" cy="3028521"/>
          </a:xfrm>
          <a:prstGeom prst="rect">
            <a:avLst/>
          </a:prstGeom>
          <a:noFill/>
          <a:ln w="571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FontTx/>
              <a:buChar char="•"/>
            </a:pPr>
            <a:r>
              <a:rPr lang="zh-CN" altLang="en-US" sz="3600" dirty="0">
                <a:latin typeface="宋体" panose="02010600030101010101" pitchFamily="2" charset="-122"/>
              </a:rPr>
              <a:t>（</a:t>
            </a:r>
            <a:r>
              <a:rPr lang="en-US" altLang="zh-CN" sz="3600" dirty="0">
                <a:latin typeface="宋体" panose="02010600030101010101" pitchFamily="2" charset="-122"/>
              </a:rPr>
              <a:t>1</a:t>
            </a:r>
            <a:r>
              <a:rPr lang="zh-CN" altLang="en-US" sz="3600" dirty="0">
                <a:latin typeface="宋体" panose="02010600030101010101" pitchFamily="2" charset="-122"/>
              </a:rPr>
              <a:t>）</a:t>
            </a:r>
            <a:r>
              <a:rPr lang="en-US" altLang="zh-CN" sz="3600" dirty="0">
                <a:latin typeface="宋体" panose="02010600030101010101" pitchFamily="2" charset="-122"/>
              </a:rPr>
              <a:t>HPI</a:t>
            </a:r>
            <a:r>
              <a:rPr lang="zh-CN" altLang="en-US" sz="3600" dirty="0">
                <a:latin typeface="宋体" panose="02010600030101010101" pitchFamily="2" charset="-122"/>
              </a:rPr>
              <a:t>存储器（</a:t>
            </a:r>
            <a:r>
              <a:rPr lang="en-US" altLang="zh-CN" sz="3600" dirty="0">
                <a:latin typeface="宋体" panose="02010600030101010101" pitchFamily="2" charset="-122"/>
              </a:rPr>
              <a:t>DARAM</a:t>
            </a:r>
            <a:r>
              <a:rPr lang="zh-CN" altLang="en-US" sz="3600" dirty="0">
                <a:latin typeface="宋体" panose="02010600030101010101" pitchFamily="2" charset="-122"/>
              </a:rPr>
              <a:t>）</a:t>
            </a:r>
          </a:p>
          <a:p>
            <a:pPr eaLnBrk="1" hangingPunct="1">
              <a:lnSpc>
                <a:spcPct val="90000"/>
              </a:lnSpc>
              <a:spcBef>
                <a:spcPct val="20000"/>
              </a:spcBef>
              <a:buFontTx/>
              <a:buChar char="•"/>
            </a:pPr>
            <a:r>
              <a:rPr lang="zh-CN" altLang="en-US" sz="3600" dirty="0">
                <a:latin typeface="宋体" panose="02010600030101010101" pitchFamily="2" charset="-122"/>
              </a:rPr>
              <a:t>（</a:t>
            </a:r>
            <a:r>
              <a:rPr lang="en-US" altLang="zh-CN" sz="3600" dirty="0">
                <a:latin typeface="宋体" panose="02010600030101010101" pitchFamily="2" charset="-122"/>
              </a:rPr>
              <a:t>2</a:t>
            </a:r>
            <a:r>
              <a:rPr lang="zh-CN" altLang="en-US" sz="3600" dirty="0">
                <a:latin typeface="宋体" panose="02010600030101010101" pitchFamily="2" charset="-122"/>
              </a:rPr>
              <a:t>）</a:t>
            </a:r>
            <a:r>
              <a:rPr lang="en-US" altLang="zh-CN" sz="3600" dirty="0">
                <a:latin typeface="宋体" panose="02010600030101010101" pitchFamily="2" charset="-122"/>
              </a:rPr>
              <a:t>HPI</a:t>
            </a:r>
            <a:r>
              <a:rPr lang="zh-CN" altLang="en-US" sz="3600" dirty="0">
                <a:latin typeface="宋体" panose="02010600030101010101" pitchFamily="2" charset="-122"/>
              </a:rPr>
              <a:t>地址寄存器（</a:t>
            </a:r>
            <a:r>
              <a:rPr lang="en-US" altLang="zh-CN" sz="3600" dirty="0">
                <a:latin typeface="宋体" panose="02010600030101010101" pitchFamily="2" charset="-122"/>
              </a:rPr>
              <a:t>HPIA</a:t>
            </a:r>
            <a:r>
              <a:rPr lang="zh-CN" altLang="en-US" sz="3600" dirty="0">
                <a:latin typeface="宋体" panose="02010600030101010101" pitchFamily="2" charset="-122"/>
              </a:rPr>
              <a:t>）</a:t>
            </a:r>
          </a:p>
          <a:p>
            <a:pPr eaLnBrk="1" hangingPunct="1">
              <a:lnSpc>
                <a:spcPct val="90000"/>
              </a:lnSpc>
              <a:spcBef>
                <a:spcPct val="20000"/>
              </a:spcBef>
              <a:buFontTx/>
              <a:buChar char="•"/>
            </a:pPr>
            <a:r>
              <a:rPr lang="zh-CN" altLang="en-US" sz="3600" dirty="0">
                <a:latin typeface="宋体" panose="02010600030101010101" pitchFamily="2" charset="-122"/>
              </a:rPr>
              <a:t>（</a:t>
            </a:r>
            <a:r>
              <a:rPr lang="en-US" altLang="zh-CN" sz="3600" dirty="0">
                <a:latin typeface="宋体" panose="02010600030101010101" pitchFamily="2" charset="-122"/>
              </a:rPr>
              <a:t>3</a:t>
            </a:r>
            <a:r>
              <a:rPr lang="zh-CN" altLang="en-US" sz="3600" dirty="0">
                <a:latin typeface="宋体" panose="02010600030101010101" pitchFamily="2" charset="-122"/>
              </a:rPr>
              <a:t>）</a:t>
            </a:r>
            <a:r>
              <a:rPr lang="en-US" altLang="zh-CN" sz="3600" dirty="0">
                <a:latin typeface="宋体" panose="02010600030101010101" pitchFamily="2" charset="-122"/>
              </a:rPr>
              <a:t>HPI</a:t>
            </a:r>
            <a:r>
              <a:rPr lang="zh-CN" altLang="en-US" sz="3600" dirty="0">
                <a:latin typeface="宋体" panose="02010600030101010101" pitchFamily="2" charset="-122"/>
              </a:rPr>
              <a:t>数据锁存器（</a:t>
            </a:r>
            <a:r>
              <a:rPr lang="en-US" altLang="zh-CN" sz="3600" dirty="0">
                <a:latin typeface="宋体" panose="02010600030101010101" pitchFamily="2" charset="-122"/>
              </a:rPr>
              <a:t>HPID</a:t>
            </a:r>
            <a:r>
              <a:rPr lang="zh-CN" altLang="en-US" sz="3600" dirty="0">
                <a:latin typeface="宋体" panose="02010600030101010101" pitchFamily="2" charset="-122"/>
              </a:rPr>
              <a:t>） </a:t>
            </a:r>
          </a:p>
          <a:p>
            <a:pPr eaLnBrk="1" hangingPunct="1">
              <a:lnSpc>
                <a:spcPct val="90000"/>
              </a:lnSpc>
              <a:spcBef>
                <a:spcPct val="20000"/>
              </a:spcBef>
              <a:buFontTx/>
              <a:buChar char="•"/>
            </a:pPr>
            <a:r>
              <a:rPr lang="zh-CN" altLang="en-US" sz="3600" dirty="0">
                <a:latin typeface="宋体" panose="02010600030101010101" pitchFamily="2" charset="-122"/>
              </a:rPr>
              <a:t>（</a:t>
            </a:r>
            <a:r>
              <a:rPr lang="en-US" altLang="zh-CN" sz="3600" dirty="0">
                <a:latin typeface="宋体" panose="02010600030101010101" pitchFamily="2" charset="-122"/>
              </a:rPr>
              <a:t>4</a:t>
            </a:r>
            <a:r>
              <a:rPr lang="zh-CN" altLang="en-US" sz="3600" dirty="0">
                <a:latin typeface="宋体" panose="02010600030101010101" pitchFamily="2" charset="-122"/>
              </a:rPr>
              <a:t>）</a:t>
            </a:r>
            <a:r>
              <a:rPr lang="en-US" altLang="zh-CN" sz="3600" dirty="0">
                <a:latin typeface="宋体" panose="02010600030101010101" pitchFamily="2" charset="-122"/>
              </a:rPr>
              <a:t>HPI</a:t>
            </a:r>
            <a:r>
              <a:rPr lang="zh-CN" altLang="en-US" sz="3600" dirty="0">
                <a:latin typeface="宋体" panose="02010600030101010101" pitchFamily="2" charset="-122"/>
              </a:rPr>
              <a:t>控制寄存器（</a:t>
            </a:r>
            <a:r>
              <a:rPr lang="en-US" altLang="zh-CN" sz="3600" dirty="0">
                <a:latin typeface="宋体" panose="02010600030101010101" pitchFamily="2" charset="-122"/>
              </a:rPr>
              <a:t>HPIC</a:t>
            </a:r>
            <a:r>
              <a:rPr lang="zh-CN" altLang="en-US" sz="3600" dirty="0">
                <a:latin typeface="宋体" panose="02010600030101010101" pitchFamily="2" charset="-122"/>
              </a:rPr>
              <a:t>）</a:t>
            </a:r>
          </a:p>
          <a:p>
            <a:pPr eaLnBrk="1" hangingPunct="1">
              <a:lnSpc>
                <a:spcPct val="90000"/>
              </a:lnSpc>
              <a:spcBef>
                <a:spcPct val="20000"/>
              </a:spcBef>
              <a:buFontTx/>
              <a:buChar char="•"/>
            </a:pPr>
            <a:r>
              <a:rPr lang="zh-CN" altLang="en-US" sz="3600" dirty="0">
                <a:latin typeface="宋体" panose="02010600030101010101" pitchFamily="2" charset="-122"/>
              </a:rPr>
              <a:t>（</a:t>
            </a:r>
            <a:r>
              <a:rPr lang="en-US" altLang="zh-CN" sz="3600" dirty="0">
                <a:latin typeface="宋体" panose="02010600030101010101" pitchFamily="2" charset="-122"/>
              </a:rPr>
              <a:t>5</a:t>
            </a:r>
            <a:r>
              <a:rPr lang="zh-CN" altLang="en-US" sz="3600" dirty="0">
                <a:latin typeface="宋体" panose="02010600030101010101" pitchFamily="2" charset="-122"/>
              </a:rPr>
              <a:t>）</a:t>
            </a:r>
            <a:r>
              <a:rPr lang="en-US" altLang="zh-CN" sz="3600" dirty="0">
                <a:latin typeface="宋体" panose="02010600030101010101" pitchFamily="2" charset="-122"/>
              </a:rPr>
              <a:t>HPI</a:t>
            </a:r>
            <a:r>
              <a:rPr lang="zh-CN" altLang="en-US" sz="3600" dirty="0">
                <a:latin typeface="宋体" panose="02010600030101010101" pitchFamily="2" charset="-122"/>
              </a:rPr>
              <a:t>控制逻辑</a:t>
            </a:r>
          </a:p>
        </p:txBody>
      </p:sp>
      <p:sp>
        <p:nvSpPr>
          <p:cNvPr id="602115" name="Rectangle 3"/>
          <p:cNvSpPr>
            <a:spLocks noChangeArrowheads="1"/>
          </p:cNvSpPr>
          <p:nvPr/>
        </p:nvSpPr>
        <p:spPr bwMode="auto">
          <a:xfrm>
            <a:off x="3352800" y="4114800"/>
            <a:ext cx="2012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00"/>
                </a:solidFill>
                <a:latin typeface="宋体" panose="02010600030101010101" pitchFamily="2" charset="-122"/>
              </a:rPr>
              <a:t>工作过程</a:t>
            </a:r>
          </a:p>
        </p:txBody>
      </p:sp>
      <p:grpSp>
        <p:nvGrpSpPr>
          <p:cNvPr id="104453" name="Group 12"/>
          <p:cNvGrpSpPr>
            <a:grpSpLocks/>
          </p:cNvGrpSpPr>
          <p:nvPr/>
        </p:nvGrpSpPr>
        <p:grpSpPr bwMode="auto">
          <a:xfrm>
            <a:off x="304800" y="4800600"/>
            <a:ext cx="8228013" cy="1738313"/>
            <a:chOff x="192" y="3024"/>
            <a:chExt cx="5183" cy="1095"/>
          </a:xfrm>
        </p:grpSpPr>
        <p:sp>
          <p:nvSpPr>
            <p:cNvPr id="104455" name="Rectangle 5"/>
            <p:cNvSpPr>
              <a:spLocks noChangeArrowheads="1"/>
            </p:cNvSpPr>
            <p:nvPr/>
          </p:nvSpPr>
          <p:spPr bwMode="auto">
            <a:xfrm>
              <a:off x="4224" y="3024"/>
              <a:ext cx="1146" cy="678"/>
            </a:xfrm>
            <a:prstGeom prst="rect">
              <a:avLst/>
            </a:prstGeom>
            <a:solidFill>
              <a:schemeClr val="hlink"/>
            </a:solidFill>
            <a:ln w="9525">
              <a:solidFill>
                <a:schemeClr val="bg1"/>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chemeClr val="folHlink"/>
                  </a:solidFill>
                  <a:latin typeface="宋体" panose="02010600030101010101" pitchFamily="2" charset="-122"/>
                </a:rPr>
                <a:t>CPU</a:t>
              </a:r>
              <a:r>
                <a:rPr lang="zh-CN" altLang="en-US" sz="3200">
                  <a:solidFill>
                    <a:schemeClr val="folHlink"/>
                  </a:solidFill>
                  <a:latin typeface="宋体" panose="02010600030101010101" pitchFamily="2" charset="-122"/>
                </a:rPr>
                <a:t>存储</a:t>
              </a:r>
            </a:p>
            <a:p>
              <a:pPr eaLnBrk="1" hangingPunct="1"/>
              <a:r>
                <a:rPr lang="zh-CN" altLang="en-US" sz="3200">
                  <a:solidFill>
                    <a:schemeClr val="folHlink"/>
                  </a:solidFill>
                  <a:latin typeface="宋体" panose="02010600030101010101" pitchFamily="2" charset="-122"/>
                </a:rPr>
                <a:t>空间访问</a:t>
              </a:r>
            </a:p>
          </p:txBody>
        </p:sp>
        <p:sp>
          <p:nvSpPr>
            <p:cNvPr id="104456" name="Rectangle 6"/>
            <p:cNvSpPr>
              <a:spLocks noChangeArrowheads="1"/>
            </p:cNvSpPr>
            <p:nvPr/>
          </p:nvSpPr>
          <p:spPr bwMode="auto">
            <a:xfrm>
              <a:off x="2544" y="3024"/>
              <a:ext cx="1402" cy="678"/>
            </a:xfrm>
            <a:prstGeom prst="rect">
              <a:avLst/>
            </a:prstGeom>
            <a:solidFill>
              <a:srgbClr val="CCFF99"/>
            </a:solidFill>
            <a:ln w="9525">
              <a:solidFill>
                <a:schemeClr val="bg1"/>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6600"/>
                  </a:solidFill>
                  <a:latin typeface="宋体" panose="02010600030101010101" pitchFamily="2" charset="-122"/>
                </a:rPr>
                <a:t>主机数据</a:t>
              </a:r>
            </a:p>
            <a:p>
              <a:pPr eaLnBrk="1" hangingPunct="1"/>
              <a:r>
                <a:rPr lang="zh-CN" altLang="en-US" sz="3200">
                  <a:solidFill>
                    <a:srgbClr val="FF6600"/>
                  </a:solidFill>
                  <a:latin typeface="宋体" panose="02010600030101010101" pitchFamily="2" charset="-122"/>
                </a:rPr>
                <a:t>寄存器</a:t>
              </a:r>
              <a:r>
                <a:rPr lang="en-US" altLang="zh-CN" sz="3200">
                  <a:solidFill>
                    <a:srgbClr val="FF6600"/>
                  </a:solidFill>
                  <a:latin typeface="宋体" panose="02010600030101010101" pitchFamily="2" charset="-122"/>
                </a:rPr>
                <a:t>HPID</a:t>
              </a:r>
            </a:p>
          </p:txBody>
        </p:sp>
        <p:sp>
          <p:nvSpPr>
            <p:cNvPr id="104457" name="Rectangle 7"/>
            <p:cNvSpPr>
              <a:spLocks noChangeArrowheads="1"/>
            </p:cNvSpPr>
            <p:nvPr/>
          </p:nvSpPr>
          <p:spPr bwMode="auto">
            <a:xfrm>
              <a:off x="960" y="3024"/>
              <a:ext cx="1402" cy="678"/>
            </a:xfrm>
            <a:prstGeom prst="rect">
              <a:avLst/>
            </a:prstGeom>
            <a:solidFill>
              <a:schemeClr val="bg2"/>
            </a:solidFill>
            <a:ln w="9525">
              <a:solidFill>
                <a:schemeClr val="bg1"/>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666633"/>
                  </a:solidFill>
                  <a:latin typeface="宋体" panose="02010600030101010101" pitchFamily="2" charset="-122"/>
                </a:rPr>
                <a:t>主机地址</a:t>
              </a:r>
            </a:p>
            <a:p>
              <a:pPr eaLnBrk="1" hangingPunct="1"/>
              <a:r>
                <a:rPr lang="zh-CN" altLang="en-US" sz="3200">
                  <a:solidFill>
                    <a:srgbClr val="666633"/>
                  </a:solidFill>
                  <a:latin typeface="宋体" panose="02010600030101010101" pitchFamily="2" charset="-122"/>
                </a:rPr>
                <a:t>寄存器</a:t>
              </a:r>
              <a:r>
                <a:rPr lang="en-US" altLang="zh-CN" sz="3200">
                  <a:solidFill>
                    <a:srgbClr val="666633"/>
                  </a:solidFill>
                  <a:latin typeface="宋体" panose="02010600030101010101" pitchFamily="2" charset="-122"/>
                </a:rPr>
                <a:t>HPIA</a:t>
              </a:r>
            </a:p>
          </p:txBody>
        </p:sp>
        <p:sp>
          <p:nvSpPr>
            <p:cNvPr id="104458" name="Rectangle 8"/>
            <p:cNvSpPr>
              <a:spLocks noChangeArrowheads="1"/>
            </p:cNvSpPr>
            <p:nvPr/>
          </p:nvSpPr>
          <p:spPr bwMode="auto">
            <a:xfrm>
              <a:off x="192" y="3024"/>
              <a:ext cx="636" cy="678"/>
            </a:xfrm>
            <a:prstGeom prst="rect">
              <a:avLst/>
            </a:prstGeom>
            <a:solidFill>
              <a:schemeClr val="bg1"/>
            </a:solid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66"/>
                  </a:solidFill>
                  <a:latin typeface="宋体" panose="02010600030101010101" pitchFamily="2" charset="-122"/>
                </a:rPr>
                <a:t>外部</a:t>
              </a:r>
            </a:p>
            <a:p>
              <a:pPr eaLnBrk="1" hangingPunct="1"/>
              <a:r>
                <a:rPr lang="zh-CN" altLang="en-US" sz="3200">
                  <a:solidFill>
                    <a:srgbClr val="FF0066"/>
                  </a:solidFill>
                  <a:latin typeface="宋体" panose="02010600030101010101" pitchFamily="2" charset="-122"/>
                </a:rPr>
                <a:t>主机</a:t>
              </a:r>
            </a:p>
          </p:txBody>
        </p:sp>
        <p:sp>
          <p:nvSpPr>
            <p:cNvPr id="104459" name="Rectangle 9"/>
            <p:cNvSpPr>
              <a:spLocks noChangeArrowheads="1"/>
            </p:cNvSpPr>
            <p:nvPr/>
          </p:nvSpPr>
          <p:spPr bwMode="auto">
            <a:xfrm>
              <a:off x="2160" y="3792"/>
              <a:ext cx="14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chemeClr val="tx2"/>
                  </a:solidFill>
                  <a:latin typeface="宋体" panose="02010600030101010101" pitchFamily="2" charset="-122"/>
                </a:rPr>
                <a:t>外部控制信号</a:t>
              </a:r>
            </a:p>
          </p:txBody>
        </p:sp>
        <p:sp>
          <p:nvSpPr>
            <p:cNvPr id="104460" name="Line 10"/>
            <p:cNvSpPr>
              <a:spLocks noChangeShapeType="1"/>
            </p:cNvSpPr>
            <p:nvPr/>
          </p:nvSpPr>
          <p:spPr bwMode="auto">
            <a:xfrm>
              <a:off x="864" y="3792"/>
              <a:ext cx="4511" cy="1"/>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602123" name="AutoShape 11" descr="小棋盘"/>
          <p:cNvSpPr>
            <a:spLocks noChangeArrowheads="1"/>
          </p:cNvSpPr>
          <p:nvPr/>
        </p:nvSpPr>
        <p:spPr bwMode="auto">
          <a:xfrm>
            <a:off x="7620000" y="1828800"/>
            <a:ext cx="1295400" cy="1295400"/>
          </a:xfrm>
          <a:prstGeom prst="wedgeRoundRectCallout">
            <a:avLst>
              <a:gd name="adj1" fmla="val -133824"/>
              <a:gd name="adj2" fmla="val 60051"/>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FF"/>
                </a:solidFill>
              </a:rPr>
              <a:t>完成对接口的设置</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602114"/>
                                        </p:tgtEl>
                                        <p:attrNameLst>
                                          <p:attrName>style.visibility</p:attrName>
                                        </p:attrNameLst>
                                      </p:cBhvr>
                                      <p:to>
                                        <p:strVal val="visible"/>
                                      </p:to>
                                    </p:set>
                                    <p:animEffect transition="in" filter="strips(downLeft)">
                                      <p:cBhvr>
                                        <p:cTn id="7" dur="500"/>
                                        <p:tgtEl>
                                          <p:spTgt spid="602114"/>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02115"/>
                                        </p:tgtEl>
                                        <p:attrNameLst>
                                          <p:attrName>style.visibility</p:attrName>
                                        </p:attrNameLst>
                                      </p:cBhvr>
                                      <p:to>
                                        <p:strVal val="visible"/>
                                      </p:to>
                                    </p:set>
                                    <p:anim calcmode="lin" valueType="num">
                                      <p:cBhvr additive="base">
                                        <p:cTn id="11" dur="500" fill="hold"/>
                                        <p:tgtEl>
                                          <p:spTgt spid="602115"/>
                                        </p:tgtEl>
                                        <p:attrNameLst>
                                          <p:attrName>ppt_x</p:attrName>
                                        </p:attrNameLst>
                                      </p:cBhvr>
                                      <p:tavLst>
                                        <p:tav tm="0">
                                          <p:val>
                                            <p:strVal val="0-#ppt_w/2"/>
                                          </p:val>
                                        </p:tav>
                                        <p:tav tm="100000">
                                          <p:val>
                                            <p:strVal val="#ppt_x"/>
                                          </p:val>
                                        </p:tav>
                                      </p:tavLst>
                                    </p:anim>
                                    <p:anim calcmode="lin" valueType="num">
                                      <p:cBhvr additive="base">
                                        <p:cTn id="12" dur="500" fill="hold"/>
                                        <p:tgtEl>
                                          <p:spTgt spid="602115"/>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602123"/>
                                        </p:tgtEl>
                                        <p:attrNameLst>
                                          <p:attrName>style.visibility</p:attrName>
                                        </p:attrNameLst>
                                      </p:cBhvr>
                                      <p:to>
                                        <p:strVal val="visible"/>
                                      </p:to>
                                    </p:set>
                                    <p:anim calcmode="lin" valueType="num">
                                      <p:cBhvr additive="base">
                                        <p:cTn id="16" dur="500" fill="hold"/>
                                        <p:tgtEl>
                                          <p:spTgt spid="602123"/>
                                        </p:tgtEl>
                                        <p:attrNameLst>
                                          <p:attrName>ppt_x</p:attrName>
                                        </p:attrNameLst>
                                      </p:cBhvr>
                                      <p:tavLst>
                                        <p:tav tm="0">
                                          <p:val>
                                            <p:strVal val="1+#ppt_w/2"/>
                                          </p:val>
                                        </p:tav>
                                        <p:tav tm="100000">
                                          <p:val>
                                            <p:strVal val="#ppt_x"/>
                                          </p:val>
                                        </p:tav>
                                      </p:tavLst>
                                    </p:anim>
                                    <p:anim calcmode="lin" valueType="num">
                                      <p:cBhvr additive="base">
                                        <p:cTn id="17" dur="500" fill="hold"/>
                                        <p:tgtEl>
                                          <p:spTgt spid="6021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2114" grpId="0" animBg="1" autoUpdateAnimBg="0"/>
      <p:bldP spid="602115" grpId="0" autoUpdateAnimBg="0"/>
      <p:bldP spid="602123" grpId="0" animBg="1"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85DB748C-0A70-4D8D-B0A9-0F020EEE59B7}" type="slidenum">
              <a:rPr lang="en-US" altLang="zh-CN" sz="1400" b="0"/>
              <a:pPr eaLnBrk="1" hangingPunct="1"/>
              <a:t>92</a:t>
            </a:fld>
            <a:endParaRPr lang="en-US" altLang="zh-CN" sz="1400" b="0"/>
          </a:p>
        </p:txBody>
      </p:sp>
      <p:sp>
        <p:nvSpPr>
          <p:cNvPr id="105475" name="Rectangle 2"/>
          <p:cNvSpPr>
            <a:spLocks noChangeArrowheads="1"/>
          </p:cNvSpPr>
          <p:nvPr/>
        </p:nvSpPr>
        <p:spPr bwMode="auto">
          <a:xfrm>
            <a:off x="381000" y="1143000"/>
            <a:ext cx="8229600" cy="4721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30000"/>
              </a:spcBef>
            </a:pPr>
            <a:r>
              <a:rPr lang="en-US" altLang="zh-CN" sz="3200" dirty="0">
                <a:solidFill>
                  <a:schemeClr val="tx2"/>
                </a:solidFill>
              </a:rPr>
              <a:t>① HPI</a:t>
            </a:r>
            <a:r>
              <a:rPr lang="zh-CN" altLang="en-US" sz="3200" dirty="0">
                <a:solidFill>
                  <a:schemeClr val="tx2"/>
                </a:solidFill>
              </a:rPr>
              <a:t>存储器（</a:t>
            </a:r>
            <a:r>
              <a:rPr lang="en-US" altLang="zh-CN" sz="3200" dirty="0">
                <a:solidFill>
                  <a:schemeClr val="tx2"/>
                </a:solidFill>
              </a:rPr>
              <a:t>DARAM</a:t>
            </a:r>
            <a:r>
              <a:rPr lang="zh-CN" altLang="en-US" sz="3200" dirty="0">
                <a:solidFill>
                  <a:schemeClr val="tx2"/>
                </a:solidFill>
              </a:rPr>
              <a:t>）。</a:t>
            </a:r>
            <a:r>
              <a:rPr lang="en-US" altLang="zh-CN" sz="3200" dirty="0"/>
              <a:t>HPI RAM </a:t>
            </a:r>
            <a:r>
              <a:rPr lang="zh-CN" altLang="en-US" sz="3200" dirty="0"/>
              <a:t>主要用于</a:t>
            </a:r>
            <a:r>
              <a:rPr lang="en-US" altLang="zh-CN" sz="3200" dirty="0"/>
              <a:t>C54x</a:t>
            </a:r>
            <a:r>
              <a:rPr lang="zh-CN" altLang="en-US" sz="3200" dirty="0"/>
              <a:t>与主机之间传送数据，也可以用作通用的双寻址数据</a:t>
            </a:r>
            <a:r>
              <a:rPr lang="en-US" altLang="zh-CN" sz="3200" dirty="0"/>
              <a:t>RAM</a:t>
            </a:r>
            <a:r>
              <a:rPr lang="zh-CN" altLang="en-US" sz="3200" dirty="0"/>
              <a:t>或程序</a:t>
            </a:r>
            <a:r>
              <a:rPr lang="en-US" altLang="zh-CN" sz="3200" dirty="0"/>
              <a:t>RAM</a:t>
            </a:r>
            <a:r>
              <a:rPr lang="zh-CN" altLang="en-US" sz="3200" dirty="0"/>
              <a:t>。</a:t>
            </a:r>
          </a:p>
          <a:p>
            <a:pPr eaLnBrk="1" hangingPunct="1">
              <a:lnSpc>
                <a:spcPct val="80000"/>
              </a:lnSpc>
              <a:spcBef>
                <a:spcPct val="30000"/>
              </a:spcBef>
            </a:pPr>
            <a:r>
              <a:rPr lang="zh-CN" altLang="en-US" sz="3200" dirty="0">
                <a:solidFill>
                  <a:schemeClr val="tx2"/>
                </a:solidFill>
              </a:rPr>
              <a:t>② </a:t>
            </a:r>
            <a:r>
              <a:rPr lang="en-US" altLang="zh-CN" sz="3200" dirty="0">
                <a:solidFill>
                  <a:schemeClr val="tx2"/>
                </a:solidFill>
              </a:rPr>
              <a:t>HPI</a:t>
            </a:r>
            <a:r>
              <a:rPr lang="zh-CN" altLang="en-US" sz="3200" dirty="0">
                <a:solidFill>
                  <a:schemeClr val="tx2"/>
                </a:solidFill>
              </a:rPr>
              <a:t>地址寄存器（</a:t>
            </a:r>
            <a:r>
              <a:rPr lang="en-US" altLang="zh-CN" sz="3200" dirty="0">
                <a:solidFill>
                  <a:schemeClr val="tx2"/>
                </a:solidFill>
              </a:rPr>
              <a:t>HPIA</a:t>
            </a:r>
            <a:r>
              <a:rPr lang="zh-CN" altLang="en-US" sz="3200" dirty="0">
                <a:solidFill>
                  <a:schemeClr val="tx2"/>
                </a:solidFill>
              </a:rPr>
              <a:t>）。</a:t>
            </a:r>
            <a:r>
              <a:rPr lang="zh-CN" altLang="en-US" sz="3200" dirty="0"/>
              <a:t>它只能由主机对其直接访问。寄存器中存放当前寻址</a:t>
            </a:r>
            <a:r>
              <a:rPr lang="en-US" altLang="zh-CN" sz="3200" dirty="0"/>
              <a:t>HPI</a:t>
            </a:r>
            <a:r>
              <a:rPr lang="zh-CN" altLang="en-US" sz="3200" dirty="0"/>
              <a:t>存储单元的地址。</a:t>
            </a:r>
          </a:p>
          <a:p>
            <a:pPr eaLnBrk="1" hangingPunct="1">
              <a:lnSpc>
                <a:spcPct val="80000"/>
              </a:lnSpc>
              <a:spcBef>
                <a:spcPct val="30000"/>
              </a:spcBef>
            </a:pPr>
            <a:r>
              <a:rPr lang="zh-CN" altLang="en-US" sz="3200" dirty="0">
                <a:solidFill>
                  <a:schemeClr val="tx2"/>
                </a:solidFill>
              </a:rPr>
              <a:t>③ </a:t>
            </a:r>
            <a:r>
              <a:rPr lang="en-US" altLang="zh-CN" sz="3200" dirty="0">
                <a:solidFill>
                  <a:schemeClr val="tx2"/>
                </a:solidFill>
              </a:rPr>
              <a:t>HPI</a:t>
            </a:r>
            <a:r>
              <a:rPr lang="zh-CN" altLang="en-US" sz="3200" dirty="0">
                <a:solidFill>
                  <a:schemeClr val="tx2"/>
                </a:solidFill>
              </a:rPr>
              <a:t>数据锁存器（</a:t>
            </a:r>
            <a:r>
              <a:rPr lang="en-US" altLang="zh-CN" sz="3200" dirty="0">
                <a:solidFill>
                  <a:schemeClr val="tx2"/>
                </a:solidFill>
              </a:rPr>
              <a:t>HPID</a:t>
            </a:r>
            <a:r>
              <a:rPr lang="zh-CN" altLang="en-US" sz="3200" dirty="0">
                <a:solidFill>
                  <a:schemeClr val="tx2"/>
                </a:solidFill>
              </a:rPr>
              <a:t>）。</a:t>
            </a:r>
            <a:r>
              <a:rPr lang="zh-CN" altLang="en-US" sz="3200" dirty="0"/>
              <a:t>它也只能由主机对其直接访问。如果当前进行的是读操作，则</a:t>
            </a:r>
            <a:r>
              <a:rPr lang="en-US" altLang="zh-CN" sz="3200" dirty="0"/>
              <a:t>HPID</a:t>
            </a:r>
            <a:r>
              <a:rPr lang="zh-CN" altLang="en-US" sz="3200" dirty="0"/>
              <a:t>中存放的是要从</a:t>
            </a:r>
            <a:r>
              <a:rPr lang="en-US" altLang="zh-CN" sz="3200" dirty="0"/>
              <a:t>HPI</a:t>
            </a:r>
            <a:r>
              <a:rPr lang="zh-CN" altLang="en-US" sz="3200" dirty="0"/>
              <a:t>存储器中读出的数据；如果当前进行的是写操作，则</a:t>
            </a:r>
            <a:r>
              <a:rPr lang="en-US" altLang="zh-CN" sz="3200" dirty="0"/>
              <a:t>HPID</a:t>
            </a:r>
            <a:r>
              <a:rPr lang="zh-CN" altLang="en-US" sz="3200" dirty="0"/>
              <a:t>中存放的是将要写到</a:t>
            </a:r>
            <a:r>
              <a:rPr lang="en-US" altLang="zh-CN" sz="3200" dirty="0"/>
              <a:t>HPI</a:t>
            </a:r>
            <a:r>
              <a:rPr lang="zh-CN" altLang="en-US" sz="3200" dirty="0"/>
              <a:t>存储器的数据。 </a:t>
            </a:r>
          </a:p>
        </p:txBody>
      </p:sp>
    </p:spTree>
  </p:cSld>
  <p:clrMapOvr>
    <a:masterClrMapping/>
  </p:clrMapOvr>
  <p:transition spd="med">
    <p:pull dir="lu"/>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95BAAE1-3FD7-4BD0-BD3D-6B0829B7A64D}" type="slidenum">
              <a:rPr lang="en-US" altLang="zh-CN" sz="1400" b="0"/>
              <a:pPr eaLnBrk="1" hangingPunct="1"/>
              <a:t>93</a:t>
            </a:fld>
            <a:endParaRPr lang="en-US" altLang="zh-CN" sz="1400" b="0"/>
          </a:p>
        </p:txBody>
      </p:sp>
      <p:sp>
        <p:nvSpPr>
          <p:cNvPr id="106499" name="Rectangle 2"/>
          <p:cNvSpPr>
            <a:spLocks noChangeArrowheads="1"/>
          </p:cNvSpPr>
          <p:nvPr/>
        </p:nvSpPr>
        <p:spPr bwMode="auto">
          <a:xfrm>
            <a:off x="457200" y="1143000"/>
            <a:ext cx="8229600"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762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dirty="0">
                <a:solidFill>
                  <a:schemeClr val="tx2"/>
                </a:solidFill>
              </a:rPr>
              <a:t>④ HPI</a:t>
            </a:r>
            <a:r>
              <a:rPr lang="zh-CN" altLang="en-US" sz="3200" dirty="0">
                <a:solidFill>
                  <a:schemeClr val="tx2"/>
                </a:solidFill>
              </a:rPr>
              <a:t>控制寄存器（</a:t>
            </a:r>
            <a:r>
              <a:rPr lang="en-US" altLang="zh-CN" sz="3200" dirty="0">
                <a:solidFill>
                  <a:schemeClr val="tx2"/>
                </a:solidFill>
              </a:rPr>
              <a:t>HPIC</a:t>
            </a:r>
            <a:r>
              <a:rPr lang="zh-CN" altLang="en-US" sz="3200" dirty="0">
                <a:solidFill>
                  <a:schemeClr val="tx2"/>
                </a:solidFill>
              </a:rPr>
              <a:t>）。</a:t>
            </a:r>
            <a:r>
              <a:rPr lang="en-US" altLang="zh-CN" sz="3200" dirty="0"/>
              <a:t>C54x</a:t>
            </a:r>
            <a:r>
              <a:rPr lang="zh-CN" altLang="en-US" sz="3200" dirty="0"/>
              <a:t>和主机都能对它直接访问。</a:t>
            </a:r>
          </a:p>
          <a:p>
            <a:pPr eaLnBrk="1" hangingPunct="1">
              <a:spcBef>
                <a:spcPct val="50000"/>
              </a:spcBef>
            </a:pPr>
            <a:r>
              <a:rPr lang="zh-CN" altLang="en-US" sz="3200" dirty="0">
                <a:solidFill>
                  <a:schemeClr val="tx2"/>
                </a:solidFill>
              </a:rPr>
              <a:t>⑤ </a:t>
            </a:r>
            <a:r>
              <a:rPr lang="en-US" altLang="zh-CN" sz="3200" dirty="0">
                <a:solidFill>
                  <a:schemeClr val="tx2"/>
                </a:solidFill>
              </a:rPr>
              <a:t>HPI</a:t>
            </a:r>
            <a:r>
              <a:rPr lang="zh-CN" altLang="en-US" sz="3200" dirty="0">
                <a:solidFill>
                  <a:schemeClr val="tx2"/>
                </a:solidFill>
              </a:rPr>
              <a:t>控制逻辑。</a:t>
            </a:r>
            <a:r>
              <a:rPr lang="zh-CN" altLang="en-US" sz="3200" dirty="0"/>
              <a:t>用于处理</a:t>
            </a:r>
            <a:r>
              <a:rPr lang="en-US" altLang="zh-CN" sz="3200" dirty="0"/>
              <a:t>HPI</a:t>
            </a:r>
            <a:r>
              <a:rPr lang="zh-CN" altLang="en-US" sz="3200" dirty="0"/>
              <a:t>与主机之间的接口信号。</a:t>
            </a:r>
          </a:p>
          <a:p>
            <a:pPr eaLnBrk="1" hangingPunct="1">
              <a:spcBef>
                <a:spcPct val="50000"/>
              </a:spcBef>
            </a:pPr>
            <a:r>
              <a:rPr lang="zh-CN" altLang="en-US" sz="3200" dirty="0"/>
              <a:t>当</a:t>
            </a:r>
            <a:r>
              <a:rPr lang="en-US" altLang="zh-CN" sz="3200" dirty="0"/>
              <a:t>C54x</a:t>
            </a:r>
            <a:r>
              <a:rPr lang="zh-CN" altLang="en-US" sz="3200" dirty="0"/>
              <a:t>与主机（或主设备）交换信息时，</a:t>
            </a:r>
            <a:r>
              <a:rPr lang="en-US" altLang="zh-CN" sz="3200" dirty="0"/>
              <a:t>HPI</a:t>
            </a:r>
            <a:r>
              <a:rPr lang="zh-CN" altLang="en-US" sz="3200" dirty="0"/>
              <a:t>是主机的一个外围设备。</a:t>
            </a:r>
            <a:r>
              <a:rPr lang="en-US" altLang="zh-CN" sz="3200" dirty="0"/>
              <a:t>HPI</a:t>
            </a:r>
            <a:r>
              <a:rPr lang="zh-CN" altLang="en-US" sz="3200" dirty="0"/>
              <a:t>的外部数据线是</a:t>
            </a:r>
            <a:r>
              <a:rPr lang="en-US" altLang="zh-CN" sz="3200" dirty="0"/>
              <a:t>8</a:t>
            </a:r>
            <a:r>
              <a:rPr lang="zh-CN" altLang="en-US" sz="3200" dirty="0"/>
              <a:t>根，</a:t>
            </a:r>
            <a:r>
              <a:rPr lang="en-US" altLang="zh-CN" sz="3200" dirty="0"/>
              <a:t>HD</a:t>
            </a:r>
            <a:r>
              <a:rPr lang="zh-CN" altLang="en-US" sz="3200" dirty="0"/>
              <a:t>（</a:t>
            </a:r>
            <a:r>
              <a:rPr lang="en-US" altLang="zh-CN" sz="3200" dirty="0"/>
              <a:t>7~0</a:t>
            </a:r>
            <a:r>
              <a:rPr lang="zh-CN" altLang="en-US" sz="3200" dirty="0"/>
              <a:t>），在</a:t>
            </a:r>
            <a:r>
              <a:rPr lang="en-US" altLang="zh-CN" sz="3200" dirty="0"/>
              <a:t>C54x</a:t>
            </a:r>
            <a:r>
              <a:rPr lang="zh-CN" altLang="en-US" sz="3200" dirty="0"/>
              <a:t>与主机传送数据时，</a:t>
            </a:r>
            <a:r>
              <a:rPr lang="en-US" altLang="zh-CN" sz="3200" dirty="0"/>
              <a:t>HPI</a:t>
            </a:r>
            <a:r>
              <a:rPr lang="zh-CN" altLang="en-US" sz="3200" dirty="0"/>
              <a:t>能自动地将外部接口传来的连续的</a:t>
            </a:r>
            <a:r>
              <a:rPr lang="en-US" altLang="zh-CN" sz="3200" dirty="0"/>
              <a:t>8</a:t>
            </a:r>
            <a:r>
              <a:rPr lang="zh-CN" altLang="en-US" sz="3200" dirty="0"/>
              <a:t>位数据组合成</a:t>
            </a:r>
            <a:r>
              <a:rPr lang="en-US" altLang="zh-CN" sz="3200" dirty="0"/>
              <a:t>16</a:t>
            </a:r>
            <a:r>
              <a:rPr lang="zh-CN" altLang="en-US" sz="3200" dirty="0"/>
              <a:t>位数后传送给</a:t>
            </a:r>
            <a:r>
              <a:rPr lang="en-US" altLang="zh-CN" sz="3200" dirty="0"/>
              <a:t>C54x</a:t>
            </a:r>
            <a:r>
              <a:rPr lang="zh-CN" altLang="en-US" sz="3200" dirty="0"/>
              <a:t>。</a:t>
            </a:r>
          </a:p>
        </p:txBody>
      </p:sp>
    </p:spTree>
  </p:cSld>
  <p:clrMapOvr>
    <a:masterClrMapping/>
  </p:clrMapOvr>
  <p:transition spd="med">
    <p:pull dir="lu"/>
  </p:transition>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bwMode="auto">
          <a:xfrm>
            <a:off x="762000" y="1066800"/>
            <a:ext cx="4724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66"/>
                </a:solidFill>
                <a:latin typeface="宋体" panose="02010600030101010101" pitchFamily="2" charset="-122"/>
              </a:rPr>
              <a:t>HPI</a:t>
            </a:r>
            <a:r>
              <a:rPr lang="zh-CN" altLang="en-US" b="1">
                <a:solidFill>
                  <a:srgbClr val="FF0066"/>
                </a:solidFill>
                <a:latin typeface="宋体" panose="02010600030101010101" pitchFamily="2" charset="-122"/>
              </a:rPr>
              <a:t>两种工作方式</a:t>
            </a:r>
            <a:r>
              <a:rPr lang="zh-CN" altLang="en-US" b="1"/>
              <a:t> </a:t>
            </a:r>
          </a:p>
        </p:txBody>
      </p:sp>
      <p:sp>
        <p:nvSpPr>
          <p:cNvPr id="107523" name="Rectangle 3"/>
          <p:cNvSpPr>
            <a:spLocks noGrp="1" noChangeArrowheads="1"/>
          </p:cNvSpPr>
          <p:nvPr>
            <p:ph idx="1"/>
          </p:nvPr>
        </p:nvSpPr>
        <p:spPr bwMode="auto">
          <a:xfrm>
            <a:off x="250825" y="1844675"/>
            <a:ext cx="5486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1</a:t>
            </a:r>
            <a:r>
              <a:rPr lang="zh-CN" altLang="en-US" b="1">
                <a:solidFill>
                  <a:srgbClr val="FF0000"/>
                </a:solidFill>
                <a:latin typeface="宋体" panose="02010600030101010101" pitchFamily="2" charset="-122"/>
              </a:rPr>
              <a:t>）共用寻址方式（</a:t>
            </a:r>
            <a:r>
              <a:rPr lang="en-US" altLang="zh-CN" b="1">
                <a:solidFill>
                  <a:srgbClr val="FF0000"/>
                </a:solidFill>
                <a:latin typeface="宋体" panose="02010600030101010101" pitchFamily="2" charset="-122"/>
              </a:rPr>
              <a:t>SAM</a:t>
            </a:r>
            <a:r>
              <a:rPr lang="zh-CN" altLang="en-US" b="1">
                <a:solidFill>
                  <a:srgbClr val="FF0000"/>
                </a:solidFill>
                <a:latin typeface="宋体" panose="02010600030101010101" pitchFamily="2" charset="-122"/>
              </a:rPr>
              <a:t>）</a:t>
            </a:r>
            <a:endParaRPr lang="zh-CN" altLang="en-US" b="1">
              <a:solidFill>
                <a:srgbClr val="FF0000"/>
              </a:solidFill>
            </a:endParaRPr>
          </a:p>
        </p:txBody>
      </p:sp>
      <p:sp>
        <p:nvSpPr>
          <p:cNvPr id="10752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6B07E4D-9DFE-4F17-A7E7-75D10B5DFB6C}" type="slidenum">
              <a:rPr lang="en-US" altLang="zh-CN" sz="1400" b="0"/>
              <a:pPr eaLnBrk="1" hangingPunct="1"/>
              <a:t>94</a:t>
            </a:fld>
            <a:endParaRPr lang="en-US" altLang="zh-CN" sz="1400" b="0"/>
          </a:p>
        </p:txBody>
      </p:sp>
      <p:sp>
        <p:nvSpPr>
          <p:cNvPr id="605188" name="Rectangle 4"/>
          <p:cNvSpPr>
            <a:spLocks noChangeArrowheads="1"/>
          </p:cNvSpPr>
          <p:nvPr/>
        </p:nvSpPr>
        <p:spPr bwMode="auto">
          <a:xfrm>
            <a:off x="228600" y="4419600"/>
            <a:ext cx="60721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a:solidFill>
                  <a:srgbClr val="FF0000"/>
                </a:solidFill>
                <a:latin typeface="宋体" panose="02010600030101010101" pitchFamily="2" charset="-122"/>
              </a:rPr>
              <a:t>（</a:t>
            </a:r>
            <a:r>
              <a:rPr lang="en-US" altLang="zh-CN" sz="3200">
                <a:solidFill>
                  <a:srgbClr val="FF0000"/>
                </a:solidFill>
                <a:latin typeface="宋体" panose="02010600030101010101" pitchFamily="2" charset="-122"/>
              </a:rPr>
              <a:t>2</a:t>
            </a:r>
            <a:r>
              <a:rPr lang="zh-CN" altLang="en-US" sz="3200">
                <a:solidFill>
                  <a:srgbClr val="FF0000"/>
                </a:solidFill>
                <a:latin typeface="宋体" panose="02010600030101010101" pitchFamily="2" charset="-122"/>
              </a:rPr>
              <a:t>）仅主机寻址方式（</a:t>
            </a:r>
            <a:r>
              <a:rPr lang="en-US" altLang="zh-CN" sz="3200">
                <a:solidFill>
                  <a:srgbClr val="FF0000"/>
                </a:solidFill>
                <a:latin typeface="宋体" panose="02010600030101010101" pitchFamily="2" charset="-122"/>
              </a:rPr>
              <a:t>HOM</a:t>
            </a:r>
            <a:r>
              <a:rPr lang="zh-CN" altLang="en-US" sz="3200">
                <a:solidFill>
                  <a:srgbClr val="FF0000"/>
                </a:solidFill>
                <a:latin typeface="宋体" panose="02010600030101010101" pitchFamily="2" charset="-122"/>
              </a:rPr>
              <a:t>）</a:t>
            </a:r>
            <a:r>
              <a:rPr lang="zh-CN" altLang="en-US" sz="3200"/>
              <a:t> </a:t>
            </a:r>
          </a:p>
        </p:txBody>
      </p:sp>
      <p:grpSp>
        <p:nvGrpSpPr>
          <p:cNvPr id="2" name="Group 5"/>
          <p:cNvGrpSpPr>
            <a:grpSpLocks/>
          </p:cNvGrpSpPr>
          <p:nvPr/>
        </p:nvGrpSpPr>
        <p:grpSpPr bwMode="auto">
          <a:xfrm>
            <a:off x="533400" y="3124200"/>
            <a:ext cx="7696200" cy="650875"/>
            <a:chOff x="336" y="2016"/>
            <a:chExt cx="4848" cy="410"/>
          </a:xfrm>
        </p:grpSpPr>
        <p:sp>
          <p:nvSpPr>
            <p:cNvPr id="107543" name="Text Box 6" descr="5%"/>
            <p:cNvSpPr txBox="1">
              <a:spLocks noChangeArrowheads="1"/>
            </p:cNvSpPr>
            <p:nvPr/>
          </p:nvSpPr>
          <p:spPr bwMode="auto">
            <a:xfrm>
              <a:off x="1968" y="2016"/>
              <a:ext cx="1536" cy="410"/>
            </a:xfrm>
            <a:prstGeom prst="rect">
              <a:avLst/>
            </a:prstGeom>
            <a:pattFill prst="pct5">
              <a:fgClr>
                <a:schemeClr val="bg1"/>
              </a:fgClr>
              <a:bgClr>
                <a:srgbClr val="FFFFFF"/>
              </a:bgClr>
            </a:pattFill>
            <a:ln w="9525">
              <a:solidFill>
                <a:schemeClr val="fo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a:latin typeface="宋体" panose="02010600030101010101" pitchFamily="2" charset="-122"/>
                </a:rPr>
                <a:t>HPI</a:t>
              </a:r>
              <a:r>
                <a:rPr lang="zh-CN" altLang="en-US" sz="3600">
                  <a:latin typeface="宋体" panose="02010600030101010101" pitchFamily="2" charset="-122"/>
                </a:rPr>
                <a:t>存储器</a:t>
              </a:r>
              <a:r>
                <a:rPr lang="zh-CN" altLang="en-US" sz="3200"/>
                <a:t> </a:t>
              </a:r>
            </a:p>
          </p:txBody>
        </p:sp>
        <p:sp>
          <p:nvSpPr>
            <p:cNvPr id="107544" name="Text Box 7" descr="小棋盘"/>
            <p:cNvSpPr txBox="1">
              <a:spLocks noChangeArrowheads="1"/>
            </p:cNvSpPr>
            <p:nvPr/>
          </p:nvSpPr>
          <p:spPr bwMode="auto">
            <a:xfrm>
              <a:off x="336" y="2016"/>
              <a:ext cx="768" cy="410"/>
            </a:xfrm>
            <a:prstGeom prst="rect">
              <a:avLst/>
            </a:prstGeom>
            <a:pattFill prst="smCheck">
              <a:fgClr>
                <a:srgbClr val="FFFF00"/>
              </a:fgClr>
              <a:bgClr>
                <a:srgbClr val="FFFFFF"/>
              </a:bgClr>
            </a:pattFill>
            <a:ln w="9525">
              <a:solidFill>
                <a:schemeClr val="fo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latin typeface="宋体" panose="02010600030101010101" pitchFamily="2" charset="-122"/>
                </a:rPr>
                <a:t>主机</a:t>
              </a:r>
              <a:r>
                <a:rPr lang="zh-CN" altLang="en-US" sz="3200"/>
                <a:t> </a:t>
              </a:r>
            </a:p>
          </p:txBody>
        </p:sp>
        <p:sp>
          <p:nvSpPr>
            <p:cNvPr id="107545" name="Text Box 8" descr="大棋盘"/>
            <p:cNvSpPr txBox="1">
              <a:spLocks noChangeArrowheads="1"/>
            </p:cNvSpPr>
            <p:nvPr/>
          </p:nvSpPr>
          <p:spPr bwMode="auto">
            <a:xfrm>
              <a:off x="4416" y="2016"/>
              <a:ext cx="768" cy="410"/>
            </a:xfrm>
            <a:prstGeom prst="rect">
              <a:avLst/>
            </a:prstGeom>
            <a:pattFill prst="lgCheck">
              <a:fgClr>
                <a:srgbClr val="FFFF00"/>
              </a:fgClr>
              <a:bgClr>
                <a:srgbClr val="FFFFFF"/>
              </a:bgClr>
            </a:pattFill>
            <a:ln w="9525">
              <a:solidFill>
                <a:schemeClr val="fo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600">
                  <a:latin typeface="宋体" panose="02010600030101010101" pitchFamily="2" charset="-122"/>
                </a:rPr>
                <a:t>CPU</a:t>
              </a:r>
              <a:r>
                <a:rPr lang="en-US" altLang="zh-CN" sz="3200"/>
                <a:t> </a:t>
              </a:r>
            </a:p>
          </p:txBody>
        </p:sp>
      </p:grpSp>
      <p:sp>
        <p:nvSpPr>
          <p:cNvPr id="605193" name="Line 9"/>
          <p:cNvSpPr>
            <a:spLocks noChangeShapeType="1"/>
          </p:cNvSpPr>
          <p:nvPr/>
        </p:nvSpPr>
        <p:spPr bwMode="auto">
          <a:xfrm>
            <a:off x="1752600" y="3505200"/>
            <a:ext cx="1371600" cy="0"/>
          </a:xfrm>
          <a:prstGeom prst="line">
            <a:avLst/>
          </a:prstGeom>
          <a:noFill/>
          <a:ln w="7620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5194" name="Line 10"/>
          <p:cNvSpPr>
            <a:spLocks noChangeShapeType="1"/>
          </p:cNvSpPr>
          <p:nvPr/>
        </p:nvSpPr>
        <p:spPr bwMode="auto">
          <a:xfrm flipH="1">
            <a:off x="5562600" y="3505200"/>
            <a:ext cx="1447800" cy="0"/>
          </a:xfrm>
          <a:prstGeom prst="line">
            <a:avLst/>
          </a:prstGeom>
          <a:noFill/>
          <a:ln w="7620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3" name="Group 11"/>
          <p:cNvGrpSpPr>
            <a:grpSpLocks/>
          </p:cNvGrpSpPr>
          <p:nvPr/>
        </p:nvGrpSpPr>
        <p:grpSpPr bwMode="auto">
          <a:xfrm>
            <a:off x="457200" y="5791200"/>
            <a:ext cx="7696200" cy="650875"/>
            <a:chOff x="336" y="3312"/>
            <a:chExt cx="4848" cy="410"/>
          </a:xfrm>
        </p:grpSpPr>
        <p:sp>
          <p:nvSpPr>
            <p:cNvPr id="107540" name="Text Box 12" descr="5%"/>
            <p:cNvSpPr txBox="1">
              <a:spLocks noChangeArrowheads="1"/>
            </p:cNvSpPr>
            <p:nvPr/>
          </p:nvSpPr>
          <p:spPr bwMode="auto">
            <a:xfrm>
              <a:off x="1968" y="3312"/>
              <a:ext cx="1536" cy="410"/>
            </a:xfrm>
            <a:prstGeom prst="rect">
              <a:avLst/>
            </a:prstGeom>
            <a:pattFill prst="pct5">
              <a:fgClr>
                <a:schemeClr val="bg1"/>
              </a:fgClr>
              <a:bgClr>
                <a:srgbClr val="FFFFFF"/>
              </a:bgClr>
            </a:patt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a:latin typeface="宋体" panose="02010600030101010101" pitchFamily="2" charset="-122"/>
                </a:rPr>
                <a:t>HPI</a:t>
              </a:r>
              <a:r>
                <a:rPr lang="zh-CN" altLang="en-US" sz="3600">
                  <a:latin typeface="宋体" panose="02010600030101010101" pitchFamily="2" charset="-122"/>
                </a:rPr>
                <a:t>存储器</a:t>
              </a:r>
              <a:r>
                <a:rPr lang="zh-CN" altLang="en-US" sz="3200"/>
                <a:t> </a:t>
              </a:r>
            </a:p>
          </p:txBody>
        </p:sp>
        <p:sp>
          <p:nvSpPr>
            <p:cNvPr id="107541" name="Text Box 13" descr="小棋盘"/>
            <p:cNvSpPr txBox="1">
              <a:spLocks noChangeArrowheads="1"/>
            </p:cNvSpPr>
            <p:nvPr/>
          </p:nvSpPr>
          <p:spPr bwMode="auto">
            <a:xfrm>
              <a:off x="336" y="3312"/>
              <a:ext cx="768" cy="410"/>
            </a:xfrm>
            <a:prstGeom prst="rect">
              <a:avLst/>
            </a:prstGeom>
            <a:pattFill prst="smCheck">
              <a:fgClr>
                <a:srgbClr val="FFFF00"/>
              </a:fgClr>
              <a:bgClr>
                <a:srgbClr val="FFFFFF"/>
              </a:bgClr>
            </a:pattFill>
            <a:ln w="9525">
              <a:solidFill>
                <a:schemeClr val="fo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latin typeface="宋体" panose="02010600030101010101" pitchFamily="2" charset="-122"/>
                </a:rPr>
                <a:t>主机</a:t>
              </a:r>
              <a:r>
                <a:rPr lang="zh-CN" altLang="en-US" sz="3200"/>
                <a:t> </a:t>
              </a:r>
            </a:p>
          </p:txBody>
        </p:sp>
        <p:sp>
          <p:nvSpPr>
            <p:cNvPr id="107542" name="Text Box 14" descr="大棋盘"/>
            <p:cNvSpPr txBox="1">
              <a:spLocks noChangeArrowheads="1"/>
            </p:cNvSpPr>
            <p:nvPr/>
          </p:nvSpPr>
          <p:spPr bwMode="auto">
            <a:xfrm>
              <a:off x="4416" y="3312"/>
              <a:ext cx="768" cy="410"/>
            </a:xfrm>
            <a:prstGeom prst="rect">
              <a:avLst/>
            </a:prstGeom>
            <a:pattFill prst="lgCheck">
              <a:fgClr>
                <a:srgbClr val="FFFF00"/>
              </a:fgClr>
              <a:bgClr>
                <a:srgbClr val="FFFFFF"/>
              </a:bgClr>
            </a:pattFill>
            <a:ln w="9525">
              <a:solidFill>
                <a:schemeClr val="fo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600">
                  <a:latin typeface="宋体" panose="02010600030101010101" pitchFamily="2" charset="-122"/>
                </a:rPr>
                <a:t>CPU</a:t>
              </a:r>
              <a:r>
                <a:rPr lang="en-US" altLang="zh-CN" sz="3200"/>
                <a:t> </a:t>
              </a:r>
            </a:p>
          </p:txBody>
        </p:sp>
      </p:grpSp>
      <p:sp>
        <p:nvSpPr>
          <p:cNvPr id="605199" name="Line 15"/>
          <p:cNvSpPr>
            <a:spLocks noChangeShapeType="1"/>
          </p:cNvSpPr>
          <p:nvPr/>
        </p:nvSpPr>
        <p:spPr bwMode="auto">
          <a:xfrm>
            <a:off x="1676400" y="6172200"/>
            <a:ext cx="1371600" cy="0"/>
          </a:xfrm>
          <a:prstGeom prst="line">
            <a:avLst/>
          </a:prstGeom>
          <a:noFill/>
          <a:ln w="7620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4" name="Group 16"/>
          <p:cNvGrpSpPr>
            <a:grpSpLocks/>
          </p:cNvGrpSpPr>
          <p:nvPr/>
        </p:nvGrpSpPr>
        <p:grpSpPr bwMode="auto">
          <a:xfrm>
            <a:off x="5486400" y="5943600"/>
            <a:ext cx="1447800" cy="457200"/>
            <a:chOff x="3504" y="3360"/>
            <a:chExt cx="912" cy="288"/>
          </a:xfrm>
        </p:grpSpPr>
        <p:sp>
          <p:nvSpPr>
            <p:cNvPr id="107536" name="Line 17"/>
            <p:cNvSpPr>
              <a:spLocks noChangeShapeType="1"/>
            </p:cNvSpPr>
            <p:nvPr/>
          </p:nvSpPr>
          <p:spPr bwMode="auto">
            <a:xfrm flipH="1">
              <a:off x="3504" y="3504"/>
              <a:ext cx="912" cy="0"/>
            </a:xfrm>
            <a:prstGeom prst="line">
              <a:avLst/>
            </a:prstGeom>
            <a:noFill/>
            <a:ln w="76200">
              <a:solidFill>
                <a:srgbClr val="0033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07537" name="Group 18"/>
            <p:cNvGrpSpPr>
              <a:grpSpLocks/>
            </p:cNvGrpSpPr>
            <p:nvPr/>
          </p:nvGrpSpPr>
          <p:grpSpPr bwMode="auto">
            <a:xfrm>
              <a:off x="3744" y="3360"/>
              <a:ext cx="288" cy="288"/>
              <a:chOff x="3744" y="3360"/>
              <a:chExt cx="288" cy="288"/>
            </a:xfrm>
          </p:grpSpPr>
          <p:sp>
            <p:nvSpPr>
              <p:cNvPr id="107538" name="Line 19"/>
              <p:cNvSpPr>
                <a:spLocks noChangeShapeType="1"/>
              </p:cNvSpPr>
              <p:nvPr/>
            </p:nvSpPr>
            <p:spPr bwMode="auto">
              <a:xfrm flipH="1">
                <a:off x="3744" y="3360"/>
                <a:ext cx="288" cy="288"/>
              </a:xfrm>
              <a:prstGeom prst="line">
                <a:avLst/>
              </a:prstGeom>
              <a:noFill/>
              <a:ln w="7620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7539" name="Line 20"/>
              <p:cNvSpPr>
                <a:spLocks noChangeShapeType="1"/>
              </p:cNvSpPr>
              <p:nvPr/>
            </p:nvSpPr>
            <p:spPr bwMode="auto">
              <a:xfrm>
                <a:off x="3744" y="3360"/>
                <a:ext cx="288" cy="288"/>
              </a:xfrm>
              <a:prstGeom prst="line">
                <a:avLst/>
              </a:prstGeom>
              <a:noFill/>
              <a:ln w="7620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605205" name="AutoShape 21" descr="小棋盘"/>
          <p:cNvSpPr>
            <a:spLocks noChangeArrowheads="1"/>
          </p:cNvSpPr>
          <p:nvPr/>
        </p:nvSpPr>
        <p:spPr bwMode="auto">
          <a:xfrm>
            <a:off x="5580063" y="1160748"/>
            <a:ext cx="3335337" cy="1811052"/>
          </a:xfrm>
          <a:prstGeom prst="wedgeRoundRectCallout">
            <a:avLst>
              <a:gd name="adj1" fmla="val -62375"/>
              <a:gd name="adj2" fmla="val 19653"/>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dirty="0">
                <a:solidFill>
                  <a:srgbClr val="FF00FF"/>
                </a:solidFill>
              </a:rPr>
              <a:t>如果</a:t>
            </a:r>
            <a:r>
              <a:rPr lang="en-US" altLang="zh-CN" sz="2400" dirty="0">
                <a:solidFill>
                  <a:srgbClr val="FF00FF"/>
                </a:solidFill>
              </a:rPr>
              <a:t>C54x</a:t>
            </a:r>
            <a:r>
              <a:rPr lang="zh-CN" altLang="en-US" sz="2400" dirty="0">
                <a:solidFill>
                  <a:srgbClr val="FF00FF"/>
                </a:solidFill>
              </a:rPr>
              <a:t>与主机的周期发生冲突，则主机具有寻址优先权，</a:t>
            </a:r>
            <a:r>
              <a:rPr lang="en-US" altLang="zh-CN" sz="2400" dirty="0">
                <a:solidFill>
                  <a:srgbClr val="FF00FF"/>
                </a:solidFill>
              </a:rPr>
              <a:t>C54x</a:t>
            </a:r>
            <a:r>
              <a:rPr lang="zh-CN" altLang="en-US" sz="2400" dirty="0">
                <a:solidFill>
                  <a:srgbClr val="FF00FF"/>
                </a:solidFill>
              </a:rPr>
              <a:t>等待一个周期。</a:t>
            </a:r>
          </a:p>
        </p:txBody>
      </p:sp>
      <p:sp>
        <p:nvSpPr>
          <p:cNvPr id="605206" name="AutoShape 22" descr="小棋盘"/>
          <p:cNvSpPr>
            <a:spLocks noChangeArrowheads="1"/>
          </p:cNvSpPr>
          <p:nvPr/>
        </p:nvSpPr>
        <p:spPr bwMode="auto">
          <a:xfrm>
            <a:off x="5580063" y="3886200"/>
            <a:ext cx="3335337" cy="1600200"/>
          </a:xfrm>
          <a:prstGeom prst="wedgeRoundRectCallout">
            <a:avLst>
              <a:gd name="adj1" fmla="val -58329"/>
              <a:gd name="adj2" fmla="val 19940"/>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en-US" altLang="zh-CN" sz="2400"/>
              <a:t>C54x</a:t>
            </a:r>
            <a:r>
              <a:rPr lang="zh-CN" altLang="en-US" sz="2400"/>
              <a:t>处于复位状态或者处在所有内部和外部时钟都停止的</a:t>
            </a:r>
            <a:r>
              <a:rPr lang="en-US" altLang="zh-CN" sz="2400"/>
              <a:t>IDLE2</a:t>
            </a:r>
            <a:r>
              <a:rPr lang="zh-CN" altLang="en-US" sz="2400"/>
              <a:t>空转状态。</a:t>
            </a:r>
          </a:p>
        </p:txBody>
      </p:sp>
      <p:sp>
        <p:nvSpPr>
          <p:cNvPr id="605207" name="Rectangle 23"/>
          <p:cNvSpPr>
            <a:spLocks noChangeArrowheads="1"/>
          </p:cNvSpPr>
          <p:nvPr/>
        </p:nvSpPr>
        <p:spPr bwMode="auto">
          <a:xfrm>
            <a:off x="1979613" y="2492375"/>
            <a:ext cx="34559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solidFill>
                  <a:schemeClr val="folHlink"/>
                </a:solidFill>
              </a:rPr>
              <a:t>HPIC</a:t>
            </a:r>
            <a:r>
              <a:rPr lang="zh-CN" altLang="en-US" sz="2800">
                <a:solidFill>
                  <a:schemeClr val="folHlink"/>
                </a:solidFill>
              </a:rPr>
              <a:t>中的</a:t>
            </a:r>
            <a:r>
              <a:rPr lang="en-US" altLang="zh-CN" sz="2800">
                <a:solidFill>
                  <a:schemeClr val="folHlink"/>
                </a:solidFill>
                <a:latin typeface="宋体" panose="02010600030101010101" pitchFamily="2" charset="-122"/>
              </a:rPr>
              <a:t>SMOD=1</a:t>
            </a:r>
          </a:p>
        </p:txBody>
      </p:sp>
      <p:sp>
        <p:nvSpPr>
          <p:cNvPr id="605208" name="Rectangle 24"/>
          <p:cNvSpPr>
            <a:spLocks noChangeArrowheads="1"/>
          </p:cNvSpPr>
          <p:nvPr/>
        </p:nvSpPr>
        <p:spPr bwMode="auto">
          <a:xfrm>
            <a:off x="3635375" y="4941888"/>
            <a:ext cx="16557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solidFill>
                  <a:schemeClr val="folHlink"/>
                </a:solidFill>
                <a:latin typeface="宋体" panose="02010600030101010101" pitchFamily="2" charset="-122"/>
              </a:rPr>
              <a:t>SMOD=0</a:t>
            </a:r>
            <a:endParaRPr lang="en-US" altLang="zh-CN" sz="2800">
              <a:solidFill>
                <a:schemeClr val="folHlink"/>
              </a:solidFill>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605186"/>
                                        </p:tgtEl>
                                        <p:attrNameLst>
                                          <p:attrName>style.visibility</p:attrName>
                                        </p:attrNameLst>
                                      </p:cBhvr>
                                      <p:to>
                                        <p:strVal val="visible"/>
                                      </p:to>
                                    </p:set>
                                    <p:anim calcmode="lin" valueType="num">
                                      <p:cBhvr>
                                        <p:cTn id="7" dur="500" fill="hold"/>
                                        <p:tgtEl>
                                          <p:spTgt spid="605186"/>
                                        </p:tgtEl>
                                        <p:attrNameLst>
                                          <p:attrName>ppt_w</p:attrName>
                                        </p:attrNameLst>
                                      </p:cBhvr>
                                      <p:tavLst>
                                        <p:tav tm="0">
                                          <p:val>
                                            <p:fltVal val="0"/>
                                          </p:val>
                                        </p:tav>
                                        <p:tav tm="100000">
                                          <p:val>
                                            <p:strVal val="#ppt_w"/>
                                          </p:val>
                                        </p:tav>
                                      </p:tavLst>
                                    </p:anim>
                                    <p:anim calcmode="lin" valueType="num">
                                      <p:cBhvr>
                                        <p:cTn id="8" dur="500" fill="hold"/>
                                        <p:tgtEl>
                                          <p:spTgt spid="605186"/>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3" presetClass="entr" presetSubtype="1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par>
                          <p:cTn id="13" fill="hold" nodeType="afterGroup">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605205"/>
                                        </p:tgtEl>
                                        <p:attrNameLst>
                                          <p:attrName>style.visibility</p:attrName>
                                        </p:attrNameLst>
                                      </p:cBhvr>
                                      <p:to>
                                        <p:strVal val="visible"/>
                                      </p:to>
                                    </p:set>
                                    <p:anim calcmode="lin" valueType="num">
                                      <p:cBhvr additive="base">
                                        <p:cTn id="16" dur="500" fill="hold"/>
                                        <p:tgtEl>
                                          <p:spTgt spid="605205"/>
                                        </p:tgtEl>
                                        <p:attrNameLst>
                                          <p:attrName>ppt_x</p:attrName>
                                        </p:attrNameLst>
                                      </p:cBhvr>
                                      <p:tavLst>
                                        <p:tav tm="0">
                                          <p:val>
                                            <p:strVal val="1+#ppt_w/2"/>
                                          </p:val>
                                        </p:tav>
                                        <p:tav tm="100000">
                                          <p:val>
                                            <p:strVal val="#ppt_x"/>
                                          </p:val>
                                        </p:tav>
                                      </p:tavLst>
                                    </p:anim>
                                    <p:anim calcmode="lin" valueType="num">
                                      <p:cBhvr additive="base">
                                        <p:cTn id="17" dur="500" fill="hold"/>
                                        <p:tgtEl>
                                          <p:spTgt spid="605205"/>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1500"/>
                            </p:stCondLst>
                            <p:childTnLst>
                              <p:par>
                                <p:cTn id="19" presetID="2" presetClass="entr" presetSubtype="2" fill="hold" grpId="0" nodeType="afterEffect">
                                  <p:stCondLst>
                                    <p:cond delay="0"/>
                                  </p:stCondLst>
                                  <p:childTnLst>
                                    <p:set>
                                      <p:cBhvr>
                                        <p:cTn id="20" dur="1" fill="hold">
                                          <p:stCondLst>
                                            <p:cond delay="0"/>
                                          </p:stCondLst>
                                        </p:cTn>
                                        <p:tgtEl>
                                          <p:spTgt spid="605206"/>
                                        </p:tgtEl>
                                        <p:attrNameLst>
                                          <p:attrName>style.visibility</p:attrName>
                                        </p:attrNameLst>
                                      </p:cBhvr>
                                      <p:to>
                                        <p:strVal val="visible"/>
                                      </p:to>
                                    </p:set>
                                    <p:anim calcmode="lin" valueType="num">
                                      <p:cBhvr additive="base">
                                        <p:cTn id="21" dur="500" fill="hold"/>
                                        <p:tgtEl>
                                          <p:spTgt spid="605206"/>
                                        </p:tgtEl>
                                        <p:attrNameLst>
                                          <p:attrName>ppt_x</p:attrName>
                                        </p:attrNameLst>
                                      </p:cBhvr>
                                      <p:tavLst>
                                        <p:tav tm="0">
                                          <p:val>
                                            <p:strVal val="1+#ppt_w/2"/>
                                          </p:val>
                                        </p:tav>
                                        <p:tav tm="100000">
                                          <p:val>
                                            <p:strVal val="#ppt_x"/>
                                          </p:val>
                                        </p:tav>
                                      </p:tavLst>
                                    </p:anim>
                                    <p:anim calcmode="lin" valueType="num">
                                      <p:cBhvr additive="base">
                                        <p:cTn id="22" dur="500" fill="hold"/>
                                        <p:tgtEl>
                                          <p:spTgt spid="605206"/>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2000"/>
                            </p:stCondLst>
                            <p:childTnLst>
                              <p:par>
                                <p:cTn id="24" presetID="12" presetClass="entr" presetSubtype="8" fill="hold" grpId="0" nodeType="afterEffect">
                                  <p:stCondLst>
                                    <p:cond delay="0"/>
                                  </p:stCondLst>
                                  <p:childTnLst>
                                    <p:set>
                                      <p:cBhvr>
                                        <p:cTn id="25" dur="1" fill="hold">
                                          <p:stCondLst>
                                            <p:cond delay="0"/>
                                          </p:stCondLst>
                                        </p:cTn>
                                        <p:tgtEl>
                                          <p:spTgt spid="605193"/>
                                        </p:tgtEl>
                                        <p:attrNameLst>
                                          <p:attrName>style.visibility</p:attrName>
                                        </p:attrNameLst>
                                      </p:cBhvr>
                                      <p:to>
                                        <p:strVal val="visible"/>
                                      </p:to>
                                    </p:set>
                                    <p:animEffect transition="in" filter="slide(fromLeft)">
                                      <p:cBhvr>
                                        <p:cTn id="26" dur="500"/>
                                        <p:tgtEl>
                                          <p:spTgt spid="605193"/>
                                        </p:tgtEl>
                                      </p:cBhvr>
                                    </p:animEffect>
                                  </p:childTnLst>
                                </p:cTn>
                              </p:par>
                            </p:childTnLst>
                          </p:cTn>
                        </p:par>
                        <p:par>
                          <p:cTn id="27" fill="hold" nodeType="afterGroup">
                            <p:stCondLst>
                              <p:cond delay="2500"/>
                            </p:stCondLst>
                            <p:childTnLst>
                              <p:par>
                                <p:cTn id="28" presetID="12" presetClass="entr" presetSubtype="2" fill="hold" grpId="0" nodeType="afterEffect">
                                  <p:stCondLst>
                                    <p:cond delay="0"/>
                                  </p:stCondLst>
                                  <p:childTnLst>
                                    <p:set>
                                      <p:cBhvr>
                                        <p:cTn id="29" dur="1" fill="hold">
                                          <p:stCondLst>
                                            <p:cond delay="0"/>
                                          </p:stCondLst>
                                        </p:cTn>
                                        <p:tgtEl>
                                          <p:spTgt spid="605194"/>
                                        </p:tgtEl>
                                        <p:attrNameLst>
                                          <p:attrName>style.visibility</p:attrName>
                                        </p:attrNameLst>
                                      </p:cBhvr>
                                      <p:to>
                                        <p:strVal val="visible"/>
                                      </p:to>
                                    </p:set>
                                    <p:animEffect transition="in" filter="slide(fromRight)">
                                      <p:cBhvr>
                                        <p:cTn id="30" dur="500"/>
                                        <p:tgtEl>
                                          <p:spTgt spid="605194"/>
                                        </p:tgtEl>
                                      </p:cBhvr>
                                    </p:animEffect>
                                  </p:childTnLst>
                                </p:cTn>
                              </p:par>
                            </p:childTnLst>
                          </p:cTn>
                        </p:par>
                        <p:par>
                          <p:cTn id="31" fill="hold" nodeType="afterGroup">
                            <p:stCondLst>
                              <p:cond delay="3000"/>
                            </p:stCondLst>
                            <p:childTnLst>
                              <p:par>
                                <p:cTn id="32" presetID="12" presetClass="entr" presetSubtype="4" fill="hold" grpId="0" nodeType="afterEffect">
                                  <p:stCondLst>
                                    <p:cond delay="0"/>
                                  </p:stCondLst>
                                  <p:childTnLst>
                                    <p:set>
                                      <p:cBhvr>
                                        <p:cTn id="33" dur="1" fill="hold">
                                          <p:stCondLst>
                                            <p:cond delay="0"/>
                                          </p:stCondLst>
                                        </p:cTn>
                                        <p:tgtEl>
                                          <p:spTgt spid="605188"/>
                                        </p:tgtEl>
                                        <p:attrNameLst>
                                          <p:attrName>style.visibility</p:attrName>
                                        </p:attrNameLst>
                                      </p:cBhvr>
                                      <p:to>
                                        <p:strVal val="visible"/>
                                      </p:to>
                                    </p:set>
                                    <p:animEffect transition="in" filter="slide(fromBottom)">
                                      <p:cBhvr>
                                        <p:cTn id="34" dur="500"/>
                                        <p:tgtEl>
                                          <p:spTgt spid="605188"/>
                                        </p:tgtEl>
                                      </p:cBhvr>
                                    </p:animEffect>
                                  </p:childTnLst>
                                </p:cTn>
                              </p:par>
                            </p:childTnLst>
                          </p:cTn>
                        </p:par>
                        <p:par>
                          <p:cTn id="35" fill="hold" nodeType="afterGroup">
                            <p:stCondLst>
                              <p:cond delay="3500"/>
                            </p:stCondLst>
                            <p:childTnLst>
                              <p:par>
                                <p:cTn id="36" presetID="3" presetClass="entr" presetSubtype="10"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blinds(horizontal)">
                                      <p:cBhvr>
                                        <p:cTn id="38" dur="500"/>
                                        <p:tgtEl>
                                          <p:spTgt spid="3"/>
                                        </p:tgtEl>
                                      </p:cBhvr>
                                    </p:animEffect>
                                  </p:childTnLst>
                                </p:cTn>
                              </p:par>
                            </p:childTnLst>
                          </p:cTn>
                        </p:par>
                        <p:par>
                          <p:cTn id="39" fill="hold" nodeType="afterGroup">
                            <p:stCondLst>
                              <p:cond delay="4000"/>
                            </p:stCondLst>
                            <p:childTnLst>
                              <p:par>
                                <p:cTn id="40" presetID="12" presetClass="entr" presetSubtype="8" fill="hold" grpId="0" nodeType="afterEffect">
                                  <p:stCondLst>
                                    <p:cond delay="0"/>
                                  </p:stCondLst>
                                  <p:childTnLst>
                                    <p:set>
                                      <p:cBhvr>
                                        <p:cTn id="41" dur="1" fill="hold">
                                          <p:stCondLst>
                                            <p:cond delay="0"/>
                                          </p:stCondLst>
                                        </p:cTn>
                                        <p:tgtEl>
                                          <p:spTgt spid="605199"/>
                                        </p:tgtEl>
                                        <p:attrNameLst>
                                          <p:attrName>style.visibility</p:attrName>
                                        </p:attrNameLst>
                                      </p:cBhvr>
                                      <p:to>
                                        <p:strVal val="visible"/>
                                      </p:to>
                                    </p:set>
                                    <p:animEffect transition="in" filter="slide(fromLeft)">
                                      <p:cBhvr>
                                        <p:cTn id="42" dur="500"/>
                                        <p:tgtEl>
                                          <p:spTgt spid="605199"/>
                                        </p:tgtEl>
                                      </p:cBhvr>
                                    </p:animEffect>
                                  </p:childTnLst>
                                </p:cTn>
                              </p:par>
                            </p:childTnLst>
                          </p:cTn>
                        </p:par>
                        <p:par>
                          <p:cTn id="43" fill="hold" nodeType="afterGroup">
                            <p:stCondLst>
                              <p:cond delay="4500"/>
                            </p:stCondLst>
                            <p:childTnLst>
                              <p:par>
                                <p:cTn id="44" presetID="12" presetClass="entr" presetSubtype="2" fill="hold" nodeType="after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slide(fromRight)">
                                      <p:cBhvr>
                                        <p:cTn id="46" dur="500"/>
                                        <p:tgtEl>
                                          <p:spTgt spid="4"/>
                                        </p:tgtEl>
                                      </p:cBhvr>
                                    </p:animEffect>
                                  </p:childTnLst>
                                </p:cTn>
                              </p:par>
                            </p:childTnLst>
                          </p:cTn>
                        </p:par>
                        <p:par>
                          <p:cTn id="47" fill="hold" nodeType="afterGroup">
                            <p:stCondLst>
                              <p:cond delay="5000"/>
                            </p:stCondLst>
                            <p:childTnLst>
                              <p:par>
                                <p:cTn id="48" presetID="23" presetClass="entr" presetSubtype="16" fill="hold" grpId="0" nodeType="afterEffect">
                                  <p:stCondLst>
                                    <p:cond delay="0"/>
                                  </p:stCondLst>
                                  <p:childTnLst>
                                    <p:set>
                                      <p:cBhvr>
                                        <p:cTn id="49" dur="1" fill="hold">
                                          <p:stCondLst>
                                            <p:cond delay="0"/>
                                          </p:stCondLst>
                                        </p:cTn>
                                        <p:tgtEl>
                                          <p:spTgt spid="605207"/>
                                        </p:tgtEl>
                                        <p:attrNameLst>
                                          <p:attrName>style.visibility</p:attrName>
                                        </p:attrNameLst>
                                      </p:cBhvr>
                                      <p:to>
                                        <p:strVal val="visible"/>
                                      </p:to>
                                    </p:set>
                                    <p:anim calcmode="lin" valueType="num">
                                      <p:cBhvr>
                                        <p:cTn id="50" dur="500" fill="hold"/>
                                        <p:tgtEl>
                                          <p:spTgt spid="605207"/>
                                        </p:tgtEl>
                                        <p:attrNameLst>
                                          <p:attrName>ppt_w</p:attrName>
                                        </p:attrNameLst>
                                      </p:cBhvr>
                                      <p:tavLst>
                                        <p:tav tm="0">
                                          <p:val>
                                            <p:fltVal val="0"/>
                                          </p:val>
                                        </p:tav>
                                        <p:tav tm="100000">
                                          <p:val>
                                            <p:strVal val="#ppt_w"/>
                                          </p:val>
                                        </p:tav>
                                      </p:tavLst>
                                    </p:anim>
                                    <p:anim calcmode="lin" valueType="num">
                                      <p:cBhvr>
                                        <p:cTn id="51" dur="500" fill="hold"/>
                                        <p:tgtEl>
                                          <p:spTgt spid="605207"/>
                                        </p:tgtEl>
                                        <p:attrNameLst>
                                          <p:attrName>ppt_h</p:attrName>
                                        </p:attrNameLst>
                                      </p:cBhvr>
                                      <p:tavLst>
                                        <p:tav tm="0">
                                          <p:val>
                                            <p:fltVal val="0"/>
                                          </p:val>
                                        </p:tav>
                                        <p:tav tm="100000">
                                          <p:val>
                                            <p:strVal val="#ppt_h"/>
                                          </p:val>
                                        </p:tav>
                                      </p:tavLst>
                                    </p:anim>
                                  </p:childTnLst>
                                </p:cTn>
                              </p:par>
                            </p:childTnLst>
                          </p:cTn>
                        </p:par>
                        <p:par>
                          <p:cTn id="52" fill="hold" nodeType="afterGroup">
                            <p:stCondLst>
                              <p:cond delay="5500"/>
                            </p:stCondLst>
                            <p:childTnLst>
                              <p:par>
                                <p:cTn id="53" presetID="23" presetClass="entr" presetSubtype="16" fill="hold" grpId="0" nodeType="afterEffect">
                                  <p:stCondLst>
                                    <p:cond delay="0"/>
                                  </p:stCondLst>
                                  <p:childTnLst>
                                    <p:set>
                                      <p:cBhvr>
                                        <p:cTn id="54" dur="1" fill="hold">
                                          <p:stCondLst>
                                            <p:cond delay="0"/>
                                          </p:stCondLst>
                                        </p:cTn>
                                        <p:tgtEl>
                                          <p:spTgt spid="605208"/>
                                        </p:tgtEl>
                                        <p:attrNameLst>
                                          <p:attrName>style.visibility</p:attrName>
                                        </p:attrNameLst>
                                      </p:cBhvr>
                                      <p:to>
                                        <p:strVal val="visible"/>
                                      </p:to>
                                    </p:set>
                                    <p:anim calcmode="lin" valueType="num">
                                      <p:cBhvr>
                                        <p:cTn id="55" dur="500" fill="hold"/>
                                        <p:tgtEl>
                                          <p:spTgt spid="605208"/>
                                        </p:tgtEl>
                                        <p:attrNameLst>
                                          <p:attrName>ppt_w</p:attrName>
                                        </p:attrNameLst>
                                      </p:cBhvr>
                                      <p:tavLst>
                                        <p:tav tm="0">
                                          <p:val>
                                            <p:fltVal val="0"/>
                                          </p:val>
                                        </p:tav>
                                        <p:tav tm="100000">
                                          <p:val>
                                            <p:strVal val="#ppt_w"/>
                                          </p:val>
                                        </p:tav>
                                      </p:tavLst>
                                    </p:anim>
                                    <p:anim calcmode="lin" valueType="num">
                                      <p:cBhvr>
                                        <p:cTn id="56" dur="500" fill="hold"/>
                                        <p:tgtEl>
                                          <p:spTgt spid="60520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86" grpId="0" autoUpdateAnimBg="0"/>
      <p:bldP spid="605188" grpId="0" autoUpdateAnimBg="0"/>
      <p:bldP spid="605193" grpId="0" animBg="1"/>
      <p:bldP spid="605194" grpId="0" animBg="1"/>
      <p:bldP spid="605199" grpId="0" animBg="1"/>
      <p:bldP spid="605205" grpId="0" animBg="1" autoUpdateAnimBg="0"/>
      <p:bldP spid="605206" grpId="0" animBg="1" autoUpdateAnimBg="0"/>
      <p:bldP spid="605207" grpId="0" autoUpdateAnimBg="0"/>
      <p:bldP spid="605208"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6A6A863E-62C3-45B1-B06B-E37F81BF4F30}" type="slidenum">
              <a:rPr lang="en-US" altLang="zh-CN" sz="1400" b="0"/>
              <a:pPr eaLnBrk="1" hangingPunct="1"/>
              <a:t>95</a:t>
            </a:fld>
            <a:endParaRPr lang="en-US" altLang="zh-CN" sz="1400" b="0"/>
          </a:p>
        </p:txBody>
      </p:sp>
      <p:sp>
        <p:nvSpPr>
          <p:cNvPr id="108547" name="Rectangle 2"/>
          <p:cNvSpPr>
            <a:spLocks noChangeArrowheads="1"/>
          </p:cNvSpPr>
          <p:nvPr/>
        </p:nvSpPr>
        <p:spPr bwMode="auto">
          <a:xfrm>
            <a:off x="250825" y="1371600"/>
            <a:ext cx="8664575"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762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zh-CN" altLang="en-US" sz="2800">
                <a:solidFill>
                  <a:schemeClr val="folHlink"/>
                </a:solidFill>
              </a:rPr>
              <a:t>在</a:t>
            </a:r>
            <a:r>
              <a:rPr lang="en-US" altLang="zh-CN" sz="2800">
                <a:solidFill>
                  <a:schemeClr val="folHlink"/>
                </a:solidFill>
              </a:rPr>
              <a:t>SAM</a:t>
            </a:r>
            <a:r>
              <a:rPr lang="zh-CN" altLang="en-US" sz="2800">
                <a:solidFill>
                  <a:schemeClr val="folHlink"/>
                </a:solidFill>
              </a:rPr>
              <a:t>工作方式，若</a:t>
            </a:r>
            <a:r>
              <a:rPr lang="en-US" altLang="zh-CN" sz="2800">
                <a:solidFill>
                  <a:schemeClr val="folHlink"/>
                </a:solidFill>
              </a:rPr>
              <a:t>HPI</a:t>
            </a:r>
            <a:r>
              <a:rPr lang="zh-CN" altLang="en-US" sz="2800">
                <a:solidFill>
                  <a:schemeClr val="folHlink"/>
                </a:solidFill>
              </a:rPr>
              <a:t>每</a:t>
            </a:r>
            <a:r>
              <a:rPr lang="en-US" altLang="zh-CN" sz="2800">
                <a:solidFill>
                  <a:schemeClr val="folHlink"/>
                </a:solidFill>
              </a:rPr>
              <a:t>5</a:t>
            </a:r>
            <a:r>
              <a:rPr lang="zh-CN" altLang="en-US" sz="2800">
                <a:solidFill>
                  <a:schemeClr val="folHlink"/>
                </a:solidFill>
              </a:rPr>
              <a:t>个</a:t>
            </a:r>
            <a:r>
              <a:rPr lang="en-US" altLang="zh-CN" sz="2800">
                <a:solidFill>
                  <a:schemeClr val="folHlink"/>
                </a:solidFill>
              </a:rPr>
              <a:t>CLKOUT</a:t>
            </a:r>
            <a:r>
              <a:rPr lang="zh-CN" altLang="en-US" sz="2800">
                <a:solidFill>
                  <a:schemeClr val="folHlink"/>
                </a:solidFill>
              </a:rPr>
              <a:t>周期传送一个字节，那么主机的运行频率可达（ </a:t>
            </a:r>
            <a:r>
              <a:rPr lang="en-US" altLang="zh-CN" sz="2800">
                <a:solidFill>
                  <a:schemeClr val="folHlink"/>
                </a:solidFill>
              </a:rPr>
              <a:t>CLKOUT *n</a:t>
            </a:r>
            <a:r>
              <a:rPr lang="zh-CN" altLang="en-US" sz="2800">
                <a:solidFill>
                  <a:schemeClr val="folHlink"/>
                </a:solidFill>
              </a:rPr>
              <a:t>）</a:t>
            </a:r>
            <a:r>
              <a:rPr lang="en-US" altLang="zh-CN" sz="2800">
                <a:solidFill>
                  <a:schemeClr val="folHlink"/>
                </a:solidFill>
              </a:rPr>
              <a:t>/5</a:t>
            </a:r>
            <a:r>
              <a:rPr lang="zh-CN" altLang="en-US" sz="2800">
                <a:solidFill>
                  <a:schemeClr val="folHlink"/>
                </a:solidFill>
              </a:rPr>
              <a:t>。</a:t>
            </a:r>
            <a:r>
              <a:rPr lang="en-US" altLang="zh-CN" sz="2800"/>
              <a:t>n</a:t>
            </a:r>
            <a:r>
              <a:rPr lang="zh-CN" altLang="en-US" sz="2800"/>
              <a:t>是主机每进行一次外部寻址的周期数，通常</a:t>
            </a:r>
            <a:r>
              <a:rPr lang="en-US" altLang="zh-CN" sz="2800"/>
              <a:t>n</a:t>
            </a:r>
            <a:r>
              <a:rPr lang="zh-CN" altLang="en-US" sz="2800"/>
              <a:t>为</a:t>
            </a:r>
            <a:r>
              <a:rPr lang="en-US" altLang="zh-CN" sz="2800"/>
              <a:t>4</a:t>
            </a:r>
            <a:r>
              <a:rPr lang="zh-CN" altLang="en-US" sz="2800"/>
              <a:t>（或</a:t>
            </a:r>
            <a:r>
              <a:rPr lang="en-US" altLang="zh-CN" sz="2800"/>
              <a:t>3</a:t>
            </a:r>
            <a:r>
              <a:rPr lang="zh-CN" altLang="en-US" sz="2800"/>
              <a:t>）。若</a:t>
            </a:r>
            <a:r>
              <a:rPr lang="en-US" altLang="zh-CN" sz="2800"/>
              <a:t>C54x</a:t>
            </a:r>
            <a:r>
              <a:rPr lang="zh-CN" altLang="en-US" sz="2800"/>
              <a:t>的</a:t>
            </a:r>
            <a:r>
              <a:rPr lang="en-US" altLang="zh-CN" sz="2800"/>
              <a:t>CLKOUT</a:t>
            </a:r>
            <a:r>
              <a:rPr lang="zh-CN" altLang="en-US" sz="2800"/>
              <a:t>频率为</a:t>
            </a:r>
            <a:r>
              <a:rPr lang="en-US" altLang="zh-CN" sz="2800"/>
              <a:t>40MHz</a:t>
            </a:r>
            <a:r>
              <a:rPr lang="zh-CN" altLang="en-US" sz="2800"/>
              <a:t>，那么主机的运行频率可达</a:t>
            </a:r>
            <a:r>
              <a:rPr lang="en-US" altLang="zh-CN" sz="2800"/>
              <a:t>32</a:t>
            </a:r>
            <a:r>
              <a:rPr lang="zh-CN" altLang="en-US" sz="2800"/>
              <a:t>或</a:t>
            </a:r>
            <a:r>
              <a:rPr lang="en-US" altLang="zh-CN" sz="2800"/>
              <a:t>24MHz</a:t>
            </a:r>
            <a:r>
              <a:rPr lang="zh-CN" altLang="en-US" sz="2800"/>
              <a:t>，且不需插入等待周期。</a:t>
            </a:r>
          </a:p>
          <a:p>
            <a:pPr eaLnBrk="1" hangingPunct="1">
              <a:lnSpc>
                <a:spcPct val="90000"/>
              </a:lnSpc>
              <a:spcBef>
                <a:spcPct val="50000"/>
              </a:spcBef>
            </a:pPr>
            <a:r>
              <a:rPr lang="zh-CN" altLang="en-US" sz="2800">
                <a:solidFill>
                  <a:schemeClr val="tx2"/>
                </a:solidFill>
              </a:rPr>
              <a:t>在</a:t>
            </a:r>
            <a:r>
              <a:rPr lang="en-US" altLang="zh-CN" sz="2800">
                <a:solidFill>
                  <a:schemeClr val="tx2"/>
                </a:solidFill>
              </a:rPr>
              <a:t>HOM</a:t>
            </a:r>
            <a:r>
              <a:rPr lang="zh-CN" altLang="en-US" sz="2800">
                <a:solidFill>
                  <a:schemeClr val="tx2"/>
                </a:solidFill>
              </a:rPr>
              <a:t>方式，主机可以更快的速度，如每</a:t>
            </a:r>
            <a:r>
              <a:rPr lang="en-US" altLang="zh-CN" sz="2800">
                <a:solidFill>
                  <a:schemeClr val="tx2"/>
                </a:solidFill>
              </a:rPr>
              <a:t>50ns</a:t>
            </a:r>
            <a:r>
              <a:rPr lang="zh-CN" altLang="en-US" sz="2800">
                <a:solidFill>
                  <a:schemeClr val="tx2"/>
                </a:solidFill>
              </a:rPr>
              <a:t>寻址一个字节（即</a:t>
            </a:r>
            <a:r>
              <a:rPr lang="en-US" altLang="zh-CN" sz="2800">
                <a:solidFill>
                  <a:schemeClr val="tx2"/>
                </a:solidFill>
              </a:rPr>
              <a:t>160Mbps</a:t>
            </a:r>
            <a:r>
              <a:rPr lang="zh-CN" altLang="en-US" sz="2800">
                <a:solidFill>
                  <a:schemeClr val="tx2"/>
                </a:solidFill>
              </a:rPr>
              <a:t>），且与</a:t>
            </a:r>
            <a:r>
              <a:rPr lang="en-US" altLang="zh-CN" sz="2800">
                <a:solidFill>
                  <a:schemeClr val="tx2"/>
                </a:solidFill>
              </a:rPr>
              <a:t>C54x</a:t>
            </a:r>
            <a:r>
              <a:rPr lang="zh-CN" altLang="en-US" sz="2800">
                <a:solidFill>
                  <a:schemeClr val="tx2"/>
                </a:solidFill>
              </a:rPr>
              <a:t>的时钟速率无关。</a:t>
            </a:r>
          </a:p>
          <a:p>
            <a:pPr eaLnBrk="1" hangingPunct="1">
              <a:lnSpc>
                <a:spcPct val="90000"/>
              </a:lnSpc>
              <a:spcBef>
                <a:spcPct val="50000"/>
              </a:spcBef>
            </a:pPr>
            <a:r>
              <a:rPr lang="en-US" altLang="zh-CN" sz="2800"/>
              <a:t>C54x</a:t>
            </a:r>
            <a:r>
              <a:rPr lang="zh-CN" altLang="en-US" sz="2800"/>
              <a:t>的</a:t>
            </a:r>
            <a:r>
              <a:rPr lang="en-US" altLang="zh-CN" sz="2800"/>
              <a:t>HPI</a:t>
            </a:r>
            <a:r>
              <a:rPr lang="zh-CN" altLang="en-US" sz="2800"/>
              <a:t>与主机设备相连时，除了</a:t>
            </a:r>
            <a:r>
              <a:rPr lang="en-US" altLang="zh-CN" sz="2800"/>
              <a:t>8</a:t>
            </a:r>
            <a:r>
              <a:rPr lang="zh-CN" altLang="en-US" sz="2800"/>
              <a:t>位</a:t>
            </a:r>
            <a:r>
              <a:rPr lang="en-US" altLang="zh-CN" sz="2800"/>
              <a:t>HPI</a:t>
            </a:r>
            <a:r>
              <a:rPr lang="zh-CN" altLang="en-US" sz="2800"/>
              <a:t>数据总线以及控制信号线外，不需要附加其它的逻辑电路。</a:t>
            </a:r>
          </a:p>
        </p:txBody>
      </p:sp>
    </p:spTree>
  </p:cSld>
  <p:clrMapOvr>
    <a:masterClrMapping/>
  </p:clrMapOvr>
  <p:transition spd="med">
    <p:pull dir="lu"/>
  </p:transition>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7234" name="Rectangle 2"/>
          <p:cNvSpPr>
            <a:spLocks noGrp="1" noChangeArrowheads="1"/>
          </p:cNvSpPr>
          <p:nvPr>
            <p:ph type="title"/>
          </p:nvPr>
        </p:nvSpPr>
        <p:spPr bwMode="auto">
          <a:xfrm>
            <a:off x="1981200" y="1066800"/>
            <a:ext cx="53340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66"/>
                </a:solidFill>
                <a:latin typeface="宋体" panose="02010600030101010101" pitchFamily="2" charset="-122"/>
              </a:rPr>
              <a:t>HPI</a:t>
            </a:r>
            <a:r>
              <a:rPr lang="zh-CN" altLang="en-US" b="1">
                <a:solidFill>
                  <a:srgbClr val="FF0066"/>
                </a:solidFill>
                <a:latin typeface="宋体" panose="02010600030101010101" pitchFamily="2" charset="-122"/>
              </a:rPr>
              <a:t>与主机的连接</a:t>
            </a:r>
            <a:r>
              <a:rPr lang="zh-CN" altLang="en-US"/>
              <a:t> </a:t>
            </a:r>
          </a:p>
        </p:txBody>
      </p:sp>
      <p:sp>
        <p:nvSpPr>
          <p:cNvPr id="10957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98BABA3-C4AC-42F2-8DE7-55F0B67406B8}" type="slidenum">
              <a:rPr lang="en-US" altLang="zh-CN" sz="1400" b="0"/>
              <a:pPr eaLnBrk="1" hangingPunct="1"/>
              <a:t>96</a:t>
            </a:fld>
            <a:endParaRPr lang="en-US" altLang="zh-CN" sz="1400" b="0"/>
          </a:p>
        </p:txBody>
      </p:sp>
      <p:sp>
        <p:nvSpPr>
          <p:cNvPr id="109572" name="Rectangle 4"/>
          <p:cNvSpPr>
            <a:spLocks noChangeArrowheads="1"/>
          </p:cNvSpPr>
          <p:nvPr/>
        </p:nvSpPr>
        <p:spPr bwMode="auto">
          <a:xfrm>
            <a:off x="539750" y="2276475"/>
            <a:ext cx="2376488" cy="4032250"/>
          </a:xfrm>
          <a:prstGeom prst="rect">
            <a:avLst/>
          </a:prstGeom>
          <a:solidFill>
            <a:schemeClr val="hlink"/>
          </a:solidFill>
          <a:ln w="38100">
            <a:solidFill>
              <a:srgbClr val="FF00FF"/>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9573" name="Text Box 5"/>
          <p:cNvSpPr txBox="1">
            <a:spLocks noChangeArrowheads="1"/>
          </p:cNvSpPr>
          <p:nvPr/>
        </p:nvSpPr>
        <p:spPr bwMode="auto">
          <a:xfrm>
            <a:off x="1979613" y="2347913"/>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a:solidFill>
                  <a:schemeClr val="folHlink"/>
                </a:solidFill>
              </a:rPr>
              <a:t>数据</a:t>
            </a:r>
          </a:p>
        </p:txBody>
      </p:sp>
      <p:sp>
        <p:nvSpPr>
          <p:cNvPr id="109574" name="Rectangle 6"/>
          <p:cNvSpPr>
            <a:spLocks noChangeArrowheads="1"/>
          </p:cNvSpPr>
          <p:nvPr/>
        </p:nvSpPr>
        <p:spPr bwMode="auto">
          <a:xfrm>
            <a:off x="4500563" y="2276475"/>
            <a:ext cx="4416425" cy="4032250"/>
          </a:xfrm>
          <a:prstGeom prst="rect">
            <a:avLst/>
          </a:prstGeom>
          <a:solidFill>
            <a:srgbClr val="CCFFFF"/>
          </a:solidFill>
          <a:ln w="38100">
            <a:solidFill>
              <a:schemeClr val="accent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9575" name="Text Box 7"/>
          <p:cNvSpPr txBox="1">
            <a:spLocks noChangeArrowheads="1"/>
          </p:cNvSpPr>
          <p:nvPr/>
        </p:nvSpPr>
        <p:spPr bwMode="auto">
          <a:xfrm>
            <a:off x="4498975" y="2370138"/>
            <a:ext cx="4306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HD0 </a:t>
            </a:r>
            <a:r>
              <a:rPr lang="zh-CN" altLang="en-US"/>
              <a:t>～</a:t>
            </a:r>
            <a:r>
              <a:rPr lang="en-US" altLang="zh-CN"/>
              <a:t>HD7</a:t>
            </a:r>
            <a:r>
              <a:rPr lang="zh-CN" altLang="en-US"/>
              <a:t>双向并行三态数据总线</a:t>
            </a:r>
          </a:p>
        </p:txBody>
      </p:sp>
      <p:sp>
        <p:nvSpPr>
          <p:cNvPr id="109576" name="Line 8"/>
          <p:cNvSpPr>
            <a:spLocks noChangeShapeType="1"/>
          </p:cNvSpPr>
          <p:nvPr/>
        </p:nvSpPr>
        <p:spPr bwMode="auto">
          <a:xfrm>
            <a:off x="2916238" y="2565400"/>
            <a:ext cx="1584325" cy="0"/>
          </a:xfrm>
          <a:prstGeom prst="line">
            <a:avLst/>
          </a:prstGeom>
          <a:noFill/>
          <a:ln w="57150">
            <a:solidFill>
              <a:srgbClr val="9900CC"/>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77" name="Line 9"/>
          <p:cNvSpPr>
            <a:spLocks noChangeShapeType="1"/>
          </p:cNvSpPr>
          <p:nvPr/>
        </p:nvSpPr>
        <p:spPr bwMode="auto">
          <a:xfrm>
            <a:off x="3924300" y="2997200"/>
            <a:ext cx="576263" cy="0"/>
          </a:xfrm>
          <a:prstGeom prst="line">
            <a:avLst/>
          </a:prstGeom>
          <a:noFill/>
          <a:ln w="2857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78" name="Line 10"/>
          <p:cNvSpPr>
            <a:spLocks noChangeShapeType="1"/>
          </p:cNvSpPr>
          <p:nvPr/>
        </p:nvSpPr>
        <p:spPr bwMode="auto">
          <a:xfrm>
            <a:off x="3924300" y="3357563"/>
            <a:ext cx="576263" cy="0"/>
          </a:xfrm>
          <a:prstGeom prst="line">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79" name="Line 11"/>
          <p:cNvSpPr>
            <a:spLocks noChangeShapeType="1"/>
          </p:cNvSpPr>
          <p:nvPr/>
        </p:nvSpPr>
        <p:spPr bwMode="auto">
          <a:xfrm flipH="1">
            <a:off x="3490913" y="2452688"/>
            <a:ext cx="217487" cy="215900"/>
          </a:xfrm>
          <a:prstGeom prst="line">
            <a:avLst/>
          </a:prstGeom>
          <a:noFill/>
          <a:ln w="9525">
            <a:solidFill>
              <a:srgbClr val="9900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580" name="Line 12"/>
          <p:cNvSpPr>
            <a:spLocks noChangeShapeType="1"/>
          </p:cNvSpPr>
          <p:nvPr/>
        </p:nvSpPr>
        <p:spPr bwMode="auto">
          <a:xfrm flipH="1">
            <a:off x="4148138" y="2924175"/>
            <a:ext cx="146050" cy="144463"/>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581" name="Text Box 13"/>
          <p:cNvSpPr txBox="1">
            <a:spLocks noChangeArrowheads="1"/>
          </p:cNvSpPr>
          <p:nvPr/>
        </p:nvSpPr>
        <p:spPr bwMode="auto">
          <a:xfrm>
            <a:off x="4500563" y="2781300"/>
            <a:ext cx="2159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HCNTL0/1(</a:t>
            </a:r>
            <a:r>
              <a:rPr lang="zh-CN" altLang="en-US"/>
              <a:t>地址</a:t>
            </a:r>
            <a:r>
              <a:rPr lang="en-US" altLang="zh-CN"/>
              <a:t>)</a:t>
            </a:r>
          </a:p>
        </p:txBody>
      </p:sp>
      <p:sp>
        <p:nvSpPr>
          <p:cNvPr id="109582" name="Text Box 14"/>
          <p:cNvSpPr txBox="1">
            <a:spLocks noChangeArrowheads="1"/>
          </p:cNvSpPr>
          <p:nvPr/>
        </p:nvSpPr>
        <p:spPr bwMode="auto">
          <a:xfrm>
            <a:off x="4500563" y="3140075"/>
            <a:ext cx="2374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HBIL(</a:t>
            </a:r>
            <a:r>
              <a:rPr lang="zh-CN" altLang="en-US"/>
              <a:t>第</a:t>
            </a:r>
            <a:r>
              <a:rPr lang="en-US" altLang="zh-CN"/>
              <a:t>1/</a:t>
            </a:r>
            <a:r>
              <a:rPr lang="zh-CN" altLang="en-US"/>
              <a:t>第</a:t>
            </a:r>
            <a:r>
              <a:rPr lang="en-US" altLang="zh-CN"/>
              <a:t>2</a:t>
            </a:r>
            <a:r>
              <a:rPr lang="zh-CN" altLang="en-US"/>
              <a:t>字节</a:t>
            </a:r>
            <a:r>
              <a:rPr lang="en-US" altLang="zh-CN"/>
              <a:t>)</a:t>
            </a:r>
          </a:p>
        </p:txBody>
      </p:sp>
      <p:sp>
        <p:nvSpPr>
          <p:cNvPr id="109583" name="Text Box 15"/>
          <p:cNvSpPr txBox="1">
            <a:spLocks noChangeArrowheads="1"/>
          </p:cNvSpPr>
          <p:nvPr/>
        </p:nvSpPr>
        <p:spPr bwMode="auto">
          <a:xfrm>
            <a:off x="4500563" y="3500438"/>
            <a:ext cx="9350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HR/W</a:t>
            </a:r>
          </a:p>
        </p:txBody>
      </p:sp>
      <p:sp>
        <p:nvSpPr>
          <p:cNvPr id="109584" name="Line 16"/>
          <p:cNvSpPr>
            <a:spLocks noChangeShapeType="1"/>
          </p:cNvSpPr>
          <p:nvPr/>
        </p:nvSpPr>
        <p:spPr bwMode="auto">
          <a:xfrm>
            <a:off x="2916238" y="3171825"/>
            <a:ext cx="647700" cy="0"/>
          </a:xfrm>
          <a:prstGeom prst="line">
            <a:avLst/>
          </a:prstGeom>
          <a:noFill/>
          <a:ln w="3810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85" name="AutoShape 17"/>
          <p:cNvSpPr>
            <a:spLocks/>
          </p:cNvSpPr>
          <p:nvPr/>
        </p:nvSpPr>
        <p:spPr bwMode="auto">
          <a:xfrm>
            <a:off x="3698875" y="2997200"/>
            <a:ext cx="73025" cy="360363"/>
          </a:xfrm>
          <a:prstGeom prst="leftBrace">
            <a:avLst>
              <a:gd name="adj1" fmla="val 41123"/>
              <a:gd name="adj2" fmla="val 50000"/>
            </a:avLst>
          </a:prstGeom>
          <a:noFill/>
          <a:ln w="381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9586" name="Text Box 18"/>
          <p:cNvSpPr txBox="1">
            <a:spLocks noChangeArrowheads="1"/>
          </p:cNvSpPr>
          <p:nvPr/>
        </p:nvSpPr>
        <p:spPr bwMode="auto">
          <a:xfrm>
            <a:off x="3419475" y="2132013"/>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solidFill>
                  <a:srgbClr val="9900CC"/>
                </a:solidFill>
              </a:rPr>
              <a:t>8</a:t>
            </a:r>
          </a:p>
        </p:txBody>
      </p:sp>
      <p:sp>
        <p:nvSpPr>
          <p:cNvPr id="109587" name="Text Box 19"/>
          <p:cNvSpPr txBox="1">
            <a:spLocks noChangeArrowheads="1"/>
          </p:cNvSpPr>
          <p:nvPr/>
        </p:nvSpPr>
        <p:spPr bwMode="auto">
          <a:xfrm>
            <a:off x="3962400" y="2636838"/>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solidFill>
                  <a:srgbClr val="FF00FF"/>
                </a:solidFill>
              </a:rPr>
              <a:t>2</a:t>
            </a:r>
          </a:p>
        </p:txBody>
      </p:sp>
      <p:sp>
        <p:nvSpPr>
          <p:cNvPr id="109588" name="Line 20"/>
          <p:cNvSpPr>
            <a:spLocks noChangeShapeType="1"/>
          </p:cNvSpPr>
          <p:nvPr/>
        </p:nvSpPr>
        <p:spPr bwMode="auto">
          <a:xfrm>
            <a:off x="2916238" y="3716338"/>
            <a:ext cx="1584325" cy="0"/>
          </a:xfrm>
          <a:prstGeom prst="line">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89" name="Text Box 21"/>
          <p:cNvSpPr txBox="1">
            <a:spLocks noChangeArrowheads="1"/>
          </p:cNvSpPr>
          <p:nvPr/>
        </p:nvSpPr>
        <p:spPr bwMode="auto">
          <a:xfrm>
            <a:off x="2003425" y="2997200"/>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a:solidFill>
                  <a:schemeClr val="folHlink"/>
                </a:solidFill>
              </a:rPr>
              <a:t>地址</a:t>
            </a:r>
          </a:p>
        </p:txBody>
      </p:sp>
      <p:sp>
        <p:nvSpPr>
          <p:cNvPr id="109590" name="Text Box 22"/>
          <p:cNvSpPr txBox="1">
            <a:spLocks noChangeArrowheads="1"/>
          </p:cNvSpPr>
          <p:nvPr/>
        </p:nvSpPr>
        <p:spPr bwMode="auto">
          <a:xfrm>
            <a:off x="2003425" y="3500438"/>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a:solidFill>
                  <a:schemeClr val="folHlink"/>
                </a:solidFill>
              </a:rPr>
              <a:t>读</a:t>
            </a:r>
            <a:r>
              <a:rPr lang="en-US" altLang="zh-CN">
                <a:solidFill>
                  <a:schemeClr val="folHlink"/>
                </a:solidFill>
              </a:rPr>
              <a:t>/</a:t>
            </a:r>
            <a:r>
              <a:rPr lang="zh-CN" altLang="en-US">
                <a:solidFill>
                  <a:schemeClr val="folHlink"/>
                </a:solidFill>
              </a:rPr>
              <a:t>写</a:t>
            </a:r>
          </a:p>
        </p:txBody>
      </p:sp>
      <p:sp>
        <p:nvSpPr>
          <p:cNvPr id="109591" name="Line 23"/>
          <p:cNvSpPr>
            <a:spLocks noChangeShapeType="1"/>
          </p:cNvSpPr>
          <p:nvPr/>
        </p:nvSpPr>
        <p:spPr bwMode="auto">
          <a:xfrm>
            <a:off x="3924300" y="4076700"/>
            <a:ext cx="576263" cy="0"/>
          </a:xfrm>
          <a:prstGeom prst="line">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92" name="Line 24"/>
          <p:cNvSpPr>
            <a:spLocks noChangeShapeType="1"/>
          </p:cNvSpPr>
          <p:nvPr/>
        </p:nvSpPr>
        <p:spPr bwMode="auto">
          <a:xfrm>
            <a:off x="3924300" y="4481513"/>
            <a:ext cx="576263" cy="0"/>
          </a:xfrm>
          <a:prstGeom prst="line">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93" name="Line 25"/>
          <p:cNvSpPr>
            <a:spLocks noChangeShapeType="1"/>
          </p:cNvSpPr>
          <p:nvPr/>
        </p:nvSpPr>
        <p:spPr bwMode="auto">
          <a:xfrm>
            <a:off x="3924300" y="4940300"/>
            <a:ext cx="576263" cy="0"/>
          </a:xfrm>
          <a:prstGeom prst="line">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94" name="Line 26"/>
          <p:cNvSpPr>
            <a:spLocks noChangeShapeType="1"/>
          </p:cNvSpPr>
          <p:nvPr/>
        </p:nvSpPr>
        <p:spPr bwMode="auto">
          <a:xfrm>
            <a:off x="2916238" y="4513263"/>
            <a:ext cx="647700" cy="0"/>
          </a:xfrm>
          <a:prstGeom prst="line">
            <a:avLst/>
          </a:prstGeom>
          <a:noFill/>
          <a:ln w="3810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95" name="Text Box 27"/>
          <p:cNvSpPr txBox="1">
            <a:spLocks noChangeArrowheads="1"/>
          </p:cNvSpPr>
          <p:nvPr/>
        </p:nvSpPr>
        <p:spPr bwMode="auto">
          <a:xfrm>
            <a:off x="1347788" y="4283075"/>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a:solidFill>
                  <a:schemeClr val="folHlink"/>
                </a:solidFill>
              </a:rPr>
              <a:t>数据选通</a:t>
            </a:r>
          </a:p>
        </p:txBody>
      </p:sp>
      <p:sp>
        <p:nvSpPr>
          <p:cNvPr id="109596" name="AutoShape 28"/>
          <p:cNvSpPr>
            <a:spLocks/>
          </p:cNvSpPr>
          <p:nvPr/>
        </p:nvSpPr>
        <p:spPr bwMode="auto">
          <a:xfrm>
            <a:off x="3635375" y="4121150"/>
            <a:ext cx="73025" cy="747713"/>
          </a:xfrm>
          <a:prstGeom prst="leftBrace">
            <a:avLst>
              <a:gd name="adj1" fmla="val 85326"/>
              <a:gd name="adj2" fmla="val 50000"/>
            </a:avLst>
          </a:prstGeom>
          <a:noFill/>
          <a:ln w="381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9597" name="Text Box 29"/>
          <p:cNvSpPr txBox="1">
            <a:spLocks noChangeArrowheads="1"/>
          </p:cNvSpPr>
          <p:nvPr/>
        </p:nvSpPr>
        <p:spPr bwMode="auto">
          <a:xfrm>
            <a:off x="4500563" y="3868738"/>
            <a:ext cx="9350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HDS1</a:t>
            </a:r>
          </a:p>
        </p:txBody>
      </p:sp>
      <p:sp>
        <p:nvSpPr>
          <p:cNvPr id="109598" name="Text Box 30"/>
          <p:cNvSpPr txBox="1">
            <a:spLocks noChangeArrowheads="1"/>
          </p:cNvSpPr>
          <p:nvPr/>
        </p:nvSpPr>
        <p:spPr bwMode="auto">
          <a:xfrm>
            <a:off x="4500563" y="4283075"/>
            <a:ext cx="9350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HDS2</a:t>
            </a:r>
          </a:p>
        </p:txBody>
      </p:sp>
      <p:sp>
        <p:nvSpPr>
          <p:cNvPr id="109599" name="Text Box 31"/>
          <p:cNvSpPr txBox="1">
            <a:spLocks noChangeArrowheads="1"/>
          </p:cNvSpPr>
          <p:nvPr/>
        </p:nvSpPr>
        <p:spPr bwMode="auto">
          <a:xfrm>
            <a:off x="4500563" y="4724400"/>
            <a:ext cx="9350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HCS</a:t>
            </a:r>
          </a:p>
        </p:txBody>
      </p:sp>
      <p:sp>
        <p:nvSpPr>
          <p:cNvPr id="109600" name="Text Box 32"/>
          <p:cNvSpPr txBox="1">
            <a:spLocks noChangeArrowheads="1"/>
          </p:cNvSpPr>
          <p:nvPr/>
        </p:nvSpPr>
        <p:spPr bwMode="auto">
          <a:xfrm>
            <a:off x="5344365" y="4291012"/>
            <a:ext cx="2232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t>产生内部选通信号</a:t>
            </a:r>
          </a:p>
        </p:txBody>
      </p:sp>
      <p:sp>
        <p:nvSpPr>
          <p:cNvPr id="109601" name="AutoShape 33"/>
          <p:cNvSpPr>
            <a:spLocks/>
          </p:cNvSpPr>
          <p:nvPr/>
        </p:nvSpPr>
        <p:spPr bwMode="auto">
          <a:xfrm>
            <a:off x="5364163" y="4076700"/>
            <a:ext cx="144462" cy="863600"/>
          </a:xfrm>
          <a:prstGeom prst="rightBrace">
            <a:avLst>
              <a:gd name="adj1" fmla="val 49817"/>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9602" name="Line 34"/>
          <p:cNvSpPr>
            <a:spLocks noChangeShapeType="1"/>
          </p:cNvSpPr>
          <p:nvPr/>
        </p:nvSpPr>
        <p:spPr bwMode="auto">
          <a:xfrm>
            <a:off x="2916238" y="5373688"/>
            <a:ext cx="1584325" cy="0"/>
          </a:xfrm>
          <a:prstGeom prst="line">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603" name="Text Box 35"/>
          <p:cNvSpPr txBox="1">
            <a:spLocks noChangeArrowheads="1"/>
          </p:cNvSpPr>
          <p:nvPr/>
        </p:nvSpPr>
        <p:spPr bwMode="auto">
          <a:xfrm>
            <a:off x="755650" y="5156200"/>
            <a:ext cx="2087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a:solidFill>
                  <a:schemeClr val="folHlink"/>
                </a:solidFill>
              </a:rPr>
              <a:t>地址锁存使能</a:t>
            </a:r>
          </a:p>
        </p:txBody>
      </p:sp>
      <p:sp>
        <p:nvSpPr>
          <p:cNvPr id="109604" name="Text Box 36"/>
          <p:cNvSpPr txBox="1">
            <a:spLocks noChangeArrowheads="1"/>
          </p:cNvSpPr>
          <p:nvPr/>
        </p:nvSpPr>
        <p:spPr bwMode="auto">
          <a:xfrm>
            <a:off x="4500563" y="5156200"/>
            <a:ext cx="9350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HAS</a:t>
            </a:r>
          </a:p>
        </p:txBody>
      </p:sp>
      <p:sp>
        <p:nvSpPr>
          <p:cNvPr id="109605" name="Text Box 37"/>
          <p:cNvSpPr txBox="1">
            <a:spLocks noChangeArrowheads="1"/>
          </p:cNvSpPr>
          <p:nvPr/>
        </p:nvSpPr>
        <p:spPr bwMode="auto">
          <a:xfrm>
            <a:off x="5219700" y="5156200"/>
            <a:ext cx="1871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地址选通信号</a:t>
            </a:r>
          </a:p>
        </p:txBody>
      </p:sp>
      <p:sp>
        <p:nvSpPr>
          <p:cNvPr id="109606" name="Text Box 38"/>
          <p:cNvSpPr txBox="1">
            <a:spLocks noChangeArrowheads="1"/>
          </p:cNvSpPr>
          <p:nvPr/>
        </p:nvSpPr>
        <p:spPr bwMode="auto">
          <a:xfrm>
            <a:off x="4500563" y="5661025"/>
            <a:ext cx="9350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HRDY</a:t>
            </a:r>
          </a:p>
        </p:txBody>
      </p:sp>
      <p:sp>
        <p:nvSpPr>
          <p:cNvPr id="109607" name="Text Box 39"/>
          <p:cNvSpPr txBox="1">
            <a:spLocks noChangeArrowheads="1"/>
          </p:cNvSpPr>
          <p:nvPr/>
        </p:nvSpPr>
        <p:spPr bwMode="auto">
          <a:xfrm>
            <a:off x="755650" y="5589588"/>
            <a:ext cx="2087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a:solidFill>
                  <a:schemeClr val="folHlink"/>
                </a:solidFill>
              </a:rPr>
              <a:t>准备就绪</a:t>
            </a:r>
          </a:p>
        </p:txBody>
      </p:sp>
      <p:sp>
        <p:nvSpPr>
          <p:cNvPr id="109608" name="Line 40"/>
          <p:cNvSpPr>
            <a:spLocks noChangeShapeType="1"/>
          </p:cNvSpPr>
          <p:nvPr/>
        </p:nvSpPr>
        <p:spPr bwMode="auto">
          <a:xfrm>
            <a:off x="2916238" y="5876925"/>
            <a:ext cx="1584325" cy="0"/>
          </a:xfrm>
          <a:prstGeom prst="line">
            <a:avLst/>
          </a:prstGeom>
          <a:noFill/>
          <a:ln w="9525">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609" name="Line 41"/>
          <p:cNvSpPr>
            <a:spLocks noChangeShapeType="1"/>
          </p:cNvSpPr>
          <p:nvPr/>
        </p:nvSpPr>
        <p:spPr bwMode="auto">
          <a:xfrm>
            <a:off x="1403350" y="6596063"/>
            <a:ext cx="5256213" cy="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610" name="Line 42"/>
          <p:cNvSpPr>
            <a:spLocks noChangeShapeType="1"/>
          </p:cNvSpPr>
          <p:nvPr/>
        </p:nvSpPr>
        <p:spPr bwMode="auto">
          <a:xfrm>
            <a:off x="1403350" y="6308725"/>
            <a:ext cx="0" cy="287338"/>
          </a:xfrm>
          <a:prstGeom prst="line">
            <a:avLst/>
          </a:prstGeom>
          <a:noFill/>
          <a:ln w="9525">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611" name="Line 43"/>
          <p:cNvSpPr>
            <a:spLocks noChangeShapeType="1"/>
          </p:cNvSpPr>
          <p:nvPr/>
        </p:nvSpPr>
        <p:spPr bwMode="auto">
          <a:xfrm>
            <a:off x="6659563" y="6308725"/>
            <a:ext cx="0" cy="287338"/>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612" name="Text Box 44"/>
          <p:cNvSpPr txBox="1">
            <a:spLocks noChangeArrowheads="1"/>
          </p:cNvSpPr>
          <p:nvPr/>
        </p:nvSpPr>
        <p:spPr bwMode="auto">
          <a:xfrm>
            <a:off x="6156325" y="5948363"/>
            <a:ext cx="935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HINT</a:t>
            </a:r>
          </a:p>
        </p:txBody>
      </p:sp>
      <p:sp>
        <p:nvSpPr>
          <p:cNvPr id="109613" name="Text Box 45"/>
          <p:cNvSpPr txBox="1">
            <a:spLocks noChangeArrowheads="1"/>
          </p:cNvSpPr>
          <p:nvPr/>
        </p:nvSpPr>
        <p:spPr bwMode="auto">
          <a:xfrm>
            <a:off x="755650" y="5876925"/>
            <a:ext cx="1368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a:solidFill>
                  <a:schemeClr val="folHlink"/>
                </a:solidFill>
              </a:rPr>
              <a:t>中断请求</a:t>
            </a:r>
          </a:p>
        </p:txBody>
      </p:sp>
      <p:sp>
        <p:nvSpPr>
          <p:cNvPr id="109614" name="Text Box 48"/>
          <p:cNvSpPr txBox="1">
            <a:spLocks noChangeArrowheads="1"/>
          </p:cNvSpPr>
          <p:nvPr/>
        </p:nvSpPr>
        <p:spPr bwMode="auto">
          <a:xfrm>
            <a:off x="684213" y="3716338"/>
            <a:ext cx="19446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solidFill>
                  <a:srgbClr val="FF6600"/>
                </a:solidFill>
              </a:rPr>
              <a:t>主机接口</a:t>
            </a:r>
          </a:p>
        </p:txBody>
      </p:sp>
      <p:sp>
        <p:nvSpPr>
          <p:cNvPr id="109615" name="Text Box 49"/>
          <p:cNvSpPr txBox="1">
            <a:spLocks noChangeArrowheads="1"/>
          </p:cNvSpPr>
          <p:nvPr/>
        </p:nvSpPr>
        <p:spPr bwMode="auto">
          <a:xfrm>
            <a:off x="5940425" y="3716338"/>
            <a:ext cx="1511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a:solidFill>
                  <a:srgbClr val="FF0000"/>
                </a:solidFill>
              </a:rPr>
              <a:t>C54x</a:t>
            </a:r>
          </a:p>
        </p:txBody>
      </p:sp>
      <p:sp>
        <p:nvSpPr>
          <p:cNvPr id="109616" name="Line 50"/>
          <p:cNvSpPr>
            <a:spLocks noChangeShapeType="1"/>
          </p:cNvSpPr>
          <p:nvPr/>
        </p:nvSpPr>
        <p:spPr bwMode="auto">
          <a:xfrm>
            <a:off x="5043488" y="3573463"/>
            <a:ext cx="2159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617" name="Line 51"/>
          <p:cNvSpPr>
            <a:spLocks noChangeShapeType="1"/>
          </p:cNvSpPr>
          <p:nvPr/>
        </p:nvSpPr>
        <p:spPr bwMode="auto">
          <a:xfrm>
            <a:off x="4611688" y="3932238"/>
            <a:ext cx="57626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618" name="Line 52"/>
          <p:cNvSpPr>
            <a:spLocks noChangeShapeType="1"/>
          </p:cNvSpPr>
          <p:nvPr/>
        </p:nvSpPr>
        <p:spPr bwMode="auto">
          <a:xfrm>
            <a:off x="4587875" y="4797425"/>
            <a:ext cx="50323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619" name="Line 53"/>
          <p:cNvSpPr>
            <a:spLocks noChangeShapeType="1"/>
          </p:cNvSpPr>
          <p:nvPr/>
        </p:nvSpPr>
        <p:spPr bwMode="auto">
          <a:xfrm>
            <a:off x="4572000" y="5219700"/>
            <a:ext cx="50323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620" name="Line 54"/>
          <p:cNvSpPr>
            <a:spLocks noChangeShapeType="1"/>
          </p:cNvSpPr>
          <p:nvPr/>
        </p:nvSpPr>
        <p:spPr bwMode="auto">
          <a:xfrm>
            <a:off x="6243638" y="6005513"/>
            <a:ext cx="57626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621" name="Line 57"/>
          <p:cNvSpPr>
            <a:spLocks noChangeShapeType="1"/>
          </p:cNvSpPr>
          <p:nvPr/>
        </p:nvSpPr>
        <p:spPr bwMode="auto">
          <a:xfrm flipH="1">
            <a:off x="3059113" y="3054350"/>
            <a:ext cx="217487" cy="215900"/>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622" name="Text Box 58"/>
          <p:cNvSpPr txBox="1">
            <a:spLocks noChangeArrowheads="1"/>
          </p:cNvSpPr>
          <p:nvPr/>
        </p:nvSpPr>
        <p:spPr bwMode="auto">
          <a:xfrm>
            <a:off x="2987675" y="2733675"/>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solidFill>
                  <a:srgbClr val="FF00FF"/>
                </a:solidFill>
              </a:rPr>
              <a:t>3</a:t>
            </a:r>
          </a:p>
        </p:txBody>
      </p:sp>
      <p:sp>
        <p:nvSpPr>
          <p:cNvPr id="109623" name="Line 59"/>
          <p:cNvSpPr>
            <a:spLocks noChangeShapeType="1"/>
          </p:cNvSpPr>
          <p:nvPr/>
        </p:nvSpPr>
        <p:spPr bwMode="auto">
          <a:xfrm flipH="1">
            <a:off x="3059113" y="4391025"/>
            <a:ext cx="217487" cy="215900"/>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624" name="Text Box 60"/>
          <p:cNvSpPr txBox="1">
            <a:spLocks noChangeArrowheads="1"/>
          </p:cNvSpPr>
          <p:nvPr/>
        </p:nvSpPr>
        <p:spPr bwMode="auto">
          <a:xfrm>
            <a:off x="2987675" y="4070350"/>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solidFill>
                  <a:srgbClr val="FF00FF"/>
                </a:solidFill>
              </a:rPr>
              <a:t>3</a:t>
            </a:r>
          </a:p>
        </p:txBody>
      </p:sp>
      <p:sp>
        <p:nvSpPr>
          <p:cNvPr id="109625" name="Line 61"/>
          <p:cNvSpPr>
            <a:spLocks noChangeShapeType="1"/>
          </p:cNvSpPr>
          <p:nvPr/>
        </p:nvSpPr>
        <p:spPr bwMode="auto">
          <a:xfrm>
            <a:off x="4643438" y="4365625"/>
            <a:ext cx="503237"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7234"/>
                                        </p:tgtEl>
                                        <p:attrNameLst>
                                          <p:attrName>style.visibility</p:attrName>
                                        </p:attrNameLst>
                                      </p:cBhvr>
                                      <p:to>
                                        <p:strVal val="visible"/>
                                      </p:to>
                                    </p:set>
                                    <p:anim calcmode="lin" valueType="num">
                                      <p:cBhvr additive="base">
                                        <p:cTn id="7" dur="500" fill="hold"/>
                                        <p:tgtEl>
                                          <p:spTgt spid="607234"/>
                                        </p:tgtEl>
                                        <p:attrNameLst>
                                          <p:attrName>ppt_x</p:attrName>
                                        </p:attrNameLst>
                                      </p:cBhvr>
                                      <p:tavLst>
                                        <p:tav tm="0">
                                          <p:val>
                                            <p:strVal val="1+#ppt_w/2"/>
                                          </p:val>
                                        </p:tav>
                                        <p:tav tm="100000">
                                          <p:val>
                                            <p:strVal val="#ppt_x"/>
                                          </p:val>
                                        </p:tav>
                                      </p:tavLst>
                                    </p:anim>
                                    <p:anim calcmode="lin" valueType="num">
                                      <p:cBhvr additive="base">
                                        <p:cTn id="8" dur="500" fill="hold"/>
                                        <p:tgtEl>
                                          <p:spTgt spid="6072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7234"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2"/>
          <p:cNvSpPr>
            <a:spLocks noGrp="1" noChangeArrowheads="1"/>
          </p:cNvSpPr>
          <p:nvPr>
            <p:ph idx="1"/>
          </p:nvPr>
        </p:nvSpPr>
        <p:spPr bwMode="auto">
          <a:xfrm>
            <a:off x="838200" y="1371600"/>
            <a:ext cx="6172200" cy="1676400"/>
          </a:xfrm>
          <a:solidFill>
            <a:schemeClr val="bg1"/>
          </a:solidFill>
          <a:ln w="57150">
            <a:solidFill>
              <a:schemeClr val="hlink"/>
            </a:solid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pPr>
            <a:r>
              <a:rPr lang="en-US" altLang="zh-CN" b="1">
                <a:solidFill>
                  <a:srgbClr val="FF0066"/>
                </a:solidFill>
              </a:rPr>
              <a:t>HPID</a:t>
            </a:r>
            <a:r>
              <a:rPr lang="zh-CN" altLang="en-US" b="1">
                <a:solidFill>
                  <a:srgbClr val="FF0066"/>
                </a:solidFill>
              </a:rPr>
              <a:t>与</a:t>
            </a:r>
            <a:r>
              <a:rPr lang="en-US" altLang="zh-CN" b="1">
                <a:solidFill>
                  <a:srgbClr val="FF0066"/>
                </a:solidFill>
              </a:rPr>
              <a:t>DARAM</a:t>
            </a:r>
            <a:r>
              <a:rPr lang="zh-CN" altLang="en-US" b="1">
                <a:solidFill>
                  <a:srgbClr val="FF0066"/>
                </a:solidFill>
              </a:rPr>
              <a:t>存储器的关系</a:t>
            </a:r>
          </a:p>
          <a:p>
            <a:pPr eaLnBrk="1" hangingPunct="1">
              <a:lnSpc>
                <a:spcPct val="90000"/>
              </a:lnSpc>
            </a:pPr>
            <a:r>
              <a:rPr lang="en-US" altLang="zh-CN" b="1">
                <a:solidFill>
                  <a:srgbClr val="FF0066"/>
                </a:solidFill>
              </a:rPr>
              <a:t>HPIA</a:t>
            </a:r>
            <a:r>
              <a:rPr lang="zh-CN" altLang="en-US" b="1">
                <a:solidFill>
                  <a:srgbClr val="FF0066"/>
                </a:solidFill>
              </a:rPr>
              <a:t>寄存器对寻址的影响 </a:t>
            </a:r>
          </a:p>
          <a:p>
            <a:pPr eaLnBrk="1" hangingPunct="1">
              <a:lnSpc>
                <a:spcPct val="90000"/>
              </a:lnSpc>
            </a:pPr>
            <a:r>
              <a:rPr lang="en-US" altLang="zh-CN" b="1">
                <a:solidFill>
                  <a:srgbClr val="FF0066"/>
                </a:solidFill>
              </a:rPr>
              <a:t>HPIC</a:t>
            </a:r>
            <a:r>
              <a:rPr lang="zh-CN" altLang="en-US" b="1">
                <a:solidFill>
                  <a:srgbClr val="FF0066"/>
                </a:solidFill>
              </a:rPr>
              <a:t>控制寄存器各位设置 </a:t>
            </a:r>
          </a:p>
        </p:txBody>
      </p:sp>
      <p:sp>
        <p:nvSpPr>
          <p:cNvPr id="11059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744797C6-6583-446C-A479-56A3907C301A}" type="slidenum">
              <a:rPr lang="en-US" altLang="zh-CN" sz="1400" b="0"/>
              <a:pPr eaLnBrk="1" hangingPunct="1"/>
              <a:t>97</a:t>
            </a:fld>
            <a:endParaRPr lang="en-US" altLang="zh-CN" sz="1400" b="0"/>
          </a:p>
        </p:txBody>
      </p:sp>
      <p:sp>
        <p:nvSpPr>
          <p:cNvPr id="608259" name="AutoShape 3" descr="小棋盘"/>
          <p:cNvSpPr>
            <a:spLocks noChangeArrowheads="1"/>
          </p:cNvSpPr>
          <p:nvPr/>
        </p:nvSpPr>
        <p:spPr bwMode="auto">
          <a:xfrm>
            <a:off x="1447800" y="4038600"/>
            <a:ext cx="7315200" cy="2133600"/>
          </a:xfrm>
          <a:prstGeom prst="wedgeRoundRectCallout">
            <a:avLst>
              <a:gd name="adj1" fmla="val 21074"/>
              <a:gd name="adj2" fmla="val -150819"/>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2800" dirty="0"/>
              <a:t>C54x</a:t>
            </a:r>
            <a:r>
              <a:rPr lang="zh-CN" altLang="en-US" sz="2800" dirty="0"/>
              <a:t>的</a:t>
            </a:r>
            <a:r>
              <a:rPr lang="en-US" altLang="zh-CN" sz="2800" dirty="0"/>
              <a:t>HPI</a:t>
            </a:r>
            <a:r>
              <a:rPr lang="zh-CN" altLang="en-US" sz="2800" dirty="0"/>
              <a:t>存储器是一个</a:t>
            </a:r>
            <a:r>
              <a:rPr lang="en-US" altLang="zh-CN" sz="2800" dirty="0"/>
              <a:t>2K×16</a:t>
            </a:r>
            <a:r>
              <a:rPr lang="zh-CN" altLang="en-US" sz="2800" dirty="0"/>
              <a:t>位字的</a:t>
            </a:r>
            <a:r>
              <a:rPr lang="en-US" altLang="zh-CN" sz="2800" dirty="0"/>
              <a:t>DARAM</a:t>
            </a:r>
            <a:r>
              <a:rPr lang="zh-CN" altLang="en-US" sz="2800" dirty="0"/>
              <a:t>。它在数据存储空间的地址为</a:t>
            </a:r>
            <a:r>
              <a:rPr lang="en-US" altLang="zh-CN" sz="2800" dirty="0"/>
              <a:t>1000h~17FFh</a:t>
            </a:r>
            <a:r>
              <a:rPr lang="zh-CN" altLang="en-US" sz="2800" dirty="0"/>
              <a:t>。（这一存储空间也可以用作程序存储空间，条件是</a:t>
            </a:r>
            <a:r>
              <a:rPr lang="en-US" altLang="zh-CN" sz="2800" dirty="0"/>
              <a:t>PMST</a:t>
            </a:r>
            <a:r>
              <a:rPr lang="zh-CN" altLang="en-US" sz="2800" dirty="0"/>
              <a:t>寄存器的</a:t>
            </a:r>
            <a:r>
              <a:rPr lang="en-US" altLang="zh-CN" sz="2800" dirty="0"/>
              <a:t>OVLY</a:t>
            </a:r>
            <a:r>
              <a:rPr lang="zh-CN" altLang="en-US" sz="2800" dirty="0"/>
              <a:t>位为</a:t>
            </a:r>
            <a:r>
              <a:rPr lang="en-US" altLang="zh-CN" sz="2800" dirty="0"/>
              <a:t>1</a:t>
            </a:r>
            <a:r>
              <a:rPr lang="zh-CN" altLang="en-US" sz="2800" dirty="0"/>
              <a:t>。）</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8259"/>
                                        </p:tgtEl>
                                        <p:attrNameLst>
                                          <p:attrName>style.visibility</p:attrName>
                                        </p:attrNameLst>
                                      </p:cBhvr>
                                      <p:to>
                                        <p:strVal val="visible"/>
                                      </p:to>
                                    </p:set>
                                    <p:anim calcmode="lin" valueType="num">
                                      <p:cBhvr additive="base">
                                        <p:cTn id="7" dur="500" fill="hold"/>
                                        <p:tgtEl>
                                          <p:spTgt spid="608259"/>
                                        </p:tgtEl>
                                        <p:attrNameLst>
                                          <p:attrName>ppt_x</p:attrName>
                                        </p:attrNameLst>
                                      </p:cBhvr>
                                      <p:tavLst>
                                        <p:tav tm="0">
                                          <p:val>
                                            <p:strVal val="1+#ppt_w/2"/>
                                          </p:val>
                                        </p:tav>
                                        <p:tav tm="100000">
                                          <p:val>
                                            <p:strVal val="#ppt_x"/>
                                          </p:val>
                                        </p:tav>
                                      </p:tavLst>
                                    </p:anim>
                                    <p:anim calcmode="lin" valueType="num">
                                      <p:cBhvr additive="base">
                                        <p:cTn id="8" dur="500" fill="hold"/>
                                        <p:tgtEl>
                                          <p:spTgt spid="6082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8259" grpId="0" animBg="1"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8" name="Rectangle 2"/>
          <p:cNvSpPr>
            <a:spLocks noGrp="1" noChangeArrowheads="1"/>
          </p:cNvSpPr>
          <p:nvPr>
            <p:ph idx="1"/>
          </p:nvPr>
        </p:nvSpPr>
        <p:spPr bwMode="auto">
          <a:xfrm>
            <a:off x="838200" y="1371600"/>
            <a:ext cx="6172200" cy="1676400"/>
          </a:xfrm>
          <a:solidFill>
            <a:schemeClr val="bg1"/>
          </a:solidFill>
          <a:ln w="57150">
            <a:solidFill>
              <a:schemeClr val="hlink"/>
            </a:solid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pPr>
            <a:r>
              <a:rPr lang="en-US" altLang="zh-CN" b="1">
                <a:solidFill>
                  <a:srgbClr val="FF0066"/>
                </a:solidFill>
              </a:rPr>
              <a:t>HPID</a:t>
            </a:r>
            <a:r>
              <a:rPr lang="zh-CN" altLang="en-US" b="1">
                <a:solidFill>
                  <a:srgbClr val="FF0066"/>
                </a:solidFill>
              </a:rPr>
              <a:t>与</a:t>
            </a:r>
            <a:r>
              <a:rPr lang="en-US" altLang="zh-CN" b="1">
                <a:solidFill>
                  <a:srgbClr val="FF0066"/>
                </a:solidFill>
              </a:rPr>
              <a:t>DARAM</a:t>
            </a:r>
            <a:r>
              <a:rPr lang="zh-CN" altLang="en-US" b="1">
                <a:solidFill>
                  <a:srgbClr val="FF0066"/>
                </a:solidFill>
              </a:rPr>
              <a:t>存储器的关系</a:t>
            </a:r>
          </a:p>
          <a:p>
            <a:pPr eaLnBrk="1" hangingPunct="1">
              <a:lnSpc>
                <a:spcPct val="90000"/>
              </a:lnSpc>
            </a:pPr>
            <a:r>
              <a:rPr lang="en-US" altLang="zh-CN" b="1">
                <a:solidFill>
                  <a:srgbClr val="FF0066"/>
                </a:solidFill>
              </a:rPr>
              <a:t>HPIA</a:t>
            </a:r>
            <a:r>
              <a:rPr lang="zh-CN" altLang="en-US" b="1">
                <a:solidFill>
                  <a:srgbClr val="FF0066"/>
                </a:solidFill>
              </a:rPr>
              <a:t>寄存器对寻址的影响 </a:t>
            </a:r>
          </a:p>
          <a:p>
            <a:pPr eaLnBrk="1" hangingPunct="1">
              <a:lnSpc>
                <a:spcPct val="90000"/>
              </a:lnSpc>
            </a:pPr>
            <a:r>
              <a:rPr lang="en-US" altLang="zh-CN" b="1">
                <a:solidFill>
                  <a:srgbClr val="FF0066"/>
                </a:solidFill>
              </a:rPr>
              <a:t>HPIC</a:t>
            </a:r>
            <a:r>
              <a:rPr lang="zh-CN" altLang="en-US" b="1">
                <a:solidFill>
                  <a:srgbClr val="FF0066"/>
                </a:solidFill>
              </a:rPr>
              <a:t>控制寄存器各位设置 </a:t>
            </a:r>
          </a:p>
        </p:txBody>
      </p:sp>
      <p:sp>
        <p:nvSpPr>
          <p:cNvPr id="11161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35F13301-CEA2-4A0A-910C-EC096316E61F}" type="slidenum">
              <a:rPr lang="en-US" altLang="zh-CN" sz="1400" b="0"/>
              <a:pPr eaLnBrk="1" hangingPunct="1"/>
              <a:t>98</a:t>
            </a:fld>
            <a:endParaRPr lang="en-US" altLang="zh-CN" sz="1400" b="0"/>
          </a:p>
        </p:txBody>
      </p:sp>
      <p:sp>
        <p:nvSpPr>
          <p:cNvPr id="609283" name="AutoShape 3" descr="小棋盘"/>
          <p:cNvSpPr>
            <a:spLocks noChangeArrowheads="1"/>
          </p:cNvSpPr>
          <p:nvPr/>
        </p:nvSpPr>
        <p:spPr bwMode="auto">
          <a:xfrm>
            <a:off x="228600" y="3276600"/>
            <a:ext cx="8534400" cy="3352800"/>
          </a:xfrm>
          <a:prstGeom prst="wedgeRoundRectCallout">
            <a:avLst>
              <a:gd name="adj1" fmla="val 27528"/>
              <a:gd name="adj2" fmla="val -75616"/>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2800"/>
              <a:t>HPIA</a:t>
            </a:r>
            <a:r>
              <a:rPr lang="zh-CN" altLang="en-US" sz="2800"/>
              <a:t>寄存器是</a:t>
            </a:r>
            <a:r>
              <a:rPr lang="en-US" altLang="zh-CN" sz="2800"/>
              <a:t>16</a:t>
            </a:r>
            <a:r>
              <a:rPr lang="zh-CN" altLang="en-US" sz="2800"/>
              <a:t>位，由它指向</a:t>
            </a:r>
            <a:r>
              <a:rPr lang="en-US" altLang="zh-CN" sz="2800"/>
              <a:t>2K</a:t>
            </a:r>
            <a:r>
              <a:rPr lang="zh-CN" altLang="en-US" sz="2800"/>
              <a:t>字空间，地址为</a:t>
            </a:r>
            <a:r>
              <a:rPr lang="en-US" altLang="zh-CN" sz="2800"/>
              <a:t>0~7FFh</a:t>
            </a:r>
            <a:r>
              <a:rPr lang="zh-CN" altLang="en-US" sz="2800"/>
              <a:t>。</a:t>
            </a:r>
            <a:r>
              <a:rPr lang="en-US" altLang="zh-CN" sz="2800"/>
              <a:t>HPI</a:t>
            </a:r>
            <a:r>
              <a:rPr lang="zh-CN" altLang="en-US" sz="2800"/>
              <a:t>存储器地址的自动增量特性可以用来连续寻址</a:t>
            </a:r>
            <a:r>
              <a:rPr lang="en-US" altLang="zh-CN" sz="2800"/>
              <a:t>HPI</a:t>
            </a:r>
            <a:r>
              <a:rPr lang="zh-CN" altLang="en-US" sz="2800"/>
              <a:t>存储器。在自动增量方式，每进行一次读操作，都会使</a:t>
            </a:r>
            <a:r>
              <a:rPr lang="en-US" altLang="zh-CN" sz="2800"/>
              <a:t>HPIA</a:t>
            </a:r>
            <a:r>
              <a:rPr lang="zh-CN" altLang="en-US" sz="2800"/>
              <a:t>事后增</a:t>
            </a:r>
            <a:r>
              <a:rPr lang="en-US" altLang="zh-CN" sz="2800"/>
              <a:t>1</a:t>
            </a:r>
            <a:r>
              <a:rPr lang="zh-CN" altLang="en-US" sz="2800"/>
              <a:t>；每进行一次写操作，都会使</a:t>
            </a:r>
            <a:r>
              <a:rPr lang="en-US" altLang="zh-CN" sz="2800"/>
              <a:t>HPIA</a:t>
            </a:r>
            <a:r>
              <a:rPr lang="zh-CN" altLang="en-US" sz="2800"/>
              <a:t>事先增</a:t>
            </a:r>
            <a:r>
              <a:rPr lang="en-US" altLang="zh-CN" sz="2800"/>
              <a:t>1</a:t>
            </a:r>
            <a:r>
              <a:rPr lang="zh-CN" altLang="en-US" sz="2800"/>
              <a:t>。</a:t>
            </a:r>
            <a:r>
              <a:rPr lang="en-US" altLang="zh-CN" sz="2800"/>
              <a:t>HPIA</a:t>
            </a:r>
            <a:r>
              <a:rPr lang="zh-CN" altLang="en-US" sz="2800"/>
              <a:t>寄存器的每一位都可以读出和写入，尽管寻址</a:t>
            </a:r>
            <a:r>
              <a:rPr lang="en-US" altLang="zh-CN" sz="2800"/>
              <a:t>2K</a:t>
            </a:r>
            <a:r>
              <a:rPr lang="zh-CN" altLang="en-US" sz="2800"/>
              <a:t>字的</a:t>
            </a:r>
            <a:r>
              <a:rPr lang="en-US" altLang="zh-CN" sz="2800"/>
              <a:t>HPI</a:t>
            </a:r>
            <a:r>
              <a:rPr lang="zh-CN" altLang="en-US" sz="2800"/>
              <a:t>存储器只要</a:t>
            </a:r>
            <a:r>
              <a:rPr lang="en-US" altLang="zh-CN" sz="2800"/>
              <a:t>11</a:t>
            </a:r>
            <a:r>
              <a:rPr lang="zh-CN" altLang="en-US" sz="2800"/>
              <a:t>位最低有效位地位。</a:t>
            </a:r>
            <a:r>
              <a:rPr lang="en-US" altLang="zh-CN" sz="2800"/>
              <a:t>HPIA</a:t>
            </a:r>
            <a:r>
              <a:rPr lang="zh-CN" altLang="en-US" sz="2800"/>
              <a:t>的增</a:t>
            </a:r>
            <a:r>
              <a:rPr lang="en-US" altLang="zh-CN" sz="2800"/>
              <a:t>/</a:t>
            </a:r>
            <a:r>
              <a:rPr lang="zh-CN" altLang="en-US" sz="2800"/>
              <a:t>减对</a:t>
            </a:r>
            <a:r>
              <a:rPr lang="en-US" altLang="zh-CN" sz="2800"/>
              <a:t>HPIA</a:t>
            </a:r>
            <a:r>
              <a:rPr lang="zh-CN" altLang="en-US" sz="2800"/>
              <a:t>寄存器所有</a:t>
            </a:r>
            <a:r>
              <a:rPr lang="en-US" altLang="zh-CN" sz="2800"/>
              <a:t>16</a:t>
            </a:r>
            <a:r>
              <a:rPr lang="zh-CN" altLang="en-US" sz="2800"/>
              <a:t>位都会产生影响。</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9283"/>
                                        </p:tgtEl>
                                        <p:attrNameLst>
                                          <p:attrName>style.visibility</p:attrName>
                                        </p:attrNameLst>
                                      </p:cBhvr>
                                      <p:to>
                                        <p:strVal val="visible"/>
                                      </p:to>
                                    </p:set>
                                    <p:anim calcmode="lin" valueType="num">
                                      <p:cBhvr additive="base">
                                        <p:cTn id="7" dur="500" fill="hold"/>
                                        <p:tgtEl>
                                          <p:spTgt spid="609283"/>
                                        </p:tgtEl>
                                        <p:attrNameLst>
                                          <p:attrName>ppt_x</p:attrName>
                                        </p:attrNameLst>
                                      </p:cBhvr>
                                      <p:tavLst>
                                        <p:tav tm="0">
                                          <p:val>
                                            <p:strVal val="1+#ppt_w/2"/>
                                          </p:val>
                                        </p:tav>
                                        <p:tav tm="100000">
                                          <p:val>
                                            <p:strVal val="#ppt_x"/>
                                          </p:val>
                                        </p:tav>
                                      </p:tavLst>
                                    </p:anim>
                                    <p:anim calcmode="lin" valueType="num">
                                      <p:cBhvr additive="base">
                                        <p:cTn id="8" dur="500" fill="hold"/>
                                        <p:tgtEl>
                                          <p:spTgt spid="6092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3" grpId="0" animBg="1"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9A898945-7E94-4492-9C6F-E0244266F6CB}" type="slidenum">
              <a:rPr lang="en-US" altLang="zh-CN" sz="1400" b="0"/>
              <a:pPr eaLnBrk="1" hangingPunct="1"/>
              <a:t>99</a:t>
            </a:fld>
            <a:endParaRPr lang="en-US" altLang="zh-CN" sz="1400" b="0"/>
          </a:p>
        </p:txBody>
      </p:sp>
      <p:grpSp>
        <p:nvGrpSpPr>
          <p:cNvPr id="112643" name="Group 101"/>
          <p:cNvGrpSpPr>
            <a:grpSpLocks/>
          </p:cNvGrpSpPr>
          <p:nvPr/>
        </p:nvGrpSpPr>
        <p:grpSpPr bwMode="auto">
          <a:xfrm>
            <a:off x="0" y="1628775"/>
            <a:ext cx="8916988" cy="1025525"/>
            <a:chOff x="0" y="255"/>
            <a:chExt cx="5617" cy="646"/>
          </a:xfrm>
        </p:grpSpPr>
        <p:sp>
          <p:nvSpPr>
            <p:cNvPr id="112704" name="Text Box 7"/>
            <p:cNvSpPr txBox="1">
              <a:spLocks noChangeArrowheads="1"/>
            </p:cNvSpPr>
            <p:nvPr/>
          </p:nvSpPr>
          <p:spPr bwMode="auto">
            <a:xfrm>
              <a:off x="15" y="607"/>
              <a:ext cx="590"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x</a:t>
              </a:r>
            </a:p>
          </p:txBody>
        </p:sp>
        <p:sp>
          <p:nvSpPr>
            <p:cNvPr id="112705" name="Text Box 8"/>
            <p:cNvSpPr txBox="1">
              <a:spLocks noChangeArrowheads="1"/>
            </p:cNvSpPr>
            <p:nvPr/>
          </p:nvSpPr>
          <p:spPr bwMode="auto">
            <a:xfrm>
              <a:off x="0" y="290"/>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15</a:t>
              </a:r>
              <a:r>
                <a:rPr lang="zh-CN" altLang="en-US" sz="1800">
                  <a:latin typeface="宋体" panose="02010600030101010101" pitchFamily="2" charset="-122"/>
                </a:rPr>
                <a:t>～</a:t>
              </a:r>
              <a:r>
                <a:rPr lang="en-US" altLang="zh-CN" sz="2400"/>
                <a:t>12</a:t>
              </a:r>
            </a:p>
          </p:txBody>
        </p:sp>
        <p:sp>
          <p:nvSpPr>
            <p:cNvPr id="112706" name="Text Box 10"/>
            <p:cNvSpPr txBox="1">
              <a:spLocks noChangeArrowheads="1"/>
            </p:cNvSpPr>
            <p:nvPr/>
          </p:nvSpPr>
          <p:spPr bwMode="auto">
            <a:xfrm>
              <a:off x="605" y="607"/>
              <a:ext cx="635"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HINT</a:t>
              </a:r>
            </a:p>
          </p:txBody>
        </p:sp>
        <p:sp>
          <p:nvSpPr>
            <p:cNvPr id="112707" name="Text Box 11"/>
            <p:cNvSpPr txBox="1">
              <a:spLocks noChangeArrowheads="1"/>
            </p:cNvSpPr>
            <p:nvPr/>
          </p:nvSpPr>
          <p:spPr bwMode="auto">
            <a:xfrm>
              <a:off x="741" y="290"/>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11</a:t>
              </a:r>
            </a:p>
          </p:txBody>
        </p:sp>
        <p:sp>
          <p:nvSpPr>
            <p:cNvPr id="112708" name="Text Box 13"/>
            <p:cNvSpPr txBox="1">
              <a:spLocks noChangeArrowheads="1"/>
            </p:cNvSpPr>
            <p:nvPr/>
          </p:nvSpPr>
          <p:spPr bwMode="auto">
            <a:xfrm>
              <a:off x="1195" y="607"/>
              <a:ext cx="318"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0</a:t>
              </a:r>
            </a:p>
          </p:txBody>
        </p:sp>
        <p:sp>
          <p:nvSpPr>
            <p:cNvPr id="112709" name="Text Box 14"/>
            <p:cNvSpPr txBox="1">
              <a:spLocks noChangeArrowheads="1"/>
            </p:cNvSpPr>
            <p:nvPr/>
          </p:nvSpPr>
          <p:spPr bwMode="auto">
            <a:xfrm>
              <a:off x="1240" y="290"/>
              <a:ext cx="3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10</a:t>
              </a:r>
            </a:p>
          </p:txBody>
        </p:sp>
        <p:sp>
          <p:nvSpPr>
            <p:cNvPr id="112710" name="Text Box 15"/>
            <p:cNvSpPr txBox="1">
              <a:spLocks noChangeArrowheads="1"/>
            </p:cNvSpPr>
            <p:nvPr/>
          </p:nvSpPr>
          <p:spPr bwMode="auto">
            <a:xfrm>
              <a:off x="2238" y="607"/>
              <a:ext cx="590"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BOB</a:t>
              </a:r>
            </a:p>
          </p:txBody>
        </p:sp>
        <p:sp>
          <p:nvSpPr>
            <p:cNvPr id="112711" name="Text Box 16"/>
            <p:cNvSpPr txBox="1">
              <a:spLocks noChangeArrowheads="1"/>
            </p:cNvSpPr>
            <p:nvPr/>
          </p:nvSpPr>
          <p:spPr bwMode="auto">
            <a:xfrm>
              <a:off x="2419" y="290"/>
              <a:ext cx="3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8</a:t>
              </a:r>
            </a:p>
          </p:txBody>
        </p:sp>
        <p:sp>
          <p:nvSpPr>
            <p:cNvPr id="112712" name="Text Box 24"/>
            <p:cNvSpPr txBox="1">
              <a:spLocks noChangeArrowheads="1"/>
            </p:cNvSpPr>
            <p:nvPr/>
          </p:nvSpPr>
          <p:spPr bwMode="auto">
            <a:xfrm>
              <a:off x="1512" y="607"/>
              <a:ext cx="771"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SMOD</a:t>
              </a:r>
            </a:p>
          </p:txBody>
        </p:sp>
        <p:sp>
          <p:nvSpPr>
            <p:cNvPr id="112713" name="Text Box 25"/>
            <p:cNvSpPr txBox="1">
              <a:spLocks noChangeArrowheads="1"/>
            </p:cNvSpPr>
            <p:nvPr/>
          </p:nvSpPr>
          <p:spPr bwMode="auto">
            <a:xfrm>
              <a:off x="1784" y="255"/>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9</a:t>
              </a:r>
              <a:r>
                <a:rPr lang="en-US" altLang="zh-CN" sz="2800"/>
                <a:t> </a:t>
              </a:r>
            </a:p>
          </p:txBody>
        </p:sp>
        <p:sp>
          <p:nvSpPr>
            <p:cNvPr id="112714" name="Text Box 36"/>
            <p:cNvSpPr txBox="1">
              <a:spLocks noChangeArrowheads="1"/>
            </p:cNvSpPr>
            <p:nvPr/>
          </p:nvSpPr>
          <p:spPr bwMode="auto">
            <a:xfrm>
              <a:off x="2804" y="607"/>
              <a:ext cx="590"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x</a:t>
              </a:r>
            </a:p>
          </p:txBody>
        </p:sp>
        <p:sp>
          <p:nvSpPr>
            <p:cNvPr id="112715" name="Text Box 37"/>
            <p:cNvSpPr txBox="1">
              <a:spLocks noChangeArrowheads="1"/>
            </p:cNvSpPr>
            <p:nvPr/>
          </p:nvSpPr>
          <p:spPr bwMode="auto">
            <a:xfrm>
              <a:off x="3394" y="607"/>
              <a:ext cx="635"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HINT</a:t>
              </a:r>
            </a:p>
          </p:txBody>
        </p:sp>
        <p:sp>
          <p:nvSpPr>
            <p:cNvPr id="112716" name="Text Box 38"/>
            <p:cNvSpPr txBox="1">
              <a:spLocks noChangeArrowheads="1"/>
            </p:cNvSpPr>
            <p:nvPr/>
          </p:nvSpPr>
          <p:spPr bwMode="auto">
            <a:xfrm>
              <a:off x="3984" y="607"/>
              <a:ext cx="318"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0</a:t>
              </a:r>
            </a:p>
          </p:txBody>
        </p:sp>
        <p:sp>
          <p:nvSpPr>
            <p:cNvPr id="112717" name="Text Box 39"/>
            <p:cNvSpPr txBox="1">
              <a:spLocks noChangeArrowheads="1"/>
            </p:cNvSpPr>
            <p:nvPr/>
          </p:nvSpPr>
          <p:spPr bwMode="auto">
            <a:xfrm>
              <a:off x="5027" y="607"/>
              <a:ext cx="590"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BOB</a:t>
              </a:r>
            </a:p>
          </p:txBody>
        </p:sp>
        <p:sp>
          <p:nvSpPr>
            <p:cNvPr id="112718" name="Text Box 40"/>
            <p:cNvSpPr txBox="1">
              <a:spLocks noChangeArrowheads="1"/>
            </p:cNvSpPr>
            <p:nvPr/>
          </p:nvSpPr>
          <p:spPr bwMode="auto">
            <a:xfrm>
              <a:off x="4301" y="607"/>
              <a:ext cx="771"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SMOD</a:t>
              </a:r>
            </a:p>
          </p:txBody>
        </p:sp>
        <p:sp>
          <p:nvSpPr>
            <p:cNvPr id="112719" name="Text Box 41"/>
            <p:cNvSpPr txBox="1">
              <a:spLocks noChangeArrowheads="1"/>
            </p:cNvSpPr>
            <p:nvPr/>
          </p:nvSpPr>
          <p:spPr bwMode="auto">
            <a:xfrm>
              <a:off x="2866" y="290"/>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7</a:t>
              </a:r>
              <a:r>
                <a:rPr lang="zh-CN" altLang="en-US" sz="1800">
                  <a:latin typeface="宋体" panose="02010600030101010101" pitchFamily="2" charset="-122"/>
                </a:rPr>
                <a:t>～</a:t>
              </a:r>
              <a:r>
                <a:rPr lang="en-US" altLang="zh-CN" sz="2400"/>
                <a:t>4</a:t>
              </a:r>
            </a:p>
          </p:txBody>
        </p:sp>
        <p:sp>
          <p:nvSpPr>
            <p:cNvPr id="112720" name="Text Box 42"/>
            <p:cNvSpPr txBox="1">
              <a:spLocks noChangeArrowheads="1"/>
            </p:cNvSpPr>
            <p:nvPr/>
          </p:nvSpPr>
          <p:spPr bwMode="auto">
            <a:xfrm>
              <a:off x="3607" y="290"/>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3</a:t>
              </a:r>
            </a:p>
          </p:txBody>
        </p:sp>
        <p:sp>
          <p:nvSpPr>
            <p:cNvPr id="112721" name="Text Box 43"/>
            <p:cNvSpPr txBox="1">
              <a:spLocks noChangeArrowheads="1"/>
            </p:cNvSpPr>
            <p:nvPr/>
          </p:nvSpPr>
          <p:spPr bwMode="auto">
            <a:xfrm>
              <a:off x="4106" y="290"/>
              <a:ext cx="3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2</a:t>
              </a:r>
            </a:p>
          </p:txBody>
        </p:sp>
        <p:sp>
          <p:nvSpPr>
            <p:cNvPr id="112722" name="Text Box 44"/>
            <p:cNvSpPr txBox="1">
              <a:spLocks noChangeArrowheads="1"/>
            </p:cNvSpPr>
            <p:nvPr/>
          </p:nvSpPr>
          <p:spPr bwMode="auto">
            <a:xfrm>
              <a:off x="5285" y="290"/>
              <a:ext cx="3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0</a:t>
              </a:r>
            </a:p>
          </p:txBody>
        </p:sp>
        <p:sp>
          <p:nvSpPr>
            <p:cNvPr id="112723" name="Text Box 45"/>
            <p:cNvSpPr txBox="1">
              <a:spLocks noChangeArrowheads="1"/>
            </p:cNvSpPr>
            <p:nvPr/>
          </p:nvSpPr>
          <p:spPr bwMode="auto">
            <a:xfrm>
              <a:off x="4551" y="255"/>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a:t>
              </a:r>
              <a:r>
                <a:rPr lang="en-US" altLang="zh-CN" sz="2800"/>
                <a:t> </a:t>
              </a:r>
            </a:p>
          </p:txBody>
        </p:sp>
      </p:grpSp>
      <p:grpSp>
        <p:nvGrpSpPr>
          <p:cNvPr id="112644" name="Group 90"/>
          <p:cNvGrpSpPr>
            <a:grpSpLocks/>
          </p:cNvGrpSpPr>
          <p:nvPr/>
        </p:nvGrpSpPr>
        <p:grpSpPr bwMode="auto">
          <a:xfrm>
            <a:off x="0" y="4886325"/>
            <a:ext cx="8953500" cy="1035050"/>
            <a:chOff x="0" y="1162"/>
            <a:chExt cx="5640" cy="652"/>
          </a:xfrm>
        </p:grpSpPr>
        <p:sp>
          <p:nvSpPr>
            <p:cNvPr id="112684" name="Text Box 48"/>
            <p:cNvSpPr txBox="1">
              <a:spLocks noChangeArrowheads="1"/>
            </p:cNvSpPr>
            <p:nvPr/>
          </p:nvSpPr>
          <p:spPr bwMode="auto">
            <a:xfrm>
              <a:off x="15" y="1514"/>
              <a:ext cx="590"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x</a:t>
              </a:r>
            </a:p>
          </p:txBody>
        </p:sp>
        <p:sp>
          <p:nvSpPr>
            <p:cNvPr id="112685" name="Text Box 49"/>
            <p:cNvSpPr txBox="1">
              <a:spLocks noChangeArrowheads="1"/>
            </p:cNvSpPr>
            <p:nvPr/>
          </p:nvSpPr>
          <p:spPr bwMode="auto">
            <a:xfrm>
              <a:off x="0" y="1197"/>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15</a:t>
              </a:r>
              <a:r>
                <a:rPr lang="zh-CN" altLang="en-US" sz="1800">
                  <a:latin typeface="宋体" panose="02010600030101010101" pitchFamily="2" charset="-122"/>
                </a:rPr>
                <a:t>～</a:t>
              </a:r>
              <a:r>
                <a:rPr lang="en-US" altLang="zh-CN" sz="2400"/>
                <a:t>12</a:t>
              </a:r>
            </a:p>
          </p:txBody>
        </p:sp>
        <p:sp>
          <p:nvSpPr>
            <p:cNvPr id="112686" name="Text Box 50"/>
            <p:cNvSpPr txBox="1">
              <a:spLocks noChangeArrowheads="1"/>
            </p:cNvSpPr>
            <p:nvPr/>
          </p:nvSpPr>
          <p:spPr bwMode="auto">
            <a:xfrm>
              <a:off x="605" y="1514"/>
              <a:ext cx="635"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HINT</a:t>
              </a:r>
            </a:p>
          </p:txBody>
        </p:sp>
        <p:sp>
          <p:nvSpPr>
            <p:cNvPr id="112687" name="Text Box 51"/>
            <p:cNvSpPr txBox="1">
              <a:spLocks noChangeArrowheads="1"/>
            </p:cNvSpPr>
            <p:nvPr/>
          </p:nvSpPr>
          <p:spPr bwMode="auto">
            <a:xfrm>
              <a:off x="741" y="1197"/>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11</a:t>
              </a:r>
            </a:p>
          </p:txBody>
        </p:sp>
        <p:sp>
          <p:nvSpPr>
            <p:cNvPr id="112688" name="Text Box 52"/>
            <p:cNvSpPr txBox="1">
              <a:spLocks noChangeArrowheads="1"/>
            </p:cNvSpPr>
            <p:nvPr/>
          </p:nvSpPr>
          <p:spPr bwMode="auto">
            <a:xfrm>
              <a:off x="1195" y="1514"/>
              <a:ext cx="869"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DSPINT</a:t>
              </a:r>
            </a:p>
          </p:txBody>
        </p:sp>
        <p:sp>
          <p:nvSpPr>
            <p:cNvPr id="112689" name="Text Box 53"/>
            <p:cNvSpPr txBox="1">
              <a:spLocks noChangeArrowheads="1"/>
            </p:cNvSpPr>
            <p:nvPr/>
          </p:nvSpPr>
          <p:spPr bwMode="auto">
            <a:xfrm>
              <a:off x="1429" y="1208"/>
              <a:ext cx="3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10</a:t>
              </a:r>
            </a:p>
          </p:txBody>
        </p:sp>
        <p:sp>
          <p:nvSpPr>
            <p:cNvPr id="112690" name="Text Box 54"/>
            <p:cNvSpPr txBox="1">
              <a:spLocks noChangeArrowheads="1"/>
            </p:cNvSpPr>
            <p:nvPr/>
          </p:nvSpPr>
          <p:spPr bwMode="auto">
            <a:xfrm>
              <a:off x="2238" y="1514"/>
              <a:ext cx="590"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BOB</a:t>
              </a:r>
            </a:p>
          </p:txBody>
        </p:sp>
        <p:sp>
          <p:nvSpPr>
            <p:cNvPr id="112691" name="Text Box 55"/>
            <p:cNvSpPr txBox="1">
              <a:spLocks noChangeArrowheads="1"/>
            </p:cNvSpPr>
            <p:nvPr/>
          </p:nvSpPr>
          <p:spPr bwMode="auto">
            <a:xfrm>
              <a:off x="2419" y="1197"/>
              <a:ext cx="3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8</a:t>
              </a:r>
            </a:p>
          </p:txBody>
        </p:sp>
        <p:sp>
          <p:nvSpPr>
            <p:cNvPr id="112692" name="Text Box 56"/>
            <p:cNvSpPr txBox="1">
              <a:spLocks noChangeArrowheads="1"/>
            </p:cNvSpPr>
            <p:nvPr/>
          </p:nvSpPr>
          <p:spPr bwMode="auto">
            <a:xfrm>
              <a:off x="2018" y="1514"/>
              <a:ext cx="265"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x</a:t>
              </a:r>
            </a:p>
          </p:txBody>
        </p:sp>
        <p:sp>
          <p:nvSpPr>
            <p:cNvPr id="112693" name="Text Box 57"/>
            <p:cNvSpPr txBox="1">
              <a:spLocks noChangeArrowheads="1"/>
            </p:cNvSpPr>
            <p:nvPr/>
          </p:nvSpPr>
          <p:spPr bwMode="auto">
            <a:xfrm>
              <a:off x="2064" y="1162"/>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9</a:t>
              </a:r>
              <a:r>
                <a:rPr lang="en-US" altLang="zh-CN" sz="2800"/>
                <a:t> </a:t>
              </a:r>
            </a:p>
          </p:txBody>
        </p:sp>
        <p:sp>
          <p:nvSpPr>
            <p:cNvPr id="112694" name="Text Box 68"/>
            <p:cNvSpPr txBox="1">
              <a:spLocks noChangeArrowheads="1"/>
            </p:cNvSpPr>
            <p:nvPr/>
          </p:nvSpPr>
          <p:spPr bwMode="auto">
            <a:xfrm>
              <a:off x="2825" y="1515"/>
              <a:ext cx="599"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x</a:t>
              </a:r>
            </a:p>
          </p:txBody>
        </p:sp>
        <p:sp>
          <p:nvSpPr>
            <p:cNvPr id="112695" name="Text Box 69"/>
            <p:cNvSpPr txBox="1">
              <a:spLocks noChangeArrowheads="1"/>
            </p:cNvSpPr>
            <p:nvPr/>
          </p:nvSpPr>
          <p:spPr bwMode="auto">
            <a:xfrm>
              <a:off x="2835" y="1218"/>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7</a:t>
              </a:r>
              <a:r>
                <a:rPr lang="zh-CN" altLang="en-US" sz="1800">
                  <a:latin typeface="宋体" panose="02010600030101010101" pitchFamily="2" charset="-122"/>
                </a:rPr>
                <a:t>～</a:t>
              </a:r>
              <a:r>
                <a:rPr lang="en-US" altLang="zh-CN" sz="2400"/>
                <a:t>4</a:t>
              </a:r>
            </a:p>
          </p:txBody>
        </p:sp>
        <p:sp>
          <p:nvSpPr>
            <p:cNvPr id="112696" name="Text Box 70"/>
            <p:cNvSpPr txBox="1">
              <a:spLocks noChangeArrowheads="1"/>
            </p:cNvSpPr>
            <p:nvPr/>
          </p:nvSpPr>
          <p:spPr bwMode="auto">
            <a:xfrm>
              <a:off x="3417" y="1520"/>
              <a:ext cx="635"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HINT</a:t>
              </a:r>
            </a:p>
          </p:txBody>
        </p:sp>
        <p:sp>
          <p:nvSpPr>
            <p:cNvPr id="112697" name="Text Box 71"/>
            <p:cNvSpPr txBox="1">
              <a:spLocks noChangeArrowheads="1"/>
            </p:cNvSpPr>
            <p:nvPr/>
          </p:nvSpPr>
          <p:spPr bwMode="auto">
            <a:xfrm>
              <a:off x="3553" y="1213"/>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3</a:t>
              </a:r>
            </a:p>
          </p:txBody>
        </p:sp>
        <p:sp>
          <p:nvSpPr>
            <p:cNvPr id="112698" name="Text Box 72"/>
            <p:cNvSpPr txBox="1">
              <a:spLocks noChangeArrowheads="1"/>
            </p:cNvSpPr>
            <p:nvPr/>
          </p:nvSpPr>
          <p:spPr bwMode="auto">
            <a:xfrm>
              <a:off x="4007" y="1520"/>
              <a:ext cx="869"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DSPINT</a:t>
              </a:r>
            </a:p>
          </p:txBody>
        </p:sp>
        <p:sp>
          <p:nvSpPr>
            <p:cNvPr id="112699" name="Text Box 73"/>
            <p:cNvSpPr txBox="1">
              <a:spLocks noChangeArrowheads="1"/>
            </p:cNvSpPr>
            <p:nvPr/>
          </p:nvSpPr>
          <p:spPr bwMode="auto">
            <a:xfrm>
              <a:off x="4241" y="1224"/>
              <a:ext cx="3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2</a:t>
              </a:r>
            </a:p>
          </p:txBody>
        </p:sp>
        <p:sp>
          <p:nvSpPr>
            <p:cNvPr id="112700" name="Text Box 74"/>
            <p:cNvSpPr txBox="1">
              <a:spLocks noChangeArrowheads="1"/>
            </p:cNvSpPr>
            <p:nvPr/>
          </p:nvSpPr>
          <p:spPr bwMode="auto">
            <a:xfrm>
              <a:off x="5050" y="1520"/>
              <a:ext cx="590"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BOB</a:t>
              </a:r>
            </a:p>
          </p:txBody>
        </p:sp>
        <p:sp>
          <p:nvSpPr>
            <p:cNvPr id="112701" name="Text Box 75"/>
            <p:cNvSpPr txBox="1">
              <a:spLocks noChangeArrowheads="1"/>
            </p:cNvSpPr>
            <p:nvPr/>
          </p:nvSpPr>
          <p:spPr bwMode="auto">
            <a:xfrm>
              <a:off x="5231" y="1213"/>
              <a:ext cx="3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0</a:t>
              </a:r>
            </a:p>
          </p:txBody>
        </p:sp>
        <p:sp>
          <p:nvSpPr>
            <p:cNvPr id="112702" name="Text Box 76"/>
            <p:cNvSpPr txBox="1">
              <a:spLocks noChangeArrowheads="1"/>
            </p:cNvSpPr>
            <p:nvPr/>
          </p:nvSpPr>
          <p:spPr bwMode="auto">
            <a:xfrm>
              <a:off x="4830" y="1520"/>
              <a:ext cx="265"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x</a:t>
              </a:r>
            </a:p>
          </p:txBody>
        </p:sp>
        <p:sp>
          <p:nvSpPr>
            <p:cNvPr id="112703" name="Text Box 77"/>
            <p:cNvSpPr txBox="1">
              <a:spLocks noChangeArrowheads="1"/>
            </p:cNvSpPr>
            <p:nvPr/>
          </p:nvSpPr>
          <p:spPr bwMode="auto">
            <a:xfrm>
              <a:off x="4876" y="1178"/>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a:t>
              </a:r>
              <a:r>
                <a:rPr lang="en-US" altLang="zh-CN" sz="2800"/>
                <a:t> </a:t>
              </a:r>
            </a:p>
          </p:txBody>
        </p:sp>
      </p:grpSp>
      <p:sp>
        <p:nvSpPr>
          <p:cNvPr id="112645" name="Text Box 114"/>
          <p:cNvSpPr txBox="1">
            <a:spLocks noChangeArrowheads="1"/>
          </p:cNvSpPr>
          <p:nvPr/>
        </p:nvSpPr>
        <p:spPr bwMode="auto">
          <a:xfrm>
            <a:off x="1619250" y="1125538"/>
            <a:ext cx="60483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solidFill>
                  <a:srgbClr val="FF0000"/>
                </a:solidFill>
              </a:rPr>
              <a:t>主机从</a:t>
            </a:r>
            <a:r>
              <a:rPr lang="en-US" altLang="zh-CN" sz="3200">
                <a:solidFill>
                  <a:srgbClr val="FF0000"/>
                </a:solidFill>
              </a:rPr>
              <a:t>HPIC</a:t>
            </a:r>
            <a:r>
              <a:rPr lang="zh-CN" altLang="en-US" sz="3200">
                <a:solidFill>
                  <a:srgbClr val="FF0000"/>
                </a:solidFill>
              </a:rPr>
              <a:t>寄存器读出的数据</a:t>
            </a:r>
          </a:p>
        </p:txBody>
      </p:sp>
      <p:sp>
        <p:nvSpPr>
          <p:cNvPr id="112646" name="Text Box 115"/>
          <p:cNvSpPr txBox="1">
            <a:spLocks noChangeArrowheads="1"/>
          </p:cNvSpPr>
          <p:nvPr/>
        </p:nvSpPr>
        <p:spPr bwMode="auto">
          <a:xfrm>
            <a:off x="1763713" y="6108700"/>
            <a:ext cx="5832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solidFill>
                  <a:srgbClr val="FF0000"/>
                </a:solidFill>
              </a:rPr>
              <a:t>主机写入</a:t>
            </a:r>
            <a:r>
              <a:rPr lang="en-US" altLang="zh-CN" sz="3200">
                <a:solidFill>
                  <a:srgbClr val="FF0000"/>
                </a:solidFill>
              </a:rPr>
              <a:t>HPIC</a:t>
            </a:r>
            <a:r>
              <a:rPr lang="zh-CN" altLang="en-US" sz="3200">
                <a:solidFill>
                  <a:srgbClr val="FF0000"/>
                </a:solidFill>
              </a:rPr>
              <a:t>寄存器的数据</a:t>
            </a:r>
          </a:p>
        </p:txBody>
      </p:sp>
      <p:sp>
        <p:nvSpPr>
          <p:cNvPr id="112647" name="AutoShape 121"/>
          <p:cNvSpPr>
            <a:spLocks noChangeArrowheads="1"/>
          </p:cNvSpPr>
          <p:nvPr/>
        </p:nvSpPr>
        <p:spPr bwMode="auto">
          <a:xfrm>
            <a:off x="5148263" y="3014663"/>
            <a:ext cx="3709987" cy="1727200"/>
          </a:xfrm>
          <a:prstGeom prst="wedgeRoundRectCallout">
            <a:avLst>
              <a:gd name="adj1" fmla="val -69769"/>
              <a:gd name="adj2" fmla="val -62407"/>
              <a:gd name="adj3" fmla="val 16667"/>
            </a:avLst>
          </a:prstGeom>
          <a:solidFill>
            <a:schemeClr val="accent2"/>
          </a:solid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p>
        </p:txBody>
      </p:sp>
      <p:sp>
        <p:nvSpPr>
          <p:cNvPr id="112648" name="Text Box 127"/>
          <p:cNvSpPr txBox="1">
            <a:spLocks noChangeArrowheads="1"/>
          </p:cNvSpPr>
          <p:nvPr/>
        </p:nvSpPr>
        <p:spPr bwMode="auto">
          <a:xfrm>
            <a:off x="5364163" y="3086100"/>
            <a:ext cx="3527425" cy="1616075"/>
          </a:xfrm>
          <a:prstGeom prst="rect">
            <a:avLst/>
          </a:prstGeom>
          <a:noFill/>
          <a:ln w="9525">
            <a:noFill/>
            <a:miter lim="800000"/>
            <a:headEnd/>
            <a:tailEnd/>
          </a:ln>
        </p:spPr>
        <p:txBody>
          <a:bodyPr>
            <a:spAutoFit/>
          </a:bodyPr>
          <a:lstStyle/>
          <a:p>
            <a:pPr>
              <a:spcBef>
                <a:spcPct val="50000"/>
              </a:spcBef>
              <a:defRPr/>
            </a:pPr>
            <a:r>
              <a:rPr lang="zh-CN" altLang="en-US" dirty="0">
                <a:solidFill>
                  <a:schemeClr val="accent5"/>
                </a:solidFill>
              </a:rPr>
              <a:t>字节 选择位。当</a:t>
            </a:r>
            <a:r>
              <a:rPr lang="en-US" altLang="zh-CN" dirty="0">
                <a:solidFill>
                  <a:schemeClr val="accent5"/>
                </a:solidFill>
              </a:rPr>
              <a:t>BOB=1</a:t>
            </a:r>
            <a:r>
              <a:rPr lang="zh-CN" altLang="en-US" dirty="0">
                <a:solidFill>
                  <a:schemeClr val="accent5"/>
                </a:solidFill>
              </a:rPr>
              <a:t>，第</a:t>
            </a:r>
            <a:r>
              <a:rPr lang="en-US" altLang="zh-CN" dirty="0">
                <a:solidFill>
                  <a:schemeClr val="accent5"/>
                </a:solidFill>
              </a:rPr>
              <a:t>1</a:t>
            </a:r>
            <a:r>
              <a:rPr lang="zh-CN" altLang="en-US" dirty="0">
                <a:solidFill>
                  <a:schemeClr val="accent5"/>
                </a:solidFill>
              </a:rPr>
              <a:t>字节为低字节；当</a:t>
            </a:r>
            <a:r>
              <a:rPr lang="en-US" altLang="zh-CN" dirty="0">
                <a:solidFill>
                  <a:schemeClr val="accent5"/>
                </a:solidFill>
              </a:rPr>
              <a:t>BOB=0</a:t>
            </a:r>
            <a:r>
              <a:rPr lang="zh-CN" altLang="en-US" dirty="0">
                <a:solidFill>
                  <a:schemeClr val="accent5"/>
                </a:solidFill>
              </a:rPr>
              <a:t>，第</a:t>
            </a:r>
            <a:r>
              <a:rPr lang="en-US" altLang="zh-CN" dirty="0">
                <a:solidFill>
                  <a:schemeClr val="accent5"/>
                </a:solidFill>
              </a:rPr>
              <a:t>1</a:t>
            </a:r>
            <a:r>
              <a:rPr lang="zh-CN" altLang="en-US" dirty="0">
                <a:solidFill>
                  <a:schemeClr val="accent5"/>
                </a:solidFill>
              </a:rPr>
              <a:t>字节为高字节；</a:t>
            </a:r>
            <a:r>
              <a:rPr lang="en-US" altLang="zh-CN" dirty="0">
                <a:solidFill>
                  <a:schemeClr val="accent5"/>
                </a:solidFill>
              </a:rPr>
              <a:t>BOB</a:t>
            </a:r>
            <a:r>
              <a:rPr lang="zh-CN" altLang="en-US" dirty="0">
                <a:solidFill>
                  <a:schemeClr val="accent5"/>
                </a:solidFill>
              </a:rPr>
              <a:t>位影响数据和地址的传送。仅主机可修改，</a:t>
            </a:r>
            <a:r>
              <a:rPr lang="en-US" altLang="zh-CN" dirty="0">
                <a:solidFill>
                  <a:schemeClr val="accent5"/>
                </a:solidFill>
              </a:rPr>
              <a:t>C54x</a:t>
            </a:r>
            <a:r>
              <a:rPr lang="zh-CN" altLang="en-US" dirty="0">
                <a:solidFill>
                  <a:schemeClr val="accent5"/>
                </a:solidFill>
              </a:rPr>
              <a:t>不能读写。</a:t>
            </a:r>
          </a:p>
        </p:txBody>
      </p:sp>
      <p:sp>
        <p:nvSpPr>
          <p:cNvPr id="112649" name="AutoShape 133"/>
          <p:cNvSpPr>
            <a:spLocks noChangeArrowheads="1"/>
          </p:cNvSpPr>
          <p:nvPr/>
        </p:nvSpPr>
        <p:spPr bwMode="auto">
          <a:xfrm>
            <a:off x="323850" y="3014663"/>
            <a:ext cx="3709988" cy="1655762"/>
          </a:xfrm>
          <a:prstGeom prst="wedgeRoundRectCallout">
            <a:avLst>
              <a:gd name="adj1" fmla="val 18250"/>
              <a:gd name="adj2" fmla="val 81352"/>
              <a:gd name="adj3" fmla="val 16667"/>
            </a:avLst>
          </a:prstGeom>
          <a:solidFill>
            <a:schemeClr val="folHlink"/>
          </a:solid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p>
        </p:txBody>
      </p:sp>
      <p:sp>
        <p:nvSpPr>
          <p:cNvPr id="112650" name="Text Box 134"/>
          <p:cNvSpPr txBox="1">
            <a:spLocks noChangeArrowheads="1"/>
          </p:cNvSpPr>
          <p:nvPr/>
        </p:nvSpPr>
        <p:spPr bwMode="auto">
          <a:xfrm>
            <a:off x="395288" y="3086100"/>
            <a:ext cx="3671887"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主机向</a:t>
            </a:r>
            <a:r>
              <a:rPr lang="en-US" altLang="zh-CN">
                <a:solidFill>
                  <a:schemeClr val="bg1"/>
                </a:solidFill>
              </a:rPr>
              <a:t>C54x</a:t>
            </a:r>
            <a:r>
              <a:rPr lang="zh-CN" altLang="en-US">
                <a:solidFill>
                  <a:schemeClr val="bg1"/>
                </a:solidFill>
              </a:rPr>
              <a:t>发出中断位。只能主机写，且写入高、低字节值需相同。主机和</a:t>
            </a:r>
            <a:r>
              <a:rPr lang="en-US" altLang="zh-CN">
                <a:solidFill>
                  <a:schemeClr val="bg1"/>
                </a:solidFill>
              </a:rPr>
              <a:t>C54x</a:t>
            </a:r>
            <a:r>
              <a:rPr lang="zh-CN" altLang="en-US">
                <a:solidFill>
                  <a:schemeClr val="bg1"/>
                </a:solidFill>
              </a:rPr>
              <a:t>不能读，若读必为</a:t>
            </a:r>
            <a:r>
              <a:rPr lang="en-US" altLang="zh-CN">
                <a:solidFill>
                  <a:schemeClr val="bg1"/>
                </a:solidFill>
              </a:rPr>
              <a:t>0</a:t>
            </a:r>
            <a:r>
              <a:rPr lang="zh-CN" altLang="en-US">
                <a:solidFill>
                  <a:schemeClr val="bg1"/>
                </a:solidFill>
              </a:rPr>
              <a:t>。当主机写该位时，就对</a:t>
            </a:r>
            <a:r>
              <a:rPr lang="en-US" altLang="zh-CN">
                <a:solidFill>
                  <a:schemeClr val="bg1"/>
                </a:solidFill>
              </a:rPr>
              <a:t>C54x</a:t>
            </a:r>
            <a:r>
              <a:rPr lang="zh-CN" altLang="en-US">
                <a:solidFill>
                  <a:schemeClr val="bg1"/>
                </a:solidFill>
              </a:rPr>
              <a:t>产生一次中断。</a:t>
            </a:r>
          </a:p>
        </p:txBody>
      </p:sp>
      <p:sp>
        <p:nvSpPr>
          <p:cNvPr id="112651" name="Rectangle 136"/>
          <p:cNvSpPr>
            <a:spLocks noChangeArrowheads="1"/>
          </p:cNvSpPr>
          <p:nvPr/>
        </p:nvSpPr>
        <p:spPr bwMode="auto">
          <a:xfrm>
            <a:off x="1042988" y="256540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chemeClr val="tx2"/>
                </a:solidFill>
              </a:rPr>
              <a:t>R/W</a:t>
            </a:r>
          </a:p>
        </p:txBody>
      </p:sp>
      <p:sp>
        <p:nvSpPr>
          <p:cNvPr id="112652" name="Rectangle 137"/>
          <p:cNvSpPr>
            <a:spLocks noChangeArrowheads="1"/>
          </p:cNvSpPr>
          <p:nvPr/>
        </p:nvSpPr>
        <p:spPr bwMode="auto">
          <a:xfrm>
            <a:off x="5435600" y="256540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chemeClr val="tx2"/>
                </a:solidFill>
              </a:rPr>
              <a:t>R/W</a:t>
            </a:r>
          </a:p>
        </p:txBody>
      </p:sp>
      <p:sp>
        <p:nvSpPr>
          <p:cNvPr id="112653" name="Rectangle 138"/>
          <p:cNvSpPr>
            <a:spLocks noChangeArrowheads="1"/>
          </p:cNvSpPr>
          <p:nvPr/>
        </p:nvSpPr>
        <p:spPr bwMode="auto">
          <a:xfrm>
            <a:off x="2268538" y="58229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rgbClr val="FF0000"/>
                </a:solidFill>
              </a:rPr>
              <a:t>W</a:t>
            </a:r>
          </a:p>
        </p:txBody>
      </p:sp>
      <p:sp>
        <p:nvSpPr>
          <p:cNvPr id="112654" name="Rectangle 139"/>
          <p:cNvSpPr>
            <a:spLocks noChangeArrowheads="1"/>
          </p:cNvSpPr>
          <p:nvPr/>
        </p:nvSpPr>
        <p:spPr bwMode="auto">
          <a:xfrm>
            <a:off x="3708400" y="256540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rgbClr val="FF0000"/>
                </a:solidFill>
              </a:rPr>
              <a:t>R/W</a:t>
            </a:r>
          </a:p>
        </p:txBody>
      </p:sp>
      <p:sp>
        <p:nvSpPr>
          <p:cNvPr id="112655" name="Rectangle 140"/>
          <p:cNvSpPr>
            <a:spLocks noChangeArrowheads="1"/>
          </p:cNvSpPr>
          <p:nvPr/>
        </p:nvSpPr>
        <p:spPr bwMode="auto">
          <a:xfrm>
            <a:off x="3635375" y="582295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rgbClr val="FF0000"/>
                </a:solidFill>
              </a:rPr>
              <a:t>R/W</a:t>
            </a:r>
          </a:p>
        </p:txBody>
      </p:sp>
      <p:sp>
        <p:nvSpPr>
          <p:cNvPr id="112656" name="Rectangle 141"/>
          <p:cNvSpPr>
            <a:spLocks noChangeArrowheads="1"/>
          </p:cNvSpPr>
          <p:nvPr/>
        </p:nvSpPr>
        <p:spPr bwMode="auto">
          <a:xfrm>
            <a:off x="2771775" y="25654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chemeClr val="tx2"/>
                </a:solidFill>
              </a:rPr>
              <a:t>R</a:t>
            </a:r>
          </a:p>
        </p:txBody>
      </p:sp>
      <p:sp>
        <p:nvSpPr>
          <p:cNvPr id="112657" name="Rectangle 142"/>
          <p:cNvSpPr>
            <a:spLocks noChangeArrowheads="1"/>
          </p:cNvSpPr>
          <p:nvPr/>
        </p:nvSpPr>
        <p:spPr bwMode="auto">
          <a:xfrm>
            <a:off x="7235825" y="25654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chemeClr val="tx2"/>
                </a:solidFill>
              </a:rPr>
              <a:t>R</a:t>
            </a:r>
          </a:p>
        </p:txBody>
      </p:sp>
      <p:sp>
        <p:nvSpPr>
          <p:cNvPr id="112658" name="Rectangle 143"/>
          <p:cNvSpPr>
            <a:spLocks noChangeArrowheads="1"/>
          </p:cNvSpPr>
          <p:nvPr/>
        </p:nvSpPr>
        <p:spPr bwMode="auto">
          <a:xfrm>
            <a:off x="8101013" y="256540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rgbClr val="FF0000"/>
                </a:solidFill>
              </a:rPr>
              <a:t>R/W</a:t>
            </a:r>
          </a:p>
        </p:txBody>
      </p:sp>
      <p:sp>
        <p:nvSpPr>
          <p:cNvPr id="112659" name="Rectangle 144"/>
          <p:cNvSpPr>
            <a:spLocks noChangeArrowheads="1"/>
          </p:cNvSpPr>
          <p:nvPr/>
        </p:nvSpPr>
        <p:spPr bwMode="auto">
          <a:xfrm>
            <a:off x="8101013" y="58943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rgbClr val="FF0000"/>
                </a:solidFill>
              </a:rPr>
              <a:t>R/W</a:t>
            </a:r>
          </a:p>
        </p:txBody>
      </p:sp>
      <p:sp>
        <p:nvSpPr>
          <p:cNvPr id="112660" name="Rectangle 145"/>
          <p:cNvSpPr>
            <a:spLocks noChangeArrowheads="1"/>
          </p:cNvSpPr>
          <p:nvPr/>
        </p:nvSpPr>
        <p:spPr bwMode="auto">
          <a:xfrm>
            <a:off x="6804025" y="58229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rgbClr val="FF0000"/>
                </a:solidFill>
              </a:rPr>
              <a:t>W</a:t>
            </a:r>
          </a:p>
        </p:txBody>
      </p:sp>
      <p:sp>
        <p:nvSpPr>
          <p:cNvPr id="112661" name="Rectangle 146"/>
          <p:cNvSpPr>
            <a:spLocks noChangeArrowheads="1"/>
          </p:cNvSpPr>
          <p:nvPr/>
        </p:nvSpPr>
        <p:spPr bwMode="auto">
          <a:xfrm>
            <a:off x="1042988" y="58943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chemeClr val="tx2"/>
                </a:solidFill>
              </a:rPr>
              <a:t>R/W</a:t>
            </a:r>
          </a:p>
        </p:txBody>
      </p:sp>
      <p:grpSp>
        <p:nvGrpSpPr>
          <p:cNvPr id="112662" name="Group 151"/>
          <p:cNvGrpSpPr>
            <a:grpSpLocks/>
          </p:cNvGrpSpPr>
          <p:nvPr/>
        </p:nvGrpSpPr>
        <p:grpSpPr bwMode="auto">
          <a:xfrm>
            <a:off x="0" y="1628775"/>
            <a:ext cx="8916988" cy="1025525"/>
            <a:chOff x="0" y="255"/>
            <a:chExt cx="5617" cy="646"/>
          </a:xfrm>
        </p:grpSpPr>
        <p:sp>
          <p:nvSpPr>
            <p:cNvPr id="112664" name="Text Box 152"/>
            <p:cNvSpPr txBox="1">
              <a:spLocks noChangeArrowheads="1"/>
            </p:cNvSpPr>
            <p:nvPr/>
          </p:nvSpPr>
          <p:spPr bwMode="auto">
            <a:xfrm>
              <a:off x="15" y="607"/>
              <a:ext cx="590"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x</a:t>
              </a:r>
            </a:p>
          </p:txBody>
        </p:sp>
        <p:sp>
          <p:nvSpPr>
            <p:cNvPr id="112665" name="Text Box 153"/>
            <p:cNvSpPr txBox="1">
              <a:spLocks noChangeArrowheads="1"/>
            </p:cNvSpPr>
            <p:nvPr/>
          </p:nvSpPr>
          <p:spPr bwMode="auto">
            <a:xfrm>
              <a:off x="0" y="290"/>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15</a:t>
              </a:r>
              <a:r>
                <a:rPr lang="zh-CN" altLang="en-US" sz="1800">
                  <a:latin typeface="宋体" panose="02010600030101010101" pitchFamily="2" charset="-122"/>
                </a:rPr>
                <a:t>～</a:t>
              </a:r>
              <a:r>
                <a:rPr lang="en-US" altLang="zh-CN" sz="2400"/>
                <a:t>12</a:t>
              </a:r>
            </a:p>
          </p:txBody>
        </p:sp>
        <p:sp>
          <p:nvSpPr>
            <p:cNvPr id="112666" name="Text Box 154"/>
            <p:cNvSpPr txBox="1">
              <a:spLocks noChangeArrowheads="1"/>
            </p:cNvSpPr>
            <p:nvPr/>
          </p:nvSpPr>
          <p:spPr bwMode="auto">
            <a:xfrm>
              <a:off x="605" y="607"/>
              <a:ext cx="635"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HINT</a:t>
              </a:r>
            </a:p>
          </p:txBody>
        </p:sp>
        <p:sp>
          <p:nvSpPr>
            <p:cNvPr id="112667" name="Text Box 155"/>
            <p:cNvSpPr txBox="1">
              <a:spLocks noChangeArrowheads="1"/>
            </p:cNvSpPr>
            <p:nvPr/>
          </p:nvSpPr>
          <p:spPr bwMode="auto">
            <a:xfrm>
              <a:off x="741" y="290"/>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11</a:t>
              </a:r>
            </a:p>
          </p:txBody>
        </p:sp>
        <p:sp>
          <p:nvSpPr>
            <p:cNvPr id="112668" name="Text Box 156"/>
            <p:cNvSpPr txBox="1">
              <a:spLocks noChangeArrowheads="1"/>
            </p:cNvSpPr>
            <p:nvPr/>
          </p:nvSpPr>
          <p:spPr bwMode="auto">
            <a:xfrm>
              <a:off x="1195" y="607"/>
              <a:ext cx="318"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0</a:t>
              </a:r>
            </a:p>
          </p:txBody>
        </p:sp>
        <p:sp>
          <p:nvSpPr>
            <p:cNvPr id="112669" name="Text Box 157"/>
            <p:cNvSpPr txBox="1">
              <a:spLocks noChangeArrowheads="1"/>
            </p:cNvSpPr>
            <p:nvPr/>
          </p:nvSpPr>
          <p:spPr bwMode="auto">
            <a:xfrm>
              <a:off x="1240" y="290"/>
              <a:ext cx="3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10</a:t>
              </a:r>
            </a:p>
          </p:txBody>
        </p:sp>
        <p:sp>
          <p:nvSpPr>
            <p:cNvPr id="112670" name="Text Box 158"/>
            <p:cNvSpPr txBox="1">
              <a:spLocks noChangeArrowheads="1"/>
            </p:cNvSpPr>
            <p:nvPr/>
          </p:nvSpPr>
          <p:spPr bwMode="auto">
            <a:xfrm>
              <a:off x="2238" y="607"/>
              <a:ext cx="590"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BOB</a:t>
              </a:r>
            </a:p>
          </p:txBody>
        </p:sp>
        <p:sp>
          <p:nvSpPr>
            <p:cNvPr id="112671" name="Text Box 159"/>
            <p:cNvSpPr txBox="1">
              <a:spLocks noChangeArrowheads="1"/>
            </p:cNvSpPr>
            <p:nvPr/>
          </p:nvSpPr>
          <p:spPr bwMode="auto">
            <a:xfrm>
              <a:off x="2419" y="290"/>
              <a:ext cx="3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8</a:t>
              </a:r>
            </a:p>
          </p:txBody>
        </p:sp>
        <p:sp>
          <p:nvSpPr>
            <p:cNvPr id="112672" name="Text Box 160"/>
            <p:cNvSpPr txBox="1">
              <a:spLocks noChangeArrowheads="1"/>
            </p:cNvSpPr>
            <p:nvPr/>
          </p:nvSpPr>
          <p:spPr bwMode="auto">
            <a:xfrm>
              <a:off x="1512" y="607"/>
              <a:ext cx="771" cy="294"/>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SMOD</a:t>
              </a:r>
            </a:p>
          </p:txBody>
        </p:sp>
        <p:sp>
          <p:nvSpPr>
            <p:cNvPr id="112673" name="Text Box 161"/>
            <p:cNvSpPr txBox="1">
              <a:spLocks noChangeArrowheads="1"/>
            </p:cNvSpPr>
            <p:nvPr/>
          </p:nvSpPr>
          <p:spPr bwMode="auto">
            <a:xfrm>
              <a:off x="1784" y="255"/>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9</a:t>
              </a:r>
              <a:r>
                <a:rPr lang="en-US" altLang="zh-CN" sz="2800"/>
                <a:t> </a:t>
              </a:r>
            </a:p>
          </p:txBody>
        </p:sp>
        <p:sp>
          <p:nvSpPr>
            <p:cNvPr id="112674" name="Text Box 162"/>
            <p:cNvSpPr txBox="1">
              <a:spLocks noChangeArrowheads="1"/>
            </p:cNvSpPr>
            <p:nvPr/>
          </p:nvSpPr>
          <p:spPr bwMode="auto">
            <a:xfrm>
              <a:off x="2804" y="607"/>
              <a:ext cx="590"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x</a:t>
              </a:r>
            </a:p>
          </p:txBody>
        </p:sp>
        <p:sp>
          <p:nvSpPr>
            <p:cNvPr id="112675" name="Text Box 163"/>
            <p:cNvSpPr txBox="1">
              <a:spLocks noChangeArrowheads="1"/>
            </p:cNvSpPr>
            <p:nvPr/>
          </p:nvSpPr>
          <p:spPr bwMode="auto">
            <a:xfrm>
              <a:off x="3394" y="607"/>
              <a:ext cx="635"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HINT</a:t>
              </a:r>
            </a:p>
          </p:txBody>
        </p:sp>
        <p:sp>
          <p:nvSpPr>
            <p:cNvPr id="112676" name="Text Box 164"/>
            <p:cNvSpPr txBox="1">
              <a:spLocks noChangeArrowheads="1"/>
            </p:cNvSpPr>
            <p:nvPr/>
          </p:nvSpPr>
          <p:spPr bwMode="auto">
            <a:xfrm>
              <a:off x="3984" y="607"/>
              <a:ext cx="318"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0</a:t>
              </a:r>
            </a:p>
          </p:txBody>
        </p:sp>
        <p:sp>
          <p:nvSpPr>
            <p:cNvPr id="112677" name="Text Box 165"/>
            <p:cNvSpPr txBox="1">
              <a:spLocks noChangeArrowheads="1"/>
            </p:cNvSpPr>
            <p:nvPr/>
          </p:nvSpPr>
          <p:spPr bwMode="auto">
            <a:xfrm>
              <a:off x="5027" y="607"/>
              <a:ext cx="590"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BOB</a:t>
              </a:r>
            </a:p>
          </p:txBody>
        </p:sp>
        <p:sp>
          <p:nvSpPr>
            <p:cNvPr id="112678" name="Text Box 166"/>
            <p:cNvSpPr txBox="1">
              <a:spLocks noChangeArrowheads="1"/>
            </p:cNvSpPr>
            <p:nvPr/>
          </p:nvSpPr>
          <p:spPr bwMode="auto">
            <a:xfrm>
              <a:off x="4301" y="607"/>
              <a:ext cx="771" cy="294"/>
            </a:xfrm>
            <a:prstGeom prst="rect">
              <a:avLst/>
            </a:prstGeom>
            <a:solidFill>
              <a:schemeClr val="hlink"/>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SMOD</a:t>
              </a:r>
            </a:p>
          </p:txBody>
        </p:sp>
        <p:sp>
          <p:nvSpPr>
            <p:cNvPr id="112679" name="Text Box 167"/>
            <p:cNvSpPr txBox="1">
              <a:spLocks noChangeArrowheads="1"/>
            </p:cNvSpPr>
            <p:nvPr/>
          </p:nvSpPr>
          <p:spPr bwMode="auto">
            <a:xfrm>
              <a:off x="2866" y="290"/>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7</a:t>
              </a:r>
              <a:r>
                <a:rPr lang="zh-CN" altLang="en-US" sz="1800">
                  <a:latin typeface="宋体" panose="02010600030101010101" pitchFamily="2" charset="-122"/>
                </a:rPr>
                <a:t>～</a:t>
              </a:r>
              <a:r>
                <a:rPr lang="en-US" altLang="zh-CN" sz="2400"/>
                <a:t>4</a:t>
              </a:r>
            </a:p>
          </p:txBody>
        </p:sp>
        <p:sp>
          <p:nvSpPr>
            <p:cNvPr id="112680" name="Text Box 168"/>
            <p:cNvSpPr txBox="1">
              <a:spLocks noChangeArrowheads="1"/>
            </p:cNvSpPr>
            <p:nvPr/>
          </p:nvSpPr>
          <p:spPr bwMode="auto">
            <a:xfrm>
              <a:off x="3607" y="290"/>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3</a:t>
              </a:r>
            </a:p>
          </p:txBody>
        </p:sp>
        <p:sp>
          <p:nvSpPr>
            <p:cNvPr id="112681" name="Text Box 169"/>
            <p:cNvSpPr txBox="1">
              <a:spLocks noChangeArrowheads="1"/>
            </p:cNvSpPr>
            <p:nvPr/>
          </p:nvSpPr>
          <p:spPr bwMode="auto">
            <a:xfrm>
              <a:off x="4106" y="290"/>
              <a:ext cx="3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2</a:t>
              </a:r>
            </a:p>
          </p:txBody>
        </p:sp>
        <p:sp>
          <p:nvSpPr>
            <p:cNvPr id="112682" name="Text Box 170"/>
            <p:cNvSpPr txBox="1">
              <a:spLocks noChangeArrowheads="1"/>
            </p:cNvSpPr>
            <p:nvPr/>
          </p:nvSpPr>
          <p:spPr bwMode="auto">
            <a:xfrm>
              <a:off x="5285" y="290"/>
              <a:ext cx="3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0</a:t>
              </a:r>
            </a:p>
          </p:txBody>
        </p:sp>
        <p:sp>
          <p:nvSpPr>
            <p:cNvPr id="112683" name="Text Box 171"/>
            <p:cNvSpPr txBox="1">
              <a:spLocks noChangeArrowheads="1"/>
            </p:cNvSpPr>
            <p:nvPr/>
          </p:nvSpPr>
          <p:spPr bwMode="auto">
            <a:xfrm>
              <a:off x="4551" y="255"/>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a:t>
              </a:r>
              <a:r>
                <a:rPr lang="en-US" altLang="zh-CN" sz="2800"/>
                <a:t> </a:t>
              </a:r>
            </a:p>
          </p:txBody>
        </p:sp>
      </p:grpSp>
      <p:sp>
        <p:nvSpPr>
          <p:cNvPr id="112663" name="Rectangle 172"/>
          <p:cNvSpPr>
            <a:spLocks noChangeArrowheads="1"/>
          </p:cNvSpPr>
          <p:nvPr/>
        </p:nvSpPr>
        <p:spPr bwMode="auto">
          <a:xfrm>
            <a:off x="5470525" y="582295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chemeClr val="tx2"/>
                </a:solidFill>
              </a:rPr>
              <a:t>R/W</a:t>
            </a:r>
          </a:p>
        </p:txBody>
      </p:sp>
    </p:spTree>
  </p:cSld>
  <p:clrMapOvr>
    <a:masterClrMapping/>
  </p:clrMapOvr>
  <p:transition spd="med">
    <p:pull dir="lu"/>
  </p:transition>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E1E6CB9-3BA4-4E0E-8C8E-138CB7C0FC54}" type="slidenum">
              <a:rPr lang="en-US" altLang="zh-CN" sz="1400" b="0"/>
              <a:pPr eaLnBrk="1" hangingPunct="1"/>
              <a:t>100</a:t>
            </a:fld>
            <a:endParaRPr lang="en-US" altLang="zh-CN" sz="1400" b="0"/>
          </a:p>
        </p:txBody>
      </p:sp>
      <p:grpSp>
        <p:nvGrpSpPr>
          <p:cNvPr id="113667" name="Group 45"/>
          <p:cNvGrpSpPr>
            <a:grpSpLocks/>
          </p:cNvGrpSpPr>
          <p:nvPr/>
        </p:nvGrpSpPr>
        <p:grpSpPr bwMode="auto">
          <a:xfrm>
            <a:off x="468313" y="1484313"/>
            <a:ext cx="8208962" cy="1025525"/>
            <a:chOff x="113" y="1808"/>
            <a:chExt cx="5171" cy="646"/>
          </a:xfrm>
        </p:grpSpPr>
        <p:sp>
          <p:nvSpPr>
            <p:cNvPr id="113691" name="Text Box 46"/>
            <p:cNvSpPr txBox="1">
              <a:spLocks noChangeArrowheads="1"/>
            </p:cNvSpPr>
            <p:nvPr/>
          </p:nvSpPr>
          <p:spPr bwMode="auto">
            <a:xfrm>
              <a:off x="113" y="2160"/>
              <a:ext cx="2359" cy="294"/>
            </a:xfrm>
            <a:prstGeom prst="rect">
              <a:avLst/>
            </a:prstGeom>
            <a:solidFill>
              <a:srgbClr val="FF00FF"/>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accent1"/>
                  </a:solidFill>
                </a:rPr>
                <a:t>x</a:t>
              </a:r>
            </a:p>
          </p:txBody>
        </p:sp>
        <p:sp>
          <p:nvSpPr>
            <p:cNvPr id="113692" name="Text Box 47"/>
            <p:cNvSpPr txBox="1">
              <a:spLocks noChangeArrowheads="1"/>
            </p:cNvSpPr>
            <p:nvPr/>
          </p:nvSpPr>
          <p:spPr bwMode="auto">
            <a:xfrm>
              <a:off x="2472" y="2160"/>
              <a:ext cx="725" cy="294"/>
            </a:xfrm>
            <a:prstGeom prst="rect">
              <a:avLst/>
            </a:prstGeom>
            <a:solidFill>
              <a:srgbClr val="FF00FF"/>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HINT</a:t>
              </a:r>
            </a:p>
          </p:txBody>
        </p:sp>
        <p:sp>
          <p:nvSpPr>
            <p:cNvPr id="113693" name="Text Box 48"/>
            <p:cNvSpPr txBox="1">
              <a:spLocks noChangeArrowheads="1"/>
            </p:cNvSpPr>
            <p:nvPr/>
          </p:nvSpPr>
          <p:spPr bwMode="auto">
            <a:xfrm>
              <a:off x="3198" y="2160"/>
              <a:ext cx="634" cy="294"/>
            </a:xfrm>
            <a:prstGeom prst="rect">
              <a:avLst/>
            </a:prstGeom>
            <a:solidFill>
              <a:srgbClr val="FF00FF"/>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accent1"/>
                  </a:solidFill>
                </a:rPr>
                <a:t>0</a:t>
              </a:r>
            </a:p>
          </p:txBody>
        </p:sp>
        <p:sp>
          <p:nvSpPr>
            <p:cNvPr id="113694" name="Text Box 49"/>
            <p:cNvSpPr txBox="1">
              <a:spLocks noChangeArrowheads="1"/>
            </p:cNvSpPr>
            <p:nvPr/>
          </p:nvSpPr>
          <p:spPr bwMode="auto">
            <a:xfrm>
              <a:off x="4559" y="2160"/>
              <a:ext cx="725" cy="294"/>
            </a:xfrm>
            <a:prstGeom prst="rect">
              <a:avLst/>
            </a:prstGeom>
            <a:solidFill>
              <a:srgbClr val="FF00FF"/>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accent1"/>
                  </a:solidFill>
                </a:rPr>
                <a:t>0</a:t>
              </a:r>
            </a:p>
          </p:txBody>
        </p:sp>
        <p:sp>
          <p:nvSpPr>
            <p:cNvPr id="113695" name="Text Box 50"/>
            <p:cNvSpPr txBox="1">
              <a:spLocks noChangeArrowheads="1"/>
            </p:cNvSpPr>
            <p:nvPr/>
          </p:nvSpPr>
          <p:spPr bwMode="auto">
            <a:xfrm>
              <a:off x="3833" y="2160"/>
              <a:ext cx="771" cy="294"/>
            </a:xfrm>
            <a:prstGeom prst="rect">
              <a:avLst/>
            </a:prstGeom>
            <a:solidFill>
              <a:srgbClr val="FF00FF"/>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SMOD</a:t>
              </a:r>
            </a:p>
          </p:txBody>
        </p:sp>
        <p:sp>
          <p:nvSpPr>
            <p:cNvPr id="113696" name="Text Box 51"/>
            <p:cNvSpPr txBox="1">
              <a:spLocks noChangeArrowheads="1"/>
            </p:cNvSpPr>
            <p:nvPr/>
          </p:nvSpPr>
          <p:spPr bwMode="auto">
            <a:xfrm>
              <a:off x="1066" y="1842"/>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15</a:t>
              </a:r>
              <a:r>
                <a:rPr lang="zh-CN" altLang="en-US" sz="1800">
                  <a:latin typeface="宋体" panose="02010600030101010101" pitchFamily="2" charset="-122"/>
                </a:rPr>
                <a:t>～</a:t>
              </a:r>
              <a:r>
                <a:rPr lang="en-US" altLang="zh-CN" sz="2400"/>
                <a:t>4</a:t>
              </a:r>
            </a:p>
          </p:txBody>
        </p:sp>
        <p:sp>
          <p:nvSpPr>
            <p:cNvPr id="113697" name="Text Box 52"/>
            <p:cNvSpPr txBox="1">
              <a:spLocks noChangeArrowheads="1"/>
            </p:cNvSpPr>
            <p:nvPr/>
          </p:nvSpPr>
          <p:spPr bwMode="auto">
            <a:xfrm>
              <a:off x="2744" y="1842"/>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3</a:t>
              </a:r>
            </a:p>
          </p:txBody>
        </p:sp>
        <p:sp>
          <p:nvSpPr>
            <p:cNvPr id="113698" name="Text Box 53"/>
            <p:cNvSpPr txBox="1">
              <a:spLocks noChangeArrowheads="1"/>
            </p:cNvSpPr>
            <p:nvPr/>
          </p:nvSpPr>
          <p:spPr bwMode="auto">
            <a:xfrm>
              <a:off x="3424" y="1842"/>
              <a:ext cx="3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2</a:t>
              </a:r>
            </a:p>
          </p:txBody>
        </p:sp>
        <p:sp>
          <p:nvSpPr>
            <p:cNvPr id="113699" name="Text Box 54"/>
            <p:cNvSpPr txBox="1">
              <a:spLocks noChangeArrowheads="1"/>
            </p:cNvSpPr>
            <p:nvPr/>
          </p:nvSpPr>
          <p:spPr bwMode="auto">
            <a:xfrm>
              <a:off x="4817" y="1843"/>
              <a:ext cx="3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0</a:t>
              </a:r>
            </a:p>
          </p:txBody>
        </p:sp>
        <p:sp>
          <p:nvSpPr>
            <p:cNvPr id="113700" name="Text Box 55"/>
            <p:cNvSpPr txBox="1">
              <a:spLocks noChangeArrowheads="1"/>
            </p:cNvSpPr>
            <p:nvPr/>
          </p:nvSpPr>
          <p:spPr bwMode="auto">
            <a:xfrm>
              <a:off x="4083" y="1808"/>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a:t>
              </a:r>
              <a:r>
                <a:rPr lang="en-US" altLang="zh-CN" sz="2800"/>
                <a:t> </a:t>
              </a:r>
            </a:p>
          </p:txBody>
        </p:sp>
      </p:grpSp>
      <p:grpSp>
        <p:nvGrpSpPr>
          <p:cNvPr id="113668" name="Group 56"/>
          <p:cNvGrpSpPr>
            <a:grpSpLocks/>
          </p:cNvGrpSpPr>
          <p:nvPr/>
        </p:nvGrpSpPr>
        <p:grpSpPr bwMode="auto">
          <a:xfrm>
            <a:off x="539750" y="4797425"/>
            <a:ext cx="8208963" cy="1025525"/>
            <a:chOff x="158" y="2899"/>
            <a:chExt cx="5171" cy="646"/>
          </a:xfrm>
        </p:grpSpPr>
        <p:sp>
          <p:nvSpPr>
            <p:cNvPr id="113681" name="Text Box 57"/>
            <p:cNvSpPr txBox="1">
              <a:spLocks noChangeArrowheads="1"/>
            </p:cNvSpPr>
            <p:nvPr/>
          </p:nvSpPr>
          <p:spPr bwMode="auto">
            <a:xfrm>
              <a:off x="158" y="3251"/>
              <a:ext cx="2359" cy="294"/>
            </a:xfrm>
            <a:prstGeom prst="rect">
              <a:avLst/>
            </a:prstGeom>
            <a:solidFill>
              <a:srgbClr val="FF00FF"/>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accent1"/>
                  </a:solidFill>
                </a:rPr>
                <a:t>x</a:t>
              </a:r>
            </a:p>
          </p:txBody>
        </p:sp>
        <p:sp>
          <p:nvSpPr>
            <p:cNvPr id="113682" name="Text Box 58"/>
            <p:cNvSpPr txBox="1">
              <a:spLocks noChangeArrowheads="1"/>
            </p:cNvSpPr>
            <p:nvPr/>
          </p:nvSpPr>
          <p:spPr bwMode="auto">
            <a:xfrm>
              <a:off x="2517" y="3251"/>
              <a:ext cx="725" cy="294"/>
            </a:xfrm>
            <a:prstGeom prst="rect">
              <a:avLst/>
            </a:prstGeom>
            <a:solidFill>
              <a:srgbClr val="FF00FF"/>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HINT</a:t>
              </a:r>
            </a:p>
          </p:txBody>
        </p:sp>
        <p:sp>
          <p:nvSpPr>
            <p:cNvPr id="113683" name="Text Box 59"/>
            <p:cNvSpPr txBox="1">
              <a:spLocks noChangeArrowheads="1"/>
            </p:cNvSpPr>
            <p:nvPr/>
          </p:nvSpPr>
          <p:spPr bwMode="auto">
            <a:xfrm>
              <a:off x="3243" y="3251"/>
              <a:ext cx="634" cy="294"/>
            </a:xfrm>
            <a:prstGeom prst="rect">
              <a:avLst/>
            </a:prstGeom>
            <a:solidFill>
              <a:srgbClr val="FF00FF"/>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accent1"/>
                  </a:solidFill>
                </a:rPr>
                <a:t>0</a:t>
              </a:r>
            </a:p>
          </p:txBody>
        </p:sp>
        <p:sp>
          <p:nvSpPr>
            <p:cNvPr id="113684" name="Text Box 60"/>
            <p:cNvSpPr txBox="1">
              <a:spLocks noChangeArrowheads="1"/>
            </p:cNvSpPr>
            <p:nvPr/>
          </p:nvSpPr>
          <p:spPr bwMode="auto">
            <a:xfrm>
              <a:off x="4604" y="3251"/>
              <a:ext cx="725" cy="294"/>
            </a:xfrm>
            <a:prstGeom prst="rect">
              <a:avLst/>
            </a:prstGeom>
            <a:solidFill>
              <a:srgbClr val="FF00FF"/>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accent1"/>
                  </a:solidFill>
                </a:rPr>
                <a:t>0</a:t>
              </a:r>
            </a:p>
          </p:txBody>
        </p:sp>
        <p:sp>
          <p:nvSpPr>
            <p:cNvPr id="113685" name="Text Box 61"/>
            <p:cNvSpPr txBox="1">
              <a:spLocks noChangeArrowheads="1"/>
            </p:cNvSpPr>
            <p:nvPr/>
          </p:nvSpPr>
          <p:spPr bwMode="auto">
            <a:xfrm>
              <a:off x="3878" y="3251"/>
              <a:ext cx="771" cy="294"/>
            </a:xfrm>
            <a:prstGeom prst="rect">
              <a:avLst/>
            </a:prstGeom>
            <a:solidFill>
              <a:srgbClr val="FF00FF"/>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SMOD</a:t>
              </a:r>
            </a:p>
          </p:txBody>
        </p:sp>
        <p:sp>
          <p:nvSpPr>
            <p:cNvPr id="113686" name="Text Box 62"/>
            <p:cNvSpPr txBox="1">
              <a:spLocks noChangeArrowheads="1"/>
            </p:cNvSpPr>
            <p:nvPr/>
          </p:nvSpPr>
          <p:spPr bwMode="auto">
            <a:xfrm>
              <a:off x="1111" y="2933"/>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15</a:t>
              </a:r>
              <a:r>
                <a:rPr lang="zh-CN" altLang="en-US" sz="1800">
                  <a:latin typeface="宋体" panose="02010600030101010101" pitchFamily="2" charset="-122"/>
                </a:rPr>
                <a:t>～</a:t>
              </a:r>
              <a:r>
                <a:rPr lang="en-US" altLang="zh-CN" sz="2400"/>
                <a:t>4</a:t>
              </a:r>
            </a:p>
          </p:txBody>
        </p:sp>
        <p:sp>
          <p:nvSpPr>
            <p:cNvPr id="113687" name="Text Box 63"/>
            <p:cNvSpPr txBox="1">
              <a:spLocks noChangeArrowheads="1"/>
            </p:cNvSpPr>
            <p:nvPr/>
          </p:nvSpPr>
          <p:spPr bwMode="auto">
            <a:xfrm>
              <a:off x="2789" y="2933"/>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3</a:t>
              </a:r>
            </a:p>
          </p:txBody>
        </p:sp>
        <p:sp>
          <p:nvSpPr>
            <p:cNvPr id="113688" name="Text Box 64"/>
            <p:cNvSpPr txBox="1">
              <a:spLocks noChangeArrowheads="1"/>
            </p:cNvSpPr>
            <p:nvPr/>
          </p:nvSpPr>
          <p:spPr bwMode="auto">
            <a:xfrm>
              <a:off x="3469" y="2933"/>
              <a:ext cx="3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2</a:t>
              </a:r>
            </a:p>
          </p:txBody>
        </p:sp>
        <p:sp>
          <p:nvSpPr>
            <p:cNvPr id="113689" name="Text Box 65"/>
            <p:cNvSpPr txBox="1">
              <a:spLocks noChangeArrowheads="1"/>
            </p:cNvSpPr>
            <p:nvPr/>
          </p:nvSpPr>
          <p:spPr bwMode="auto">
            <a:xfrm>
              <a:off x="4862" y="2934"/>
              <a:ext cx="3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0</a:t>
              </a:r>
            </a:p>
          </p:txBody>
        </p:sp>
        <p:sp>
          <p:nvSpPr>
            <p:cNvPr id="113690" name="Text Box 66"/>
            <p:cNvSpPr txBox="1">
              <a:spLocks noChangeArrowheads="1"/>
            </p:cNvSpPr>
            <p:nvPr/>
          </p:nvSpPr>
          <p:spPr bwMode="auto">
            <a:xfrm>
              <a:off x="4128" y="2899"/>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t>1</a:t>
              </a:r>
              <a:r>
                <a:rPr lang="en-US" altLang="zh-CN" sz="2800"/>
                <a:t> </a:t>
              </a:r>
            </a:p>
          </p:txBody>
        </p:sp>
      </p:grpSp>
      <p:sp>
        <p:nvSpPr>
          <p:cNvPr id="113669" name="Text Box 69"/>
          <p:cNvSpPr txBox="1">
            <a:spLocks noChangeArrowheads="1"/>
          </p:cNvSpPr>
          <p:nvPr/>
        </p:nvSpPr>
        <p:spPr bwMode="auto">
          <a:xfrm>
            <a:off x="1476375" y="981075"/>
            <a:ext cx="6696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a:solidFill>
                  <a:srgbClr val="FF0000"/>
                </a:solidFill>
              </a:rPr>
              <a:t>C54x</a:t>
            </a:r>
            <a:r>
              <a:rPr lang="zh-CN" altLang="en-US" sz="3200">
                <a:solidFill>
                  <a:srgbClr val="FF0000"/>
                </a:solidFill>
              </a:rPr>
              <a:t>从</a:t>
            </a:r>
            <a:r>
              <a:rPr lang="en-US" altLang="zh-CN" sz="3200">
                <a:solidFill>
                  <a:srgbClr val="FF0000"/>
                </a:solidFill>
              </a:rPr>
              <a:t>HPIC</a:t>
            </a:r>
            <a:r>
              <a:rPr lang="zh-CN" altLang="en-US" sz="3200">
                <a:solidFill>
                  <a:srgbClr val="FF0000"/>
                </a:solidFill>
              </a:rPr>
              <a:t>寄存器读出的数据</a:t>
            </a:r>
          </a:p>
        </p:txBody>
      </p:sp>
      <p:sp>
        <p:nvSpPr>
          <p:cNvPr id="113670" name="Text Box 70"/>
          <p:cNvSpPr txBox="1">
            <a:spLocks noChangeArrowheads="1"/>
          </p:cNvSpPr>
          <p:nvPr/>
        </p:nvSpPr>
        <p:spPr bwMode="auto">
          <a:xfrm>
            <a:off x="1187450" y="6021388"/>
            <a:ext cx="67325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a:solidFill>
                  <a:srgbClr val="FF0000"/>
                </a:solidFill>
              </a:rPr>
              <a:t>C54x</a:t>
            </a:r>
            <a:r>
              <a:rPr lang="zh-CN" altLang="en-US" sz="3200">
                <a:solidFill>
                  <a:srgbClr val="FF0000"/>
                </a:solidFill>
              </a:rPr>
              <a:t>写入</a:t>
            </a:r>
            <a:r>
              <a:rPr lang="en-US" altLang="zh-CN" sz="3200">
                <a:solidFill>
                  <a:srgbClr val="FF0000"/>
                </a:solidFill>
              </a:rPr>
              <a:t>HPIC</a:t>
            </a:r>
            <a:r>
              <a:rPr lang="zh-CN" altLang="en-US" sz="3200">
                <a:solidFill>
                  <a:srgbClr val="FF0000"/>
                </a:solidFill>
              </a:rPr>
              <a:t>寄存器的数据</a:t>
            </a:r>
          </a:p>
        </p:txBody>
      </p:sp>
      <p:sp>
        <p:nvSpPr>
          <p:cNvPr id="113671" name="AutoShape 72"/>
          <p:cNvSpPr>
            <a:spLocks noChangeArrowheads="1"/>
          </p:cNvSpPr>
          <p:nvPr/>
        </p:nvSpPr>
        <p:spPr bwMode="auto">
          <a:xfrm>
            <a:off x="4572000" y="2924175"/>
            <a:ext cx="4248150" cy="2016125"/>
          </a:xfrm>
          <a:prstGeom prst="wedgeRoundRectCallout">
            <a:avLst>
              <a:gd name="adj1" fmla="val -5417"/>
              <a:gd name="adj2" fmla="val -60394"/>
              <a:gd name="adj3" fmla="val 16667"/>
            </a:avLst>
          </a:prstGeom>
          <a:solidFill>
            <a:srgbClr val="FFFF99"/>
          </a:solid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p>
        </p:txBody>
      </p:sp>
      <p:sp>
        <p:nvSpPr>
          <p:cNvPr id="113672" name="Text Box 73"/>
          <p:cNvSpPr txBox="1">
            <a:spLocks noChangeArrowheads="1"/>
          </p:cNvSpPr>
          <p:nvPr/>
        </p:nvSpPr>
        <p:spPr bwMode="auto">
          <a:xfrm>
            <a:off x="4643438" y="2997200"/>
            <a:ext cx="4176712"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tx2"/>
                </a:solidFill>
              </a:rPr>
              <a:t>寻址方式 选择位。当</a:t>
            </a:r>
            <a:r>
              <a:rPr lang="en-US" altLang="zh-CN">
                <a:solidFill>
                  <a:schemeClr val="tx2"/>
                </a:solidFill>
              </a:rPr>
              <a:t>SMOD=1</a:t>
            </a:r>
            <a:r>
              <a:rPr lang="zh-CN" altLang="en-US">
                <a:solidFill>
                  <a:schemeClr val="tx2"/>
                </a:solidFill>
              </a:rPr>
              <a:t>，为共用寻址方式。当</a:t>
            </a:r>
            <a:r>
              <a:rPr lang="en-US" altLang="zh-CN">
                <a:solidFill>
                  <a:schemeClr val="tx2"/>
                </a:solidFill>
              </a:rPr>
              <a:t>SMOD=0</a:t>
            </a:r>
            <a:r>
              <a:rPr lang="zh-CN" altLang="en-US">
                <a:solidFill>
                  <a:schemeClr val="tx2"/>
                </a:solidFill>
              </a:rPr>
              <a:t>，为仅主机寻址方式， </a:t>
            </a:r>
            <a:r>
              <a:rPr lang="en-US" altLang="zh-CN">
                <a:solidFill>
                  <a:schemeClr val="tx2"/>
                </a:solidFill>
              </a:rPr>
              <a:t>C54x</a:t>
            </a:r>
            <a:r>
              <a:rPr lang="zh-CN" altLang="en-US">
                <a:solidFill>
                  <a:schemeClr val="tx2"/>
                </a:solidFill>
              </a:rPr>
              <a:t>不能寻址</a:t>
            </a:r>
            <a:r>
              <a:rPr lang="en-US" altLang="zh-CN">
                <a:solidFill>
                  <a:schemeClr val="tx2"/>
                </a:solidFill>
              </a:rPr>
              <a:t>HPI</a:t>
            </a:r>
            <a:r>
              <a:rPr lang="zh-CN" altLang="en-US">
                <a:solidFill>
                  <a:schemeClr val="tx2"/>
                </a:solidFill>
              </a:rPr>
              <a:t>的</a:t>
            </a:r>
            <a:r>
              <a:rPr lang="en-US" altLang="zh-CN">
                <a:solidFill>
                  <a:schemeClr val="tx2"/>
                </a:solidFill>
              </a:rPr>
              <a:t>RAM</a:t>
            </a:r>
            <a:r>
              <a:rPr lang="zh-CN" altLang="en-US">
                <a:solidFill>
                  <a:schemeClr val="tx2"/>
                </a:solidFill>
              </a:rPr>
              <a:t>区。</a:t>
            </a:r>
            <a:r>
              <a:rPr lang="en-US" altLang="zh-CN">
                <a:solidFill>
                  <a:schemeClr val="tx2"/>
                </a:solidFill>
              </a:rPr>
              <a:t>C54x</a:t>
            </a:r>
            <a:r>
              <a:rPr lang="zh-CN" altLang="en-US">
                <a:solidFill>
                  <a:schemeClr val="tx2"/>
                </a:solidFill>
              </a:rPr>
              <a:t>复位期间</a:t>
            </a:r>
            <a:r>
              <a:rPr lang="en-US" altLang="zh-CN">
                <a:solidFill>
                  <a:schemeClr val="tx2"/>
                </a:solidFill>
              </a:rPr>
              <a:t>SMOD=0</a:t>
            </a:r>
            <a:r>
              <a:rPr lang="zh-CN" altLang="en-US">
                <a:solidFill>
                  <a:schemeClr val="tx2"/>
                </a:solidFill>
              </a:rPr>
              <a:t>，复位后为</a:t>
            </a:r>
            <a:r>
              <a:rPr lang="en-US" altLang="zh-CN">
                <a:solidFill>
                  <a:schemeClr val="tx2"/>
                </a:solidFill>
              </a:rPr>
              <a:t>1</a:t>
            </a:r>
            <a:r>
              <a:rPr lang="zh-CN" altLang="en-US">
                <a:solidFill>
                  <a:schemeClr val="tx2"/>
                </a:solidFill>
              </a:rPr>
              <a:t>。该位只能由</a:t>
            </a:r>
            <a:r>
              <a:rPr lang="en-US" altLang="zh-CN">
                <a:solidFill>
                  <a:schemeClr val="tx2"/>
                </a:solidFill>
              </a:rPr>
              <a:t>C54x</a:t>
            </a:r>
            <a:r>
              <a:rPr lang="zh-CN" altLang="en-US">
                <a:solidFill>
                  <a:schemeClr val="tx2"/>
                </a:solidFill>
              </a:rPr>
              <a:t>修正，但</a:t>
            </a:r>
            <a:r>
              <a:rPr lang="en-US" altLang="zh-CN">
                <a:solidFill>
                  <a:schemeClr val="tx2"/>
                </a:solidFill>
              </a:rPr>
              <a:t>C54x</a:t>
            </a:r>
            <a:r>
              <a:rPr lang="zh-CN" altLang="en-US">
                <a:solidFill>
                  <a:schemeClr val="tx2"/>
                </a:solidFill>
              </a:rPr>
              <a:t>和主机都可读 。</a:t>
            </a:r>
          </a:p>
        </p:txBody>
      </p:sp>
      <p:sp>
        <p:nvSpPr>
          <p:cNvPr id="113673" name="AutoShape 75"/>
          <p:cNvSpPr>
            <a:spLocks noChangeArrowheads="1"/>
          </p:cNvSpPr>
          <p:nvPr/>
        </p:nvSpPr>
        <p:spPr bwMode="auto">
          <a:xfrm>
            <a:off x="250825" y="2997200"/>
            <a:ext cx="4249738" cy="1871663"/>
          </a:xfrm>
          <a:prstGeom prst="wedgeRoundRectCallout">
            <a:avLst>
              <a:gd name="adj1" fmla="val 48917"/>
              <a:gd name="adj2" fmla="val -70102"/>
              <a:gd name="adj3" fmla="val 16667"/>
            </a:avLst>
          </a:prstGeom>
          <a:solidFill>
            <a:schemeClr val="folHlink"/>
          </a:solidFill>
          <a:ln w="9525">
            <a:solidFill>
              <a:schemeClr val="tx1"/>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p>
        </p:txBody>
      </p:sp>
      <p:sp>
        <p:nvSpPr>
          <p:cNvPr id="113674" name="Text Box 76"/>
          <p:cNvSpPr txBox="1">
            <a:spLocks noChangeArrowheads="1"/>
          </p:cNvSpPr>
          <p:nvPr/>
        </p:nvSpPr>
        <p:spPr bwMode="auto">
          <a:xfrm>
            <a:off x="323850" y="2997200"/>
            <a:ext cx="4249738"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C54x</a:t>
            </a:r>
            <a:r>
              <a:rPr lang="zh-CN" altLang="en-US">
                <a:solidFill>
                  <a:schemeClr val="bg1"/>
                </a:solidFill>
              </a:rPr>
              <a:t>向主机发中断位。复位后为</a:t>
            </a:r>
            <a:r>
              <a:rPr lang="en-US" altLang="zh-CN">
                <a:solidFill>
                  <a:schemeClr val="bg1"/>
                </a:solidFill>
              </a:rPr>
              <a:t>0</a:t>
            </a:r>
            <a:r>
              <a:rPr lang="zh-CN" altLang="en-US">
                <a:solidFill>
                  <a:schemeClr val="bg1"/>
                </a:solidFill>
              </a:rPr>
              <a:t>，外部</a:t>
            </a:r>
            <a:r>
              <a:rPr lang="en-US" altLang="zh-CN">
                <a:solidFill>
                  <a:schemeClr val="bg1"/>
                </a:solidFill>
              </a:rPr>
              <a:t>HINT</a:t>
            </a:r>
            <a:r>
              <a:rPr lang="zh-CN" altLang="en-US">
                <a:solidFill>
                  <a:schemeClr val="bg1"/>
                </a:solidFill>
              </a:rPr>
              <a:t>输出端为高电平无效。它只能</a:t>
            </a:r>
            <a:r>
              <a:rPr lang="en-US" altLang="zh-CN">
                <a:solidFill>
                  <a:schemeClr val="bg1"/>
                </a:solidFill>
              </a:rPr>
              <a:t>C54x</a:t>
            </a:r>
            <a:r>
              <a:rPr lang="zh-CN" altLang="en-US">
                <a:solidFill>
                  <a:schemeClr val="bg1"/>
                </a:solidFill>
              </a:rPr>
              <a:t>置位，且只能由主机将其复位。当外部引脚</a:t>
            </a:r>
            <a:r>
              <a:rPr lang="en-US" altLang="zh-CN">
                <a:solidFill>
                  <a:schemeClr val="bg1"/>
                </a:solidFill>
              </a:rPr>
              <a:t>HINT</a:t>
            </a:r>
            <a:r>
              <a:rPr lang="zh-CN" altLang="en-US">
                <a:solidFill>
                  <a:schemeClr val="bg1"/>
                </a:solidFill>
              </a:rPr>
              <a:t>为高电平时， </a:t>
            </a:r>
            <a:r>
              <a:rPr lang="en-US" altLang="zh-CN">
                <a:solidFill>
                  <a:schemeClr val="bg1"/>
                </a:solidFill>
              </a:rPr>
              <a:t>C54x</a:t>
            </a:r>
            <a:r>
              <a:rPr lang="zh-CN" altLang="en-US">
                <a:solidFill>
                  <a:schemeClr val="bg1"/>
                </a:solidFill>
              </a:rPr>
              <a:t>和主机读</a:t>
            </a:r>
            <a:r>
              <a:rPr lang="en-US" altLang="zh-CN">
                <a:solidFill>
                  <a:schemeClr val="bg1"/>
                </a:solidFill>
              </a:rPr>
              <a:t>HINT</a:t>
            </a:r>
            <a:r>
              <a:rPr lang="zh-CN" altLang="en-US">
                <a:solidFill>
                  <a:schemeClr val="bg1"/>
                </a:solidFill>
              </a:rPr>
              <a:t>位值为</a:t>
            </a:r>
            <a:r>
              <a:rPr lang="en-US" altLang="zh-CN">
                <a:solidFill>
                  <a:schemeClr val="bg1"/>
                </a:solidFill>
              </a:rPr>
              <a:t>0</a:t>
            </a:r>
            <a:r>
              <a:rPr lang="zh-CN" altLang="en-US">
                <a:solidFill>
                  <a:schemeClr val="bg1"/>
                </a:solidFill>
              </a:rPr>
              <a:t>；当引脚为有效低电平时，读为</a:t>
            </a:r>
            <a:r>
              <a:rPr lang="en-US" altLang="zh-CN">
                <a:solidFill>
                  <a:schemeClr val="bg1"/>
                </a:solidFill>
              </a:rPr>
              <a:t>1 </a:t>
            </a:r>
            <a:r>
              <a:rPr lang="zh-CN" altLang="en-US">
                <a:solidFill>
                  <a:schemeClr val="bg1"/>
                </a:solidFill>
              </a:rPr>
              <a:t>。</a:t>
            </a:r>
          </a:p>
        </p:txBody>
      </p:sp>
      <p:sp>
        <p:nvSpPr>
          <p:cNvPr id="113675" name="Line 79"/>
          <p:cNvSpPr>
            <a:spLocks noChangeShapeType="1"/>
          </p:cNvSpPr>
          <p:nvPr/>
        </p:nvSpPr>
        <p:spPr bwMode="auto">
          <a:xfrm>
            <a:off x="971550" y="3355975"/>
            <a:ext cx="576263" cy="0"/>
          </a:xfrm>
          <a:prstGeom prst="line">
            <a:avLst/>
          </a:prstGeom>
          <a:noFill/>
          <a:ln w="952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3676" name="Line 80"/>
          <p:cNvSpPr>
            <a:spLocks noChangeShapeType="1"/>
          </p:cNvSpPr>
          <p:nvPr/>
        </p:nvSpPr>
        <p:spPr bwMode="auto">
          <a:xfrm>
            <a:off x="2476500" y="3973513"/>
            <a:ext cx="576263" cy="0"/>
          </a:xfrm>
          <a:prstGeom prst="line">
            <a:avLst/>
          </a:prstGeom>
          <a:noFill/>
          <a:ln w="952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3677" name="Rectangle 81"/>
          <p:cNvSpPr>
            <a:spLocks noChangeArrowheads="1"/>
          </p:cNvSpPr>
          <p:nvPr/>
        </p:nvSpPr>
        <p:spPr bwMode="auto">
          <a:xfrm>
            <a:off x="4427538" y="242093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chemeClr val="tx2"/>
                </a:solidFill>
              </a:rPr>
              <a:t>R/W</a:t>
            </a:r>
          </a:p>
        </p:txBody>
      </p:sp>
      <p:sp>
        <p:nvSpPr>
          <p:cNvPr id="113678" name="Rectangle 82"/>
          <p:cNvSpPr>
            <a:spLocks noChangeArrowheads="1"/>
          </p:cNvSpPr>
          <p:nvPr/>
        </p:nvSpPr>
        <p:spPr bwMode="auto">
          <a:xfrm>
            <a:off x="4427538" y="573405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chemeClr val="tx2"/>
                </a:solidFill>
              </a:rPr>
              <a:t>R/W</a:t>
            </a:r>
          </a:p>
        </p:txBody>
      </p:sp>
      <p:sp>
        <p:nvSpPr>
          <p:cNvPr id="113679" name="Rectangle 83"/>
          <p:cNvSpPr>
            <a:spLocks noChangeArrowheads="1"/>
          </p:cNvSpPr>
          <p:nvPr/>
        </p:nvSpPr>
        <p:spPr bwMode="auto">
          <a:xfrm>
            <a:off x="6588125" y="242093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chemeClr val="tx2"/>
                </a:solidFill>
              </a:rPr>
              <a:t>R/W</a:t>
            </a:r>
          </a:p>
        </p:txBody>
      </p:sp>
      <p:sp>
        <p:nvSpPr>
          <p:cNvPr id="113680" name="Rectangle 84"/>
          <p:cNvSpPr>
            <a:spLocks noChangeArrowheads="1"/>
          </p:cNvSpPr>
          <p:nvPr/>
        </p:nvSpPr>
        <p:spPr bwMode="auto">
          <a:xfrm>
            <a:off x="6588125" y="573405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solidFill>
                  <a:schemeClr val="tx2"/>
                </a:solidFill>
              </a:rPr>
              <a:t>R/W</a:t>
            </a:r>
          </a:p>
        </p:txBody>
      </p:sp>
    </p:spTree>
  </p:cSld>
  <p:clrMapOvr>
    <a:masterClrMapping/>
  </p:clrMapOvr>
  <p:transition spd="med">
    <p:pull dir="lu"/>
  </p:transition>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2" descr="小棋盘"/>
          <p:cNvSpPr>
            <a:spLocks noGrp="1" noChangeArrowheads="1"/>
          </p:cNvSpPr>
          <p:nvPr>
            <p:ph idx="1"/>
          </p:nvPr>
        </p:nvSpPr>
        <p:spPr bwMode="auto">
          <a:xfrm>
            <a:off x="2362200" y="990600"/>
            <a:ext cx="3886200" cy="609600"/>
          </a:xfrm>
          <a:pattFill prst="smCheck">
            <a:fgClr>
              <a:srgbClr val="FFFF00"/>
            </a:fgClr>
            <a:bgClr>
              <a:srgbClr val="FFFFFF"/>
            </a:bgClr>
          </a:pattFill>
          <a:ln>
            <a:solidFill>
              <a:schemeClr val="folHlink"/>
            </a:solid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FontTx/>
              <a:buNone/>
            </a:pPr>
            <a:r>
              <a:rPr lang="zh-CN" altLang="en-US" sz="3600" b="1">
                <a:solidFill>
                  <a:srgbClr val="FF0066"/>
                </a:solidFill>
              </a:rPr>
              <a:t>对</a:t>
            </a:r>
            <a:r>
              <a:rPr lang="en-US" altLang="zh-CN" sz="3600" b="1">
                <a:solidFill>
                  <a:srgbClr val="FF0066"/>
                </a:solidFill>
              </a:rPr>
              <a:t>HPI</a:t>
            </a:r>
            <a:r>
              <a:rPr lang="zh-CN" altLang="en-US" sz="3600" b="1">
                <a:solidFill>
                  <a:srgbClr val="FF0066"/>
                </a:solidFill>
              </a:rPr>
              <a:t>的寻址过程</a:t>
            </a:r>
            <a:r>
              <a:rPr lang="zh-CN" altLang="en-US" sz="2800" b="1">
                <a:solidFill>
                  <a:srgbClr val="FF0066"/>
                </a:solidFill>
              </a:rPr>
              <a:t> </a:t>
            </a:r>
          </a:p>
        </p:txBody>
      </p:sp>
      <p:sp>
        <p:nvSpPr>
          <p:cNvPr id="11469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5BFD3EF-76E0-4589-8F9B-9FCB2390CD94}" type="slidenum">
              <a:rPr lang="en-US" altLang="zh-CN" sz="1400" b="0"/>
              <a:pPr eaLnBrk="1" hangingPunct="1"/>
              <a:t>101</a:t>
            </a:fld>
            <a:endParaRPr lang="en-US" altLang="zh-CN" sz="1400" b="0"/>
          </a:p>
        </p:txBody>
      </p:sp>
      <p:sp>
        <p:nvSpPr>
          <p:cNvPr id="114692" name="Rectangle 3"/>
          <p:cNvSpPr>
            <a:spLocks noChangeArrowheads="1"/>
          </p:cNvSpPr>
          <p:nvPr/>
        </p:nvSpPr>
        <p:spPr bwMode="auto">
          <a:xfrm>
            <a:off x="228600" y="1530350"/>
            <a:ext cx="86868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a:latin typeface="宋体" panose="02010600030101010101" pitchFamily="2" charset="-122"/>
              </a:rPr>
              <a:t>主机先通过</a:t>
            </a:r>
            <a:r>
              <a:rPr lang="en-US" altLang="zh-CN" sz="2800">
                <a:latin typeface="宋体" panose="02010600030101010101" pitchFamily="2" charset="-122"/>
              </a:rPr>
              <a:t>HCNTL0</a:t>
            </a:r>
            <a:r>
              <a:rPr lang="zh-CN" altLang="en-US" sz="2800">
                <a:latin typeface="宋体" panose="02010600030101010101" pitchFamily="2" charset="-122"/>
              </a:rPr>
              <a:t>、</a:t>
            </a:r>
            <a:r>
              <a:rPr lang="en-US" altLang="zh-CN" sz="2800">
                <a:latin typeface="宋体" panose="02010600030101010101" pitchFamily="2" charset="-122"/>
              </a:rPr>
              <a:t>HCNTL1</a:t>
            </a:r>
            <a:r>
              <a:rPr lang="zh-CN" altLang="en-US" sz="2800">
                <a:latin typeface="宋体" panose="02010600030101010101" pitchFamily="2" charset="-122"/>
              </a:rPr>
              <a:t>决定将数据总线</a:t>
            </a:r>
            <a:r>
              <a:rPr lang="en-US" altLang="zh-CN" sz="2800">
                <a:latin typeface="宋体" panose="02010600030101010101" pitchFamily="2" charset="-122"/>
              </a:rPr>
              <a:t>HD0</a:t>
            </a:r>
            <a:r>
              <a:rPr lang="en-US" altLang="zh-CN" sz="2800">
                <a:cs typeface="Times New Roman" panose="02020603050405020304" pitchFamily="18" charset="0"/>
              </a:rPr>
              <a:t>~</a:t>
            </a:r>
            <a:r>
              <a:rPr lang="en-US" altLang="zh-CN" sz="2800">
                <a:latin typeface="宋体" panose="02010600030101010101" pitchFamily="2" charset="-122"/>
              </a:rPr>
              <a:t>HD7</a:t>
            </a:r>
            <a:r>
              <a:rPr lang="zh-CN" altLang="en-US" sz="2800">
                <a:latin typeface="宋体" panose="02010600030101010101" pitchFamily="2" charset="-122"/>
              </a:rPr>
              <a:t>上的数据送</a:t>
            </a:r>
            <a:r>
              <a:rPr lang="en-US" altLang="zh-CN" sz="2800">
                <a:latin typeface="宋体" panose="02010600030101010101" pitchFamily="2" charset="-122"/>
              </a:rPr>
              <a:t>HPIA</a:t>
            </a:r>
            <a:r>
              <a:rPr lang="zh-CN" altLang="en-US" sz="2800">
                <a:latin typeface="宋体" panose="02010600030101010101" pitchFamily="2" charset="-122"/>
              </a:rPr>
              <a:t>还是</a:t>
            </a:r>
            <a:r>
              <a:rPr lang="en-US" altLang="zh-CN" sz="2800">
                <a:latin typeface="宋体" panose="02010600030101010101" pitchFamily="2" charset="-122"/>
              </a:rPr>
              <a:t>HPID</a:t>
            </a:r>
            <a:r>
              <a:rPr lang="zh-CN" altLang="en-US" sz="2800">
                <a:latin typeface="宋体" panose="02010600030101010101" pitchFamily="2" charset="-122"/>
              </a:rPr>
              <a:t>或</a:t>
            </a:r>
            <a:r>
              <a:rPr lang="en-US" altLang="zh-CN" sz="2800">
                <a:latin typeface="宋体" panose="02010600030101010101" pitchFamily="2" charset="-122"/>
              </a:rPr>
              <a:t>HPIC</a:t>
            </a:r>
            <a:r>
              <a:rPr lang="zh-CN" altLang="en-US" sz="2800">
                <a:latin typeface="宋体" panose="02010600030101010101" pitchFamily="2" charset="-122"/>
              </a:rPr>
              <a:t>。</a:t>
            </a:r>
            <a:r>
              <a:rPr lang="zh-CN" altLang="en-US" sz="2800">
                <a:solidFill>
                  <a:schemeClr val="tx2"/>
                </a:solidFill>
                <a:latin typeface="宋体" panose="02010600030101010101" pitchFamily="2" charset="-122"/>
              </a:rPr>
              <a:t>①最初由</a:t>
            </a:r>
            <a:r>
              <a:rPr lang="en-US" altLang="zh-CN" sz="2800">
                <a:solidFill>
                  <a:schemeClr val="tx2"/>
                </a:solidFill>
                <a:latin typeface="宋体" panose="02010600030101010101" pitchFamily="2" charset="-122"/>
              </a:rPr>
              <a:t>HCNTL0</a:t>
            </a:r>
            <a:r>
              <a:rPr lang="zh-CN" altLang="en-US" sz="2800">
                <a:solidFill>
                  <a:schemeClr val="tx2"/>
                </a:solidFill>
                <a:latin typeface="宋体" panose="02010600030101010101" pitchFamily="2" charset="-122"/>
              </a:rPr>
              <a:t>、</a:t>
            </a:r>
            <a:r>
              <a:rPr lang="en-US" altLang="zh-CN" sz="2800">
                <a:solidFill>
                  <a:schemeClr val="tx2"/>
                </a:solidFill>
                <a:latin typeface="宋体" panose="02010600030101010101" pitchFamily="2" charset="-122"/>
              </a:rPr>
              <a:t>HCNTL1=00</a:t>
            </a:r>
            <a:r>
              <a:rPr lang="zh-CN" altLang="en-US" sz="2800">
                <a:solidFill>
                  <a:schemeClr val="tx2"/>
                </a:solidFill>
                <a:latin typeface="宋体" panose="02010600030101010101" pitchFamily="2" charset="-122"/>
              </a:rPr>
              <a:t>确定将数据送</a:t>
            </a:r>
            <a:r>
              <a:rPr lang="en-US" altLang="zh-CN" sz="2800">
                <a:solidFill>
                  <a:schemeClr val="tx2"/>
                </a:solidFill>
                <a:latin typeface="宋体" panose="02010600030101010101" pitchFamily="2" charset="-122"/>
              </a:rPr>
              <a:t>HPIC</a:t>
            </a:r>
            <a:r>
              <a:rPr lang="zh-CN" altLang="en-US" sz="2800">
                <a:solidFill>
                  <a:schemeClr val="tx2"/>
                </a:solidFill>
                <a:latin typeface="宋体" panose="02010600030101010101" pitchFamily="2" charset="-122"/>
              </a:rPr>
              <a:t>，以便确定对</a:t>
            </a:r>
            <a:r>
              <a:rPr lang="en-US" altLang="zh-CN" sz="2800">
                <a:solidFill>
                  <a:schemeClr val="tx2"/>
                </a:solidFill>
                <a:latin typeface="宋体" panose="02010600030101010101" pitchFamily="2" charset="-122"/>
              </a:rPr>
              <a:t>HPI</a:t>
            </a:r>
            <a:r>
              <a:rPr lang="zh-CN" altLang="en-US" sz="2800">
                <a:solidFill>
                  <a:schemeClr val="tx2"/>
                </a:solidFill>
                <a:latin typeface="宋体" panose="02010600030101010101" pitchFamily="2" charset="-122"/>
              </a:rPr>
              <a:t>的控制与传送方式；</a:t>
            </a:r>
            <a:r>
              <a:rPr lang="zh-CN" altLang="en-US" sz="2800">
                <a:latin typeface="宋体" panose="02010600030101010101" pitchFamily="2" charset="-122"/>
              </a:rPr>
              <a:t> </a:t>
            </a:r>
            <a:r>
              <a:rPr lang="zh-CN" altLang="en-US" sz="2800">
                <a:solidFill>
                  <a:schemeClr val="folHlink"/>
                </a:solidFill>
                <a:latin typeface="宋体" panose="02010600030101010101" pitchFamily="2" charset="-122"/>
              </a:rPr>
              <a:t>②然后设</a:t>
            </a:r>
            <a:r>
              <a:rPr lang="en-US" altLang="zh-CN" sz="2800">
                <a:solidFill>
                  <a:schemeClr val="folHlink"/>
                </a:solidFill>
                <a:latin typeface="宋体" panose="02010600030101010101" pitchFamily="2" charset="-122"/>
              </a:rPr>
              <a:t>HCNTL0</a:t>
            </a:r>
            <a:r>
              <a:rPr lang="zh-CN" altLang="en-US" sz="2800">
                <a:solidFill>
                  <a:schemeClr val="folHlink"/>
                </a:solidFill>
                <a:latin typeface="宋体" panose="02010600030101010101" pitchFamily="2" charset="-122"/>
              </a:rPr>
              <a:t>、</a:t>
            </a:r>
            <a:r>
              <a:rPr lang="en-US" altLang="zh-CN" sz="2800">
                <a:solidFill>
                  <a:schemeClr val="folHlink"/>
                </a:solidFill>
                <a:latin typeface="宋体" panose="02010600030101010101" pitchFamily="2" charset="-122"/>
              </a:rPr>
              <a:t>HCNTL1=10</a:t>
            </a:r>
            <a:r>
              <a:rPr lang="zh-CN" altLang="en-US" sz="2800">
                <a:solidFill>
                  <a:schemeClr val="folHlink"/>
                </a:solidFill>
                <a:latin typeface="宋体" panose="02010600030101010101" pitchFamily="2" charset="-122"/>
              </a:rPr>
              <a:t>，将数据送</a:t>
            </a:r>
            <a:r>
              <a:rPr lang="en-US" altLang="zh-CN" sz="2800">
                <a:solidFill>
                  <a:schemeClr val="folHlink"/>
                </a:solidFill>
                <a:latin typeface="宋体" panose="02010600030101010101" pitchFamily="2" charset="-122"/>
              </a:rPr>
              <a:t>HPIA</a:t>
            </a:r>
            <a:r>
              <a:rPr lang="zh-CN" altLang="en-US" sz="2800">
                <a:solidFill>
                  <a:schemeClr val="folHlink"/>
                </a:solidFill>
                <a:latin typeface="宋体" panose="02010600030101010101" pitchFamily="2" charset="-122"/>
              </a:rPr>
              <a:t>确定对</a:t>
            </a:r>
            <a:r>
              <a:rPr lang="en-US" altLang="zh-CN" sz="2800">
                <a:solidFill>
                  <a:schemeClr val="folHlink"/>
                </a:solidFill>
                <a:latin typeface="宋体" panose="02010600030101010101" pitchFamily="2" charset="-122"/>
              </a:rPr>
              <a:t>HPIA</a:t>
            </a:r>
            <a:r>
              <a:rPr lang="zh-CN" altLang="en-US" sz="2800">
                <a:solidFill>
                  <a:schemeClr val="folHlink"/>
                </a:solidFill>
                <a:latin typeface="宋体" panose="02010600030101010101" pitchFamily="2" charset="-122"/>
              </a:rPr>
              <a:t>寻址的首地址。</a:t>
            </a:r>
            <a:r>
              <a:rPr lang="zh-CN" altLang="en-US" sz="2800">
                <a:latin typeface="宋体" panose="02010600030101010101" pitchFamily="2" charset="-122"/>
              </a:rPr>
              <a:t> </a:t>
            </a:r>
            <a:r>
              <a:rPr lang="zh-CN" altLang="en-US" sz="2800">
                <a:solidFill>
                  <a:srgbClr val="CC3300"/>
                </a:solidFill>
                <a:latin typeface="宋体" panose="02010600030101010101" pitchFamily="2" charset="-122"/>
              </a:rPr>
              <a:t>③再将</a:t>
            </a:r>
            <a:r>
              <a:rPr lang="en-US" altLang="zh-CN" sz="2800">
                <a:solidFill>
                  <a:srgbClr val="CC3300"/>
                </a:solidFill>
                <a:latin typeface="宋体" panose="02010600030101010101" pitchFamily="2" charset="-122"/>
              </a:rPr>
              <a:t>HCNTL0</a:t>
            </a:r>
            <a:r>
              <a:rPr lang="zh-CN" altLang="en-US" sz="2800">
                <a:solidFill>
                  <a:srgbClr val="CC3300"/>
                </a:solidFill>
                <a:latin typeface="宋体" panose="02010600030101010101" pitchFamily="2" charset="-122"/>
              </a:rPr>
              <a:t>、</a:t>
            </a:r>
            <a:r>
              <a:rPr lang="en-US" altLang="zh-CN" sz="2800">
                <a:solidFill>
                  <a:srgbClr val="CC3300"/>
                </a:solidFill>
                <a:latin typeface="宋体" panose="02010600030101010101" pitchFamily="2" charset="-122"/>
              </a:rPr>
              <a:t>HCNTL1=11</a:t>
            </a:r>
            <a:r>
              <a:rPr lang="zh-CN" altLang="en-US" sz="2800">
                <a:solidFill>
                  <a:srgbClr val="CC3300"/>
                </a:solidFill>
                <a:latin typeface="宋体" panose="02010600030101010101" pitchFamily="2" charset="-122"/>
              </a:rPr>
              <a:t>，然后将数据经</a:t>
            </a:r>
            <a:r>
              <a:rPr lang="en-US" altLang="zh-CN" sz="2800">
                <a:solidFill>
                  <a:srgbClr val="CC3300"/>
                </a:solidFill>
                <a:latin typeface="宋体" panose="02010600030101010101" pitchFamily="2" charset="-122"/>
              </a:rPr>
              <a:t>HPID</a:t>
            </a:r>
            <a:r>
              <a:rPr lang="zh-CN" altLang="en-US" sz="2800">
                <a:solidFill>
                  <a:srgbClr val="CC3300"/>
                </a:solidFill>
                <a:latin typeface="宋体" panose="02010600030101010101" pitchFamily="2" charset="-122"/>
              </a:rPr>
              <a:t>送往由</a:t>
            </a:r>
            <a:r>
              <a:rPr lang="en-US" altLang="zh-CN" sz="2800">
                <a:solidFill>
                  <a:srgbClr val="CC3300"/>
                </a:solidFill>
                <a:latin typeface="宋体" panose="02010600030101010101" pitchFamily="2" charset="-122"/>
              </a:rPr>
              <a:t>HPIA</a:t>
            </a:r>
            <a:r>
              <a:rPr lang="zh-CN" altLang="en-US" sz="2800">
                <a:solidFill>
                  <a:srgbClr val="CC3300"/>
                </a:solidFill>
                <a:latin typeface="宋体" panose="02010600030101010101" pitchFamily="2" charset="-122"/>
              </a:rPr>
              <a:t>指定的在</a:t>
            </a:r>
            <a:r>
              <a:rPr lang="en-US" altLang="zh-CN" sz="2800">
                <a:solidFill>
                  <a:srgbClr val="CC3300"/>
                </a:solidFill>
                <a:latin typeface="宋体" panose="02010600030101010101" pitchFamily="2" charset="-122"/>
              </a:rPr>
              <a:t>DARAM</a:t>
            </a:r>
            <a:r>
              <a:rPr lang="zh-CN" altLang="en-US" sz="2800">
                <a:solidFill>
                  <a:srgbClr val="CC3300"/>
                </a:solidFill>
                <a:latin typeface="宋体" panose="02010600030101010101" pitchFamily="2" charset="-122"/>
              </a:rPr>
              <a:t>首地址，通过</a:t>
            </a:r>
            <a:r>
              <a:rPr lang="en-US" altLang="zh-CN" sz="2800">
                <a:solidFill>
                  <a:srgbClr val="CC3300"/>
                </a:solidFill>
                <a:latin typeface="宋体" panose="02010600030101010101" pitchFamily="2" charset="-122"/>
              </a:rPr>
              <a:t>HBIL=0</a:t>
            </a:r>
            <a:r>
              <a:rPr lang="zh-CN" altLang="en-US" sz="2800">
                <a:solidFill>
                  <a:srgbClr val="CC3300"/>
                </a:solidFill>
                <a:latin typeface="宋体" panose="02010600030101010101" pitchFamily="2" charset="-122"/>
              </a:rPr>
              <a:t>地址线确定传送的是</a:t>
            </a:r>
            <a:r>
              <a:rPr lang="en-US" altLang="zh-CN" sz="2800">
                <a:solidFill>
                  <a:srgbClr val="CC3300"/>
                </a:solidFill>
                <a:latin typeface="宋体" panose="02010600030101010101" pitchFamily="2" charset="-122"/>
              </a:rPr>
              <a:t>1</a:t>
            </a:r>
            <a:r>
              <a:rPr lang="zh-CN" altLang="en-US" sz="2800">
                <a:solidFill>
                  <a:srgbClr val="CC3300"/>
                </a:solidFill>
                <a:latin typeface="宋体" panose="02010600030101010101" pitchFamily="2" charset="-122"/>
              </a:rPr>
              <a:t>字节，或由</a:t>
            </a:r>
            <a:r>
              <a:rPr lang="en-US" altLang="zh-CN" sz="2800">
                <a:solidFill>
                  <a:srgbClr val="CC3300"/>
                </a:solidFill>
                <a:latin typeface="宋体" panose="02010600030101010101" pitchFamily="2" charset="-122"/>
              </a:rPr>
              <a:t>HBIL=1</a:t>
            </a:r>
            <a:r>
              <a:rPr lang="zh-CN" altLang="en-US" sz="2800">
                <a:solidFill>
                  <a:srgbClr val="CC3300"/>
                </a:solidFill>
                <a:latin typeface="宋体" panose="02010600030101010101" pitchFamily="2" charset="-122"/>
              </a:rPr>
              <a:t>确定是</a:t>
            </a:r>
            <a:r>
              <a:rPr lang="en-US" altLang="zh-CN" sz="2800">
                <a:solidFill>
                  <a:srgbClr val="CC3300"/>
                </a:solidFill>
                <a:latin typeface="宋体" panose="02010600030101010101" pitchFamily="2" charset="-122"/>
              </a:rPr>
              <a:t>2</a:t>
            </a:r>
            <a:r>
              <a:rPr lang="zh-CN" altLang="en-US" sz="2800">
                <a:solidFill>
                  <a:srgbClr val="CC3300"/>
                </a:solidFill>
                <a:latin typeface="宋体" panose="02010600030101010101" pitchFamily="2" charset="-122"/>
              </a:rPr>
              <a:t>字节。</a:t>
            </a:r>
            <a:r>
              <a:rPr lang="zh-CN" altLang="en-US" sz="2800">
                <a:solidFill>
                  <a:srgbClr val="FF00FF"/>
                </a:solidFill>
                <a:latin typeface="宋体" panose="02010600030101010101" pitchFamily="2" charset="-122"/>
              </a:rPr>
              <a:t>④再由</a:t>
            </a:r>
            <a:r>
              <a:rPr lang="en-US" altLang="zh-CN" sz="2800">
                <a:solidFill>
                  <a:srgbClr val="FF00FF"/>
                </a:solidFill>
                <a:latin typeface="宋体" panose="02010600030101010101" pitchFamily="2" charset="-122"/>
              </a:rPr>
              <a:t>HPIC</a:t>
            </a:r>
            <a:r>
              <a:rPr lang="zh-CN" altLang="en-US" sz="2800">
                <a:solidFill>
                  <a:srgbClr val="FF00FF"/>
                </a:solidFill>
                <a:latin typeface="宋体" panose="02010600030101010101" pitchFamily="2" charset="-122"/>
              </a:rPr>
              <a:t>中的</a:t>
            </a:r>
            <a:r>
              <a:rPr lang="en-US" altLang="zh-CN" sz="2800">
                <a:solidFill>
                  <a:srgbClr val="FF00FF"/>
                </a:solidFill>
                <a:latin typeface="宋体" panose="02010600030101010101" pitchFamily="2" charset="-122"/>
              </a:rPr>
              <a:t>BOB=0</a:t>
            </a:r>
            <a:r>
              <a:rPr lang="zh-CN" altLang="en-US" sz="2800">
                <a:solidFill>
                  <a:srgbClr val="FF00FF"/>
                </a:solidFill>
                <a:latin typeface="宋体" panose="02010600030101010101" pitchFamily="2" charset="-122"/>
              </a:rPr>
              <a:t>位确定当前传送的是高字节，或由</a:t>
            </a:r>
            <a:r>
              <a:rPr lang="en-US" altLang="zh-CN" sz="2800">
                <a:solidFill>
                  <a:srgbClr val="FF00FF"/>
                </a:solidFill>
                <a:latin typeface="宋体" panose="02010600030101010101" pitchFamily="2" charset="-122"/>
              </a:rPr>
              <a:t>BOB=1</a:t>
            </a:r>
            <a:r>
              <a:rPr lang="zh-CN" altLang="en-US" sz="2800">
                <a:solidFill>
                  <a:srgbClr val="FF00FF"/>
                </a:solidFill>
                <a:latin typeface="宋体" panose="02010600030101010101" pitchFamily="2" charset="-122"/>
              </a:rPr>
              <a:t>确定是低字节。</a:t>
            </a:r>
            <a:r>
              <a:rPr lang="zh-CN" altLang="en-US" sz="2800">
                <a:solidFill>
                  <a:srgbClr val="660066"/>
                </a:solidFill>
                <a:latin typeface="宋体" panose="02010600030101010101" pitchFamily="2" charset="-122"/>
              </a:rPr>
              <a:t>⑤由</a:t>
            </a:r>
            <a:r>
              <a:rPr lang="en-US" altLang="zh-CN" sz="2800">
                <a:solidFill>
                  <a:srgbClr val="660066"/>
                </a:solidFill>
                <a:latin typeface="宋体" panose="02010600030101010101" pitchFamily="2" charset="-122"/>
              </a:rPr>
              <a:t>HR/W=1</a:t>
            </a:r>
            <a:r>
              <a:rPr lang="zh-CN" altLang="en-US" sz="2800">
                <a:solidFill>
                  <a:srgbClr val="660066"/>
                </a:solidFill>
                <a:latin typeface="宋体" panose="02010600030101010101" pitchFamily="2" charset="-122"/>
              </a:rPr>
              <a:t>控制对</a:t>
            </a:r>
            <a:r>
              <a:rPr lang="en-US" altLang="zh-CN" sz="2800">
                <a:solidFill>
                  <a:srgbClr val="660066"/>
                </a:solidFill>
                <a:latin typeface="宋体" panose="02010600030101010101" pitchFamily="2" charset="-122"/>
              </a:rPr>
              <a:t>HPI</a:t>
            </a:r>
            <a:r>
              <a:rPr lang="zh-CN" altLang="en-US" sz="2800">
                <a:solidFill>
                  <a:srgbClr val="660066"/>
                </a:solidFill>
                <a:latin typeface="宋体" panose="02010600030101010101" pitchFamily="2" charset="-122"/>
              </a:rPr>
              <a:t>读后地址加</a:t>
            </a:r>
            <a:r>
              <a:rPr lang="en-US" altLang="zh-CN" sz="2800">
                <a:solidFill>
                  <a:srgbClr val="660066"/>
                </a:solidFill>
                <a:latin typeface="宋体" panose="02010600030101010101" pitchFamily="2" charset="-122"/>
              </a:rPr>
              <a:t>1</a:t>
            </a:r>
            <a:r>
              <a:rPr lang="zh-CN" altLang="en-US" sz="2800">
                <a:solidFill>
                  <a:srgbClr val="660066"/>
                </a:solidFill>
                <a:latin typeface="宋体" panose="02010600030101010101" pitchFamily="2" charset="-122"/>
              </a:rPr>
              <a:t>，</a:t>
            </a:r>
            <a:r>
              <a:rPr lang="en-US" altLang="zh-CN" sz="2800">
                <a:solidFill>
                  <a:srgbClr val="660066"/>
                </a:solidFill>
                <a:latin typeface="宋体" panose="02010600030101010101" pitchFamily="2" charset="-122"/>
              </a:rPr>
              <a:t>HR/W=0</a:t>
            </a:r>
            <a:r>
              <a:rPr lang="zh-CN" altLang="en-US" sz="2800">
                <a:solidFill>
                  <a:srgbClr val="660066"/>
                </a:solidFill>
                <a:latin typeface="宋体" panose="02010600030101010101" pitchFamily="2" charset="-122"/>
              </a:rPr>
              <a:t>写前加</a:t>
            </a:r>
            <a:r>
              <a:rPr lang="en-US" altLang="zh-CN" sz="2800">
                <a:solidFill>
                  <a:srgbClr val="660066"/>
                </a:solidFill>
                <a:latin typeface="宋体" panose="02010600030101010101" pitchFamily="2" charset="-122"/>
              </a:rPr>
              <a:t>1</a:t>
            </a:r>
            <a:r>
              <a:rPr lang="zh-CN" altLang="en-US" sz="2800">
                <a:solidFill>
                  <a:srgbClr val="660066"/>
                </a:solidFill>
                <a:latin typeface="宋体" panose="02010600030101010101" pitchFamily="2" charset="-122"/>
              </a:rPr>
              <a:t>。</a:t>
            </a:r>
            <a:r>
              <a:rPr lang="zh-CN" altLang="en-US" sz="2800">
                <a:latin typeface="宋体" panose="02010600030101010101" pitchFamily="2" charset="-122"/>
              </a:rPr>
              <a:t>由于开始传送数据后不用再传地址，传送数据速度可以快，即实现</a:t>
            </a:r>
            <a:r>
              <a:rPr lang="en-US" altLang="zh-CN" sz="2800">
                <a:latin typeface="宋体" panose="02010600030101010101" pitchFamily="2" charset="-122"/>
              </a:rPr>
              <a:t>DMA</a:t>
            </a:r>
            <a:r>
              <a:rPr lang="zh-CN" altLang="en-US" sz="2800">
                <a:latin typeface="宋体" panose="02010600030101010101" pitchFamily="2" charset="-122"/>
              </a:rPr>
              <a:t>传送。</a:t>
            </a:r>
          </a:p>
        </p:txBody>
      </p:sp>
    </p:spTree>
  </p:cSld>
  <p:clrMapOvr>
    <a:masterClrMapping/>
  </p:clrMapOvr>
  <p:transition spd="med">
    <p:pull dir="lu"/>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DCD3FCA-3AF6-4403-93B2-E5D29102ACCD}" type="slidenum">
              <a:rPr lang="en-US" altLang="zh-CN" sz="1400" b="0"/>
              <a:pPr eaLnBrk="1" hangingPunct="1"/>
              <a:t>102</a:t>
            </a:fld>
            <a:endParaRPr lang="en-US" altLang="zh-CN" sz="1400" b="0"/>
          </a:p>
        </p:txBody>
      </p:sp>
      <p:sp>
        <p:nvSpPr>
          <p:cNvPr id="613378" name="Rectangle 2"/>
          <p:cNvSpPr>
            <a:spLocks noChangeArrowheads="1"/>
          </p:cNvSpPr>
          <p:nvPr/>
        </p:nvSpPr>
        <p:spPr bwMode="auto">
          <a:xfrm>
            <a:off x="2667000" y="1295400"/>
            <a:ext cx="3289300" cy="698500"/>
          </a:xfrm>
          <a:prstGeom prst="rect">
            <a:avLst/>
          </a:prstGeom>
          <a:solidFill>
            <a:srgbClr val="FFFF00"/>
          </a:solidFill>
          <a:ln w="57150">
            <a:solidFill>
              <a:schemeClr val="tx1"/>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3600">
                <a:solidFill>
                  <a:srgbClr val="FF0000"/>
                </a:solidFill>
                <a:latin typeface="Arial" panose="020B0604020202020204" pitchFamily="34" charset="0"/>
              </a:rPr>
              <a:t>HPI</a:t>
            </a:r>
            <a:r>
              <a:rPr lang="zh-CN" altLang="en-US" sz="3600">
                <a:solidFill>
                  <a:srgbClr val="FF0000"/>
                </a:solidFill>
                <a:latin typeface="Arial" panose="020B0604020202020204" pitchFamily="34" charset="0"/>
              </a:rPr>
              <a:t>的中断过程</a:t>
            </a:r>
          </a:p>
        </p:txBody>
      </p:sp>
      <p:grpSp>
        <p:nvGrpSpPr>
          <p:cNvPr id="2" name="Group 3"/>
          <p:cNvGrpSpPr>
            <a:grpSpLocks/>
          </p:cNvGrpSpPr>
          <p:nvPr/>
        </p:nvGrpSpPr>
        <p:grpSpPr bwMode="auto">
          <a:xfrm>
            <a:off x="287338" y="2816225"/>
            <a:ext cx="7764462" cy="1716088"/>
            <a:chOff x="384" y="2208"/>
            <a:chExt cx="4597" cy="1081"/>
          </a:xfrm>
        </p:grpSpPr>
        <p:sp>
          <p:nvSpPr>
            <p:cNvPr id="115717" name="Rectangle 4"/>
            <p:cNvSpPr>
              <a:spLocks noChangeArrowheads="1"/>
            </p:cNvSpPr>
            <p:nvPr/>
          </p:nvSpPr>
          <p:spPr bwMode="auto">
            <a:xfrm>
              <a:off x="576" y="2256"/>
              <a:ext cx="596" cy="371"/>
            </a:xfrm>
            <a:prstGeom prst="rect">
              <a:avLst/>
            </a:prstGeom>
            <a:solidFill>
              <a:srgbClr val="CCFFFF"/>
            </a:solidFill>
            <a:ln w="9525">
              <a:solidFill>
                <a:schemeClr val="folHlink"/>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latin typeface="Arial" panose="020B0604020202020204" pitchFamily="34" charset="0"/>
                </a:rPr>
                <a:t>主机</a:t>
              </a:r>
            </a:p>
          </p:txBody>
        </p:sp>
        <p:sp>
          <p:nvSpPr>
            <p:cNvPr id="115718" name="Rectangle 5"/>
            <p:cNvSpPr>
              <a:spLocks noChangeArrowheads="1"/>
            </p:cNvSpPr>
            <p:nvPr/>
          </p:nvSpPr>
          <p:spPr bwMode="auto">
            <a:xfrm>
              <a:off x="3984" y="2208"/>
              <a:ext cx="997" cy="371"/>
            </a:xfrm>
            <a:prstGeom prst="rect">
              <a:avLst/>
            </a:prstGeom>
            <a:solidFill>
              <a:srgbClr val="339933"/>
            </a:solidFill>
            <a:ln w="9525">
              <a:solidFill>
                <a:srgbClr val="FFFFFF"/>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3200">
                  <a:solidFill>
                    <a:srgbClr val="FFFFFF"/>
                  </a:solidFill>
                  <a:latin typeface="Arial" panose="020B0604020202020204" pitchFamily="34" charset="0"/>
                </a:rPr>
                <a:t>HPI</a:t>
              </a:r>
              <a:r>
                <a:rPr lang="zh-CN" altLang="en-US" sz="3200">
                  <a:solidFill>
                    <a:srgbClr val="FFFFFF"/>
                  </a:solidFill>
                  <a:latin typeface="Arial" panose="020B0604020202020204" pitchFamily="34" charset="0"/>
                </a:rPr>
                <a:t>中断</a:t>
              </a:r>
            </a:p>
          </p:txBody>
        </p:sp>
        <p:sp>
          <p:nvSpPr>
            <p:cNvPr id="115719" name="Rectangle 6"/>
            <p:cNvSpPr>
              <a:spLocks noChangeArrowheads="1"/>
            </p:cNvSpPr>
            <p:nvPr/>
          </p:nvSpPr>
          <p:spPr bwMode="auto">
            <a:xfrm>
              <a:off x="384" y="2880"/>
              <a:ext cx="1412" cy="371"/>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latin typeface="Arial" panose="020B0604020202020204" pitchFamily="34" charset="0"/>
                </a:rPr>
                <a:t>写</a:t>
              </a:r>
              <a:r>
                <a:rPr lang="en-US" altLang="zh-CN" sz="3200">
                  <a:latin typeface="Arial" panose="020B0604020202020204" pitchFamily="34" charset="0"/>
                </a:rPr>
                <a:t>DSPHINT</a:t>
              </a:r>
            </a:p>
          </p:txBody>
        </p:sp>
        <p:sp>
          <p:nvSpPr>
            <p:cNvPr id="115720" name="Rectangle 7"/>
            <p:cNvSpPr>
              <a:spLocks noChangeArrowheads="1"/>
            </p:cNvSpPr>
            <p:nvPr/>
          </p:nvSpPr>
          <p:spPr bwMode="auto">
            <a:xfrm>
              <a:off x="2347" y="2304"/>
              <a:ext cx="1063" cy="98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a:latin typeface="Arial" panose="020B0604020202020204" pitchFamily="34" charset="0"/>
                </a:rPr>
                <a:t>HCNTL0</a:t>
              </a:r>
            </a:p>
            <a:p>
              <a:pPr algn="ctr" eaLnBrk="1" hangingPunct="1"/>
              <a:r>
                <a:rPr lang="en-US" altLang="zh-CN" sz="3200">
                  <a:latin typeface="Arial" panose="020B0604020202020204" pitchFamily="34" charset="0"/>
                </a:rPr>
                <a:t>HCNTL1</a:t>
              </a:r>
            </a:p>
            <a:p>
              <a:pPr algn="ctr" eaLnBrk="1" hangingPunct="1"/>
              <a:r>
                <a:rPr lang="en-US" altLang="zh-CN" sz="3200">
                  <a:latin typeface="Arial" panose="020B0604020202020204" pitchFamily="34" charset="0"/>
                </a:rPr>
                <a:t>00</a:t>
              </a:r>
            </a:p>
          </p:txBody>
        </p:sp>
        <p:sp>
          <p:nvSpPr>
            <p:cNvPr id="115721" name="Rectangle 8"/>
            <p:cNvSpPr>
              <a:spLocks noChangeArrowheads="1"/>
            </p:cNvSpPr>
            <p:nvPr/>
          </p:nvSpPr>
          <p:spPr bwMode="auto">
            <a:xfrm>
              <a:off x="4080" y="2880"/>
              <a:ext cx="689" cy="371"/>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latin typeface="Arial" panose="020B0604020202020204" pitchFamily="34" charset="0"/>
                </a:rPr>
                <a:t>HPIC</a:t>
              </a:r>
            </a:p>
          </p:txBody>
        </p:sp>
        <p:sp>
          <p:nvSpPr>
            <p:cNvPr id="115722" name="Line 9"/>
            <p:cNvSpPr>
              <a:spLocks noChangeShapeType="1"/>
            </p:cNvSpPr>
            <p:nvPr/>
          </p:nvSpPr>
          <p:spPr bwMode="auto">
            <a:xfrm>
              <a:off x="912" y="2640"/>
              <a:ext cx="0" cy="240"/>
            </a:xfrm>
            <a:prstGeom prst="line">
              <a:avLst/>
            </a:prstGeom>
            <a:noFill/>
            <a:ln w="571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5723" name="Line 10"/>
            <p:cNvSpPr>
              <a:spLocks noChangeShapeType="1"/>
            </p:cNvSpPr>
            <p:nvPr/>
          </p:nvSpPr>
          <p:spPr bwMode="auto">
            <a:xfrm>
              <a:off x="1872" y="3024"/>
              <a:ext cx="240" cy="0"/>
            </a:xfrm>
            <a:prstGeom prst="line">
              <a:avLst/>
            </a:prstGeom>
            <a:noFill/>
            <a:ln w="57150">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5724" name="Line 11"/>
            <p:cNvSpPr>
              <a:spLocks noChangeShapeType="1"/>
            </p:cNvSpPr>
            <p:nvPr/>
          </p:nvSpPr>
          <p:spPr bwMode="auto">
            <a:xfrm>
              <a:off x="3600" y="3024"/>
              <a:ext cx="432" cy="0"/>
            </a:xfrm>
            <a:prstGeom prst="line">
              <a:avLst/>
            </a:prstGeom>
            <a:noFill/>
            <a:ln w="5715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5725" name="Line 12"/>
            <p:cNvSpPr>
              <a:spLocks noChangeShapeType="1"/>
            </p:cNvSpPr>
            <p:nvPr/>
          </p:nvSpPr>
          <p:spPr bwMode="auto">
            <a:xfrm flipH="1" flipV="1">
              <a:off x="4464" y="2544"/>
              <a:ext cx="0" cy="336"/>
            </a:xfrm>
            <a:prstGeom prst="line">
              <a:avLst/>
            </a:prstGeom>
            <a:noFill/>
            <a:ln w="5715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613378"/>
                                        </p:tgtEl>
                                        <p:attrNameLst>
                                          <p:attrName>style.visibility</p:attrName>
                                        </p:attrNameLst>
                                      </p:cBhvr>
                                      <p:to>
                                        <p:strVal val="visible"/>
                                      </p:to>
                                    </p:set>
                                    <p:animEffect transition="in" filter="slide(fromLeft)">
                                      <p:cBhvr>
                                        <p:cTn id="7" dur="500"/>
                                        <p:tgtEl>
                                          <p:spTgt spid="613378"/>
                                        </p:tgtEl>
                                      </p:cBhvr>
                                    </p:animEffect>
                                  </p:childTnLst>
                                </p:cTn>
                              </p:par>
                            </p:childTnLst>
                          </p:cTn>
                        </p:par>
                        <p:par>
                          <p:cTn id="8" fill="hold" nodeType="afterGroup">
                            <p:stCondLst>
                              <p:cond delay="500"/>
                            </p:stCondLst>
                            <p:childTnLst>
                              <p:par>
                                <p:cTn id="9" presetID="16" presetClass="entr" presetSubtype="37"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out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378" grpId="0" animBg="1"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C4C20FE-E7E2-40F0-9FE1-A524C780A871}" type="slidenum">
              <a:rPr lang="en-US" altLang="zh-CN" sz="1400" b="0"/>
              <a:pPr eaLnBrk="1" hangingPunct="1"/>
              <a:t>103</a:t>
            </a:fld>
            <a:endParaRPr lang="en-US" altLang="zh-CN" sz="1400" b="0"/>
          </a:p>
        </p:txBody>
      </p:sp>
      <p:sp>
        <p:nvSpPr>
          <p:cNvPr id="116739" name="Rectangle 3"/>
          <p:cNvSpPr>
            <a:spLocks noChangeArrowheads="1"/>
          </p:cNvSpPr>
          <p:nvPr/>
        </p:nvSpPr>
        <p:spPr bwMode="auto">
          <a:xfrm>
            <a:off x="395288" y="1412875"/>
            <a:ext cx="8137525"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a:latin typeface="宋体" panose="02010600030101010101" pitchFamily="2" charset="-122"/>
              </a:rPr>
              <a:t>HPI</a:t>
            </a:r>
            <a:r>
              <a:rPr lang="zh-CN" altLang="en-US" sz="2800">
                <a:latin typeface="宋体" panose="02010600030101010101" pitchFamily="2" charset="-122"/>
              </a:rPr>
              <a:t>的中断过程可描述如下：</a:t>
            </a:r>
          </a:p>
          <a:p>
            <a:pPr algn="just"/>
            <a:r>
              <a:rPr lang="zh-CN" altLang="en-US" sz="2800">
                <a:solidFill>
                  <a:srgbClr val="FF0066"/>
                </a:solidFill>
                <a:latin typeface="宋体" panose="02010600030101010101" pitchFamily="2" charset="-122"/>
              </a:rPr>
              <a:t>主机向</a:t>
            </a:r>
            <a:r>
              <a:rPr lang="en-US" altLang="zh-CN" sz="2800">
                <a:solidFill>
                  <a:srgbClr val="FF0066"/>
                </a:solidFill>
                <a:latin typeface="宋体" panose="02010600030101010101" pitchFamily="2" charset="-122"/>
              </a:rPr>
              <a:t>C54x</a:t>
            </a:r>
            <a:r>
              <a:rPr lang="zh-CN" altLang="en-US" sz="2800">
                <a:solidFill>
                  <a:srgbClr val="FF0066"/>
                </a:solidFill>
                <a:latin typeface="宋体" panose="02010600030101010101" pitchFamily="2" charset="-122"/>
              </a:rPr>
              <a:t>的</a:t>
            </a:r>
            <a:r>
              <a:rPr lang="en-US" altLang="zh-CN" sz="2800">
                <a:solidFill>
                  <a:srgbClr val="FF0066"/>
                </a:solidFill>
                <a:latin typeface="宋体" panose="02010600030101010101" pitchFamily="2" charset="-122"/>
              </a:rPr>
              <a:t>HPI</a:t>
            </a:r>
            <a:r>
              <a:rPr lang="zh-CN" altLang="en-US" sz="2800">
                <a:solidFill>
                  <a:srgbClr val="FF0066"/>
                </a:solidFill>
                <a:latin typeface="宋体" panose="02010600030101010101" pitchFamily="2" charset="-122"/>
              </a:rPr>
              <a:t>发中断：</a:t>
            </a:r>
            <a:r>
              <a:rPr lang="zh-CN" altLang="en-US" sz="2800">
                <a:latin typeface="宋体" panose="02010600030101010101" pitchFamily="2" charset="-122"/>
              </a:rPr>
              <a:t>填写主机中</a:t>
            </a:r>
            <a:r>
              <a:rPr lang="en-US" altLang="zh-CN" sz="2800">
                <a:latin typeface="宋体" panose="02010600030101010101" pitchFamily="2" charset="-122"/>
              </a:rPr>
              <a:t>HPIC</a:t>
            </a:r>
            <a:r>
              <a:rPr lang="zh-CN" altLang="en-US" sz="2800">
                <a:latin typeface="宋体" panose="02010600030101010101" pitchFamily="2" charset="-122"/>
              </a:rPr>
              <a:t>寄存器的</a:t>
            </a:r>
            <a:r>
              <a:rPr lang="en-US" altLang="zh-CN" sz="2800">
                <a:latin typeface="宋体" panose="02010600030101010101" pitchFamily="2" charset="-122"/>
              </a:rPr>
              <a:t>DSPHINT</a:t>
            </a:r>
            <a:r>
              <a:rPr lang="zh-CN" altLang="en-US" sz="2800">
                <a:latin typeface="宋体" panose="02010600030101010101" pitchFamily="2" charset="-122"/>
              </a:rPr>
              <a:t>位，①由</a:t>
            </a:r>
            <a:r>
              <a:rPr lang="en-US" altLang="zh-CN" sz="2800">
                <a:latin typeface="宋体" panose="02010600030101010101" pitchFamily="2" charset="-122"/>
              </a:rPr>
              <a:t>HCNTL0</a:t>
            </a:r>
            <a:r>
              <a:rPr lang="zh-CN" altLang="en-US" sz="2800">
                <a:latin typeface="宋体" panose="02010600030101010101" pitchFamily="2" charset="-122"/>
              </a:rPr>
              <a:t>、</a:t>
            </a:r>
            <a:r>
              <a:rPr lang="en-US" altLang="zh-CN" sz="2800">
                <a:latin typeface="宋体" panose="02010600030101010101" pitchFamily="2" charset="-122"/>
              </a:rPr>
              <a:t>HCNTL1=00</a:t>
            </a:r>
            <a:r>
              <a:rPr lang="zh-CN" altLang="en-US" sz="2800">
                <a:latin typeface="宋体" panose="02010600030101010101" pitchFamily="2" charset="-122"/>
              </a:rPr>
              <a:t>确定将该数据送</a:t>
            </a:r>
            <a:r>
              <a:rPr lang="en-US" altLang="zh-CN" sz="2800">
                <a:latin typeface="宋体" panose="02010600030101010101" pitchFamily="2" charset="-122"/>
              </a:rPr>
              <a:t>C54x</a:t>
            </a:r>
            <a:r>
              <a:rPr lang="zh-CN" altLang="en-US" sz="2800">
                <a:latin typeface="宋体" panose="02010600030101010101" pitchFamily="2" charset="-122"/>
              </a:rPr>
              <a:t>的</a:t>
            </a:r>
            <a:r>
              <a:rPr lang="en-US" altLang="zh-CN" sz="2800">
                <a:latin typeface="宋体" panose="02010600030101010101" pitchFamily="2" charset="-122"/>
              </a:rPr>
              <a:t>HPIC</a:t>
            </a:r>
            <a:r>
              <a:rPr lang="zh-CN" altLang="en-US" sz="2800">
                <a:latin typeface="宋体" panose="02010600030101010101" pitchFamily="2" charset="-122"/>
              </a:rPr>
              <a:t>； ②</a:t>
            </a:r>
            <a:r>
              <a:rPr lang="en-US" altLang="zh-CN" sz="2800">
                <a:latin typeface="宋体" panose="02010600030101010101" pitchFamily="2" charset="-122"/>
              </a:rPr>
              <a:t>C54x</a:t>
            </a:r>
            <a:r>
              <a:rPr lang="zh-CN" altLang="en-US" sz="2800">
                <a:latin typeface="宋体" panose="02010600030101010101" pitchFamily="2" charset="-122"/>
              </a:rPr>
              <a:t>收到该中断信号后，产生中断。</a:t>
            </a:r>
          </a:p>
          <a:p>
            <a:pPr algn="just"/>
            <a:r>
              <a:rPr lang="en-US" altLang="zh-CN" sz="2800">
                <a:solidFill>
                  <a:srgbClr val="FF0066"/>
                </a:solidFill>
                <a:latin typeface="宋体" panose="02010600030101010101" pitchFamily="2" charset="-122"/>
              </a:rPr>
              <a:t>C54x</a:t>
            </a:r>
            <a:r>
              <a:rPr lang="zh-CN" altLang="en-US" sz="2800">
                <a:solidFill>
                  <a:srgbClr val="FF0066"/>
                </a:solidFill>
                <a:latin typeface="宋体" panose="02010600030101010101" pitchFamily="2" charset="-122"/>
              </a:rPr>
              <a:t>向主机发中断：</a:t>
            </a:r>
            <a:r>
              <a:rPr lang="zh-CN" altLang="en-US" sz="2800">
                <a:latin typeface="宋体" panose="02010600030101010101" pitchFamily="2" charset="-122"/>
              </a:rPr>
              <a:t> ①填写</a:t>
            </a:r>
            <a:r>
              <a:rPr lang="en-US" altLang="zh-CN" sz="2800">
                <a:latin typeface="宋体" panose="02010600030101010101" pitchFamily="2" charset="-122"/>
              </a:rPr>
              <a:t>1</a:t>
            </a:r>
            <a:r>
              <a:rPr lang="zh-CN" altLang="en-US" sz="2800">
                <a:latin typeface="宋体" panose="02010600030101010101" pitchFamily="2" charset="-122"/>
              </a:rPr>
              <a:t>到</a:t>
            </a:r>
            <a:r>
              <a:rPr lang="en-US" altLang="zh-CN" sz="2800">
                <a:latin typeface="宋体" panose="02010600030101010101" pitchFamily="2" charset="-122"/>
              </a:rPr>
              <a:t>C54x</a:t>
            </a:r>
            <a:r>
              <a:rPr lang="zh-CN" altLang="en-US" sz="2800">
                <a:latin typeface="宋体" panose="02010600030101010101" pitchFamily="2" charset="-122"/>
              </a:rPr>
              <a:t>中的</a:t>
            </a:r>
            <a:r>
              <a:rPr lang="en-US" altLang="zh-CN" sz="2800">
                <a:latin typeface="宋体" panose="02010600030101010101" pitchFamily="2" charset="-122"/>
              </a:rPr>
              <a:t>HPIC</a:t>
            </a:r>
            <a:r>
              <a:rPr lang="zh-CN" altLang="en-US" sz="2800">
                <a:latin typeface="宋体" panose="02010600030101010101" pitchFamily="2" charset="-122"/>
              </a:rPr>
              <a:t>寄存器的</a:t>
            </a:r>
            <a:r>
              <a:rPr lang="en-US" altLang="zh-CN" sz="2800">
                <a:latin typeface="宋体" panose="02010600030101010101" pitchFamily="2" charset="-122"/>
              </a:rPr>
              <a:t>HINT</a:t>
            </a:r>
            <a:r>
              <a:rPr lang="zh-CN" altLang="en-US" sz="2800">
                <a:latin typeface="宋体" panose="02010600030101010101" pitchFamily="2" charset="-122"/>
              </a:rPr>
              <a:t>位， ② </a:t>
            </a:r>
            <a:r>
              <a:rPr lang="en-US" altLang="zh-CN" sz="2800">
                <a:latin typeface="宋体" panose="02010600030101010101" pitchFamily="2" charset="-122"/>
              </a:rPr>
              <a:t>C54x</a:t>
            </a:r>
            <a:r>
              <a:rPr lang="zh-CN" altLang="en-US" sz="2800">
                <a:latin typeface="宋体" panose="02010600030101010101" pitchFamily="2" charset="-122"/>
              </a:rPr>
              <a:t>的</a:t>
            </a:r>
            <a:r>
              <a:rPr lang="en-US" altLang="zh-CN" sz="2800">
                <a:latin typeface="宋体" panose="02010600030101010101" pitchFamily="2" charset="-122"/>
              </a:rPr>
              <a:t>HINT</a:t>
            </a:r>
            <a:r>
              <a:rPr lang="zh-CN" altLang="en-US" sz="2800">
                <a:latin typeface="宋体" panose="02010600030101010101" pitchFamily="2" charset="-122"/>
              </a:rPr>
              <a:t>引脚为低电平，向主机发中断信号。 ③主机响应中断后，填写主机中</a:t>
            </a:r>
            <a:r>
              <a:rPr lang="en-US" altLang="zh-CN" sz="2800">
                <a:latin typeface="宋体" panose="02010600030101010101" pitchFamily="2" charset="-122"/>
              </a:rPr>
              <a:t>HPIC</a:t>
            </a:r>
            <a:r>
              <a:rPr lang="zh-CN" altLang="en-US" sz="2800">
                <a:latin typeface="宋体" panose="02010600030101010101" pitchFamily="2" charset="-122"/>
              </a:rPr>
              <a:t>寄存器的</a:t>
            </a:r>
            <a:r>
              <a:rPr lang="en-US" altLang="zh-CN" sz="2800">
                <a:latin typeface="宋体" panose="02010600030101010101" pitchFamily="2" charset="-122"/>
              </a:rPr>
              <a:t>HINT</a:t>
            </a:r>
            <a:r>
              <a:rPr lang="zh-CN" altLang="en-US" sz="2800">
                <a:latin typeface="宋体" panose="02010600030101010101" pitchFamily="2" charset="-122"/>
              </a:rPr>
              <a:t>位为</a:t>
            </a:r>
            <a:r>
              <a:rPr lang="en-US" altLang="zh-CN" sz="2800">
                <a:latin typeface="宋体" panose="02010600030101010101" pitchFamily="2" charset="-122"/>
              </a:rPr>
              <a:t>0</a:t>
            </a:r>
            <a:r>
              <a:rPr lang="zh-CN" altLang="en-US" sz="2800">
                <a:latin typeface="宋体" panose="02010600030101010101" pitchFamily="2" charset="-122"/>
              </a:rPr>
              <a:t>，将其复位，由</a:t>
            </a:r>
            <a:r>
              <a:rPr lang="en-US" altLang="zh-CN" sz="2800">
                <a:latin typeface="宋体" panose="02010600030101010101" pitchFamily="2" charset="-122"/>
              </a:rPr>
              <a:t>HCNTL0</a:t>
            </a:r>
            <a:r>
              <a:rPr lang="zh-CN" altLang="en-US" sz="2800">
                <a:latin typeface="宋体" panose="02010600030101010101" pitchFamily="2" charset="-122"/>
              </a:rPr>
              <a:t>、</a:t>
            </a:r>
            <a:r>
              <a:rPr lang="en-US" altLang="zh-CN" sz="2800">
                <a:latin typeface="宋体" panose="02010600030101010101" pitchFamily="2" charset="-122"/>
              </a:rPr>
              <a:t>HCNTL1=00</a:t>
            </a:r>
            <a:r>
              <a:rPr lang="zh-CN" altLang="en-US" sz="2800">
                <a:latin typeface="宋体" panose="02010600030101010101" pitchFamily="2" charset="-122"/>
              </a:rPr>
              <a:t>确定将该数据送</a:t>
            </a:r>
            <a:r>
              <a:rPr lang="en-US" altLang="zh-CN" sz="2800">
                <a:latin typeface="宋体" panose="02010600030101010101" pitchFamily="2" charset="-122"/>
              </a:rPr>
              <a:t>C54x</a:t>
            </a:r>
            <a:r>
              <a:rPr lang="zh-CN" altLang="en-US" sz="2800">
                <a:latin typeface="宋体" panose="02010600030101010101" pitchFamily="2" charset="-122"/>
              </a:rPr>
              <a:t>的</a:t>
            </a:r>
            <a:r>
              <a:rPr lang="en-US" altLang="zh-CN" sz="2800">
                <a:latin typeface="宋体" panose="02010600030101010101" pitchFamily="2" charset="-122"/>
              </a:rPr>
              <a:t>HPIC</a:t>
            </a:r>
            <a:r>
              <a:rPr lang="zh-CN" altLang="en-US" sz="2800">
                <a:latin typeface="宋体" panose="02010600030101010101" pitchFamily="2" charset="-122"/>
              </a:rPr>
              <a:t>，使</a:t>
            </a:r>
            <a:r>
              <a:rPr lang="en-US" altLang="zh-CN" sz="2800">
                <a:latin typeface="宋体" panose="02010600030101010101" pitchFamily="2" charset="-122"/>
              </a:rPr>
              <a:t>C54x</a:t>
            </a:r>
            <a:r>
              <a:rPr lang="zh-CN" altLang="en-US" sz="2800">
                <a:latin typeface="宋体" panose="02010600030101010101" pitchFamily="2" charset="-122"/>
              </a:rPr>
              <a:t>的</a:t>
            </a:r>
            <a:r>
              <a:rPr lang="en-US" altLang="zh-CN" sz="2800">
                <a:latin typeface="宋体" panose="02010600030101010101" pitchFamily="2" charset="-122"/>
              </a:rPr>
              <a:t>HINT</a:t>
            </a:r>
            <a:r>
              <a:rPr lang="zh-CN" altLang="en-US" sz="2800">
                <a:latin typeface="宋体" panose="02010600030101010101" pitchFamily="2" charset="-122"/>
              </a:rPr>
              <a:t>引脚为高电平无效，结束中断。</a:t>
            </a:r>
          </a:p>
        </p:txBody>
      </p:sp>
      <p:sp>
        <p:nvSpPr>
          <p:cNvPr id="116740" name="Line 4"/>
          <p:cNvSpPr>
            <a:spLocks noChangeShapeType="1"/>
          </p:cNvSpPr>
          <p:nvPr/>
        </p:nvSpPr>
        <p:spPr bwMode="auto">
          <a:xfrm>
            <a:off x="863600" y="5768975"/>
            <a:ext cx="56673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6741" name="Line 5"/>
          <p:cNvSpPr>
            <a:spLocks noChangeShapeType="1"/>
          </p:cNvSpPr>
          <p:nvPr/>
        </p:nvSpPr>
        <p:spPr bwMode="auto">
          <a:xfrm>
            <a:off x="4859338" y="4076700"/>
            <a:ext cx="56673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bwMode="auto">
          <a:xfrm>
            <a:off x="2209800" y="1219200"/>
            <a:ext cx="4724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第六节  串行口</a:t>
            </a:r>
            <a:r>
              <a:rPr lang="zh-CN" altLang="en-US" b="1"/>
              <a:t> </a:t>
            </a:r>
          </a:p>
        </p:txBody>
      </p:sp>
      <p:sp>
        <p:nvSpPr>
          <p:cNvPr id="11776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6CE240F-3943-4F7A-A656-C5B770A6AD77}" type="slidenum">
              <a:rPr lang="en-US" altLang="zh-CN" sz="1400" b="0"/>
              <a:pPr eaLnBrk="1" hangingPunct="1"/>
              <a:t>104</a:t>
            </a:fld>
            <a:endParaRPr lang="en-US" altLang="zh-CN" sz="1400" b="0"/>
          </a:p>
        </p:txBody>
      </p:sp>
      <p:sp>
        <p:nvSpPr>
          <p:cNvPr id="615427" name="Rectangle 3"/>
          <p:cNvSpPr>
            <a:spLocks noChangeArrowheads="1"/>
          </p:cNvSpPr>
          <p:nvPr/>
        </p:nvSpPr>
        <p:spPr bwMode="auto">
          <a:xfrm>
            <a:off x="1371600" y="5562600"/>
            <a:ext cx="6934200" cy="955675"/>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300">
                <a:latin typeface="宋体" panose="02010600030101010101" pitchFamily="2" charset="-122"/>
              </a:rPr>
              <a:t> </a:t>
            </a:r>
            <a:r>
              <a:rPr lang="zh-CN" altLang="en-US" sz="2800">
                <a:latin typeface="宋体" panose="02010600030101010101" pitchFamily="2" charset="-122"/>
              </a:rPr>
              <a:t>当缓冲串行口和时分多路串行口工作在标准方式时，它们的功能与标准串行口相同</a:t>
            </a:r>
            <a:r>
              <a:rPr lang="zh-CN" altLang="en-US" sz="2800"/>
              <a:t> </a:t>
            </a:r>
          </a:p>
        </p:txBody>
      </p:sp>
      <p:sp>
        <p:nvSpPr>
          <p:cNvPr id="615428" name="Rectangle 4" descr="5%"/>
          <p:cNvSpPr>
            <a:spLocks noChangeArrowheads="1"/>
          </p:cNvSpPr>
          <p:nvPr/>
        </p:nvSpPr>
        <p:spPr bwMode="auto">
          <a:xfrm>
            <a:off x="838200" y="2209800"/>
            <a:ext cx="650875" cy="2847975"/>
          </a:xfrm>
          <a:prstGeom prst="rect">
            <a:avLst/>
          </a:prstGeom>
          <a:pattFill prst="pct5">
            <a:fgClr>
              <a:schemeClr val="bg2"/>
            </a:fgClr>
            <a:bgClr>
              <a:srgbClr val="FFFFFF"/>
            </a:bgClr>
          </a:pattFill>
          <a:ln w="9525">
            <a:solidFill>
              <a:schemeClr val="tx2"/>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66"/>
                </a:solidFill>
                <a:latin typeface="宋体" panose="02010600030101010101" pitchFamily="2" charset="-122"/>
                <a:cs typeface="Arial" panose="020B0604020202020204" pitchFamily="34" charset="0"/>
              </a:rPr>
              <a:t>串</a:t>
            </a:r>
          </a:p>
          <a:p>
            <a:pPr eaLnBrk="1" hangingPunct="1"/>
            <a:r>
              <a:rPr lang="zh-CN" altLang="en-US" sz="3600">
                <a:solidFill>
                  <a:srgbClr val="FF0066"/>
                </a:solidFill>
                <a:latin typeface="宋体" panose="02010600030101010101" pitchFamily="2" charset="-122"/>
                <a:cs typeface="Arial" panose="020B0604020202020204" pitchFamily="34" charset="0"/>
              </a:rPr>
              <a:t>行</a:t>
            </a:r>
          </a:p>
          <a:p>
            <a:pPr eaLnBrk="1" hangingPunct="1"/>
            <a:r>
              <a:rPr lang="zh-CN" altLang="en-US" sz="3600">
                <a:solidFill>
                  <a:srgbClr val="FF0066"/>
                </a:solidFill>
                <a:latin typeface="宋体" panose="02010600030101010101" pitchFamily="2" charset="-122"/>
                <a:cs typeface="Arial" panose="020B0604020202020204" pitchFamily="34" charset="0"/>
              </a:rPr>
              <a:t>口</a:t>
            </a:r>
          </a:p>
          <a:p>
            <a:pPr eaLnBrk="1" hangingPunct="1"/>
            <a:r>
              <a:rPr lang="zh-CN" altLang="en-US" sz="3600">
                <a:solidFill>
                  <a:srgbClr val="FF0066"/>
                </a:solidFill>
                <a:latin typeface="宋体" panose="02010600030101010101" pitchFamily="2" charset="-122"/>
                <a:cs typeface="Arial" panose="020B0604020202020204" pitchFamily="34" charset="0"/>
              </a:rPr>
              <a:t>分</a:t>
            </a:r>
          </a:p>
          <a:p>
            <a:pPr eaLnBrk="1" hangingPunct="1"/>
            <a:r>
              <a:rPr lang="zh-CN" altLang="en-US" sz="3600">
                <a:solidFill>
                  <a:srgbClr val="FF0066"/>
                </a:solidFill>
                <a:latin typeface="宋体" panose="02010600030101010101" pitchFamily="2" charset="-122"/>
                <a:cs typeface="Arial" panose="020B0604020202020204" pitchFamily="34" charset="0"/>
              </a:rPr>
              <a:t>类</a:t>
            </a:r>
          </a:p>
        </p:txBody>
      </p:sp>
      <p:sp>
        <p:nvSpPr>
          <p:cNvPr id="615429" name="Rectangle 5" descr="小棋盘"/>
          <p:cNvSpPr>
            <a:spLocks noChangeArrowheads="1"/>
          </p:cNvSpPr>
          <p:nvPr/>
        </p:nvSpPr>
        <p:spPr bwMode="auto">
          <a:xfrm>
            <a:off x="2209800" y="2133600"/>
            <a:ext cx="5165725" cy="3122613"/>
          </a:xfrm>
          <a:prstGeom prst="rect">
            <a:avLst/>
          </a:prstGeom>
          <a:pattFill prst="smCheck">
            <a:fgClr>
              <a:srgbClr val="FFFF00"/>
            </a:fgClr>
            <a:bgClr>
              <a:srgbClr val="FFFFFF"/>
            </a:bgClr>
          </a:pattFill>
          <a:ln w="9525">
            <a:solidFill>
              <a:srgbClr val="FF0066"/>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zh-CN" altLang="en-US" sz="3600">
                <a:solidFill>
                  <a:schemeClr val="tx2"/>
                </a:solidFill>
                <a:latin typeface="宋体" panose="02010600030101010101" pitchFamily="2" charset="-122"/>
              </a:rPr>
              <a:t>标准同步串行口（</a:t>
            </a:r>
            <a:r>
              <a:rPr lang="en-US" altLang="zh-CN" sz="3600">
                <a:solidFill>
                  <a:schemeClr val="tx2"/>
                </a:solidFill>
                <a:latin typeface="宋体" panose="02010600030101010101" pitchFamily="2" charset="-122"/>
              </a:rPr>
              <a:t>SP</a:t>
            </a:r>
            <a:r>
              <a:rPr lang="zh-CN" altLang="en-US" sz="3600">
                <a:solidFill>
                  <a:schemeClr val="tx2"/>
                </a:solidFill>
                <a:latin typeface="宋体" panose="02010600030101010101" pitchFamily="2" charset="-122"/>
              </a:rPr>
              <a:t>）</a:t>
            </a:r>
          </a:p>
          <a:p>
            <a:pPr eaLnBrk="1" hangingPunct="1">
              <a:spcBef>
                <a:spcPct val="50000"/>
              </a:spcBef>
              <a:buFontTx/>
              <a:buChar char="•"/>
            </a:pPr>
            <a:r>
              <a:rPr lang="zh-CN" altLang="en-US" sz="3600">
                <a:solidFill>
                  <a:schemeClr val="tx2"/>
                </a:solidFill>
                <a:latin typeface="宋体" panose="02010600030101010101" pitchFamily="2" charset="-122"/>
              </a:rPr>
              <a:t>缓冲同步串行口（</a:t>
            </a:r>
            <a:r>
              <a:rPr lang="en-US" altLang="zh-CN" sz="3600">
                <a:solidFill>
                  <a:schemeClr val="tx2"/>
                </a:solidFill>
                <a:latin typeface="宋体" panose="02010600030101010101" pitchFamily="2" charset="-122"/>
              </a:rPr>
              <a:t>BSP</a:t>
            </a:r>
            <a:r>
              <a:rPr lang="zh-CN" altLang="en-US" sz="3600">
                <a:solidFill>
                  <a:schemeClr val="tx2"/>
                </a:solidFill>
                <a:latin typeface="宋体" panose="02010600030101010101" pitchFamily="2" charset="-122"/>
              </a:rPr>
              <a:t>）</a:t>
            </a:r>
          </a:p>
          <a:p>
            <a:pPr eaLnBrk="1" hangingPunct="1">
              <a:spcBef>
                <a:spcPct val="50000"/>
              </a:spcBef>
              <a:buFontTx/>
              <a:buChar char="•"/>
            </a:pPr>
            <a:r>
              <a:rPr lang="zh-CN" altLang="en-US" sz="3600">
                <a:solidFill>
                  <a:schemeClr val="tx2"/>
                </a:solidFill>
                <a:latin typeface="宋体" panose="02010600030101010101" pitchFamily="2" charset="-122"/>
              </a:rPr>
              <a:t>多路缓冲串口（</a:t>
            </a:r>
            <a:r>
              <a:rPr lang="en-US" altLang="zh-CN" sz="3600">
                <a:solidFill>
                  <a:schemeClr val="tx2"/>
                </a:solidFill>
                <a:latin typeface="宋体" panose="02010600030101010101" pitchFamily="2" charset="-122"/>
              </a:rPr>
              <a:t>McBSP</a:t>
            </a:r>
            <a:r>
              <a:rPr lang="zh-CN" altLang="en-US" sz="3600">
                <a:solidFill>
                  <a:schemeClr val="tx2"/>
                </a:solidFill>
                <a:latin typeface="宋体" panose="02010600030101010101" pitchFamily="2" charset="-122"/>
              </a:rPr>
              <a:t>）</a:t>
            </a:r>
          </a:p>
          <a:p>
            <a:pPr eaLnBrk="1" hangingPunct="1">
              <a:spcBef>
                <a:spcPct val="50000"/>
              </a:spcBef>
              <a:buFontTx/>
              <a:buChar char="•"/>
            </a:pPr>
            <a:r>
              <a:rPr lang="zh-CN" altLang="en-US" sz="3600">
                <a:solidFill>
                  <a:schemeClr val="tx2"/>
                </a:solidFill>
                <a:latin typeface="宋体" panose="02010600030101010101" pitchFamily="2" charset="-122"/>
              </a:rPr>
              <a:t>时分多路串行口（</a:t>
            </a:r>
            <a:r>
              <a:rPr lang="en-US" altLang="zh-CN" sz="3600">
                <a:solidFill>
                  <a:schemeClr val="tx2"/>
                </a:solidFill>
                <a:latin typeface="宋体" panose="02010600030101010101" pitchFamily="2" charset="-122"/>
              </a:rPr>
              <a:t>TDM</a:t>
            </a:r>
            <a:r>
              <a:rPr lang="zh-CN" altLang="en-US" sz="3600">
                <a:solidFill>
                  <a:schemeClr val="tx2"/>
                </a:solidFill>
                <a:latin typeface="宋体" panose="02010600030101010101" pitchFamily="2" charset="-122"/>
              </a:rPr>
              <a:t>）</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15426"/>
                                        </p:tgtEl>
                                        <p:attrNameLst>
                                          <p:attrName>style.visibility</p:attrName>
                                        </p:attrNameLst>
                                      </p:cBhvr>
                                      <p:to>
                                        <p:strVal val="visible"/>
                                      </p:to>
                                    </p:set>
                                    <p:animEffect transition="in" filter="blinds(horizontal)">
                                      <p:cBhvr>
                                        <p:cTn id="7" dur="500"/>
                                        <p:tgtEl>
                                          <p:spTgt spid="615426"/>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15428"/>
                                        </p:tgtEl>
                                        <p:attrNameLst>
                                          <p:attrName>style.visibility</p:attrName>
                                        </p:attrNameLst>
                                      </p:cBhvr>
                                      <p:to>
                                        <p:strVal val="visible"/>
                                      </p:to>
                                    </p:set>
                                    <p:anim calcmode="lin" valueType="num">
                                      <p:cBhvr additive="base">
                                        <p:cTn id="11" dur="500" fill="hold"/>
                                        <p:tgtEl>
                                          <p:spTgt spid="615428"/>
                                        </p:tgtEl>
                                        <p:attrNameLst>
                                          <p:attrName>ppt_x</p:attrName>
                                        </p:attrNameLst>
                                      </p:cBhvr>
                                      <p:tavLst>
                                        <p:tav tm="0">
                                          <p:val>
                                            <p:strVal val="0-#ppt_w/2"/>
                                          </p:val>
                                        </p:tav>
                                        <p:tav tm="100000">
                                          <p:val>
                                            <p:strVal val="#ppt_x"/>
                                          </p:val>
                                        </p:tav>
                                      </p:tavLst>
                                    </p:anim>
                                    <p:anim calcmode="lin" valueType="num">
                                      <p:cBhvr additive="base">
                                        <p:cTn id="12" dur="500" fill="hold"/>
                                        <p:tgtEl>
                                          <p:spTgt spid="615428"/>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18" presetClass="entr" presetSubtype="6" fill="hold" grpId="0" nodeType="afterEffect">
                                  <p:stCondLst>
                                    <p:cond delay="0"/>
                                  </p:stCondLst>
                                  <p:childTnLst>
                                    <p:set>
                                      <p:cBhvr>
                                        <p:cTn id="15" dur="1" fill="hold">
                                          <p:stCondLst>
                                            <p:cond delay="0"/>
                                          </p:stCondLst>
                                        </p:cTn>
                                        <p:tgtEl>
                                          <p:spTgt spid="615429"/>
                                        </p:tgtEl>
                                        <p:attrNameLst>
                                          <p:attrName>style.visibility</p:attrName>
                                        </p:attrNameLst>
                                      </p:cBhvr>
                                      <p:to>
                                        <p:strVal val="visible"/>
                                      </p:to>
                                    </p:set>
                                    <p:animEffect transition="in" filter="strips(downRight)">
                                      <p:cBhvr>
                                        <p:cTn id="16" dur="500"/>
                                        <p:tgtEl>
                                          <p:spTgt spid="615429"/>
                                        </p:tgtEl>
                                      </p:cBhvr>
                                    </p:animEffect>
                                  </p:childTnLst>
                                </p:cTn>
                              </p:par>
                            </p:childTnLst>
                          </p:cTn>
                        </p:par>
                        <p:par>
                          <p:cTn id="17" fill="hold" nodeType="afterGroup">
                            <p:stCondLst>
                              <p:cond delay="1500"/>
                            </p:stCondLst>
                            <p:childTnLst>
                              <p:par>
                                <p:cTn id="18" presetID="12" presetClass="entr" presetSubtype="4" fill="hold" grpId="0" nodeType="afterEffect">
                                  <p:stCondLst>
                                    <p:cond delay="0"/>
                                  </p:stCondLst>
                                  <p:childTnLst>
                                    <p:set>
                                      <p:cBhvr>
                                        <p:cTn id="19" dur="1" fill="hold">
                                          <p:stCondLst>
                                            <p:cond delay="0"/>
                                          </p:stCondLst>
                                        </p:cTn>
                                        <p:tgtEl>
                                          <p:spTgt spid="615427"/>
                                        </p:tgtEl>
                                        <p:attrNameLst>
                                          <p:attrName>style.visibility</p:attrName>
                                        </p:attrNameLst>
                                      </p:cBhvr>
                                      <p:to>
                                        <p:strVal val="visible"/>
                                      </p:to>
                                    </p:set>
                                    <p:animEffect transition="in" filter="slide(fromBottom)">
                                      <p:cBhvr>
                                        <p:cTn id="20" dur="500"/>
                                        <p:tgtEl>
                                          <p:spTgt spid="615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26" grpId="0" autoUpdateAnimBg="0"/>
      <p:bldP spid="615427" grpId="0" animBg="1" autoUpdateAnimBg="0"/>
      <p:bldP spid="615428" grpId="0" animBg="1" autoUpdateAnimBg="0"/>
      <p:bldP spid="615429" grpId="0" animBg="1"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99B70126-54BF-43C5-B301-5F4B2F48B2E9}" type="slidenum">
              <a:rPr lang="en-US" altLang="zh-CN" sz="1400" b="0"/>
              <a:pPr eaLnBrk="1" hangingPunct="1"/>
              <a:t>105</a:t>
            </a:fld>
            <a:endParaRPr lang="en-US" altLang="zh-CN" sz="1400" b="0"/>
          </a:p>
        </p:txBody>
      </p:sp>
      <p:graphicFrame>
        <p:nvGraphicFramePr>
          <p:cNvPr id="616498" name="Group 50"/>
          <p:cNvGraphicFramePr>
            <a:graphicFrameLocks noGrp="1"/>
          </p:cNvGraphicFramePr>
          <p:nvPr/>
        </p:nvGraphicFramePr>
        <p:xfrm>
          <a:off x="228600" y="1600200"/>
          <a:ext cx="8763000" cy="4229100"/>
        </p:xfrm>
        <a:graphic>
          <a:graphicData uri="http://schemas.openxmlformats.org/drawingml/2006/table">
            <a:tbl>
              <a:tblPr/>
              <a:tblGrid>
                <a:gridCol w="990600">
                  <a:extLst>
                    <a:ext uri="{9D8B030D-6E8A-4147-A177-3AD203B41FA5}">
                      <a16:colId xmlns:a16="http://schemas.microsoft.com/office/drawing/2014/main" val="20000"/>
                    </a:ext>
                  </a:extLst>
                </a:gridCol>
                <a:gridCol w="2798763">
                  <a:extLst>
                    <a:ext uri="{9D8B030D-6E8A-4147-A177-3AD203B41FA5}">
                      <a16:colId xmlns:a16="http://schemas.microsoft.com/office/drawing/2014/main" val="20001"/>
                    </a:ext>
                  </a:extLst>
                </a:gridCol>
                <a:gridCol w="2132012">
                  <a:extLst>
                    <a:ext uri="{9D8B030D-6E8A-4147-A177-3AD203B41FA5}">
                      <a16:colId xmlns:a16="http://schemas.microsoft.com/office/drawing/2014/main" val="20002"/>
                    </a:ext>
                  </a:extLst>
                </a:gridCol>
                <a:gridCol w="2841625">
                  <a:extLst>
                    <a:ext uri="{9D8B030D-6E8A-4147-A177-3AD203B41FA5}">
                      <a16:colId xmlns:a16="http://schemas.microsoft.com/office/drawing/2014/main" val="20003"/>
                    </a:ext>
                  </a:extLst>
                </a:gridCol>
              </a:tblGrid>
              <a:tr h="4603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器件</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标准同步串行口</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缓冲串行口</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时分多路串行口</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97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62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30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29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C546</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56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03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C549</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18834" name="Text Box 49"/>
          <p:cNvSpPr txBox="1">
            <a:spLocks noChangeArrowheads="1"/>
          </p:cNvSpPr>
          <p:nvPr/>
        </p:nvSpPr>
        <p:spPr bwMode="auto">
          <a:xfrm>
            <a:off x="2438400" y="914400"/>
            <a:ext cx="441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a:solidFill>
                  <a:srgbClr val="FF00FF"/>
                </a:solidFill>
              </a:rPr>
              <a:t>C54xDSP</a:t>
            </a:r>
            <a:r>
              <a:rPr lang="zh-CN" altLang="en-US" sz="3200">
                <a:solidFill>
                  <a:srgbClr val="FF00FF"/>
                </a:solidFill>
              </a:rPr>
              <a:t>芯片的串行口</a:t>
            </a:r>
          </a:p>
        </p:txBody>
      </p:sp>
    </p:spTree>
  </p:cSld>
  <p:clrMapOvr>
    <a:masterClrMapping/>
  </p:clrMapOvr>
  <p:transition spd="med">
    <p:pull dir="lu"/>
  </p:transition>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bwMode="auto">
          <a:xfrm>
            <a:off x="1828800" y="990600"/>
            <a:ext cx="48006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66"/>
                </a:solidFill>
                <a:latin typeface="宋体" panose="02010600030101010101" pitchFamily="2" charset="-122"/>
              </a:rPr>
              <a:t>一、标准串口</a:t>
            </a:r>
            <a:r>
              <a:rPr lang="en-US" altLang="zh-CN" b="1">
                <a:solidFill>
                  <a:srgbClr val="FF0066"/>
                </a:solidFill>
                <a:latin typeface="宋体" panose="02010600030101010101" pitchFamily="2" charset="-122"/>
              </a:rPr>
              <a:t>SP</a:t>
            </a:r>
            <a:r>
              <a:rPr lang="en-US" altLang="zh-CN"/>
              <a:t> </a:t>
            </a:r>
          </a:p>
        </p:txBody>
      </p:sp>
      <p:sp>
        <p:nvSpPr>
          <p:cNvPr id="11981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C83E315-FBD4-4ACF-9ED3-D54237B6283C}" type="slidenum">
              <a:rPr lang="en-US" altLang="zh-CN" sz="1400" b="0"/>
              <a:pPr eaLnBrk="1" hangingPunct="1"/>
              <a:t>106</a:t>
            </a:fld>
            <a:endParaRPr lang="en-US" altLang="zh-CN" sz="1400" b="0"/>
          </a:p>
        </p:txBody>
      </p:sp>
      <p:sp>
        <p:nvSpPr>
          <p:cNvPr id="119812" name="Text Box 5"/>
          <p:cNvSpPr txBox="1">
            <a:spLocks noChangeArrowheads="1"/>
          </p:cNvSpPr>
          <p:nvPr/>
        </p:nvSpPr>
        <p:spPr bwMode="auto">
          <a:xfrm>
            <a:off x="539750" y="1916113"/>
            <a:ext cx="7920038" cy="528637"/>
          </a:xfrm>
          <a:prstGeom prst="rect">
            <a:avLst/>
          </a:prstGeom>
          <a:solidFill>
            <a:srgbClr val="00FFFF"/>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a:t>数据总线</a:t>
            </a:r>
          </a:p>
        </p:txBody>
      </p:sp>
      <p:sp>
        <p:nvSpPr>
          <p:cNvPr id="119813" name="Text Box 6"/>
          <p:cNvSpPr txBox="1">
            <a:spLocks noChangeArrowheads="1"/>
          </p:cNvSpPr>
          <p:nvPr/>
        </p:nvSpPr>
        <p:spPr bwMode="auto">
          <a:xfrm>
            <a:off x="1909763" y="3211513"/>
            <a:ext cx="1152525" cy="406400"/>
          </a:xfrm>
          <a:prstGeom prst="rect">
            <a:avLst/>
          </a:prstGeom>
          <a:solidFill>
            <a:schemeClr val="folHlink"/>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DRR(16)</a:t>
            </a:r>
          </a:p>
        </p:txBody>
      </p:sp>
      <p:sp>
        <p:nvSpPr>
          <p:cNvPr id="119814" name="Text Box 7"/>
          <p:cNvSpPr txBox="1">
            <a:spLocks noChangeArrowheads="1"/>
          </p:cNvSpPr>
          <p:nvPr/>
        </p:nvSpPr>
        <p:spPr bwMode="auto">
          <a:xfrm>
            <a:off x="6075363" y="3211513"/>
            <a:ext cx="1152525" cy="406400"/>
          </a:xfrm>
          <a:prstGeom prst="rect">
            <a:avLst/>
          </a:prstGeom>
          <a:solidFill>
            <a:schemeClr val="accent1"/>
          </a:solidFill>
          <a:ln w="9525">
            <a:solidFill>
              <a:schemeClr va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0000"/>
                </a:solidFill>
              </a:rPr>
              <a:t>DXR(16)</a:t>
            </a:r>
          </a:p>
        </p:txBody>
      </p:sp>
      <p:sp>
        <p:nvSpPr>
          <p:cNvPr id="119815" name="Text Box 8"/>
          <p:cNvSpPr txBox="1">
            <a:spLocks noChangeArrowheads="1"/>
          </p:cNvSpPr>
          <p:nvPr/>
        </p:nvSpPr>
        <p:spPr bwMode="auto">
          <a:xfrm>
            <a:off x="6084888" y="4435475"/>
            <a:ext cx="1152525" cy="406400"/>
          </a:xfrm>
          <a:prstGeom prst="rect">
            <a:avLst/>
          </a:prstGeom>
          <a:solidFill>
            <a:schemeClr val="accent1"/>
          </a:solidFill>
          <a:ln w="9525">
            <a:solidFill>
              <a:schemeClr va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0000"/>
                </a:solidFill>
              </a:rPr>
              <a:t>XSR(16)</a:t>
            </a:r>
          </a:p>
        </p:txBody>
      </p:sp>
      <p:sp>
        <p:nvSpPr>
          <p:cNvPr id="119816" name="Text Box 9"/>
          <p:cNvSpPr txBox="1">
            <a:spLocks noChangeArrowheads="1"/>
          </p:cNvSpPr>
          <p:nvPr/>
        </p:nvSpPr>
        <p:spPr bwMode="auto">
          <a:xfrm>
            <a:off x="1931988" y="4435475"/>
            <a:ext cx="1079500" cy="406400"/>
          </a:xfrm>
          <a:prstGeom prst="rect">
            <a:avLst/>
          </a:prstGeom>
          <a:solidFill>
            <a:schemeClr val="folHlink"/>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RSR(16)</a:t>
            </a:r>
          </a:p>
        </p:txBody>
      </p:sp>
      <p:sp>
        <p:nvSpPr>
          <p:cNvPr id="119817" name="Text Box 10"/>
          <p:cNvSpPr txBox="1">
            <a:spLocks noChangeArrowheads="1"/>
          </p:cNvSpPr>
          <p:nvPr/>
        </p:nvSpPr>
        <p:spPr bwMode="auto">
          <a:xfrm>
            <a:off x="3059113" y="3067050"/>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6600"/>
                </a:solidFill>
              </a:rPr>
              <a:t>装载</a:t>
            </a:r>
          </a:p>
        </p:txBody>
      </p:sp>
      <p:sp>
        <p:nvSpPr>
          <p:cNvPr id="119818" name="Text Box 11"/>
          <p:cNvSpPr txBox="1">
            <a:spLocks noChangeArrowheads="1"/>
          </p:cNvSpPr>
          <p:nvPr/>
        </p:nvSpPr>
        <p:spPr bwMode="auto">
          <a:xfrm>
            <a:off x="139700" y="3659188"/>
            <a:ext cx="20161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6600"/>
                </a:solidFill>
              </a:rPr>
              <a:t>RINT</a:t>
            </a:r>
            <a:r>
              <a:rPr lang="zh-CN" altLang="en-US">
                <a:solidFill>
                  <a:srgbClr val="FF6600"/>
                </a:solidFill>
              </a:rPr>
              <a:t>完成</a:t>
            </a:r>
            <a:r>
              <a:rPr lang="en-US" altLang="zh-CN">
                <a:solidFill>
                  <a:srgbClr val="FF6600"/>
                </a:solidFill>
              </a:rPr>
              <a:t>RSR-DRR</a:t>
            </a:r>
            <a:r>
              <a:rPr lang="zh-CN" altLang="en-US">
                <a:solidFill>
                  <a:srgbClr val="FF6600"/>
                </a:solidFill>
              </a:rPr>
              <a:t>转移后中断</a:t>
            </a:r>
          </a:p>
        </p:txBody>
      </p:sp>
      <p:sp>
        <p:nvSpPr>
          <p:cNvPr id="119819" name="Text Box 12"/>
          <p:cNvSpPr txBox="1">
            <a:spLocks noChangeArrowheads="1"/>
          </p:cNvSpPr>
          <p:nvPr/>
        </p:nvSpPr>
        <p:spPr bwMode="auto">
          <a:xfrm>
            <a:off x="6956425" y="3643313"/>
            <a:ext cx="20161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tx2"/>
                </a:solidFill>
              </a:rPr>
              <a:t>XINT</a:t>
            </a:r>
            <a:r>
              <a:rPr lang="zh-CN" altLang="en-US">
                <a:solidFill>
                  <a:schemeClr val="tx2"/>
                </a:solidFill>
              </a:rPr>
              <a:t>完成</a:t>
            </a:r>
            <a:r>
              <a:rPr lang="en-US" altLang="zh-CN">
                <a:solidFill>
                  <a:schemeClr val="tx2"/>
                </a:solidFill>
              </a:rPr>
              <a:t>DXR-XSR</a:t>
            </a:r>
            <a:r>
              <a:rPr lang="zh-CN" altLang="en-US">
                <a:solidFill>
                  <a:schemeClr val="tx2"/>
                </a:solidFill>
              </a:rPr>
              <a:t>转移后中断</a:t>
            </a:r>
          </a:p>
        </p:txBody>
      </p:sp>
      <p:sp>
        <p:nvSpPr>
          <p:cNvPr id="119820" name="Text Box 13"/>
          <p:cNvSpPr txBox="1">
            <a:spLocks noChangeArrowheads="1"/>
          </p:cNvSpPr>
          <p:nvPr/>
        </p:nvSpPr>
        <p:spPr bwMode="auto">
          <a:xfrm>
            <a:off x="2727325" y="3716338"/>
            <a:ext cx="1800225" cy="406400"/>
          </a:xfrm>
          <a:prstGeom prst="rect">
            <a:avLst/>
          </a:prstGeom>
          <a:solidFill>
            <a:schemeClr val="folHlink"/>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chemeClr val="bg1"/>
                </a:solidFill>
              </a:rPr>
              <a:t>装载控制逻辑</a:t>
            </a:r>
          </a:p>
        </p:txBody>
      </p:sp>
      <p:sp>
        <p:nvSpPr>
          <p:cNvPr id="119821" name="Text Box 15"/>
          <p:cNvSpPr txBox="1">
            <a:spLocks noChangeArrowheads="1"/>
          </p:cNvSpPr>
          <p:nvPr/>
        </p:nvSpPr>
        <p:spPr bwMode="auto">
          <a:xfrm>
            <a:off x="3995738" y="3211513"/>
            <a:ext cx="1800225" cy="406400"/>
          </a:xfrm>
          <a:prstGeom prst="rect">
            <a:avLst/>
          </a:prstGeom>
          <a:solidFill>
            <a:schemeClr val="accent1"/>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FF0000"/>
                </a:solidFill>
              </a:rPr>
              <a:t>装载控制逻辑</a:t>
            </a:r>
          </a:p>
        </p:txBody>
      </p:sp>
      <p:sp>
        <p:nvSpPr>
          <p:cNvPr id="119822" name="Text Box 16"/>
          <p:cNvSpPr txBox="1">
            <a:spLocks noChangeArrowheads="1"/>
          </p:cNvSpPr>
          <p:nvPr/>
        </p:nvSpPr>
        <p:spPr bwMode="auto">
          <a:xfrm>
            <a:off x="5508625" y="4003675"/>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a:solidFill>
                  <a:schemeClr val="tx2"/>
                </a:solidFill>
              </a:rPr>
              <a:t>装载</a:t>
            </a:r>
          </a:p>
        </p:txBody>
      </p:sp>
      <p:sp>
        <p:nvSpPr>
          <p:cNvPr id="119823" name="Text Box 17"/>
          <p:cNvSpPr txBox="1">
            <a:spLocks noChangeArrowheads="1"/>
          </p:cNvSpPr>
          <p:nvPr/>
        </p:nvSpPr>
        <p:spPr bwMode="auto">
          <a:xfrm>
            <a:off x="684213" y="5200650"/>
            <a:ext cx="2303462" cy="406400"/>
          </a:xfrm>
          <a:prstGeom prst="rect">
            <a:avLst/>
          </a:prstGeom>
          <a:solidFill>
            <a:schemeClr val="folHlink"/>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chemeClr val="bg1"/>
                </a:solidFill>
              </a:rPr>
              <a:t>字节</a:t>
            </a:r>
            <a:r>
              <a:rPr lang="en-US" altLang="zh-CN">
                <a:solidFill>
                  <a:schemeClr val="bg1"/>
                </a:solidFill>
              </a:rPr>
              <a:t>/</a:t>
            </a:r>
            <a:r>
              <a:rPr lang="zh-CN" altLang="en-US">
                <a:solidFill>
                  <a:schemeClr val="bg1"/>
                </a:solidFill>
              </a:rPr>
              <a:t>字控制计数器</a:t>
            </a:r>
          </a:p>
        </p:txBody>
      </p:sp>
      <p:sp>
        <p:nvSpPr>
          <p:cNvPr id="119824" name="Text Box 18"/>
          <p:cNvSpPr txBox="1">
            <a:spLocks noChangeArrowheads="1"/>
          </p:cNvSpPr>
          <p:nvPr/>
        </p:nvSpPr>
        <p:spPr bwMode="auto">
          <a:xfrm>
            <a:off x="6084888" y="5200650"/>
            <a:ext cx="2305050" cy="406400"/>
          </a:xfrm>
          <a:prstGeom prst="rect">
            <a:avLst/>
          </a:prstGeom>
          <a:solidFill>
            <a:schemeClr val="accent1"/>
          </a:solidFill>
          <a:ln w="9525">
            <a:solidFill>
              <a:schemeClr va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FF0000"/>
                </a:solidFill>
              </a:rPr>
              <a:t>字节</a:t>
            </a:r>
            <a:r>
              <a:rPr lang="en-US" altLang="zh-CN">
                <a:solidFill>
                  <a:srgbClr val="FF0000"/>
                </a:solidFill>
              </a:rPr>
              <a:t>/</a:t>
            </a:r>
            <a:r>
              <a:rPr lang="zh-CN" altLang="en-US">
                <a:solidFill>
                  <a:srgbClr val="FF0000"/>
                </a:solidFill>
              </a:rPr>
              <a:t>字控制计数器</a:t>
            </a:r>
          </a:p>
        </p:txBody>
      </p:sp>
      <p:sp>
        <p:nvSpPr>
          <p:cNvPr id="119825" name="Text Box 19"/>
          <p:cNvSpPr txBox="1">
            <a:spLocks noChangeArrowheads="1"/>
          </p:cNvSpPr>
          <p:nvPr/>
        </p:nvSpPr>
        <p:spPr bwMode="auto">
          <a:xfrm>
            <a:off x="2843213" y="4803775"/>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6600"/>
                </a:solidFill>
              </a:rPr>
              <a:t>清除</a:t>
            </a:r>
          </a:p>
        </p:txBody>
      </p:sp>
      <p:sp>
        <p:nvSpPr>
          <p:cNvPr id="119826" name="Text Box 20"/>
          <p:cNvSpPr txBox="1">
            <a:spLocks noChangeArrowheads="1"/>
          </p:cNvSpPr>
          <p:nvPr/>
        </p:nvSpPr>
        <p:spPr bwMode="auto">
          <a:xfrm>
            <a:off x="5372100" y="4819650"/>
            <a:ext cx="792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chemeClr val="tx2"/>
                </a:solidFill>
              </a:rPr>
              <a:t>清除</a:t>
            </a:r>
          </a:p>
        </p:txBody>
      </p:sp>
      <p:sp>
        <p:nvSpPr>
          <p:cNvPr id="119827" name="Text Box 21"/>
          <p:cNvSpPr txBox="1">
            <a:spLocks noChangeArrowheads="1"/>
          </p:cNvSpPr>
          <p:nvPr/>
        </p:nvSpPr>
        <p:spPr bwMode="auto">
          <a:xfrm>
            <a:off x="2843213" y="5588000"/>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6600"/>
                </a:solidFill>
              </a:rPr>
              <a:t>时钟</a:t>
            </a:r>
          </a:p>
        </p:txBody>
      </p:sp>
      <p:sp>
        <p:nvSpPr>
          <p:cNvPr id="119828" name="Text Box 22"/>
          <p:cNvSpPr txBox="1">
            <a:spLocks noChangeArrowheads="1"/>
          </p:cNvSpPr>
          <p:nvPr/>
        </p:nvSpPr>
        <p:spPr bwMode="auto">
          <a:xfrm>
            <a:off x="5364163" y="5516563"/>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a:solidFill>
                  <a:schemeClr val="tx2"/>
                </a:solidFill>
              </a:rPr>
              <a:t>时钟</a:t>
            </a:r>
          </a:p>
        </p:txBody>
      </p:sp>
      <p:sp>
        <p:nvSpPr>
          <p:cNvPr id="119829" name="Text Box 23"/>
          <p:cNvSpPr txBox="1">
            <a:spLocks noChangeArrowheads="1"/>
          </p:cNvSpPr>
          <p:nvPr/>
        </p:nvSpPr>
        <p:spPr bwMode="auto">
          <a:xfrm>
            <a:off x="250825" y="5948363"/>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0000"/>
                </a:solidFill>
              </a:rPr>
              <a:t>DR</a:t>
            </a:r>
          </a:p>
        </p:txBody>
      </p:sp>
      <p:sp>
        <p:nvSpPr>
          <p:cNvPr id="119830" name="Text Box 24"/>
          <p:cNvSpPr txBox="1">
            <a:spLocks noChangeArrowheads="1"/>
          </p:cNvSpPr>
          <p:nvPr/>
        </p:nvSpPr>
        <p:spPr bwMode="auto">
          <a:xfrm>
            <a:off x="8101013" y="5875338"/>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solidFill>
                  <a:schemeClr val="tx2"/>
                </a:solidFill>
              </a:rPr>
              <a:t>DX</a:t>
            </a:r>
          </a:p>
        </p:txBody>
      </p:sp>
      <p:sp>
        <p:nvSpPr>
          <p:cNvPr id="119831" name="Text Box 25"/>
          <p:cNvSpPr txBox="1">
            <a:spLocks noChangeArrowheads="1"/>
          </p:cNvSpPr>
          <p:nvPr/>
        </p:nvSpPr>
        <p:spPr bwMode="auto">
          <a:xfrm>
            <a:off x="5148263" y="5948363"/>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tx2"/>
                </a:solidFill>
              </a:rPr>
              <a:t>FSX</a:t>
            </a:r>
          </a:p>
        </p:txBody>
      </p:sp>
      <p:sp>
        <p:nvSpPr>
          <p:cNvPr id="119832" name="Text Box 26"/>
          <p:cNvSpPr txBox="1">
            <a:spLocks noChangeArrowheads="1"/>
          </p:cNvSpPr>
          <p:nvPr/>
        </p:nvSpPr>
        <p:spPr bwMode="auto">
          <a:xfrm>
            <a:off x="2700338" y="5948363"/>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0000"/>
                </a:solidFill>
              </a:rPr>
              <a:t>FSR</a:t>
            </a:r>
          </a:p>
        </p:txBody>
      </p:sp>
      <p:sp>
        <p:nvSpPr>
          <p:cNvPr id="119833" name="Text Box 27"/>
          <p:cNvSpPr txBox="1">
            <a:spLocks noChangeArrowheads="1"/>
          </p:cNvSpPr>
          <p:nvPr/>
        </p:nvSpPr>
        <p:spPr bwMode="auto">
          <a:xfrm>
            <a:off x="3492500" y="5948363"/>
            <a:ext cx="933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0000"/>
                </a:solidFill>
              </a:rPr>
              <a:t>CLKR</a:t>
            </a:r>
          </a:p>
        </p:txBody>
      </p:sp>
      <p:sp>
        <p:nvSpPr>
          <p:cNvPr id="119834" name="Text Box 28"/>
          <p:cNvSpPr txBox="1">
            <a:spLocks noChangeArrowheads="1"/>
          </p:cNvSpPr>
          <p:nvPr/>
        </p:nvSpPr>
        <p:spPr bwMode="auto">
          <a:xfrm>
            <a:off x="4284663" y="5949950"/>
            <a:ext cx="933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tx2"/>
                </a:solidFill>
              </a:rPr>
              <a:t>CLKX</a:t>
            </a:r>
          </a:p>
        </p:txBody>
      </p:sp>
      <p:sp>
        <p:nvSpPr>
          <p:cNvPr id="119835" name="Line 29"/>
          <p:cNvSpPr>
            <a:spLocks noChangeShapeType="1"/>
          </p:cNvSpPr>
          <p:nvPr/>
        </p:nvSpPr>
        <p:spPr bwMode="auto">
          <a:xfrm flipH="1" flipV="1">
            <a:off x="2484438" y="2420938"/>
            <a:ext cx="1587" cy="790575"/>
          </a:xfrm>
          <a:prstGeom prst="line">
            <a:avLst/>
          </a:prstGeom>
          <a:noFill/>
          <a:ln w="571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36" name="Line 30"/>
          <p:cNvSpPr>
            <a:spLocks noChangeShapeType="1"/>
          </p:cNvSpPr>
          <p:nvPr/>
        </p:nvSpPr>
        <p:spPr bwMode="auto">
          <a:xfrm flipV="1">
            <a:off x="2339975" y="2781300"/>
            <a:ext cx="288925" cy="144463"/>
          </a:xfrm>
          <a:prstGeom prst="line">
            <a:avLst/>
          </a:prstGeom>
          <a:noFill/>
          <a:ln w="9525">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37" name="Text Box 31"/>
          <p:cNvSpPr txBox="1">
            <a:spLocks noChangeArrowheads="1"/>
          </p:cNvSpPr>
          <p:nvPr/>
        </p:nvSpPr>
        <p:spPr bwMode="auto">
          <a:xfrm>
            <a:off x="1835150" y="2636838"/>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6600"/>
                </a:solidFill>
              </a:rPr>
              <a:t>16</a:t>
            </a:r>
          </a:p>
        </p:txBody>
      </p:sp>
      <p:sp>
        <p:nvSpPr>
          <p:cNvPr id="119838" name="Line 32"/>
          <p:cNvSpPr>
            <a:spLocks noChangeShapeType="1"/>
          </p:cNvSpPr>
          <p:nvPr/>
        </p:nvSpPr>
        <p:spPr bwMode="auto">
          <a:xfrm flipV="1">
            <a:off x="6659563" y="2420938"/>
            <a:ext cx="0" cy="790575"/>
          </a:xfrm>
          <a:prstGeom prst="line">
            <a:avLst/>
          </a:prstGeom>
          <a:noFill/>
          <a:ln w="57150">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39" name="Line 33"/>
          <p:cNvSpPr>
            <a:spLocks noChangeShapeType="1"/>
          </p:cNvSpPr>
          <p:nvPr/>
        </p:nvSpPr>
        <p:spPr bwMode="auto">
          <a:xfrm flipV="1">
            <a:off x="6516688" y="2708275"/>
            <a:ext cx="288925" cy="144463"/>
          </a:xfrm>
          <a:prstGeom prst="line">
            <a:avLst/>
          </a:prstGeom>
          <a:noFill/>
          <a:ln w="952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40" name="Text Box 34"/>
          <p:cNvSpPr txBox="1">
            <a:spLocks noChangeArrowheads="1"/>
          </p:cNvSpPr>
          <p:nvPr/>
        </p:nvSpPr>
        <p:spPr bwMode="auto">
          <a:xfrm>
            <a:off x="6804025" y="2636838"/>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tx2"/>
                </a:solidFill>
              </a:rPr>
              <a:t>16</a:t>
            </a:r>
          </a:p>
        </p:txBody>
      </p:sp>
      <p:sp>
        <p:nvSpPr>
          <p:cNvPr id="119841" name="Line 35"/>
          <p:cNvSpPr>
            <a:spLocks noChangeShapeType="1"/>
          </p:cNvSpPr>
          <p:nvPr/>
        </p:nvSpPr>
        <p:spPr bwMode="auto">
          <a:xfrm flipV="1">
            <a:off x="2341563" y="3787775"/>
            <a:ext cx="288925" cy="144463"/>
          </a:xfrm>
          <a:prstGeom prst="line">
            <a:avLst/>
          </a:prstGeom>
          <a:noFill/>
          <a:ln w="9525">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42" name="Line 36"/>
          <p:cNvSpPr>
            <a:spLocks noChangeShapeType="1"/>
          </p:cNvSpPr>
          <p:nvPr/>
        </p:nvSpPr>
        <p:spPr bwMode="auto">
          <a:xfrm flipV="1">
            <a:off x="2484438" y="3571875"/>
            <a:ext cx="1587" cy="863600"/>
          </a:xfrm>
          <a:prstGeom prst="line">
            <a:avLst/>
          </a:prstGeom>
          <a:noFill/>
          <a:ln w="571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43" name="Line 37"/>
          <p:cNvSpPr>
            <a:spLocks noChangeShapeType="1"/>
          </p:cNvSpPr>
          <p:nvPr/>
        </p:nvSpPr>
        <p:spPr bwMode="auto">
          <a:xfrm flipV="1">
            <a:off x="6515100" y="3787775"/>
            <a:ext cx="288925" cy="144463"/>
          </a:xfrm>
          <a:prstGeom prst="line">
            <a:avLst/>
          </a:prstGeom>
          <a:noFill/>
          <a:ln w="9525">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44" name="Line 38"/>
          <p:cNvSpPr>
            <a:spLocks noChangeShapeType="1"/>
          </p:cNvSpPr>
          <p:nvPr/>
        </p:nvSpPr>
        <p:spPr bwMode="auto">
          <a:xfrm flipV="1">
            <a:off x="6659563" y="3571875"/>
            <a:ext cx="0" cy="863600"/>
          </a:xfrm>
          <a:prstGeom prst="line">
            <a:avLst/>
          </a:prstGeom>
          <a:noFill/>
          <a:ln w="57150">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45" name="Line 39"/>
          <p:cNvSpPr>
            <a:spLocks noChangeShapeType="1"/>
          </p:cNvSpPr>
          <p:nvPr/>
        </p:nvSpPr>
        <p:spPr bwMode="auto">
          <a:xfrm flipH="1">
            <a:off x="2195513" y="4076700"/>
            <a:ext cx="290512" cy="0"/>
          </a:xfrm>
          <a:prstGeom prst="line">
            <a:avLst/>
          </a:prstGeom>
          <a:noFill/>
          <a:ln w="9525">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46" name="Line 40"/>
          <p:cNvSpPr>
            <a:spLocks noChangeShapeType="1"/>
          </p:cNvSpPr>
          <p:nvPr/>
        </p:nvSpPr>
        <p:spPr bwMode="auto">
          <a:xfrm>
            <a:off x="6659563" y="4003675"/>
            <a:ext cx="288925" cy="0"/>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47" name="Line 41"/>
          <p:cNvSpPr>
            <a:spLocks noChangeShapeType="1"/>
          </p:cNvSpPr>
          <p:nvPr/>
        </p:nvSpPr>
        <p:spPr bwMode="auto">
          <a:xfrm>
            <a:off x="250825" y="4651375"/>
            <a:ext cx="1657350" cy="0"/>
          </a:xfrm>
          <a:prstGeom prst="line">
            <a:avLst/>
          </a:prstGeom>
          <a:noFill/>
          <a:ln w="190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48" name="Line 42"/>
          <p:cNvSpPr>
            <a:spLocks noChangeShapeType="1"/>
          </p:cNvSpPr>
          <p:nvPr/>
        </p:nvSpPr>
        <p:spPr bwMode="auto">
          <a:xfrm>
            <a:off x="250825" y="4651375"/>
            <a:ext cx="0" cy="1223963"/>
          </a:xfrm>
          <a:prstGeom prst="line">
            <a:avLst/>
          </a:prstGeom>
          <a:noFill/>
          <a:ln w="19050">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49" name="Line 43"/>
          <p:cNvSpPr>
            <a:spLocks noChangeShapeType="1"/>
          </p:cNvSpPr>
          <p:nvPr/>
        </p:nvSpPr>
        <p:spPr bwMode="auto">
          <a:xfrm flipV="1">
            <a:off x="3635375" y="3411538"/>
            <a:ext cx="0" cy="288925"/>
          </a:xfrm>
          <a:prstGeom prst="line">
            <a:avLst/>
          </a:prstGeom>
          <a:noFill/>
          <a:ln w="19050">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50" name="Line 44"/>
          <p:cNvSpPr>
            <a:spLocks noChangeShapeType="1"/>
          </p:cNvSpPr>
          <p:nvPr/>
        </p:nvSpPr>
        <p:spPr bwMode="auto">
          <a:xfrm flipH="1">
            <a:off x="3059113" y="3411538"/>
            <a:ext cx="576262" cy="0"/>
          </a:xfrm>
          <a:prstGeom prst="line">
            <a:avLst/>
          </a:prstGeom>
          <a:noFill/>
          <a:ln w="190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51" name="Line 45"/>
          <p:cNvSpPr>
            <a:spLocks noChangeShapeType="1"/>
          </p:cNvSpPr>
          <p:nvPr/>
        </p:nvSpPr>
        <p:spPr bwMode="auto">
          <a:xfrm flipV="1">
            <a:off x="3492500" y="4114800"/>
            <a:ext cx="0" cy="1760538"/>
          </a:xfrm>
          <a:prstGeom prst="line">
            <a:avLst/>
          </a:prstGeom>
          <a:noFill/>
          <a:ln w="28575">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52" name="Line 46"/>
          <p:cNvSpPr>
            <a:spLocks noChangeShapeType="1"/>
          </p:cNvSpPr>
          <p:nvPr/>
        </p:nvSpPr>
        <p:spPr bwMode="auto">
          <a:xfrm flipV="1">
            <a:off x="3851275" y="4130675"/>
            <a:ext cx="0" cy="1744663"/>
          </a:xfrm>
          <a:prstGeom prst="line">
            <a:avLst/>
          </a:prstGeom>
          <a:noFill/>
          <a:ln w="28575">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53" name="Line 47"/>
          <p:cNvSpPr>
            <a:spLocks noChangeShapeType="1"/>
          </p:cNvSpPr>
          <p:nvPr/>
        </p:nvSpPr>
        <p:spPr bwMode="auto">
          <a:xfrm flipH="1">
            <a:off x="2987675" y="4579938"/>
            <a:ext cx="504825" cy="0"/>
          </a:xfrm>
          <a:prstGeom prst="line">
            <a:avLst/>
          </a:prstGeom>
          <a:noFill/>
          <a:ln w="190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54" name="Line 48"/>
          <p:cNvSpPr>
            <a:spLocks noChangeShapeType="1"/>
          </p:cNvSpPr>
          <p:nvPr/>
        </p:nvSpPr>
        <p:spPr bwMode="auto">
          <a:xfrm flipH="1">
            <a:off x="2987675" y="4724400"/>
            <a:ext cx="863600" cy="0"/>
          </a:xfrm>
          <a:prstGeom prst="line">
            <a:avLst/>
          </a:prstGeom>
          <a:noFill/>
          <a:ln w="190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55" name="Line 49"/>
          <p:cNvSpPr>
            <a:spLocks noChangeShapeType="1"/>
          </p:cNvSpPr>
          <p:nvPr/>
        </p:nvSpPr>
        <p:spPr bwMode="auto">
          <a:xfrm flipH="1">
            <a:off x="2987675" y="5311775"/>
            <a:ext cx="504825" cy="0"/>
          </a:xfrm>
          <a:prstGeom prst="line">
            <a:avLst/>
          </a:prstGeom>
          <a:noFill/>
          <a:ln w="190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56" name="Line 50"/>
          <p:cNvSpPr>
            <a:spLocks noChangeShapeType="1"/>
          </p:cNvSpPr>
          <p:nvPr/>
        </p:nvSpPr>
        <p:spPr bwMode="auto">
          <a:xfrm flipH="1">
            <a:off x="2987675" y="5453063"/>
            <a:ext cx="863600" cy="0"/>
          </a:xfrm>
          <a:prstGeom prst="line">
            <a:avLst/>
          </a:prstGeom>
          <a:noFill/>
          <a:ln w="19050">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57" name="Line 52"/>
          <p:cNvSpPr>
            <a:spLocks noChangeShapeType="1"/>
          </p:cNvSpPr>
          <p:nvPr/>
        </p:nvSpPr>
        <p:spPr bwMode="auto">
          <a:xfrm>
            <a:off x="5788025" y="3427413"/>
            <a:ext cx="144463" cy="0"/>
          </a:xfrm>
          <a:prstGeom prst="line">
            <a:avLst/>
          </a:prstGeom>
          <a:noFill/>
          <a:ln w="19050">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58" name="Line 53"/>
          <p:cNvSpPr>
            <a:spLocks noChangeShapeType="1"/>
          </p:cNvSpPr>
          <p:nvPr/>
        </p:nvSpPr>
        <p:spPr bwMode="auto">
          <a:xfrm>
            <a:off x="5940425" y="3427413"/>
            <a:ext cx="0" cy="576262"/>
          </a:xfrm>
          <a:prstGeom prst="line">
            <a:avLst/>
          </a:prstGeom>
          <a:noFill/>
          <a:ln w="19050">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59" name="Line 54"/>
          <p:cNvSpPr>
            <a:spLocks noChangeShapeType="1"/>
          </p:cNvSpPr>
          <p:nvPr/>
        </p:nvSpPr>
        <p:spPr bwMode="auto">
          <a:xfrm>
            <a:off x="5940425" y="4003675"/>
            <a:ext cx="431800" cy="0"/>
          </a:xfrm>
          <a:prstGeom prst="line">
            <a:avLst/>
          </a:prstGeom>
          <a:noFill/>
          <a:ln w="19050">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60" name="Line 55"/>
          <p:cNvSpPr>
            <a:spLocks noChangeShapeType="1"/>
          </p:cNvSpPr>
          <p:nvPr/>
        </p:nvSpPr>
        <p:spPr bwMode="auto">
          <a:xfrm>
            <a:off x="6372225" y="4003675"/>
            <a:ext cx="0" cy="431800"/>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61" name="Line 56"/>
          <p:cNvSpPr>
            <a:spLocks noChangeShapeType="1"/>
          </p:cNvSpPr>
          <p:nvPr/>
        </p:nvSpPr>
        <p:spPr bwMode="auto">
          <a:xfrm>
            <a:off x="4691063" y="3627438"/>
            <a:ext cx="0" cy="2305050"/>
          </a:xfrm>
          <a:prstGeom prst="line">
            <a:avLst/>
          </a:prstGeom>
          <a:noFill/>
          <a:ln w="19050">
            <a:solidFill>
              <a:schemeClr val="tx2"/>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62" name="Line 57"/>
          <p:cNvSpPr>
            <a:spLocks noChangeShapeType="1"/>
          </p:cNvSpPr>
          <p:nvPr/>
        </p:nvSpPr>
        <p:spPr bwMode="auto">
          <a:xfrm>
            <a:off x="5076825" y="3619500"/>
            <a:ext cx="0" cy="2305050"/>
          </a:xfrm>
          <a:prstGeom prst="line">
            <a:avLst/>
          </a:prstGeom>
          <a:noFill/>
          <a:ln w="19050">
            <a:solidFill>
              <a:schemeClr val="tx2"/>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63" name="Line 58"/>
          <p:cNvSpPr>
            <a:spLocks noChangeShapeType="1"/>
          </p:cNvSpPr>
          <p:nvPr/>
        </p:nvSpPr>
        <p:spPr bwMode="auto">
          <a:xfrm>
            <a:off x="5076825" y="4579938"/>
            <a:ext cx="1008063" cy="0"/>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64" name="Line 59"/>
          <p:cNvSpPr>
            <a:spLocks noChangeShapeType="1"/>
          </p:cNvSpPr>
          <p:nvPr/>
        </p:nvSpPr>
        <p:spPr bwMode="auto">
          <a:xfrm>
            <a:off x="4716463" y="4724400"/>
            <a:ext cx="1368425" cy="0"/>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65" name="Line 61"/>
          <p:cNvSpPr>
            <a:spLocks noChangeShapeType="1"/>
          </p:cNvSpPr>
          <p:nvPr/>
        </p:nvSpPr>
        <p:spPr bwMode="auto">
          <a:xfrm>
            <a:off x="4716463" y="5443538"/>
            <a:ext cx="1368425" cy="0"/>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66" name="Line 63"/>
          <p:cNvSpPr>
            <a:spLocks noChangeShapeType="1"/>
          </p:cNvSpPr>
          <p:nvPr/>
        </p:nvSpPr>
        <p:spPr bwMode="auto">
          <a:xfrm>
            <a:off x="5060950" y="5311775"/>
            <a:ext cx="1008063" cy="0"/>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67" name="Text Box 64"/>
          <p:cNvSpPr txBox="1">
            <a:spLocks noChangeArrowheads="1"/>
          </p:cNvSpPr>
          <p:nvPr/>
        </p:nvSpPr>
        <p:spPr bwMode="auto">
          <a:xfrm>
            <a:off x="6084888" y="3571875"/>
            <a:ext cx="503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tx2"/>
                </a:solidFill>
              </a:rPr>
              <a:t>16</a:t>
            </a:r>
          </a:p>
        </p:txBody>
      </p:sp>
      <p:sp>
        <p:nvSpPr>
          <p:cNvPr id="119868" name="Line 65"/>
          <p:cNvSpPr>
            <a:spLocks noChangeShapeType="1"/>
          </p:cNvSpPr>
          <p:nvPr/>
        </p:nvSpPr>
        <p:spPr bwMode="auto">
          <a:xfrm>
            <a:off x="7235825" y="4651375"/>
            <a:ext cx="1657350" cy="0"/>
          </a:xfrm>
          <a:prstGeom prst="line">
            <a:avLst/>
          </a:prstGeom>
          <a:noFill/>
          <a:ln w="19050">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869" name="Line 66"/>
          <p:cNvSpPr>
            <a:spLocks noChangeShapeType="1"/>
          </p:cNvSpPr>
          <p:nvPr/>
        </p:nvSpPr>
        <p:spPr bwMode="auto">
          <a:xfrm>
            <a:off x="8893175" y="4651375"/>
            <a:ext cx="0" cy="1223963"/>
          </a:xfrm>
          <a:prstGeom prst="line">
            <a:avLst/>
          </a:prstGeom>
          <a:noFill/>
          <a:ln w="1905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70" name="Text Box 68"/>
          <p:cNvSpPr txBox="1">
            <a:spLocks noChangeArrowheads="1"/>
          </p:cNvSpPr>
          <p:nvPr/>
        </p:nvSpPr>
        <p:spPr bwMode="auto">
          <a:xfrm>
            <a:off x="1908175" y="3573463"/>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6600"/>
                </a:solidFill>
              </a:rPr>
              <a:t>16</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17474"/>
                                        </p:tgtEl>
                                        <p:attrNameLst>
                                          <p:attrName>style.visibility</p:attrName>
                                        </p:attrNameLst>
                                      </p:cBhvr>
                                      <p:to>
                                        <p:strVal val="visible"/>
                                      </p:to>
                                    </p:set>
                                    <p:animEffect transition="in" filter="box(in)">
                                      <p:cBhvr>
                                        <p:cTn id="7" dur="500"/>
                                        <p:tgtEl>
                                          <p:spTgt spid="617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474" grpId="0"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8498" name="Rectangle 2"/>
          <p:cNvSpPr>
            <a:spLocks noGrp="1" noChangeArrowheads="1"/>
          </p:cNvSpPr>
          <p:nvPr>
            <p:ph type="title"/>
          </p:nvPr>
        </p:nvSpPr>
        <p:spPr bwMode="auto">
          <a:xfrm>
            <a:off x="2438400" y="1219200"/>
            <a:ext cx="41910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66"/>
                </a:solidFill>
                <a:latin typeface="宋体" panose="02010600030101010101" pitchFamily="2" charset="-122"/>
              </a:rPr>
              <a:t>1.</a:t>
            </a:r>
            <a:r>
              <a:rPr lang="zh-CN" altLang="en-US" b="1">
                <a:solidFill>
                  <a:srgbClr val="FF0066"/>
                </a:solidFill>
                <a:latin typeface="宋体" panose="02010600030101010101" pitchFamily="2" charset="-122"/>
              </a:rPr>
              <a:t>串行口</a:t>
            </a:r>
            <a:r>
              <a:rPr lang="zh-CN" altLang="en-US" b="1">
                <a:solidFill>
                  <a:srgbClr val="FF0066"/>
                </a:solidFill>
              </a:rPr>
              <a:t>组成</a:t>
            </a:r>
            <a:r>
              <a:rPr lang="zh-CN" altLang="en-US" b="1"/>
              <a:t> </a:t>
            </a:r>
          </a:p>
        </p:txBody>
      </p:sp>
      <p:sp>
        <p:nvSpPr>
          <p:cNvPr id="120835" name="Rectangle 3"/>
          <p:cNvSpPr>
            <a:spLocks noGrp="1" noChangeArrowheads="1"/>
          </p:cNvSpPr>
          <p:nvPr>
            <p:ph idx="1"/>
          </p:nvPr>
        </p:nvSpPr>
        <p:spPr bwMode="auto">
          <a:xfrm>
            <a:off x="1752600" y="2133600"/>
            <a:ext cx="5791200" cy="3048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latin typeface="宋体" panose="02010600030101010101" pitchFamily="2" charset="-122"/>
              </a:rPr>
              <a:t>16</a:t>
            </a:r>
            <a:r>
              <a:rPr lang="zh-CN" altLang="en-US" b="1">
                <a:latin typeface="宋体" panose="02010600030101010101" pitchFamily="2" charset="-122"/>
              </a:rPr>
              <a:t>位数据接收寄存器（</a:t>
            </a:r>
            <a:r>
              <a:rPr lang="en-US" altLang="zh-CN" b="1">
                <a:latin typeface="宋体" panose="02010600030101010101" pitchFamily="2" charset="-122"/>
              </a:rPr>
              <a:t>DRR</a:t>
            </a:r>
            <a:r>
              <a:rPr lang="zh-CN" altLang="en-US" b="1">
                <a:latin typeface="宋体" panose="02010600030101010101" pitchFamily="2" charset="-122"/>
              </a:rPr>
              <a:t>）</a:t>
            </a:r>
          </a:p>
          <a:p>
            <a:pPr eaLnBrk="1" hangingPunct="1"/>
            <a:r>
              <a:rPr lang="en-US" altLang="zh-CN" b="1">
                <a:latin typeface="宋体" panose="02010600030101010101" pitchFamily="2" charset="-122"/>
              </a:rPr>
              <a:t>16</a:t>
            </a:r>
            <a:r>
              <a:rPr lang="zh-CN" altLang="en-US" b="1">
                <a:latin typeface="宋体" panose="02010600030101010101" pitchFamily="2" charset="-122"/>
              </a:rPr>
              <a:t>数据发送寄存器（</a:t>
            </a:r>
            <a:r>
              <a:rPr lang="en-US" altLang="zh-CN" b="1">
                <a:latin typeface="宋体" panose="02010600030101010101" pitchFamily="2" charset="-122"/>
              </a:rPr>
              <a:t>DXR</a:t>
            </a:r>
            <a:r>
              <a:rPr lang="zh-CN" altLang="en-US" b="1">
                <a:latin typeface="宋体" panose="02010600030101010101" pitchFamily="2" charset="-122"/>
              </a:rPr>
              <a:t>）</a:t>
            </a:r>
          </a:p>
          <a:p>
            <a:pPr eaLnBrk="1" hangingPunct="1"/>
            <a:r>
              <a:rPr lang="en-US" altLang="zh-CN" b="1">
                <a:latin typeface="宋体" panose="02010600030101010101" pitchFamily="2" charset="-122"/>
              </a:rPr>
              <a:t>16</a:t>
            </a:r>
            <a:r>
              <a:rPr lang="zh-CN" altLang="en-US" b="1">
                <a:latin typeface="宋体" panose="02010600030101010101" pitchFamily="2" charset="-122"/>
              </a:rPr>
              <a:t>接收移位寄存器（</a:t>
            </a:r>
            <a:r>
              <a:rPr lang="en-US" altLang="zh-CN" b="1">
                <a:latin typeface="宋体" panose="02010600030101010101" pitchFamily="2" charset="-122"/>
              </a:rPr>
              <a:t>RSR</a:t>
            </a:r>
            <a:r>
              <a:rPr lang="zh-CN" altLang="en-US" b="1">
                <a:latin typeface="宋体" panose="02010600030101010101" pitchFamily="2" charset="-122"/>
              </a:rPr>
              <a:t>）</a:t>
            </a:r>
          </a:p>
          <a:p>
            <a:pPr eaLnBrk="1" hangingPunct="1"/>
            <a:r>
              <a:rPr lang="en-US" altLang="zh-CN" b="1">
                <a:latin typeface="宋体" panose="02010600030101010101" pitchFamily="2" charset="-122"/>
              </a:rPr>
              <a:t>16</a:t>
            </a:r>
            <a:r>
              <a:rPr lang="zh-CN" altLang="en-US" b="1">
                <a:latin typeface="宋体" panose="02010600030101010101" pitchFamily="2" charset="-122"/>
              </a:rPr>
              <a:t>发送移位寄存器（</a:t>
            </a:r>
            <a:r>
              <a:rPr lang="en-US" altLang="zh-CN" b="1">
                <a:latin typeface="宋体" panose="02010600030101010101" pitchFamily="2" charset="-122"/>
              </a:rPr>
              <a:t>XSR</a:t>
            </a:r>
            <a:r>
              <a:rPr lang="zh-CN" altLang="en-US" b="1">
                <a:latin typeface="宋体" panose="02010600030101010101" pitchFamily="2" charset="-122"/>
              </a:rPr>
              <a:t>）</a:t>
            </a:r>
          </a:p>
          <a:p>
            <a:pPr eaLnBrk="1" hangingPunct="1"/>
            <a:r>
              <a:rPr lang="zh-CN" altLang="en-US" b="1">
                <a:latin typeface="宋体" panose="02010600030101010101" pitchFamily="2" charset="-122"/>
              </a:rPr>
              <a:t>控制电路</a:t>
            </a:r>
          </a:p>
        </p:txBody>
      </p:sp>
      <p:sp>
        <p:nvSpPr>
          <p:cNvPr id="12083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A8AB876-F953-4CC1-AF12-CE7378850D6B}" type="slidenum">
              <a:rPr lang="en-US" altLang="zh-CN" sz="1400" b="0"/>
              <a:pPr eaLnBrk="1" hangingPunct="1"/>
              <a:t>107</a:t>
            </a:fld>
            <a:endParaRPr lang="en-US" altLang="zh-CN" sz="1400" b="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618498"/>
                                        </p:tgtEl>
                                        <p:attrNameLst>
                                          <p:attrName>style.visibility</p:attrName>
                                        </p:attrNameLst>
                                      </p:cBhvr>
                                      <p:to>
                                        <p:strVal val="visible"/>
                                      </p:to>
                                    </p:set>
                                    <p:animEffect transition="in" filter="checkerboard(across)">
                                      <p:cBhvr>
                                        <p:cTn id="7" dur="500"/>
                                        <p:tgtEl>
                                          <p:spTgt spid="618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8498" grpId="0"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bwMode="auto">
          <a:xfrm>
            <a:off x="1908175" y="1160463"/>
            <a:ext cx="53340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66"/>
                </a:solidFill>
                <a:latin typeface="宋体" panose="02010600030101010101" pitchFamily="2" charset="-122"/>
              </a:rPr>
              <a:t>标准串口</a:t>
            </a:r>
            <a:r>
              <a:rPr lang="en-US" altLang="zh-CN" b="1">
                <a:solidFill>
                  <a:srgbClr val="FF0066"/>
                </a:solidFill>
                <a:latin typeface="宋体" panose="02010600030101010101" pitchFamily="2" charset="-122"/>
              </a:rPr>
              <a:t>SP</a:t>
            </a:r>
            <a:r>
              <a:rPr lang="zh-CN" altLang="en-US" b="1">
                <a:solidFill>
                  <a:srgbClr val="FF0066"/>
                </a:solidFill>
                <a:latin typeface="宋体" panose="02010600030101010101" pitchFamily="2" charset="-122"/>
              </a:rPr>
              <a:t>特点</a:t>
            </a:r>
            <a:r>
              <a:rPr lang="zh-CN" altLang="en-US" b="1"/>
              <a:t> </a:t>
            </a:r>
          </a:p>
        </p:txBody>
      </p:sp>
      <p:sp>
        <p:nvSpPr>
          <p:cNvPr id="121859" name="Rectangle 3"/>
          <p:cNvSpPr>
            <a:spLocks noGrp="1" noChangeArrowheads="1"/>
          </p:cNvSpPr>
          <p:nvPr>
            <p:ph idx="1"/>
          </p:nvPr>
        </p:nvSpPr>
        <p:spPr bwMode="auto">
          <a:xfrm>
            <a:off x="381000" y="1981200"/>
            <a:ext cx="8382000" cy="441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r>
              <a:rPr lang="zh-CN" altLang="en-US" sz="2800" b="1">
                <a:latin typeface="Arial" panose="020B0604020202020204" pitchFamily="34" charset="0"/>
              </a:rPr>
              <a:t>可有多个相互独立的标准同步串口</a:t>
            </a:r>
          </a:p>
          <a:p>
            <a:pPr algn="just" eaLnBrk="1" hangingPunct="1"/>
            <a:r>
              <a:rPr lang="zh-CN" altLang="en-US" sz="2800" b="1">
                <a:latin typeface="Arial" panose="020B0604020202020204" pitchFamily="34" charset="0"/>
              </a:rPr>
              <a:t>发送和接收是双向缓冲的</a:t>
            </a:r>
          </a:p>
          <a:p>
            <a:pPr algn="just" eaLnBrk="1" hangingPunct="1"/>
            <a:r>
              <a:rPr lang="en-US" altLang="zh-CN" sz="2800" b="1">
                <a:latin typeface="Arial" panose="020B0604020202020204" pitchFamily="34" charset="0"/>
              </a:rPr>
              <a:t>2</a:t>
            </a:r>
            <a:r>
              <a:rPr lang="zh-CN" altLang="en-US" sz="2800" b="1">
                <a:latin typeface="Arial" panose="020B0604020202020204" pitchFamily="34" charset="0"/>
              </a:rPr>
              <a:t>个存储器映像寄存器用于传送数据</a:t>
            </a:r>
          </a:p>
          <a:p>
            <a:pPr algn="just" eaLnBrk="1" hangingPunct="1"/>
            <a:r>
              <a:rPr lang="zh-CN" altLang="en-US" sz="2800" b="1">
                <a:latin typeface="Arial" panose="020B0604020202020204" pitchFamily="34" charset="0"/>
              </a:rPr>
              <a:t>每个口有时钟、帧同步脉冲以及串行移位寄存器</a:t>
            </a:r>
          </a:p>
          <a:p>
            <a:pPr algn="just" eaLnBrk="1" hangingPunct="1"/>
            <a:r>
              <a:rPr lang="zh-CN" altLang="en-US" sz="2800" b="1">
                <a:latin typeface="Arial" panose="020B0604020202020204" pitchFamily="34" charset="0"/>
              </a:rPr>
              <a:t>可以按</a:t>
            </a:r>
            <a:r>
              <a:rPr lang="en-US" altLang="zh-CN" sz="2800" b="1">
                <a:latin typeface="Arial" panose="020B0604020202020204" pitchFamily="34" charset="0"/>
              </a:rPr>
              <a:t>8</a:t>
            </a:r>
            <a:r>
              <a:rPr lang="zh-CN" altLang="en-US" sz="2800" b="1">
                <a:latin typeface="Arial" panose="020B0604020202020204" pitchFamily="34" charset="0"/>
              </a:rPr>
              <a:t>位字节或</a:t>
            </a:r>
            <a:r>
              <a:rPr lang="en-US" altLang="zh-CN" sz="2800" b="1">
                <a:latin typeface="Arial" panose="020B0604020202020204" pitchFamily="34" charset="0"/>
              </a:rPr>
              <a:t>16</a:t>
            </a:r>
            <a:r>
              <a:rPr lang="zh-CN" altLang="en-US" sz="2800" b="1">
                <a:latin typeface="Arial" panose="020B0604020202020204" pitchFamily="34" charset="0"/>
              </a:rPr>
              <a:t>位字节转换</a:t>
            </a:r>
          </a:p>
          <a:p>
            <a:pPr algn="just" eaLnBrk="1" hangingPunct="1"/>
            <a:r>
              <a:rPr lang="zh-CN" altLang="en-US" sz="2800" b="1">
                <a:latin typeface="Arial" panose="020B0604020202020204" pitchFamily="34" charset="0"/>
              </a:rPr>
              <a:t>可以产生自己的可屏蔽收发中断</a:t>
            </a:r>
          </a:p>
          <a:p>
            <a:pPr algn="just" eaLnBrk="1" hangingPunct="1"/>
            <a:r>
              <a:rPr lang="zh-CN" altLang="en-US" sz="2800" b="1">
                <a:latin typeface="Arial" panose="020B0604020202020204" pitchFamily="34" charset="0"/>
              </a:rPr>
              <a:t>可以工作在任意的时钟频率上</a:t>
            </a:r>
          </a:p>
          <a:p>
            <a:pPr algn="just" eaLnBrk="1" hangingPunct="1"/>
            <a:r>
              <a:rPr lang="zh-CN" altLang="en-US" sz="2800" b="1">
                <a:latin typeface="Arial" panose="020B0604020202020204" pitchFamily="34" charset="0"/>
              </a:rPr>
              <a:t>标准串行口的最高工作频率是</a:t>
            </a:r>
            <a:r>
              <a:rPr lang="en-US" altLang="zh-CN" sz="2800" b="1">
                <a:latin typeface="Arial" panose="020B0604020202020204" pitchFamily="34" charset="0"/>
              </a:rPr>
              <a:t>CLKOUT</a:t>
            </a:r>
            <a:r>
              <a:rPr lang="zh-CN" altLang="en-US" sz="2800" b="1">
                <a:latin typeface="Arial" panose="020B0604020202020204" pitchFamily="34" charset="0"/>
              </a:rPr>
              <a:t>的</a:t>
            </a:r>
            <a:r>
              <a:rPr lang="en-US" altLang="zh-CN" sz="2800" b="1">
                <a:latin typeface="Arial" panose="020B0604020202020204" pitchFamily="34" charset="0"/>
              </a:rPr>
              <a:t>1/4</a:t>
            </a:r>
            <a:r>
              <a:rPr lang="zh-CN" altLang="en-US" sz="2800" b="1">
                <a:latin typeface="Arial" panose="020B0604020202020204" pitchFamily="34" charset="0"/>
              </a:rPr>
              <a:t>。</a:t>
            </a:r>
            <a:endParaRPr lang="zh-CN" altLang="en-US" sz="2800" b="1"/>
          </a:p>
        </p:txBody>
      </p:sp>
      <p:sp>
        <p:nvSpPr>
          <p:cNvPr id="12186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A9D10A8-FFB1-4727-9680-A33CE28F0D16}" type="slidenum">
              <a:rPr lang="en-US" altLang="zh-CN" sz="1400" b="0"/>
              <a:pPr eaLnBrk="1" hangingPunct="1"/>
              <a:t>108</a:t>
            </a:fld>
            <a:endParaRPr lang="en-US" altLang="zh-CN" sz="1400" b="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19522"/>
                                        </p:tgtEl>
                                        <p:attrNameLst>
                                          <p:attrName>style.visibility</p:attrName>
                                        </p:attrNameLst>
                                      </p:cBhvr>
                                      <p:to>
                                        <p:strVal val="visible"/>
                                      </p:to>
                                    </p:set>
                                    <p:animEffect transition="in" filter="dissolve">
                                      <p:cBhvr>
                                        <p:cTn id="7" dur="500"/>
                                        <p:tgtEl>
                                          <p:spTgt spid="619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22"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0546" name="Rectangle 2"/>
          <p:cNvSpPr>
            <a:spLocks noGrp="1" noChangeArrowheads="1"/>
          </p:cNvSpPr>
          <p:nvPr>
            <p:ph type="title"/>
          </p:nvPr>
        </p:nvSpPr>
        <p:spPr bwMode="auto">
          <a:xfrm>
            <a:off x="2057400" y="1143000"/>
            <a:ext cx="44958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串行口连接方法</a:t>
            </a:r>
            <a:r>
              <a:rPr lang="zh-CN" altLang="en-US" b="1"/>
              <a:t> </a:t>
            </a:r>
          </a:p>
        </p:txBody>
      </p:sp>
      <p:sp>
        <p:nvSpPr>
          <p:cNvPr id="12288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97F2236-917C-42C2-963A-841CDCE1CC8E}" type="slidenum">
              <a:rPr lang="en-US" altLang="zh-CN" sz="1400" b="0"/>
              <a:pPr eaLnBrk="1" hangingPunct="1"/>
              <a:t>109</a:t>
            </a:fld>
            <a:endParaRPr lang="en-US" altLang="zh-CN" sz="1400" b="0"/>
          </a:p>
        </p:txBody>
      </p:sp>
      <p:sp>
        <p:nvSpPr>
          <p:cNvPr id="620548" name="Rectangle 4" descr="小棋盘"/>
          <p:cNvSpPr>
            <a:spLocks noChangeArrowheads="1"/>
          </p:cNvSpPr>
          <p:nvPr/>
        </p:nvSpPr>
        <p:spPr bwMode="auto">
          <a:xfrm>
            <a:off x="2743200" y="5257800"/>
            <a:ext cx="4114800" cy="1247775"/>
          </a:xfrm>
          <a:prstGeom prst="rect">
            <a:avLst/>
          </a:prstGeom>
          <a:pattFill prst="smCheck">
            <a:fgClr>
              <a:srgbClr val="FFFF00"/>
            </a:fgClr>
            <a:bgClr>
              <a:srgbClr val="FFFFFF"/>
            </a:bgClr>
          </a:pattFill>
          <a:ln w="57150">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latin typeface="宋体" panose="02010600030101010101" pitchFamily="2" charset="-122"/>
              </a:rPr>
              <a:t>数据发送工作过程</a:t>
            </a:r>
            <a:r>
              <a:rPr lang="zh-CN" altLang="en-US" sz="1100"/>
              <a:t> </a:t>
            </a:r>
          </a:p>
          <a:p>
            <a:pPr eaLnBrk="1" hangingPunct="1"/>
            <a:r>
              <a:rPr lang="zh-CN" altLang="en-US" sz="3600">
                <a:latin typeface="宋体" panose="02010600030101010101" pitchFamily="2" charset="-122"/>
              </a:rPr>
              <a:t>数据接收工作过程 </a:t>
            </a:r>
          </a:p>
        </p:txBody>
      </p:sp>
      <p:grpSp>
        <p:nvGrpSpPr>
          <p:cNvPr id="122885" name="Group 55"/>
          <p:cNvGrpSpPr>
            <a:grpSpLocks/>
          </p:cNvGrpSpPr>
          <p:nvPr/>
        </p:nvGrpSpPr>
        <p:grpSpPr bwMode="auto">
          <a:xfrm>
            <a:off x="539750" y="2492375"/>
            <a:ext cx="7850188" cy="2308225"/>
            <a:chOff x="158" y="1570"/>
            <a:chExt cx="4945" cy="1454"/>
          </a:xfrm>
        </p:grpSpPr>
        <p:sp>
          <p:nvSpPr>
            <p:cNvPr id="122886" name="Text Box 10"/>
            <p:cNvSpPr txBox="1">
              <a:spLocks noChangeArrowheads="1"/>
            </p:cNvSpPr>
            <p:nvPr/>
          </p:nvSpPr>
          <p:spPr bwMode="auto">
            <a:xfrm>
              <a:off x="158" y="1616"/>
              <a:ext cx="2087" cy="1408"/>
            </a:xfrm>
            <a:prstGeom prst="rect">
              <a:avLst/>
            </a:prstGeom>
            <a:solidFill>
              <a:srgbClr val="00FFFF"/>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p:txBody>
        </p:sp>
        <p:sp>
          <p:nvSpPr>
            <p:cNvPr id="122887" name="Text Box 11"/>
            <p:cNvSpPr txBox="1">
              <a:spLocks noChangeArrowheads="1"/>
            </p:cNvSpPr>
            <p:nvPr/>
          </p:nvSpPr>
          <p:spPr bwMode="auto">
            <a:xfrm>
              <a:off x="1655" y="1706"/>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DX</a:t>
              </a:r>
            </a:p>
          </p:txBody>
        </p:sp>
        <p:sp>
          <p:nvSpPr>
            <p:cNvPr id="122888" name="Text Box 12"/>
            <p:cNvSpPr txBox="1">
              <a:spLocks noChangeArrowheads="1"/>
            </p:cNvSpPr>
            <p:nvPr/>
          </p:nvSpPr>
          <p:spPr bwMode="auto">
            <a:xfrm>
              <a:off x="1701" y="2115"/>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FSX</a:t>
              </a:r>
            </a:p>
          </p:txBody>
        </p:sp>
        <p:sp>
          <p:nvSpPr>
            <p:cNvPr id="122889" name="Text Box 13"/>
            <p:cNvSpPr txBox="1">
              <a:spLocks noChangeArrowheads="1"/>
            </p:cNvSpPr>
            <p:nvPr/>
          </p:nvSpPr>
          <p:spPr bwMode="auto">
            <a:xfrm>
              <a:off x="1565" y="2523"/>
              <a:ext cx="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CLKX</a:t>
              </a:r>
            </a:p>
          </p:txBody>
        </p:sp>
        <p:sp>
          <p:nvSpPr>
            <p:cNvPr id="122890" name="Text Box 15"/>
            <p:cNvSpPr txBox="1">
              <a:spLocks noChangeArrowheads="1"/>
            </p:cNvSpPr>
            <p:nvPr/>
          </p:nvSpPr>
          <p:spPr bwMode="auto">
            <a:xfrm>
              <a:off x="295" y="2024"/>
              <a:ext cx="15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a:solidFill>
                    <a:srgbClr val="FF0000"/>
                  </a:solidFill>
                </a:rPr>
                <a:t>C54x</a:t>
              </a:r>
              <a:r>
                <a:rPr lang="zh-CN" altLang="en-US" sz="3200">
                  <a:solidFill>
                    <a:srgbClr val="FF0000"/>
                  </a:solidFill>
                </a:rPr>
                <a:t>芯片</a:t>
              </a:r>
              <a:r>
                <a:rPr lang="en-US" altLang="zh-CN" sz="3200">
                  <a:solidFill>
                    <a:srgbClr val="FF0000"/>
                  </a:solidFill>
                </a:rPr>
                <a:t>0</a:t>
              </a:r>
            </a:p>
          </p:txBody>
        </p:sp>
        <p:sp>
          <p:nvSpPr>
            <p:cNvPr id="122891" name="Line 40"/>
            <p:cNvSpPr>
              <a:spLocks noChangeShapeType="1"/>
            </p:cNvSpPr>
            <p:nvPr/>
          </p:nvSpPr>
          <p:spPr bwMode="auto">
            <a:xfrm>
              <a:off x="2245" y="1842"/>
              <a:ext cx="771" cy="0"/>
            </a:xfrm>
            <a:prstGeom prst="line">
              <a:avLst/>
            </a:prstGeom>
            <a:noFill/>
            <a:ln w="5715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2892" name="Line 48"/>
            <p:cNvSpPr>
              <a:spLocks noChangeShapeType="1"/>
            </p:cNvSpPr>
            <p:nvPr/>
          </p:nvSpPr>
          <p:spPr bwMode="auto">
            <a:xfrm>
              <a:off x="2245" y="2251"/>
              <a:ext cx="771" cy="0"/>
            </a:xfrm>
            <a:prstGeom prst="line">
              <a:avLst/>
            </a:prstGeom>
            <a:noFill/>
            <a:ln w="5715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2893" name="Line 49"/>
            <p:cNvSpPr>
              <a:spLocks noChangeShapeType="1"/>
            </p:cNvSpPr>
            <p:nvPr/>
          </p:nvSpPr>
          <p:spPr bwMode="auto">
            <a:xfrm>
              <a:off x="2245" y="2659"/>
              <a:ext cx="771" cy="0"/>
            </a:xfrm>
            <a:prstGeom prst="line">
              <a:avLst/>
            </a:prstGeom>
            <a:noFill/>
            <a:ln w="5715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2894" name="Text Box 50"/>
            <p:cNvSpPr txBox="1">
              <a:spLocks noChangeArrowheads="1"/>
            </p:cNvSpPr>
            <p:nvPr/>
          </p:nvSpPr>
          <p:spPr bwMode="auto">
            <a:xfrm>
              <a:off x="3016" y="1570"/>
              <a:ext cx="2087" cy="1408"/>
            </a:xfrm>
            <a:prstGeom prst="rect">
              <a:avLst/>
            </a:prstGeom>
            <a:solidFill>
              <a:schemeClr va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p:txBody>
        </p:sp>
        <p:sp>
          <p:nvSpPr>
            <p:cNvPr id="122895" name="Text Box 51"/>
            <p:cNvSpPr txBox="1">
              <a:spLocks noChangeArrowheads="1"/>
            </p:cNvSpPr>
            <p:nvPr/>
          </p:nvSpPr>
          <p:spPr bwMode="auto">
            <a:xfrm>
              <a:off x="3061" y="1706"/>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DR</a:t>
              </a:r>
            </a:p>
          </p:txBody>
        </p:sp>
        <p:sp>
          <p:nvSpPr>
            <p:cNvPr id="122896" name="Text Box 52"/>
            <p:cNvSpPr txBox="1">
              <a:spLocks noChangeArrowheads="1"/>
            </p:cNvSpPr>
            <p:nvPr/>
          </p:nvSpPr>
          <p:spPr bwMode="auto">
            <a:xfrm>
              <a:off x="3062" y="2115"/>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FSR</a:t>
              </a:r>
            </a:p>
          </p:txBody>
        </p:sp>
        <p:sp>
          <p:nvSpPr>
            <p:cNvPr id="122897" name="Text Box 53"/>
            <p:cNvSpPr txBox="1">
              <a:spLocks noChangeArrowheads="1"/>
            </p:cNvSpPr>
            <p:nvPr/>
          </p:nvSpPr>
          <p:spPr bwMode="auto">
            <a:xfrm>
              <a:off x="3061" y="2523"/>
              <a:ext cx="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CLKR</a:t>
              </a:r>
            </a:p>
          </p:txBody>
        </p:sp>
        <p:sp>
          <p:nvSpPr>
            <p:cNvPr id="122898" name="Text Box 54"/>
            <p:cNvSpPr txBox="1">
              <a:spLocks noChangeArrowheads="1"/>
            </p:cNvSpPr>
            <p:nvPr/>
          </p:nvSpPr>
          <p:spPr bwMode="auto">
            <a:xfrm>
              <a:off x="3560" y="2024"/>
              <a:ext cx="140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a:solidFill>
                    <a:srgbClr val="FF0000"/>
                  </a:solidFill>
                </a:rPr>
                <a:t>C54x</a:t>
              </a:r>
              <a:r>
                <a:rPr lang="zh-CN" altLang="en-US" sz="3200">
                  <a:solidFill>
                    <a:srgbClr val="FF0000"/>
                  </a:solidFill>
                </a:rPr>
                <a:t>芯片</a:t>
              </a:r>
              <a:r>
                <a:rPr lang="en-US" altLang="zh-CN" sz="3200">
                  <a:solidFill>
                    <a:srgbClr val="FF0000"/>
                  </a:solidFill>
                </a:rPr>
                <a:t>1</a:t>
              </a:r>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20546"/>
                                        </p:tgtEl>
                                        <p:attrNameLst>
                                          <p:attrName>style.visibility</p:attrName>
                                        </p:attrNameLst>
                                      </p:cBhvr>
                                      <p:to>
                                        <p:strVal val="visible"/>
                                      </p:to>
                                    </p:set>
                                    <p:anim calcmode="lin" valueType="num">
                                      <p:cBhvr additive="base">
                                        <p:cTn id="7" dur="500" fill="hold"/>
                                        <p:tgtEl>
                                          <p:spTgt spid="620546"/>
                                        </p:tgtEl>
                                        <p:attrNameLst>
                                          <p:attrName>ppt_x</p:attrName>
                                        </p:attrNameLst>
                                      </p:cBhvr>
                                      <p:tavLst>
                                        <p:tav tm="0">
                                          <p:val>
                                            <p:strVal val="0-#ppt_w/2"/>
                                          </p:val>
                                        </p:tav>
                                        <p:tav tm="100000">
                                          <p:val>
                                            <p:strVal val="#ppt_x"/>
                                          </p:val>
                                        </p:tav>
                                      </p:tavLst>
                                    </p:anim>
                                    <p:anim calcmode="lin" valueType="num">
                                      <p:cBhvr additive="base">
                                        <p:cTn id="8" dur="500" fill="hold"/>
                                        <p:tgtEl>
                                          <p:spTgt spid="62054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20548"/>
                                        </p:tgtEl>
                                        <p:attrNameLst>
                                          <p:attrName>style.visibility</p:attrName>
                                        </p:attrNameLst>
                                      </p:cBhvr>
                                      <p:to>
                                        <p:strVal val="visible"/>
                                      </p:to>
                                    </p:set>
                                    <p:anim calcmode="lin" valueType="num">
                                      <p:cBhvr additive="base">
                                        <p:cTn id="12" dur="500" fill="hold"/>
                                        <p:tgtEl>
                                          <p:spTgt spid="620548"/>
                                        </p:tgtEl>
                                        <p:attrNameLst>
                                          <p:attrName>ppt_x</p:attrName>
                                        </p:attrNameLst>
                                      </p:cBhvr>
                                      <p:tavLst>
                                        <p:tav tm="0">
                                          <p:val>
                                            <p:strVal val="0-#ppt_w/2"/>
                                          </p:val>
                                        </p:tav>
                                        <p:tav tm="100000">
                                          <p:val>
                                            <p:strVal val="#ppt_x"/>
                                          </p:val>
                                        </p:tav>
                                      </p:tavLst>
                                    </p:anim>
                                    <p:anim calcmode="lin" valueType="num">
                                      <p:cBhvr additive="base">
                                        <p:cTn id="13" dur="500" fill="hold"/>
                                        <p:tgtEl>
                                          <p:spTgt spid="6205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0546" grpId="0" autoUpdateAnimBg="0"/>
      <p:bldP spid="620548" grpId="0" animBg="1"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8F82DF1-F268-4256-A59F-548DFA955625}" type="slidenum">
              <a:rPr lang="en-US" altLang="zh-CN" sz="1400" b="0"/>
              <a:pPr eaLnBrk="1" hangingPunct="1"/>
              <a:t>110</a:t>
            </a:fld>
            <a:endParaRPr lang="en-US" altLang="zh-CN" sz="1400" b="0"/>
          </a:p>
        </p:txBody>
      </p:sp>
      <p:sp>
        <p:nvSpPr>
          <p:cNvPr id="123907" name="Rectangle 2"/>
          <p:cNvSpPr>
            <a:spLocks noChangeArrowheads="1"/>
          </p:cNvSpPr>
          <p:nvPr/>
        </p:nvSpPr>
        <p:spPr bwMode="auto">
          <a:xfrm>
            <a:off x="228600" y="1981200"/>
            <a:ext cx="8577263"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2800">
                <a:solidFill>
                  <a:schemeClr val="tx2"/>
                </a:solidFill>
              </a:rPr>
              <a:t>在发送数据时，先将要发送的数写到</a:t>
            </a:r>
            <a:r>
              <a:rPr lang="en-US" altLang="zh-CN" sz="2800">
                <a:solidFill>
                  <a:schemeClr val="tx2"/>
                </a:solidFill>
              </a:rPr>
              <a:t>DXR</a:t>
            </a:r>
            <a:r>
              <a:rPr lang="zh-CN" altLang="en-US" sz="2800">
                <a:solidFill>
                  <a:schemeClr val="tx2"/>
                </a:solidFill>
              </a:rPr>
              <a:t>。若</a:t>
            </a:r>
            <a:r>
              <a:rPr lang="en-US" altLang="zh-CN" sz="2800">
                <a:solidFill>
                  <a:schemeClr val="tx2"/>
                </a:solidFill>
              </a:rPr>
              <a:t>XSR</a:t>
            </a:r>
            <a:r>
              <a:rPr lang="zh-CN" altLang="en-US" sz="2800">
                <a:solidFill>
                  <a:schemeClr val="tx2"/>
                </a:solidFill>
              </a:rPr>
              <a:t>是空的（上一字已串行传送到</a:t>
            </a:r>
            <a:r>
              <a:rPr lang="en-US" altLang="zh-CN" sz="2800">
                <a:solidFill>
                  <a:schemeClr val="tx2"/>
                </a:solidFill>
              </a:rPr>
              <a:t>DX</a:t>
            </a:r>
            <a:r>
              <a:rPr lang="zh-CN" altLang="en-US" sz="2800">
                <a:solidFill>
                  <a:schemeClr val="tx2"/>
                </a:solidFill>
              </a:rPr>
              <a:t>引脚），则将</a:t>
            </a:r>
            <a:r>
              <a:rPr lang="en-US" altLang="zh-CN" sz="2800">
                <a:solidFill>
                  <a:schemeClr val="tx2"/>
                </a:solidFill>
              </a:rPr>
              <a:t>DXR</a:t>
            </a:r>
            <a:r>
              <a:rPr lang="zh-CN" altLang="en-US" sz="2800">
                <a:solidFill>
                  <a:schemeClr val="tx2"/>
                </a:solidFill>
              </a:rPr>
              <a:t>中的数据复制到</a:t>
            </a:r>
            <a:r>
              <a:rPr lang="en-US" altLang="zh-CN" sz="2800">
                <a:solidFill>
                  <a:schemeClr val="tx2"/>
                </a:solidFill>
              </a:rPr>
              <a:t>XSR</a:t>
            </a:r>
            <a:r>
              <a:rPr lang="zh-CN" altLang="en-US" sz="2800">
                <a:solidFill>
                  <a:schemeClr val="tx2"/>
                </a:solidFill>
              </a:rPr>
              <a:t>。</a:t>
            </a:r>
          </a:p>
          <a:p>
            <a:pPr eaLnBrk="1" hangingPunct="1">
              <a:spcBef>
                <a:spcPct val="20000"/>
              </a:spcBef>
            </a:pPr>
            <a:r>
              <a:rPr lang="zh-CN" altLang="en-US" sz="2800">
                <a:solidFill>
                  <a:srgbClr val="CC3300"/>
                </a:solidFill>
              </a:rPr>
              <a:t>在</a:t>
            </a:r>
            <a:r>
              <a:rPr lang="en-US" altLang="zh-CN" sz="2800">
                <a:solidFill>
                  <a:srgbClr val="CC3300"/>
                </a:solidFill>
              </a:rPr>
              <a:t>FSX</a:t>
            </a:r>
            <a:r>
              <a:rPr lang="zh-CN" altLang="en-US" sz="2800">
                <a:solidFill>
                  <a:srgbClr val="CC3300"/>
                </a:solidFill>
              </a:rPr>
              <a:t>和</a:t>
            </a:r>
            <a:r>
              <a:rPr lang="en-US" altLang="zh-CN" sz="2800">
                <a:solidFill>
                  <a:srgbClr val="CC3300"/>
                </a:solidFill>
              </a:rPr>
              <a:t>CLKX</a:t>
            </a:r>
            <a:r>
              <a:rPr lang="zh-CN" altLang="en-US" sz="2800">
                <a:solidFill>
                  <a:srgbClr val="CC3300"/>
                </a:solidFill>
              </a:rPr>
              <a:t>的作用下，将</a:t>
            </a:r>
            <a:r>
              <a:rPr lang="en-US" altLang="zh-CN" sz="2800">
                <a:solidFill>
                  <a:srgbClr val="CC3300"/>
                </a:solidFill>
              </a:rPr>
              <a:t>XSR</a:t>
            </a:r>
            <a:r>
              <a:rPr lang="zh-CN" altLang="en-US" sz="2800">
                <a:solidFill>
                  <a:srgbClr val="CC3300"/>
                </a:solidFill>
              </a:rPr>
              <a:t>中的数据移到</a:t>
            </a:r>
            <a:r>
              <a:rPr lang="en-US" altLang="zh-CN" sz="2800">
                <a:solidFill>
                  <a:srgbClr val="CC3300"/>
                </a:solidFill>
              </a:rPr>
              <a:t>DX</a:t>
            </a:r>
            <a:r>
              <a:rPr lang="zh-CN" altLang="en-US" sz="2800">
                <a:solidFill>
                  <a:srgbClr val="CC3300"/>
                </a:solidFill>
              </a:rPr>
              <a:t>引脚输出。一旦</a:t>
            </a:r>
            <a:r>
              <a:rPr lang="en-US" altLang="zh-CN" sz="2800">
                <a:solidFill>
                  <a:srgbClr val="CC3300"/>
                </a:solidFill>
              </a:rPr>
              <a:t>DXR</a:t>
            </a:r>
            <a:r>
              <a:rPr lang="zh-CN" altLang="en-US" sz="2800">
                <a:solidFill>
                  <a:srgbClr val="CC3300"/>
                </a:solidFill>
              </a:rPr>
              <a:t>中的数据复制到</a:t>
            </a:r>
            <a:r>
              <a:rPr lang="en-US" altLang="zh-CN" sz="2800">
                <a:solidFill>
                  <a:srgbClr val="CC3300"/>
                </a:solidFill>
              </a:rPr>
              <a:t>XSR</a:t>
            </a:r>
            <a:r>
              <a:rPr lang="zh-CN" altLang="en-US" sz="2800">
                <a:solidFill>
                  <a:srgbClr val="CC3300"/>
                </a:solidFill>
              </a:rPr>
              <a:t>后，就可以立即将另一个数据写到</a:t>
            </a:r>
            <a:r>
              <a:rPr lang="en-US" altLang="zh-CN" sz="2800">
                <a:solidFill>
                  <a:srgbClr val="CC3300"/>
                </a:solidFill>
              </a:rPr>
              <a:t>DXR</a:t>
            </a:r>
            <a:r>
              <a:rPr lang="zh-CN" altLang="en-US" sz="2800">
                <a:solidFill>
                  <a:srgbClr val="CC3300"/>
                </a:solidFill>
              </a:rPr>
              <a:t>。</a:t>
            </a:r>
          </a:p>
          <a:p>
            <a:pPr eaLnBrk="1" hangingPunct="1">
              <a:spcBef>
                <a:spcPct val="20000"/>
              </a:spcBef>
            </a:pPr>
            <a:r>
              <a:rPr lang="zh-CN" altLang="en-US" sz="2800"/>
              <a:t>在发送期间，</a:t>
            </a:r>
            <a:r>
              <a:rPr lang="en-US" altLang="zh-CN" sz="2800"/>
              <a:t>DXR</a:t>
            </a:r>
            <a:r>
              <a:rPr lang="zh-CN" altLang="en-US" sz="2800"/>
              <a:t>中的数据刚刚复制到</a:t>
            </a:r>
            <a:r>
              <a:rPr lang="en-US" altLang="zh-CN" sz="2800"/>
              <a:t>XSR</a:t>
            </a:r>
            <a:r>
              <a:rPr lang="zh-CN" altLang="en-US" sz="2800"/>
              <a:t>后，串行口控制寄存器（</a:t>
            </a:r>
            <a:r>
              <a:rPr lang="en-US" altLang="zh-CN" sz="2800"/>
              <a:t>SPC</a:t>
            </a:r>
            <a:r>
              <a:rPr lang="zh-CN" altLang="en-US" sz="2800"/>
              <a:t>）中的发送准备好（</a:t>
            </a:r>
            <a:r>
              <a:rPr lang="en-US" altLang="zh-CN" sz="2800"/>
              <a:t>XRDY</a:t>
            </a:r>
            <a:r>
              <a:rPr lang="zh-CN" altLang="en-US" sz="2800"/>
              <a:t>）位立即由</a:t>
            </a:r>
            <a:r>
              <a:rPr lang="en-US" altLang="zh-CN" sz="2800"/>
              <a:t>0</a:t>
            </a:r>
            <a:r>
              <a:rPr lang="zh-CN" altLang="en-US" sz="2800"/>
              <a:t>转变为</a:t>
            </a:r>
            <a:r>
              <a:rPr lang="en-US" altLang="zh-CN" sz="2800"/>
              <a:t>1</a:t>
            </a:r>
            <a:r>
              <a:rPr lang="zh-CN" altLang="en-US" sz="2800"/>
              <a:t>，随后产生一个串行口发送中断（</a:t>
            </a:r>
            <a:r>
              <a:rPr lang="en-US" altLang="zh-CN" sz="2800"/>
              <a:t>XINT</a:t>
            </a:r>
            <a:r>
              <a:rPr lang="zh-CN" altLang="en-US" sz="2800"/>
              <a:t>） 信号，通知</a:t>
            </a:r>
            <a:r>
              <a:rPr lang="en-US" altLang="zh-CN" sz="2800"/>
              <a:t>CPU</a:t>
            </a:r>
            <a:r>
              <a:rPr lang="zh-CN" altLang="en-US" sz="2800"/>
              <a:t>可以对</a:t>
            </a:r>
            <a:r>
              <a:rPr lang="en-US" altLang="zh-CN" sz="2800"/>
              <a:t>DXR</a:t>
            </a:r>
            <a:r>
              <a:rPr lang="zh-CN" altLang="en-US" sz="2800"/>
              <a:t>重新加载。</a:t>
            </a:r>
          </a:p>
        </p:txBody>
      </p:sp>
      <p:sp>
        <p:nvSpPr>
          <p:cNvPr id="621571" name="Rectangle 3" descr="小棋盘"/>
          <p:cNvSpPr>
            <a:spLocks noChangeArrowheads="1"/>
          </p:cNvSpPr>
          <p:nvPr/>
        </p:nvSpPr>
        <p:spPr bwMode="auto">
          <a:xfrm>
            <a:off x="2362200" y="1066800"/>
            <a:ext cx="4114800" cy="698500"/>
          </a:xfrm>
          <a:prstGeom prst="rect">
            <a:avLst/>
          </a:prstGeom>
          <a:pattFill prst="smCheck">
            <a:fgClr>
              <a:srgbClr val="FFFF00"/>
            </a:fgClr>
            <a:bgClr>
              <a:srgbClr val="FFFFFF"/>
            </a:bgClr>
          </a:pattFill>
          <a:ln w="57150">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FF"/>
                </a:solidFill>
                <a:latin typeface="宋体" panose="02010600030101010101" pitchFamily="2" charset="-122"/>
              </a:rPr>
              <a:t>数据发送工作过程</a:t>
            </a:r>
            <a:r>
              <a:rPr lang="zh-CN" altLang="en-US" sz="1100">
                <a:solidFill>
                  <a:srgbClr val="FF00FF"/>
                </a:solidFill>
              </a:rPr>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21571"/>
                                        </p:tgtEl>
                                        <p:attrNameLst>
                                          <p:attrName>style.visibility</p:attrName>
                                        </p:attrNameLst>
                                      </p:cBhvr>
                                      <p:to>
                                        <p:strVal val="visible"/>
                                      </p:to>
                                    </p:set>
                                    <p:anim calcmode="lin" valueType="num">
                                      <p:cBhvr additive="base">
                                        <p:cTn id="7" dur="500" fill="hold"/>
                                        <p:tgtEl>
                                          <p:spTgt spid="621571"/>
                                        </p:tgtEl>
                                        <p:attrNameLst>
                                          <p:attrName>ppt_x</p:attrName>
                                        </p:attrNameLst>
                                      </p:cBhvr>
                                      <p:tavLst>
                                        <p:tav tm="0">
                                          <p:val>
                                            <p:strVal val="0-#ppt_w/2"/>
                                          </p:val>
                                        </p:tav>
                                        <p:tav tm="100000">
                                          <p:val>
                                            <p:strVal val="#ppt_x"/>
                                          </p:val>
                                        </p:tav>
                                      </p:tavLst>
                                    </p:anim>
                                    <p:anim calcmode="lin" valueType="num">
                                      <p:cBhvr additive="base">
                                        <p:cTn id="8" dur="500" fill="hold"/>
                                        <p:tgtEl>
                                          <p:spTgt spid="6215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71" grpId="0" animBg="1"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7602852A-BADD-47CC-8A56-11215F0410AF}" type="slidenum">
              <a:rPr lang="en-US" altLang="zh-CN" sz="1400" b="0"/>
              <a:pPr eaLnBrk="1" hangingPunct="1"/>
              <a:t>111</a:t>
            </a:fld>
            <a:endParaRPr lang="en-US" altLang="zh-CN" sz="1400" b="0"/>
          </a:p>
        </p:txBody>
      </p:sp>
      <p:sp>
        <p:nvSpPr>
          <p:cNvPr id="622594" name="Rectangle 2" descr="小棋盘"/>
          <p:cNvSpPr>
            <a:spLocks noChangeArrowheads="1"/>
          </p:cNvSpPr>
          <p:nvPr/>
        </p:nvSpPr>
        <p:spPr bwMode="auto">
          <a:xfrm>
            <a:off x="2484438" y="981075"/>
            <a:ext cx="4114800" cy="698500"/>
          </a:xfrm>
          <a:prstGeom prst="rect">
            <a:avLst/>
          </a:prstGeom>
          <a:pattFill prst="smCheck">
            <a:fgClr>
              <a:srgbClr val="FFFF00"/>
            </a:fgClr>
            <a:bgClr>
              <a:srgbClr val="FFFFFF"/>
            </a:bgClr>
          </a:pattFill>
          <a:ln w="57150">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66"/>
                </a:solidFill>
                <a:latin typeface="宋体" panose="02010600030101010101" pitchFamily="2" charset="-122"/>
              </a:rPr>
              <a:t>数据接收工作过程 </a:t>
            </a:r>
          </a:p>
        </p:txBody>
      </p:sp>
      <p:sp>
        <p:nvSpPr>
          <p:cNvPr id="124932" name="Rectangle 3"/>
          <p:cNvSpPr>
            <a:spLocks noChangeArrowheads="1"/>
          </p:cNvSpPr>
          <p:nvPr/>
        </p:nvSpPr>
        <p:spPr bwMode="auto">
          <a:xfrm>
            <a:off x="381000" y="1828800"/>
            <a:ext cx="83820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57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a:latin typeface="宋体" panose="02010600030101010101" pitchFamily="2" charset="-122"/>
              </a:rPr>
              <a:t>接收数据的过程有些类似。来自</a:t>
            </a:r>
            <a:r>
              <a:rPr lang="en-US" altLang="zh-CN" sz="2800">
                <a:latin typeface="宋体" panose="02010600030101010101" pitchFamily="2" charset="-122"/>
              </a:rPr>
              <a:t>DR</a:t>
            </a:r>
            <a:r>
              <a:rPr lang="zh-CN" altLang="en-US" sz="2800">
                <a:latin typeface="宋体" panose="02010600030101010101" pitchFamily="2" charset="-122"/>
              </a:rPr>
              <a:t>引脚的数据在</a:t>
            </a:r>
            <a:r>
              <a:rPr lang="en-US" altLang="zh-CN" sz="2800">
                <a:latin typeface="宋体" panose="02010600030101010101" pitchFamily="2" charset="-122"/>
              </a:rPr>
              <a:t>FSR</a:t>
            </a:r>
            <a:r>
              <a:rPr lang="zh-CN" altLang="en-US" sz="2800">
                <a:latin typeface="宋体" panose="02010600030101010101" pitchFamily="2" charset="-122"/>
              </a:rPr>
              <a:t>和</a:t>
            </a:r>
            <a:r>
              <a:rPr lang="en-US" altLang="zh-CN" sz="2800">
                <a:latin typeface="宋体" panose="02010600030101010101" pitchFamily="2" charset="-122"/>
              </a:rPr>
              <a:t>CLKR</a:t>
            </a:r>
            <a:r>
              <a:rPr lang="zh-CN" altLang="en-US" sz="2800">
                <a:latin typeface="宋体" panose="02010600030101010101" pitchFamily="2" charset="-122"/>
              </a:rPr>
              <a:t>的作用下，移位至</a:t>
            </a:r>
            <a:r>
              <a:rPr lang="en-US" altLang="zh-CN" sz="2800">
                <a:latin typeface="宋体" panose="02010600030101010101" pitchFamily="2" charset="-122"/>
              </a:rPr>
              <a:t>RSR</a:t>
            </a:r>
            <a:r>
              <a:rPr lang="zh-CN" altLang="en-US" sz="2800">
                <a:latin typeface="宋体" panose="02010600030101010101" pitchFamily="2" charset="-122"/>
              </a:rPr>
              <a:t>，然后复制到</a:t>
            </a:r>
            <a:r>
              <a:rPr lang="en-US" altLang="zh-CN" sz="2800">
                <a:latin typeface="宋体" panose="02010600030101010101" pitchFamily="2" charset="-122"/>
              </a:rPr>
              <a:t>DRR</a:t>
            </a:r>
            <a:r>
              <a:rPr lang="zh-CN" altLang="en-US" sz="2800">
                <a:latin typeface="宋体" panose="02010600030101010101" pitchFamily="2" charset="-122"/>
              </a:rPr>
              <a:t>，</a:t>
            </a:r>
            <a:r>
              <a:rPr lang="en-US" altLang="zh-CN" sz="2800">
                <a:latin typeface="宋体" panose="02010600030101010101" pitchFamily="2" charset="-122"/>
              </a:rPr>
              <a:t>CPU</a:t>
            </a:r>
            <a:r>
              <a:rPr lang="zh-CN" altLang="en-US" sz="2800">
                <a:latin typeface="宋体" panose="02010600030101010101" pitchFamily="2" charset="-122"/>
              </a:rPr>
              <a:t>从</a:t>
            </a:r>
            <a:r>
              <a:rPr lang="en-US" altLang="zh-CN" sz="2800">
                <a:latin typeface="宋体" panose="02010600030101010101" pitchFamily="2" charset="-122"/>
              </a:rPr>
              <a:t>DRR</a:t>
            </a:r>
            <a:r>
              <a:rPr lang="zh-CN" altLang="en-US" sz="2800">
                <a:latin typeface="宋体" panose="02010600030101010101" pitchFamily="2" charset="-122"/>
              </a:rPr>
              <a:t>中读出数据。一旦</a:t>
            </a:r>
            <a:r>
              <a:rPr lang="en-US" altLang="zh-CN" sz="2800">
                <a:latin typeface="宋体" panose="02010600030101010101" pitchFamily="2" charset="-122"/>
              </a:rPr>
              <a:t>RSR</a:t>
            </a:r>
            <a:r>
              <a:rPr lang="zh-CN" altLang="en-US" sz="2800">
                <a:latin typeface="宋体" panose="02010600030101010101" pitchFamily="2" charset="-122"/>
              </a:rPr>
              <a:t>的数据复制到</a:t>
            </a:r>
            <a:r>
              <a:rPr lang="en-US" altLang="zh-CN" sz="2800">
                <a:latin typeface="宋体" panose="02010600030101010101" pitchFamily="2" charset="-122"/>
              </a:rPr>
              <a:t>DRR</a:t>
            </a:r>
            <a:r>
              <a:rPr lang="zh-CN" altLang="en-US" sz="2800">
                <a:latin typeface="宋体" panose="02010600030101010101" pitchFamily="2" charset="-122"/>
              </a:rPr>
              <a:t>，</a:t>
            </a:r>
            <a:r>
              <a:rPr lang="en-US" altLang="zh-CN" sz="2800">
                <a:latin typeface="宋体" panose="02010600030101010101" pitchFamily="2" charset="-122"/>
              </a:rPr>
              <a:t>SPC</a:t>
            </a:r>
            <a:r>
              <a:rPr lang="zh-CN" altLang="en-US" sz="2800">
                <a:latin typeface="宋体" panose="02010600030101010101" pitchFamily="2" charset="-122"/>
              </a:rPr>
              <a:t>中的接收数据准备好（</a:t>
            </a:r>
            <a:r>
              <a:rPr lang="en-US" altLang="zh-CN" sz="2800">
                <a:latin typeface="宋体" panose="02010600030101010101" pitchFamily="2" charset="-122"/>
              </a:rPr>
              <a:t>RRDY</a:t>
            </a:r>
            <a:r>
              <a:rPr lang="zh-CN" altLang="en-US" sz="2800">
                <a:latin typeface="宋体" panose="02010600030101010101" pitchFamily="2" charset="-122"/>
              </a:rPr>
              <a:t>）位立即由</a:t>
            </a:r>
            <a:r>
              <a:rPr lang="en-US" altLang="zh-CN" sz="2800">
                <a:latin typeface="宋体" panose="02010600030101010101" pitchFamily="2" charset="-122"/>
              </a:rPr>
              <a:t>0</a:t>
            </a:r>
            <a:r>
              <a:rPr lang="zh-CN" altLang="en-US" sz="2800">
                <a:latin typeface="宋体" panose="02010600030101010101" pitchFamily="2" charset="-122"/>
              </a:rPr>
              <a:t>转变为</a:t>
            </a:r>
            <a:r>
              <a:rPr lang="en-US" altLang="zh-CN" sz="2800">
                <a:latin typeface="宋体" panose="02010600030101010101" pitchFamily="2" charset="-122"/>
              </a:rPr>
              <a:t>1</a:t>
            </a:r>
            <a:r>
              <a:rPr lang="zh-CN" altLang="en-US" sz="2800">
                <a:latin typeface="宋体" panose="02010600030101010101" pitchFamily="2" charset="-122"/>
              </a:rPr>
              <a:t>，随后产生一个串行口接收中断（</a:t>
            </a:r>
            <a:r>
              <a:rPr lang="en-US" altLang="zh-CN" sz="2800">
                <a:latin typeface="宋体" panose="02010600030101010101" pitchFamily="2" charset="-122"/>
              </a:rPr>
              <a:t>RINT</a:t>
            </a:r>
            <a:r>
              <a:rPr lang="zh-CN" altLang="en-US" sz="2800">
                <a:latin typeface="宋体" panose="02010600030101010101" pitchFamily="2" charset="-122"/>
              </a:rPr>
              <a:t>）信号，通知</a:t>
            </a:r>
            <a:r>
              <a:rPr lang="en-US" altLang="zh-CN" sz="2800">
                <a:latin typeface="宋体" panose="02010600030101010101" pitchFamily="2" charset="-122"/>
              </a:rPr>
              <a:t>CPU</a:t>
            </a:r>
            <a:r>
              <a:rPr lang="zh-CN" altLang="en-US" sz="2800">
                <a:latin typeface="宋体" panose="02010600030101010101" pitchFamily="2" charset="-122"/>
              </a:rPr>
              <a:t>可以从</a:t>
            </a:r>
            <a:r>
              <a:rPr lang="en-US" altLang="zh-CN" sz="2800">
                <a:latin typeface="宋体" panose="02010600030101010101" pitchFamily="2" charset="-122"/>
              </a:rPr>
              <a:t>DRR</a:t>
            </a:r>
            <a:r>
              <a:rPr lang="zh-CN" altLang="en-US" sz="2800">
                <a:latin typeface="宋体" panose="02010600030101010101" pitchFamily="2" charset="-122"/>
              </a:rPr>
              <a:t>中读取数据。</a:t>
            </a:r>
          </a:p>
          <a:p>
            <a:pPr algn="just"/>
            <a:r>
              <a:rPr lang="zh-CN" altLang="en-US" sz="2800">
                <a:solidFill>
                  <a:srgbClr val="FF00FF"/>
                </a:solidFill>
                <a:latin typeface="宋体" panose="02010600030101010101" pitchFamily="2" charset="-122"/>
              </a:rPr>
              <a:t>由此可见，串行口是双缓冲的，因为当串行发送或接收数据的操作正在执行时，可以将另一个数据传送到</a:t>
            </a:r>
            <a:r>
              <a:rPr lang="en-US" altLang="zh-CN" sz="2800">
                <a:solidFill>
                  <a:srgbClr val="FF00FF"/>
                </a:solidFill>
                <a:latin typeface="宋体" panose="02010600030101010101" pitchFamily="2" charset="-122"/>
              </a:rPr>
              <a:t>DXR</a:t>
            </a:r>
            <a:r>
              <a:rPr lang="zh-CN" altLang="en-US" sz="2800">
                <a:solidFill>
                  <a:srgbClr val="FF00FF"/>
                </a:solidFill>
                <a:latin typeface="宋体" panose="02010600030101010101" pitchFamily="2" charset="-122"/>
              </a:rPr>
              <a:t>或从</a:t>
            </a:r>
            <a:r>
              <a:rPr lang="en-US" altLang="zh-CN" sz="2800">
                <a:solidFill>
                  <a:srgbClr val="FF00FF"/>
                </a:solidFill>
                <a:latin typeface="宋体" panose="02010600030101010101" pitchFamily="2" charset="-122"/>
              </a:rPr>
              <a:t>DRR</a:t>
            </a:r>
            <a:r>
              <a:rPr lang="zh-CN" altLang="en-US" sz="2800">
                <a:solidFill>
                  <a:srgbClr val="FF00FF"/>
                </a:solidFill>
                <a:latin typeface="宋体" panose="02010600030101010101" pitchFamily="2" charset="-122"/>
              </a:rPr>
              <a:t>获得</a:t>
            </a:r>
            <a:r>
              <a:rPr lang="zh-CN" altLang="en-US" sz="2800" b="0">
                <a:solidFill>
                  <a:srgbClr val="FF00FF"/>
                </a:solidFill>
                <a:latin typeface="宋体" panose="02010600030101010101" pitchFamily="2" charset="-122"/>
              </a:rPr>
              <a:t>。</a:t>
            </a:r>
          </a:p>
          <a:p>
            <a:endParaRPr lang="en-US" altLang="zh-CN" sz="2800" b="0">
              <a:solidFill>
                <a:srgbClr val="FF00FF"/>
              </a:solidFill>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22594"/>
                                        </p:tgtEl>
                                        <p:attrNameLst>
                                          <p:attrName>style.visibility</p:attrName>
                                        </p:attrNameLst>
                                      </p:cBhvr>
                                      <p:to>
                                        <p:strVal val="visible"/>
                                      </p:to>
                                    </p:set>
                                    <p:anim calcmode="lin" valueType="num">
                                      <p:cBhvr additive="base">
                                        <p:cTn id="7" dur="500" fill="hold"/>
                                        <p:tgtEl>
                                          <p:spTgt spid="622594"/>
                                        </p:tgtEl>
                                        <p:attrNameLst>
                                          <p:attrName>ppt_x</p:attrName>
                                        </p:attrNameLst>
                                      </p:cBhvr>
                                      <p:tavLst>
                                        <p:tav tm="0">
                                          <p:val>
                                            <p:strVal val="0-#ppt_w/2"/>
                                          </p:val>
                                        </p:tav>
                                        <p:tav tm="100000">
                                          <p:val>
                                            <p:strVal val="#ppt_x"/>
                                          </p:val>
                                        </p:tav>
                                      </p:tavLst>
                                    </p:anim>
                                    <p:anim calcmode="lin" valueType="num">
                                      <p:cBhvr additive="base">
                                        <p:cTn id="8" dur="500" fill="hold"/>
                                        <p:tgtEl>
                                          <p:spTgt spid="6225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2594" grpId="0" animBg="1"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3618" name="Rectangle 2"/>
          <p:cNvSpPr>
            <a:spLocks noGrp="1" noChangeArrowheads="1"/>
          </p:cNvSpPr>
          <p:nvPr>
            <p:ph type="title"/>
          </p:nvPr>
        </p:nvSpPr>
        <p:spPr bwMode="auto">
          <a:xfrm>
            <a:off x="1619250" y="1125538"/>
            <a:ext cx="6248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66"/>
                </a:solidFill>
                <a:latin typeface="宋体" panose="02010600030101010101" pitchFamily="2" charset="-122"/>
              </a:rPr>
              <a:t>2</a:t>
            </a:r>
            <a:r>
              <a:rPr lang="zh-CN" altLang="en-US" b="1">
                <a:solidFill>
                  <a:srgbClr val="FF0066"/>
                </a:solidFill>
                <a:latin typeface="宋体" panose="02010600030101010101" pitchFamily="2" charset="-122"/>
              </a:rPr>
              <a:t>．串行口控制寄存器</a:t>
            </a:r>
            <a:r>
              <a:rPr lang="zh-CN" altLang="en-US"/>
              <a:t> </a:t>
            </a:r>
          </a:p>
        </p:txBody>
      </p:sp>
      <p:sp>
        <p:nvSpPr>
          <p:cNvPr id="125955" name="Rectangle 3" descr="小棋盘"/>
          <p:cNvSpPr>
            <a:spLocks noGrp="1" noChangeArrowheads="1"/>
          </p:cNvSpPr>
          <p:nvPr>
            <p:ph idx="1"/>
          </p:nvPr>
        </p:nvSpPr>
        <p:spPr bwMode="auto">
          <a:xfrm>
            <a:off x="2665413" y="1844675"/>
            <a:ext cx="2895600" cy="1219200"/>
          </a:xfrm>
          <a:pattFill prst="smCheck">
            <a:fgClr>
              <a:srgbClr val="FFFF00"/>
            </a:fgClr>
            <a:bgClr>
              <a:srgbClr val="FFFFFF"/>
            </a:bgClr>
          </a:pattFill>
          <a:ln>
            <a:solidFill>
              <a:schemeClr val="tx2"/>
            </a:solidFill>
            <a:miter lim="800000"/>
            <a:headEnd/>
            <a:tailEnd/>
          </a:ln>
        </p:spPr>
        <p:txBody>
          <a:bodyPr vert="horz" wrap="square" lIns="91440" tIns="45720" rIns="91440" bIns="45720" numCol="1" anchor="t" anchorCtr="0" compatLnSpc="1">
            <a:prstTxWarp prst="textNoShape">
              <a:avLst/>
            </a:prstTxWarp>
          </a:bodyPr>
          <a:lstStyle/>
          <a:p>
            <a:pPr marL="100013" indent="-100013" algn="just" eaLnBrk="1" hangingPunct="1">
              <a:buFontTx/>
              <a:buNone/>
            </a:pPr>
            <a:r>
              <a:rPr lang="zh-CN" altLang="en-US" b="1">
                <a:solidFill>
                  <a:schemeClr val="tx2"/>
                </a:solidFill>
                <a:latin typeface="宋体" panose="02010600030101010101" pitchFamily="2" charset="-122"/>
              </a:rPr>
              <a:t>功能</a:t>
            </a:r>
            <a:endParaRPr lang="zh-CN" altLang="en-US" b="1">
              <a:solidFill>
                <a:schemeClr val="tx2"/>
              </a:solidFill>
              <a:latin typeface="Arial" panose="020B0604020202020204" pitchFamily="34" charset="0"/>
              <a:cs typeface="Arial" panose="020B0604020202020204" pitchFamily="34" charset="0"/>
            </a:endParaRPr>
          </a:p>
          <a:p>
            <a:pPr marL="100013" indent="-100013" algn="just" eaLnBrk="1" hangingPunct="1">
              <a:buFontTx/>
              <a:buNone/>
            </a:pPr>
            <a:r>
              <a:rPr lang="zh-CN" altLang="en-US" b="1">
                <a:solidFill>
                  <a:schemeClr val="tx2"/>
                </a:solidFill>
                <a:latin typeface="宋体" panose="02010600030101010101" pitchFamily="2" charset="-122"/>
              </a:rPr>
              <a:t>控制位作用</a:t>
            </a:r>
            <a:r>
              <a:rPr lang="zh-CN" altLang="en-US">
                <a:latin typeface="宋体" panose="02010600030101010101" pitchFamily="2" charset="-122"/>
              </a:rPr>
              <a:t> </a:t>
            </a:r>
            <a:r>
              <a:rPr lang="zh-CN" altLang="en-US"/>
              <a:t> </a:t>
            </a:r>
          </a:p>
        </p:txBody>
      </p:sp>
      <p:sp>
        <p:nvSpPr>
          <p:cNvPr id="12595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FA8E5F1-C893-4E1C-B561-1A843458C50F}" type="slidenum">
              <a:rPr lang="en-US" altLang="zh-CN" sz="1400" b="0"/>
              <a:pPr eaLnBrk="1" hangingPunct="1"/>
              <a:t>112</a:t>
            </a:fld>
            <a:endParaRPr lang="en-US" altLang="zh-CN" sz="1400" b="0"/>
          </a:p>
        </p:txBody>
      </p:sp>
      <p:sp>
        <p:nvSpPr>
          <p:cNvPr id="623621" name="AutoShape 5" descr="小棋盘"/>
          <p:cNvSpPr>
            <a:spLocks noChangeArrowheads="1"/>
          </p:cNvSpPr>
          <p:nvPr/>
        </p:nvSpPr>
        <p:spPr bwMode="auto">
          <a:xfrm>
            <a:off x="6084888" y="2205038"/>
            <a:ext cx="1600200" cy="838200"/>
          </a:xfrm>
          <a:prstGeom prst="wedgeRoundRectCallout">
            <a:avLst>
              <a:gd name="adj1" fmla="val -190375"/>
              <a:gd name="adj2" fmla="val -46968"/>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t>控制串行口的工作</a:t>
            </a:r>
          </a:p>
        </p:txBody>
      </p:sp>
      <p:sp>
        <p:nvSpPr>
          <p:cNvPr id="125958" name="AutoShape 8" descr="小棋盘"/>
          <p:cNvSpPr>
            <a:spLocks noChangeArrowheads="1"/>
          </p:cNvSpPr>
          <p:nvPr/>
        </p:nvSpPr>
        <p:spPr bwMode="auto">
          <a:xfrm>
            <a:off x="409575" y="5249863"/>
            <a:ext cx="1600200" cy="838200"/>
          </a:xfrm>
          <a:prstGeom prst="wedgeRoundRectCallout">
            <a:avLst>
              <a:gd name="adj1" fmla="val -48611"/>
              <a:gd name="adj2" fmla="val -147347"/>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2400"/>
          </a:p>
        </p:txBody>
      </p:sp>
      <p:sp>
        <p:nvSpPr>
          <p:cNvPr id="125959" name="AutoShape 9" descr="小棋盘"/>
          <p:cNvSpPr>
            <a:spLocks noChangeArrowheads="1"/>
          </p:cNvSpPr>
          <p:nvPr/>
        </p:nvSpPr>
        <p:spPr bwMode="auto">
          <a:xfrm>
            <a:off x="180975" y="4868863"/>
            <a:ext cx="2971800" cy="1600200"/>
          </a:xfrm>
          <a:prstGeom prst="wedgeRoundRectCallout">
            <a:avLst>
              <a:gd name="adj1" fmla="val -25426"/>
              <a:gd name="adj2" fmla="val -72023"/>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t>控制串口时钟</a:t>
            </a:r>
          </a:p>
          <a:p>
            <a:pPr eaLnBrk="1" hangingPunct="1"/>
            <a:r>
              <a:rPr lang="en-US" altLang="zh-CN" sz="2400"/>
              <a:t>00</a:t>
            </a:r>
            <a:r>
              <a:rPr lang="zh-CN" altLang="en-US" sz="2400"/>
              <a:t>立即停时钟</a:t>
            </a:r>
          </a:p>
          <a:p>
            <a:pPr eaLnBrk="1" hangingPunct="1"/>
            <a:r>
              <a:rPr lang="en-US" altLang="zh-CN" sz="2400"/>
              <a:t>01</a:t>
            </a:r>
            <a:r>
              <a:rPr lang="zh-CN" altLang="en-US" sz="2400"/>
              <a:t>收继续，发完停</a:t>
            </a:r>
          </a:p>
          <a:p>
            <a:pPr eaLnBrk="1" hangingPunct="1"/>
            <a:r>
              <a:rPr lang="en-US" altLang="zh-CN" sz="2400"/>
              <a:t>1X</a:t>
            </a:r>
            <a:r>
              <a:rPr lang="zh-CN" altLang="en-US" sz="2400"/>
              <a:t>时钟不停</a:t>
            </a:r>
          </a:p>
        </p:txBody>
      </p:sp>
      <p:sp>
        <p:nvSpPr>
          <p:cNvPr id="125960" name="AutoShape 11" descr="小棋盘"/>
          <p:cNvSpPr>
            <a:spLocks noChangeArrowheads="1"/>
          </p:cNvSpPr>
          <p:nvPr/>
        </p:nvSpPr>
        <p:spPr bwMode="auto">
          <a:xfrm>
            <a:off x="5184775" y="5013325"/>
            <a:ext cx="1431925" cy="1600200"/>
          </a:xfrm>
          <a:prstGeom prst="wedgeRoundRectCallout">
            <a:avLst>
              <a:gd name="adj1" fmla="val -171296"/>
              <a:gd name="adj2" fmla="val -72907"/>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0</a:t>
            </a:r>
            <a:r>
              <a:rPr lang="zh-CN" altLang="en-US" sz="2400"/>
              <a:t>发送准备好和接收准备好</a:t>
            </a:r>
          </a:p>
        </p:txBody>
      </p:sp>
      <p:sp>
        <p:nvSpPr>
          <p:cNvPr id="125961" name="AutoShape 12" descr="小棋盘"/>
          <p:cNvSpPr>
            <a:spLocks noChangeArrowheads="1"/>
          </p:cNvSpPr>
          <p:nvPr/>
        </p:nvSpPr>
        <p:spPr bwMode="auto">
          <a:xfrm>
            <a:off x="4038600" y="5105400"/>
            <a:ext cx="1066800" cy="1600200"/>
          </a:xfrm>
          <a:prstGeom prst="wedgeRoundRectCallout">
            <a:avLst>
              <a:gd name="adj1" fmla="val -201787"/>
              <a:gd name="adj2" fmla="val -107440"/>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0</a:t>
            </a:r>
            <a:r>
              <a:rPr lang="zh-CN" altLang="en-US" sz="2400"/>
              <a:t>发送移位寄存器空</a:t>
            </a:r>
          </a:p>
        </p:txBody>
      </p:sp>
      <p:sp>
        <p:nvSpPr>
          <p:cNvPr id="125962" name="AutoShape 13" descr="小棋盘"/>
          <p:cNvSpPr>
            <a:spLocks noChangeArrowheads="1"/>
          </p:cNvSpPr>
          <p:nvPr/>
        </p:nvSpPr>
        <p:spPr bwMode="auto">
          <a:xfrm>
            <a:off x="2895600" y="5029200"/>
            <a:ext cx="1066800" cy="1600200"/>
          </a:xfrm>
          <a:prstGeom prst="wedgeRoundRectCallout">
            <a:avLst>
              <a:gd name="adj1" fmla="val -170236"/>
              <a:gd name="adj2" fmla="val -103870"/>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1</a:t>
            </a:r>
            <a:r>
              <a:rPr lang="zh-CN" altLang="en-US" sz="2400"/>
              <a:t>接收移位寄存器满</a:t>
            </a:r>
          </a:p>
        </p:txBody>
      </p:sp>
      <p:grpSp>
        <p:nvGrpSpPr>
          <p:cNvPr id="125963" name="Group 95"/>
          <p:cNvGrpSpPr>
            <a:grpSpLocks/>
          </p:cNvGrpSpPr>
          <p:nvPr/>
        </p:nvGrpSpPr>
        <p:grpSpPr bwMode="auto">
          <a:xfrm>
            <a:off x="123825" y="3284538"/>
            <a:ext cx="8932863" cy="1249362"/>
            <a:chOff x="0" y="334"/>
            <a:chExt cx="5627" cy="787"/>
          </a:xfrm>
        </p:grpSpPr>
        <p:sp>
          <p:nvSpPr>
            <p:cNvPr id="125967" name="Text Box 15"/>
            <p:cNvSpPr txBox="1">
              <a:spLocks noChangeArrowheads="1"/>
            </p:cNvSpPr>
            <p:nvPr/>
          </p:nvSpPr>
          <p:spPr bwMode="auto">
            <a:xfrm>
              <a:off x="0" y="562"/>
              <a:ext cx="30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Free</a:t>
              </a:r>
            </a:p>
            <a:p>
              <a:pPr algn="ctr" eaLnBrk="1" hangingPunct="1">
                <a:lnSpc>
                  <a:spcPct val="75000"/>
                </a:lnSpc>
              </a:pPr>
              <a:endParaRPr lang="en-US" altLang="zh-CN" sz="900"/>
            </a:p>
          </p:txBody>
        </p:sp>
        <p:sp>
          <p:nvSpPr>
            <p:cNvPr id="125968" name="Text Box 16"/>
            <p:cNvSpPr txBox="1">
              <a:spLocks noChangeArrowheads="1"/>
            </p:cNvSpPr>
            <p:nvPr/>
          </p:nvSpPr>
          <p:spPr bwMode="auto">
            <a:xfrm>
              <a:off x="14" y="346"/>
              <a:ext cx="2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15</a:t>
              </a:r>
            </a:p>
          </p:txBody>
        </p:sp>
        <p:sp>
          <p:nvSpPr>
            <p:cNvPr id="125969" name="Text Box 17"/>
            <p:cNvSpPr txBox="1">
              <a:spLocks noChangeArrowheads="1"/>
            </p:cNvSpPr>
            <p:nvPr/>
          </p:nvSpPr>
          <p:spPr bwMode="auto">
            <a:xfrm>
              <a:off x="302" y="563"/>
              <a:ext cx="317"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Soft</a:t>
              </a:r>
            </a:p>
            <a:p>
              <a:pPr algn="ctr" eaLnBrk="1" hangingPunct="1">
                <a:lnSpc>
                  <a:spcPct val="75000"/>
                </a:lnSpc>
              </a:pPr>
              <a:endParaRPr lang="en-US" altLang="zh-CN" sz="900"/>
            </a:p>
          </p:txBody>
        </p:sp>
        <p:sp>
          <p:nvSpPr>
            <p:cNvPr id="125970" name="Text Box 19"/>
            <p:cNvSpPr txBox="1">
              <a:spLocks noChangeArrowheads="1"/>
            </p:cNvSpPr>
            <p:nvPr/>
          </p:nvSpPr>
          <p:spPr bwMode="auto">
            <a:xfrm>
              <a:off x="595" y="563"/>
              <a:ext cx="44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en-US" altLang="zh-CN" sz="1800"/>
                <a:t>RSR</a:t>
              </a:r>
            </a:p>
            <a:p>
              <a:pPr algn="ctr" eaLnBrk="1" hangingPunct="1">
                <a:lnSpc>
                  <a:spcPct val="75000"/>
                </a:lnSpc>
              </a:pPr>
              <a:r>
                <a:rPr lang="en-US" altLang="zh-CN" sz="1800"/>
                <a:t>FULL</a:t>
              </a:r>
            </a:p>
          </p:txBody>
        </p:sp>
        <p:sp>
          <p:nvSpPr>
            <p:cNvPr id="125971" name="Text Box 21"/>
            <p:cNvSpPr txBox="1">
              <a:spLocks noChangeArrowheads="1"/>
            </p:cNvSpPr>
            <p:nvPr/>
          </p:nvSpPr>
          <p:spPr bwMode="auto">
            <a:xfrm>
              <a:off x="1567" y="568"/>
              <a:ext cx="454" cy="319"/>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000"/>
            </a:p>
            <a:p>
              <a:pPr algn="ctr" eaLnBrk="1" hangingPunct="1">
                <a:lnSpc>
                  <a:spcPct val="70000"/>
                </a:lnSpc>
              </a:pPr>
              <a:r>
                <a:rPr lang="en-US" altLang="zh-CN" sz="1800"/>
                <a:t>XRDY</a:t>
              </a:r>
            </a:p>
            <a:p>
              <a:pPr algn="ctr" eaLnBrk="1" hangingPunct="1">
                <a:lnSpc>
                  <a:spcPct val="70000"/>
                </a:lnSpc>
              </a:pPr>
              <a:endParaRPr lang="en-US" altLang="zh-CN" sz="1000"/>
            </a:p>
          </p:txBody>
        </p:sp>
        <p:sp>
          <p:nvSpPr>
            <p:cNvPr id="125972" name="Text Box 23"/>
            <p:cNvSpPr txBox="1">
              <a:spLocks noChangeArrowheads="1"/>
            </p:cNvSpPr>
            <p:nvPr/>
          </p:nvSpPr>
          <p:spPr bwMode="auto">
            <a:xfrm>
              <a:off x="1023" y="563"/>
              <a:ext cx="544"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en-US" altLang="zh-CN" sz="1800"/>
                <a:t>XSR</a:t>
              </a:r>
            </a:p>
            <a:p>
              <a:pPr algn="ctr" eaLnBrk="1" hangingPunct="1">
                <a:lnSpc>
                  <a:spcPct val="75000"/>
                </a:lnSpc>
              </a:pPr>
              <a:r>
                <a:rPr lang="en-US" altLang="zh-CN" sz="1800"/>
                <a:t>EMPTY</a:t>
              </a:r>
            </a:p>
          </p:txBody>
        </p:sp>
        <p:sp>
          <p:nvSpPr>
            <p:cNvPr id="125973" name="Rectangle 35"/>
            <p:cNvSpPr>
              <a:spLocks noChangeArrowheads="1"/>
            </p:cNvSpPr>
            <p:nvPr/>
          </p:nvSpPr>
          <p:spPr bwMode="auto">
            <a:xfrm>
              <a:off x="0"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5974" name="Text Box 41"/>
            <p:cNvSpPr txBox="1">
              <a:spLocks noChangeArrowheads="1"/>
            </p:cNvSpPr>
            <p:nvPr/>
          </p:nvSpPr>
          <p:spPr bwMode="auto">
            <a:xfrm>
              <a:off x="449"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14</a:t>
              </a:r>
            </a:p>
          </p:txBody>
        </p:sp>
        <p:sp>
          <p:nvSpPr>
            <p:cNvPr id="125975" name="Text Box 43"/>
            <p:cNvSpPr txBox="1">
              <a:spLocks noChangeArrowheads="1"/>
            </p:cNvSpPr>
            <p:nvPr/>
          </p:nvSpPr>
          <p:spPr bwMode="auto">
            <a:xfrm>
              <a:off x="812"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13</a:t>
              </a:r>
            </a:p>
          </p:txBody>
        </p:sp>
        <p:sp>
          <p:nvSpPr>
            <p:cNvPr id="125976" name="Text Box 44"/>
            <p:cNvSpPr txBox="1">
              <a:spLocks noChangeArrowheads="1"/>
            </p:cNvSpPr>
            <p:nvPr/>
          </p:nvSpPr>
          <p:spPr bwMode="auto">
            <a:xfrm>
              <a:off x="1311"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12</a:t>
              </a:r>
            </a:p>
          </p:txBody>
        </p:sp>
        <p:sp>
          <p:nvSpPr>
            <p:cNvPr id="125977" name="Text Box 47"/>
            <p:cNvSpPr txBox="1">
              <a:spLocks noChangeArrowheads="1"/>
            </p:cNvSpPr>
            <p:nvPr/>
          </p:nvSpPr>
          <p:spPr bwMode="auto">
            <a:xfrm>
              <a:off x="1810"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11</a:t>
              </a:r>
            </a:p>
          </p:txBody>
        </p:sp>
        <p:sp>
          <p:nvSpPr>
            <p:cNvPr id="125978" name="Line 70"/>
            <p:cNvSpPr>
              <a:spLocks noChangeShapeType="1"/>
            </p:cNvSpPr>
            <p:nvPr/>
          </p:nvSpPr>
          <p:spPr bwMode="auto">
            <a:xfrm>
              <a:off x="1086" y="572"/>
              <a:ext cx="409" cy="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979" name="Text Box 51"/>
            <p:cNvSpPr txBox="1">
              <a:spLocks noChangeArrowheads="1"/>
            </p:cNvSpPr>
            <p:nvPr/>
          </p:nvSpPr>
          <p:spPr bwMode="auto">
            <a:xfrm>
              <a:off x="2018" y="563"/>
              <a:ext cx="454"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RRDY</a:t>
              </a:r>
            </a:p>
            <a:p>
              <a:pPr algn="ctr" eaLnBrk="1" hangingPunct="1">
                <a:lnSpc>
                  <a:spcPct val="75000"/>
                </a:lnSpc>
              </a:pPr>
              <a:endParaRPr lang="en-US" altLang="zh-CN" sz="900"/>
            </a:p>
          </p:txBody>
        </p:sp>
        <p:sp>
          <p:nvSpPr>
            <p:cNvPr id="125980" name="Text Box 52"/>
            <p:cNvSpPr txBox="1">
              <a:spLocks noChangeArrowheads="1"/>
            </p:cNvSpPr>
            <p:nvPr/>
          </p:nvSpPr>
          <p:spPr bwMode="auto">
            <a:xfrm>
              <a:off x="2085" y="34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10</a:t>
              </a:r>
            </a:p>
          </p:txBody>
        </p:sp>
        <p:sp>
          <p:nvSpPr>
            <p:cNvPr id="125981" name="Text Box 53"/>
            <p:cNvSpPr txBox="1">
              <a:spLocks noChangeArrowheads="1"/>
            </p:cNvSpPr>
            <p:nvPr/>
          </p:nvSpPr>
          <p:spPr bwMode="auto">
            <a:xfrm>
              <a:off x="2472" y="563"/>
              <a:ext cx="27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IN1</a:t>
              </a:r>
            </a:p>
            <a:p>
              <a:pPr algn="ctr" eaLnBrk="1" hangingPunct="1">
                <a:lnSpc>
                  <a:spcPct val="75000"/>
                </a:lnSpc>
              </a:pPr>
              <a:endParaRPr lang="en-US" altLang="zh-CN" sz="900"/>
            </a:p>
          </p:txBody>
        </p:sp>
        <p:sp>
          <p:nvSpPr>
            <p:cNvPr id="125982" name="Text Box 54"/>
            <p:cNvSpPr txBox="1">
              <a:spLocks noChangeArrowheads="1"/>
            </p:cNvSpPr>
            <p:nvPr/>
          </p:nvSpPr>
          <p:spPr bwMode="auto">
            <a:xfrm>
              <a:off x="2492"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9</a:t>
              </a:r>
            </a:p>
          </p:txBody>
        </p:sp>
        <p:sp>
          <p:nvSpPr>
            <p:cNvPr id="125983" name="Text Box 55"/>
            <p:cNvSpPr txBox="1">
              <a:spLocks noChangeArrowheads="1"/>
            </p:cNvSpPr>
            <p:nvPr/>
          </p:nvSpPr>
          <p:spPr bwMode="auto">
            <a:xfrm>
              <a:off x="2744" y="563"/>
              <a:ext cx="27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IN0</a:t>
              </a:r>
            </a:p>
            <a:p>
              <a:pPr algn="ctr" eaLnBrk="1" hangingPunct="1">
                <a:lnSpc>
                  <a:spcPct val="75000"/>
                </a:lnSpc>
              </a:pPr>
              <a:endParaRPr lang="en-US" altLang="zh-CN" sz="900"/>
            </a:p>
          </p:txBody>
        </p:sp>
        <p:sp>
          <p:nvSpPr>
            <p:cNvPr id="125984" name="Text Box 56"/>
            <p:cNvSpPr txBox="1">
              <a:spLocks noChangeArrowheads="1"/>
            </p:cNvSpPr>
            <p:nvPr/>
          </p:nvSpPr>
          <p:spPr bwMode="auto">
            <a:xfrm>
              <a:off x="2789"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a:t>
              </a:r>
            </a:p>
          </p:txBody>
        </p:sp>
        <p:sp>
          <p:nvSpPr>
            <p:cNvPr id="125985" name="Text Box 57"/>
            <p:cNvSpPr txBox="1">
              <a:spLocks noChangeArrowheads="1"/>
            </p:cNvSpPr>
            <p:nvPr/>
          </p:nvSpPr>
          <p:spPr bwMode="auto">
            <a:xfrm>
              <a:off x="3016" y="558"/>
              <a:ext cx="40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RRST</a:t>
              </a:r>
            </a:p>
            <a:p>
              <a:pPr algn="ctr" eaLnBrk="1" hangingPunct="1">
                <a:lnSpc>
                  <a:spcPct val="75000"/>
                </a:lnSpc>
              </a:pPr>
              <a:endParaRPr lang="en-US" altLang="zh-CN" sz="900"/>
            </a:p>
          </p:txBody>
        </p:sp>
        <p:sp>
          <p:nvSpPr>
            <p:cNvPr id="125986" name="Text Box 58"/>
            <p:cNvSpPr txBox="1">
              <a:spLocks noChangeArrowheads="1"/>
            </p:cNvSpPr>
            <p:nvPr/>
          </p:nvSpPr>
          <p:spPr bwMode="auto">
            <a:xfrm>
              <a:off x="3424" y="563"/>
              <a:ext cx="40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XRST</a:t>
              </a:r>
            </a:p>
            <a:p>
              <a:pPr algn="ctr" eaLnBrk="1" hangingPunct="1">
                <a:lnSpc>
                  <a:spcPct val="75000"/>
                </a:lnSpc>
              </a:pPr>
              <a:endParaRPr lang="en-US" altLang="zh-CN" sz="900"/>
            </a:p>
          </p:txBody>
        </p:sp>
        <p:sp>
          <p:nvSpPr>
            <p:cNvPr id="125987" name="Text Box 59"/>
            <p:cNvSpPr txBox="1">
              <a:spLocks noChangeArrowheads="1"/>
            </p:cNvSpPr>
            <p:nvPr/>
          </p:nvSpPr>
          <p:spPr bwMode="auto">
            <a:xfrm>
              <a:off x="3832" y="563"/>
              <a:ext cx="363"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TXM</a:t>
              </a:r>
            </a:p>
            <a:p>
              <a:pPr algn="ctr" eaLnBrk="1" hangingPunct="1">
                <a:lnSpc>
                  <a:spcPct val="75000"/>
                </a:lnSpc>
              </a:pPr>
              <a:endParaRPr lang="en-US" altLang="zh-CN" sz="900"/>
            </a:p>
          </p:txBody>
        </p:sp>
        <p:sp>
          <p:nvSpPr>
            <p:cNvPr id="125988" name="Text Box 60"/>
            <p:cNvSpPr txBox="1">
              <a:spLocks noChangeArrowheads="1"/>
            </p:cNvSpPr>
            <p:nvPr/>
          </p:nvSpPr>
          <p:spPr bwMode="auto">
            <a:xfrm>
              <a:off x="4195" y="563"/>
              <a:ext cx="40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MCM</a:t>
              </a:r>
            </a:p>
            <a:p>
              <a:pPr algn="ctr" eaLnBrk="1" hangingPunct="1">
                <a:lnSpc>
                  <a:spcPct val="75000"/>
                </a:lnSpc>
              </a:pPr>
              <a:endParaRPr lang="en-US" altLang="zh-CN" sz="900"/>
            </a:p>
          </p:txBody>
        </p:sp>
        <p:sp>
          <p:nvSpPr>
            <p:cNvPr id="125989" name="Text Box 61"/>
            <p:cNvSpPr txBox="1">
              <a:spLocks noChangeArrowheads="1"/>
            </p:cNvSpPr>
            <p:nvPr/>
          </p:nvSpPr>
          <p:spPr bwMode="auto">
            <a:xfrm>
              <a:off x="3152"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a:t>
              </a:r>
            </a:p>
          </p:txBody>
        </p:sp>
        <p:sp>
          <p:nvSpPr>
            <p:cNvPr id="125990" name="Text Box 62"/>
            <p:cNvSpPr txBox="1">
              <a:spLocks noChangeArrowheads="1"/>
            </p:cNvSpPr>
            <p:nvPr/>
          </p:nvSpPr>
          <p:spPr bwMode="auto">
            <a:xfrm>
              <a:off x="3515"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6</a:t>
              </a:r>
            </a:p>
          </p:txBody>
        </p:sp>
        <p:sp>
          <p:nvSpPr>
            <p:cNvPr id="125991" name="Text Box 63"/>
            <p:cNvSpPr txBox="1">
              <a:spLocks noChangeArrowheads="1"/>
            </p:cNvSpPr>
            <p:nvPr/>
          </p:nvSpPr>
          <p:spPr bwMode="auto">
            <a:xfrm>
              <a:off x="3923"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5</a:t>
              </a:r>
            </a:p>
          </p:txBody>
        </p:sp>
        <p:sp>
          <p:nvSpPr>
            <p:cNvPr id="125992" name="Text Box 64"/>
            <p:cNvSpPr txBox="1">
              <a:spLocks noChangeArrowheads="1"/>
            </p:cNvSpPr>
            <p:nvPr/>
          </p:nvSpPr>
          <p:spPr bwMode="auto">
            <a:xfrm>
              <a:off x="4241"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a:t>
              </a:r>
            </a:p>
          </p:txBody>
        </p:sp>
        <p:sp>
          <p:nvSpPr>
            <p:cNvPr id="125993" name="Text Box 65"/>
            <p:cNvSpPr txBox="1">
              <a:spLocks noChangeArrowheads="1"/>
            </p:cNvSpPr>
            <p:nvPr/>
          </p:nvSpPr>
          <p:spPr bwMode="auto">
            <a:xfrm>
              <a:off x="4558" y="563"/>
              <a:ext cx="363"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FSM</a:t>
              </a:r>
            </a:p>
            <a:p>
              <a:pPr algn="ctr" eaLnBrk="1" hangingPunct="1">
                <a:lnSpc>
                  <a:spcPct val="75000"/>
                </a:lnSpc>
              </a:pPr>
              <a:endParaRPr lang="en-US" altLang="zh-CN" sz="900"/>
            </a:p>
          </p:txBody>
        </p:sp>
        <p:sp>
          <p:nvSpPr>
            <p:cNvPr id="125994" name="Text Box 66"/>
            <p:cNvSpPr txBox="1">
              <a:spLocks noChangeArrowheads="1"/>
            </p:cNvSpPr>
            <p:nvPr/>
          </p:nvSpPr>
          <p:spPr bwMode="auto">
            <a:xfrm>
              <a:off x="4603"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3</a:t>
              </a:r>
            </a:p>
          </p:txBody>
        </p:sp>
        <p:sp>
          <p:nvSpPr>
            <p:cNvPr id="125995" name="Text Box 67"/>
            <p:cNvSpPr txBox="1">
              <a:spLocks noChangeArrowheads="1"/>
            </p:cNvSpPr>
            <p:nvPr/>
          </p:nvSpPr>
          <p:spPr bwMode="auto">
            <a:xfrm>
              <a:off x="4852" y="563"/>
              <a:ext cx="18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F0</a:t>
              </a:r>
            </a:p>
            <a:p>
              <a:pPr algn="ctr" eaLnBrk="1" hangingPunct="1">
                <a:lnSpc>
                  <a:spcPct val="75000"/>
                </a:lnSpc>
              </a:pPr>
              <a:endParaRPr lang="en-US" altLang="zh-CN" sz="900"/>
            </a:p>
          </p:txBody>
        </p:sp>
        <p:sp>
          <p:nvSpPr>
            <p:cNvPr id="125996" name="Text Box 68"/>
            <p:cNvSpPr txBox="1">
              <a:spLocks noChangeArrowheads="1"/>
            </p:cNvSpPr>
            <p:nvPr/>
          </p:nvSpPr>
          <p:spPr bwMode="auto">
            <a:xfrm>
              <a:off x="5037" y="563"/>
              <a:ext cx="31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DLB</a:t>
              </a:r>
            </a:p>
            <a:p>
              <a:pPr algn="ctr" eaLnBrk="1" hangingPunct="1">
                <a:lnSpc>
                  <a:spcPct val="75000"/>
                </a:lnSpc>
              </a:pPr>
              <a:endParaRPr lang="en-US" altLang="zh-CN" sz="900"/>
            </a:p>
          </p:txBody>
        </p:sp>
        <p:sp>
          <p:nvSpPr>
            <p:cNvPr id="125997" name="Text Box 69"/>
            <p:cNvSpPr txBox="1">
              <a:spLocks noChangeArrowheads="1"/>
            </p:cNvSpPr>
            <p:nvPr/>
          </p:nvSpPr>
          <p:spPr bwMode="auto">
            <a:xfrm>
              <a:off x="5355" y="563"/>
              <a:ext cx="27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Res</a:t>
              </a:r>
            </a:p>
            <a:p>
              <a:pPr algn="ctr" eaLnBrk="1" hangingPunct="1">
                <a:lnSpc>
                  <a:spcPct val="75000"/>
                </a:lnSpc>
              </a:pPr>
              <a:endParaRPr lang="en-US" altLang="zh-CN" sz="900"/>
            </a:p>
          </p:txBody>
        </p:sp>
        <p:sp>
          <p:nvSpPr>
            <p:cNvPr id="125998" name="Text Box 71"/>
            <p:cNvSpPr txBox="1">
              <a:spLocks noChangeArrowheads="1"/>
            </p:cNvSpPr>
            <p:nvPr/>
          </p:nvSpPr>
          <p:spPr bwMode="auto">
            <a:xfrm>
              <a:off x="4852"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a:t>
              </a:r>
            </a:p>
          </p:txBody>
        </p:sp>
        <p:sp>
          <p:nvSpPr>
            <p:cNvPr id="125999" name="Text Box 72"/>
            <p:cNvSpPr txBox="1">
              <a:spLocks noChangeArrowheads="1"/>
            </p:cNvSpPr>
            <p:nvPr/>
          </p:nvSpPr>
          <p:spPr bwMode="auto">
            <a:xfrm>
              <a:off x="5124"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a:t>
              </a:r>
            </a:p>
          </p:txBody>
        </p:sp>
        <p:sp>
          <p:nvSpPr>
            <p:cNvPr id="126000" name="Text Box 73"/>
            <p:cNvSpPr txBox="1">
              <a:spLocks noChangeArrowheads="1"/>
            </p:cNvSpPr>
            <p:nvPr/>
          </p:nvSpPr>
          <p:spPr bwMode="auto">
            <a:xfrm>
              <a:off x="5396"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a:t>
              </a:r>
            </a:p>
          </p:txBody>
        </p:sp>
        <p:sp>
          <p:nvSpPr>
            <p:cNvPr id="126001" name="Rectangle 74"/>
            <p:cNvSpPr>
              <a:spLocks noChangeArrowheads="1"/>
            </p:cNvSpPr>
            <p:nvPr/>
          </p:nvSpPr>
          <p:spPr bwMode="auto">
            <a:xfrm>
              <a:off x="325"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6002" name="Rectangle 75"/>
            <p:cNvSpPr>
              <a:spLocks noChangeArrowheads="1"/>
            </p:cNvSpPr>
            <p:nvPr/>
          </p:nvSpPr>
          <p:spPr bwMode="auto">
            <a:xfrm>
              <a:off x="733"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6003" name="Rectangle 76"/>
            <p:cNvSpPr>
              <a:spLocks noChangeArrowheads="1"/>
            </p:cNvSpPr>
            <p:nvPr/>
          </p:nvSpPr>
          <p:spPr bwMode="auto">
            <a:xfrm>
              <a:off x="1232"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6004" name="Rectangle 77"/>
            <p:cNvSpPr>
              <a:spLocks noChangeArrowheads="1"/>
            </p:cNvSpPr>
            <p:nvPr/>
          </p:nvSpPr>
          <p:spPr bwMode="auto">
            <a:xfrm>
              <a:off x="1731"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6005" name="Rectangle 78"/>
            <p:cNvSpPr>
              <a:spLocks noChangeArrowheads="1"/>
            </p:cNvSpPr>
            <p:nvPr/>
          </p:nvSpPr>
          <p:spPr bwMode="auto">
            <a:xfrm>
              <a:off x="2200"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6006" name="Rectangle 79"/>
            <p:cNvSpPr>
              <a:spLocks noChangeArrowheads="1"/>
            </p:cNvSpPr>
            <p:nvPr/>
          </p:nvSpPr>
          <p:spPr bwMode="auto">
            <a:xfrm>
              <a:off x="2542"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6007" name="Rectangle 80"/>
            <p:cNvSpPr>
              <a:spLocks noChangeArrowheads="1"/>
            </p:cNvSpPr>
            <p:nvPr/>
          </p:nvSpPr>
          <p:spPr bwMode="auto">
            <a:xfrm>
              <a:off x="2835"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6008" name="Rectangle 81"/>
            <p:cNvSpPr>
              <a:spLocks noChangeArrowheads="1"/>
            </p:cNvSpPr>
            <p:nvPr/>
          </p:nvSpPr>
          <p:spPr bwMode="auto">
            <a:xfrm>
              <a:off x="5420"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6009" name="Rectangle 82"/>
            <p:cNvSpPr>
              <a:spLocks noChangeArrowheads="1"/>
            </p:cNvSpPr>
            <p:nvPr/>
          </p:nvSpPr>
          <p:spPr bwMode="auto">
            <a:xfrm>
              <a:off x="3051"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6010" name="Rectangle 88"/>
            <p:cNvSpPr>
              <a:spLocks noChangeArrowheads="1"/>
            </p:cNvSpPr>
            <p:nvPr/>
          </p:nvSpPr>
          <p:spPr bwMode="auto">
            <a:xfrm>
              <a:off x="5062"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6011" name="Line 92"/>
            <p:cNvSpPr>
              <a:spLocks noChangeShapeType="1"/>
            </p:cNvSpPr>
            <p:nvPr/>
          </p:nvSpPr>
          <p:spPr bwMode="auto">
            <a:xfrm>
              <a:off x="3424" y="1006"/>
              <a:ext cx="1543"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6012" name="Line 93"/>
            <p:cNvSpPr>
              <a:spLocks noChangeShapeType="1"/>
            </p:cNvSpPr>
            <p:nvPr/>
          </p:nvSpPr>
          <p:spPr bwMode="auto">
            <a:xfrm>
              <a:off x="3061" y="618"/>
              <a:ext cx="273"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6013" name="Line 94"/>
            <p:cNvSpPr>
              <a:spLocks noChangeShapeType="1"/>
            </p:cNvSpPr>
            <p:nvPr/>
          </p:nvSpPr>
          <p:spPr bwMode="auto">
            <a:xfrm>
              <a:off x="3470" y="618"/>
              <a:ext cx="273"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5964" name="AutoShape 10" descr="小棋盘"/>
          <p:cNvSpPr>
            <a:spLocks noChangeArrowheads="1"/>
          </p:cNvSpPr>
          <p:nvPr/>
        </p:nvSpPr>
        <p:spPr bwMode="auto">
          <a:xfrm>
            <a:off x="7346950" y="4706938"/>
            <a:ext cx="1511300" cy="1954212"/>
          </a:xfrm>
          <a:prstGeom prst="wedgeRoundRectCallout">
            <a:avLst>
              <a:gd name="adj1" fmla="val -216250"/>
              <a:gd name="adj2" fmla="val -53273"/>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en-US" altLang="zh-CN" sz="2400">
                <a:solidFill>
                  <a:srgbClr val="FF00FF"/>
                </a:solidFill>
              </a:rPr>
              <a:t>CLKX</a:t>
            </a:r>
            <a:r>
              <a:rPr lang="zh-CN" altLang="en-US" sz="2400">
                <a:solidFill>
                  <a:srgbClr val="FF00FF"/>
                </a:solidFill>
              </a:rPr>
              <a:t>和</a:t>
            </a:r>
            <a:r>
              <a:rPr lang="en-US" altLang="zh-CN" sz="2400">
                <a:solidFill>
                  <a:srgbClr val="FF00FF"/>
                </a:solidFill>
              </a:rPr>
              <a:t>FSX</a:t>
            </a:r>
            <a:r>
              <a:rPr lang="zh-CN" altLang="en-US" sz="2400">
                <a:solidFill>
                  <a:srgbClr val="FF00FF"/>
                </a:solidFill>
              </a:rPr>
              <a:t>引脚作为位输入引脚。</a:t>
            </a:r>
          </a:p>
        </p:txBody>
      </p:sp>
      <p:sp>
        <p:nvSpPr>
          <p:cNvPr id="125965" name="AutoShape 96"/>
          <p:cNvSpPr>
            <a:spLocks/>
          </p:cNvSpPr>
          <p:nvPr/>
        </p:nvSpPr>
        <p:spPr bwMode="auto">
          <a:xfrm rot="16200000" flipV="1">
            <a:off x="3257550" y="4238626"/>
            <a:ext cx="179387" cy="576262"/>
          </a:xfrm>
          <a:prstGeom prst="leftBrace">
            <a:avLst>
              <a:gd name="adj1" fmla="val 26636"/>
              <a:gd name="adj2" fmla="val 4986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5966" name="AutoShape 97"/>
          <p:cNvSpPr>
            <a:spLocks/>
          </p:cNvSpPr>
          <p:nvPr/>
        </p:nvSpPr>
        <p:spPr bwMode="auto">
          <a:xfrm rot="16200000" flipV="1">
            <a:off x="4410075" y="4310063"/>
            <a:ext cx="179388" cy="576262"/>
          </a:xfrm>
          <a:prstGeom prst="leftBrace">
            <a:avLst>
              <a:gd name="adj1" fmla="val 26636"/>
              <a:gd name="adj2" fmla="val 4986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623618"/>
                                        </p:tgtEl>
                                        <p:attrNameLst>
                                          <p:attrName>style.visibility</p:attrName>
                                        </p:attrNameLst>
                                      </p:cBhvr>
                                      <p:to>
                                        <p:strVal val="visible"/>
                                      </p:to>
                                    </p:set>
                                    <p:animEffect transition="in" filter="slide(fromRight)">
                                      <p:cBhvr>
                                        <p:cTn id="7" dur="500"/>
                                        <p:tgtEl>
                                          <p:spTgt spid="623618"/>
                                        </p:tgtEl>
                                      </p:cBhvr>
                                    </p:animEffect>
                                  </p:childTnLst>
                                </p:cTn>
                              </p:par>
                            </p:childTnLst>
                          </p:cTn>
                        </p:par>
                        <p:par>
                          <p:cTn id="8" fill="hold" nodeType="afterGroup">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623621"/>
                                        </p:tgtEl>
                                        <p:attrNameLst>
                                          <p:attrName>style.visibility</p:attrName>
                                        </p:attrNameLst>
                                      </p:cBhvr>
                                      <p:to>
                                        <p:strVal val="visible"/>
                                      </p:to>
                                    </p:set>
                                    <p:anim calcmode="lin" valueType="num">
                                      <p:cBhvr additive="base">
                                        <p:cTn id="11" dur="500" fill="hold"/>
                                        <p:tgtEl>
                                          <p:spTgt spid="623621"/>
                                        </p:tgtEl>
                                        <p:attrNameLst>
                                          <p:attrName>ppt_x</p:attrName>
                                        </p:attrNameLst>
                                      </p:cBhvr>
                                      <p:tavLst>
                                        <p:tav tm="0">
                                          <p:val>
                                            <p:strVal val="1+#ppt_w/2"/>
                                          </p:val>
                                        </p:tav>
                                        <p:tav tm="100000">
                                          <p:val>
                                            <p:strVal val="#ppt_x"/>
                                          </p:val>
                                        </p:tav>
                                      </p:tavLst>
                                    </p:anim>
                                    <p:anim calcmode="lin" valueType="num">
                                      <p:cBhvr additive="base">
                                        <p:cTn id="12" dur="500" fill="hold"/>
                                        <p:tgtEl>
                                          <p:spTgt spid="6236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18" grpId="0" autoUpdateAnimBg="0"/>
      <p:bldP spid="623621" grpId="0" animBg="1"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71F8F467-B8FF-45F0-AE0B-B7A5224DF081}" type="slidenum">
              <a:rPr lang="en-US" altLang="zh-CN" sz="1400" b="0"/>
              <a:pPr eaLnBrk="1" hangingPunct="1"/>
              <a:t>113</a:t>
            </a:fld>
            <a:endParaRPr lang="en-US" altLang="zh-CN" sz="1400" b="0"/>
          </a:p>
        </p:txBody>
      </p:sp>
      <p:sp>
        <p:nvSpPr>
          <p:cNvPr id="624643" name="AutoShape 3" descr="小棋盘"/>
          <p:cNvSpPr>
            <a:spLocks noChangeArrowheads="1"/>
          </p:cNvSpPr>
          <p:nvPr/>
        </p:nvSpPr>
        <p:spPr bwMode="auto">
          <a:xfrm>
            <a:off x="228600" y="2971800"/>
            <a:ext cx="1371600" cy="2905125"/>
          </a:xfrm>
          <a:prstGeom prst="wedgeRoundRectCallout">
            <a:avLst>
              <a:gd name="adj1" fmla="val 323958"/>
              <a:gd name="adj2" fmla="val -64208"/>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6600"/>
                </a:solidFill>
              </a:rPr>
              <a:t>接收复位 </a:t>
            </a:r>
            <a:r>
              <a:rPr lang="en-US" altLang="zh-CN" sz="2400">
                <a:solidFill>
                  <a:srgbClr val="FF6600"/>
                </a:solidFill>
              </a:rPr>
              <a:t>0</a:t>
            </a:r>
            <a:r>
              <a:rPr lang="zh-CN" altLang="en-US" sz="2400">
                <a:solidFill>
                  <a:srgbClr val="FF6600"/>
                </a:solidFill>
              </a:rPr>
              <a:t>和发送复位</a:t>
            </a:r>
            <a:r>
              <a:rPr lang="en-US" altLang="zh-CN" sz="2400">
                <a:solidFill>
                  <a:srgbClr val="FF6600"/>
                </a:solidFill>
              </a:rPr>
              <a:t>0</a:t>
            </a:r>
            <a:r>
              <a:rPr lang="zh-CN" altLang="en-US" sz="2400">
                <a:solidFill>
                  <a:srgbClr val="FF6600"/>
                </a:solidFill>
              </a:rPr>
              <a:t>。为</a:t>
            </a:r>
            <a:r>
              <a:rPr lang="en-US" altLang="zh-CN" sz="2400">
                <a:solidFill>
                  <a:srgbClr val="FF6600"/>
                </a:solidFill>
              </a:rPr>
              <a:t>1</a:t>
            </a:r>
            <a:r>
              <a:rPr lang="zh-CN" altLang="en-US" sz="2400">
                <a:solidFill>
                  <a:srgbClr val="FF6600"/>
                </a:solidFill>
              </a:rPr>
              <a:t>是为工作状态。</a:t>
            </a:r>
          </a:p>
        </p:txBody>
      </p:sp>
      <p:sp>
        <p:nvSpPr>
          <p:cNvPr id="624644" name="AutoShape 4" descr="小棋盘"/>
          <p:cNvSpPr>
            <a:spLocks noChangeArrowheads="1"/>
          </p:cNvSpPr>
          <p:nvPr/>
        </p:nvSpPr>
        <p:spPr bwMode="auto">
          <a:xfrm>
            <a:off x="2303463" y="3789363"/>
            <a:ext cx="3097212" cy="2673350"/>
          </a:xfrm>
          <a:prstGeom prst="wedgeRoundRectCallout">
            <a:avLst>
              <a:gd name="adj1" fmla="val 84032"/>
              <a:gd name="adj2" fmla="val -107838"/>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rgbClr val="FF00FF"/>
                </a:solidFill>
              </a:rPr>
              <a:t>发送方式位。设定帧同步脉冲</a:t>
            </a:r>
            <a:r>
              <a:rPr lang="en-US" altLang="zh-CN" sz="2400">
                <a:solidFill>
                  <a:srgbClr val="FF00FF"/>
                </a:solidFill>
              </a:rPr>
              <a:t>FSX</a:t>
            </a:r>
            <a:r>
              <a:rPr lang="zh-CN" altLang="en-US" sz="2400">
                <a:solidFill>
                  <a:srgbClr val="FF00FF"/>
                </a:solidFill>
              </a:rPr>
              <a:t>的来源：</a:t>
            </a:r>
            <a:r>
              <a:rPr lang="zh-CN" altLang="en-US" sz="2400">
                <a:solidFill>
                  <a:schemeClr val="tx2"/>
                </a:solidFill>
              </a:rPr>
              <a:t>为</a:t>
            </a:r>
            <a:r>
              <a:rPr lang="en-US" altLang="zh-CN" sz="2400">
                <a:solidFill>
                  <a:srgbClr val="009900"/>
                </a:solidFill>
              </a:rPr>
              <a:t>1</a:t>
            </a:r>
            <a:r>
              <a:rPr lang="zh-CN" altLang="en-US" sz="2400">
                <a:solidFill>
                  <a:srgbClr val="009900"/>
                </a:solidFill>
              </a:rPr>
              <a:t>时，将</a:t>
            </a:r>
            <a:r>
              <a:rPr lang="en-US" altLang="zh-CN" sz="2400">
                <a:solidFill>
                  <a:srgbClr val="009900"/>
                </a:solidFill>
              </a:rPr>
              <a:t>FSX</a:t>
            </a:r>
            <a:r>
              <a:rPr lang="zh-CN" altLang="en-US" sz="2400">
                <a:solidFill>
                  <a:srgbClr val="009900"/>
                </a:solidFill>
              </a:rPr>
              <a:t>设置成输出。为</a:t>
            </a:r>
            <a:r>
              <a:rPr lang="en-US" altLang="zh-CN" sz="2400">
                <a:solidFill>
                  <a:srgbClr val="009900"/>
                </a:solidFill>
              </a:rPr>
              <a:t>0</a:t>
            </a:r>
            <a:r>
              <a:rPr lang="zh-CN" altLang="en-US" sz="2400">
                <a:solidFill>
                  <a:srgbClr val="009900"/>
                </a:solidFill>
              </a:rPr>
              <a:t>时，将</a:t>
            </a:r>
            <a:r>
              <a:rPr lang="en-US" altLang="zh-CN" sz="2400">
                <a:solidFill>
                  <a:srgbClr val="009900"/>
                </a:solidFill>
              </a:rPr>
              <a:t>FSX</a:t>
            </a:r>
            <a:r>
              <a:rPr lang="zh-CN" altLang="en-US" sz="2400">
                <a:solidFill>
                  <a:srgbClr val="009900"/>
                </a:solidFill>
              </a:rPr>
              <a:t>设置成输入。</a:t>
            </a:r>
            <a:r>
              <a:rPr lang="en-US" altLang="zh-CN" sz="2400">
                <a:solidFill>
                  <a:srgbClr val="FF00FF"/>
                </a:solidFill>
              </a:rPr>
              <a:t>FSR</a:t>
            </a:r>
            <a:r>
              <a:rPr lang="zh-CN" altLang="en-US" sz="2400">
                <a:solidFill>
                  <a:srgbClr val="FF00FF"/>
                </a:solidFill>
              </a:rPr>
              <a:t>引脚总是配置成输入。</a:t>
            </a:r>
          </a:p>
        </p:txBody>
      </p:sp>
      <p:sp>
        <p:nvSpPr>
          <p:cNvPr id="624645" name="AutoShape 5" descr="小棋盘"/>
          <p:cNvSpPr>
            <a:spLocks noChangeArrowheads="1"/>
          </p:cNvSpPr>
          <p:nvPr/>
        </p:nvSpPr>
        <p:spPr bwMode="auto">
          <a:xfrm>
            <a:off x="5630863" y="4076700"/>
            <a:ext cx="3284537" cy="2400300"/>
          </a:xfrm>
          <a:prstGeom prst="wedgeRoundRectCallout">
            <a:avLst>
              <a:gd name="adj1" fmla="val -10875"/>
              <a:gd name="adj2" fmla="val -130755"/>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rgbClr val="FF00FF"/>
                </a:solidFill>
              </a:rPr>
              <a:t>时钟方式位。设定</a:t>
            </a:r>
            <a:r>
              <a:rPr lang="en-US" altLang="zh-CN" sz="2400">
                <a:solidFill>
                  <a:srgbClr val="FF00FF"/>
                </a:solidFill>
              </a:rPr>
              <a:t>CLKX</a:t>
            </a:r>
            <a:r>
              <a:rPr lang="zh-CN" altLang="en-US" sz="2400">
                <a:solidFill>
                  <a:srgbClr val="FF00FF"/>
                </a:solidFill>
              </a:rPr>
              <a:t>的时钟源。</a:t>
            </a:r>
            <a:r>
              <a:rPr lang="zh-CN" altLang="en-US" sz="2400"/>
              <a:t>为</a:t>
            </a:r>
            <a:r>
              <a:rPr lang="en-US" altLang="zh-CN" sz="2400"/>
              <a:t>1</a:t>
            </a:r>
            <a:r>
              <a:rPr lang="zh-CN" altLang="en-US" sz="2400"/>
              <a:t>时，</a:t>
            </a:r>
            <a:r>
              <a:rPr lang="en-US" altLang="zh-CN" sz="2400"/>
              <a:t>CLKX</a:t>
            </a:r>
            <a:r>
              <a:rPr lang="zh-CN" altLang="en-US" sz="2400"/>
              <a:t>配置成输出，采用内部时钟。为</a:t>
            </a:r>
            <a:r>
              <a:rPr lang="en-US" altLang="zh-CN" sz="2400"/>
              <a:t>0</a:t>
            </a:r>
            <a:r>
              <a:rPr lang="zh-CN" altLang="en-US" sz="2400"/>
              <a:t>时，</a:t>
            </a:r>
            <a:r>
              <a:rPr lang="en-US" altLang="zh-CN" sz="2400"/>
              <a:t>CLKX</a:t>
            </a:r>
            <a:r>
              <a:rPr lang="zh-CN" altLang="en-US" sz="2400"/>
              <a:t>配置成输入。</a:t>
            </a:r>
            <a:r>
              <a:rPr lang="en-US" altLang="zh-CN" sz="2400"/>
              <a:t>CLKR</a:t>
            </a:r>
            <a:r>
              <a:rPr lang="zh-CN" altLang="en-US">
                <a:solidFill>
                  <a:srgbClr val="FF00FF"/>
                </a:solidFill>
              </a:rPr>
              <a:t>引脚总是配置成输入。</a:t>
            </a:r>
          </a:p>
        </p:txBody>
      </p:sp>
      <p:grpSp>
        <p:nvGrpSpPr>
          <p:cNvPr id="126982" name="Group 6"/>
          <p:cNvGrpSpPr>
            <a:grpSpLocks/>
          </p:cNvGrpSpPr>
          <p:nvPr/>
        </p:nvGrpSpPr>
        <p:grpSpPr bwMode="auto">
          <a:xfrm>
            <a:off x="95250" y="1243013"/>
            <a:ext cx="8932863" cy="1249362"/>
            <a:chOff x="0" y="334"/>
            <a:chExt cx="5627" cy="787"/>
          </a:xfrm>
        </p:grpSpPr>
        <p:sp>
          <p:nvSpPr>
            <p:cNvPr id="126984" name="Text Box 7"/>
            <p:cNvSpPr txBox="1">
              <a:spLocks noChangeArrowheads="1"/>
            </p:cNvSpPr>
            <p:nvPr/>
          </p:nvSpPr>
          <p:spPr bwMode="auto">
            <a:xfrm>
              <a:off x="0" y="562"/>
              <a:ext cx="30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Free</a:t>
              </a:r>
            </a:p>
            <a:p>
              <a:pPr algn="ctr" eaLnBrk="1" hangingPunct="1">
                <a:lnSpc>
                  <a:spcPct val="75000"/>
                </a:lnSpc>
              </a:pPr>
              <a:endParaRPr lang="en-US" altLang="zh-CN" sz="900"/>
            </a:p>
          </p:txBody>
        </p:sp>
        <p:sp>
          <p:nvSpPr>
            <p:cNvPr id="126985" name="Text Box 8"/>
            <p:cNvSpPr txBox="1">
              <a:spLocks noChangeArrowheads="1"/>
            </p:cNvSpPr>
            <p:nvPr/>
          </p:nvSpPr>
          <p:spPr bwMode="auto">
            <a:xfrm>
              <a:off x="14" y="346"/>
              <a:ext cx="2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15</a:t>
              </a:r>
            </a:p>
          </p:txBody>
        </p:sp>
        <p:sp>
          <p:nvSpPr>
            <p:cNvPr id="126986" name="Text Box 9"/>
            <p:cNvSpPr txBox="1">
              <a:spLocks noChangeArrowheads="1"/>
            </p:cNvSpPr>
            <p:nvPr/>
          </p:nvSpPr>
          <p:spPr bwMode="auto">
            <a:xfrm>
              <a:off x="302" y="563"/>
              <a:ext cx="317"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Soft</a:t>
              </a:r>
            </a:p>
            <a:p>
              <a:pPr algn="ctr" eaLnBrk="1" hangingPunct="1">
                <a:lnSpc>
                  <a:spcPct val="75000"/>
                </a:lnSpc>
              </a:pPr>
              <a:endParaRPr lang="en-US" altLang="zh-CN" sz="900"/>
            </a:p>
          </p:txBody>
        </p:sp>
        <p:sp>
          <p:nvSpPr>
            <p:cNvPr id="126987" name="Text Box 10"/>
            <p:cNvSpPr txBox="1">
              <a:spLocks noChangeArrowheads="1"/>
            </p:cNvSpPr>
            <p:nvPr/>
          </p:nvSpPr>
          <p:spPr bwMode="auto">
            <a:xfrm>
              <a:off x="595" y="563"/>
              <a:ext cx="44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en-US" altLang="zh-CN" sz="1800"/>
                <a:t>RSR</a:t>
              </a:r>
            </a:p>
            <a:p>
              <a:pPr algn="ctr" eaLnBrk="1" hangingPunct="1">
                <a:lnSpc>
                  <a:spcPct val="75000"/>
                </a:lnSpc>
              </a:pPr>
              <a:r>
                <a:rPr lang="en-US" altLang="zh-CN" sz="1800"/>
                <a:t>FULL</a:t>
              </a:r>
            </a:p>
          </p:txBody>
        </p:sp>
        <p:sp>
          <p:nvSpPr>
            <p:cNvPr id="126988" name="Text Box 11"/>
            <p:cNvSpPr txBox="1">
              <a:spLocks noChangeArrowheads="1"/>
            </p:cNvSpPr>
            <p:nvPr/>
          </p:nvSpPr>
          <p:spPr bwMode="auto">
            <a:xfrm>
              <a:off x="1567" y="568"/>
              <a:ext cx="454" cy="319"/>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000"/>
            </a:p>
            <a:p>
              <a:pPr algn="ctr" eaLnBrk="1" hangingPunct="1">
                <a:lnSpc>
                  <a:spcPct val="70000"/>
                </a:lnSpc>
              </a:pPr>
              <a:r>
                <a:rPr lang="en-US" altLang="zh-CN" sz="1800"/>
                <a:t>XRDY</a:t>
              </a:r>
            </a:p>
            <a:p>
              <a:pPr algn="ctr" eaLnBrk="1" hangingPunct="1">
                <a:lnSpc>
                  <a:spcPct val="70000"/>
                </a:lnSpc>
              </a:pPr>
              <a:endParaRPr lang="en-US" altLang="zh-CN" sz="1000"/>
            </a:p>
          </p:txBody>
        </p:sp>
        <p:sp>
          <p:nvSpPr>
            <p:cNvPr id="126989" name="Text Box 12"/>
            <p:cNvSpPr txBox="1">
              <a:spLocks noChangeArrowheads="1"/>
            </p:cNvSpPr>
            <p:nvPr/>
          </p:nvSpPr>
          <p:spPr bwMode="auto">
            <a:xfrm>
              <a:off x="1023" y="563"/>
              <a:ext cx="544"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en-US" altLang="zh-CN" sz="1800"/>
                <a:t>XSR</a:t>
              </a:r>
            </a:p>
            <a:p>
              <a:pPr algn="ctr" eaLnBrk="1" hangingPunct="1">
                <a:lnSpc>
                  <a:spcPct val="75000"/>
                </a:lnSpc>
              </a:pPr>
              <a:r>
                <a:rPr lang="en-US" altLang="zh-CN" sz="1800"/>
                <a:t>EMPTY</a:t>
              </a:r>
            </a:p>
          </p:txBody>
        </p:sp>
        <p:sp>
          <p:nvSpPr>
            <p:cNvPr id="126990" name="Rectangle 13"/>
            <p:cNvSpPr>
              <a:spLocks noChangeArrowheads="1"/>
            </p:cNvSpPr>
            <p:nvPr/>
          </p:nvSpPr>
          <p:spPr bwMode="auto">
            <a:xfrm>
              <a:off x="0"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6991" name="Text Box 14"/>
            <p:cNvSpPr txBox="1">
              <a:spLocks noChangeArrowheads="1"/>
            </p:cNvSpPr>
            <p:nvPr/>
          </p:nvSpPr>
          <p:spPr bwMode="auto">
            <a:xfrm>
              <a:off x="449"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14</a:t>
              </a:r>
            </a:p>
          </p:txBody>
        </p:sp>
        <p:sp>
          <p:nvSpPr>
            <p:cNvPr id="126992" name="Text Box 15"/>
            <p:cNvSpPr txBox="1">
              <a:spLocks noChangeArrowheads="1"/>
            </p:cNvSpPr>
            <p:nvPr/>
          </p:nvSpPr>
          <p:spPr bwMode="auto">
            <a:xfrm>
              <a:off x="812"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13</a:t>
              </a:r>
            </a:p>
          </p:txBody>
        </p:sp>
        <p:sp>
          <p:nvSpPr>
            <p:cNvPr id="126993" name="Text Box 16"/>
            <p:cNvSpPr txBox="1">
              <a:spLocks noChangeArrowheads="1"/>
            </p:cNvSpPr>
            <p:nvPr/>
          </p:nvSpPr>
          <p:spPr bwMode="auto">
            <a:xfrm>
              <a:off x="1311"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12</a:t>
              </a:r>
            </a:p>
          </p:txBody>
        </p:sp>
        <p:sp>
          <p:nvSpPr>
            <p:cNvPr id="126994" name="Text Box 17"/>
            <p:cNvSpPr txBox="1">
              <a:spLocks noChangeArrowheads="1"/>
            </p:cNvSpPr>
            <p:nvPr/>
          </p:nvSpPr>
          <p:spPr bwMode="auto">
            <a:xfrm>
              <a:off x="1810"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11</a:t>
              </a:r>
            </a:p>
          </p:txBody>
        </p:sp>
        <p:sp>
          <p:nvSpPr>
            <p:cNvPr id="126995" name="Line 18"/>
            <p:cNvSpPr>
              <a:spLocks noChangeShapeType="1"/>
            </p:cNvSpPr>
            <p:nvPr/>
          </p:nvSpPr>
          <p:spPr bwMode="auto">
            <a:xfrm>
              <a:off x="1086" y="572"/>
              <a:ext cx="409" cy="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6996" name="Text Box 19"/>
            <p:cNvSpPr txBox="1">
              <a:spLocks noChangeArrowheads="1"/>
            </p:cNvSpPr>
            <p:nvPr/>
          </p:nvSpPr>
          <p:spPr bwMode="auto">
            <a:xfrm>
              <a:off x="2018" y="563"/>
              <a:ext cx="454"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RRDY</a:t>
              </a:r>
            </a:p>
            <a:p>
              <a:pPr algn="ctr" eaLnBrk="1" hangingPunct="1">
                <a:lnSpc>
                  <a:spcPct val="75000"/>
                </a:lnSpc>
              </a:pPr>
              <a:endParaRPr lang="en-US" altLang="zh-CN" sz="900"/>
            </a:p>
          </p:txBody>
        </p:sp>
        <p:sp>
          <p:nvSpPr>
            <p:cNvPr id="126997" name="Text Box 20"/>
            <p:cNvSpPr txBox="1">
              <a:spLocks noChangeArrowheads="1"/>
            </p:cNvSpPr>
            <p:nvPr/>
          </p:nvSpPr>
          <p:spPr bwMode="auto">
            <a:xfrm>
              <a:off x="2085" y="34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10</a:t>
              </a:r>
            </a:p>
          </p:txBody>
        </p:sp>
        <p:sp>
          <p:nvSpPr>
            <p:cNvPr id="126998" name="Text Box 21"/>
            <p:cNvSpPr txBox="1">
              <a:spLocks noChangeArrowheads="1"/>
            </p:cNvSpPr>
            <p:nvPr/>
          </p:nvSpPr>
          <p:spPr bwMode="auto">
            <a:xfrm>
              <a:off x="2472" y="563"/>
              <a:ext cx="27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IN1</a:t>
              </a:r>
            </a:p>
            <a:p>
              <a:pPr algn="ctr" eaLnBrk="1" hangingPunct="1">
                <a:lnSpc>
                  <a:spcPct val="75000"/>
                </a:lnSpc>
              </a:pPr>
              <a:endParaRPr lang="en-US" altLang="zh-CN" sz="900"/>
            </a:p>
          </p:txBody>
        </p:sp>
        <p:sp>
          <p:nvSpPr>
            <p:cNvPr id="126999" name="Text Box 22"/>
            <p:cNvSpPr txBox="1">
              <a:spLocks noChangeArrowheads="1"/>
            </p:cNvSpPr>
            <p:nvPr/>
          </p:nvSpPr>
          <p:spPr bwMode="auto">
            <a:xfrm>
              <a:off x="2492"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9</a:t>
              </a:r>
            </a:p>
          </p:txBody>
        </p:sp>
        <p:sp>
          <p:nvSpPr>
            <p:cNvPr id="127000" name="Text Box 23"/>
            <p:cNvSpPr txBox="1">
              <a:spLocks noChangeArrowheads="1"/>
            </p:cNvSpPr>
            <p:nvPr/>
          </p:nvSpPr>
          <p:spPr bwMode="auto">
            <a:xfrm>
              <a:off x="2744" y="563"/>
              <a:ext cx="27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IN0</a:t>
              </a:r>
            </a:p>
            <a:p>
              <a:pPr algn="ctr" eaLnBrk="1" hangingPunct="1">
                <a:lnSpc>
                  <a:spcPct val="75000"/>
                </a:lnSpc>
              </a:pPr>
              <a:endParaRPr lang="en-US" altLang="zh-CN" sz="900"/>
            </a:p>
          </p:txBody>
        </p:sp>
        <p:sp>
          <p:nvSpPr>
            <p:cNvPr id="127001" name="Text Box 24"/>
            <p:cNvSpPr txBox="1">
              <a:spLocks noChangeArrowheads="1"/>
            </p:cNvSpPr>
            <p:nvPr/>
          </p:nvSpPr>
          <p:spPr bwMode="auto">
            <a:xfrm>
              <a:off x="2789"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a:t>
              </a:r>
            </a:p>
          </p:txBody>
        </p:sp>
        <p:sp>
          <p:nvSpPr>
            <p:cNvPr id="127002" name="Text Box 25"/>
            <p:cNvSpPr txBox="1">
              <a:spLocks noChangeArrowheads="1"/>
            </p:cNvSpPr>
            <p:nvPr/>
          </p:nvSpPr>
          <p:spPr bwMode="auto">
            <a:xfrm>
              <a:off x="3016" y="558"/>
              <a:ext cx="40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RRST</a:t>
              </a:r>
            </a:p>
            <a:p>
              <a:pPr algn="ctr" eaLnBrk="1" hangingPunct="1">
                <a:lnSpc>
                  <a:spcPct val="75000"/>
                </a:lnSpc>
              </a:pPr>
              <a:endParaRPr lang="en-US" altLang="zh-CN" sz="900"/>
            </a:p>
          </p:txBody>
        </p:sp>
        <p:sp>
          <p:nvSpPr>
            <p:cNvPr id="127003" name="Text Box 26"/>
            <p:cNvSpPr txBox="1">
              <a:spLocks noChangeArrowheads="1"/>
            </p:cNvSpPr>
            <p:nvPr/>
          </p:nvSpPr>
          <p:spPr bwMode="auto">
            <a:xfrm>
              <a:off x="3424" y="563"/>
              <a:ext cx="40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XRST</a:t>
              </a:r>
            </a:p>
            <a:p>
              <a:pPr algn="ctr" eaLnBrk="1" hangingPunct="1">
                <a:lnSpc>
                  <a:spcPct val="75000"/>
                </a:lnSpc>
              </a:pPr>
              <a:endParaRPr lang="en-US" altLang="zh-CN" sz="900"/>
            </a:p>
          </p:txBody>
        </p:sp>
        <p:sp>
          <p:nvSpPr>
            <p:cNvPr id="127004" name="Text Box 27"/>
            <p:cNvSpPr txBox="1">
              <a:spLocks noChangeArrowheads="1"/>
            </p:cNvSpPr>
            <p:nvPr/>
          </p:nvSpPr>
          <p:spPr bwMode="auto">
            <a:xfrm>
              <a:off x="3832" y="563"/>
              <a:ext cx="363"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TXM</a:t>
              </a:r>
            </a:p>
            <a:p>
              <a:pPr algn="ctr" eaLnBrk="1" hangingPunct="1">
                <a:lnSpc>
                  <a:spcPct val="75000"/>
                </a:lnSpc>
              </a:pPr>
              <a:endParaRPr lang="en-US" altLang="zh-CN" sz="900"/>
            </a:p>
          </p:txBody>
        </p:sp>
        <p:sp>
          <p:nvSpPr>
            <p:cNvPr id="127005" name="Text Box 28"/>
            <p:cNvSpPr txBox="1">
              <a:spLocks noChangeArrowheads="1"/>
            </p:cNvSpPr>
            <p:nvPr/>
          </p:nvSpPr>
          <p:spPr bwMode="auto">
            <a:xfrm>
              <a:off x="4195" y="563"/>
              <a:ext cx="40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MCM</a:t>
              </a:r>
            </a:p>
            <a:p>
              <a:pPr algn="ctr" eaLnBrk="1" hangingPunct="1">
                <a:lnSpc>
                  <a:spcPct val="75000"/>
                </a:lnSpc>
              </a:pPr>
              <a:endParaRPr lang="en-US" altLang="zh-CN" sz="900"/>
            </a:p>
          </p:txBody>
        </p:sp>
        <p:sp>
          <p:nvSpPr>
            <p:cNvPr id="127006" name="Text Box 29"/>
            <p:cNvSpPr txBox="1">
              <a:spLocks noChangeArrowheads="1"/>
            </p:cNvSpPr>
            <p:nvPr/>
          </p:nvSpPr>
          <p:spPr bwMode="auto">
            <a:xfrm>
              <a:off x="3152"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a:t>
              </a:r>
            </a:p>
          </p:txBody>
        </p:sp>
        <p:sp>
          <p:nvSpPr>
            <p:cNvPr id="127007" name="Text Box 30"/>
            <p:cNvSpPr txBox="1">
              <a:spLocks noChangeArrowheads="1"/>
            </p:cNvSpPr>
            <p:nvPr/>
          </p:nvSpPr>
          <p:spPr bwMode="auto">
            <a:xfrm>
              <a:off x="3515"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6</a:t>
              </a:r>
            </a:p>
          </p:txBody>
        </p:sp>
        <p:sp>
          <p:nvSpPr>
            <p:cNvPr id="127008" name="Text Box 31"/>
            <p:cNvSpPr txBox="1">
              <a:spLocks noChangeArrowheads="1"/>
            </p:cNvSpPr>
            <p:nvPr/>
          </p:nvSpPr>
          <p:spPr bwMode="auto">
            <a:xfrm>
              <a:off x="3923"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5</a:t>
              </a:r>
            </a:p>
          </p:txBody>
        </p:sp>
        <p:sp>
          <p:nvSpPr>
            <p:cNvPr id="127009" name="Text Box 32"/>
            <p:cNvSpPr txBox="1">
              <a:spLocks noChangeArrowheads="1"/>
            </p:cNvSpPr>
            <p:nvPr/>
          </p:nvSpPr>
          <p:spPr bwMode="auto">
            <a:xfrm>
              <a:off x="4241"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a:t>
              </a:r>
            </a:p>
          </p:txBody>
        </p:sp>
        <p:sp>
          <p:nvSpPr>
            <p:cNvPr id="127010" name="Text Box 33"/>
            <p:cNvSpPr txBox="1">
              <a:spLocks noChangeArrowheads="1"/>
            </p:cNvSpPr>
            <p:nvPr/>
          </p:nvSpPr>
          <p:spPr bwMode="auto">
            <a:xfrm>
              <a:off x="4558" y="563"/>
              <a:ext cx="363"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FSM</a:t>
              </a:r>
            </a:p>
            <a:p>
              <a:pPr algn="ctr" eaLnBrk="1" hangingPunct="1">
                <a:lnSpc>
                  <a:spcPct val="75000"/>
                </a:lnSpc>
              </a:pPr>
              <a:endParaRPr lang="en-US" altLang="zh-CN" sz="900"/>
            </a:p>
          </p:txBody>
        </p:sp>
        <p:sp>
          <p:nvSpPr>
            <p:cNvPr id="127011" name="Text Box 34"/>
            <p:cNvSpPr txBox="1">
              <a:spLocks noChangeArrowheads="1"/>
            </p:cNvSpPr>
            <p:nvPr/>
          </p:nvSpPr>
          <p:spPr bwMode="auto">
            <a:xfrm>
              <a:off x="4603"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3</a:t>
              </a:r>
            </a:p>
          </p:txBody>
        </p:sp>
        <p:sp>
          <p:nvSpPr>
            <p:cNvPr id="127012" name="Text Box 35"/>
            <p:cNvSpPr txBox="1">
              <a:spLocks noChangeArrowheads="1"/>
            </p:cNvSpPr>
            <p:nvPr/>
          </p:nvSpPr>
          <p:spPr bwMode="auto">
            <a:xfrm>
              <a:off x="4852" y="563"/>
              <a:ext cx="18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F0</a:t>
              </a:r>
            </a:p>
            <a:p>
              <a:pPr algn="ctr" eaLnBrk="1" hangingPunct="1">
                <a:lnSpc>
                  <a:spcPct val="75000"/>
                </a:lnSpc>
              </a:pPr>
              <a:endParaRPr lang="en-US" altLang="zh-CN" sz="900"/>
            </a:p>
          </p:txBody>
        </p:sp>
        <p:sp>
          <p:nvSpPr>
            <p:cNvPr id="127013" name="Text Box 36"/>
            <p:cNvSpPr txBox="1">
              <a:spLocks noChangeArrowheads="1"/>
            </p:cNvSpPr>
            <p:nvPr/>
          </p:nvSpPr>
          <p:spPr bwMode="auto">
            <a:xfrm>
              <a:off x="5037" y="563"/>
              <a:ext cx="31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DLB</a:t>
              </a:r>
            </a:p>
            <a:p>
              <a:pPr algn="ctr" eaLnBrk="1" hangingPunct="1">
                <a:lnSpc>
                  <a:spcPct val="75000"/>
                </a:lnSpc>
              </a:pPr>
              <a:endParaRPr lang="en-US" altLang="zh-CN" sz="900"/>
            </a:p>
          </p:txBody>
        </p:sp>
        <p:sp>
          <p:nvSpPr>
            <p:cNvPr id="127014" name="Text Box 37"/>
            <p:cNvSpPr txBox="1">
              <a:spLocks noChangeArrowheads="1"/>
            </p:cNvSpPr>
            <p:nvPr/>
          </p:nvSpPr>
          <p:spPr bwMode="auto">
            <a:xfrm>
              <a:off x="5355" y="563"/>
              <a:ext cx="27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Res</a:t>
              </a:r>
            </a:p>
            <a:p>
              <a:pPr algn="ctr" eaLnBrk="1" hangingPunct="1">
                <a:lnSpc>
                  <a:spcPct val="75000"/>
                </a:lnSpc>
              </a:pPr>
              <a:endParaRPr lang="en-US" altLang="zh-CN" sz="900"/>
            </a:p>
          </p:txBody>
        </p:sp>
        <p:sp>
          <p:nvSpPr>
            <p:cNvPr id="127015" name="Text Box 38"/>
            <p:cNvSpPr txBox="1">
              <a:spLocks noChangeArrowheads="1"/>
            </p:cNvSpPr>
            <p:nvPr/>
          </p:nvSpPr>
          <p:spPr bwMode="auto">
            <a:xfrm>
              <a:off x="4852"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a:t>
              </a:r>
            </a:p>
          </p:txBody>
        </p:sp>
        <p:sp>
          <p:nvSpPr>
            <p:cNvPr id="127016" name="Text Box 39"/>
            <p:cNvSpPr txBox="1">
              <a:spLocks noChangeArrowheads="1"/>
            </p:cNvSpPr>
            <p:nvPr/>
          </p:nvSpPr>
          <p:spPr bwMode="auto">
            <a:xfrm>
              <a:off x="5124"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a:t>
              </a:r>
            </a:p>
          </p:txBody>
        </p:sp>
        <p:sp>
          <p:nvSpPr>
            <p:cNvPr id="127017" name="Text Box 40"/>
            <p:cNvSpPr txBox="1">
              <a:spLocks noChangeArrowheads="1"/>
            </p:cNvSpPr>
            <p:nvPr/>
          </p:nvSpPr>
          <p:spPr bwMode="auto">
            <a:xfrm>
              <a:off x="5396"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a:t>
              </a:r>
            </a:p>
          </p:txBody>
        </p:sp>
        <p:sp>
          <p:nvSpPr>
            <p:cNvPr id="127018" name="Rectangle 41"/>
            <p:cNvSpPr>
              <a:spLocks noChangeArrowheads="1"/>
            </p:cNvSpPr>
            <p:nvPr/>
          </p:nvSpPr>
          <p:spPr bwMode="auto">
            <a:xfrm>
              <a:off x="325"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7019" name="Rectangle 42"/>
            <p:cNvSpPr>
              <a:spLocks noChangeArrowheads="1"/>
            </p:cNvSpPr>
            <p:nvPr/>
          </p:nvSpPr>
          <p:spPr bwMode="auto">
            <a:xfrm>
              <a:off x="733"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7020" name="Rectangle 43"/>
            <p:cNvSpPr>
              <a:spLocks noChangeArrowheads="1"/>
            </p:cNvSpPr>
            <p:nvPr/>
          </p:nvSpPr>
          <p:spPr bwMode="auto">
            <a:xfrm>
              <a:off x="1232"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7021" name="Rectangle 44"/>
            <p:cNvSpPr>
              <a:spLocks noChangeArrowheads="1"/>
            </p:cNvSpPr>
            <p:nvPr/>
          </p:nvSpPr>
          <p:spPr bwMode="auto">
            <a:xfrm>
              <a:off x="1731"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7022" name="Rectangle 45"/>
            <p:cNvSpPr>
              <a:spLocks noChangeArrowheads="1"/>
            </p:cNvSpPr>
            <p:nvPr/>
          </p:nvSpPr>
          <p:spPr bwMode="auto">
            <a:xfrm>
              <a:off x="2200"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7023" name="Rectangle 46"/>
            <p:cNvSpPr>
              <a:spLocks noChangeArrowheads="1"/>
            </p:cNvSpPr>
            <p:nvPr/>
          </p:nvSpPr>
          <p:spPr bwMode="auto">
            <a:xfrm>
              <a:off x="2542"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7024" name="Rectangle 47"/>
            <p:cNvSpPr>
              <a:spLocks noChangeArrowheads="1"/>
            </p:cNvSpPr>
            <p:nvPr/>
          </p:nvSpPr>
          <p:spPr bwMode="auto">
            <a:xfrm>
              <a:off x="2835"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7025" name="Rectangle 48"/>
            <p:cNvSpPr>
              <a:spLocks noChangeArrowheads="1"/>
            </p:cNvSpPr>
            <p:nvPr/>
          </p:nvSpPr>
          <p:spPr bwMode="auto">
            <a:xfrm>
              <a:off x="5420"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7026" name="Rectangle 49"/>
            <p:cNvSpPr>
              <a:spLocks noChangeArrowheads="1"/>
            </p:cNvSpPr>
            <p:nvPr/>
          </p:nvSpPr>
          <p:spPr bwMode="auto">
            <a:xfrm>
              <a:off x="3051"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7027" name="Rectangle 50"/>
            <p:cNvSpPr>
              <a:spLocks noChangeArrowheads="1"/>
            </p:cNvSpPr>
            <p:nvPr/>
          </p:nvSpPr>
          <p:spPr bwMode="auto">
            <a:xfrm>
              <a:off x="5062"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7028" name="Line 51"/>
            <p:cNvSpPr>
              <a:spLocks noChangeShapeType="1"/>
            </p:cNvSpPr>
            <p:nvPr/>
          </p:nvSpPr>
          <p:spPr bwMode="auto">
            <a:xfrm>
              <a:off x="3424" y="1006"/>
              <a:ext cx="1543"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7029" name="Line 52"/>
            <p:cNvSpPr>
              <a:spLocks noChangeShapeType="1"/>
            </p:cNvSpPr>
            <p:nvPr/>
          </p:nvSpPr>
          <p:spPr bwMode="auto">
            <a:xfrm>
              <a:off x="3061" y="618"/>
              <a:ext cx="273"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7030" name="Line 53"/>
            <p:cNvSpPr>
              <a:spLocks noChangeShapeType="1"/>
            </p:cNvSpPr>
            <p:nvPr/>
          </p:nvSpPr>
          <p:spPr bwMode="auto">
            <a:xfrm>
              <a:off x="3470" y="618"/>
              <a:ext cx="273"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983" name="AutoShape 54"/>
          <p:cNvSpPr>
            <a:spLocks/>
          </p:cNvSpPr>
          <p:nvPr/>
        </p:nvSpPr>
        <p:spPr bwMode="auto">
          <a:xfrm rot="16200000" flipV="1">
            <a:off x="5399881" y="2061369"/>
            <a:ext cx="179388" cy="755650"/>
          </a:xfrm>
          <a:prstGeom prst="leftBrace">
            <a:avLst>
              <a:gd name="adj1" fmla="val 34928"/>
              <a:gd name="adj2" fmla="val 4986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24643"/>
                                        </p:tgtEl>
                                        <p:attrNameLst>
                                          <p:attrName>style.visibility</p:attrName>
                                        </p:attrNameLst>
                                      </p:cBhvr>
                                      <p:to>
                                        <p:strVal val="visible"/>
                                      </p:to>
                                    </p:set>
                                    <p:anim calcmode="lin" valueType="num">
                                      <p:cBhvr additive="base">
                                        <p:cTn id="7" dur="500" fill="hold"/>
                                        <p:tgtEl>
                                          <p:spTgt spid="624643"/>
                                        </p:tgtEl>
                                        <p:attrNameLst>
                                          <p:attrName>ppt_x</p:attrName>
                                        </p:attrNameLst>
                                      </p:cBhvr>
                                      <p:tavLst>
                                        <p:tav tm="0">
                                          <p:val>
                                            <p:strVal val="0-#ppt_w/2"/>
                                          </p:val>
                                        </p:tav>
                                        <p:tav tm="100000">
                                          <p:val>
                                            <p:strVal val="#ppt_x"/>
                                          </p:val>
                                        </p:tav>
                                      </p:tavLst>
                                    </p:anim>
                                    <p:anim calcmode="lin" valueType="num">
                                      <p:cBhvr additive="base">
                                        <p:cTn id="8" dur="500" fill="hold"/>
                                        <p:tgtEl>
                                          <p:spTgt spid="62464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624644"/>
                                        </p:tgtEl>
                                        <p:attrNameLst>
                                          <p:attrName>style.visibility</p:attrName>
                                        </p:attrNameLst>
                                      </p:cBhvr>
                                      <p:to>
                                        <p:strVal val="visible"/>
                                      </p:to>
                                    </p:set>
                                    <p:anim calcmode="lin" valueType="num">
                                      <p:cBhvr additive="base">
                                        <p:cTn id="12" dur="500" fill="hold"/>
                                        <p:tgtEl>
                                          <p:spTgt spid="624644"/>
                                        </p:tgtEl>
                                        <p:attrNameLst>
                                          <p:attrName>ppt_x</p:attrName>
                                        </p:attrNameLst>
                                      </p:cBhvr>
                                      <p:tavLst>
                                        <p:tav tm="0">
                                          <p:val>
                                            <p:strVal val="#ppt_x"/>
                                          </p:val>
                                        </p:tav>
                                        <p:tav tm="100000">
                                          <p:val>
                                            <p:strVal val="#ppt_x"/>
                                          </p:val>
                                        </p:tav>
                                      </p:tavLst>
                                    </p:anim>
                                    <p:anim calcmode="lin" valueType="num">
                                      <p:cBhvr additive="base">
                                        <p:cTn id="13" dur="500" fill="hold"/>
                                        <p:tgtEl>
                                          <p:spTgt spid="624644"/>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624645"/>
                                        </p:tgtEl>
                                        <p:attrNameLst>
                                          <p:attrName>style.visibility</p:attrName>
                                        </p:attrNameLst>
                                      </p:cBhvr>
                                      <p:to>
                                        <p:strVal val="visible"/>
                                      </p:to>
                                    </p:set>
                                    <p:anim calcmode="lin" valueType="num">
                                      <p:cBhvr additive="base">
                                        <p:cTn id="17" dur="500" fill="hold"/>
                                        <p:tgtEl>
                                          <p:spTgt spid="624645"/>
                                        </p:tgtEl>
                                        <p:attrNameLst>
                                          <p:attrName>ppt_x</p:attrName>
                                        </p:attrNameLst>
                                      </p:cBhvr>
                                      <p:tavLst>
                                        <p:tav tm="0">
                                          <p:val>
                                            <p:strVal val="1+#ppt_w/2"/>
                                          </p:val>
                                        </p:tav>
                                        <p:tav tm="100000">
                                          <p:val>
                                            <p:strVal val="#ppt_x"/>
                                          </p:val>
                                        </p:tav>
                                      </p:tavLst>
                                    </p:anim>
                                    <p:anim calcmode="lin" valueType="num">
                                      <p:cBhvr additive="base">
                                        <p:cTn id="18" dur="500" fill="hold"/>
                                        <p:tgtEl>
                                          <p:spTgt spid="6246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3" grpId="0" animBg="1" autoUpdateAnimBg="0"/>
      <p:bldP spid="624644" grpId="0" animBg="1" autoUpdateAnimBg="0"/>
      <p:bldP spid="624645" grpId="0" animBg="1"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6AE2EDCC-3121-4490-B03E-832C745DDB38}" type="slidenum">
              <a:rPr lang="en-US" altLang="zh-CN" sz="1400" b="0"/>
              <a:pPr eaLnBrk="1" hangingPunct="1"/>
              <a:t>114</a:t>
            </a:fld>
            <a:endParaRPr lang="en-US" altLang="zh-CN" sz="1400" b="0"/>
          </a:p>
        </p:txBody>
      </p:sp>
      <p:sp>
        <p:nvSpPr>
          <p:cNvPr id="625668" name="AutoShape 4" descr="小棋盘"/>
          <p:cNvSpPr>
            <a:spLocks noChangeArrowheads="1"/>
          </p:cNvSpPr>
          <p:nvPr/>
        </p:nvSpPr>
        <p:spPr bwMode="auto">
          <a:xfrm>
            <a:off x="179388" y="2708275"/>
            <a:ext cx="4198937" cy="2057400"/>
          </a:xfrm>
          <a:prstGeom prst="wedgeRoundRectCallout">
            <a:avLst>
              <a:gd name="adj1" fmla="val 124630"/>
              <a:gd name="adj2" fmla="val -79398"/>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chemeClr val="tx2"/>
                </a:solidFill>
              </a:rPr>
              <a:t>帧同步方式位。 </a:t>
            </a:r>
            <a:r>
              <a:rPr lang="en-US" altLang="zh-CN" sz="2400">
                <a:solidFill>
                  <a:srgbClr val="009900"/>
                </a:solidFill>
              </a:rPr>
              <a:t>0</a:t>
            </a:r>
            <a:r>
              <a:rPr lang="zh-CN" altLang="en-US" sz="2400">
                <a:solidFill>
                  <a:srgbClr val="009900"/>
                </a:solidFill>
              </a:rPr>
              <a:t>时，串行口工作在连续方式</a:t>
            </a:r>
            <a:r>
              <a:rPr lang="zh-CN" altLang="en-US" sz="2400">
                <a:solidFill>
                  <a:schemeClr val="tx2"/>
                </a:solidFill>
              </a:rPr>
              <a:t>。</a:t>
            </a:r>
            <a:r>
              <a:rPr lang="zh-CN" altLang="en-US" sz="2400">
                <a:solidFill>
                  <a:srgbClr val="009900"/>
                </a:solidFill>
              </a:rPr>
              <a:t>１时，串行口工作在字符组方式。每发送</a:t>
            </a:r>
            <a:r>
              <a:rPr lang="en-US" altLang="zh-CN" sz="2400">
                <a:solidFill>
                  <a:srgbClr val="009900"/>
                </a:solidFill>
              </a:rPr>
              <a:t>/</a:t>
            </a:r>
            <a:r>
              <a:rPr lang="zh-CN" altLang="en-US" sz="2400">
                <a:solidFill>
                  <a:srgbClr val="009900"/>
                </a:solidFill>
              </a:rPr>
              <a:t>接收一个字都要求一个帧同步脉冲</a:t>
            </a:r>
            <a:r>
              <a:rPr lang="en-US" altLang="zh-CN" sz="2400">
                <a:solidFill>
                  <a:srgbClr val="009900"/>
                </a:solidFill>
              </a:rPr>
              <a:t>FSX/FSR</a:t>
            </a:r>
            <a:r>
              <a:rPr lang="zh-CN" altLang="en-US" sz="2400"/>
              <a:t>。</a:t>
            </a:r>
          </a:p>
        </p:txBody>
      </p:sp>
      <p:sp>
        <p:nvSpPr>
          <p:cNvPr id="625669" name="AutoShape 5" descr="小棋盘"/>
          <p:cNvSpPr>
            <a:spLocks noChangeArrowheads="1"/>
          </p:cNvSpPr>
          <p:nvPr/>
        </p:nvSpPr>
        <p:spPr bwMode="auto">
          <a:xfrm>
            <a:off x="4500563" y="3500438"/>
            <a:ext cx="2668587" cy="1447800"/>
          </a:xfrm>
          <a:prstGeom prst="wedgeRoundRectCallout">
            <a:avLst>
              <a:gd name="adj1" fmla="val 78616"/>
              <a:gd name="adj2" fmla="val -146602"/>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t>数据格式位，规定串行口发送</a:t>
            </a:r>
            <a:r>
              <a:rPr lang="en-US" altLang="zh-CN" sz="2400"/>
              <a:t>/</a:t>
            </a:r>
            <a:r>
              <a:rPr lang="zh-CN" altLang="en-US" sz="2400"/>
              <a:t>接收数据的字长。</a:t>
            </a:r>
            <a:r>
              <a:rPr lang="en-US" altLang="zh-CN" sz="2400"/>
              <a:t>0</a:t>
            </a:r>
            <a:r>
              <a:rPr lang="zh-CN" altLang="en-US" sz="2400"/>
              <a:t>为</a:t>
            </a:r>
            <a:r>
              <a:rPr lang="en-US" altLang="zh-CN" sz="2400"/>
              <a:t>16,1</a:t>
            </a:r>
            <a:r>
              <a:rPr lang="zh-CN" altLang="en-US" sz="2400"/>
              <a:t>为</a:t>
            </a:r>
            <a:r>
              <a:rPr lang="en-US" altLang="zh-CN" sz="2400"/>
              <a:t>8</a:t>
            </a:r>
            <a:r>
              <a:rPr lang="zh-CN" altLang="en-US" sz="2400"/>
              <a:t>位。</a:t>
            </a:r>
          </a:p>
        </p:txBody>
      </p:sp>
      <p:sp>
        <p:nvSpPr>
          <p:cNvPr id="625670" name="AutoShape 6" descr="小棋盘"/>
          <p:cNvSpPr>
            <a:spLocks noChangeArrowheads="1"/>
          </p:cNvSpPr>
          <p:nvPr/>
        </p:nvSpPr>
        <p:spPr bwMode="auto">
          <a:xfrm>
            <a:off x="7416800" y="3048000"/>
            <a:ext cx="1498600" cy="1928813"/>
          </a:xfrm>
          <a:prstGeom prst="wedgeRoundRectCallout">
            <a:avLst>
              <a:gd name="adj1" fmla="val 10699"/>
              <a:gd name="adj2" fmla="val -99796"/>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rgbClr val="006600"/>
                </a:solidFill>
              </a:rPr>
              <a:t>数字返回方式位。用于测试串行口</a:t>
            </a:r>
          </a:p>
        </p:txBody>
      </p:sp>
      <p:grpSp>
        <p:nvGrpSpPr>
          <p:cNvPr id="128006" name="Group 7"/>
          <p:cNvGrpSpPr>
            <a:grpSpLocks/>
          </p:cNvGrpSpPr>
          <p:nvPr/>
        </p:nvGrpSpPr>
        <p:grpSpPr bwMode="auto">
          <a:xfrm>
            <a:off x="131763" y="1196975"/>
            <a:ext cx="8932862" cy="1249363"/>
            <a:chOff x="0" y="334"/>
            <a:chExt cx="5627" cy="787"/>
          </a:xfrm>
        </p:grpSpPr>
        <p:sp>
          <p:nvSpPr>
            <p:cNvPr id="128067" name="Text Box 8"/>
            <p:cNvSpPr txBox="1">
              <a:spLocks noChangeArrowheads="1"/>
            </p:cNvSpPr>
            <p:nvPr/>
          </p:nvSpPr>
          <p:spPr bwMode="auto">
            <a:xfrm>
              <a:off x="0" y="562"/>
              <a:ext cx="30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Free</a:t>
              </a:r>
            </a:p>
            <a:p>
              <a:pPr algn="ctr" eaLnBrk="1" hangingPunct="1">
                <a:lnSpc>
                  <a:spcPct val="75000"/>
                </a:lnSpc>
              </a:pPr>
              <a:endParaRPr lang="en-US" altLang="zh-CN" sz="900"/>
            </a:p>
          </p:txBody>
        </p:sp>
        <p:sp>
          <p:nvSpPr>
            <p:cNvPr id="128068" name="Text Box 9"/>
            <p:cNvSpPr txBox="1">
              <a:spLocks noChangeArrowheads="1"/>
            </p:cNvSpPr>
            <p:nvPr/>
          </p:nvSpPr>
          <p:spPr bwMode="auto">
            <a:xfrm>
              <a:off x="14" y="346"/>
              <a:ext cx="2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15</a:t>
              </a:r>
            </a:p>
          </p:txBody>
        </p:sp>
        <p:sp>
          <p:nvSpPr>
            <p:cNvPr id="128069" name="Text Box 10"/>
            <p:cNvSpPr txBox="1">
              <a:spLocks noChangeArrowheads="1"/>
            </p:cNvSpPr>
            <p:nvPr/>
          </p:nvSpPr>
          <p:spPr bwMode="auto">
            <a:xfrm>
              <a:off x="302" y="563"/>
              <a:ext cx="317"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Soft</a:t>
              </a:r>
            </a:p>
            <a:p>
              <a:pPr algn="ctr" eaLnBrk="1" hangingPunct="1">
                <a:lnSpc>
                  <a:spcPct val="75000"/>
                </a:lnSpc>
              </a:pPr>
              <a:endParaRPr lang="en-US" altLang="zh-CN" sz="900"/>
            </a:p>
          </p:txBody>
        </p:sp>
        <p:sp>
          <p:nvSpPr>
            <p:cNvPr id="128070" name="Text Box 11"/>
            <p:cNvSpPr txBox="1">
              <a:spLocks noChangeArrowheads="1"/>
            </p:cNvSpPr>
            <p:nvPr/>
          </p:nvSpPr>
          <p:spPr bwMode="auto">
            <a:xfrm>
              <a:off x="595" y="563"/>
              <a:ext cx="44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en-US" altLang="zh-CN" sz="1800"/>
                <a:t>RSR</a:t>
              </a:r>
            </a:p>
            <a:p>
              <a:pPr algn="ctr" eaLnBrk="1" hangingPunct="1">
                <a:lnSpc>
                  <a:spcPct val="75000"/>
                </a:lnSpc>
              </a:pPr>
              <a:r>
                <a:rPr lang="en-US" altLang="zh-CN" sz="1800"/>
                <a:t>FULL</a:t>
              </a:r>
            </a:p>
          </p:txBody>
        </p:sp>
        <p:sp>
          <p:nvSpPr>
            <p:cNvPr id="128071" name="Text Box 12"/>
            <p:cNvSpPr txBox="1">
              <a:spLocks noChangeArrowheads="1"/>
            </p:cNvSpPr>
            <p:nvPr/>
          </p:nvSpPr>
          <p:spPr bwMode="auto">
            <a:xfrm>
              <a:off x="1567" y="568"/>
              <a:ext cx="454" cy="319"/>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000"/>
            </a:p>
            <a:p>
              <a:pPr algn="ctr" eaLnBrk="1" hangingPunct="1">
                <a:lnSpc>
                  <a:spcPct val="70000"/>
                </a:lnSpc>
              </a:pPr>
              <a:r>
                <a:rPr lang="en-US" altLang="zh-CN" sz="1800"/>
                <a:t>XRDY</a:t>
              </a:r>
            </a:p>
            <a:p>
              <a:pPr algn="ctr" eaLnBrk="1" hangingPunct="1">
                <a:lnSpc>
                  <a:spcPct val="70000"/>
                </a:lnSpc>
              </a:pPr>
              <a:endParaRPr lang="en-US" altLang="zh-CN" sz="1000"/>
            </a:p>
          </p:txBody>
        </p:sp>
        <p:sp>
          <p:nvSpPr>
            <p:cNvPr id="128072" name="Text Box 13"/>
            <p:cNvSpPr txBox="1">
              <a:spLocks noChangeArrowheads="1"/>
            </p:cNvSpPr>
            <p:nvPr/>
          </p:nvSpPr>
          <p:spPr bwMode="auto">
            <a:xfrm>
              <a:off x="1023" y="563"/>
              <a:ext cx="544"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en-US" altLang="zh-CN" sz="1800"/>
                <a:t>XSR</a:t>
              </a:r>
            </a:p>
            <a:p>
              <a:pPr algn="ctr" eaLnBrk="1" hangingPunct="1">
                <a:lnSpc>
                  <a:spcPct val="75000"/>
                </a:lnSpc>
              </a:pPr>
              <a:r>
                <a:rPr lang="en-US" altLang="zh-CN" sz="1800"/>
                <a:t>EMPTY</a:t>
              </a:r>
            </a:p>
          </p:txBody>
        </p:sp>
        <p:sp>
          <p:nvSpPr>
            <p:cNvPr id="128073" name="Rectangle 14"/>
            <p:cNvSpPr>
              <a:spLocks noChangeArrowheads="1"/>
            </p:cNvSpPr>
            <p:nvPr/>
          </p:nvSpPr>
          <p:spPr bwMode="auto">
            <a:xfrm>
              <a:off x="0"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8074" name="Text Box 15"/>
            <p:cNvSpPr txBox="1">
              <a:spLocks noChangeArrowheads="1"/>
            </p:cNvSpPr>
            <p:nvPr/>
          </p:nvSpPr>
          <p:spPr bwMode="auto">
            <a:xfrm>
              <a:off x="449"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14</a:t>
              </a:r>
            </a:p>
          </p:txBody>
        </p:sp>
        <p:sp>
          <p:nvSpPr>
            <p:cNvPr id="128075" name="Text Box 16"/>
            <p:cNvSpPr txBox="1">
              <a:spLocks noChangeArrowheads="1"/>
            </p:cNvSpPr>
            <p:nvPr/>
          </p:nvSpPr>
          <p:spPr bwMode="auto">
            <a:xfrm>
              <a:off x="812"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13</a:t>
              </a:r>
            </a:p>
          </p:txBody>
        </p:sp>
        <p:sp>
          <p:nvSpPr>
            <p:cNvPr id="128076" name="Text Box 17"/>
            <p:cNvSpPr txBox="1">
              <a:spLocks noChangeArrowheads="1"/>
            </p:cNvSpPr>
            <p:nvPr/>
          </p:nvSpPr>
          <p:spPr bwMode="auto">
            <a:xfrm>
              <a:off x="1311"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12</a:t>
              </a:r>
            </a:p>
          </p:txBody>
        </p:sp>
        <p:sp>
          <p:nvSpPr>
            <p:cNvPr id="128077" name="Text Box 18"/>
            <p:cNvSpPr txBox="1">
              <a:spLocks noChangeArrowheads="1"/>
            </p:cNvSpPr>
            <p:nvPr/>
          </p:nvSpPr>
          <p:spPr bwMode="auto">
            <a:xfrm>
              <a:off x="1810" y="3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11</a:t>
              </a:r>
            </a:p>
          </p:txBody>
        </p:sp>
        <p:sp>
          <p:nvSpPr>
            <p:cNvPr id="128078" name="Line 19"/>
            <p:cNvSpPr>
              <a:spLocks noChangeShapeType="1"/>
            </p:cNvSpPr>
            <p:nvPr/>
          </p:nvSpPr>
          <p:spPr bwMode="auto">
            <a:xfrm>
              <a:off x="1086" y="572"/>
              <a:ext cx="409" cy="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8079" name="Text Box 20"/>
            <p:cNvSpPr txBox="1">
              <a:spLocks noChangeArrowheads="1"/>
            </p:cNvSpPr>
            <p:nvPr/>
          </p:nvSpPr>
          <p:spPr bwMode="auto">
            <a:xfrm>
              <a:off x="2018" y="563"/>
              <a:ext cx="454"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RRDY</a:t>
              </a:r>
            </a:p>
            <a:p>
              <a:pPr algn="ctr" eaLnBrk="1" hangingPunct="1">
                <a:lnSpc>
                  <a:spcPct val="75000"/>
                </a:lnSpc>
              </a:pPr>
              <a:endParaRPr lang="en-US" altLang="zh-CN" sz="900"/>
            </a:p>
          </p:txBody>
        </p:sp>
        <p:sp>
          <p:nvSpPr>
            <p:cNvPr id="128080" name="Text Box 21"/>
            <p:cNvSpPr txBox="1">
              <a:spLocks noChangeArrowheads="1"/>
            </p:cNvSpPr>
            <p:nvPr/>
          </p:nvSpPr>
          <p:spPr bwMode="auto">
            <a:xfrm>
              <a:off x="2085" y="34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10</a:t>
              </a:r>
            </a:p>
          </p:txBody>
        </p:sp>
        <p:sp>
          <p:nvSpPr>
            <p:cNvPr id="128081" name="Text Box 22"/>
            <p:cNvSpPr txBox="1">
              <a:spLocks noChangeArrowheads="1"/>
            </p:cNvSpPr>
            <p:nvPr/>
          </p:nvSpPr>
          <p:spPr bwMode="auto">
            <a:xfrm>
              <a:off x="2472" y="563"/>
              <a:ext cx="27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IN1</a:t>
              </a:r>
            </a:p>
            <a:p>
              <a:pPr algn="ctr" eaLnBrk="1" hangingPunct="1">
                <a:lnSpc>
                  <a:spcPct val="75000"/>
                </a:lnSpc>
              </a:pPr>
              <a:endParaRPr lang="en-US" altLang="zh-CN" sz="900"/>
            </a:p>
          </p:txBody>
        </p:sp>
        <p:sp>
          <p:nvSpPr>
            <p:cNvPr id="128082" name="Text Box 23"/>
            <p:cNvSpPr txBox="1">
              <a:spLocks noChangeArrowheads="1"/>
            </p:cNvSpPr>
            <p:nvPr/>
          </p:nvSpPr>
          <p:spPr bwMode="auto">
            <a:xfrm>
              <a:off x="2492"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9</a:t>
              </a:r>
            </a:p>
          </p:txBody>
        </p:sp>
        <p:sp>
          <p:nvSpPr>
            <p:cNvPr id="128083" name="Text Box 24"/>
            <p:cNvSpPr txBox="1">
              <a:spLocks noChangeArrowheads="1"/>
            </p:cNvSpPr>
            <p:nvPr/>
          </p:nvSpPr>
          <p:spPr bwMode="auto">
            <a:xfrm>
              <a:off x="2744" y="563"/>
              <a:ext cx="27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IN0</a:t>
              </a:r>
            </a:p>
            <a:p>
              <a:pPr algn="ctr" eaLnBrk="1" hangingPunct="1">
                <a:lnSpc>
                  <a:spcPct val="75000"/>
                </a:lnSpc>
              </a:pPr>
              <a:endParaRPr lang="en-US" altLang="zh-CN" sz="900"/>
            </a:p>
          </p:txBody>
        </p:sp>
        <p:sp>
          <p:nvSpPr>
            <p:cNvPr id="128084" name="Text Box 25"/>
            <p:cNvSpPr txBox="1">
              <a:spLocks noChangeArrowheads="1"/>
            </p:cNvSpPr>
            <p:nvPr/>
          </p:nvSpPr>
          <p:spPr bwMode="auto">
            <a:xfrm>
              <a:off x="2789"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a:t>
              </a:r>
            </a:p>
          </p:txBody>
        </p:sp>
        <p:sp>
          <p:nvSpPr>
            <p:cNvPr id="128085" name="Text Box 26"/>
            <p:cNvSpPr txBox="1">
              <a:spLocks noChangeArrowheads="1"/>
            </p:cNvSpPr>
            <p:nvPr/>
          </p:nvSpPr>
          <p:spPr bwMode="auto">
            <a:xfrm>
              <a:off x="3016" y="558"/>
              <a:ext cx="40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RRST</a:t>
              </a:r>
            </a:p>
            <a:p>
              <a:pPr algn="ctr" eaLnBrk="1" hangingPunct="1">
                <a:lnSpc>
                  <a:spcPct val="75000"/>
                </a:lnSpc>
              </a:pPr>
              <a:endParaRPr lang="en-US" altLang="zh-CN" sz="900"/>
            </a:p>
          </p:txBody>
        </p:sp>
        <p:sp>
          <p:nvSpPr>
            <p:cNvPr id="128086" name="Text Box 27"/>
            <p:cNvSpPr txBox="1">
              <a:spLocks noChangeArrowheads="1"/>
            </p:cNvSpPr>
            <p:nvPr/>
          </p:nvSpPr>
          <p:spPr bwMode="auto">
            <a:xfrm>
              <a:off x="3424" y="563"/>
              <a:ext cx="40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XRST</a:t>
              </a:r>
            </a:p>
            <a:p>
              <a:pPr algn="ctr" eaLnBrk="1" hangingPunct="1">
                <a:lnSpc>
                  <a:spcPct val="75000"/>
                </a:lnSpc>
              </a:pPr>
              <a:endParaRPr lang="en-US" altLang="zh-CN" sz="900"/>
            </a:p>
          </p:txBody>
        </p:sp>
        <p:sp>
          <p:nvSpPr>
            <p:cNvPr id="128087" name="Text Box 28"/>
            <p:cNvSpPr txBox="1">
              <a:spLocks noChangeArrowheads="1"/>
            </p:cNvSpPr>
            <p:nvPr/>
          </p:nvSpPr>
          <p:spPr bwMode="auto">
            <a:xfrm>
              <a:off x="3832" y="563"/>
              <a:ext cx="363"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TXM</a:t>
              </a:r>
            </a:p>
            <a:p>
              <a:pPr algn="ctr" eaLnBrk="1" hangingPunct="1">
                <a:lnSpc>
                  <a:spcPct val="75000"/>
                </a:lnSpc>
              </a:pPr>
              <a:endParaRPr lang="en-US" altLang="zh-CN" sz="900"/>
            </a:p>
          </p:txBody>
        </p:sp>
        <p:sp>
          <p:nvSpPr>
            <p:cNvPr id="128088" name="Text Box 29"/>
            <p:cNvSpPr txBox="1">
              <a:spLocks noChangeArrowheads="1"/>
            </p:cNvSpPr>
            <p:nvPr/>
          </p:nvSpPr>
          <p:spPr bwMode="auto">
            <a:xfrm>
              <a:off x="4195" y="563"/>
              <a:ext cx="40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MCM</a:t>
              </a:r>
            </a:p>
            <a:p>
              <a:pPr algn="ctr" eaLnBrk="1" hangingPunct="1">
                <a:lnSpc>
                  <a:spcPct val="75000"/>
                </a:lnSpc>
              </a:pPr>
              <a:endParaRPr lang="en-US" altLang="zh-CN" sz="900"/>
            </a:p>
          </p:txBody>
        </p:sp>
        <p:sp>
          <p:nvSpPr>
            <p:cNvPr id="128089" name="Text Box 30"/>
            <p:cNvSpPr txBox="1">
              <a:spLocks noChangeArrowheads="1"/>
            </p:cNvSpPr>
            <p:nvPr/>
          </p:nvSpPr>
          <p:spPr bwMode="auto">
            <a:xfrm>
              <a:off x="3152"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7</a:t>
              </a:r>
            </a:p>
          </p:txBody>
        </p:sp>
        <p:sp>
          <p:nvSpPr>
            <p:cNvPr id="128090" name="Text Box 31"/>
            <p:cNvSpPr txBox="1">
              <a:spLocks noChangeArrowheads="1"/>
            </p:cNvSpPr>
            <p:nvPr/>
          </p:nvSpPr>
          <p:spPr bwMode="auto">
            <a:xfrm>
              <a:off x="3515"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6</a:t>
              </a:r>
            </a:p>
          </p:txBody>
        </p:sp>
        <p:sp>
          <p:nvSpPr>
            <p:cNvPr id="128091" name="Text Box 32"/>
            <p:cNvSpPr txBox="1">
              <a:spLocks noChangeArrowheads="1"/>
            </p:cNvSpPr>
            <p:nvPr/>
          </p:nvSpPr>
          <p:spPr bwMode="auto">
            <a:xfrm>
              <a:off x="3923"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5</a:t>
              </a:r>
            </a:p>
          </p:txBody>
        </p:sp>
        <p:sp>
          <p:nvSpPr>
            <p:cNvPr id="128092" name="Text Box 33"/>
            <p:cNvSpPr txBox="1">
              <a:spLocks noChangeArrowheads="1"/>
            </p:cNvSpPr>
            <p:nvPr/>
          </p:nvSpPr>
          <p:spPr bwMode="auto">
            <a:xfrm>
              <a:off x="4241"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4</a:t>
              </a:r>
            </a:p>
          </p:txBody>
        </p:sp>
        <p:sp>
          <p:nvSpPr>
            <p:cNvPr id="128093" name="Text Box 34"/>
            <p:cNvSpPr txBox="1">
              <a:spLocks noChangeArrowheads="1"/>
            </p:cNvSpPr>
            <p:nvPr/>
          </p:nvSpPr>
          <p:spPr bwMode="auto">
            <a:xfrm>
              <a:off x="4558" y="563"/>
              <a:ext cx="363"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FSM</a:t>
              </a:r>
            </a:p>
            <a:p>
              <a:pPr algn="ctr" eaLnBrk="1" hangingPunct="1">
                <a:lnSpc>
                  <a:spcPct val="75000"/>
                </a:lnSpc>
              </a:pPr>
              <a:endParaRPr lang="en-US" altLang="zh-CN" sz="900"/>
            </a:p>
          </p:txBody>
        </p:sp>
        <p:sp>
          <p:nvSpPr>
            <p:cNvPr id="128094" name="Text Box 35"/>
            <p:cNvSpPr txBox="1">
              <a:spLocks noChangeArrowheads="1"/>
            </p:cNvSpPr>
            <p:nvPr/>
          </p:nvSpPr>
          <p:spPr bwMode="auto">
            <a:xfrm>
              <a:off x="4603"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3</a:t>
              </a:r>
            </a:p>
          </p:txBody>
        </p:sp>
        <p:sp>
          <p:nvSpPr>
            <p:cNvPr id="128095" name="Text Box 36"/>
            <p:cNvSpPr txBox="1">
              <a:spLocks noChangeArrowheads="1"/>
            </p:cNvSpPr>
            <p:nvPr/>
          </p:nvSpPr>
          <p:spPr bwMode="auto">
            <a:xfrm>
              <a:off x="4852" y="563"/>
              <a:ext cx="18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F0</a:t>
              </a:r>
            </a:p>
            <a:p>
              <a:pPr algn="ctr" eaLnBrk="1" hangingPunct="1">
                <a:lnSpc>
                  <a:spcPct val="75000"/>
                </a:lnSpc>
              </a:pPr>
              <a:endParaRPr lang="en-US" altLang="zh-CN" sz="900"/>
            </a:p>
          </p:txBody>
        </p:sp>
        <p:sp>
          <p:nvSpPr>
            <p:cNvPr id="128096" name="Text Box 37"/>
            <p:cNvSpPr txBox="1">
              <a:spLocks noChangeArrowheads="1"/>
            </p:cNvSpPr>
            <p:nvPr/>
          </p:nvSpPr>
          <p:spPr bwMode="auto">
            <a:xfrm>
              <a:off x="5037" y="563"/>
              <a:ext cx="318"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DLB</a:t>
              </a:r>
            </a:p>
            <a:p>
              <a:pPr algn="ctr" eaLnBrk="1" hangingPunct="1">
                <a:lnSpc>
                  <a:spcPct val="75000"/>
                </a:lnSpc>
              </a:pPr>
              <a:endParaRPr lang="en-US" altLang="zh-CN" sz="900"/>
            </a:p>
          </p:txBody>
        </p:sp>
        <p:sp>
          <p:nvSpPr>
            <p:cNvPr id="128097" name="Text Box 38"/>
            <p:cNvSpPr txBox="1">
              <a:spLocks noChangeArrowheads="1"/>
            </p:cNvSpPr>
            <p:nvPr/>
          </p:nvSpPr>
          <p:spPr bwMode="auto">
            <a:xfrm>
              <a:off x="5355" y="563"/>
              <a:ext cx="272" cy="324"/>
            </a:xfrm>
            <a:prstGeom prst="rect">
              <a:avLst/>
            </a:prstGeom>
            <a:solidFill>
              <a:srgbClr val="FFFF00"/>
            </a:solidFill>
            <a:ln w="9525">
              <a:solidFill>
                <a:srgbClr val="CC3300"/>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endParaRPr lang="en-US" altLang="zh-CN" sz="900"/>
            </a:p>
            <a:p>
              <a:pPr algn="ctr" eaLnBrk="1" hangingPunct="1">
                <a:lnSpc>
                  <a:spcPct val="75000"/>
                </a:lnSpc>
              </a:pPr>
              <a:r>
                <a:rPr lang="en-US" altLang="zh-CN" sz="1800"/>
                <a:t>Res</a:t>
              </a:r>
            </a:p>
            <a:p>
              <a:pPr algn="ctr" eaLnBrk="1" hangingPunct="1">
                <a:lnSpc>
                  <a:spcPct val="75000"/>
                </a:lnSpc>
              </a:pPr>
              <a:endParaRPr lang="en-US" altLang="zh-CN" sz="900"/>
            </a:p>
          </p:txBody>
        </p:sp>
        <p:sp>
          <p:nvSpPr>
            <p:cNvPr id="128098" name="Text Box 39"/>
            <p:cNvSpPr txBox="1">
              <a:spLocks noChangeArrowheads="1"/>
            </p:cNvSpPr>
            <p:nvPr/>
          </p:nvSpPr>
          <p:spPr bwMode="auto">
            <a:xfrm>
              <a:off x="4852"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a:t>
              </a:r>
            </a:p>
          </p:txBody>
        </p:sp>
        <p:sp>
          <p:nvSpPr>
            <p:cNvPr id="128099" name="Text Box 40"/>
            <p:cNvSpPr txBox="1">
              <a:spLocks noChangeArrowheads="1"/>
            </p:cNvSpPr>
            <p:nvPr/>
          </p:nvSpPr>
          <p:spPr bwMode="auto">
            <a:xfrm>
              <a:off x="5124"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a:t>
              </a:r>
            </a:p>
          </p:txBody>
        </p:sp>
        <p:sp>
          <p:nvSpPr>
            <p:cNvPr id="128100" name="Text Box 41"/>
            <p:cNvSpPr txBox="1">
              <a:spLocks noChangeArrowheads="1"/>
            </p:cNvSpPr>
            <p:nvPr/>
          </p:nvSpPr>
          <p:spPr bwMode="auto">
            <a:xfrm>
              <a:off x="5396" y="346"/>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a:t>
              </a:r>
            </a:p>
          </p:txBody>
        </p:sp>
        <p:sp>
          <p:nvSpPr>
            <p:cNvPr id="128101" name="Rectangle 42"/>
            <p:cNvSpPr>
              <a:spLocks noChangeArrowheads="1"/>
            </p:cNvSpPr>
            <p:nvPr/>
          </p:nvSpPr>
          <p:spPr bwMode="auto">
            <a:xfrm>
              <a:off x="325"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8102" name="Rectangle 43"/>
            <p:cNvSpPr>
              <a:spLocks noChangeArrowheads="1"/>
            </p:cNvSpPr>
            <p:nvPr/>
          </p:nvSpPr>
          <p:spPr bwMode="auto">
            <a:xfrm>
              <a:off x="733"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8103" name="Rectangle 44"/>
            <p:cNvSpPr>
              <a:spLocks noChangeArrowheads="1"/>
            </p:cNvSpPr>
            <p:nvPr/>
          </p:nvSpPr>
          <p:spPr bwMode="auto">
            <a:xfrm>
              <a:off x="1232"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8104" name="Rectangle 45"/>
            <p:cNvSpPr>
              <a:spLocks noChangeArrowheads="1"/>
            </p:cNvSpPr>
            <p:nvPr/>
          </p:nvSpPr>
          <p:spPr bwMode="auto">
            <a:xfrm>
              <a:off x="1731"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8105" name="Rectangle 46"/>
            <p:cNvSpPr>
              <a:spLocks noChangeArrowheads="1"/>
            </p:cNvSpPr>
            <p:nvPr/>
          </p:nvSpPr>
          <p:spPr bwMode="auto">
            <a:xfrm>
              <a:off x="2200"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8106" name="Rectangle 47"/>
            <p:cNvSpPr>
              <a:spLocks noChangeArrowheads="1"/>
            </p:cNvSpPr>
            <p:nvPr/>
          </p:nvSpPr>
          <p:spPr bwMode="auto">
            <a:xfrm>
              <a:off x="2542"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8107" name="Rectangle 48"/>
            <p:cNvSpPr>
              <a:spLocks noChangeArrowheads="1"/>
            </p:cNvSpPr>
            <p:nvPr/>
          </p:nvSpPr>
          <p:spPr bwMode="auto">
            <a:xfrm>
              <a:off x="2835"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8108" name="Rectangle 49"/>
            <p:cNvSpPr>
              <a:spLocks noChangeArrowheads="1"/>
            </p:cNvSpPr>
            <p:nvPr/>
          </p:nvSpPr>
          <p:spPr bwMode="auto">
            <a:xfrm>
              <a:off x="5420" y="89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a:t>
              </a:r>
            </a:p>
          </p:txBody>
        </p:sp>
        <p:sp>
          <p:nvSpPr>
            <p:cNvPr id="128109" name="Rectangle 50"/>
            <p:cNvSpPr>
              <a:spLocks noChangeArrowheads="1"/>
            </p:cNvSpPr>
            <p:nvPr/>
          </p:nvSpPr>
          <p:spPr bwMode="auto">
            <a:xfrm>
              <a:off x="3051"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8110" name="Rectangle 51"/>
            <p:cNvSpPr>
              <a:spLocks noChangeArrowheads="1"/>
            </p:cNvSpPr>
            <p:nvPr/>
          </p:nvSpPr>
          <p:spPr bwMode="auto">
            <a:xfrm>
              <a:off x="5062" y="890"/>
              <a:ext cx="3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t>R/W</a:t>
              </a:r>
            </a:p>
          </p:txBody>
        </p:sp>
        <p:sp>
          <p:nvSpPr>
            <p:cNvPr id="128111" name="Line 52"/>
            <p:cNvSpPr>
              <a:spLocks noChangeShapeType="1"/>
            </p:cNvSpPr>
            <p:nvPr/>
          </p:nvSpPr>
          <p:spPr bwMode="auto">
            <a:xfrm>
              <a:off x="3424" y="1006"/>
              <a:ext cx="1543"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8112" name="Line 53"/>
            <p:cNvSpPr>
              <a:spLocks noChangeShapeType="1"/>
            </p:cNvSpPr>
            <p:nvPr/>
          </p:nvSpPr>
          <p:spPr bwMode="auto">
            <a:xfrm>
              <a:off x="3061" y="618"/>
              <a:ext cx="273"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8113" name="Line 54"/>
            <p:cNvSpPr>
              <a:spLocks noChangeShapeType="1"/>
            </p:cNvSpPr>
            <p:nvPr/>
          </p:nvSpPr>
          <p:spPr bwMode="auto">
            <a:xfrm>
              <a:off x="3470" y="618"/>
              <a:ext cx="273"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8007" name="AutoShape 55"/>
          <p:cNvSpPr>
            <a:spLocks noChangeArrowheads="1"/>
          </p:cNvSpPr>
          <p:nvPr/>
        </p:nvSpPr>
        <p:spPr bwMode="auto">
          <a:xfrm rot="-5400000">
            <a:off x="708025" y="5229225"/>
            <a:ext cx="863600" cy="863600"/>
          </a:xfrm>
          <a:custGeom>
            <a:avLst/>
            <a:gdLst>
              <a:gd name="T0" fmla="*/ 30212006 w 21600"/>
              <a:gd name="T1" fmla="*/ 17264002 h 21600"/>
              <a:gd name="T2" fmla="*/ 17264002 w 21600"/>
              <a:gd name="T3" fmla="*/ 34528005 h 21600"/>
              <a:gd name="T4" fmla="*/ 4316001 w 21600"/>
              <a:gd name="T5" fmla="*/ 17264002 h 21600"/>
              <a:gd name="T6" fmla="*/ 17264002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28008" name="Text Box 56"/>
          <p:cNvSpPr txBox="1">
            <a:spLocks noChangeArrowheads="1"/>
          </p:cNvSpPr>
          <p:nvPr/>
        </p:nvSpPr>
        <p:spPr bwMode="auto">
          <a:xfrm>
            <a:off x="923925" y="5516563"/>
            <a:ext cx="5762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MUX</a:t>
            </a:r>
          </a:p>
        </p:txBody>
      </p:sp>
      <p:sp>
        <p:nvSpPr>
          <p:cNvPr id="128009" name="Text Box 57"/>
          <p:cNvSpPr txBox="1">
            <a:spLocks noChangeArrowheads="1"/>
          </p:cNvSpPr>
          <p:nvPr/>
        </p:nvSpPr>
        <p:spPr bwMode="auto">
          <a:xfrm>
            <a:off x="708025" y="5300663"/>
            <a:ext cx="2873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0</a:t>
            </a:r>
          </a:p>
        </p:txBody>
      </p:sp>
      <p:sp>
        <p:nvSpPr>
          <p:cNvPr id="128010" name="Text Box 58"/>
          <p:cNvSpPr txBox="1">
            <a:spLocks noChangeArrowheads="1"/>
          </p:cNvSpPr>
          <p:nvPr/>
        </p:nvSpPr>
        <p:spPr bwMode="auto">
          <a:xfrm>
            <a:off x="708025" y="5734050"/>
            <a:ext cx="2873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1</a:t>
            </a:r>
          </a:p>
        </p:txBody>
      </p:sp>
      <p:sp>
        <p:nvSpPr>
          <p:cNvPr id="128011" name="Line 59"/>
          <p:cNvSpPr>
            <a:spLocks noChangeShapeType="1"/>
          </p:cNvSpPr>
          <p:nvPr/>
        </p:nvSpPr>
        <p:spPr bwMode="auto">
          <a:xfrm>
            <a:off x="498475" y="5445125"/>
            <a:ext cx="20955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12" name="Line 60"/>
          <p:cNvSpPr>
            <a:spLocks noChangeShapeType="1"/>
          </p:cNvSpPr>
          <p:nvPr/>
        </p:nvSpPr>
        <p:spPr bwMode="auto">
          <a:xfrm>
            <a:off x="498475" y="5876925"/>
            <a:ext cx="20955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13" name="Line 61"/>
          <p:cNvSpPr>
            <a:spLocks noChangeShapeType="1"/>
          </p:cNvSpPr>
          <p:nvPr/>
        </p:nvSpPr>
        <p:spPr bwMode="auto">
          <a:xfrm flipV="1">
            <a:off x="1139825" y="5981700"/>
            <a:ext cx="0" cy="2159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14" name="Line 62"/>
          <p:cNvSpPr>
            <a:spLocks noChangeShapeType="1"/>
          </p:cNvSpPr>
          <p:nvPr/>
        </p:nvSpPr>
        <p:spPr bwMode="auto">
          <a:xfrm>
            <a:off x="1571625" y="5661025"/>
            <a:ext cx="2159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15" name="Text Box 63"/>
          <p:cNvSpPr txBox="1">
            <a:spLocks noChangeArrowheads="1"/>
          </p:cNvSpPr>
          <p:nvPr/>
        </p:nvSpPr>
        <p:spPr bwMode="auto">
          <a:xfrm>
            <a:off x="107950" y="5316538"/>
            <a:ext cx="431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DR</a:t>
            </a:r>
          </a:p>
        </p:txBody>
      </p:sp>
      <p:sp>
        <p:nvSpPr>
          <p:cNvPr id="128016" name="Text Box 64"/>
          <p:cNvSpPr txBox="1">
            <a:spLocks noChangeArrowheads="1"/>
          </p:cNvSpPr>
          <p:nvPr/>
        </p:nvSpPr>
        <p:spPr bwMode="auto">
          <a:xfrm>
            <a:off x="107950" y="5749925"/>
            <a:ext cx="431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DX</a:t>
            </a:r>
          </a:p>
        </p:txBody>
      </p:sp>
      <p:sp>
        <p:nvSpPr>
          <p:cNvPr id="128017" name="Text Box 65"/>
          <p:cNvSpPr txBox="1">
            <a:spLocks noChangeArrowheads="1"/>
          </p:cNvSpPr>
          <p:nvPr/>
        </p:nvSpPr>
        <p:spPr bwMode="auto">
          <a:xfrm>
            <a:off x="1827213" y="5516563"/>
            <a:ext cx="9366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DR(</a:t>
            </a:r>
            <a:r>
              <a:rPr lang="zh-CN" altLang="en-US" sz="1600"/>
              <a:t>内部</a:t>
            </a:r>
            <a:r>
              <a:rPr lang="en-US" altLang="zh-CN" sz="1600"/>
              <a:t>)</a:t>
            </a:r>
          </a:p>
        </p:txBody>
      </p:sp>
      <p:sp>
        <p:nvSpPr>
          <p:cNvPr id="128018" name="Text Box 66"/>
          <p:cNvSpPr txBox="1">
            <a:spLocks noChangeArrowheads="1"/>
          </p:cNvSpPr>
          <p:nvPr/>
        </p:nvSpPr>
        <p:spPr bwMode="auto">
          <a:xfrm>
            <a:off x="923925" y="6492875"/>
            <a:ext cx="431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a)</a:t>
            </a:r>
          </a:p>
        </p:txBody>
      </p:sp>
      <p:sp>
        <p:nvSpPr>
          <p:cNvPr id="128019" name="Text Box 81"/>
          <p:cNvSpPr txBox="1">
            <a:spLocks noChangeArrowheads="1"/>
          </p:cNvSpPr>
          <p:nvPr/>
        </p:nvSpPr>
        <p:spPr bwMode="auto">
          <a:xfrm>
            <a:off x="923925" y="6237288"/>
            <a:ext cx="431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DLB</a:t>
            </a:r>
          </a:p>
        </p:txBody>
      </p:sp>
      <p:grpSp>
        <p:nvGrpSpPr>
          <p:cNvPr id="128020" name="Group 98"/>
          <p:cNvGrpSpPr>
            <a:grpSpLocks/>
          </p:cNvGrpSpPr>
          <p:nvPr/>
        </p:nvGrpSpPr>
        <p:grpSpPr bwMode="auto">
          <a:xfrm>
            <a:off x="2843213" y="5229225"/>
            <a:ext cx="2698750" cy="1492250"/>
            <a:chOff x="2189" y="3294"/>
            <a:chExt cx="1700" cy="940"/>
          </a:xfrm>
        </p:grpSpPr>
        <p:sp>
          <p:nvSpPr>
            <p:cNvPr id="128054" name="AutoShape 69"/>
            <p:cNvSpPr>
              <a:spLocks noChangeArrowheads="1"/>
            </p:cNvSpPr>
            <p:nvPr/>
          </p:nvSpPr>
          <p:spPr bwMode="auto">
            <a:xfrm rot="-5400000">
              <a:off x="2604" y="3294"/>
              <a:ext cx="544" cy="544"/>
            </a:xfrm>
            <a:custGeom>
              <a:avLst/>
              <a:gdLst>
                <a:gd name="T0" fmla="*/ 12 w 21600"/>
                <a:gd name="T1" fmla="*/ 7 h 21600"/>
                <a:gd name="T2" fmla="*/ 7 w 21600"/>
                <a:gd name="T3" fmla="*/ 14 h 21600"/>
                <a:gd name="T4" fmla="*/ 2 w 21600"/>
                <a:gd name="T5" fmla="*/ 7 h 21600"/>
                <a:gd name="T6" fmla="*/ 7 w 21600"/>
                <a:gd name="T7" fmla="*/ 0 h 21600"/>
                <a:gd name="T8" fmla="*/ 0 60000 65536"/>
                <a:gd name="T9" fmla="*/ 0 60000 65536"/>
                <a:gd name="T10" fmla="*/ 0 60000 65536"/>
                <a:gd name="T11" fmla="*/ 0 60000 65536"/>
                <a:gd name="T12" fmla="*/ 4487 w 21600"/>
                <a:gd name="T13" fmla="*/ 4487 h 21600"/>
                <a:gd name="T14" fmla="*/ 17113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28055" name="Text Box 70"/>
            <p:cNvSpPr txBox="1">
              <a:spLocks noChangeArrowheads="1"/>
            </p:cNvSpPr>
            <p:nvPr/>
          </p:nvSpPr>
          <p:spPr bwMode="auto">
            <a:xfrm>
              <a:off x="2740" y="3475"/>
              <a:ext cx="3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MUX</a:t>
              </a:r>
            </a:p>
          </p:txBody>
        </p:sp>
        <p:sp>
          <p:nvSpPr>
            <p:cNvPr id="128056" name="Text Box 71"/>
            <p:cNvSpPr txBox="1">
              <a:spLocks noChangeArrowheads="1"/>
            </p:cNvSpPr>
            <p:nvPr/>
          </p:nvSpPr>
          <p:spPr bwMode="auto">
            <a:xfrm>
              <a:off x="2604" y="3339"/>
              <a:ext cx="1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0</a:t>
              </a:r>
            </a:p>
          </p:txBody>
        </p:sp>
        <p:sp>
          <p:nvSpPr>
            <p:cNvPr id="128057" name="Text Box 72"/>
            <p:cNvSpPr txBox="1">
              <a:spLocks noChangeArrowheads="1"/>
            </p:cNvSpPr>
            <p:nvPr/>
          </p:nvSpPr>
          <p:spPr bwMode="auto">
            <a:xfrm>
              <a:off x="2604" y="3612"/>
              <a:ext cx="1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1</a:t>
              </a:r>
            </a:p>
          </p:txBody>
        </p:sp>
        <p:sp>
          <p:nvSpPr>
            <p:cNvPr id="128058" name="Line 73"/>
            <p:cNvSpPr>
              <a:spLocks noChangeShapeType="1"/>
            </p:cNvSpPr>
            <p:nvPr/>
          </p:nvSpPr>
          <p:spPr bwMode="auto">
            <a:xfrm>
              <a:off x="2472" y="3430"/>
              <a:ext cx="13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59" name="Line 74"/>
            <p:cNvSpPr>
              <a:spLocks noChangeShapeType="1"/>
            </p:cNvSpPr>
            <p:nvPr/>
          </p:nvSpPr>
          <p:spPr bwMode="auto">
            <a:xfrm>
              <a:off x="2472" y="3702"/>
              <a:ext cx="13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60" name="Line 75"/>
            <p:cNvSpPr>
              <a:spLocks noChangeShapeType="1"/>
            </p:cNvSpPr>
            <p:nvPr/>
          </p:nvSpPr>
          <p:spPr bwMode="auto">
            <a:xfrm flipV="1">
              <a:off x="2876" y="3768"/>
              <a:ext cx="0" cy="13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61" name="Line 76"/>
            <p:cNvSpPr>
              <a:spLocks noChangeShapeType="1"/>
            </p:cNvSpPr>
            <p:nvPr/>
          </p:nvSpPr>
          <p:spPr bwMode="auto">
            <a:xfrm>
              <a:off x="3148" y="3566"/>
              <a:ext cx="136"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62" name="Text Box 77"/>
            <p:cNvSpPr txBox="1">
              <a:spLocks noChangeArrowheads="1"/>
            </p:cNvSpPr>
            <p:nvPr/>
          </p:nvSpPr>
          <p:spPr bwMode="auto">
            <a:xfrm>
              <a:off x="2189" y="3369"/>
              <a:ext cx="2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FSR</a:t>
              </a:r>
            </a:p>
          </p:txBody>
        </p:sp>
        <p:sp>
          <p:nvSpPr>
            <p:cNvPr id="128063" name="Text Box 78"/>
            <p:cNvSpPr txBox="1">
              <a:spLocks noChangeArrowheads="1"/>
            </p:cNvSpPr>
            <p:nvPr/>
          </p:nvSpPr>
          <p:spPr bwMode="auto">
            <a:xfrm>
              <a:off x="2189" y="3642"/>
              <a:ext cx="2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FSX</a:t>
              </a:r>
            </a:p>
          </p:txBody>
        </p:sp>
        <p:sp>
          <p:nvSpPr>
            <p:cNvPr id="128064" name="Text Box 79"/>
            <p:cNvSpPr txBox="1">
              <a:spLocks noChangeArrowheads="1"/>
            </p:cNvSpPr>
            <p:nvPr/>
          </p:nvSpPr>
          <p:spPr bwMode="auto">
            <a:xfrm>
              <a:off x="3299" y="3485"/>
              <a:ext cx="59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FSR(</a:t>
              </a:r>
              <a:r>
                <a:rPr lang="zh-CN" altLang="en-US" sz="1600"/>
                <a:t>内部</a:t>
              </a:r>
              <a:r>
                <a:rPr lang="en-US" altLang="zh-CN" sz="1600"/>
                <a:t>)</a:t>
              </a:r>
            </a:p>
          </p:txBody>
        </p:sp>
        <p:sp>
          <p:nvSpPr>
            <p:cNvPr id="128065" name="Text Box 80"/>
            <p:cNvSpPr txBox="1">
              <a:spLocks noChangeArrowheads="1"/>
            </p:cNvSpPr>
            <p:nvPr/>
          </p:nvSpPr>
          <p:spPr bwMode="auto">
            <a:xfrm>
              <a:off x="2740" y="4080"/>
              <a:ext cx="2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b)</a:t>
              </a:r>
            </a:p>
          </p:txBody>
        </p:sp>
        <p:sp>
          <p:nvSpPr>
            <p:cNvPr id="128066" name="Text Box 82"/>
            <p:cNvSpPr txBox="1">
              <a:spLocks noChangeArrowheads="1"/>
            </p:cNvSpPr>
            <p:nvPr/>
          </p:nvSpPr>
          <p:spPr bwMode="auto">
            <a:xfrm>
              <a:off x="2729" y="3934"/>
              <a:ext cx="2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DLB</a:t>
              </a:r>
            </a:p>
          </p:txBody>
        </p:sp>
      </p:grpSp>
      <p:grpSp>
        <p:nvGrpSpPr>
          <p:cNvPr id="128021" name="Group 108"/>
          <p:cNvGrpSpPr>
            <a:grpSpLocks/>
          </p:cNvGrpSpPr>
          <p:nvPr/>
        </p:nvGrpSpPr>
        <p:grpSpPr bwMode="auto">
          <a:xfrm>
            <a:off x="5619750" y="5268913"/>
            <a:ext cx="3197225" cy="1492250"/>
            <a:chOff x="3560" y="3249"/>
            <a:chExt cx="2014" cy="940"/>
          </a:xfrm>
        </p:grpSpPr>
        <p:sp>
          <p:nvSpPr>
            <p:cNvPr id="128033" name="AutoShape 83"/>
            <p:cNvSpPr>
              <a:spLocks noChangeArrowheads="1"/>
            </p:cNvSpPr>
            <p:nvPr/>
          </p:nvSpPr>
          <p:spPr bwMode="auto">
            <a:xfrm rot="-5400000">
              <a:off x="4120" y="3249"/>
              <a:ext cx="544" cy="544"/>
            </a:xfrm>
            <a:custGeom>
              <a:avLst/>
              <a:gdLst>
                <a:gd name="T0" fmla="*/ 12 w 21600"/>
                <a:gd name="T1" fmla="*/ 7 h 21600"/>
                <a:gd name="T2" fmla="*/ 7 w 21600"/>
                <a:gd name="T3" fmla="*/ 14 h 21600"/>
                <a:gd name="T4" fmla="*/ 2 w 21600"/>
                <a:gd name="T5" fmla="*/ 7 h 21600"/>
                <a:gd name="T6" fmla="*/ 7 w 21600"/>
                <a:gd name="T7" fmla="*/ 0 h 21600"/>
                <a:gd name="T8" fmla="*/ 0 60000 65536"/>
                <a:gd name="T9" fmla="*/ 0 60000 65536"/>
                <a:gd name="T10" fmla="*/ 0 60000 65536"/>
                <a:gd name="T11" fmla="*/ 0 60000 65536"/>
                <a:gd name="T12" fmla="*/ 4487 w 21600"/>
                <a:gd name="T13" fmla="*/ 4487 h 21600"/>
                <a:gd name="T14" fmla="*/ 17113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28034" name="Text Box 84"/>
            <p:cNvSpPr txBox="1">
              <a:spLocks noChangeArrowheads="1"/>
            </p:cNvSpPr>
            <p:nvPr/>
          </p:nvSpPr>
          <p:spPr bwMode="auto">
            <a:xfrm>
              <a:off x="4256" y="3430"/>
              <a:ext cx="3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MUX</a:t>
              </a:r>
            </a:p>
          </p:txBody>
        </p:sp>
        <p:sp>
          <p:nvSpPr>
            <p:cNvPr id="128035" name="Text Box 85"/>
            <p:cNvSpPr txBox="1">
              <a:spLocks noChangeArrowheads="1"/>
            </p:cNvSpPr>
            <p:nvPr/>
          </p:nvSpPr>
          <p:spPr bwMode="auto">
            <a:xfrm>
              <a:off x="4120" y="3294"/>
              <a:ext cx="1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0</a:t>
              </a:r>
            </a:p>
          </p:txBody>
        </p:sp>
        <p:sp>
          <p:nvSpPr>
            <p:cNvPr id="128036" name="Text Box 86"/>
            <p:cNvSpPr txBox="1">
              <a:spLocks noChangeArrowheads="1"/>
            </p:cNvSpPr>
            <p:nvPr/>
          </p:nvSpPr>
          <p:spPr bwMode="auto">
            <a:xfrm>
              <a:off x="4120" y="3567"/>
              <a:ext cx="1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1</a:t>
              </a:r>
            </a:p>
          </p:txBody>
        </p:sp>
        <p:sp>
          <p:nvSpPr>
            <p:cNvPr id="128037" name="Line 87"/>
            <p:cNvSpPr>
              <a:spLocks noChangeShapeType="1"/>
            </p:cNvSpPr>
            <p:nvPr/>
          </p:nvSpPr>
          <p:spPr bwMode="auto">
            <a:xfrm>
              <a:off x="3989" y="3385"/>
              <a:ext cx="131"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38" name="Line 88"/>
            <p:cNvSpPr>
              <a:spLocks noChangeShapeType="1"/>
            </p:cNvSpPr>
            <p:nvPr/>
          </p:nvSpPr>
          <p:spPr bwMode="auto">
            <a:xfrm>
              <a:off x="3989" y="3657"/>
              <a:ext cx="131"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39" name="Line 89"/>
            <p:cNvSpPr>
              <a:spLocks noChangeShapeType="1"/>
            </p:cNvSpPr>
            <p:nvPr/>
          </p:nvSpPr>
          <p:spPr bwMode="auto">
            <a:xfrm flipV="1">
              <a:off x="4392" y="3723"/>
              <a:ext cx="0" cy="13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40" name="Line 90"/>
            <p:cNvSpPr>
              <a:spLocks noChangeShapeType="1"/>
            </p:cNvSpPr>
            <p:nvPr/>
          </p:nvSpPr>
          <p:spPr bwMode="auto">
            <a:xfrm>
              <a:off x="4664" y="3521"/>
              <a:ext cx="136"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41" name="Text Box 91"/>
            <p:cNvSpPr txBox="1">
              <a:spLocks noChangeArrowheads="1"/>
            </p:cNvSpPr>
            <p:nvPr/>
          </p:nvSpPr>
          <p:spPr bwMode="auto">
            <a:xfrm>
              <a:off x="3560" y="3304"/>
              <a:ext cx="45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CLKR</a:t>
              </a:r>
            </a:p>
          </p:txBody>
        </p:sp>
        <p:sp>
          <p:nvSpPr>
            <p:cNvPr id="128042" name="Text Box 92"/>
            <p:cNvSpPr txBox="1">
              <a:spLocks noChangeArrowheads="1"/>
            </p:cNvSpPr>
            <p:nvPr/>
          </p:nvSpPr>
          <p:spPr bwMode="auto">
            <a:xfrm>
              <a:off x="3605" y="3596"/>
              <a:ext cx="36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CLKX</a:t>
              </a:r>
            </a:p>
          </p:txBody>
        </p:sp>
        <p:sp>
          <p:nvSpPr>
            <p:cNvPr id="128043" name="Text Box 93"/>
            <p:cNvSpPr txBox="1">
              <a:spLocks noChangeArrowheads="1"/>
            </p:cNvSpPr>
            <p:nvPr/>
          </p:nvSpPr>
          <p:spPr bwMode="auto">
            <a:xfrm>
              <a:off x="4777" y="3430"/>
              <a:ext cx="79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CLKR(</a:t>
              </a:r>
              <a:r>
                <a:rPr lang="zh-CN" altLang="en-US" sz="1600"/>
                <a:t>内部</a:t>
              </a:r>
              <a:r>
                <a:rPr lang="en-US" altLang="zh-CN" sz="1600"/>
                <a:t>)</a:t>
              </a:r>
            </a:p>
          </p:txBody>
        </p:sp>
        <p:sp>
          <p:nvSpPr>
            <p:cNvPr id="128044" name="Text Box 94"/>
            <p:cNvSpPr txBox="1">
              <a:spLocks noChangeArrowheads="1"/>
            </p:cNvSpPr>
            <p:nvPr/>
          </p:nvSpPr>
          <p:spPr bwMode="auto">
            <a:xfrm>
              <a:off x="4256" y="4035"/>
              <a:ext cx="2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c)</a:t>
              </a:r>
            </a:p>
          </p:txBody>
        </p:sp>
        <p:sp>
          <p:nvSpPr>
            <p:cNvPr id="128045" name="Text Box 95"/>
            <p:cNvSpPr txBox="1">
              <a:spLocks noChangeArrowheads="1"/>
            </p:cNvSpPr>
            <p:nvPr/>
          </p:nvSpPr>
          <p:spPr bwMode="auto">
            <a:xfrm>
              <a:off x="4921" y="3697"/>
              <a:ext cx="2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DLB</a:t>
              </a:r>
            </a:p>
          </p:txBody>
        </p:sp>
        <p:grpSp>
          <p:nvGrpSpPr>
            <p:cNvPr id="128046" name="Group 103"/>
            <p:cNvGrpSpPr>
              <a:grpSpLocks/>
            </p:cNvGrpSpPr>
            <p:nvPr/>
          </p:nvGrpSpPr>
          <p:grpSpPr bwMode="auto">
            <a:xfrm>
              <a:off x="4558" y="3793"/>
              <a:ext cx="227" cy="136"/>
              <a:chOff x="4558" y="3793"/>
              <a:chExt cx="227" cy="136"/>
            </a:xfrm>
          </p:grpSpPr>
          <p:sp>
            <p:nvSpPr>
              <p:cNvPr id="128051" name="Oval 100"/>
              <p:cNvSpPr>
                <a:spLocks noChangeArrowheads="1"/>
              </p:cNvSpPr>
              <p:nvPr/>
            </p:nvSpPr>
            <p:spPr bwMode="auto">
              <a:xfrm>
                <a:off x="4558" y="3793"/>
                <a:ext cx="182" cy="136"/>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8052" name="Rectangle 101"/>
              <p:cNvSpPr>
                <a:spLocks noChangeArrowheads="1"/>
              </p:cNvSpPr>
              <p:nvPr/>
            </p:nvSpPr>
            <p:spPr bwMode="auto">
              <a:xfrm>
                <a:off x="4649" y="3793"/>
                <a:ext cx="136" cy="1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8053" name="Line 102"/>
              <p:cNvSpPr>
                <a:spLocks noChangeShapeType="1"/>
              </p:cNvSpPr>
              <p:nvPr/>
            </p:nvSpPr>
            <p:spPr bwMode="auto">
              <a:xfrm>
                <a:off x="4649" y="3793"/>
                <a:ext cx="0" cy="136"/>
              </a:xfrm>
              <a:prstGeom prst="line">
                <a:avLst/>
              </a:prstGeom>
              <a:noFill/>
              <a:ln w="9525">
                <a:solidFill>
                  <a:schemeClr val="accent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8047" name="Line 104"/>
            <p:cNvSpPr>
              <a:spLocks noChangeShapeType="1"/>
            </p:cNvSpPr>
            <p:nvPr/>
          </p:nvSpPr>
          <p:spPr bwMode="auto">
            <a:xfrm>
              <a:off x="4785" y="3818"/>
              <a:ext cx="91"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8048" name="Line 105"/>
            <p:cNvSpPr>
              <a:spLocks noChangeShapeType="1"/>
            </p:cNvSpPr>
            <p:nvPr/>
          </p:nvSpPr>
          <p:spPr bwMode="auto">
            <a:xfrm>
              <a:off x="4785" y="3894"/>
              <a:ext cx="91"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8049" name="Line 106"/>
            <p:cNvSpPr>
              <a:spLocks noChangeShapeType="1"/>
            </p:cNvSpPr>
            <p:nvPr/>
          </p:nvSpPr>
          <p:spPr bwMode="auto">
            <a:xfrm>
              <a:off x="4377" y="3858"/>
              <a:ext cx="181"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8050" name="Text Box 107"/>
            <p:cNvSpPr txBox="1">
              <a:spLocks noChangeArrowheads="1"/>
            </p:cNvSpPr>
            <p:nvPr/>
          </p:nvSpPr>
          <p:spPr bwMode="auto">
            <a:xfrm>
              <a:off x="4881" y="3838"/>
              <a:ext cx="40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MCM</a:t>
              </a:r>
            </a:p>
          </p:txBody>
        </p:sp>
      </p:grpSp>
      <p:sp>
        <p:nvSpPr>
          <p:cNvPr id="128022" name="Line 109"/>
          <p:cNvSpPr>
            <a:spLocks noChangeShapeType="1"/>
          </p:cNvSpPr>
          <p:nvPr/>
        </p:nvSpPr>
        <p:spPr bwMode="auto">
          <a:xfrm flipV="1">
            <a:off x="971550" y="5734050"/>
            <a:ext cx="576263" cy="179388"/>
          </a:xfrm>
          <a:prstGeom prst="line">
            <a:avLst/>
          </a:prstGeom>
          <a:noFill/>
          <a:ln w="9525">
            <a:solidFill>
              <a:srgbClr val="CC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23" name="Line 110"/>
          <p:cNvSpPr>
            <a:spLocks noChangeShapeType="1"/>
          </p:cNvSpPr>
          <p:nvPr/>
        </p:nvSpPr>
        <p:spPr bwMode="auto">
          <a:xfrm flipH="1" flipV="1">
            <a:off x="1511300" y="6021388"/>
            <a:ext cx="215900" cy="287337"/>
          </a:xfrm>
          <a:prstGeom prst="line">
            <a:avLst/>
          </a:prstGeom>
          <a:noFill/>
          <a:ln w="9525">
            <a:solidFill>
              <a:srgbClr val="CC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24" name="Text Box 111"/>
          <p:cNvSpPr txBox="1">
            <a:spLocks noChangeArrowheads="1"/>
          </p:cNvSpPr>
          <p:nvPr/>
        </p:nvSpPr>
        <p:spPr bwMode="auto">
          <a:xfrm>
            <a:off x="1727200" y="6308725"/>
            <a:ext cx="792163" cy="254000"/>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DLB=1</a:t>
            </a:r>
          </a:p>
        </p:txBody>
      </p:sp>
      <p:sp>
        <p:nvSpPr>
          <p:cNvPr id="128025" name="Line 112"/>
          <p:cNvSpPr>
            <a:spLocks noChangeShapeType="1"/>
          </p:cNvSpPr>
          <p:nvPr/>
        </p:nvSpPr>
        <p:spPr bwMode="auto">
          <a:xfrm flipV="1">
            <a:off x="3743325" y="5734050"/>
            <a:ext cx="576263" cy="179388"/>
          </a:xfrm>
          <a:prstGeom prst="line">
            <a:avLst/>
          </a:prstGeom>
          <a:noFill/>
          <a:ln w="9525">
            <a:solidFill>
              <a:srgbClr val="CC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26" name="Line 113"/>
          <p:cNvSpPr>
            <a:spLocks noChangeShapeType="1"/>
          </p:cNvSpPr>
          <p:nvPr/>
        </p:nvSpPr>
        <p:spPr bwMode="auto">
          <a:xfrm flipH="1" flipV="1">
            <a:off x="4248150" y="6021388"/>
            <a:ext cx="215900" cy="287337"/>
          </a:xfrm>
          <a:prstGeom prst="line">
            <a:avLst/>
          </a:prstGeom>
          <a:noFill/>
          <a:ln w="9525">
            <a:solidFill>
              <a:srgbClr val="CC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27" name="Text Box 114"/>
          <p:cNvSpPr txBox="1">
            <a:spLocks noChangeArrowheads="1"/>
          </p:cNvSpPr>
          <p:nvPr/>
        </p:nvSpPr>
        <p:spPr bwMode="auto">
          <a:xfrm>
            <a:off x="4464050" y="6308725"/>
            <a:ext cx="792163" cy="254000"/>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DLB=1</a:t>
            </a:r>
          </a:p>
        </p:txBody>
      </p:sp>
      <p:sp>
        <p:nvSpPr>
          <p:cNvPr id="128028" name="Rectangle 115"/>
          <p:cNvSpPr>
            <a:spLocks noChangeArrowheads="1"/>
          </p:cNvSpPr>
          <p:nvPr/>
        </p:nvSpPr>
        <p:spPr bwMode="auto">
          <a:xfrm>
            <a:off x="142875" y="4976813"/>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a:t>(</a:t>
            </a:r>
            <a:r>
              <a:rPr lang="zh-CN" altLang="en-US" sz="1600"/>
              <a:t>外部</a:t>
            </a:r>
            <a:r>
              <a:rPr lang="en-US" altLang="zh-CN" sz="1600"/>
              <a:t>)</a:t>
            </a:r>
          </a:p>
        </p:txBody>
      </p:sp>
      <p:sp>
        <p:nvSpPr>
          <p:cNvPr id="128029" name="Rectangle 116"/>
          <p:cNvSpPr>
            <a:spLocks noChangeArrowheads="1"/>
          </p:cNvSpPr>
          <p:nvPr/>
        </p:nvSpPr>
        <p:spPr bwMode="auto">
          <a:xfrm>
            <a:off x="2555875" y="5013325"/>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a:t>(</a:t>
            </a:r>
            <a:r>
              <a:rPr lang="zh-CN" altLang="en-US" sz="1600"/>
              <a:t>外部</a:t>
            </a:r>
            <a:r>
              <a:rPr lang="en-US" altLang="zh-CN" sz="1600"/>
              <a:t>)</a:t>
            </a:r>
          </a:p>
        </p:txBody>
      </p:sp>
      <p:sp>
        <p:nvSpPr>
          <p:cNvPr id="128030" name="Rectangle 117"/>
          <p:cNvSpPr>
            <a:spLocks noChangeArrowheads="1"/>
          </p:cNvSpPr>
          <p:nvPr/>
        </p:nvSpPr>
        <p:spPr bwMode="auto">
          <a:xfrm>
            <a:off x="5543550" y="5084763"/>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a:t>(</a:t>
            </a:r>
            <a:r>
              <a:rPr lang="zh-CN" altLang="en-US" sz="1600"/>
              <a:t>外部</a:t>
            </a:r>
            <a:r>
              <a:rPr lang="en-US" altLang="zh-CN" sz="1600"/>
              <a:t>)</a:t>
            </a:r>
          </a:p>
        </p:txBody>
      </p:sp>
      <p:sp>
        <p:nvSpPr>
          <p:cNvPr id="128031" name="Text Box 118"/>
          <p:cNvSpPr txBox="1">
            <a:spLocks noChangeArrowheads="1"/>
          </p:cNvSpPr>
          <p:nvPr/>
        </p:nvSpPr>
        <p:spPr bwMode="auto">
          <a:xfrm>
            <a:off x="6767513" y="6273800"/>
            <a:ext cx="431800" cy="254000"/>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a:t>=1</a:t>
            </a:r>
          </a:p>
        </p:txBody>
      </p:sp>
      <p:sp>
        <p:nvSpPr>
          <p:cNvPr id="128032" name="Line 119"/>
          <p:cNvSpPr>
            <a:spLocks noChangeShapeType="1"/>
          </p:cNvSpPr>
          <p:nvPr/>
        </p:nvSpPr>
        <p:spPr bwMode="auto">
          <a:xfrm flipV="1">
            <a:off x="6767513" y="5768975"/>
            <a:ext cx="576262" cy="179388"/>
          </a:xfrm>
          <a:prstGeom prst="line">
            <a:avLst/>
          </a:prstGeom>
          <a:noFill/>
          <a:ln w="9525">
            <a:solidFill>
              <a:srgbClr val="CC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25668"/>
                                        </p:tgtEl>
                                        <p:attrNameLst>
                                          <p:attrName>style.visibility</p:attrName>
                                        </p:attrNameLst>
                                      </p:cBhvr>
                                      <p:to>
                                        <p:strVal val="visible"/>
                                      </p:to>
                                    </p:set>
                                    <p:anim calcmode="lin" valueType="num">
                                      <p:cBhvr additive="base">
                                        <p:cTn id="7" dur="500" fill="hold"/>
                                        <p:tgtEl>
                                          <p:spTgt spid="625668"/>
                                        </p:tgtEl>
                                        <p:attrNameLst>
                                          <p:attrName>ppt_x</p:attrName>
                                        </p:attrNameLst>
                                      </p:cBhvr>
                                      <p:tavLst>
                                        <p:tav tm="0">
                                          <p:val>
                                            <p:strVal val="0-#ppt_w/2"/>
                                          </p:val>
                                        </p:tav>
                                        <p:tav tm="100000">
                                          <p:val>
                                            <p:strVal val="#ppt_x"/>
                                          </p:val>
                                        </p:tav>
                                      </p:tavLst>
                                    </p:anim>
                                    <p:anim calcmode="lin" valueType="num">
                                      <p:cBhvr additive="base">
                                        <p:cTn id="8" dur="500" fill="hold"/>
                                        <p:tgtEl>
                                          <p:spTgt spid="62566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625669"/>
                                        </p:tgtEl>
                                        <p:attrNameLst>
                                          <p:attrName>style.visibility</p:attrName>
                                        </p:attrNameLst>
                                      </p:cBhvr>
                                      <p:to>
                                        <p:strVal val="visible"/>
                                      </p:to>
                                    </p:set>
                                    <p:animEffect transition="in" filter="blinds(horizontal)">
                                      <p:cBhvr>
                                        <p:cTn id="12" dur="500"/>
                                        <p:tgtEl>
                                          <p:spTgt spid="625669"/>
                                        </p:tgtEl>
                                      </p:cBhvr>
                                    </p:animEffect>
                                  </p:childTnLst>
                                </p:cTn>
                              </p:par>
                            </p:childTnLst>
                          </p:cTn>
                        </p:par>
                        <p:par>
                          <p:cTn id="13" fill="hold" nodeType="afterGroup">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625670"/>
                                        </p:tgtEl>
                                        <p:attrNameLst>
                                          <p:attrName>style.visibility</p:attrName>
                                        </p:attrNameLst>
                                      </p:cBhvr>
                                      <p:to>
                                        <p:strVal val="visible"/>
                                      </p:to>
                                    </p:set>
                                    <p:anim calcmode="lin" valueType="num">
                                      <p:cBhvr additive="base">
                                        <p:cTn id="16" dur="500" fill="hold"/>
                                        <p:tgtEl>
                                          <p:spTgt spid="625670"/>
                                        </p:tgtEl>
                                        <p:attrNameLst>
                                          <p:attrName>ppt_x</p:attrName>
                                        </p:attrNameLst>
                                      </p:cBhvr>
                                      <p:tavLst>
                                        <p:tav tm="0">
                                          <p:val>
                                            <p:strVal val="1+#ppt_w/2"/>
                                          </p:val>
                                        </p:tav>
                                        <p:tav tm="100000">
                                          <p:val>
                                            <p:strVal val="#ppt_x"/>
                                          </p:val>
                                        </p:tav>
                                      </p:tavLst>
                                    </p:anim>
                                    <p:anim calcmode="lin" valueType="num">
                                      <p:cBhvr additive="base">
                                        <p:cTn id="17" dur="500" fill="hold"/>
                                        <p:tgtEl>
                                          <p:spTgt spid="6256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68" grpId="0" animBg="1" autoUpdateAnimBg="0"/>
      <p:bldP spid="625669" grpId="0" animBg="1" autoUpdateAnimBg="0"/>
      <p:bldP spid="625670" grpId="0" animBg="1"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6690" name="Rectangle 2"/>
          <p:cNvSpPr>
            <a:spLocks noGrp="1" noChangeArrowheads="1"/>
          </p:cNvSpPr>
          <p:nvPr>
            <p:ph type="title"/>
          </p:nvPr>
        </p:nvSpPr>
        <p:spPr bwMode="auto">
          <a:xfrm>
            <a:off x="1371600" y="1219200"/>
            <a:ext cx="6248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66"/>
                </a:solidFill>
                <a:latin typeface="宋体" panose="02010600030101010101" pitchFamily="2" charset="-122"/>
              </a:rPr>
              <a:t>3. </a:t>
            </a:r>
            <a:r>
              <a:rPr lang="zh-CN" altLang="en-US" b="1">
                <a:solidFill>
                  <a:srgbClr val="FF0066"/>
                </a:solidFill>
                <a:latin typeface="宋体" panose="02010600030101010101" pitchFamily="2" charset="-122"/>
              </a:rPr>
              <a:t>标准串口</a:t>
            </a:r>
            <a:r>
              <a:rPr lang="en-US" altLang="zh-CN" b="1">
                <a:solidFill>
                  <a:srgbClr val="FF0066"/>
                </a:solidFill>
                <a:latin typeface="宋体" panose="02010600030101010101" pitchFamily="2" charset="-122"/>
              </a:rPr>
              <a:t>SP</a:t>
            </a:r>
            <a:r>
              <a:rPr lang="zh-CN" altLang="en-US" b="1">
                <a:solidFill>
                  <a:srgbClr val="FF0066"/>
                </a:solidFill>
                <a:latin typeface="宋体" panose="02010600030101010101" pitchFamily="2" charset="-122"/>
              </a:rPr>
              <a:t>的使用</a:t>
            </a:r>
            <a:r>
              <a:rPr lang="zh-CN" altLang="en-US" b="1"/>
              <a:t> </a:t>
            </a:r>
          </a:p>
        </p:txBody>
      </p:sp>
      <p:sp>
        <p:nvSpPr>
          <p:cNvPr id="129027" name="Rectangle 3"/>
          <p:cNvSpPr>
            <a:spLocks noGrp="1" noChangeArrowheads="1"/>
          </p:cNvSpPr>
          <p:nvPr>
            <p:ph idx="1"/>
          </p:nvPr>
        </p:nvSpPr>
        <p:spPr bwMode="auto">
          <a:xfrm>
            <a:off x="323850" y="2209800"/>
            <a:ext cx="864076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pPr>
            <a:r>
              <a:rPr lang="en-US" altLang="zh-CN" sz="2400" b="1" dirty="0"/>
              <a:t>STM  #0038H </a:t>
            </a:r>
            <a:r>
              <a:rPr lang="zh-CN" altLang="en-US" sz="2400" b="1" dirty="0"/>
              <a:t>，</a:t>
            </a:r>
            <a:r>
              <a:rPr lang="en-US" altLang="zh-CN" sz="2400" b="1" dirty="0"/>
              <a:t>SPC    </a:t>
            </a:r>
            <a:r>
              <a:rPr lang="zh-CN" altLang="en-US" sz="2400" b="1" dirty="0"/>
              <a:t>；串口初始化：</a:t>
            </a:r>
          </a:p>
          <a:p>
            <a:pPr eaLnBrk="1" hangingPunct="1">
              <a:lnSpc>
                <a:spcPct val="80000"/>
              </a:lnSpc>
            </a:pPr>
            <a:r>
              <a:rPr lang="zh-CN" altLang="en-US" sz="2400" b="1" dirty="0">
                <a:solidFill>
                  <a:srgbClr val="009900"/>
                </a:solidFill>
              </a:rPr>
              <a:t>                                        </a:t>
            </a:r>
            <a:r>
              <a:rPr lang="zh-CN" altLang="en-US" sz="2400" b="1" dirty="0"/>
              <a:t>； </a:t>
            </a:r>
            <a:r>
              <a:rPr lang="en-US" altLang="zh-CN" sz="2400" b="1" dirty="0"/>
              <a:t>TXM=1</a:t>
            </a:r>
            <a:r>
              <a:rPr lang="en-US" altLang="zh-CN" sz="2400" b="1" dirty="0">
                <a:solidFill>
                  <a:srgbClr val="009900"/>
                </a:solidFill>
              </a:rPr>
              <a:t> FSX</a:t>
            </a:r>
            <a:r>
              <a:rPr lang="zh-CN" altLang="en-US" sz="2400" b="1" dirty="0">
                <a:solidFill>
                  <a:srgbClr val="009900"/>
                </a:solidFill>
              </a:rPr>
              <a:t>设置成输出，</a:t>
            </a:r>
          </a:p>
          <a:p>
            <a:pPr eaLnBrk="1" hangingPunct="1">
              <a:lnSpc>
                <a:spcPct val="80000"/>
              </a:lnSpc>
            </a:pPr>
            <a:r>
              <a:rPr lang="zh-CN" altLang="en-US" sz="2400" b="1" dirty="0">
                <a:solidFill>
                  <a:srgbClr val="009900"/>
                </a:solidFill>
              </a:rPr>
              <a:t>                                        ； </a:t>
            </a:r>
            <a:r>
              <a:rPr lang="en-US" altLang="zh-CN" sz="2400" b="1" dirty="0"/>
              <a:t>MCM=1</a:t>
            </a:r>
            <a:r>
              <a:rPr lang="en-US" altLang="zh-CN" sz="2400" b="1" dirty="0">
                <a:solidFill>
                  <a:srgbClr val="009900"/>
                </a:solidFill>
              </a:rPr>
              <a:t> </a:t>
            </a:r>
            <a:r>
              <a:rPr lang="en-US" altLang="zh-CN" sz="2400" b="1" dirty="0"/>
              <a:t>CLKX</a:t>
            </a:r>
            <a:r>
              <a:rPr lang="zh-CN" altLang="en-US" sz="2400" b="1" dirty="0"/>
              <a:t>配置成输出，</a:t>
            </a:r>
          </a:p>
          <a:p>
            <a:pPr eaLnBrk="1" hangingPunct="1">
              <a:lnSpc>
                <a:spcPct val="80000"/>
              </a:lnSpc>
            </a:pPr>
            <a:r>
              <a:rPr lang="zh-CN" altLang="en-US" sz="2400" b="1" dirty="0">
                <a:solidFill>
                  <a:srgbClr val="FF6600"/>
                </a:solidFill>
              </a:rPr>
              <a:t>                                        ； </a:t>
            </a:r>
            <a:r>
              <a:rPr lang="en-US" altLang="zh-CN" sz="2400" b="1" dirty="0"/>
              <a:t>FSM=1</a:t>
            </a:r>
            <a:r>
              <a:rPr lang="zh-CN" altLang="en-US" sz="2400" b="1" dirty="0">
                <a:solidFill>
                  <a:srgbClr val="FF6600"/>
                </a:solidFill>
              </a:rPr>
              <a:t>串行口工作在字符组方式</a:t>
            </a:r>
          </a:p>
          <a:p>
            <a:pPr eaLnBrk="1" hangingPunct="1">
              <a:lnSpc>
                <a:spcPct val="80000"/>
              </a:lnSpc>
            </a:pPr>
            <a:r>
              <a:rPr lang="en-US" altLang="zh-CN" sz="2400" b="1" dirty="0"/>
              <a:t>STM  #00C0H </a:t>
            </a:r>
            <a:r>
              <a:rPr lang="zh-CN" altLang="en-US" sz="2400" b="1" dirty="0"/>
              <a:t>，</a:t>
            </a:r>
            <a:r>
              <a:rPr lang="en-US" altLang="zh-CN" sz="2400" b="1" dirty="0"/>
              <a:t>IFR    </a:t>
            </a:r>
            <a:r>
              <a:rPr lang="zh-CN" altLang="en-US" sz="2400" b="1" dirty="0"/>
              <a:t>；清除挂起的串口中断</a:t>
            </a:r>
          </a:p>
          <a:p>
            <a:pPr eaLnBrk="1" hangingPunct="1">
              <a:lnSpc>
                <a:spcPct val="80000"/>
              </a:lnSpc>
            </a:pPr>
            <a:r>
              <a:rPr lang="en-US" altLang="zh-CN" sz="2400" b="1" dirty="0"/>
              <a:t>AND  #00C0H </a:t>
            </a:r>
            <a:r>
              <a:rPr lang="zh-CN" altLang="en-US" sz="2400" b="1" dirty="0"/>
              <a:t>，</a:t>
            </a:r>
            <a:r>
              <a:rPr lang="en-US" altLang="zh-CN" sz="2400" b="1" dirty="0"/>
              <a:t>IMR  </a:t>
            </a:r>
            <a:r>
              <a:rPr lang="zh-CN" altLang="en-US" sz="2400" b="1" dirty="0"/>
              <a:t>；使能中断 </a:t>
            </a:r>
          </a:p>
          <a:p>
            <a:pPr eaLnBrk="1" hangingPunct="1">
              <a:lnSpc>
                <a:spcPct val="80000"/>
              </a:lnSpc>
            </a:pPr>
            <a:r>
              <a:rPr lang="en-US" altLang="zh-CN" sz="2400" b="1" dirty="0"/>
              <a:t>RSBX INTM                 </a:t>
            </a:r>
            <a:r>
              <a:rPr lang="zh-CN" altLang="en-US" sz="2400" b="1" dirty="0"/>
              <a:t>；使能全局中断</a:t>
            </a:r>
          </a:p>
          <a:p>
            <a:pPr eaLnBrk="1" hangingPunct="1">
              <a:lnSpc>
                <a:spcPct val="80000"/>
              </a:lnSpc>
            </a:pPr>
            <a:r>
              <a:rPr lang="en-US" altLang="zh-CN" sz="2400" b="1" dirty="0"/>
              <a:t>STM  #00F8H </a:t>
            </a:r>
            <a:r>
              <a:rPr lang="zh-CN" altLang="en-US" sz="2400" b="1" dirty="0"/>
              <a:t>，</a:t>
            </a:r>
            <a:r>
              <a:rPr lang="en-US" altLang="zh-CN" sz="2400" b="1" dirty="0"/>
              <a:t>SPC   </a:t>
            </a:r>
            <a:r>
              <a:rPr lang="zh-CN" altLang="en-US" sz="2400" b="1" dirty="0"/>
              <a:t>；开始串口传输。</a:t>
            </a:r>
            <a:r>
              <a:rPr lang="en-US" altLang="zh-CN" sz="2400" b="1" dirty="0">
                <a:solidFill>
                  <a:srgbClr val="FF00FF"/>
                </a:solidFill>
              </a:rPr>
              <a:t>RRST=XRST=1</a:t>
            </a:r>
            <a:r>
              <a:rPr lang="zh-CN" altLang="en-US" sz="2400" b="1" dirty="0">
                <a:solidFill>
                  <a:srgbClr val="FF00FF"/>
                </a:solidFill>
              </a:rPr>
              <a:t>，</a:t>
            </a:r>
          </a:p>
          <a:p>
            <a:pPr eaLnBrk="1" hangingPunct="1">
              <a:lnSpc>
                <a:spcPct val="80000"/>
              </a:lnSpc>
            </a:pPr>
            <a:r>
              <a:rPr lang="zh-CN" altLang="en-US" sz="2400" b="1" dirty="0">
                <a:solidFill>
                  <a:srgbClr val="FF00FF"/>
                </a:solidFill>
              </a:rPr>
              <a:t>                                        ；进入工作状态。</a:t>
            </a:r>
          </a:p>
          <a:p>
            <a:pPr eaLnBrk="1" hangingPunct="1">
              <a:lnSpc>
                <a:spcPct val="80000"/>
              </a:lnSpc>
            </a:pPr>
            <a:r>
              <a:rPr lang="en-US" altLang="zh-CN" sz="2400" b="1" dirty="0"/>
              <a:t>STM  DATA1</a:t>
            </a:r>
            <a:r>
              <a:rPr lang="zh-CN" altLang="en-US" sz="2400" b="1" dirty="0"/>
              <a:t>，</a:t>
            </a:r>
            <a:r>
              <a:rPr lang="en-US" altLang="zh-CN" sz="2400" b="1" dirty="0"/>
              <a:t>DXR   </a:t>
            </a:r>
            <a:r>
              <a:rPr lang="zh-CN" altLang="en-US" sz="2400" b="1" dirty="0"/>
              <a:t>；写第一个数据到</a:t>
            </a:r>
            <a:r>
              <a:rPr lang="en-US" altLang="zh-CN" sz="2400" b="1" dirty="0"/>
              <a:t>DXR</a:t>
            </a:r>
          </a:p>
          <a:p>
            <a:pPr eaLnBrk="1" hangingPunct="1">
              <a:lnSpc>
                <a:spcPct val="80000"/>
              </a:lnSpc>
              <a:buFontTx/>
              <a:buNone/>
            </a:pPr>
            <a:r>
              <a:rPr lang="en-US" altLang="zh-CN" sz="2400" b="1" dirty="0"/>
              <a:t> </a:t>
            </a:r>
          </a:p>
        </p:txBody>
      </p:sp>
      <p:sp>
        <p:nvSpPr>
          <p:cNvPr id="12902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DC244E5-E405-48C1-8416-C3D3D8E592C9}" type="slidenum">
              <a:rPr lang="en-US" altLang="zh-CN" sz="1400" b="0"/>
              <a:pPr eaLnBrk="1" hangingPunct="1"/>
              <a:t>115</a:t>
            </a:fld>
            <a:endParaRPr lang="en-US" altLang="zh-CN" sz="1400" b="0"/>
          </a:p>
        </p:txBody>
      </p:sp>
      <p:sp>
        <p:nvSpPr>
          <p:cNvPr id="129029" name="Line 4"/>
          <p:cNvSpPr>
            <a:spLocks noChangeShapeType="1"/>
          </p:cNvSpPr>
          <p:nvPr/>
        </p:nvSpPr>
        <p:spPr bwMode="auto">
          <a:xfrm>
            <a:off x="6300788" y="4797425"/>
            <a:ext cx="647700" cy="0"/>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9030" name="Line 5"/>
          <p:cNvSpPr>
            <a:spLocks noChangeShapeType="1"/>
          </p:cNvSpPr>
          <p:nvPr/>
        </p:nvSpPr>
        <p:spPr bwMode="auto">
          <a:xfrm>
            <a:off x="7235825" y="4797425"/>
            <a:ext cx="647700" cy="0"/>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 name="矩形 1"/>
          <p:cNvSpPr/>
          <p:nvPr/>
        </p:nvSpPr>
        <p:spPr>
          <a:xfrm>
            <a:off x="6120172" y="4365104"/>
            <a:ext cx="627095" cy="400110"/>
          </a:xfrm>
          <a:prstGeom prst="rect">
            <a:avLst/>
          </a:prstGeom>
        </p:spPr>
        <p:txBody>
          <a:bodyPr wrap="none">
            <a:spAutoFit/>
          </a:bodyPr>
          <a:lstStyle/>
          <a:p>
            <a:r>
              <a:rPr lang="en-US" altLang="zh-CN" dirty="0">
                <a:solidFill>
                  <a:srgbClr val="FF0000"/>
                </a:solidFill>
              </a:rPr>
              <a:t>ST1</a:t>
            </a:r>
            <a:endParaRPr lang="zh-CN" altLang="en-US" dirty="0">
              <a:solidFill>
                <a:srgbClr val="FF0000"/>
              </a:solidFill>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626690"/>
                                        </p:tgtEl>
                                        <p:attrNameLst>
                                          <p:attrName>style.visibility</p:attrName>
                                        </p:attrNameLst>
                                      </p:cBhvr>
                                      <p:to>
                                        <p:strVal val="visible"/>
                                      </p:to>
                                    </p:set>
                                    <p:animEffect transition="in" filter="barn(outVertical)">
                                      <p:cBhvr>
                                        <p:cTn id="7" dur="500"/>
                                        <p:tgtEl>
                                          <p:spTgt spid="626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690"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7714" name="Rectangle 2"/>
          <p:cNvSpPr>
            <a:spLocks noGrp="1" noChangeArrowheads="1"/>
          </p:cNvSpPr>
          <p:nvPr>
            <p:ph type="title"/>
          </p:nvPr>
        </p:nvSpPr>
        <p:spPr bwMode="auto">
          <a:xfrm>
            <a:off x="1066800" y="1143000"/>
            <a:ext cx="64770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66"/>
                </a:solidFill>
                <a:latin typeface="宋体" panose="02010600030101010101" pitchFamily="2" charset="-122"/>
              </a:rPr>
              <a:t>二、缓冲串行口（</a:t>
            </a:r>
            <a:r>
              <a:rPr lang="en-US" altLang="zh-CN" b="1">
                <a:solidFill>
                  <a:srgbClr val="FF0066"/>
                </a:solidFill>
                <a:latin typeface="宋体" panose="02010600030101010101" pitchFamily="2" charset="-122"/>
              </a:rPr>
              <a:t>BSP</a:t>
            </a:r>
            <a:r>
              <a:rPr lang="zh-CN" altLang="en-US" b="1">
                <a:solidFill>
                  <a:srgbClr val="FF0066"/>
                </a:solidFill>
                <a:latin typeface="宋体" panose="02010600030101010101" pitchFamily="2" charset="-122"/>
              </a:rPr>
              <a:t>）</a:t>
            </a:r>
            <a:r>
              <a:rPr lang="zh-CN" altLang="en-US" b="1"/>
              <a:t> </a:t>
            </a:r>
          </a:p>
        </p:txBody>
      </p:sp>
      <p:sp>
        <p:nvSpPr>
          <p:cNvPr id="13005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EFCDB48-87D1-43FE-8587-B38BCCBD78B9}" type="slidenum">
              <a:rPr lang="en-US" altLang="zh-CN" sz="1400" b="0"/>
              <a:pPr eaLnBrk="1" hangingPunct="1"/>
              <a:t>116</a:t>
            </a:fld>
            <a:endParaRPr lang="en-US" altLang="zh-CN" sz="1400" b="0"/>
          </a:p>
        </p:txBody>
      </p:sp>
      <p:sp>
        <p:nvSpPr>
          <p:cNvPr id="627715" name="Rectangle 3"/>
          <p:cNvSpPr>
            <a:spLocks noChangeArrowheads="1"/>
          </p:cNvSpPr>
          <p:nvPr/>
        </p:nvSpPr>
        <p:spPr bwMode="auto">
          <a:xfrm>
            <a:off x="2411413" y="3429000"/>
            <a:ext cx="4054475" cy="58896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6600"/>
                </a:solidFill>
                <a:latin typeface="宋体" panose="02010600030101010101" pitchFamily="2" charset="-122"/>
              </a:rPr>
              <a:t>缓冲串行口</a:t>
            </a:r>
            <a:r>
              <a:rPr lang="en-US" altLang="zh-CN" sz="3200">
                <a:solidFill>
                  <a:srgbClr val="FF6600"/>
                </a:solidFill>
                <a:latin typeface="宋体" panose="02010600030101010101" pitchFamily="2" charset="-122"/>
              </a:rPr>
              <a:t>6</a:t>
            </a:r>
            <a:r>
              <a:rPr lang="zh-CN" altLang="en-US" sz="3200">
                <a:solidFill>
                  <a:srgbClr val="FF6600"/>
                </a:solidFill>
                <a:latin typeface="宋体" panose="02010600030101010101" pitchFamily="2" charset="-122"/>
              </a:rPr>
              <a:t>个寄存器</a:t>
            </a:r>
          </a:p>
        </p:txBody>
      </p:sp>
      <p:sp>
        <p:nvSpPr>
          <p:cNvPr id="627716" name="Rectangle 4"/>
          <p:cNvSpPr>
            <a:spLocks noChangeArrowheads="1"/>
          </p:cNvSpPr>
          <p:nvPr/>
        </p:nvSpPr>
        <p:spPr bwMode="auto">
          <a:xfrm>
            <a:off x="4191000" y="4267200"/>
            <a:ext cx="47244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latin typeface="宋体" panose="02010600030101010101" pitchFamily="2" charset="-122"/>
              </a:rPr>
              <a:t>控制扩展寄存器</a:t>
            </a:r>
            <a:r>
              <a:rPr lang="en-US" altLang="zh-CN" sz="3200">
                <a:latin typeface="宋体" panose="02010600030101010101" pitchFamily="2" charset="-122"/>
              </a:rPr>
              <a:t>BSPCE</a:t>
            </a:r>
          </a:p>
          <a:p>
            <a:pPr eaLnBrk="1" hangingPunct="1"/>
            <a:r>
              <a:rPr lang="zh-CN" altLang="en-US" sz="3200">
                <a:latin typeface="宋体" panose="02010600030101010101" pitchFamily="2" charset="-122"/>
              </a:rPr>
              <a:t>数据接收移位寄存器</a:t>
            </a:r>
            <a:r>
              <a:rPr lang="en-US" altLang="zh-CN" sz="3200">
                <a:latin typeface="宋体" panose="02010600030101010101" pitchFamily="2" charset="-122"/>
              </a:rPr>
              <a:t>BRSR</a:t>
            </a:r>
          </a:p>
          <a:p>
            <a:pPr eaLnBrk="1" hangingPunct="1"/>
            <a:r>
              <a:rPr lang="zh-CN" altLang="en-US" sz="3200">
                <a:latin typeface="宋体" panose="02010600030101010101" pitchFamily="2" charset="-122"/>
              </a:rPr>
              <a:t>数据发送移位寄存器</a:t>
            </a:r>
            <a:r>
              <a:rPr lang="en-US" altLang="zh-CN" sz="3200">
                <a:latin typeface="宋体" panose="02010600030101010101" pitchFamily="2" charset="-122"/>
              </a:rPr>
              <a:t>BXSR</a:t>
            </a:r>
            <a:r>
              <a:rPr lang="en-US" altLang="zh-CN" sz="3200"/>
              <a:t> </a:t>
            </a:r>
          </a:p>
        </p:txBody>
      </p:sp>
      <p:sp>
        <p:nvSpPr>
          <p:cNvPr id="627717" name="Rectangle 5"/>
          <p:cNvSpPr>
            <a:spLocks noChangeArrowheads="1"/>
          </p:cNvSpPr>
          <p:nvPr/>
        </p:nvSpPr>
        <p:spPr bwMode="auto">
          <a:xfrm>
            <a:off x="152400" y="4267200"/>
            <a:ext cx="38862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latin typeface="宋体" panose="02010600030101010101" pitchFamily="2" charset="-122"/>
              </a:rPr>
              <a:t>数据接收寄存器</a:t>
            </a:r>
            <a:r>
              <a:rPr lang="en-US" altLang="zh-CN" sz="3200">
                <a:latin typeface="宋体" panose="02010600030101010101" pitchFamily="2" charset="-122"/>
              </a:rPr>
              <a:t>BDRR</a:t>
            </a:r>
          </a:p>
          <a:p>
            <a:pPr eaLnBrk="1" hangingPunct="1"/>
            <a:r>
              <a:rPr lang="zh-CN" altLang="en-US" sz="3200">
                <a:latin typeface="宋体" panose="02010600030101010101" pitchFamily="2" charset="-122"/>
              </a:rPr>
              <a:t>数据发送寄存器</a:t>
            </a:r>
            <a:r>
              <a:rPr lang="en-US" altLang="zh-CN" sz="3200">
                <a:latin typeface="宋体" panose="02010600030101010101" pitchFamily="2" charset="-122"/>
              </a:rPr>
              <a:t>BDXR</a:t>
            </a:r>
          </a:p>
          <a:p>
            <a:pPr eaLnBrk="1" hangingPunct="1"/>
            <a:r>
              <a:rPr lang="zh-CN" altLang="en-US" sz="3200">
                <a:latin typeface="宋体" panose="02010600030101010101" pitchFamily="2" charset="-122"/>
              </a:rPr>
              <a:t>控制寄存器</a:t>
            </a:r>
            <a:r>
              <a:rPr lang="en-US" altLang="zh-CN" sz="3200">
                <a:latin typeface="宋体" panose="02010600030101010101" pitchFamily="2" charset="-122"/>
              </a:rPr>
              <a:t>BSC</a:t>
            </a:r>
            <a:r>
              <a:rPr lang="en-US" altLang="zh-CN" sz="3200"/>
              <a:t> </a:t>
            </a:r>
          </a:p>
        </p:txBody>
      </p:sp>
      <p:sp>
        <p:nvSpPr>
          <p:cNvPr id="627718" name="Rectangle 6" descr="小棋盘"/>
          <p:cNvSpPr>
            <a:spLocks noChangeArrowheads="1"/>
          </p:cNvSpPr>
          <p:nvPr/>
        </p:nvSpPr>
        <p:spPr bwMode="auto">
          <a:xfrm>
            <a:off x="914400" y="2362200"/>
            <a:ext cx="1108075" cy="650875"/>
          </a:xfrm>
          <a:prstGeom prst="rect">
            <a:avLst/>
          </a:prstGeom>
          <a:pattFill prst="smCheck">
            <a:fgClr>
              <a:srgbClr val="FFFF00"/>
            </a:fgClr>
            <a:bgClr>
              <a:srgbClr val="FFFFFF"/>
            </a:bgClr>
          </a:pattFill>
          <a:ln w="9525">
            <a:solidFill>
              <a:schemeClr val="bg2"/>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00"/>
                </a:solidFill>
                <a:latin typeface="宋体" panose="02010600030101010101" pitchFamily="2" charset="-122"/>
              </a:rPr>
              <a:t>特点</a:t>
            </a:r>
          </a:p>
        </p:txBody>
      </p:sp>
      <p:sp>
        <p:nvSpPr>
          <p:cNvPr id="627719" name="AutoShape 7" descr="小棋盘"/>
          <p:cNvSpPr>
            <a:spLocks noChangeArrowheads="1"/>
          </p:cNvSpPr>
          <p:nvPr/>
        </p:nvSpPr>
        <p:spPr bwMode="auto">
          <a:xfrm>
            <a:off x="2555875" y="1905000"/>
            <a:ext cx="6207125" cy="1452563"/>
          </a:xfrm>
          <a:prstGeom prst="wedgeRoundRectCallout">
            <a:avLst>
              <a:gd name="adj1" fmla="val -55907"/>
              <a:gd name="adj2" fmla="val 9565"/>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2400">
                <a:solidFill>
                  <a:srgbClr val="CC00FF"/>
                </a:solidFill>
              </a:rPr>
              <a:t>BSP</a:t>
            </a:r>
            <a:r>
              <a:rPr lang="zh-CN" altLang="en-US" sz="2400">
                <a:solidFill>
                  <a:srgbClr val="CC00FF"/>
                </a:solidFill>
              </a:rPr>
              <a:t>在</a:t>
            </a:r>
            <a:r>
              <a:rPr lang="en-US" altLang="zh-CN" sz="2400">
                <a:solidFill>
                  <a:srgbClr val="CC00FF"/>
                </a:solidFill>
              </a:rPr>
              <a:t>SP</a:t>
            </a:r>
            <a:r>
              <a:rPr lang="zh-CN" altLang="en-US" sz="2400">
                <a:solidFill>
                  <a:srgbClr val="CC00FF"/>
                </a:solidFill>
              </a:rPr>
              <a:t>基础上增加了一个自动缓冲单元（</a:t>
            </a:r>
            <a:r>
              <a:rPr lang="en-US" altLang="zh-CN" sz="2400">
                <a:solidFill>
                  <a:srgbClr val="CC00FF"/>
                </a:solidFill>
              </a:rPr>
              <a:t>ABU</a:t>
            </a:r>
            <a:r>
              <a:rPr lang="zh-CN" altLang="en-US" sz="2400">
                <a:solidFill>
                  <a:srgbClr val="CC00FF"/>
                </a:solidFill>
              </a:rPr>
              <a:t>）。 </a:t>
            </a:r>
            <a:r>
              <a:rPr lang="en-US" altLang="zh-CN" sz="2400"/>
              <a:t>BSP</a:t>
            </a:r>
            <a:r>
              <a:rPr lang="zh-CN" altLang="en-US" sz="2400"/>
              <a:t>是一种增强型标准串行口。</a:t>
            </a:r>
            <a:r>
              <a:rPr lang="en-US" altLang="zh-CN" sz="2400">
                <a:solidFill>
                  <a:srgbClr val="009900"/>
                </a:solidFill>
              </a:rPr>
              <a:t>ABU</a:t>
            </a:r>
            <a:r>
              <a:rPr lang="zh-CN" altLang="en-US" sz="2400">
                <a:solidFill>
                  <a:srgbClr val="009900"/>
                </a:solidFill>
              </a:rPr>
              <a:t>利用独立于</a:t>
            </a:r>
            <a:r>
              <a:rPr lang="en-US" altLang="zh-CN" sz="2400">
                <a:solidFill>
                  <a:srgbClr val="009900"/>
                </a:solidFill>
              </a:rPr>
              <a:t>CPU</a:t>
            </a:r>
            <a:r>
              <a:rPr lang="zh-CN" altLang="en-US" sz="2400">
                <a:solidFill>
                  <a:srgbClr val="009900"/>
                </a:solidFill>
              </a:rPr>
              <a:t>的专用总线，让串行口直接读</a:t>
            </a:r>
            <a:r>
              <a:rPr lang="en-US" altLang="zh-CN" sz="2400">
                <a:solidFill>
                  <a:srgbClr val="009900"/>
                </a:solidFill>
              </a:rPr>
              <a:t>/</a:t>
            </a:r>
            <a:r>
              <a:rPr lang="zh-CN" altLang="en-US" sz="2400">
                <a:solidFill>
                  <a:srgbClr val="009900"/>
                </a:solidFill>
              </a:rPr>
              <a:t>写</a:t>
            </a:r>
            <a:r>
              <a:rPr lang="en-US" altLang="zh-CN" sz="2400">
                <a:solidFill>
                  <a:srgbClr val="009900"/>
                </a:solidFill>
              </a:rPr>
              <a:t>C54x</a:t>
            </a:r>
            <a:r>
              <a:rPr lang="zh-CN" altLang="en-US" sz="2400">
                <a:solidFill>
                  <a:srgbClr val="009900"/>
                </a:solidFill>
              </a:rPr>
              <a:t>内部存储器。</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627714"/>
                                        </p:tgtEl>
                                        <p:attrNameLst>
                                          <p:attrName>style.visibility</p:attrName>
                                        </p:attrNameLst>
                                      </p:cBhvr>
                                      <p:to>
                                        <p:strVal val="visible"/>
                                      </p:to>
                                    </p:set>
                                    <p:anim calcmode="lin" valueType="num">
                                      <p:cBhvr additive="base">
                                        <p:cTn id="7" dur="500" fill="hold"/>
                                        <p:tgtEl>
                                          <p:spTgt spid="627714"/>
                                        </p:tgtEl>
                                        <p:attrNameLst>
                                          <p:attrName>ppt_x</p:attrName>
                                        </p:attrNameLst>
                                      </p:cBhvr>
                                      <p:tavLst>
                                        <p:tav tm="0">
                                          <p:val>
                                            <p:strVal val="#ppt_x"/>
                                          </p:val>
                                        </p:tav>
                                        <p:tav tm="100000">
                                          <p:val>
                                            <p:strVal val="#ppt_x"/>
                                          </p:val>
                                        </p:tav>
                                      </p:tavLst>
                                    </p:anim>
                                    <p:anim calcmode="lin" valueType="num">
                                      <p:cBhvr additive="base">
                                        <p:cTn id="8" dur="500" fill="hold"/>
                                        <p:tgtEl>
                                          <p:spTgt spid="627714"/>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627718"/>
                                        </p:tgtEl>
                                        <p:attrNameLst>
                                          <p:attrName>style.visibility</p:attrName>
                                        </p:attrNameLst>
                                      </p:cBhvr>
                                      <p:to>
                                        <p:strVal val="visible"/>
                                      </p:to>
                                    </p:set>
                                    <p:animEffect transition="in" filter="slide(fromLeft)">
                                      <p:cBhvr>
                                        <p:cTn id="12" dur="500"/>
                                        <p:tgtEl>
                                          <p:spTgt spid="627718"/>
                                        </p:tgtEl>
                                      </p:cBhvr>
                                    </p:animEffect>
                                  </p:childTnLst>
                                </p:cTn>
                              </p:par>
                            </p:childTnLst>
                          </p:cTn>
                        </p:par>
                        <p:par>
                          <p:cTn id="13" fill="hold" nodeType="afterGroup">
                            <p:stCondLst>
                              <p:cond delay="1000"/>
                            </p:stCondLst>
                            <p:childTnLst>
                              <p:par>
                                <p:cTn id="14" presetID="12" presetClass="entr" presetSubtype="2" fill="hold" grpId="0" nodeType="afterEffect">
                                  <p:stCondLst>
                                    <p:cond delay="0"/>
                                  </p:stCondLst>
                                  <p:childTnLst>
                                    <p:set>
                                      <p:cBhvr>
                                        <p:cTn id="15" dur="1" fill="hold">
                                          <p:stCondLst>
                                            <p:cond delay="0"/>
                                          </p:stCondLst>
                                        </p:cTn>
                                        <p:tgtEl>
                                          <p:spTgt spid="627715"/>
                                        </p:tgtEl>
                                        <p:attrNameLst>
                                          <p:attrName>style.visibility</p:attrName>
                                        </p:attrNameLst>
                                      </p:cBhvr>
                                      <p:to>
                                        <p:strVal val="visible"/>
                                      </p:to>
                                    </p:set>
                                    <p:animEffect transition="in" filter="slide(fromRight)">
                                      <p:cBhvr>
                                        <p:cTn id="16" dur="500"/>
                                        <p:tgtEl>
                                          <p:spTgt spid="627715"/>
                                        </p:tgtEl>
                                      </p:cBhvr>
                                    </p:animEffect>
                                  </p:childTnLst>
                                </p:cTn>
                              </p:par>
                            </p:childTnLst>
                          </p:cTn>
                        </p:par>
                        <p:par>
                          <p:cTn id="17" fill="hold" nodeType="afterGroup">
                            <p:stCondLst>
                              <p:cond delay="1500"/>
                            </p:stCondLst>
                            <p:childTnLst>
                              <p:par>
                                <p:cTn id="18" presetID="2" presetClass="entr" presetSubtype="2" fill="hold" grpId="0" nodeType="afterEffect">
                                  <p:stCondLst>
                                    <p:cond delay="0"/>
                                  </p:stCondLst>
                                  <p:childTnLst>
                                    <p:set>
                                      <p:cBhvr>
                                        <p:cTn id="19" dur="1" fill="hold">
                                          <p:stCondLst>
                                            <p:cond delay="0"/>
                                          </p:stCondLst>
                                        </p:cTn>
                                        <p:tgtEl>
                                          <p:spTgt spid="627719"/>
                                        </p:tgtEl>
                                        <p:attrNameLst>
                                          <p:attrName>style.visibility</p:attrName>
                                        </p:attrNameLst>
                                      </p:cBhvr>
                                      <p:to>
                                        <p:strVal val="visible"/>
                                      </p:to>
                                    </p:set>
                                    <p:anim calcmode="lin" valueType="num">
                                      <p:cBhvr additive="base">
                                        <p:cTn id="20" dur="500" fill="hold"/>
                                        <p:tgtEl>
                                          <p:spTgt spid="627719"/>
                                        </p:tgtEl>
                                        <p:attrNameLst>
                                          <p:attrName>ppt_x</p:attrName>
                                        </p:attrNameLst>
                                      </p:cBhvr>
                                      <p:tavLst>
                                        <p:tav tm="0">
                                          <p:val>
                                            <p:strVal val="1+#ppt_w/2"/>
                                          </p:val>
                                        </p:tav>
                                        <p:tav tm="100000">
                                          <p:val>
                                            <p:strVal val="#ppt_x"/>
                                          </p:val>
                                        </p:tav>
                                      </p:tavLst>
                                    </p:anim>
                                    <p:anim calcmode="lin" valueType="num">
                                      <p:cBhvr additive="base">
                                        <p:cTn id="21" dur="500" fill="hold"/>
                                        <p:tgtEl>
                                          <p:spTgt spid="627719"/>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2000"/>
                            </p:stCondLst>
                            <p:childTnLst>
                              <p:par>
                                <p:cTn id="23" presetID="9" presetClass="entr" presetSubtype="0" fill="hold" grpId="0" nodeType="afterEffect">
                                  <p:stCondLst>
                                    <p:cond delay="0"/>
                                  </p:stCondLst>
                                  <p:childTnLst>
                                    <p:set>
                                      <p:cBhvr>
                                        <p:cTn id="24" dur="1" fill="hold">
                                          <p:stCondLst>
                                            <p:cond delay="0"/>
                                          </p:stCondLst>
                                        </p:cTn>
                                        <p:tgtEl>
                                          <p:spTgt spid="627717"/>
                                        </p:tgtEl>
                                        <p:attrNameLst>
                                          <p:attrName>style.visibility</p:attrName>
                                        </p:attrNameLst>
                                      </p:cBhvr>
                                      <p:to>
                                        <p:strVal val="visible"/>
                                      </p:to>
                                    </p:set>
                                    <p:animEffect transition="in" filter="dissolve">
                                      <p:cBhvr>
                                        <p:cTn id="25" dur="500"/>
                                        <p:tgtEl>
                                          <p:spTgt spid="627717"/>
                                        </p:tgtEl>
                                      </p:cBhvr>
                                    </p:animEffect>
                                  </p:childTnLst>
                                </p:cTn>
                              </p:par>
                            </p:childTnLst>
                          </p:cTn>
                        </p:par>
                        <p:par>
                          <p:cTn id="26" fill="hold" nodeType="afterGroup">
                            <p:stCondLst>
                              <p:cond delay="2500"/>
                            </p:stCondLst>
                            <p:childTnLst>
                              <p:par>
                                <p:cTn id="27" presetID="12" presetClass="entr" presetSubtype="2" fill="hold" grpId="0" nodeType="afterEffect">
                                  <p:stCondLst>
                                    <p:cond delay="0"/>
                                  </p:stCondLst>
                                  <p:childTnLst>
                                    <p:set>
                                      <p:cBhvr>
                                        <p:cTn id="28" dur="1" fill="hold">
                                          <p:stCondLst>
                                            <p:cond delay="0"/>
                                          </p:stCondLst>
                                        </p:cTn>
                                        <p:tgtEl>
                                          <p:spTgt spid="627716"/>
                                        </p:tgtEl>
                                        <p:attrNameLst>
                                          <p:attrName>style.visibility</p:attrName>
                                        </p:attrNameLst>
                                      </p:cBhvr>
                                      <p:to>
                                        <p:strVal val="visible"/>
                                      </p:to>
                                    </p:set>
                                    <p:animEffect transition="in" filter="slide(fromRight)">
                                      <p:cBhvr>
                                        <p:cTn id="29" dur="500"/>
                                        <p:tgtEl>
                                          <p:spTgt spid="627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714" grpId="0" autoUpdateAnimBg="0"/>
      <p:bldP spid="627715" grpId="0" animBg="1" autoUpdateAnimBg="0"/>
      <p:bldP spid="627716" grpId="0" autoUpdateAnimBg="0"/>
      <p:bldP spid="627717" grpId="0" autoUpdateAnimBg="0"/>
      <p:bldP spid="627718" grpId="0" animBg="1" autoUpdateAnimBg="0"/>
      <p:bldP spid="627719" grpId="0" animBg="1"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8738" name="Rectangle 2"/>
          <p:cNvSpPr>
            <a:spLocks noGrp="1" noChangeArrowheads="1"/>
          </p:cNvSpPr>
          <p:nvPr>
            <p:ph type="title"/>
          </p:nvPr>
        </p:nvSpPr>
        <p:spPr bwMode="auto">
          <a:xfrm>
            <a:off x="1692275" y="1143000"/>
            <a:ext cx="6408738"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66"/>
                </a:solidFill>
                <a:latin typeface="宋体" panose="02010600030101010101" pitchFamily="2" charset="-122"/>
              </a:rPr>
              <a:t>1</a:t>
            </a:r>
            <a:r>
              <a:rPr lang="zh-CN" altLang="en-US" b="1">
                <a:solidFill>
                  <a:srgbClr val="FF0066"/>
                </a:solidFill>
                <a:latin typeface="宋体" panose="02010600030101010101" pitchFamily="2" charset="-122"/>
              </a:rPr>
              <a:t>．</a:t>
            </a:r>
            <a:r>
              <a:rPr lang="zh-CN" altLang="en-US" b="1">
                <a:solidFill>
                  <a:srgbClr val="FF0000"/>
                </a:solidFill>
                <a:latin typeface="宋体" panose="02010600030101010101" pitchFamily="2" charset="-122"/>
              </a:rPr>
              <a:t>缓冲串行口</a:t>
            </a:r>
            <a:r>
              <a:rPr lang="zh-CN" altLang="en-US" b="1">
                <a:solidFill>
                  <a:srgbClr val="FF0066"/>
                </a:solidFill>
                <a:latin typeface="宋体" panose="02010600030101010101" pitchFamily="2" charset="-122"/>
              </a:rPr>
              <a:t>的组成</a:t>
            </a:r>
            <a:r>
              <a:rPr lang="zh-CN" altLang="en-US" b="1"/>
              <a:t> </a:t>
            </a:r>
          </a:p>
        </p:txBody>
      </p:sp>
      <p:sp>
        <p:nvSpPr>
          <p:cNvPr id="13107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04ED4C4-DAB6-4352-B7F7-6008559034AA}" type="slidenum">
              <a:rPr lang="en-US" altLang="zh-CN" sz="1400" b="0"/>
              <a:pPr eaLnBrk="1" hangingPunct="1"/>
              <a:t>117</a:t>
            </a:fld>
            <a:endParaRPr lang="en-US" altLang="zh-CN" sz="1400" b="0"/>
          </a:p>
        </p:txBody>
      </p:sp>
      <p:grpSp>
        <p:nvGrpSpPr>
          <p:cNvPr id="131076" name="Group 47"/>
          <p:cNvGrpSpPr>
            <a:grpSpLocks/>
          </p:cNvGrpSpPr>
          <p:nvPr/>
        </p:nvGrpSpPr>
        <p:grpSpPr bwMode="auto">
          <a:xfrm>
            <a:off x="539750" y="1989138"/>
            <a:ext cx="8077200" cy="4457700"/>
            <a:chOff x="336" y="1248"/>
            <a:chExt cx="5088" cy="2808"/>
          </a:xfrm>
        </p:grpSpPr>
        <p:sp>
          <p:nvSpPr>
            <p:cNvPr id="131077" name="Rectangle 4"/>
            <p:cNvSpPr>
              <a:spLocks noChangeArrowheads="1"/>
            </p:cNvSpPr>
            <p:nvPr/>
          </p:nvSpPr>
          <p:spPr bwMode="auto">
            <a:xfrm>
              <a:off x="336" y="3216"/>
              <a:ext cx="746" cy="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BDR</a:t>
              </a:r>
            </a:p>
            <a:p>
              <a:pPr algn="just"/>
              <a:endParaRPr kumimoji="0" lang="en-US" altLang="zh-CN">
                <a:latin typeface="宋体" panose="02010600030101010101" pitchFamily="2" charset="-122"/>
              </a:endParaRPr>
            </a:p>
            <a:p>
              <a:pPr algn="just"/>
              <a:r>
                <a:rPr kumimoji="0" lang="en-US" altLang="zh-CN">
                  <a:latin typeface="宋体" panose="02010600030101010101" pitchFamily="2" charset="-122"/>
                </a:rPr>
                <a:t>BCLKR</a:t>
              </a:r>
            </a:p>
            <a:p>
              <a:pPr algn="just"/>
              <a:r>
                <a:rPr kumimoji="0" lang="en-US" altLang="zh-CN">
                  <a:latin typeface="宋体" panose="02010600030101010101" pitchFamily="2" charset="-122"/>
                </a:rPr>
                <a:t>BFSR</a:t>
              </a:r>
              <a:endParaRPr kumimoji="0" lang="en-US" altLang="zh-CN"/>
            </a:p>
          </p:txBody>
        </p:sp>
        <p:sp>
          <p:nvSpPr>
            <p:cNvPr id="131078" name="Rectangle 5"/>
            <p:cNvSpPr>
              <a:spLocks noChangeArrowheads="1"/>
            </p:cNvSpPr>
            <p:nvPr/>
          </p:nvSpPr>
          <p:spPr bwMode="auto">
            <a:xfrm>
              <a:off x="336" y="2320"/>
              <a:ext cx="663" cy="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r>
                <a:rPr kumimoji="0" lang="en-US" altLang="zh-CN">
                  <a:latin typeface="宋体" panose="02010600030101010101" pitchFamily="2" charset="-122"/>
                </a:rPr>
                <a:t>BCLKX</a:t>
              </a:r>
            </a:p>
            <a:p>
              <a:pPr algn="just"/>
              <a:r>
                <a:rPr kumimoji="0" lang="en-US" altLang="zh-CN">
                  <a:latin typeface="宋体" panose="02010600030101010101" pitchFamily="2" charset="-122"/>
                </a:rPr>
                <a:t>BFSX</a:t>
              </a:r>
            </a:p>
            <a:p>
              <a:pPr algn="just"/>
              <a:endParaRPr kumimoji="0" lang="en-US" altLang="zh-CN">
                <a:latin typeface="宋体" panose="02010600030101010101" pitchFamily="2" charset="-122"/>
              </a:endParaRPr>
            </a:p>
            <a:p>
              <a:pPr algn="just"/>
              <a:r>
                <a:rPr kumimoji="0" lang="en-US" altLang="zh-CN">
                  <a:latin typeface="宋体" panose="02010600030101010101" pitchFamily="2" charset="-122"/>
                </a:rPr>
                <a:t>BDX</a:t>
              </a:r>
            </a:p>
            <a:p>
              <a:pPr algn="just"/>
              <a:endParaRPr kumimoji="0" lang="en-US" altLang="zh-CN">
                <a:latin typeface="宋体" panose="02010600030101010101" pitchFamily="2" charset="-122"/>
              </a:endParaRPr>
            </a:p>
          </p:txBody>
        </p:sp>
        <p:sp>
          <p:nvSpPr>
            <p:cNvPr id="131079" name="Rectangle 6"/>
            <p:cNvSpPr>
              <a:spLocks noChangeArrowheads="1"/>
            </p:cNvSpPr>
            <p:nvPr/>
          </p:nvSpPr>
          <p:spPr bwMode="auto">
            <a:xfrm>
              <a:off x="3805" y="3287"/>
              <a:ext cx="75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BRINT</a:t>
              </a:r>
            </a:p>
          </p:txBody>
        </p:sp>
        <p:sp>
          <p:nvSpPr>
            <p:cNvPr id="131080" name="Rectangle 7"/>
            <p:cNvSpPr>
              <a:spLocks noChangeArrowheads="1"/>
            </p:cNvSpPr>
            <p:nvPr/>
          </p:nvSpPr>
          <p:spPr bwMode="auto">
            <a:xfrm>
              <a:off x="3812" y="2846"/>
              <a:ext cx="69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BMINT</a:t>
              </a:r>
            </a:p>
          </p:txBody>
        </p:sp>
        <p:sp>
          <p:nvSpPr>
            <p:cNvPr id="131081" name="Rectangle 8"/>
            <p:cNvSpPr>
              <a:spLocks noChangeArrowheads="1"/>
            </p:cNvSpPr>
            <p:nvPr/>
          </p:nvSpPr>
          <p:spPr bwMode="auto">
            <a:xfrm>
              <a:off x="3819" y="2506"/>
              <a:ext cx="71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BXINT</a:t>
              </a:r>
            </a:p>
          </p:txBody>
        </p:sp>
        <p:sp>
          <p:nvSpPr>
            <p:cNvPr id="131082" name="Rectangle 9"/>
            <p:cNvSpPr>
              <a:spLocks noChangeArrowheads="1"/>
            </p:cNvSpPr>
            <p:nvPr/>
          </p:nvSpPr>
          <p:spPr bwMode="auto">
            <a:xfrm>
              <a:off x="1248" y="2389"/>
              <a:ext cx="2581" cy="1608"/>
            </a:xfrm>
            <a:prstGeom prst="rect">
              <a:avLst/>
            </a:prstGeom>
            <a:solidFill>
              <a:schemeClr val="bg2"/>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1083" name="Rectangle 10"/>
            <p:cNvSpPr>
              <a:spLocks noChangeArrowheads="1"/>
            </p:cNvSpPr>
            <p:nvPr/>
          </p:nvSpPr>
          <p:spPr bwMode="auto">
            <a:xfrm>
              <a:off x="1314" y="1248"/>
              <a:ext cx="2664" cy="311"/>
            </a:xfrm>
            <a:prstGeom prst="rect">
              <a:avLst/>
            </a:prstGeom>
            <a:solidFill>
              <a:schemeClr val="accent1"/>
            </a:solidFill>
            <a:ln w="9525">
              <a:solidFill>
                <a:srgbClr val="000000"/>
              </a:solidFill>
              <a:miter lim="800000"/>
              <a:headEnd/>
              <a:tailEnd/>
            </a:ln>
          </p:spPr>
          <p:txBody>
            <a:bodyPr tIns="18288"/>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sz="2800">
                  <a:solidFill>
                    <a:srgbClr val="FF6600"/>
                  </a:solidFill>
                  <a:latin typeface="宋体" panose="02010600030101010101" pitchFamily="2" charset="-122"/>
                </a:rPr>
                <a:t>C54x</a:t>
              </a:r>
              <a:r>
                <a:rPr kumimoji="0" lang="zh-CN" altLang="en-US" sz="2800">
                  <a:solidFill>
                    <a:srgbClr val="FF6600"/>
                  </a:solidFill>
                  <a:latin typeface="宋体" panose="02010600030101010101" pitchFamily="2" charset="-122"/>
                </a:rPr>
                <a:t>内存界面</a:t>
              </a:r>
            </a:p>
          </p:txBody>
        </p:sp>
        <p:sp>
          <p:nvSpPr>
            <p:cNvPr id="131084" name="Rectangle 11"/>
            <p:cNvSpPr>
              <a:spLocks noChangeArrowheads="1"/>
            </p:cNvSpPr>
            <p:nvPr/>
          </p:nvSpPr>
          <p:spPr bwMode="auto">
            <a:xfrm>
              <a:off x="1531" y="1776"/>
              <a:ext cx="2945" cy="519"/>
            </a:xfrm>
            <a:prstGeom prst="rect">
              <a:avLst/>
            </a:prstGeom>
            <a:solidFill>
              <a:schemeClr val="folHlink"/>
            </a:solidFill>
            <a:ln w="9525">
              <a:solidFill>
                <a:srgbClr val="000000"/>
              </a:solidFill>
              <a:miter lim="800000"/>
              <a:headEnd/>
              <a:tailEnd/>
            </a:ln>
          </p:spPr>
          <p:txBody>
            <a:bodyPr lIns="0" tIns="108000" rIns="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zh-CN" altLang="en-US">
                  <a:solidFill>
                    <a:schemeClr val="bg1"/>
                  </a:solidFill>
                  <a:latin typeface="宋体" panose="02010600030101010101" pitchFamily="2" charset="-122"/>
                </a:rPr>
                <a:t>自动缓冲单元  </a:t>
              </a:r>
              <a:r>
                <a:rPr kumimoji="0" lang="en-US" altLang="zh-CN">
                  <a:solidFill>
                    <a:schemeClr val="bg1"/>
                  </a:solidFill>
                  <a:latin typeface="宋体" panose="02010600030101010101" pitchFamily="2" charset="-122"/>
                </a:rPr>
                <a:t>ABU</a:t>
              </a:r>
            </a:p>
            <a:p>
              <a:pPr algn="ctr"/>
              <a:r>
                <a:rPr kumimoji="0" lang="zh-CN" altLang="en-US">
                  <a:solidFill>
                    <a:schemeClr val="bg1"/>
                  </a:solidFill>
                  <a:latin typeface="宋体" panose="02010600030101010101" pitchFamily="2" charset="-122"/>
                </a:rPr>
                <a:t>控制</a:t>
              </a:r>
              <a:r>
                <a:rPr kumimoji="0" lang="en-US" altLang="zh-CN">
                  <a:solidFill>
                    <a:schemeClr val="bg1"/>
                  </a:solidFill>
                  <a:latin typeface="宋体" panose="02010600030101010101" pitchFamily="2" charset="-122"/>
                </a:rPr>
                <a:t>XRDY RRDY BXINT BMINT BRINT</a:t>
              </a:r>
            </a:p>
          </p:txBody>
        </p:sp>
        <p:sp>
          <p:nvSpPr>
            <p:cNvPr id="131085" name="Rectangle 12"/>
            <p:cNvSpPr>
              <a:spLocks noChangeArrowheads="1"/>
            </p:cNvSpPr>
            <p:nvPr/>
          </p:nvSpPr>
          <p:spPr bwMode="auto">
            <a:xfrm>
              <a:off x="1437" y="2445"/>
              <a:ext cx="569" cy="299"/>
            </a:xfrm>
            <a:prstGeom prst="rect">
              <a:avLst/>
            </a:prstGeom>
            <a:solidFill>
              <a:schemeClr val="bg2"/>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BDXR</a:t>
              </a:r>
            </a:p>
          </p:txBody>
        </p:sp>
        <p:sp>
          <p:nvSpPr>
            <p:cNvPr id="131086" name="Rectangle 13"/>
            <p:cNvSpPr>
              <a:spLocks noChangeArrowheads="1"/>
            </p:cNvSpPr>
            <p:nvPr/>
          </p:nvSpPr>
          <p:spPr bwMode="auto">
            <a:xfrm>
              <a:off x="2249" y="2448"/>
              <a:ext cx="639" cy="240"/>
            </a:xfrm>
            <a:prstGeom prst="rect">
              <a:avLst/>
            </a:prstGeom>
            <a:solidFill>
              <a:schemeClr val="bg2"/>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BSPCE</a:t>
              </a:r>
            </a:p>
          </p:txBody>
        </p:sp>
        <p:sp>
          <p:nvSpPr>
            <p:cNvPr id="131087" name="Rectangle 14"/>
            <p:cNvSpPr>
              <a:spLocks noChangeArrowheads="1"/>
            </p:cNvSpPr>
            <p:nvPr/>
          </p:nvSpPr>
          <p:spPr bwMode="auto">
            <a:xfrm>
              <a:off x="1432" y="2894"/>
              <a:ext cx="580" cy="299"/>
            </a:xfrm>
            <a:prstGeom prst="rect">
              <a:avLst/>
            </a:prstGeom>
            <a:solidFill>
              <a:schemeClr val="bg2"/>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BXSR</a:t>
              </a:r>
            </a:p>
          </p:txBody>
        </p:sp>
        <p:sp>
          <p:nvSpPr>
            <p:cNvPr id="131088" name="Rectangle 15"/>
            <p:cNvSpPr>
              <a:spLocks noChangeArrowheads="1"/>
            </p:cNvSpPr>
            <p:nvPr/>
          </p:nvSpPr>
          <p:spPr bwMode="auto">
            <a:xfrm>
              <a:off x="1427" y="3232"/>
              <a:ext cx="593" cy="299"/>
            </a:xfrm>
            <a:prstGeom prst="rect">
              <a:avLst/>
            </a:prstGeom>
            <a:solidFill>
              <a:schemeClr val="bg2"/>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BRSR</a:t>
              </a:r>
            </a:p>
          </p:txBody>
        </p:sp>
        <p:sp>
          <p:nvSpPr>
            <p:cNvPr id="131089" name="Rectangle 16"/>
            <p:cNvSpPr>
              <a:spLocks noChangeArrowheads="1"/>
            </p:cNvSpPr>
            <p:nvPr/>
          </p:nvSpPr>
          <p:spPr bwMode="auto">
            <a:xfrm>
              <a:off x="2261" y="2903"/>
              <a:ext cx="686" cy="532"/>
            </a:xfrm>
            <a:prstGeom prst="rect">
              <a:avLst/>
            </a:prstGeom>
            <a:solidFill>
              <a:schemeClr val="bg2"/>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zh-CN" altLang="en-US">
                  <a:latin typeface="宋体" panose="02010600030101010101" pitchFamily="2" charset="-122"/>
                </a:rPr>
                <a:t>串口控</a:t>
              </a:r>
            </a:p>
            <a:p>
              <a:pPr algn="just"/>
              <a:r>
                <a:rPr kumimoji="0" lang="zh-CN" altLang="en-US">
                  <a:latin typeface="宋体" panose="02010600030101010101" pitchFamily="2" charset="-122"/>
                </a:rPr>
                <a:t>制逻辑</a:t>
              </a:r>
            </a:p>
          </p:txBody>
        </p:sp>
        <p:sp>
          <p:nvSpPr>
            <p:cNvPr id="131090" name="Rectangle 17"/>
            <p:cNvSpPr>
              <a:spLocks noChangeArrowheads="1"/>
            </p:cNvSpPr>
            <p:nvPr/>
          </p:nvSpPr>
          <p:spPr bwMode="auto">
            <a:xfrm>
              <a:off x="2251" y="3633"/>
              <a:ext cx="675" cy="291"/>
            </a:xfrm>
            <a:prstGeom prst="rect">
              <a:avLst/>
            </a:prstGeom>
            <a:solidFill>
              <a:schemeClr val="bg2"/>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BSPC</a:t>
              </a:r>
            </a:p>
          </p:txBody>
        </p:sp>
        <p:sp>
          <p:nvSpPr>
            <p:cNvPr id="131091" name="Rectangle 18"/>
            <p:cNvSpPr>
              <a:spLocks noChangeArrowheads="1"/>
            </p:cNvSpPr>
            <p:nvPr/>
          </p:nvSpPr>
          <p:spPr bwMode="auto">
            <a:xfrm>
              <a:off x="1411" y="3664"/>
              <a:ext cx="592" cy="299"/>
            </a:xfrm>
            <a:prstGeom prst="rect">
              <a:avLst/>
            </a:prstGeom>
            <a:solidFill>
              <a:schemeClr val="bg2"/>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BDRR</a:t>
              </a:r>
            </a:p>
          </p:txBody>
        </p:sp>
        <p:sp>
          <p:nvSpPr>
            <p:cNvPr id="131092" name="Rectangle 19"/>
            <p:cNvSpPr>
              <a:spLocks noChangeArrowheads="1"/>
            </p:cNvSpPr>
            <p:nvPr/>
          </p:nvSpPr>
          <p:spPr bwMode="auto">
            <a:xfrm>
              <a:off x="3144" y="2843"/>
              <a:ext cx="544" cy="1069"/>
            </a:xfrm>
            <a:prstGeom prst="rect">
              <a:avLst/>
            </a:prstGeom>
            <a:solidFill>
              <a:schemeClr val="bg2"/>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endParaRPr kumimoji="0" lang="en-US" altLang="zh-CN">
                <a:latin typeface="宋体" panose="02010600030101010101" pitchFamily="2" charset="-122"/>
              </a:endParaRPr>
            </a:p>
            <a:p>
              <a:pPr algn="just"/>
              <a:endParaRPr kumimoji="0" lang="en-US" altLang="zh-CN">
                <a:latin typeface="宋体" panose="02010600030101010101" pitchFamily="2" charset="-122"/>
              </a:endParaRPr>
            </a:p>
            <a:p>
              <a:pPr algn="just"/>
              <a:r>
                <a:rPr kumimoji="0" lang="zh-CN" altLang="en-US">
                  <a:latin typeface="宋体" panose="02010600030101010101" pitchFamily="2" charset="-122"/>
                </a:rPr>
                <a:t>中断</a:t>
              </a:r>
            </a:p>
            <a:p>
              <a:pPr algn="just"/>
              <a:endParaRPr kumimoji="0" lang="zh-CN" altLang="en-US">
                <a:latin typeface="宋体" panose="02010600030101010101" pitchFamily="2" charset="-122"/>
              </a:endParaRPr>
            </a:p>
            <a:p>
              <a:pPr algn="just"/>
              <a:r>
                <a:rPr kumimoji="0" lang="zh-CN" altLang="en-US">
                  <a:latin typeface="宋体" panose="02010600030101010101" pitchFamily="2" charset="-122"/>
                </a:rPr>
                <a:t>控制</a:t>
              </a:r>
            </a:p>
          </p:txBody>
        </p:sp>
        <p:sp>
          <p:nvSpPr>
            <p:cNvPr id="131093" name="Rectangle 20"/>
            <p:cNvSpPr>
              <a:spLocks noChangeArrowheads="1"/>
            </p:cNvSpPr>
            <p:nvPr/>
          </p:nvSpPr>
          <p:spPr bwMode="auto">
            <a:xfrm>
              <a:off x="4572" y="2304"/>
              <a:ext cx="852" cy="1752"/>
            </a:xfrm>
            <a:prstGeom prst="rect">
              <a:avLst/>
            </a:prstGeom>
            <a:solidFill>
              <a:srgbClr val="FF00FF"/>
            </a:solidFill>
            <a:ln w="9525">
              <a:solidFill>
                <a:schemeClr val="hlink"/>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endParaRPr kumimoji="0" lang="en-US" altLang="zh-CN">
                <a:latin typeface="宋体" panose="02010600030101010101" pitchFamily="2" charset="-122"/>
              </a:endParaRPr>
            </a:p>
            <a:p>
              <a:pPr algn="ctr"/>
              <a:r>
                <a:rPr kumimoji="0" lang="en-US" altLang="zh-CN">
                  <a:solidFill>
                    <a:schemeClr val="bg1"/>
                  </a:solidFill>
                  <a:latin typeface="宋体" panose="02010600030101010101" pitchFamily="2" charset="-122"/>
                </a:rPr>
                <a:t>C54x</a:t>
              </a:r>
            </a:p>
            <a:p>
              <a:pPr algn="ctr"/>
              <a:r>
                <a:rPr kumimoji="0" lang="en-US" altLang="zh-CN">
                  <a:solidFill>
                    <a:schemeClr val="bg1"/>
                  </a:solidFill>
                  <a:latin typeface="宋体" panose="02010600030101010101" pitchFamily="2" charset="-122"/>
                </a:rPr>
                <a:t>CPU</a:t>
              </a:r>
            </a:p>
            <a:p>
              <a:pPr algn="ctr"/>
              <a:r>
                <a:rPr kumimoji="0" lang="zh-CN" altLang="en-US">
                  <a:solidFill>
                    <a:schemeClr val="bg1"/>
                  </a:solidFill>
                  <a:latin typeface="宋体" panose="02010600030101010101" pitchFamily="2" charset="-122"/>
                </a:rPr>
                <a:t>界面</a:t>
              </a:r>
            </a:p>
            <a:p>
              <a:pPr algn="just"/>
              <a:endParaRPr kumimoji="0" lang="zh-CN" altLang="en-US">
                <a:solidFill>
                  <a:schemeClr val="bg1"/>
                </a:solidFill>
                <a:latin typeface="宋体" panose="02010600030101010101" pitchFamily="2" charset="-122"/>
              </a:endParaRPr>
            </a:p>
            <a:p>
              <a:pPr algn="just"/>
              <a:endParaRPr kumimoji="0" lang="zh-CN" altLang="en-US">
                <a:solidFill>
                  <a:schemeClr val="bg1"/>
                </a:solidFill>
                <a:latin typeface="宋体" panose="02010600030101010101" pitchFamily="2" charset="-122"/>
              </a:endParaRPr>
            </a:p>
            <a:p>
              <a:pPr algn="ctr"/>
              <a:r>
                <a:rPr kumimoji="0" lang="zh-CN" altLang="en-US">
                  <a:solidFill>
                    <a:schemeClr val="bg1"/>
                  </a:solidFill>
                  <a:latin typeface="宋体" panose="02010600030101010101" pitchFamily="2" charset="-122"/>
                </a:rPr>
                <a:t>中断</a:t>
              </a:r>
            </a:p>
            <a:p>
              <a:pPr algn="ctr"/>
              <a:r>
                <a:rPr kumimoji="0" lang="zh-CN" altLang="en-US">
                  <a:solidFill>
                    <a:schemeClr val="bg1"/>
                  </a:solidFill>
                  <a:latin typeface="宋体" panose="02010600030101010101" pitchFamily="2" charset="-122"/>
                </a:rPr>
                <a:t>逻辑</a:t>
              </a:r>
            </a:p>
          </p:txBody>
        </p:sp>
        <p:sp>
          <p:nvSpPr>
            <p:cNvPr id="131094" name="Line 21"/>
            <p:cNvSpPr>
              <a:spLocks noChangeShapeType="1"/>
            </p:cNvSpPr>
            <p:nvPr/>
          </p:nvSpPr>
          <p:spPr bwMode="auto">
            <a:xfrm flipV="1">
              <a:off x="1449" y="1551"/>
              <a:ext cx="0" cy="838"/>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095" name="Line 22"/>
            <p:cNvSpPr>
              <a:spLocks noChangeShapeType="1"/>
            </p:cNvSpPr>
            <p:nvPr/>
          </p:nvSpPr>
          <p:spPr bwMode="auto">
            <a:xfrm flipV="1">
              <a:off x="2124" y="1551"/>
              <a:ext cx="0" cy="20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096" name="Line 23"/>
            <p:cNvSpPr>
              <a:spLocks noChangeShapeType="1"/>
            </p:cNvSpPr>
            <p:nvPr/>
          </p:nvSpPr>
          <p:spPr bwMode="auto">
            <a:xfrm flipV="1">
              <a:off x="2633" y="1559"/>
              <a:ext cx="0" cy="199"/>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097" name="Line 24"/>
            <p:cNvSpPr>
              <a:spLocks noChangeShapeType="1"/>
            </p:cNvSpPr>
            <p:nvPr/>
          </p:nvSpPr>
          <p:spPr bwMode="auto">
            <a:xfrm flipV="1">
              <a:off x="3131" y="1559"/>
              <a:ext cx="0" cy="199"/>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098" name="Line 25"/>
            <p:cNvSpPr>
              <a:spLocks noChangeShapeType="1"/>
            </p:cNvSpPr>
            <p:nvPr/>
          </p:nvSpPr>
          <p:spPr bwMode="auto">
            <a:xfrm flipH="1">
              <a:off x="1722" y="2744"/>
              <a:ext cx="0" cy="13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099" name="Line 26"/>
            <p:cNvSpPr>
              <a:spLocks noChangeShapeType="1"/>
            </p:cNvSpPr>
            <p:nvPr/>
          </p:nvSpPr>
          <p:spPr bwMode="auto">
            <a:xfrm>
              <a:off x="1710" y="3530"/>
              <a:ext cx="0" cy="13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00" name="Line 27"/>
            <p:cNvSpPr>
              <a:spLocks noChangeShapeType="1"/>
            </p:cNvSpPr>
            <p:nvPr/>
          </p:nvSpPr>
          <p:spPr bwMode="auto">
            <a:xfrm flipV="1">
              <a:off x="1710" y="3556"/>
              <a:ext cx="2853"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01" name="Line 28"/>
            <p:cNvSpPr>
              <a:spLocks noChangeShapeType="1"/>
            </p:cNvSpPr>
            <p:nvPr/>
          </p:nvSpPr>
          <p:spPr bwMode="auto">
            <a:xfrm flipV="1">
              <a:off x="1722" y="2778"/>
              <a:ext cx="2865"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02" name="Line 29"/>
            <p:cNvSpPr>
              <a:spLocks noChangeShapeType="1"/>
            </p:cNvSpPr>
            <p:nvPr/>
          </p:nvSpPr>
          <p:spPr bwMode="auto">
            <a:xfrm>
              <a:off x="3817" y="3210"/>
              <a:ext cx="77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03" name="Line 30"/>
            <p:cNvSpPr>
              <a:spLocks noChangeShapeType="1"/>
            </p:cNvSpPr>
            <p:nvPr/>
          </p:nvSpPr>
          <p:spPr bwMode="auto">
            <a:xfrm flipH="1">
              <a:off x="1083" y="3046"/>
              <a:ext cx="354"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04" name="Line 31"/>
            <p:cNvSpPr>
              <a:spLocks noChangeShapeType="1"/>
            </p:cNvSpPr>
            <p:nvPr/>
          </p:nvSpPr>
          <p:spPr bwMode="auto">
            <a:xfrm>
              <a:off x="1118" y="3375"/>
              <a:ext cx="30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05" name="Line 32"/>
            <p:cNvSpPr>
              <a:spLocks noChangeShapeType="1"/>
            </p:cNvSpPr>
            <p:nvPr/>
          </p:nvSpPr>
          <p:spPr bwMode="auto">
            <a:xfrm>
              <a:off x="1042" y="3744"/>
              <a:ext cx="217"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06" name="Line 33"/>
            <p:cNvSpPr>
              <a:spLocks noChangeShapeType="1"/>
            </p:cNvSpPr>
            <p:nvPr/>
          </p:nvSpPr>
          <p:spPr bwMode="auto">
            <a:xfrm>
              <a:off x="1083" y="3902"/>
              <a:ext cx="165"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07" name="Line 34"/>
            <p:cNvSpPr>
              <a:spLocks noChangeShapeType="1"/>
            </p:cNvSpPr>
            <p:nvPr/>
          </p:nvSpPr>
          <p:spPr bwMode="auto">
            <a:xfrm flipH="1">
              <a:off x="928" y="2709"/>
              <a:ext cx="320" cy="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08" name="Line 35"/>
            <p:cNvSpPr>
              <a:spLocks noChangeShapeType="1"/>
            </p:cNvSpPr>
            <p:nvPr/>
          </p:nvSpPr>
          <p:spPr bwMode="auto">
            <a:xfrm flipH="1">
              <a:off x="916" y="2527"/>
              <a:ext cx="332" cy="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09" name="Line 36"/>
            <p:cNvSpPr>
              <a:spLocks noChangeShapeType="1"/>
            </p:cNvSpPr>
            <p:nvPr/>
          </p:nvSpPr>
          <p:spPr bwMode="auto">
            <a:xfrm>
              <a:off x="3202" y="2277"/>
              <a:ext cx="0" cy="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10" name="Line 37"/>
            <p:cNvSpPr>
              <a:spLocks noChangeShapeType="1"/>
            </p:cNvSpPr>
            <p:nvPr/>
          </p:nvSpPr>
          <p:spPr bwMode="auto">
            <a:xfrm>
              <a:off x="3427" y="2285"/>
              <a:ext cx="11" cy="104"/>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11" name="Line 38"/>
            <p:cNvSpPr>
              <a:spLocks noChangeShapeType="1"/>
            </p:cNvSpPr>
            <p:nvPr/>
          </p:nvSpPr>
          <p:spPr bwMode="auto">
            <a:xfrm>
              <a:off x="3616" y="2277"/>
              <a:ext cx="0" cy="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1112" name="Line 39"/>
            <p:cNvSpPr>
              <a:spLocks noChangeShapeType="1"/>
            </p:cNvSpPr>
            <p:nvPr/>
          </p:nvSpPr>
          <p:spPr bwMode="auto">
            <a:xfrm>
              <a:off x="3202" y="2389"/>
              <a:ext cx="0" cy="45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1113" name="Line 40"/>
            <p:cNvSpPr>
              <a:spLocks noChangeShapeType="1"/>
            </p:cNvSpPr>
            <p:nvPr/>
          </p:nvSpPr>
          <p:spPr bwMode="auto">
            <a:xfrm>
              <a:off x="3427" y="2389"/>
              <a:ext cx="0" cy="82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1114" name="Line 41"/>
            <p:cNvSpPr>
              <a:spLocks noChangeShapeType="1"/>
            </p:cNvSpPr>
            <p:nvPr/>
          </p:nvSpPr>
          <p:spPr bwMode="auto">
            <a:xfrm>
              <a:off x="3427" y="3219"/>
              <a:ext cx="40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1115" name="Line 42"/>
            <p:cNvSpPr>
              <a:spLocks noChangeShapeType="1"/>
            </p:cNvSpPr>
            <p:nvPr/>
          </p:nvSpPr>
          <p:spPr bwMode="auto">
            <a:xfrm>
              <a:off x="3616" y="2380"/>
              <a:ext cx="0" cy="46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1116" name="Line 43"/>
            <p:cNvSpPr>
              <a:spLocks noChangeShapeType="1"/>
            </p:cNvSpPr>
            <p:nvPr/>
          </p:nvSpPr>
          <p:spPr bwMode="auto">
            <a:xfrm flipV="1">
              <a:off x="1331" y="2028"/>
              <a:ext cx="201" cy="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1117" name="Rectangle 44"/>
            <p:cNvSpPr>
              <a:spLocks noChangeArrowheads="1"/>
            </p:cNvSpPr>
            <p:nvPr/>
          </p:nvSpPr>
          <p:spPr bwMode="auto">
            <a:xfrm>
              <a:off x="940" y="1881"/>
              <a:ext cx="438"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t>16</a:t>
              </a:r>
            </a:p>
          </p:txBody>
        </p:sp>
        <p:sp>
          <p:nvSpPr>
            <p:cNvPr id="131118" name="Rectangle 45"/>
            <p:cNvSpPr>
              <a:spLocks noChangeArrowheads="1"/>
            </p:cNvSpPr>
            <p:nvPr/>
          </p:nvSpPr>
          <p:spPr bwMode="auto">
            <a:xfrm>
              <a:off x="1674" y="1492"/>
              <a:ext cx="40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t>11</a:t>
              </a:r>
            </a:p>
          </p:txBody>
        </p:sp>
        <p:sp>
          <p:nvSpPr>
            <p:cNvPr id="131119" name="Line 46"/>
            <p:cNvSpPr>
              <a:spLocks noChangeShapeType="1"/>
            </p:cNvSpPr>
            <p:nvPr/>
          </p:nvSpPr>
          <p:spPr bwMode="auto">
            <a:xfrm flipV="1">
              <a:off x="2065" y="1673"/>
              <a:ext cx="130" cy="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628738"/>
                                        </p:tgtEl>
                                        <p:attrNameLst>
                                          <p:attrName>style.visibility</p:attrName>
                                        </p:attrNameLst>
                                      </p:cBhvr>
                                      <p:to>
                                        <p:strVal val="visible"/>
                                      </p:to>
                                    </p:set>
                                    <p:animEffect transition="in" filter="barn(outVertical)">
                                      <p:cBhvr>
                                        <p:cTn id="7" dur="500"/>
                                        <p:tgtEl>
                                          <p:spTgt spid="628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38" grpId="0"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9762" name="Rectangle 2"/>
          <p:cNvSpPr>
            <a:spLocks noGrp="1" noChangeArrowheads="1"/>
          </p:cNvSpPr>
          <p:nvPr>
            <p:ph type="title"/>
          </p:nvPr>
        </p:nvSpPr>
        <p:spPr bwMode="auto">
          <a:xfrm>
            <a:off x="685800" y="10668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latin typeface="宋体" panose="02010600030101010101" pitchFamily="2" charset="-122"/>
              </a:rPr>
              <a:t>2</a:t>
            </a:r>
            <a:r>
              <a:rPr lang="zh-CN" altLang="en-US" b="1">
                <a:solidFill>
                  <a:srgbClr val="FF0000"/>
                </a:solidFill>
                <a:latin typeface="宋体" panose="02010600030101010101" pitchFamily="2" charset="-122"/>
              </a:rPr>
              <a:t>．缓冲串行口的工作模式</a:t>
            </a:r>
            <a:r>
              <a:rPr lang="zh-CN" altLang="en-US" b="1"/>
              <a:t> </a:t>
            </a:r>
          </a:p>
        </p:txBody>
      </p:sp>
      <p:sp>
        <p:nvSpPr>
          <p:cNvPr id="132099" name="Rectangle 3"/>
          <p:cNvSpPr>
            <a:spLocks noGrp="1" noChangeArrowheads="1"/>
          </p:cNvSpPr>
          <p:nvPr>
            <p:ph idx="1"/>
          </p:nvPr>
        </p:nvSpPr>
        <p:spPr bwMode="auto">
          <a:xfrm>
            <a:off x="685800" y="19812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zh-CN" altLang="en-US" b="1">
                <a:solidFill>
                  <a:schemeClr val="tx2"/>
                </a:solidFill>
                <a:latin typeface="宋体" panose="02010600030101010101" pitchFamily="2" charset="-122"/>
              </a:rPr>
              <a:t>（</a:t>
            </a:r>
            <a:r>
              <a:rPr lang="en-US" altLang="zh-CN" b="1">
                <a:solidFill>
                  <a:schemeClr val="tx2"/>
                </a:solidFill>
                <a:latin typeface="宋体" panose="02010600030101010101" pitchFamily="2" charset="-122"/>
              </a:rPr>
              <a:t>1</a:t>
            </a:r>
            <a:r>
              <a:rPr lang="zh-CN" altLang="en-US" b="1">
                <a:solidFill>
                  <a:schemeClr val="tx2"/>
                </a:solidFill>
                <a:latin typeface="宋体" panose="02010600030101010101" pitchFamily="2" charset="-122"/>
              </a:rPr>
              <a:t>）缓冲串行口的标准模式</a:t>
            </a:r>
            <a:r>
              <a:rPr lang="zh-CN" altLang="en-US" b="1">
                <a:solidFill>
                  <a:schemeClr val="tx2"/>
                </a:solidFill>
              </a:rPr>
              <a:t> </a:t>
            </a:r>
            <a:r>
              <a:rPr lang="en-US" altLang="zh-CN" b="1">
                <a:solidFill>
                  <a:schemeClr val="tx2"/>
                </a:solidFill>
              </a:rPr>
              <a:t>(</a:t>
            </a:r>
            <a:r>
              <a:rPr lang="zh-CN" altLang="en-US" b="1">
                <a:solidFill>
                  <a:schemeClr val="tx2"/>
                </a:solidFill>
              </a:rPr>
              <a:t>表</a:t>
            </a:r>
            <a:r>
              <a:rPr lang="en-US" altLang="zh-CN" b="1">
                <a:solidFill>
                  <a:schemeClr val="tx2"/>
                </a:solidFill>
              </a:rPr>
              <a:t>2-16)</a:t>
            </a:r>
          </a:p>
          <a:p>
            <a:pPr eaLnBrk="1" hangingPunct="1">
              <a:lnSpc>
                <a:spcPct val="90000"/>
              </a:lnSpc>
            </a:pPr>
            <a:r>
              <a:rPr lang="zh-CN" altLang="en-US" b="1">
                <a:solidFill>
                  <a:schemeClr val="tx2"/>
                </a:solidFill>
                <a:latin typeface="宋体" panose="02010600030101010101" pitchFamily="2" charset="-122"/>
              </a:rPr>
              <a:t>（</a:t>
            </a:r>
            <a:r>
              <a:rPr lang="en-US" altLang="zh-CN" b="1">
                <a:solidFill>
                  <a:schemeClr val="tx2"/>
                </a:solidFill>
                <a:latin typeface="宋体" panose="02010600030101010101" pitchFamily="2" charset="-122"/>
              </a:rPr>
              <a:t>2</a:t>
            </a:r>
            <a:r>
              <a:rPr lang="zh-CN" altLang="en-US" b="1">
                <a:solidFill>
                  <a:schemeClr val="tx2"/>
                </a:solidFill>
                <a:latin typeface="宋体" panose="02010600030101010101" pitchFamily="2" charset="-122"/>
              </a:rPr>
              <a:t>）缓冲串行口增强模式</a:t>
            </a:r>
            <a:r>
              <a:rPr lang="zh-CN" altLang="en-US" b="1">
                <a:solidFill>
                  <a:schemeClr val="tx2"/>
                </a:solidFill>
              </a:rPr>
              <a:t> </a:t>
            </a:r>
          </a:p>
        </p:txBody>
      </p:sp>
      <p:sp>
        <p:nvSpPr>
          <p:cNvPr id="13210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68FECF71-D95D-423C-9394-A7A909008D01}" type="slidenum">
              <a:rPr lang="en-US" altLang="zh-CN" sz="1400" b="0"/>
              <a:pPr eaLnBrk="1" hangingPunct="1"/>
              <a:t>118</a:t>
            </a:fld>
            <a:endParaRPr lang="en-US" altLang="zh-CN" sz="1400" b="0"/>
          </a:p>
        </p:txBody>
      </p:sp>
      <p:sp>
        <p:nvSpPr>
          <p:cNvPr id="629764" name="Rectangle 4"/>
          <p:cNvSpPr>
            <a:spLocks noChangeArrowheads="1"/>
          </p:cNvSpPr>
          <p:nvPr/>
        </p:nvSpPr>
        <p:spPr bwMode="auto">
          <a:xfrm>
            <a:off x="2411413" y="3657600"/>
            <a:ext cx="6553200" cy="2117725"/>
          </a:xfrm>
          <a:prstGeom prst="rect">
            <a:avLst/>
          </a:prstGeom>
          <a:noFill/>
          <a:ln w="762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buFontTx/>
              <a:buChar char="•"/>
            </a:pPr>
            <a:r>
              <a:rPr lang="zh-CN" altLang="en-US" sz="3200">
                <a:latin typeface="宋体" panose="02010600030101010101" pitchFamily="2" charset="-122"/>
              </a:rPr>
              <a:t>可编程串口时钟</a:t>
            </a:r>
          </a:p>
          <a:p>
            <a:pPr algn="just" eaLnBrk="1" hangingPunct="1">
              <a:buFontTx/>
              <a:buChar char="•"/>
            </a:pPr>
            <a:r>
              <a:rPr lang="zh-CN" altLang="en-US" sz="3200">
                <a:latin typeface="宋体" panose="02010600030101010101" pitchFamily="2" charset="-122"/>
              </a:rPr>
              <a:t>选择时钟和帧同步信号的正负极性</a:t>
            </a:r>
          </a:p>
          <a:p>
            <a:pPr algn="just" eaLnBrk="1" hangingPunct="1">
              <a:buFontTx/>
              <a:buChar char="•"/>
            </a:pPr>
            <a:r>
              <a:rPr lang="en-US" altLang="zh-CN" sz="3200">
                <a:latin typeface="宋体" panose="02010600030101010101" pitchFamily="2" charset="-122"/>
              </a:rPr>
              <a:t>10</a:t>
            </a:r>
            <a:r>
              <a:rPr lang="zh-CN" altLang="en-US" sz="3200">
                <a:latin typeface="宋体" panose="02010600030101010101" pitchFamily="2" charset="-122"/>
              </a:rPr>
              <a:t>、</a:t>
            </a:r>
            <a:r>
              <a:rPr lang="en-US" altLang="zh-CN" sz="3200">
                <a:latin typeface="宋体" panose="02010600030101010101" pitchFamily="2" charset="-122"/>
              </a:rPr>
              <a:t>12</a:t>
            </a:r>
            <a:r>
              <a:rPr lang="zh-CN" altLang="en-US" sz="3200">
                <a:latin typeface="宋体" panose="02010600030101010101" pitchFamily="2" charset="-122"/>
              </a:rPr>
              <a:t>位字长</a:t>
            </a:r>
          </a:p>
          <a:p>
            <a:pPr algn="just" eaLnBrk="1" hangingPunct="1">
              <a:buFontTx/>
              <a:buChar char="•"/>
            </a:pPr>
            <a:r>
              <a:rPr lang="zh-CN" altLang="en-US" sz="3200">
                <a:latin typeface="宋体" panose="02010600030101010101" pitchFamily="2" charset="-122"/>
              </a:rPr>
              <a:t>允许忽略同步信号或不忽略。</a:t>
            </a:r>
            <a:endParaRPr lang="zh-CN" altLang="en-US" sz="3200"/>
          </a:p>
        </p:txBody>
      </p:sp>
      <p:sp>
        <p:nvSpPr>
          <p:cNvPr id="629765" name="Rectangle 5" descr="小棋盘"/>
          <p:cNvSpPr>
            <a:spLocks noChangeArrowheads="1"/>
          </p:cNvSpPr>
          <p:nvPr/>
        </p:nvSpPr>
        <p:spPr bwMode="auto">
          <a:xfrm>
            <a:off x="838200" y="3886200"/>
            <a:ext cx="1219200" cy="1200150"/>
          </a:xfrm>
          <a:prstGeom prst="rect">
            <a:avLst/>
          </a:prstGeom>
          <a:pattFill prst="smCheck">
            <a:fgClr>
              <a:srgbClr val="FFFF00"/>
            </a:fgClr>
            <a:bgClr>
              <a:srgbClr val="FFFFFF"/>
            </a:bgClr>
          </a:pattFill>
          <a:ln w="9525">
            <a:solidFill>
              <a:srgbClr val="339933"/>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00"/>
                </a:solidFill>
                <a:latin typeface="宋体" panose="02010600030101010101" pitchFamily="2" charset="-122"/>
              </a:rPr>
              <a:t>新增</a:t>
            </a:r>
          </a:p>
          <a:p>
            <a:pPr eaLnBrk="1" hangingPunct="1"/>
            <a:r>
              <a:rPr lang="zh-CN" altLang="en-US" sz="3600">
                <a:solidFill>
                  <a:srgbClr val="FF0000"/>
                </a:solidFill>
                <a:latin typeface="宋体" panose="02010600030101010101" pitchFamily="2" charset="-122"/>
              </a:rPr>
              <a:t>功能</a:t>
            </a:r>
            <a:r>
              <a:rPr lang="zh-CN" altLang="en-US" sz="3600">
                <a:solidFill>
                  <a:srgbClr val="FF0066"/>
                </a:solidFill>
              </a:rPr>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29762"/>
                                        </p:tgtEl>
                                        <p:attrNameLst>
                                          <p:attrName>style.visibility</p:attrName>
                                        </p:attrNameLst>
                                      </p:cBhvr>
                                      <p:to>
                                        <p:strVal val="visible"/>
                                      </p:to>
                                    </p:set>
                                    <p:anim calcmode="lin" valueType="num">
                                      <p:cBhvr additive="base">
                                        <p:cTn id="7" dur="500" fill="hold"/>
                                        <p:tgtEl>
                                          <p:spTgt spid="629762"/>
                                        </p:tgtEl>
                                        <p:attrNameLst>
                                          <p:attrName>ppt_x</p:attrName>
                                        </p:attrNameLst>
                                      </p:cBhvr>
                                      <p:tavLst>
                                        <p:tav tm="0">
                                          <p:val>
                                            <p:strVal val="0-#ppt_w/2"/>
                                          </p:val>
                                        </p:tav>
                                        <p:tav tm="100000">
                                          <p:val>
                                            <p:strVal val="#ppt_x"/>
                                          </p:val>
                                        </p:tav>
                                      </p:tavLst>
                                    </p:anim>
                                    <p:anim calcmode="lin" valueType="num">
                                      <p:cBhvr additive="base">
                                        <p:cTn id="8" dur="500" fill="hold"/>
                                        <p:tgtEl>
                                          <p:spTgt spid="62976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29765"/>
                                        </p:tgtEl>
                                        <p:attrNameLst>
                                          <p:attrName>style.visibility</p:attrName>
                                        </p:attrNameLst>
                                      </p:cBhvr>
                                      <p:to>
                                        <p:strVal val="visible"/>
                                      </p:to>
                                    </p:set>
                                    <p:anim calcmode="lin" valueType="num">
                                      <p:cBhvr additive="base">
                                        <p:cTn id="12" dur="500" fill="hold"/>
                                        <p:tgtEl>
                                          <p:spTgt spid="629765"/>
                                        </p:tgtEl>
                                        <p:attrNameLst>
                                          <p:attrName>ppt_x</p:attrName>
                                        </p:attrNameLst>
                                      </p:cBhvr>
                                      <p:tavLst>
                                        <p:tav tm="0">
                                          <p:val>
                                            <p:strVal val="0-#ppt_w/2"/>
                                          </p:val>
                                        </p:tav>
                                        <p:tav tm="100000">
                                          <p:val>
                                            <p:strVal val="#ppt_x"/>
                                          </p:val>
                                        </p:tav>
                                      </p:tavLst>
                                    </p:anim>
                                    <p:anim calcmode="lin" valueType="num">
                                      <p:cBhvr additive="base">
                                        <p:cTn id="13" dur="500" fill="hold"/>
                                        <p:tgtEl>
                                          <p:spTgt spid="629765"/>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629764"/>
                                        </p:tgtEl>
                                        <p:attrNameLst>
                                          <p:attrName>style.visibility</p:attrName>
                                        </p:attrNameLst>
                                      </p:cBhvr>
                                      <p:to>
                                        <p:strVal val="visible"/>
                                      </p:to>
                                    </p:set>
                                    <p:animEffect transition="in" filter="slide(fromLeft)">
                                      <p:cBhvr>
                                        <p:cTn id="17" dur="500"/>
                                        <p:tgtEl>
                                          <p:spTgt spid="629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2" grpId="0" autoUpdateAnimBg="0"/>
      <p:bldP spid="629764" grpId="0" animBg="1" autoUpdateAnimBg="0"/>
      <p:bldP spid="629765" grpId="0" animBg="1"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0786" name="Rectangle 2"/>
          <p:cNvSpPr>
            <a:spLocks noGrp="1" noChangeArrowheads="1"/>
          </p:cNvSpPr>
          <p:nvPr>
            <p:ph type="title"/>
          </p:nvPr>
        </p:nvSpPr>
        <p:spPr bwMode="auto">
          <a:xfrm>
            <a:off x="838200" y="1066800"/>
            <a:ext cx="68580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66"/>
                </a:solidFill>
                <a:latin typeface="宋体" panose="02010600030101010101" pitchFamily="2" charset="-122"/>
              </a:rPr>
              <a:t>3</a:t>
            </a:r>
            <a:r>
              <a:rPr lang="zh-CN" altLang="en-US" b="1">
                <a:solidFill>
                  <a:srgbClr val="FF0066"/>
                </a:solidFill>
                <a:latin typeface="宋体" panose="02010600030101010101" pitchFamily="2" charset="-122"/>
              </a:rPr>
              <a:t>．自动缓冲单元</a:t>
            </a:r>
            <a:r>
              <a:rPr lang="en-US" altLang="zh-CN" b="1">
                <a:solidFill>
                  <a:srgbClr val="FF0066"/>
                </a:solidFill>
                <a:latin typeface="宋体" panose="02010600030101010101" pitchFamily="2" charset="-122"/>
              </a:rPr>
              <a:t>ABU</a:t>
            </a:r>
          </a:p>
        </p:txBody>
      </p:sp>
      <p:sp>
        <p:nvSpPr>
          <p:cNvPr id="13312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BEA90D0-E23F-416A-98D5-0D12551BD89E}" type="slidenum">
              <a:rPr lang="en-US" altLang="zh-CN" sz="1400" b="0"/>
              <a:pPr eaLnBrk="1" hangingPunct="1"/>
              <a:t>119</a:t>
            </a:fld>
            <a:endParaRPr lang="en-US" altLang="zh-CN" sz="1400" b="0"/>
          </a:p>
        </p:txBody>
      </p:sp>
      <p:sp>
        <p:nvSpPr>
          <p:cNvPr id="630787" name="Rectangle 3" descr="小棋盘"/>
          <p:cNvSpPr>
            <a:spLocks noChangeArrowheads="1"/>
          </p:cNvSpPr>
          <p:nvPr/>
        </p:nvSpPr>
        <p:spPr bwMode="auto">
          <a:xfrm>
            <a:off x="539750" y="2205038"/>
            <a:ext cx="1006475" cy="588962"/>
          </a:xfrm>
          <a:prstGeom prst="rect">
            <a:avLst/>
          </a:prstGeom>
          <a:pattFill prst="smCheck">
            <a:fgClr>
              <a:srgbClr val="FFFF00"/>
            </a:fgClr>
            <a:bgClr>
              <a:srgbClr val="FFFFFF"/>
            </a:bgClr>
          </a:pattFill>
          <a:ln w="9525">
            <a:solidFill>
              <a:schemeClr val="folHlink"/>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a:solidFill>
                  <a:srgbClr val="FF0066"/>
                </a:solidFill>
                <a:latin typeface="宋体" panose="02010600030101010101" pitchFamily="2" charset="-122"/>
              </a:rPr>
              <a:t>功能</a:t>
            </a:r>
          </a:p>
        </p:txBody>
      </p:sp>
      <p:sp>
        <p:nvSpPr>
          <p:cNvPr id="630788" name="Rectangle 4" descr="小棋盘"/>
          <p:cNvSpPr>
            <a:spLocks noChangeArrowheads="1"/>
          </p:cNvSpPr>
          <p:nvPr/>
        </p:nvSpPr>
        <p:spPr bwMode="auto">
          <a:xfrm>
            <a:off x="533400" y="4038600"/>
            <a:ext cx="1143000" cy="650875"/>
          </a:xfrm>
          <a:prstGeom prst="rect">
            <a:avLst/>
          </a:prstGeom>
          <a:pattFill prst="smCheck">
            <a:fgClr>
              <a:srgbClr val="FFFF00"/>
            </a:fgClr>
            <a:bgClr>
              <a:srgbClr val="FFFFFF"/>
            </a:bgClr>
          </a:patt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chemeClr val="tx2"/>
                </a:solidFill>
                <a:latin typeface="宋体" panose="02010600030101010101" pitchFamily="2" charset="-122"/>
              </a:rPr>
              <a:t>组成</a:t>
            </a:r>
            <a:endParaRPr lang="zh-CN" altLang="en-US" sz="3600">
              <a:solidFill>
                <a:schemeClr val="tx2"/>
              </a:solidFill>
            </a:endParaRPr>
          </a:p>
        </p:txBody>
      </p:sp>
      <p:sp>
        <p:nvSpPr>
          <p:cNvPr id="630789" name="Rectangle 5"/>
          <p:cNvSpPr>
            <a:spLocks noChangeArrowheads="1"/>
          </p:cNvSpPr>
          <p:nvPr/>
        </p:nvSpPr>
        <p:spPr bwMode="auto">
          <a:xfrm>
            <a:off x="2743200" y="3200400"/>
            <a:ext cx="5632450" cy="2914650"/>
          </a:xfrm>
          <a:prstGeom prst="rect">
            <a:avLst/>
          </a:prstGeom>
          <a:noFill/>
          <a:ln w="762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latin typeface="宋体" panose="02010600030101010101" pitchFamily="2" charset="-122"/>
              </a:rPr>
              <a:t>地址发送寄存器</a:t>
            </a:r>
            <a:r>
              <a:rPr lang="en-US" altLang="zh-CN" sz="3600">
                <a:latin typeface="宋体" panose="02010600030101010101" pitchFamily="2" charset="-122"/>
              </a:rPr>
              <a:t>AXR</a:t>
            </a:r>
          </a:p>
          <a:p>
            <a:pPr eaLnBrk="1" hangingPunct="1"/>
            <a:r>
              <a:rPr lang="zh-CN" altLang="en-US" sz="3600">
                <a:latin typeface="宋体" panose="02010600030101010101" pitchFamily="2" charset="-122"/>
              </a:rPr>
              <a:t>块长度发送寄存器</a:t>
            </a:r>
            <a:r>
              <a:rPr lang="en-US" altLang="zh-CN" sz="3600">
                <a:latin typeface="宋体" panose="02010600030101010101" pitchFamily="2" charset="-122"/>
              </a:rPr>
              <a:t>BKX</a:t>
            </a:r>
          </a:p>
          <a:p>
            <a:pPr eaLnBrk="1" hangingPunct="1"/>
            <a:r>
              <a:rPr lang="zh-CN" altLang="en-US" sz="3600">
                <a:latin typeface="宋体" panose="02010600030101010101" pitchFamily="2" charset="-122"/>
              </a:rPr>
              <a:t>地址接收寄存器</a:t>
            </a:r>
            <a:r>
              <a:rPr lang="en-US" altLang="zh-CN" sz="3600">
                <a:latin typeface="宋体" panose="02010600030101010101" pitchFamily="2" charset="-122"/>
              </a:rPr>
              <a:t>ARR</a:t>
            </a:r>
          </a:p>
          <a:p>
            <a:pPr eaLnBrk="1" hangingPunct="1"/>
            <a:r>
              <a:rPr lang="zh-CN" altLang="en-US" sz="3600">
                <a:latin typeface="宋体" panose="02010600030101010101" pitchFamily="2" charset="-122"/>
              </a:rPr>
              <a:t>块长度接收寄存器</a:t>
            </a:r>
            <a:r>
              <a:rPr lang="en-US" altLang="zh-CN" sz="3600">
                <a:latin typeface="宋体" panose="02010600030101010101" pitchFamily="2" charset="-122"/>
              </a:rPr>
              <a:t>BKR</a:t>
            </a:r>
          </a:p>
          <a:p>
            <a:pPr eaLnBrk="1" hangingPunct="1"/>
            <a:r>
              <a:rPr lang="zh-CN" altLang="en-US" sz="3600">
                <a:latin typeface="宋体" panose="02010600030101010101" pitchFamily="2" charset="-122"/>
              </a:rPr>
              <a:t>串口</a:t>
            </a:r>
            <a:r>
              <a:rPr lang="zh-CN" altLang="en-US" sz="3600"/>
              <a:t>扩展</a:t>
            </a:r>
            <a:r>
              <a:rPr lang="zh-CN" altLang="en-US" sz="3600">
                <a:latin typeface="宋体" panose="02010600030101010101" pitchFamily="2" charset="-122"/>
              </a:rPr>
              <a:t>控制寄存器</a:t>
            </a:r>
            <a:r>
              <a:rPr lang="en-US" altLang="zh-CN" sz="3600">
                <a:latin typeface="宋体" panose="02010600030101010101" pitchFamily="2" charset="-122"/>
              </a:rPr>
              <a:t>BSPCE</a:t>
            </a:r>
            <a:r>
              <a:rPr lang="en-US" altLang="zh-CN" sz="3600"/>
              <a:t> </a:t>
            </a:r>
          </a:p>
        </p:txBody>
      </p:sp>
      <p:sp>
        <p:nvSpPr>
          <p:cNvPr id="630790" name="Rectangle 6" descr="小棋盘"/>
          <p:cNvSpPr>
            <a:spLocks noChangeArrowheads="1"/>
          </p:cNvSpPr>
          <p:nvPr/>
        </p:nvSpPr>
        <p:spPr bwMode="auto">
          <a:xfrm>
            <a:off x="533400" y="5410200"/>
            <a:ext cx="1108075" cy="650875"/>
          </a:xfrm>
          <a:prstGeom prst="rect">
            <a:avLst/>
          </a:prstGeom>
          <a:pattFill prst="smCheck">
            <a:fgClr>
              <a:srgbClr val="FFFF00"/>
            </a:fgClr>
            <a:bgClr>
              <a:srgbClr val="FFFFFF"/>
            </a:bgClr>
          </a:pattFill>
          <a:ln w="9525">
            <a:solidFill>
              <a:schemeClr val="tx2"/>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66"/>
                </a:solidFill>
                <a:latin typeface="宋体" panose="02010600030101010101" pitchFamily="2" charset="-122"/>
              </a:rPr>
              <a:t>特点</a:t>
            </a:r>
          </a:p>
        </p:txBody>
      </p:sp>
      <p:sp>
        <p:nvSpPr>
          <p:cNvPr id="630791" name="Rectangle 7"/>
          <p:cNvSpPr>
            <a:spLocks noChangeArrowheads="1"/>
          </p:cNvSpPr>
          <p:nvPr/>
        </p:nvSpPr>
        <p:spPr bwMode="auto">
          <a:xfrm>
            <a:off x="2057400" y="1981200"/>
            <a:ext cx="6480175" cy="1104900"/>
          </a:xfrm>
          <a:prstGeom prst="rect">
            <a:avLst/>
          </a:prstGeom>
          <a:noFill/>
          <a:ln w="38100">
            <a:solidFill>
              <a:srgbClr val="F1C875"/>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latin typeface="宋体" panose="02010600030101010101" pitchFamily="2" charset="-122"/>
              </a:rPr>
              <a:t>可独立于</a:t>
            </a:r>
            <a:r>
              <a:rPr lang="en-US" altLang="zh-CN" sz="3200">
                <a:latin typeface="宋体" panose="02010600030101010101" pitchFamily="2" charset="-122"/>
              </a:rPr>
              <a:t>CPU</a:t>
            </a:r>
            <a:r>
              <a:rPr lang="zh-CN" altLang="en-US" sz="3200">
                <a:latin typeface="宋体" panose="02010600030101010101" pitchFamily="2" charset="-122"/>
              </a:rPr>
              <a:t>自动完成控制串口与固定缓冲内存区中的数据交换。</a:t>
            </a:r>
          </a:p>
        </p:txBody>
      </p:sp>
      <p:sp>
        <p:nvSpPr>
          <p:cNvPr id="630792" name="AutoShape 8" descr="小棋盘"/>
          <p:cNvSpPr>
            <a:spLocks noChangeArrowheads="1"/>
          </p:cNvSpPr>
          <p:nvPr/>
        </p:nvSpPr>
        <p:spPr bwMode="auto">
          <a:xfrm>
            <a:off x="2286000" y="6172200"/>
            <a:ext cx="5181600" cy="457200"/>
          </a:xfrm>
          <a:prstGeom prst="wedgeRoundRectCallout">
            <a:avLst>
              <a:gd name="adj1" fmla="val -65472"/>
              <a:gd name="adj2" fmla="val -32292"/>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2400">
                <a:solidFill>
                  <a:srgbClr val="FF0000"/>
                </a:solidFill>
              </a:rPr>
              <a:t>CPU</a:t>
            </a:r>
            <a:r>
              <a:rPr lang="zh-CN" altLang="en-US" sz="2400">
                <a:solidFill>
                  <a:srgbClr val="FF0000"/>
                </a:solidFill>
              </a:rPr>
              <a:t>可不必每次介入收发存取过程</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30786"/>
                                        </p:tgtEl>
                                        <p:attrNameLst>
                                          <p:attrName>style.visibility</p:attrName>
                                        </p:attrNameLst>
                                      </p:cBhvr>
                                      <p:to>
                                        <p:strVal val="visible"/>
                                      </p:to>
                                    </p:set>
                                    <p:animEffect transition="in" filter="dissolve">
                                      <p:cBhvr>
                                        <p:cTn id="7" dur="500"/>
                                        <p:tgtEl>
                                          <p:spTgt spid="630786"/>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30787"/>
                                        </p:tgtEl>
                                        <p:attrNameLst>
                                          <p:attrName>style.visibility</p:attrName>
                                        </p:attrNameLst>
                                      </p:cBhvr>
                                      <p:to>
                                        <p:strVal val="visible"/>
                                      </p:to>
                                    </p:set>
                                    <p:anim calcmode="lin" valueType="num">
                                      <p:cBhvr additive="base">
                                        <p:cTn id="11" dur="500" fill="hold"/>
                                        <p:tgtEl>
                                          <p:spTgt spid="630787"/>
                                        </p:tgtEl>
                                        <p:attrNameLst>
                                          <p:attrName>ppt_x</p:attrName>
                                        </p:attrNameLst>
                                      </p:cBhvr>
                                      <p:tavLst>
                                        <p:tav tm="0">
                                          <p:val>
                                            <p:strVal val="0-#ppt_w/2"/>
                                          </p:val>
                                        </p:tav>
                                        <p:tav tm="100000">
                                          <p:val>
                                            <p:strVal val="#ppt_x"/>
                                          </p:val>
                                        </p:tav>
                                      </p:tavLst>
                                    </p:anim>
                                    <p:anim calcmode="lin" valueType="num">
                                      <p:cBhvr additive="base">
                                        <p:cTn id="12" dur="500" fill="hold"/>
                                        <p:tgtEl>
                                          <p:spTgt spid="630787"/>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630791"/>
                                        </p:tgtEl>
                                        <p:attrNameLst>
                                          <p:attrName>style.visibility</p:attrName>
                                        </p:attrNameLst>
                                      </p:cBhvr>
                                      <p:to>
                                        <p:strVal val="visible"/>
                                      </p:to>
                                    </p:set>
                                    <p:animEffect transition="in" filter="slide(fromLeft)">
                                      <p:cBhvr>
                                        <p:cTn id="16" dur="500"/>
                                        <p:tgtEl>
                                          <p:spTgt spid="630791"/>
                                        </p:tgtEl>
                                      </p:cBhvr>
                                    </p:animEffect>
                                  </p:childTnLst>
                                </p:cTn>
                              </p:par>
                            </p:childTnLst>
                          </p:cTn>
                        </p:par>
                        <p:par>
                          <p:cTn id="17" fill="hold" nodeType="afterGroup">
                            <p:stCondLst>
                              <p:cond delay="1500"/>
                            </p:stCondLst>
                            <p:childTnLst>
                              <p:par>
                                <p:cTn id="18" presetID="2" presetClass="entr" presetSubtype="2" fill="hold" grpId="0" nodeType="afterEffect">
                                  <p:stCondLst>
                                    <p:cond delay="0"/>
                                  </p:stCondLst>
                                  <p:childTnLst>
                                    <p:set>
                                      <p:cBhvr>
                                        <p:cTn id="19" dur="1" fill="hold">
                                          <p:stCondLst>
                                            <p:cond delay="0"/>
                                          </p:stCondLst>
                                        </p:cTn>
                                        <p:tgtEl>
                                          <p:spTgt spid="630792"/>
                                        </p:tgtEl>
                                        <p:attrNameLst>
                                          <p:attrName>style.visibility</p:attrName>
                                        </p:attrNameLst>
                                      </p:cBhvr>
                                      <p:to>
                                        <p:strVal val="visible"/>
                                      </p:to>
                                    </p:set>
                                    <p:anim calcmode="lin" valueType="num">
                                      <p:cBhvr additive="base">
                                        <p:cTn id="20" dur="500" fill="hold"/>
                                        <p:tgtEl>
                                          <p:spTgt spid="630792"/>
                                        </p:tgtEl>
                                        <p:attrNameLst>
                                          <p:attrName>ppt_x</p:attrName>
                                        </p:attrNameLst>
                                      </p:cBhvr>
                                      <p:tavLst>
                                        <p:tav tm="0">
                                          <p:val>
                                            <p:strVal val="1+#ppt_w/2"/>
                                          </p:val>
                                        </p:tav>
                                        <p:tav tm="100000">
                                          <p:val>
                                            <p:strVal val="#ppt_x"/>
                                          </p:val>
                                        </p:tav>
                                      </p:tavLst>
                                    </p:anim>
                                    <p:anim calcmode="lin" valueType="num">
                                      <p:cBhvr additive="base">
                                        <p:cTn id="21" dur="500" fill="hold"/>
                                        <p:tgtEl>
                                          <p:spTgt spid="630792"/>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630788"/>
                                        </p:tgtEl>
                                        <p:attrNameLst>
                                          <p:attrName>style.visibility</p:attrName>
                                        </p:attrNameLst>
                                      </p:cBhvr>
                                      <p:to>
                                        <p:strVal val="visible"/>
                                      </p:to>
                                    </p:set>
                                    <p:anim calcmode="lin" valueType="num">
                                      <p:cBhvr additive="base">
                                        <p:cTn id="25" dur="500" fill="hold"/>
                                        <p:tgtEl>
                                          <p:spTgt spid="630788"/>
                                        </p:tgtEl>
                                        <p:attrNameLst>
                                          <p:attrName>ppt_x</p:attrName>
                                        </p:attrNameLst>
                                      </p:cBhvr>
                                      <p:tavLst>
                                        <p:tav tm="0">
                                          <p:val>
                                            <p:strVal val="0-#ppt_w/2"/>
                                          </p:val>
                                        </p:tav>
                                        <p:tav tm="100000">
                                          <p:val>
                                            <p:strVal val="#ppt_x"/>
                                          </p:val>
                                        </p:tav>
                                      </p:tavLst>
                                    </p:anim>
                                    <p:anim calcmode="lin" valueType="num">
                                      <p:cBhvr additive="base">
                                        <p:cTn id="26" dur="500" fill="hold"/>
                                        <p:tgtEl>
                                          <p:spTgt spid="630788"/>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2500"/>
                            </p:stCondLst>
                            <p:childTnLst>
                              <p:par>
                                <p:cTn id="28" presetID="2" presetClass="entr" presetSubtype="8" fill="hold" grpId="0" nodeType="afterEffect">
                                  <p:stCondLst>
                                    <p:cond delay="0"/>
                                  </p:stCondLst>
                                  <p:childTnLst>
                                    <p:set>
                                      <p:cBhvr>
                                        <p:cTn id="29" dur="1" fill="hold">
                                          <p:stCondLst>
                                            <p:cond delay="0"/>
                                          </p:stCondLst>
                                        </p:cTn>
                                        <p:tgtEl>
                                          <p:spTgt spid="630790"/>
                                        </p:tgtEl>
                                        <p:attrNameLst>
                                          <p:attrName>style.visibility</p:attrName>
                                        </p:attrNameLst>
                                      </p:cBhvr>
                                      <p:to>
                                        <p:strVal val="visible"/>
                                      </p:to>
                                    </p:set>
                                    <p:anim calcmode="lin" valueType="num">
                                      <p:cBhvr additive="base">
                                        <p:cTn id="30" dur="500" fill="hold"/>
                                        <p:tgtEl>
                                          <p:spTgt spid="630790"/>
                                        </p:tgtEl>
                                        <p:attrNameLst>
                                          <p:attrName>ppt_x</p:attrName>
                                        </p:attrNameLst>
                                      </p:cBhvr>
                                      <p:tavLst>
                                        <p:tav tm="0">
                                          <p:val>
                                            <p:strVal val="0-#ppt_w/2"/>
                                          </p:val>
                                        </p:tav>
                                        <p:tav tm="100000">
                                          <p:val>
                                            <p:strVal val="#ppt_x"/>
                                          </p:val>
                                        </p:tav>
                                      </p:tavLst>
                                    </p:anim>
                                    <p:anim calcmode="lin" valueType="num">
                                      <p:cBhvr additive="base">
                                        <p:cTn id="31" dur="500" fill="hold"/>
                                        <p:tgtEl>
                                          <p:spTgt spid="630790"/>
                                        </p:tgtEl>
                                        <p:attrNameLst>
                                          <p:attrName>ppt_y</p:attrName>
                                        </p:attrNameLst>
                                      </p:cBhvr>
                                      <p:tavLst>
                                        <p:tav tm="0">
                                          <p:val>
                                            <p:strVal val="#ppt_y"/>
                                          </p:val>
                                        </p:tav>
                                        <p:tav tm="100000">
                                          <p:val>
                                            <p:strVal val="#ppt_y"/>
                                          </p:val>
                                        </p:tav>
                                      </p:tavLst>
                                    </p:anim>
                                  </p:childTnLst>
                                </p:cTn>
                              </p:par>
                            </p:childTnLst>
                          </p:cTn>
                        </p:par>
                        <p:par>
                          <p:cTn id="32" fill="hold" nodeType="afterGroup">
                            <p:stCondLst>
                              <p:cond delay="3000"/>
                            </p:stCondLst>
                            <p:childTnLst>
                              <p:par>
                                <p:cTn id="33" presetID="16" presetClass="entr" presetSubtype="42" fill="hold" grpId="0" nodeType="afterEffect">
                                  <p:stCondLst>
                                    <p:cond delay="0"/>
                                  </p:stCondLst>
                                  <p:childTnLst>
                                    <p:set>
                                      <p:cBhvr>
                                        <p:cTn id="34" dur="1" fill="hold">
                                          <p:stCondLst>
                                            <p:cond delay="0"/>
                                          </p:stCondLst>
                                        </p:cTn>
                                        <p:tgtEl>
                                          <p:spTgt spid="630789"/>
                                        </p:tgtEl>
                                        <p:attrNameLst>
                                          <p:attrName>style.visibility</p:attrName>
                                        </p:attrNameLst>
                                      </p:cBhvr>
                                      <p:to>
                                        <p:strVal val="visible"/>
                                      </p:to>
                                    </p:set>
                                    <p:animEffect transition="in" filter="barn(outHorizontal)">
                                      <p:cBhvr>
                                        <p:cTn id="35" dur="500"/>
                                        <p:tgtEl>
                                          <p:spTgt spid="630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6" grpId="0" autoUpdateAnimBg="0"/>
      <p:bldP spid="630787" grpId="0" animBg="1" autoUpdateAnimBg="0"/>
      <p:bldP spid="630788" grpId="0" animBg="1" autoUpdateAnimBg="0"/>
      <p:bldP spid="630789" grpId="0" animBg="1" autoUpdateAnimBg="0"/>
      <p:bldP spid="630790" grpId="0" animBg="1" autoUpdateAnimBg="0"/>
      <p:bldP spid="630791" grpId="0" animBg="1" autoUpdateAnimBg="0"/>
      <p:bldP spid="630792" grpId="0" animBg="1"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A31E9E68-1C98-4266-AE04-4DAB98F83034}" type="slidenum">
              <a:rPr lang="en-US" altLang="zh-CN" sz="1400" b="0"/>
              <a:pPr eaLnBrk="1" hangingPunct="1"/>
              <a:t>120</a:t>
            </a:fld>
            <a:endParaRPr lang="en-US" altLang="zh-CN" sz="1400" b="0"/>
          </a:p>
        </p:txBody>
      </p:sp>
      <p:sp>
        <p:nvSpPr>
          <p:cNvPr id="631810" name="Rectangle 2" descr="小棋盘"/>
          <p:cNvSpPr>
            <a:spLocks noChangeArrowheads="1"/>
          </p:cNvSpPr>
          <p:nvPr/>
        </p:nvSpPr>
        <p:spPr bwMode="auto">
          <a:xfrm>
            <a:off x="3276600" y="1219200"/>
            <a:ext cx="2286000" cy="595313"/>
          </a:xfrm>
          <a:prstGeom prst="rect">
            <a:avLst/>
          </a:prstGeom>
          <a:pattFill prst="smCheck">
            <a:fgClr>
              <a:srgbClr val="FFFF00"/>
            </a:fgClr>
            <a:bgClr>
              <a:srgbClr val="FFFFFF"/>
            </a:bgClr>
          </a:patt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20000"/>
              </a:spcBef>
            </a:pPr>
            <a:r>
              <a:rPr lang="zh-CN" altLang="en-US" sz="3600">
                <a:solidFill>
                  <a:srgbClr val="FF00FF"/>
                </a:solidFill>
                <a:latin typeface="宋体" panose="02010600030101010101" pitchFamily="2" charset="-122"/>
              </a:rPr>
              <a:t>工作过程</a:t>
            </a:r>
            <a:r>
              <a:rPr lang="zh-CN" altLang="en-US" sz="2800"/>
              <a:t> </a:t>
            </a:r>
          </a:p>
        </p:txBody>
      </p:sp>
      <p:sp>
        <p:nvSpPr>
          <p:cNvPr id="631811" name="Rectangle 3"/>
          <p:cNvSpPr>
            <a:spLocks noChangeArrowheads="1"/>
          </p:cNvSpPr>
          <p:nvPr/>
        </p:nvSpPr>
        <p:spPr bwMode="auto">
          <a:xfrm>
            <a:off x="304800" y="2133600"/>
            <a:ext cx="8458200" cy="40513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indent="4762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en-US" altLang="zh-CN" sz="3600">
                <a:latin typeface="宋体" panose="02010600030101010101" pitchFamily="2" charset="-122"/>
              </a:rPr>
              <a:t>ABU</a:t>
            </a:r>
            <a:r>
              <a:rPr lang="zh-CN" altLang="en-US" sz="3600">
                <a:latin typeface="宋体" panose="02010600030101010101" pitchFamily="2" charset="-122"/>
              </a:rPr>
              <a:t>在完成对缓冲存储器的存取时，</a:t>
            </a:r>
            <a:r>
              <a:rPr lang="zh-CN" altLang="en-US" sz="3600">
                <a:solidFill>
                  <a:schemeClr val="tx2"/>
                </a:solidFill>
                <a:latin typeface="宋体" panose="02010600030101010101" pitchFamily="2" charset="-122"/>
              </a:rPr>
              <a:t>地址寄存器自动增加，直至缓冲区的底部。</a:t>
            </a:r>
            <a:r>
              <a:rPr lang="zh-CN" altLang="en-US" sz="3600">
                <a:latin typeface="宋体" panose="02010600030101010101" pitchFamily="2" charset="-122"/>
              </a:rPr>
              <a:t>到底部后，地址寄存器内容恢复到缓冲存储器区顶部；</a:t>
            </a:r>
            <a:r>
              <a:rPr lang="zh-CN" altLang="en-US" sz="3600">
                <a:solidFill>
                  <a:srgbClr val="CC0000"/>
                </a:solidFill>
                <a:latin typeface="宋体" panose="02010600030101010101" pitchFamily="2" charset="-122"/>
              </a:rPr>
              <a:t>如果数据到了缓冲区的一半或底部，就会产生中断，</a:t>
            </a:r>
            <a:r>
              <a:rPr lang="zh-CN" altLang="en-US" sz="3600">
                <a:latin typeface="宋体" panose="02010600030101010101" pitchFamily="2" charset="-122"/>
              </a:rPr>
              <a:t>并刷新发送禁止位；如果选择禁止自动缓冲功能，当数据过半或到达缓冲区底部时，</a:t>
            </a:r>
            <a:r>
              <a:rPr lang="en-US" altLang="zh-CN" sz="3600">
                <a:latin typeface="宋体" panose="02010600030101010101" pitchFamily="2" charset="-122"/>
              </a:rPr>
              <a:t>ABU</a:t>
            </a:r>
            <a:r>
              <a:rPr lang="zh-CN" altLang="en-US" sz="3600">
                <a:latin typeface="宋体" panose="02010600030101010101" pitchFamily="2" charset="-122"/>
              </a:rPr>
              <a:t>会自动停止缓冲功能。</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31810"/>
                                        </p:tgtEl>
                                        <p:attrNameLst>
                                          <p:attrName>style.visibility</p:attrName>
                                        </p:attrNameLst>
                                      </p:cBhvr>
                                      <p:to>
                                        <p:strVal val="visible"/>
                                      </p:to>
                                    </p:set>
                                    <p:animEffect transition="in" filter="slide(fromBottom)">
                                      <p:cBhvr>
                                        <p:cTn id="7" dur="500"/>
                                        <p:tgtEl>
                                          <p:spTgt spid="631810"/>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31811"/>
                                        </p:tgtEl>
                                        <p:attrNameLst>
                                          <p:attrName>style.visibility</p:attrName>
                                        </p:attrNameLst>
                                      </p:cBhvr>
                                      <p:to>
                                        <p:strVal val="visible"/>
                                      </p:to>
                                    </p:set>
                                    <p:anim calcmode="lin" valueType="num">
                                      <p:cBhvr additive="base">
                                        <p:cTn id="11" dur="500" fill="hold"/>
                                        <p:tgtEl>
                                          <p:spTgt spid="631811"/>
                                        </p:tgtEl>
                                        <p:attrNameLst>
                                          <p:attrName>ppt_x</p:attrName>
                                        </p:attrNameLst>
                                      </p:cBhvr>
                                      <p:tavLst>
                                        <p:tav tm="0">
                                          <p:val>
                                            <p:strVal val="0-#ppt_w/2"/>
                                          </p:val>
                                        </p:tav>
                                        <p:tav tm="100000">
                                          <p:val>
                                            <p:strVal val="#ppt_x"/>
                                          </p:val>
                                        </p:tav>
                                      </p:tavLst>
                                    </p:anim>
                                    <p:anim calcmode="lin" valueType="num">
                                      <p:cBhvr additive="base">
                                        <p:cTn id="12" dur="500" fill="hold"/>
                                        <p:tgtEl>
                                          <p:spTgt spid="6318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1810" grpId="0" animBg="1" autoUpdateAnimBg="0"/>
      <p:bldP spid="631811" grpId="0" animBg="1"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2834" name="Rectangle 2"/>
          <p:cNvSpPr>
            <a:spLocks noGrp="1" noChangeArrowheads="1"/>
          </p:cNvSpPr>
          <p:nvPr>
            <p:ph type="title"/>
          </p:nvPr>
        </p:nvSpPr>
        <p:spPr bwMode="auto">
          <a:xfrm>
            <a:off x="1908175" y="981075"/>
            <a:ext cx="48768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循环寻址原理</a:t>
            </a:r>
            <a:r>
              <a:rPr lang="zh-CN" altLang="en-US" b="1"/>
              <a:t> </a:t>
            </a:r>
          </a:p>
        </p:txBody>
      </p:sp>
      <p:sp>
        <p:nvSpPr>
          <p:cNvPr id="135171" name="Rectangle 3"/>
          <p:cNvSpPr>
            <a:spLocks noGrp="1" noChangeArrowheads="1"/>
          </p:cNvSpPr>
          <p:nvPr>
            <p:ph idx="1"/>
          </p:nvPr>
        </p:nvSpPr>
        <p:spPr bwMode="auto">
          <a:xfrm>
            <a:off x="468313" y="1700213"/>
            <a:ext cx="8305800" cy="4848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88900" indent="387350" eaLnBrk="1" hangingPunct="1">
              <a:lnSpc>
                <a:spcPts val="4000"/>
              </a:lnSpc>
              <a:spcBef>
                <a:spcPts val="2400"/>
              </a:spcBef>
              <a:buFontTx/>
              <a:buNone/>
            </a:pPr>
            <a:r>
              <a:rPr lang="zh-CN" altLang="en-US" sz="2800" b="1" dirty="0">
                <a:solidFill>
                  <a:srgbClr val="CC0000"/>
                </a:solidFill>
                <a:latin typeface="宋体" panose="02010600030101010101" pitchFamily="2" charset="-122"/>
              </a:rPr>
              <a:t>装载</a:t>
            </a:r>
            <a:r>
              <a:rPr lang="en-US" altLang="zh-CN" sz="2800" b="1" dirty="0">
                <a:solidFill>
                  <a:srgbClr val="CC0000"/>
                </a:solidFill>
                <a:latin typeface="宋体" panose="02010600030101010101" pitchFamily="2" charset="-122"/>
              </a:rPr>
              <a:t>BKX/R</a:t>
            </a:r>
            <a:r>
              <a:rPr lang="zh-CN" altLang="en-US" sz="2800" b="1" dirty="0">
                <a:solidFill>
                  <a:srgbClr val="CC0000"/>
                </a:solidFill>
                <a:latin typeface="宋体" panose="02010600030101010101" pitchFamily="2" charset="-122"/>
              </a:rPr>
              <a:t>确定缓冲区长度</a:t>
            </a:r>
            <a:r>
              <a:rPr lang="zh-CN" altLang="en-US" sz="2800" b="1" dirty="0">
                <a:latin typeface="宋体" panose="02010600030101010101" pitchFamily="2" charset="-122"/>
              </a:rPr>
              <a:t>，</a:t>
            </a:r>
            <a:r>
              <a:rPr lang="zh-CN" altLang="en-US" sz="2800" b="1" dirty="0">
                <a:solidFill>
                  <a:schemeClr val="folHlink"/>
                </a:solidFill>
                <a:latin typeface="宋体" panose="02010600030101010101" pitchFamily="2" charset="-122"/>
              </a:rPr>
              <a:t>装载</a:t>
            </a:r>
            <a:r>
              <a:rPr lang="en-US" altLang="zh-CN" sz="2800" b="1" dirty="0">
                <a:solidFill>
                  <a:schemeClr val="folHlink"/>
                </a:solidFill>
                <a:latin typeface="宋体" panose="02010600030101010101" pitchFamily="2" charset="-122"/>
              </a:rPr>
              <a:t>ARX/R</a:t>
            </a:r>
            <a:r>
              <a:rPr lang="zh-CN" altLang="en-US" sz="2800" b="1" dirty="0">
                <a:solidFill>
                  <a:schemeClr val="folHlink"/>
                </a:solidFill>
                <a:latin typeface="宋体" panose="02010600030101010101" pitchFamily="2" charset="-122"/>
              </a:rPr>
              <a:t>给出</a:t>
            </a:r>
            <a:r>
              <a:rPr lang="en-US" altLang="zh-CN" sz="2800" b="1" dirty="0">
                <a:solidFill>
                  <a:schemeClr val="folHlink"/>
                </a:solidFill>
                <a:latin typeface="宋体" panose="02010600030101010101" pitchFamily="2" charset="-122"/>
              </a:rPr>
              <a:t>2K</a:t>
            </a:r>
            <a:r>
              <a:rPr lang="zh-CN" altLang="en-US" sz="2800" b="1" dirty="0">
                <a:solidFill>
                  <a:schemeClr val="folHlink"/>
                </a:solidFill>
                <a:latin typeface="宋体" panose="02010600030101010101" pitchFamily="2" charset="-122"/>
              </a:rPr>
              <a:t>字缓冲区基地址和缓冲区数据起始地址实现初始化。</a:t>
            </a:r>
            <a:r>
              <a:rPr lang="en-US" altLang="zh-CN" sz="2800" b="1" dirty="0">
                <a:latin typeface="宋体" panose="02010600030101010101" pitchFamily="2" charset="-122"/>
              </a:rPr>
              <a:t>BKX/R</a:t>
            </a:r>
            <a:r>
              <a:rPr lang="zh-CN" altLang="en-US" sz="2800" b="1" dirty="0">
                <a:latin typeface="宋体" panose="02010600030101010101" pitchFamily="2" charset="-122"/>
              </a:rPr>
              <a:t>把</a:t>
            </a:r>
            <a:r>
              <a:rPr lang="en-US" altLang="zh-CN" sz="2800" b="1" dirty="0">
                <a:latin typeface="宋体" panose="02010600030101010101" pitchFamily="2" charset="-122"/>
              </a:rPr>
              <a:t>ARX/R</a:t>
            </a:r>
            <a:r>
              <a:rPr lang="zh-CN" altLang="en-US" sz="2800" b="1" dirty="0">
                <a:latin typeface="宋体" panose="02010600030101010101" pitchFamily="2" charset="-122"/>
              </a:rPr>
              <a:t>从高位至低位方向</a:t>
            </a:r>
            <a:r>
              <a:rPr lang="en-US" altLang="zh-CN" sz="2800" b="1" dirty="0">
                <a:latin typeface="宋体" panose="02010600030101010101" pitchFamily="2" charset="-122"/>
              </a:rPr>
              <a:t>,</a:t>
            </a:r>
            <a:r>
              <a:rPr lang="zh-CN" altLang="en-US" sz="2800" b="1" dirty="0">
                <a:latin typeface="宋体" panose="02010600030101010101" pitchFamily="2" charset="-122"/>
              </a:rPr>
              <a:t>第一个</a:t>
            </a:r>
            <a:r>
              <a:rPr lang="en-US" altLang="zh-CN" sz="2800" b="1" dirty="0">
                <a:latin typeface="宋体" panose="02010600030101010101" pitchFamily="2" charset="-122"/>
              </a:rPr>
              <a:t>1</a:t>
            </a:r>
            <a:r>
              <a:rPr lang="zh-CN" altLang="en-US" sz="2800" b="1" dirty="0">
                <a:latin typeface="宋体" panose="02010600030101010101" pitchFamily="2" charset="-122"/>
              </a:rPr>
              <a:t>的位置</a:t>
            </a:r>
            <a:r>
              <a:rPr lang="en-US" altLang="zh-CN" sz="2800" b="1" dirty="0">
                <a:latin typeface="宋体" panose="02010600030101010101" pitchFamily="2" charset="-122"/>
              </a:rPr>
              <a:t>N</a:t>
            </a:r>
            <a:r>
              <a:rPr lang="zh-CN" altLang="en-US" sz="2800" b="1" dirty="0">
                <a:latin typeface="宋体" panose="02010600030101010101" pitchFamily="2" charset="-122"/>
              </a:rPr>
              <a:t>位</a:t>
            </a:r>
            <a:r>
              <a:rPr lang="en-US" altLang="zh-CN" sz="2800" b="1" dirty="0">
                <a:latin typeface="宋体" panose="02010600030101010101" pitchFamily="2" charset="-122"/>
              </a:rPr>
              <a:t>,</a:t>
            </a:r>
            <a:r>
              <a:rPr lang="zh-CN" altLang="en-US" sz="2800" b="1" dirty="0">
                <a:latin typeface="宋体" panose="02010600030101010101" pitchFamily="2" charset="-122"/>
              </a:rPr>
              <a:t>将</a:t>
            </a:r>
            <a:r>
              <a:rPr lang="en-US" altLang="zh-CN" sz="2800" b="1" dirty="0">
                <a:latin typeface="宋体" panose="02010600030101010101" pitchFamily="2" charset="-122"/>
              </a:rPr>
              <a:t>ARX/R</a:t>
            </a:r>
            <a:r>
              <a:rPr lang="zh-CN" altLang="en-US" sz="2800" b="1" dirty="0">
                <a:latin typeface="宋体" panose="02010600030101010101" pitchFamily="2" charset="-122"/>
              </a:rPr>
              <a:t>分为</a:t>
            </a:r>
            <a:r>
              <a:rPr lang="en-US" altLang="zh-CN" sz="2800" b="1" dirty="0">
                <a:latin typeface="宋体" panose="02010600030101010101" pitchFamily="2" charset="-122"/>
              </a:rPr>
              <a:t>ARH</a:t>
            </a:r>
            <a:r>
              <a:rPr lang="zh-CN" altLang="en-US" sz="2800" b="1" dirty="0">
                <a:latin typeface="宋体" panose="02010600030101010101" pitchFamily="2" charset="-122"/>
              </a:rPr>
              <a:t>和</a:t>
            </a:r>
            <a:r>
              <a:rPr lang="en-US" altLang="zh-CN" sz="2800" b="1" dirty="0">
                <a:latin typeface="宋体" panose="02010600030101010101" pitchFamily="2" charset="-122"/>
              </a:rPr>
              <a:t>ARL</a:t>
            </a:r>
            <a:r>
              <a:rPr lang="zh-CN" altLang="en-US" sz="2800" b="1" dirty="0">
                <a:latin typeface="宋体" panose="02010600030101010101" pitchFamily="2" charset="-122"/>
              </a:rPr>
              <a:t>两部分，缓冲区顶部地址（</a:t>
            </a:r>
            <a:r>
              <a:rPr lang="en-US" altLang="zh-CN" sz="2800" b="1" dirty="0">
                <a:latin typeface="宋体" panose="02010600030101010101" pitchFamily="2" charset="-122"/>
              </a:rPr>
              <a:t>TBA</a:t>
            </a:r>
            <a:r>
              <a:rPr lang="zh-CN" altLang="en-US" sz="2800" b="1" dirty="0">
                <a:latin typeface="宋体" panose="02010600030101010101" pitchFamily="2" charset="-122"/>
              </a:rPr>
              <a:t>）由高位为</a:t>
            </a:r>
            <a:r>
              <a:rPr lang="en-US" altLang="zh-CN" sz="2800" b="1" dirty="0">
                <a:latin typeface="宋体" panose="02010600030101010101" pitchFamily="2" charset="-122"/>
              </a:rPr>
              <a:t>ARH</a:t>
            </a:r>
            <a:r>
              <a:rPr lang="zh-CN" altLang="en-US" sz="2800" b="1" dirty="0">
                <a:latin typeface="宋体" panose="02010600030101010101" pitchFamily="2" charset="-122"/>
              </a:rPr>
              <a:t>，低位为</a:t>
            </a:r>
            <a:r>
              <a:rPr lang="en-US" altLang="zh-CN" sz="2800" b="1" dirty="0">
                <a:latin typeface="宋体" panose="02010600030101010101" pitchFamily="2" charset="-122"/>
              </a:rPr>
              <a:t>N+1</a:t>
            </a:r>
            <a:r>
              <a:rPr lang="zh-CN" altLang="en-US" sz="2800" b="1" dirty="0">
                <a:latin typeface="宋体" panose="02010600030101010101" pitchFamily="2" charset="-122"/>
              </a:rPr>
              <a:t>个</a:t>
            </a:r>
            <a:r>
              <a:rPr lang="en-US" altLang="zh-CN" sz="2800" b="1" dirty="0">
                <a:latin typeface="宋体" panose="02010600030101010101" pitchFamily="2" charset="-122"/>
              </a:rPr>
              <a:t>0</a:t>
            </a:r>
            <a:r>
              <a:rPr lang="zh-CN" altLang="en-US" sz="2800" b="1" dirty="0">
                <a:latin typeface="宋体" panose="02010600030101010101" pitchFamily="2" charset="-122"/>
              </a:rPr>
              <a:t>组成的数定义。</a:t>
            </a:r>
            <a:endParaRPr lang="en-US" altLang="zh-CN" sz="2800" b="1" dirty="0">
              <a:latin typeface="宋体" panose="02010600030101010101" pitchFamily="2" charset="-122"/>
            </a:endParaRPr>
          </a:p>
          <a:p>
            <a:pPr marL="88900" indent="387350" eaLnBrk="1" hangingPunct="1">
              <a:lnSpc>
                <a:spcPts val="4000"/>
              </a:lnSpc>
              <a:spcBef>
                <a:spcPts val="2400"/>
              </a:spcBef>
              <a:buFontTx/>
              <a:buNone/>
            </a:pPr>
            <a:r>
              <a:rPr lang="zh-CN" altLang="en-US" sz="2800" b="1" dirty="0">
                <a:latin typeface="宋体" panose="02010600030101010101" pitchFamily="2" charset="-122"/>
              </a:rPr>
              <a:t>缓冲区底部地址（</a:t>
            </a:r>
            <a:r>
              <a:rPr lang="en-US" altLang="zh-CN" sz="2800" b="1" dirty="0">
                <a:latin typeface="宋体" panose="02010600030101010101" pitchFamily="2" charset="-122"/>
              </a:rPr>
              <a:t>BBA</a:t>
            </a:r>
            <a:r>
              <a:rPr lang="zh-CN" altLang="en-US" sz="2800" b="1" dirty="0">
                <a:latin typeface="宋体" panose="02010600030101010101" pitchFamily="2" charset="-122"/>
              </a:rPr>
              <a:t>）由</a:t>
            </a:r>
            <a:r>
              <a:rPr lang="en-US" altLang="zh-CN" sz="2800" b="1" dirty="0">
                <a:latin typeface="宋体" panose="02010600030101010101" pitchFamily="2" charset="-122"/>
              </a:rPr>
              <a:t>ARH</a:t>
            </a:r>
            <a:r>
              <a:rPr lang="zh-CN" altLang="en-US" sz="2800" b="1" dirty="0">
                <a:latin typeface="宋体" panose="02010600030101010101" pitchFamily="2" charset="-122"/>
              </a:rPr>
              <a:t>和</a:t>
            </a:r>
            <a:r>
              <a:rPr lang="en-US" altLang="zh-CN" sz="2800" b="1" dirty="0">
                <a:latin typeface="宋体" panose="02010600030101010101" pitchFamily="2" charset="-122"/>
              </a:rPr>
              <a:t>BKL-1</a:t>
            </a:r>
            <a:r>
              <a:rPr lang="zh-CN" altLang="en-US" sz="2800" b="1" dirty="0">
                <a:latin typeface="宋体" panose="02010600030101010101" pitchFamily="2" charset="-122"/>
              </a:rPr>
              <a:t>决定。而当前数据缓冲区的位置由</a:t>
            </a:r>
            <a:r>
              <a:rPr lang="en-US" altLang="zh-CN" sz="2800" b="1" dirty="0">
                <a:latin typeface="宋体" panose="02010600030101010101" pitchFamily="2" charset="-122"/>
              </a:rPr>
              <a:t>ARX/R</a:t>
            </a:r>
            <a:r>
              <a:rPr lang="zh-CN" altLang="en-US" sz="2800" b="1" dirty="0">
                <a:latin typeface="宋体" panose="02010600030101010101" pitchFamily="2" charset="-122"/>
              </a:rPr>
              <a:t>的内容决定。如图所示。</a:t>
            </a:r>
            <a:r>
              <a:rPr lang="en-US" altLang="zh-CN" sz="2800" b="1" dirty="0">
                <a:latin typeface="宋体" panose="02010600030101010101" pitchFamily="2" charset="-122"/>
              </a:rPr>
              <a:t>ARX/R</a:t>
            </a:r>
            <a:r>
              <a:rPr lang="zh-CN" altLang="en-US" sz="2800" b="1" dirty="0">
                <a:latin typeface="宋体" panose="02010600030101010101" pitchFamily="2" charset="-122"/>
              </a:rPr>
              <a:t>的内容会随着每一次访问继续增加</a:t>
            </a:r>
            <a:r>
              <a:rPr lang="en-US" altLang="zh-CN" sz="2800" b="1" dirty="0">
                <a:latin typeface="宋体" panose="02010600030101010101" pitchFamily="2" charset="-122"/>
              </a:rPr>
              <a:t>,</a:t>
            </a:r>
            <a:r>
              <a:rPr lang="zh-CN" altLang="en-US" sz="2800" b="1" dirty="0">
                <a:latin typeface="宋体" panose="02010600030101010101" pitchFamily="2" charset="-122"/>
              </a:rPr>
              <a:t>直至到下一个允许的缓冲区开始地址。</a:t>
            </a:r>
            <a:endParaRPr lang="zh-CN" altLang="en-US" sz="2800" b="1" dirty="0"/>
          </a:p>
        </p:txBody>
      </p:sp>
      <p:sp>
        <p:nvSpPr>
          <p:cNvPr id="13517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7A9DAADA-1886-43E7-BBEA-90A24A6E7578}" type="slidenum">
              <a:rPr lang="en-US" altLang="zh-CN" sz="1400" b="0"/>
              <a:pPr eaLnBrk="1" hangingPunct="1"/>
              <a:t>121</a:t>
            </a:fld>
            <a:endParaRPr lang="en-US" altLang="zh-CN" sz="1400" b="0"/>
          </a:p>
        </p:txBody>
      </p:sp>
      <p:pic>
        <p:nvPicPr>
          <p:cNvPr id="2" name="图片 1"/>
          <p:cNvPicPr>
            <a:picLocks noChangeAspect="1"/>
          </p:cNvPicPr>
          <p:nvPr/>
        </p:nvPicPr>
        <p:blipFill>
          <a:blip r:embed="rId2"/>
          <a:stretch>
            <a:fillRect/>
          </a:stretch>
        </p:blipFill>
        <p:spPr>
          <a:xfrm>
            <a:off x="1979712" y="4185084"/>
            <a:ext cx="4389500" cy="512108"/>
          </a:xfrm>
          <a:prstGeom prst="rect">
            <a:avLst/>
          </a:prstGeom>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32834"/>
                                        </p:tgtEl>
                                        <p:attrNameLst>
                                          <p:attrName>style.visibility</p:attrName>
                                        </p:attrNameLst>
                                      </p:cBhvr>
                                      <p:to>
                                        <p:strVal val="visible"/>
                                      </p:to>
                                    </p:set>
                                    <p:anim calcmode="lin" valueType="num">
                                      <p:cBhvr additive="base">
                                        <p:cTn id="7" dur="500" fill="hold"/>
                                        <p:tgtEl>
                                          <p:spTgt spid="632834"/>
                                        </p:tgtEl>
                                        <p:attrNameLst>
                                          <p:attrName>ppt_x</p:attrName>
                                        </p:attrNameLst>
                                      </p:cBhvr>
                                      <p:tavLst>
                                        <p:tav tm="0">
                                          <p:val>
                                            <p:strVal val="0-#ppt_w/2"/>
                                          </p:val>
                                        </p:tav>
                                        <p:tav tm="100000">
                                          <p:val>
                                            <p:strVal val="#ppt_x"/>
                                          </p:val>
                                        </p:tav>
                                      </p:tavLst>
                                    </p:anim>
                                    <p:anim calcmode="lin" valueType="num">
                                      <p:cBhvr additive="base">
                                        <p:cTn id="8" dur="500" fill="hold"/>
                                        <p:tgtEl>
                                          <p:spTgt spid="6328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834" grpId="0"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3C454AB7-99B8-4FA8-B107-F1C5D43CA1B4}" type="slidenum">
              <a:rPr lang="en-US" altLang="zh-CN" sz="1400" b="0"/>
              <a:pPr eaLnBrk="1" hangingPunct="1"/>
              <a:t>122</a:t>
            </a:fld>
            <a:endParaRPr lang="en-US" altLang="zh-CN" sz="1400" b="0"/>
          </a:p>
        </p:txBody>
      </p:sp>
      <p:sp>
        <p:nvSpPr>
          <p:cNvPr id="633858" name="Text Box 2"/>
          <p:cNvSpPr txBox="1">
            <a:spLocks noChangeArrowheads="1"/>
          </p:cNvSpPr>
          <p:nvPr/>
        </p:nvSpPr>
        <p:spPr bwMode="auto">
          <a:xfrm>
            <a:off x="3516313" y="5602288"/>
            <a:ext cx="2027237"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zh-CN" altLang="en-US">
                <a:latin typeface="宋体" panose="02010600030101010101" pitchFamily="2" charset="-122"/>
              </a:rPr>
              <a:t>循环寻址示意图 </a:t>
            </a:r>
          </a:p>
        </p:txBody>
      </p:sp>
      <p:sp>
        <p:nvSpPr>
          <p:cNvPr id="136196" name="Text Box 5"/>
          <p:cNvSpPr txBox="1">
            <a:spLocks noChangeArrowheads="1"/>
          </p:cNvSpPr>
          <p:nvPr/>
        </p:nvSpPr>
        <p:spPr bwMode="auto">
          <a:xfrm>
            <a:off x="1295400" y="44196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BKX/R</a:t>
            </a:r>
          </a:p>
        </p:txBody>
      </p:sp>
      <p:sp>
        <p:nvSpPr>
          <p:cNvPr id="136197" name="Text Box 6"/>
          <p:cNvSpPr txBox="1">
            <a:spLocks noChangeArrowheads="1"/>
          </p:cNvSpPr>
          <p:nvPr/>
        </p:nvSpPr>
        <p:spPr bwMode="auto">
          <a:xfrm>
            <a:off x="1295400" y="2514600"/>
            <a:ext cx="106203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ARX/R</a:t>
            </a:r>
          </a:p>
        </p:txBody>
      </p:sp>
      <p:grpSp>
        <p:nvGrpSpPr>
          <p:cNvPr id="136198" name="Group 62"/>
          <p:cNvGrpSpPr>
            <a:grpSpLocks/>
          </p:cNvGrpSpPr>
          <p:nvPr/>
        </p:nvGrpSpPr>
        <p:grpSpPr bwMode="auto">
          <a:xfrm>
            <a:off x="827088" y="2205038"/>
            <a:ext cx="1730375" cy="344487"/>
            <a:chOff x="521" y="1389"/>
            <a:chExt cx="1090" cy="217"/>
          </a:xfrm>
        </p:grpSpPr>
        <p:sp>
          <p:nvSpPr>
            <p:cNvPr id="136230" name="Text Box 7"/>
            <p:cNvSpPr txBox="1">
              <a:spLocks noChangeArrowheads="1"/>
            </p:cNvSpPr>
            <p:nvPr/>
          </p:nvSpPr>
          <p:spPr bwMode="auto">
            <a:xfrm>
              <a:off x="521" y="1389"/>
              <a:ext cx="544" cy="217"/>
            </a:xfrm>
            <a:prstGeom prst="rect">
              <a:avLst/>
            </a:prstGeom>
            <a:solidFill>
              <a:srgbClr val="FF6600"/>
            </a:solidFill>
            <a:ln w="9525">
              <a:solidFill>
                <a:schemeClr val="folHlink"/>
              </a:solidFill>
              <a:miter lim="800000"/>
              <a:headEnd/>
              <a:tailEnd/>
            </a:ln>
          </p:spPr>
          <p:txBody>
            <a:bodyPr lIns="0" tIns="0" rIns="0" bIns="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a:solidFill>
                    <a:schemeClr val="accent1"/>
                  </a:solidFill>
                  <a:latin typeface="宋体" panose="02010600030101010101" pitchFamily="2" charset="-122"/>
                </a:rPr>
                <a:t>ARH</a:t>
              </a:r>
            </a:p>
          </p:txBody>
        </p:sp>
        <p:sp>
          <p:nvSpPr>
            <p:cNvPr id="136231" name="Text Box 8"/>
            <p:cNvSpPr txBox="1">
              <a:spLocks noChangeArrowheads="1"/>
            </p:cNvSpPr>
            <p:nvPr/>
          </p:nvSpPr>
          <p:spPr bwMode="auto">
            <a:xfrm>
              <a:off x="1066" y="1389"/>
              <a:ext cx="545" cy="217"/>
            </a:xfrm>
            <a:prstGeom prst="rect">
              <a:avLst/>
            </a:prstGeom>
            <a:solidFill>
              <a:srgbClr val="FF6600"/>
            </a:solidFill>
            <a:ln w="9525">
              <a:solidFill>
                <a:schemeClr val="folHlink"/>
              </a:solidFill>
              <a:miter lim="800000"/>
              <a:headEnd/>
              <a:tailEnd/>
            </a:ln>
          </p:spPr>
          <p:txBody>
            <a:bodyPr lIns="0" tIns="0" rIns="0" bIns="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a:solidFill>
                    <a:schemeClr val="accent1"/>
                  </a:solidFill>
                  <a:latin typeface="宋体" panose="02010600030101010101" pitchFamily="2" charset="-122"/>
                </a:rPr>
                <a:t>ARL</a:t>
              </a:r>
            </a:p>
          </p:txBody>
        </p:sp>
      </p:grpSp>
      <p:sp>
        <p:nvSpPr>
          <p:cNvPr id="136199" name="Text Box 22"/>
          <p:cNvSpPr txBox="1">
            <a:spLocks noChangeArrowheads="1"/>
          </p:cNvSpPr>
          <p:nvPr/>
        </p:nvSpPr>
        <p:spPr bwMode="auto">
          <a:xfrm>
            <a:off x="2514600" y="4648200"/>
            <a:ext cx="612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BBA</a:t>
            </a:r>
          </a:p>
        </p:txBody>
      </p:sp>
      <p:sp>
        <p:nvSpPr>
          <p:cNvPr id="136200" name="Text Box 23"/>
          <p:cNvSpPr txBox="1">
            <a:spLocks noChangeArrowheads="1"/>
          </p:cNvSpPr>
          <p:nvPr/>
        </p:nvSpPr>
        <p:spPr bwMode="auto">
          <a:xfrm>
            <a:off x="2438400" y="1295400"/>
            <a:ext cx="6064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TBA</a:t>
            </a:r>
          </a:p>
        </p:txBody>
      </p:sp>
      <p:sp>
        <p:nvSpPr>
          <p:cNvPr id="136201" name="Text Box 24"/>
          <p:cNvSpPr txBox="1">
            <a:spLocks noChangeArrowheads="1"/>
          </p:cNvSpPr>
          <p:nvPr/>
        </p:nvSpPr>
        <p:spPr bwMode="auto">
          <a:xfrm>
            <a:off x="2971800" y="2057400"/>
            <a:ext cx="216535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zh-CN" altLang="en-US"/>
              <a:t>缓冲区当前位置 </a:t>
            </a:r>
          </a:p>
        </p:txBody>
      </p:sp>
      <p:grpSp>
        <p:nvGrpSpPr>
          <p:cNvPr id="136202" name="Group 46"/>
          <p:cNvGrpSpPr>
            <a:grpSpLocks/>
          </p:cNvGrpSpPr>
          <p:nvPr/>
        </p:nvGrpSpPr>
        <p:grpSpPr bwMode="auto">
          <a:xfrm>
            <a:off x="5029200" y="1143000"/>
            <a:ext cx="2895600" cy="4130675"/>
            <a:chOff x="3168" y="720"/>
            <a:chExt cx="1824" cy="2602"/>
          </a:xfrm>
        </p:grpSpPr>
        <p:sp>
          <p:nvSpPr>
            <p:cNvPr id="136215" name="Rectangle 47"/>
            <p:cNvSpPr>
              <a:spLocks noChangeArrowheads="1"/>
            </p:cNvSpPr>
            <p:nvPr/>
          </p:nvSpPr>
          <p:spPr bwMode="auto">
            <a:xfrm>
              <a:off x="3936" y="1776"/>
              <a:ext cx="1008" cy="1344"/>
            </a:xfrm>
            <a:prstGeom prst="rect">
              <a:avLst/>
            </a:prstGeom>
            <a:solidFill>
              <a:srgbClr val="CC99FF"/>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6216" name="Rectangle 48"/>
            <p:cNvSpPr>
              <a:spLocks noChangeArrowheads="1"/>
            </p:cNvSpPr>
            <p:nvPr/>
          </p:nvSpPr>
          <p:spPr bwMode="auto">
            <a:xfrm>
              <a:off x="3936" y="720"/>
              <a:ext cx="1008" cy="1056"/>
            </a:xfrm>
            <a:prstGeom prst="rect">
              <a:avLst/>
            </a:prstGeom>
            <a:solidFill>
              <a:srgbClr val="FFCC00"/>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36217" name="Group 49"/>
            <p:cNvGrpSpPr>
              <a:grpSpLocks/>
            </p:cNvGrpSpPr>
            <p:nvPr/>
          </p:nvGrpSpPr>
          <p:grpSpPr bwMode="auto">
            <a:xfrm>
              <a:off x="3926" y="790"/>
              <a:ext cx="1066" cy="2532"/>
              <a:chOff x="6090" y="1590"/>
              <a:chExt cx="1290" cy="2565"/>
            </a:xfrm>
          </p:grpSpPr>
          <p:sp>
            <p:nvSpPr>
              <p:cNvPr id="136225" name="Text Box 50"/>
              <p:cNvSpPr txBox="1">
                <a:spLocks noChangeArrowheads="1"/>
              </p:cNvSpPr>
              <p:nvPr/>
            </p:nvSpPr>
            <p:spPr bwMode="auto">
              <a:xfrm>
                <a:off x="6090" y="2610"/>
                <a:ext cx="1290"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zh-CN" altLang="en-US">
                    <a:solidFill>
                      <a:schemeClr val="accent1"/>
                    </a:solidFill>
                  </a:rPr>
                  <a:t>下半部开始 </a:t>
                </a:r>
              </a:p>
            </p:txBody>
          </p:sp>
          <p:sp>
            <p:nvSpPr>
              <p:cNvPr id="136226" name="Text Box 51"/>
              <p:cNvSpPr txBox="1">
                <a:spLocks noChangeArrowheads="1"/>
              </p:cNvSpPr>
              <p:nvPr/>
            </p:nvSpPr>
            <p:spPr bwMode="auto">
              <a:xfrm>
                <a:off x="6090" y="1590"/>
                <a:ext cx="1290"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zh-CN" altLang="en-US"/>
                  <a:t>缓冲区顶部 </a:t>
                </a:r>
              </a:p>
            </p:txBody>
          </p:sp>
          <p:sp>
            <p:nvSpPr>
              <p:cNvPr id="136227" name="Text Box 52"/>
              <p:cNvSpPr txBox="1">
                <a:spLocks noChangeArrowheads="1"/>
              </p:cNvSpPr>
              <p:nvPr/>
            </p:nvSpPr>
            <p:spPr bwMode="auto">
              <a:xfrm>
                <a:off x="6090" y="2040"/>
                <a:ext cx="1290"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zh-CN" altLang="en-US"/>
                  <a:t>上半部分 </a:t>
                </a:r>
              </a:p>
            </p:txBody>
          </p:sp>
          <p:sp>
            <p:nvSpPr>
              <p:cNvPr id="136228" name="Text Box 53"/>
              <p:cNvSpPr txBox="1">
                <a:spLocks noChangeArrowheads="1"/>
              </p:cNvSpPr>
              <p:nvPr/>
            </p:nvSpPr>
            <p:spPr bwMode="auto">
              <a:xfrm>
                <a:off x="6090" y="3645"/>
                <a:ext cx="1290"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zh-CN" altLang="en-US">
                    <a:solidFill>
                      <a:schemeClr val="accent1"/>
                    </a:solidFill>
                  </a:rPr>
                  <a:t>缓冲区底部</a:t>
                </a:r>
              </a:p>
            </p:txBody>
          </p:sp>
          <p:sp>
            <p:nvSpPr>
              <p:cNvPr id="136229" name="Text Box 54"/>
              <p:cNvSpPr txBox="1">
                <a:spLocks noChangeArrowheads="1"/>
              </p:cNvSpPr>
              <p:nvPr/>
            </p:nvSpPr>
            <p:spPr bwMode="auto">
              <a:xfrm>
                <a:off x="6090" y="3090"/>
                <a:ext cx="1290" cy="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zh-CN" altLang="en-US">
                    <a:solidFill>
                      <a:schemeClr val="accent1"/>
                    </a:solidFill>
                  </a:rPr>
                  <a:t>下半部分 </a:t>
                </a:r>
              </a:p>
            </p:txBody>
          </p:sp>
        </p:grpSp>
        <p:sp>
          <p:nvSpPr>
            <p:cNvPr id="136218" name="Line 55"/>
            <p:cNvSpPr>
              <a:spLocks noChangeShapeType="1"/>
            </p:cNvSpPr>
            <p:nvPr/>
          </p:nvSpPr>
          <p:spPr bwMode="auto">
            <a:xfrm>
              <a:off x="3170" y="968"/>
              <a:ext cx="74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19" name="Line 56"/>
            <p:cNvSpPr>
              <a:spLocks noChangeShapeType="1"/>
            </p:cNvSpPr>
            <p:nvPr/>
          </p:nvSpPr>
          <p:spPr bwMode="auto">
            <a:xfrm>
              <a:off x="3168" y="1392"/>
              <a:ext cx="7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20" name="Line 57"/>
            <p:cNvSpPr>
              <a:spLocks noChangeShapeType="1"/>
            </p:cNvSpPr>
            <p:nvPr/>
          </p:nvSpPr>
          <p:spPr bwMode="auto">
            <a:xfrm>
              <a:off x="3168" y="1920"/>
              <a:ext cx="74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21" name="Line 58"/>
            <p:cNvSpPr>
              <a:spLocks noChangeShapeType="1"/>
            </p:cNvSpPr>
            <p:nvPr/>
          </p:nvSpPr>
          <p:spPr bwMode="auto">
            <a:xfrm>
              <a:off x="3168" y="3024"/>
              <a:ext cx="74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22" name="Line 59"/>
            <p:cNvSpPr>
              <a:spLocks noChangeShapeType="1"/>
            </p:cNvSpPr>
            <p:nvPr/>
          </p:nvSpPr>
          <p:spPr bwMode="auto">
            <a:xfrm>
              <a:off x="3936" y="1056"/>
              <a:ext cx="10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6223" name="Line 60"/>
            <p:cNvSpPr>
              <a:spLocks noChangeShapeType="1"/>
            </p:cNvSpPr>
            <p:nvPr/>
          </p:nvSpPr>
          <p:spPr bwMode="auto">
            <a:xfrm>
              <a:off x="3936" y="2064"/>
              <a:ext cx="10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6224" name="Line 61"/>
            <p:cNvSpPr>
              <a:spLocks noChangeShapeType="1"/>
            </p:cNvSpPr>
            <p:nvPr/>
          </p:nvSpPr>
          <p:spPr bwMode="auto">
            <a:xfrm>
              <a:off x="3936" y="2832"/>
              <a:ext cx="10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6203" name="Group 63"/>
          <p:cNvGrpSpPr>
            <a:grpSpLocks/>
          </p:cNvGrpSpPr>
          <p:nvPr/>
        </p:nvGrpSpPr>
        <p:grpSpPr bwMode="auto">
          <a:xfrm>
            <a:off x="3059113" y="1341438"/>
            <a:ext cx="1730375" cy="344487"/>
            <a:chOff x="521" y="1389"/>
            <a:chExt cx="1090" cy="217"/>
          </a:xfrm>
        </p:grpSpPr>
        <p:sp>
          <p:nvSpPr>
            <p:cNvPr id="136213" name="Text Box 64"/>
            <p:cNvSpPr txBox="1">
              <a:spLocks noChangeArrowheads="1"/>
            </p:cNvSpPr>
            <p:nvPr/>
          </p:nvSpPr>
          <p:spPr bwMode="auto">
            <a:xfrm>
              <a:off x="521" y="1389"/>
              <a:ext cx="544" cy="217"/>
            </a:xfrm>
            <a:prstGeom prst="rect">
              <a:avLst/>
            </a:prstGeom>
            <a:solidFill>
              <a:srgbClr val="FF6600"/>
            </a:solidFill>
            <a:ln w="9525">
              <a:solidFill>
                <a:schemeClr val="folHlink"/>
              </a:solidFill>
              <a:miter lim="800000"/>
              <a:headEnd/>
              <a:tailEnd/>
            </a:ln>
          </p:spPr>
          <p:txBody>
            <a:bodyPr lIns="0" tIns="0" rIns="0" bIns="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a:solidFill>
                    <a:schemeClr val="accent1"/>
                  </a:solidFill>
                  <a:latin typeface="宋体" panose="02010600030101010101" pitchFamily="2" charset="-122"/>
                </a:rPr>
                <a:t>ARH</a:t>
              </a:r>
            </a:p>
          </p:txBody>
        </p:sp>
        <p:sp>
          <p:nvSpPr>
            <p:cNvPr id="136214" name="Text Box 65"/>
            <p:cNvSpPr txBox="1">
              <a:spLocks noChangeArrowheads="1"/>
            </p:cNvSpPr>
            <p:nvPr/>
          </p:nvSpPr>
          <p:spPr bwMode="auto">
            <a:xfrm>
              <a:off x="1066" y="1389"/>
              <a:ext cx="545" cy="217"/>
            </a:xfrm>
            <a:prstGeom prst="rect">
              <a:avLst/>
            </a:prstGeom>
            <a:solidFill>
              <a:srgbClr val="FF6600"/>
            </a:solidFill>
            <a:ln w="9525">
              <a:solidFill>
                <a:schemeClr val="folHlink"/>
              </a:solidFill>
              <a:miter lim="800000"/>
              <a:headEnd/>
              <a:tailEnd/>
            </a:ln>
          </p:spPr>
          <p:txBody>
            <a:bodyPr lIns="0" tIns="0" rIns="0" bIns="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a:solidFill>
                    <a:schemeClr val="accent1"/>
                  </a:solidFill>
                  <a:latin typeface="宋体" panose="02010600030101010101" pitchFamily="2" charset="-122"/>
                </a:rPr>
                <a:t>0</a:t>
              </a:r>
              <a:r>
                <a:rPr kumimoji="0" lang="en-US" altLang="zh-CN">
                  <a:solidFill>
                    <a:schemeClr val="accent1"/>
                  </a:solidFill>
                </a:rPr>
                <a:t>…</a:t>
              </a:r>
              <a:r>
                <a:rPr kumimoji="0" lang="en-US" altLang="zh-CN">
                  <a:solidFill>
                    <a:schemeClr val="accent1"/>
                  </a:solidFill>
                  <a:latin typeface="宋体" panose="02010600030101010101" pitchFamily="2" charset="-122"/>
                </a:rPr>
                <a:t>0</a:t>
              </a:r>
            </a:p>
          </p:txBody>
        </p:sp>
      </p:grpSp>
      <p:grpSp>
        <p:nvGrpSpPr>
          <p:cNvPr id="136204" name="Group 66"/>
          <p:cNvGrpSpPr>
            <a:grpSpLocks/>
          </p:cNvGrpSpPr>
          <p:nvPr/>
        </p:nvGrpSpPr>
        <p:grpSpPr bwMode="auto">
          <a:xfrm>
            <a:off x="3059113" y="2852738"/>
            <a:ext cx="1730375" cy="344487"/>
            <a:chOff x="521" y="1389"/>
            <a:chExt cx="1090" cy="217"/>
          </a:xfrm>
        </p:grpSpPr>
        <p:sp>
          <p:nvSpPr>
            <p:cNvPr id="136211" name="Text Box 67"/>
            <p:cNvSpPr txBox="1">
              <a:spLocks noChangeArrowheads="1"/>
            </p:cNvSpPr>
            <p:nvPr/>
          </p:nvSpPr>
          <p:spPr bwMode="auto">
            <a:xfrm>
              <a:off x="521" y="1389"/>
              <a:ext cx="544" cy="217"/>
            </a:xfrm>
            <a:prstGeom prst="rect">
              <a:avLst/>
            </a:prstGeom>
            <a:solidFill>
              <a:srgbClr val="FF6600"/>
            </a:solidFill>
            <a:ln w="9525">
              <a:solidFill>
                <a:schemeClr val="folHlink"/>
              </a:solidFill>
              <a:miter lim="800000"/>
              <a:headEnd/>
              <a:tailEnd/>
            </a:ln>
          </p:spPr>
          <p:txBody>
            <a:bodyPr lIns="0" tIns="0" rIns="0" bIns="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a:solidFill>
                    <a:schemeClr val="accent1"/>
                  </a:solidFill>
                  <a:latin typeface="宋体" panose="02010600030101010101" pitchFamily="2" charset="-122"/>
                </a:rPr>
                <a:t>ARH</a:t>
              </a:r>
            </a:p>
          </p:txBody>
        </p:sp>
        <p:sp>
          <p:nvSpPr>
            <p:cNvPr id="136212" name="Text Box 68"/>
            <p:cNvSpPr txBox="1">
              <a:spLocks noChangeArrowheads="1"/>
            </p:cNvSpPr>
            <p:nvPr/>
          </p:nvSpPr>
          <p:spPr bwMode="auto">
            <a:xfrm>
              <a:off x="1066" y="1389"/>
              <a:ext cx="545" cy="217"/>
            </a:xfrm>
            <a:prstGeom prst="rect">
              <a:avLst/>
            </a:prstGeom>
            <a:solidFill>
              <a:schemeClr val="tx2"/>
            </a:solidFill>
            <a:ln w="9525">
              <a:solidFill>
                <a:schemeClr val="folHlink"/>
              </a:solidFill>
              <a:miter lim="800000"/>
              <a:headEnd/>
              <a:tailEnd/>
            </a:ln>
          </p:spPr>
          <p:txBody>
            <a:bodyPr lIns="0" tIns="0" rIns="0" bIns="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a:solidFill>
                    <a:schemeClr val="bg1"/>
                  </a:solidFill>
                  <a:latin typeface="宋体" panose="02010600030101010101" pitchFamily="2" charset="-122"/>
                </a:rPr>
                <a:t>BKL》1</a:t>
              </a:r>
            </a:p>
          </p:txBody>
        </p:sp>
      </p:grpSp>
      <p:grpSp>
        <p:nvGrpSpPr>
          <p:cNvPr id="136205" name="Group 69"/>
          <p:cNvGrpSpPr>
            <a:grpSpLocks/>
          </p:cNvGrpSpPr>
          <p:nvPr/>
        </p:nvGrpSpPr>
        <p:grpSpPr bwMode="auto">
          <a:xfrm>
            <a:off x="3132138" y="4652963"/>
            <a:ext cx="1730375" cy="344487"/>
            <a:chOff x="521" y="1389"/>
            <a:chExt cx="1090" cy="217"/>
          </a:xfrm>
        </p:grpSpPr>
        <p:sp>
          <p:nvSpPr>
            <p:cNvPr id="136209" name="Text Box 70"/>
            <p:cNvSpPr txBox="1">
              <a:spLocks noChangeArrowheads="1"/>
            </p:cNvSpPr>
            <p:nvPr/>
          </p:nvSpPr>
          <p:spPr bwMode="auto">
            <a:xfrm>
              <a:off x="521" y="1389"/>
              <a:ext cx="544" cy="217"/>
            </a:xfrm>
            <a:prstGeom prst="rect">
              <a:avLst/>
            </a:prstGeom>
            <a:solidFill>
              <a:srgbClr val="FF6600"/>
            </a:solidFill>
            <a:ln w="9525">
              <a:solidFill>
                <a:schemeClr val="folHlink"/>
              </a:solidFill>
              <a:miter lim="800000"/>
              <a:headEnd/>
              <a:tailEnd/>
            </a:ln>
          </p:spPr>
          <p:txBody>
            <a:bodyPr lIns="0" tIns="0" rIns="0" bIns="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a:solidFill>
                    <a:schemeClr val="accent1"/>
                  </a:solidFill>
                  <a:latin typeface="宋体" panose="02010600030101010101" pitchFamily="2" charset="-122"/>
                </a:rPr>
                <a:t>ARH</a:t>
              </a:r>
            </a:p>
          </p:txBody>
        </p:sp>
        <p:sp>
          <p:nvSpPr>
            <p:cNvPr id="136210" name="Text Box 71"/>
            <p:cNvSpPr txBox="1">
              <a:spLocks noChangeArrowheads="1"/>
            </p:cNvSpPr>
            <p:nvPr/>
          </p:nvSpPr>
          <p:spPr bwMode="auto">
            <a:xfrm>
              <a:off x="1066" y="1389"/>
              <a:ext cx="545" cy="217"/>
            </a:xfrm>
            <a:prstGeom prst="rect">
              <a:avLst/>
            </a:prstGeom>
            <a:solidFill>
              <a:schemeClr val="tx2"/>
            </a:solidFill>
            <a:ln w="9525">
              <a:solidFill>
                <a:schemeClr val="folHlink"/>
              </a:solidFill>
              <a:miter lim="800000"/>
              <a:headEnd/>
              <a:tailEnd/>
            </a:ln>
          </p:spPr>
          <p:txBody>
            <a:bodyPr lIns="0" tIns="0" rIns="0" bIns="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a:solidFill>
                    <a:schemeClr val="bg1"/>
                  </a:solidFill>
                  <a:latin typeface="宋体" panose="02010600030101010101" pitchFamily="2" charset="-122"/>
                </a:rPr>
                <a:t>BKL</a:t>
              </a:r>
            </a:p>
          </p:txBody>
        </p:sp>
      </p:grpSp>
      <p:grpSp>
        <p:nvGrpSpPr>
          <p:cNvPr id="136206" name="Group 72"/>
          <p:cNvGrpSpPr>
            <a:grpSpLocks/>
          </p:cNvGrpSpPr>
          <p:nvPr/>
        </p:nvGrpSpPr>
        <p:grpSpPr bwMode="auto">
          <a:xfrm>
            <a:off x="811213" y="3716338"/>
            <a:ext cx="1730375" cy="344487"/>
            <a:chOff x="521" y="1389"/>
            <a:chExt cx="1090" cy="217"/>
          </a:xfrm>
        </p:grpSpPr>
        <p:sp>
          <p:nvSpPr>
            <p:cNvPr id="136207" name="Text Box 73"/>
            <p:cNvSpPr txBox="1">
              <a:spLocks noChangeArrowheads="1"/>
            </p:cNvSpPr>
            <p:nvPr/>
          </p:nvSpPr>
          <p:spPr bwMode="auto">
            <a:xfrm>
              <a:off x="521" y="1389"/>
              <a:ext cx="544" cy="217"/>
            </a:xfrm>
            <a:prstGeom prst="rect">
              <a:avLst/>
            </a:prstGeom>
            <a:solidFill>
              <a:schemeClr val="tx2"/>
            </a:solidFill>
            <a:ln w="9525">
              <a:solidFill>
                <a:schemeClr val="bg2"/>
              </a:solidFill>
              <a:miter lim="800000"/>
              <a:headEnd/>
              <a:tailEnd/>
            </a:ln>
          </p:spPr>
          <p:txBody>
            <a:bodyPr lIns="0" tIns="0" rIns="0" bIns="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a:solidFill>
                    <a:schemeClr val="bg1"/>
                  </a:solidFill>
                  <a:latin typeface="宋体" panose="02010600030101010101" pitchFamily="2" charset="-122"/>
                </a:rPr>
                <a:t>0</a:t>
              </a:r>
              <a:r>
                <a:rPr kumimoji="0" lang="en-US" altLang="zh-CN">
                  <a:solidFill>
                    <a:schemeClr val="bg1"/>
                  </a:solidFill>
                </a:rPr>
                <a:t>…</a:t>
              </a:r>
              <a:r>
                <a:rPr kumimoji="0" lang="en-US" altLang="zh-CN">
                  <a:solidFill>
                    <a:schemeClr val="bg1"/>
                  </a:solidFill>
                  <a:latin typeface="宋体" panose="02010600030101010101" pitchFamily="2" charset="-122"/>
                </a:rPr>
                <a:t>0</a:t>
              </a:r>
            </a:p>
          </p:txBody>
        </p:sp>
        <p:sp>
          <p:nvSpPr>
            <p:cNvPr id="136208" name="Text Box 74"/>
            <p:cNvSpPr txBox="1">
              <a:spLocks noChangeArrowheads="1"/>
            </p:cNvSpPr>
            <p:nvPr/>
          </p:nvSpPr>
          <p:spPr bwMode="auto">
            <a:xfrm>
              <a:off x="1066" y="1389"/>
              <a:ext cx="545" cy="217"/>
            </a:xfrm>
            <a:prstGeom prst="rect">
              <a:avLst/>
            </a:prstGeom>
            <a:solidFill>
              <a:schemeClr val="tx2"/>
            </a:solidFill>
            <a:ln w="9525">
              <a:solidFill>
                <a:schemeClr val="bg2"/>
              </a:solidFill>
              <a:miter lim="800000"/>
              <a:headEnd/>
              <a:tailEnd/>
            </a:ln>
          </p:spPr>
          <p:txBody>
            <a:bodyPr lIns="0" tIns="0" rIns="0" bIns="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a:solidFill>
                    <a:schemeClr val="bg1"/>
                  </a:solidFill>
                  <a:latin typeface="宋体" panose="02010600030101010101" pitchFamily="2" charset="-122"/>
                </a:rPr>
                <a:t>1</a:t>
              </a:r>
              <a:r>
                <a:rPr kumimoji="0" lang="en-US" altLang="zh-CN">
                  <a:solidFill>
                    <a:schemeClr val="bg1"/>
                  </a:solidFill>
                </a:rPr>
                <a:t>…</a:t>
              </a:r>
              <a:endParaRPr kumimoji="0" lang="en-US" altLang="zh-CN">
                <a:solidFill>
                  <a:schemeClr val="bg1"/>
                </a:solidFill>
                <a:latin typeface="宋体" panose="02010600030101010101" pitchFamily="2" charset="-122"/>
              </a:endParaRPr>
            </a:p>
          </p:txBody>
        </p:sp>
      </p:grpSp>
      <p:sp>
        <p:nvSpPr>
          <p:cNvPr id="40" name="灯片编号占位符 3"/>
          <p:cNvSpPr txBox="1">
            <a:spLocks/>
          </p:cNvSpPr>
          <p:nvPr/>
        </p:nvSpPr>
        <p:spPr bwMode="auto">
          <a:xfrm>
            <a:off x="1335927" y="6098834"/>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0"/>
              </a:spcBef>
              <a:spcAft>
                <a:spcPct val="0"/>
              </a:spcAft>
              <a:defRPr kumimoji="1" sz="2000" b="1" kern="1200">
                <a:solidFill>
                  <a:schemeClr val="tx1"/>
                </a:solidFill>
                <a:latin typeface="Times New Roman" panose="02020603050405020304" pitchFamily="18" charset="0"/>
                <a:ea typeface="宋体" panose="02010600030101010101" pitchFamily="2" charset="-122"/>
                <a:cs typeface="+mn-cs"/>
              </a:defRPr>
            </a:lvl9pPr>
          </a:lstStyle>
          <a:p>
            <a:pPr eaLnBrk="1" hangingPunct="1"/>
            <a:fld id="{E891617C-6DEF-434E-A81F-184CFE46AB42}" type="slidenum">
              <a:rPr lang="en-US" altLang="zh-CN" sz="1400" b="0" smtClean="0"/>
              <a:pPr eaLnBrk="1" hangingPunct="1"/>
              <a:t>122</a:t>
            </a:fld>
            <a:endParaRPr lang="en-US" altLang="zh-CN" sz="1400" b="0" dirty="0"/>
          </a:p>
        </p:txBody>
      </p:sp>
      <p:sp>
        <p:nvSpPr>
          <p:cNvPr id="41" name="矩形 40"/>
          <p:cNvSpPr/>
          <p:nvPr/>
        </p:nvSpPr>
        <p:spPr>
          <a:xfrm>
            <a:off x="137272" y="5151642"/>
            <a:ext cx="574196" cy="400110"/>
          </a:xfrm>
          <a:prstGeom prst="rect">
            <a:avLst/>
          </a:prstGeom>
        </p:spPr>
        <p:txBody>
          <a:bodyPr wrap="none">
            <a:spAutoFit/>
          </a:bodyPr>
          <a:lstStyle/>
          <a:p>
            <a:r>
              <a:rPr lang="en-US" altLang="zh-CN" dirty="0">
                <a:solidFill>
                  <a:srgbClr val="FF0000"/>
                </a:solidFill>
                <a:latin typeface="宋体" panose="02010600030101010101" pitchFamily="2" charset="-122"/>
              </a:rPr>
              <a:t>R=5</a:t>
            </a:r>
            <a:endParaRPr lang="zh-CN" altLang="en-US" dirty="0"/>
          </a:p>
        </p:txBody>
      </p:sp>
      <p:sp>
        <p:nvSpPr>
          <p:cNvPr id="42" name="矩形 41"/>
          <p:cNvSpPr/>
          <p:nvPr/>
        </p:nvSpPr>
        <p:spPr>
          <a:xfrm>
            <a:off x="137272" y="5464170"/>
            <a:ext cx="574196" cy="400110"/>
          </a:xfrm>
          <a:prstGeom prst="rect">
            <a:avLst/>
          </a:prstGeom>
        </p:spPr>
        <p:txBody>
          <a:bodyPr wrap="none">
            <a:spAutoFit/>
          </a:bodyPr>
          <a:lstStyle/>
          <a:p>
            <a:r>
              <a:rPr lang="en-US" altLang="zh-CN" dirty="0">
                <a:solidFill>
                  <a:schemeClr val="tx2"/>
                </a:solidFill>
                <a:latin typeface="宋体" panose="02010600030101010101" pitchFamily="2" charset="-122"/>
              </a:rPr>
              <a:t>N=3</a:t>
            </a:r>
            <a:endParaRPr lang="zh-CN" altLang="en-US" dirty="0"/>
          </a:p>
        </p:txBody>
      </p:sp>
      <p:sp>
        <p:nvSpPr>
          <p:cNvPr id="43" name="矩形 42"/>
          <p:cNvSpPr/>
          <p:nvPr/>
        </p:nvSpPr>
        <p:spPr>
          <a:xfrm>
            <a:off x="791581" y="5412923"/>
            <a:ext cx="2781531" cy="400110"/>
          </a:xfrm>
          <a:prstGeom prst="rect">
            <a:avLst/>
          </a:prstGeom>
        </p:spPr>
        <p:txBody>
          <a:bodyPr wrap="none">
            <a:spAutoFit/>
          </a:bodyPr>
          <a:lstStyle/>
          <a:p>
            <a:r>
              <a:rPr lang="en-US" altLang="zh-CN" dirty="0">
                <a:solidFill>
                  <a:srgbClr val="FF00FF"/>
                </a:solidFill>
                <a:latin typeface="宋体" panose="02010600030101010101" pitchFamily="2" charset="-122"/>
              </a:rPr>
              <a:t>AXR=XXXXXXXXXXXX1000</a:t>
            </a:r>
            <a:endParaRPr lang="zh-CN" altLang="en-US" dirty="0">
              <a:solidFill>
                <a:srgbClr val="FF00FF"/>
              </a:solidFill>
            </a:endParaRPr>
          </a:p>
        </p:txBody>
      </p:sp>
      <p:sp>
        <p:nvSpPr>
          <p:cNvPr id="44" name="矩形 43"/>
          <p:cNvSpPr/>
          <p:nvPr/>
        </p:nvSpPr>
        <p:spPr>
          <a:xfrm>
            <a:off x="136845" y="5786306"/>
            <a:ext cx="574196" cy="400110"/>
          </a:xfrm>
          <a:prstGeom prst="rect">
            <a:avLst/>
          </a:prstGeom>
        </p:spPr>
        <p:txBody>
          <a:bodyPr wrap="none">
            <a:spAutoFit/>
          </a:bodyPr>
          <a:lstStyle/>
          <a:p>
            <a:r>
              <a:rPr lang="en-US" altLang="zh-CN" dirty="0">
                <a:solidFill>
                  <a:srgbClr val="FF0000"/>
                </a:solidFill>
                <a:latin typeface="宋体" panose="02010600030101010101" pitchFamily="2" charset="-122"/>
              </a:rPr>
              <a:t>R=8</a:t>
            </a:r>
            <a:endParaRPr lang="zh-CN" altLang="en-US" dirty="0"/>
          </a:p>
        </p:txBody>
      </p:sp>
      <p:sp>
        <p:nvSpPr>
          <p:cNvPr id="45" name="矩形 44"/>
          <p:cNvSpPr/>
          <p:nvPr/>
        </p:nvSpPr>
        <p:spPr>
          <a:xfrm>
            <a:off x="120691" y="6127379"/>
            <a:ext cx="574196" cy="400110"/>
          </a:xfrm>
          <a:prstGeom prst="rect">
            <a:avLst/>
          </a:prstGeom>
        </p:spPr>
        <p:txBody>
          <a:bodyPr wrap="none">
            <a:spAutoFit/>
          </a:bodyPr>
          <a:lstStyle/>
          <a:p>
            <a:r>
              <a:rPr lang="en-US" altLang="zh-CN" dirty="0">
                <a:solidFill>
                  <a:schemeClr val="tx2"/>
                </a:solidFill>
                <a:latin typeface="宋体" panose="02010600030101010101" pitchFamily="2" charset="-122"/>
              </a:rPr>
              <a:t>N=4</a:t>
            </a:r>
            <a:endParaRPr lang="zh-CN" altLang="en-US" dirty="0"/>
          </a:p>
        </p:txBody>
      </p:sp>
      <p:sp>
        <p:nvSpPr>
          <p:cNvPr id="46" name="矩形 45"/>
          <p:cNvSpPr/>
          <p:nvPr/>
        </p:nvSpPr>
        <p:spPr>
          <a:xfrm>
            <a:off x="791582" y="5864280"/>
            <a:ext cx="2781531" cy="400110"/>
          </a:xfrm>
          <a:prstGeom prst="rect">
            <a:avLst/>
          </a:prstGeom>
        </p:spPr>
        <p:txBody>
          <a:bodyPr wrap="none">
            <a:spAutoFit/>
          </a:bodyPr>
          <a:lstStyle/>
          <a:p>
            <a:r>
              <a:rPr lang="en-US" altLang="zh-CN" dirty="0">
                <a:solidFill>
                  <a:srgbClr val="FF00FF"/>
                </a:solidFill>
                <a:latin typeface="宋体" panose="02010600030101010101" pitchFamily="2" charset="-122"/>
              </a:rPr>
              <a:t>BKR=0000000000001000</a:t>
            </a:r>
            <a:endParaRPr lang="zh-CN" altLang="en-US" dirty="0">
              <a:solidFill>
                <a:srgbClr val="FF00FF"/>
              </a:solidFill>
            </a:endParaRPr>
          </a:p>
        </p:txBody>
      </p:sp>
      <p:sp>
        <p:nvSpPr>
          <p:cNvPr id="47" name="矩形 46"/>
          <p:cNvSpPr/>
          <p:nvPr/>
        </p:nvSpPr>
        <p:spPr>
          <a:xfrm>
            <a:off x="791580" y="5121215"/>
            <a:ext cx="2781531" cy="400110"/>
          </a:xfrm>
          <a:prstGeom prst="rect">
            <a:avLst/>
          </a:prstGeom>
        </p:spPr>
        <p:txBody>
          <a:bodyPr wrap="none">
            <a:spAutoFit/>
          </a:bodyPr>
          <a:lstStyle/>
          <a:p>
            <a:r>
              <a:rPr lang="en-US" altLang="zh-CN" dirty="0">
                <a:solidFill>
                  <a:srgbClr val="FF00FF"/>
                </a:solidFill>
                <a:latin typeface="宋体" panose="02010600030101010101" pitchFamily="2" charset="-122"/>
              </a:rPr>
              <a:t>BKX=0000000000000101</a:t>
            </a:r>
            <a:endParaRPr lang="zh-CN" altLang="en-US" dirty="0">
              <a:solidFill>
                <a:srgbClr val="FF00FF"/>
              </a:solidFill>
            </a:endParaRPr>
          </a:p>
        </p:txBody>
      </p:sp>
      <p:sp>
        <p:nvSpPr>
          <p:cNvPr id="48" name="矩形 47"/>
          <p:cNvSpPr/>
          <p:nvPr/>
        </p:nvSpPr>
        <p:spPr>
          <a:xfrm>
            <a:off x="775001" y="6249945"/>
            <a:ext cx="2781531" cy="400110"/>
          </a:xfrm>
          <a:prstGeom prst="rect">
            <a:avLst/>
          </a:prstGeom>
        </p:spPr>
        <p:txBody>
          <a:bodyPr wrap="none">
            <a:spAutoFit/>
          </a:bodyPr>
          <a:lstStyle/>
          <a:p>
            <a:r>
              <a:rPr lang="en-US" altLang="zh-CN" dirty="0">
                <a:solidFill>
                  <a:srgbClr val="FF00FF"/>
                </a:solidFill>
                <a:latin typeface="宋体" panose="02010600030101010101" pitchFamily="2" charset="-122"/>
              </a:rPr>
              <a:t>ARR=XXXXXXXXXXX10000</a:t>
            </a:r>
            <a:endParaRPr lang="zh-CN" altLang="en-US" dirty="0">
              <a:solidFill>
                <a:srgbClr val="FF00FF"/>
              </a:solidFill>
            </a:endParaRPr>
          </a:p>
        </p:txBody>
      </p:sp>
      <p:sp>
        <p:nvSpPr>
          <p:cNvPr id="2" name="矩形 1"/>
          <p:cNvSpPr/>
          <p:nvPr/>
        </p:nvSpPr>
        <p:spPr>
          <a:xfrm>
            <a:off x="6553200" y="5593707"/>
            <a:ext cx="880369" cy="400110"/>
          </a:xfrm>
          <a:prstGeom prst="rect">
            <a:avLst/>
          </a:prstGeom>
          <a:ln>
            <a:solidFill>
              <a:schemeClr val="accent1"/>
            </a:solidFill>
          </a:ln>
        </p:spPr>
        <p:txBody>
          <a:bodyPr wrap="none">
            <a:spAutoFit/>
          </a:bodyPr>
          <a:lstStyle/>
          <a:p>
            <a:r>
              <a:rPr lang="en-US" altLang="zh-CN" dirty="0">
                <a:solidFill>
                  <a:srgbClr val="FF0000"/>
                </a:solidFill>
              </a:rPr>
              <a:t>2</a:t>
            </a:r>
            <a:r>
              <a:rPr lang="en-US" altLang="zh-CN" baseline="30000" dirty="0">
                <a:solidFill>
                  <a:srgbClr val="FF0000"/>
                </a:solidFill>
              </a:rPr>
              <a:t>N</a:t>
            </a:r>
            <a:r>
              <a:rPr lang="zh-CN" altLang="en-US" dirty="0">
                <a:solidFill>
                  <a:srgbClr val="FF0000"/>
                </a:solidFill>
              </a:rPr>
              <a:t>＞</a:t>
            </a:r>
            <a:r>
              <a:rPr lang="en-US" altLang="zh-CN" dirty="0">
                <a:solidFill>
                  <a:srgbClr val="FF0000"/>
                </a:solidFill>
              </a:rPr>
              <a:t>R</a:t>
            </a:r>
            <a:endParaRPr lang="zh-CN" altLang="en-US" dirty="0">
              <a:solidFill>
                <a:srgbClr val="FF0000"/>
              </a:solidFill>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33858"/>
                                        </p:tgtEl>
                                        <p:attrNameLst>
                                          <p:attrName>style.visibility</p:attrName>
                                        </p:attrNameLst>
                                      </p:cBhvr>
                                      <p:to>
                                        <p:strVal val="visible"/>
                                      </p:to>
                                    </p:set>
                                    <p:anim calcmode="lin" valueType="num">
                                      <p:cBhvr additive="base">
                                        <p:cTn id="7" dur="500" fill="hold"/>
                                        <p:tgtEl>
                                          <p:spTgt spid="633858"/>
                                        </p:tgtEl>
                                        <p:attrNameLst>
                                          <p:attrName>ppt_x</p:attrName>
                                        </p:attrNameLst>
                                      </p:cBhvr>
                                      <p:tavLst>
                                        <p:tav tm="0">
                                          <p:val>
                                            <p:strVal val="#ppt_x"/>
                                          </p:val>
                                        </p:tav>
                                        <p:tav tm="100000">
                                          <p:val>
                                            <p:strVal val="#ppt_x"/>
                                          </p:val>
                                        </p:tav>
                                      </p:tavLst>
                                    </p:anim>
                                    <p:anim calcmode="lin" valueType="num">
                                      <p:cBhvr additive="base">
                                        <p:cTn id="8" dur="500" fill="hold"/>
                                        <p:tgtEl>
                                          <p:spTgt spid="6338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8" grpId="0"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891617C-6DEF-434E-A81F-184CFE46AB42}" type="slidenum">
              <a:rPr lang="en-US" altLang="zh-CN" sz="1400" b="0"/>
              <a:pPr eaLnBrk="1" hangingPunct="1"/>
              <a:t>123</a:t>
            </a:fld>
            <a:endParaRPr lang="en-US" altLang="zh-CN" sz="1400" b="0" dirty="0"/>
          </a:p>
        </p:txBody>
      </p:sp>
      <p:sp>
        <p:nvSpPr>
          <p:cNvPr id="137219" name="Rectangle 2"/>
          <p:cNvSpPr>
            <a:spLocks noChangeArrowheads="1"/>
          </p:cNvSpPr>
          <p:nvPr/>
        </p:nvSpPr>
        <p:spPr bwMode="auto">
          <a:xfrm>
            <a:off x="107504" y="1016732"/>
            <a:ext cx="87630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dirty="0">
                <a:latin typeface="宋体" panose="02010600030101010101" pitchFamily="2" charset="-122"/>
              </a:rPr>
              <a:t>举例：设计一个长度为</a:t>
            </a:r>
            <a:r>
              <a:rPr lang="en-US" altLang="zh-CN" sz="2800" dirty="0">
                <a:latin typeface="宋体" panose="02010600030101010101" pitchFamily="2" charset="-122"/>
              </a:rPr>
              <a:t>5(BKX=5)</a:t>
            </a:r>
            <a:r>
              <a:rPr lang="zh-CN" altLang="en-US" sz="2800" dirty="0">
                <a:latin typeface="宋体" panose="02010600030101010101" pitchFamily="2" charset="-122"/>
              </a:rPr>
              <a:t>的发送缓冲区，长度为</a:t>
            </a:r>
            <a:r>
              <a:rPr lang="en-US" altLang="zh-CN" sz="2800" dirty="0">
                <a:latin typeface="宋体" panose="02010600030101010101" pitchFamily="2" charset="-122"/>
              </a:rPr>
              <a:t>8(BKR=8)</a:t>
            </a:r>
            <a:r>
              <a:rPr lang="zh-CN" altLang="en-US" sz="2800" dirty="0">
                <a:latin typeface="宋体" panose="02010600030101010101" pitchFamily="2" charset="-122"/>
              </a:rPr>
              <a:t>的接收缓冲区。</a:t>
            </a:r>
          </a:p>
          <a:p>
            <a:pPr algn="just"/>
            <a:r>
              <a:rPr lang="zh-CN" altLang="en-US" sz="2800" dirty="0">
                <a:solidFill>
                  <a:schemeClr val="tx2"/>
                </a:solidFill>
                <a:latin typeface="宋体" panose="02010600030101010101" pitchFamily="2" charset="-122"/>
              </a:rPr>
              <a:t>发送缓冲区可开始于任何一个</a:t>
            </a:r>
            <a:r>
              <a:rPr lang="en-US" altLang="zh-CN" sz="2800" dirty="0">
                <a:solidFill>
                  <a:schemeClr val="tx2"/>
                </a:solidFill>
                <a:latin typeface="宋体" panose="02010600030101010101" pitchFamily="2" charset="-122"/>
              </a:rPr>
              <a:t>8</a:t>
            </a:r>
            <a:r>
              <a:rPr lang="zh-CN" altLang="en-US" sz="2800" dirty="0">
                <a:solidFill>
                  <a:schemeClr val="tx2"/>
                </a:solidFill>
                <a:latin typeface="宋体" panose="02010600030101010101" pitchFamily="2" charset="-122"/>
              </a:rPr>
              <a:t>的倍数的地址</a:t>
            </a:r>
            <a:r>
              <a:rPr lang="zh-CN" altLang="en-US" sz="2800" dirty="0">
                <a:latin typeface="宋体" panose="02010600030101010101" pitchFamily="2" charset="-122"/>
              </a:rPr>
              <a:t>，如：</a:t>
            </a:r>
          </a:p>
          <a:p>
            <a:pPr algn="just"/>
            <a:r>
              <a:rPr lang="en-US" altLang="zh-CN" sz="2800" dirty="0">
                <a:latin typeface="宋体" panose="02010600030101010101" pitchFamily="2" charset="-122"/>
              </a:rPr>
              <a:t>0000H</a:t>
            </a:r>
            <a:r>
              <a:rPr lang="zh-CN" altLang="en-US" sz="2800" dirty="0">
                <a:latin typeface="宋体" panose="02010600030101010101" pitchFamily="2" charset="-122"/>
              </a:rPr>
              <a:t>，</a:t>
            </a:r>
            <a:r>
              <a:rPr lang="en-US" altLang="zh-CN" sz="2800" dirty="0">
                <a:latin typeface="宋体" panose="02010600030101010101" pitchFamily="2" charset="-122"/>
              </a:rPr>
              <a:t>0008H</a:t>
            </a:r>
            <a:r>
              <a:rPr lang="zh-CN" altLang="en-US" sz="2800" dirty="0">
                <a:latin typeface="宋体" panose="02010600030101010101" pitchFamily="2" charset="-122"/>
              </a:rPr>
              <a:t>，</a:t>
            </a:r>
            <a:r>
              <a:rPr lang="en-US" altLang="zh-CN" sz="2800" dirty="0">
                <a:latin typeface="宋体" panose="02010600030101010101" pitchFamily="2" charset="-122"/>
              </a:rPr>
              <a:t>0010H</a:t>
            </a:r>
            <a:r>
              <a:rPr lang="zh-CN" altLang="en-US" sz="2800" dirty="0">
                <a:latin typeface="宋体" panose="02010600030101010101" pitchFamily="2" charset="-122"/>
              </a:rPr>
              <a:t>，</a:t>
            </a:r>
            <a:r>
              <a:rPr lang="en-US" altLang="zh-CN" sz="2800" dirty="0">
                <a:latin typeface="宋体" panose="02010600030101010101" pitchFamily="2" charset="-122"/>
              </a:rPr>
              <a:t>0018H</a:t>
            </a:r>
            <a:r>
              <a:rPr lang="zh-CN" altLang="en-US" sz="2800" dirty="0">
                <a:latin typeface="宋体" panose="02010600030101010101" pitchFamily="2" charset="-122"/>
              </a:rPr>
              <a:t>，</a:t>
            </a:r>
            <a:r>
              <a:rPr lang="en-US" altLang="zh-CN" sz="2800" dirty="0"/>
              <a:t>…</a:t>
            </a:r>
            <a:r>
              <a:rPr lang="zh-CN" altLang="en-US" sz="2800" dirty="0">
                <a:latin typeface="宋体" panose="02010600030101010101" pitchFamily="2" charset="-122"/>
              </a:rPr>
              <a:t>，</a:t>
            </a:r>
            <a:endParaRPr lang="en-US" altLang="zh-CN" sz="2800" dirty="0">
              <a:latin typeface="宋体" panose="02010600030101010101" pitchFamily="2" charset="-122"/>
            </a:endParaRPr>
          </a:p>
          <a:p>
            <a:pPr algn="just"/>
            <a:r>
              <a:rPr lang="zh-CN" altLang="en-US" sz="2800" dirty="0">
                <a:solidFill>
                  <a:schemeClr val="tx2"/>
                </a:solidFill>
                <a:latin typeface="宋体" panose="02010600030101010101" pitchFamily="2" charset="-122"/>
              </a:rPr>
              <a:t>接收缓冲区开始于任何一个</a:t>
            </a:r>
            <a:r>
              <a:rPr lang="en-US" altLang="zh-CN" sz="2800" dirty="0">
                <a:solidFill>
                  <a:schemeClr val="tx2"/>
                </a:solidFill>
                <a:latin typeface="宋体" panose="02010600030101010101" pitchFamily="2" charset="-122"/>
              </a:rPr>
              <a:t>16</a:t>
            </a:r>
            <a:r>
              <a:rPr lang="zh-CN" altLang="en-US" sz="2800" dirty="0">
                <a:solidFill>
                  <a:schemeClr val="tx2"/>
                </a:solidFill>
                <a:latin typeface="宋体" panose="02010600030101010101" pitchFamily="2" charset="-122"/>
              </a:rPr>
              <a:t>的倍数的地址</a:t>
            </a:r>
            <a:r>
              <a:rPr lang="zh-CN" altLang="en-US" sz="2800" dirty="0">
                <a:latin typeface="宋体" panose="02010600030101010101" pitchFamily="2" charset="-122"/>
              </a:rPr>
              <a:t>，如：</a:t>
            </a:r>
          </a:p>
          <a:p>
            <a:pPr algn="just"/>
            <a:r>
              <a:rPr lang="zh-CN" altLang="en-US" sz="2800" dirty="0">
                <a:latin typeface="宋体" panose="02010600030101010101" pitchFamily="2" charset="-122"/>
              </a:rPr>
              <a:t>假定发送缓冲区开始于</a:t>
            </a:r>
            <a:r>
              <a:rPr lang="en-US" altLang="zh-CN" sz="2800" dirty="0">
                <a:latin typeface="宋体" panose="02010600030101010101" pitchFamily="2" charset="-122"/>
              </a:rPr>
              <a:t>0008H</a:t>
            </a:r>
            <a:r>
              <a:rPr lang="zh-CN" altLang="en-US" sz="2800" dirty="0">
                <a:latin typeface="宋体" panose="02010600030101010101" pitchFamily="2" charset="-122"/>
              </a:rPr>
              <a:t>，接收缓冲区开始于</a:t>
            </a:r>
            <a:r>
              <a:rPr lang="en-US" altLang="zh-CN" sz="2800" dirty="0">
                <a:latin typeface="宋体" panose="02010600030101010101" pitchFamily="2" charset="-122"/>
              </a:rPr>
              <a:t>0010H</a:t>
            </a:r>
            <a:r>
              <a:rPr lang="zh-CN" altLang="en-US" sz="2800" dirty="0">
                <a:latin typeface="宋体" panose="02010600030101010101" pitchFamily="2" charset="-122"/>
              </a:rPr>
              <a:t>。则</a:t>
            </a:r>
            <a:r>
              <a:rPr lang="en-US" altLang="zh-CN" sz="2800" dirty="0">
                <a:latin typeface="宋体" panose="02010600030101010101" pitchFamily="2" charset="-122"/>
              </a:rPr>
              <a:t>AXR</a:t>
            </a:r>
            <a:r>
              <a:rPr lang="zh-CN" altLang="en-US" sz="2800" dirty="0">
                <a:latin typeface="宋体" panose="02010600030101010101" pitchFamily="2" charset="-122"/>
              </a:rPr>
              <a:t>中可以是</a:t>
            </a:r>
            <a:r>
              <a:rPr lang="en-US" altLang="zh-CN" sz="2800" dirty="0">
                <a:latin typeface="宋体" panose="02010600030101010101" pitchFamily="2" charset="-122"/>
              </a:rPr>
              <a:t>0008H</a:t>
            </a:r>
            <a:r>
              <a:rPr lang="zh-CN" altLang="en-US" sz="2800" dirty="0">
                <a:latin typeface="宋体" panose="02010600030101010101" pitchFamily="2" charset="-122"/>
              </a:rPr>
              <a:t>～</a:t>
            </a:r>
            <a:r>
              <a:rPr lang="en-US" altLang="zh-CN" sz="2800" dirty="0">
                <a:latin typeface="宋体" panose="02010600030101010101" pitchFamily="2" charset="-122"/>
              </a:rPr>
              <a:t>000CH</a:t>
            </a:r>
            <a:r>
              <a:rPr lang="zh-CN" altLang="en-US" sz="2800" dirty="0">
                <a:latin typeface="宋体" panose="02010600030101010101" pitchFamily="2" charset="-122"/>
              </a:rPr>
              <a:t>中的任何一个值。</a:t>
            </a:r>
            <a:r>
              <a:rPr lang="en-US" altLang="zh-CN" sz="2800" dirty="0">
                <a:latin typeface="宋体" panose="02010600030101010101" pitchFamily="2" charset="-122"/>
              </a:rPr>
              <a:t>ARR</a:t>
            </a:r>
            <a:r>
              <a:rPr lang="zh-CN" altLang="en-US" sz="2800" dirty="0">
                <a:latin typeface="宋体" panose="02010600030101010101" pitchFamily="2" charset="-122"/>
              </a:rPr>
              <a:t>的内容可以是</a:t>
            </a:r>
            <a:r>
              <a:rPr lang="en-US" altLang="zh-CN" sz="2800" dirty="0">
                <a:latin typeface="宋体" panose="02010600030101010101" pitchFamily="2" charset="-122"/>
              </a:rPr>
              <a:t>00010</a:t>
            </a:r>
            <a:r>
              <a:rPr lang="zh-CN" altLang="en-US" sz="2800" dirty="0">
                <a:latin typeface="宋体" panose="02010600030101010101" pitchFamily="2" charset="-122"/>
              </a:rPr>
              <a:t>～</a:t>
            </a:r>
            <a:r>
              <a:rPr lang="en-US" altLang="zh-CN" sz="2800" dirty="0">
                <a:latin typeface="宋体" panose="02010600030101010101" pitchFamily="2" charset="-122"/>
              </a:rPr>
              <a:t>017H</a:t>
            </a:r>
            <a:r>
              <a:rPr lang="zh-CN" altLang="en-US" sz="2800" dirty="0">
                <a:latin typeface="宋体" panose="02010600030101010101" pitchFamily="2" charset="-122"/>
              </a:rPr>
              <a:t>之间的任何一个值。</a:t>
            </a:r>
            <a:r>
              <a:rPr lang="zh-CN" altLang="en-US" sz="2800" dirty="0">
                <a:solidFill>
                  <a:srgbClr val="FF0000"/>
                </a:solidFill>
                <a:latin typeface="宋体" panose="02010600030101010101" pitchFamily="2" charset="-122"/>
              </a:rPr>
              <a:t>但是</a:t>
            </a:r>
            <a:r>
              <a:rPr lang="en-US" altLang="zh-CN" sz="2800" dirty="0">
                <a:solidFill>
                  <a:srgbClr val="FF0000"/>
                </a:solidFill>
                <a:latin typeface="宋体" panose="02010600030101010101" pitchFamily="2" charset="-122"/>
              </a:rPr>
              <a:t>AXR</a:t>
            </a:r>
            <a:r>
              <a:rPr lang="zh-CN" altLang="en-US" sz="2800" dirty="0">
                <a:solidFill>
                  <a:srgbClr val="FF0000"/>
                </a:solidFill>
                <a:latin typeface="宋体" panose="02010600030101010101" pitchFamily="2" charset="-122"/>
              </a:rPr>
              <a:t>的值可落入接收缓冲区，</a:t>
            </a:r>
            <a:r>
              <a:rPr lang="en-US" altLang="zh-CN" sz="2800" dirty="0">
                <a:solidFill>
                  <a:srgbClr val="FF0000"/>
                </a:solidFill>
                <a:latin typeface="宋体" panose="02010600030101010101" pitchFamily="2" charset="-122"/>
              </a:rPr>
              <a:t>ARR</a:t>
            </a:r>
            <a:r>
              <a:rPr lang="zh-CN" altLang="en-US" sz="2800" dirty="0">
                <a:solidFill>
                  <a:srgbClr val="FF0000"/>
                </a:solidFill>
                <a:latin typeface="宋体" panose="02010600030101010101" pitchFamily="2" charset="-122"/>
              </a:rPr>
              <a:t>的值不能落入发送缓冲区，否则会引起收发数据冲突。</a:t>
            </a:r>
            <a:endParaRPr lang="zh-CN" altLang="en-US" sz="2400" dirty="0">
              <a:solidFill>
                <a:srgbClr val="FF0000"/>
              </a:solidFill>
            </a:endParaRPr>
          </a:p>
        </p:txBody>
      </p:sp>
      <p:sp>
        <p:nvSpPr>
          <p:cNvPr id="3" name="矩形 2"/>
          <p:cNvSpPr/>
          <p:nvPr/>
        </p:nvSpPr>
        <p:spPr>
          <a:xfrm>
            <a:off x="467544" y="5445224"/>
            <a:ext cx="4572000" cy="1323439"/>
          </a:xfrm>
          <a:prstGeom prst="rect">
            <a:avLst/>
          </a:prstGeom>
          <a:ln>
            <a:solidFill>
              <a:srgbClr val="9900CC"/>
            </a:solidFill>
          </a:ln>
        </p:spPr>
        <p:txBody>
          <a:bodyPr>
            <a:spAutoFit/>
          </a:bodyPr>
          <a:lstStyle/>
          <a:p>
            <a:pPr algn="just" eaLnBrk="1" hangingPunct="1"/>
            <a:r>
              <a:rPr lang="zh-CN" altLang="en-US" dirty="0">
                <a:solidFill>
                  <a:schemeClr val="tx2"/>
                </a:solidFill>
                <a:latin typeface="宋体" panose="02010600030101010101" pitchFamily="2" charset="-122"/>
              </a:rPr>
              <a:t>长度为</a:t>
            </a:r>
            <a:r>
              <a:rPr lang="en-US" altLang="zh-CN" dirty="0">
                <a:solidFill>
                  <a:schemeClr val="tx2"/>
                </a:solidFill>
                <a:latin typeface="宋体" panose="02010600030101010101" pitchFamily="2" charset="-122"/>
              </a:rPr>
              <a:t>R</a:t>
            </a:r>
            <a:r>
              <a:rPr lang="zh-CN" altLang="en-US" dirty="0">
                <a:solidFill>
                  <a:schemeClr val="tx2"/>
                </a:solidFill>
                <a:latin typeface="宋体" panose="02010600030101010101" pitchFamily="2" charset="-122"/>
              </a:rPr>
              <a:t>的循环缓冲器必须从一个</a:t>
            </a:r>
            <a:r>
              <a:rPr lang="en-US" altLang="zh-CN" dirty="0">
                <a:solidFill>
                  <a:schemeClr val="tx2"/>
                </a:solidFill>
                <a:latin typeface="宋体" panose="02010600030101010101" pitchFamily="2" charset="-122"/>
              </a:rPr>
              <a:t>N</a:t>
            </a:r>
            <a:r>
              <a:rPr lang="zh-CN" altLang="en-US" dirty="0">
                <a:solidFill>
                  <a:schemeClr val="tx2"/>
                </a:solidFill>
                <a:latin typeface="宋体" panose="02010600030101010101" pitchFamily="2" charset="-122"/>
              </a:rPr>
              <a:t>位地址的边界开始，即循环缓冲器基地址的最低位必须为</a:t>
            </a:r>
            <a:r>
              <a:rPr lang="en-US" altLang="zh-CN" dirty="0">
                <a:solidFill>
                  <a:schemeClr val="tx2"/>
                </a:solidFill>
                <a:latin typeface="宋体" panose="02010600030101010101" pitchFamily="2" charset="-122"/>
              </a:rPr>
              <a:t>0</a:t>
            </a:r>
            <a:r>
              <a:rPr lang="zh-CN" altLang="en-US" dirty="0">
                <a:solidFill>
                  <a:schemeClr val="tx2"/>
                </a:solidFill>
                <a:latin typeface="宋体" panose="02010600030101010101" pitchFamily="2" charset="-122"/>
              </a:rPr>
              <a:t>。</a:t>
            </a:r>
            <a:r>
              <a:rPr lang="en-US" altLang="zh-CN" dirty="0">
                <a:solidFill>
                  <a:srgbClr val="FF0000"/>
                </a:solidFill>
                <a:latin typeface="宋体" panose="02010600030101010101" pitchFamily="2" charset="-122"/>
              </a:rPr>
              <a:t>N</a:t>
            </a:r>
            <a:r>
              <a:rPr lang="zh-CN" altLang="en-US" dirty="0">
                <a:solidFill>
                  <a:srgbClr val="FF0000"/>
                </a:solidFill>
                <a:latin typeface="宋体" panose="02010600030101010101" pitchFamily="2" charset="-122"/>
              </a:rPr>
              <a:t>是满足</a:t>
            </a:r>
            <a:r>
              <a:rPr lang="en-US" altLang="zh-CN" dirty="0">
                <a:solidFill>
                  <a:srgbClr val="FF0000"/>
                </a:solidFill>
                <a:latin typeface="宋体" panose="02010600030101010101" pitchFamily="2" charset="-122"/>
              </a:rPr>
              <a:t>2</a:t>
            </a:r>
            <a:r>
              <a:rPr lang="en-US" altLang="zh-CN" baseline="30000" dirty="0">
                <a:solidFill>
                  <a:srgbClr val="FF0000"/>
                </a:solidFill>
                <a:latin typeface="宋体" panose="02010600030101010101" pitchFamily="2" charset="-122"/>
              </a:rPr>
              <a:t>N</a:t>
            </a:r>
            <a:r>
              <a:rPr lang="zh-CN" altLang="en-US" dirty="0">
                <a:solidFill>
                  <a:srgbClr val="FF0000"/>
                </a:solidFill>
                <a:latin typeface="宋体" panose="02010600030101010101" pitchFamily="2" charset="-122"/>
              </a:rPr>
              <a:t>＞</a:t>
            </a:r>
            <a:r>
              <a:rPr lang="en-US" altLang="zh-CN" dirty="0">
                <a:solidFill>
                  <a:srgbClr val="FF0000"/>
                </a:solidFill>
                <a:latin typeface="宋体" panose="02010600030101010101" pitchFamily="2" charset="-122"/>
              </a:rPr>
              <a:t>R</a:t>
            </a:r>
            <a:r>
              <a:rPr lang="zh-CN" altLang="en-US" dirty="0">
                <a:solidFill>
                  <a:srgbClr val="FF0000"/>
                </a:solidFill>
                <a:latin typeface="宋体" panose="02010600030101010101" pitchFamily="2" charset="-122"/>
              </a:rPr>
              <a:t>的最小整数。</a:t>
            </a:r>
            <a:r>
              <a:rPr lang="en-US" altLang="zh-CN" dirty="0">
                <a:latin typeface="宋体" panose="02010600030101010101" pitchFamily="2" charset="-122"/>
              </a:rPr>
              <a:t>R</a:t>
            </a:r>
            <a:r>
              <a:rPr lang="zh-CN" altLang="en-US" dirty="0">
                <a:latin typeface="宋体" panose="02010600030101010101" pitchFamily="2" charset="-122"/>
              </a:rPr>
              <a:t>的值必须装入</a:t>
            </a:r>
            <a:r>
              <a:rPr lang="en-US" altLang="zh-CN" dirty="0">
                <a:latin typeface="宋体" panose="02010600030101010101" pitchFamily="2" charset="-122"/>
              </a:rPr>
              <a:t>BK</a:t>
            </a:r>
            <a:r>
              <a:rPr lang="zh-CN" altLang="en-US" dirty="0">
                <a:latin typeface="宋体" panose="02010600030101010101" pitchFamily="2" charset="-122"/>
              </a:rPr>
              <a:t>。</a:t>
            </a:r>
          </a:p>
        </p:txBody>
      </p:sp>
      <p:sp>
        <p:nvSpPr>
          <p:cNvPr id="4" name="矩形 3"/>
          <p:cNvSpPr/>
          <p:nvPr/>
        </p:nvSpPr>
        <p:spPr>
          <a:xfrm>
            <a:off x="5354545" y="5301208"/>
            <a:ext cx="574196" cy="400110"/>
          </a:xfrm>
          <a:prstGeom prst="rect">
            <a:avLst/>
          </a:prstGeom>
        </p:spPr>
        <p:txBody>
          <a:bodyPr wrap="none">
            <a:spAutoFit/>
          </a:bodyPr>
          <a:lstStyle/>
          <a:p>
            <a:r>
              <a:rPr lang="en-US" altLang="zh-CN" dirty="0">
                <a:solidFill>
                  <a:srgbClr val="FF0000"/>
                </a:solidFill>
                <a:latin typeface="宋体" panose="02010600030101010101" pitchFamily="2" charset="-122"/>
              </a:rPr>
              <a:t>R=5</a:t>
            </a:r>
            <a:endParaRPr lang="zh-CN" altLang="en-US" dirty="0"/>
          </a:p>
        </p:txBody>
      </p:sp>
      <p:sp>
        <p:nvSpPr>
          <p:cNvPr id="5" name="矩形 4"/>
          <p:cNvSpPr/>
          <p:nvPr/>
        </p:nvSpPr>
        <p:spPr>
          <a:xfrm>
            <a:off x="5354545" y="5613736"/>
            <a:ext cx="574196" cy="400110"/>
          </a:xfrm>
          <a:prstGeom prst="rect">
            <a:avLst/>
          </a:prstGeom>
        </p:spPr>
        <p:txBody>
          <a:bodyPr wrap="none">
            <a:spAutoFit/>
          </a:bodyPr>
          <a:lstStyle/>
          <a:p>
            <a:r>
              <a:rPr lang="en-US" altLang="zh-CN" dirty="0">
                <a:solidFill>
                  <a:schemeClr val="tx2"/>
                </a:solidFill>
                <a:latin typeface="宋体" panose="02010600030101010101" pitchFamily="2" charset="-122"/>
              </a:rPr>
              <a:t>N=3</a:t>
            </a:r>
            <a:endParaRPr lang="zh-CN" altLang="en-US" dirty="0"/>
          </a:p>
        </p:txBody>
      </p:sp>
      <p:sp>
        <p:nvSpPr>
          <p:cNvPr id="8" name="矩形 7"/>
          <p:cNvSpPr/>
          <p:nvPr/>
        </p:nvSpPr>
        <p:spPr>
          <a:xfrm>
            <a:off x="6008854" y="5562489"/>
            <a:ext cx="2781531" cy="400110"/>
          </a:xfrm>
          <a:prstGeom prst="rect">
            <a:avLst/>
          </a:prstGeom>
        </p:spPr>
        <p:txBody>
          <a:bodyPr wrap="none">
            <a:spAutoFit/>
          </a:bodyPr>
          <a:lstStyle/>
          <a:p>
            <a:r>
              <a:rPr lang="en-US" altLang="zh-CN" dirty="0">
                <a:solidFill>
                  <a:srgbClr val="FF00FF"/>
                </a:solidFill>
                <a:latin typeface="宋体" panose="02010600030101010101" pitchFamily="2" charset="-122"/>
              </a:rPr>
              <a:t>AXR=XXXXXXXXXXXX1000</a:t>
            </a:r>
            <a:endParaRPr lang="zh-CN" altLang="en-US" dirty="0">
              <a:solidFill>
                <a:srgbClr val="FF00FF"/>
              </a:solidFill>
            </a:endParaRPr>
          </a:p>
        </p:txBody>
      </p:sp>
      <p:sp>
        <p:nvSpPr>
          <p:cNvPr id="9" name="矩形 8"/>
          <p:cNvSpPr/>
          <p:nvPr/>
        </p:nvSpPr>
        <p:spPr>
          <a:xfrm>
            <a:off x="5354118" y="5935872"/>
            <a:ext cx="574196" cy="400110"/>
          </a:xfrm>
          <a:prstGeom prst="rect">
            <a:avLst/>
          </a:prstGeom>
        </p:spPr>
        <p:txBody>
          <a:bodyPr wrap="none">
            <a:spAutoFit/>
          </a:bodyPr>
          <a:lstStyle/>
          <a:p>
            <a:r>
              <a:rPr lang="en-US" altLang="zh-CN" dirty="0">
                <a:solidFill>
                  <a:srgbClr val="FF0000"/>
                </a:solidFill>
                <a:latin typeface="宋体" panose="02010600030101010101" pitchFamily="2" charset="-122"/>
              </a:rPr>
              <a:t>R=8</a:t>
            </a:r>
            <a:endParaRPr lang="zh-CN" altLang="en-US" dirty="0"/>
          </a:p>
        </p:txBody>
      </p:sp>
      <p:sp>
        <p:nvSpPr>
          <p:cNvPr id="10" name="矩形 9"/>
          <p:cNvSpPr/>
          <p:nvPr/>
        </p:nvSpPr>
        <p:spPr>
          <a:xfrm>
            <a:off x="5337964" y="6276945"/>
            <a:ext cx="574196" cy="400110"/>
          </a:xfrm>
          <a:prstGeom prst="rect">
            <a:avLst/>
          </a:prstGeom>
        </p:spPr>
        <p:txBody>
          <a:bodyPr wrap="none">
            <a:spAutoFit/>
          </a:bodyPr>
          <a:lstStyle/>
          <a:p>
            <a:r>
              <a:rPr lang="en-US" altLang="zh-CN" dirty="0">
                <a:solidFill>
                  <a:schemeClr val="tx2"/>
                </a:solidFill>
                <a:latin typeface="宋体" panose="02010600030101010101" pitchFamily="2" charset="-122"/>
              </a:rPr>
              <a:t>N=4</a:t>
            </a:r>
            <a:endParaRPr lang="zh-CN" altLang="en-US" dirty="0"/>
          </a:p>
        </p:txBody>
      </p:sp>
      <p:sp>
        <p:nvSpPr>
          <p:cNvPr id="11" name="矩形 10"/>
          <p:cNvSpPr/>
          <p:nvPr/>
        </p:nvSpPr>
        <p:spPr>
          <a:xfrm>
            <a:off x="6008855" y="6013846"/>
            <a:ext cx="2781531" cy="400110"/>
          </a:xfrm>
          <a:prstGeom prst="rect">
            <a:avLst/>
          </a:prstGeom>
        </p:spPr>
        <p:txBody>
          <a:bodyPr wrap="none">
            <a:spAutoFit/>
          </a:bodyPr>
          <a:lstStyle/>
          <a:p>
            <a:r>
              <a:rPr lang="en-US" altLang="zh-CN" dirty="0">
                <a:solidFill>
                  <a:srgbClr val="FF00FF"/>
                </a:solidFill>
                <a:latin typeface="宋体" panose="02010600030101010101" pitchFamily="2" charset="-122"/>
              </a:rPr>
              <a:t>BKR=0000000000001000</a:t>
            </a:r>
            <a:endParaRPr lang="zh-CN" altLang="en-US" dirty="0">
              <a:solidFill>
                <a:srgbClr val="FF00FF"/>
              </a:solidFill>
            </a:endParaRPr>
          </a:p>
        </p:txBody>
      </p:sp>
      <p:sp>
        <p:nvSpPr>
          <p:cNvPr id="12" name="矩形 11"/>
          <p:cNvSpPr/>
          <p:nvPr/>
        </p:nvSpPr>
        <p:spPr>
          <a:xfrm>
            <a:off x="6008853" y="5270781"/>
            <a:ext cx="2781531" cy="400110"/>
          </a:xfrm>
          <a:prstGeom prst="rect">
            <a:avLst/>
          </a:prstGeom>
        </p:spPr>
        <p:txBody>
          <a:bodyPr wrap="none">
            <a:spAutoFit/>
          </a:bodyPr>
          <a:lstStyle/>
          <a:p>
            <a:r>
              <a:rPr lang="en-US" altLang="zh-CN" dirty="0">
                <a:solidFill>
                  <a:srgbClr val="FF00FF"/>
                </a:solidFill>
                <a:latin typeface="宋体" panose="02010600030101010101" pitchFamily="2" charset="-122"/>
              </a:rPr>
              <a:t>BKX=0000000000000101</a:t>
            </a:r>
            <a:endParaRPr lang="zh-CN" altLang="en-US" dirty="0">
              <a:solidFill>
                <a:srgbClr val="FF00FF"/>
              </a:solidFill>
            </a:endParaRPr>
          </a:p>
        </p:txBody>
      </p:sp>
      <p:sp>
        <p:nvSpPr>
          <p:cNvPr id="13" name="矩形 12"/>
          <p:cNvSpPr/>
          <p:nvPr/>
        </p:nvSpPr>
        <p:spPr>
          <a:xfrm>
            <a:off x="5992274" y="6399511"/>
            <a:ext cx="2781531" cy="400110"/>
          </a:xfrm>
          <a:prstGeom prst="rect">
            <a:avLst/>
          </a:prstGeom>
        </p:spPr>
        <p:txBody>
          <a:bodyPr wrap="none">
            <a:spAutoFit/>
          </a:bodyPr>
          <a:lstStyle/>
          <a:p>
            <a:r>
              <a:rPr lang="en-US" altLang="zh-CN" dirty="0">
                <a:solidFill>
                  <a:srgbClr val="FF00FF"/>
                </a:solidFill>
                <a:latin typeface="宋体" panose="02010600030101010101" pitchFamily="2" charset="-122"/>
              </a:rPr>
              <a:t>ARR=XXXXXXXXXXX10000</a:t>
            </a:r>
            <a:endParaRPr lang="zh-CN" altLang="en-US" dirty="0">
              <a:solidFill>
                <a:srgbClr val="FF00FF"/>
              </a:solidFill>
            </a:endParaRPr>
          </a:p>
        </p:txBody>
      </p:sp>
    </p:spTree>
  </p:cSld>
  <p:clrMapOvr>
    <a:masterClrMapping/>
  </p:clrMapOvr>
  <p:transition spd="med">
    <p:pull dir="lu"/>
  </p:transition>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5906" name="Rectangle 2"/>
          <p:cNvSpPr>
            <a:spLocks noGrp="1" noChangeArrowheads="1"/>
          </p:cNvSpPr>
          <p:nvPr>
            <p:ph type="title"/>
          </p:nvPr>
        </p:nvSpPr>
        <p:spPr bwMode="auto">
          <a:xfrm>
            <a:off x="1066800" y="1066800"/>
            <a:ext cx="7681913"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三、时分多路串行口（</a:t>
            </a:r>
            <a:r>
              <a:rPr lang="en-US" altLang="zh-CN" b="1">
                <a:solidFill>
                  <a:srgbClr val="FF0000"/>
                </a:solidFill>
                <a:latin typeface="宋体" panose="02010600030101010101" pitchFamily="2" charset="-122"/>
              </a:rPr>
              <a:t>TDM</a:t>
            </a:r>
            <a:r>
              <a:rPr lang="zh-CN" altLang="en-US" b="1">
                <a:solidFill>
                  <a:srgbClr val="FF0000"/>
                </a:solidFill>
                <a:latin typeface="宋体" panose="02010600030101010101" pitchFamily="2" charset="-122"/>
              </a:rPr>
              <a:t>）</a:t>
            </a:r>
            <a:r>
              <a:rPr lang="zh-CN" altLang="en-US" b="1"/>
              <a:t> </a:t>
            </a:r>
          </a:p>
        </p:txBody>
      </p:sp>
      <p:sp>
        <p:nvSpPr>
          <p:cNvPr id="138243" name="Rectangle 3" descr="小棋盘"/>
          <p:cNvSpPr>
            <a:spLocks noGrp="1" noChangeArrowheads="1"/>
          </p:cNvSpPr>
          <p:nvPr>
            <p:ph idx="1"/>
          </p:nvPr>
        </p:nvSpPr>
        <p:spPr bwMode="auto">
          <a:xfrm>
            <a:off x="685800" y="1905000"/>
            <a:ext cx="685800" cy="1143000"/>
          </a:xfrm>
          <a:pattFill prst="smCheck">
            <a:fgClr>
              <a:srgbClr val="FFFF00"/>
            </a:fgClr>
            <a:bgClr>
              <a:srgbClr val="FFFFFF"/>
            </a:bgClr>
          </a:pattFill>
          <a:ln>
            <a:solidFill>
              <a:schemeClr val="tx2"/>
            </a:solid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FontTx/>
              <a:buNone/>
            </a:pPr>
            <a:r>
              <a:rPr lang="zh-CN" altLang="en-US" b="1">
                <a:solidFill>
                  <a:srgbClr val="FF00FF"/>
                </a:solidFill>
                <a:latin typeface="宋体" panose="02010600030101010101" pitchFamily="2" charset="-122"/>
              </a:rPr>
              <a:t>功</a:t>
            </a:r>
          </a:p>
          <a:p>
            <a:pPr eaLnBrk="1" hangingPunct="1">
              <a:lnSpc>
                <a:spcPct val="90000"/>
              </a:lnSpc>
              <a:buFontTx/>
              <a:buNone/>
            </a:pPr>
            <a:r>
              <a:rPr lang="zh-CN" altLang="en-US" b="1">
                <a:solidFill>
                  <a:srgbClr val="FF00FF"/>
                </a:solidFill>
                <a:latin typeface="宋体" panose="02010600030101010101" pitchFamily="2" charset="-122"/>
              </a:rPr>
              <a:t>能</a:t>
            </a:r>
            <a:r>
              <a:rPr lang="zh-CN" altLang="en-US" b="1"/>
              <a:t> </a:t>
            </a:r>
          </a:p>
        </p:txBody>
      </p:sp>
      <p:sp>
        <p:nvSpPr>
          <p:cNvPr id="13824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70E54C8-EDDE-4091-87FA-B249D0538AF1}" type="slidenum">
              <a:rPr lang="en-US" altLang="zh-CN" sz="1400" b="0"/>
              <a:pPr eaLnBrk="1" hangingPunct="1"/>
              <a:t>124</a:t>
            </a:fld>
            <a:endParaRPr lang="en-US" altLang="zh-CN" sz="1400" b="0"/>
          </a:p>
        </p:txBody>
      </p:sp>
      <p:sp>
        <p:nvSpPr>
          <p:cNvPr id="635908" name="Rectangle 4"/>
          <p:cNvSpPr>
            <a:spLocks noChangeArrowheads="1"/>
          </p:cNvSpPr>
          <p:nvPr/>
        </p:nvSpPr>
        <p:spPr bwMode="auto">
          <a:xfrm>
            <a:off x="4038600" y="1905000"/>
            <a:ext cx="4664075" cy="1076325"/>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FF"/>
                </a:solidFill>
                <a:latin typeface="宋体" panose="02010600030101010101" pitchFamily="2" charset="-122"/>
              </a:rPr>
              <a:t>非</a:t>
            </a:r>
            <a:r>
              <a:rPr lang="en-US" altLang="zh-CN" sz="3200">
                <a:solidFill>
                  <a:srgbClr val="FF00FF"/>
                </a:solidFill>
                <a:latin typeface="宋体" panose="02010600030101010101" pitchFamily="2" charset="-122"/>
              </a:rPr>
              <a:t>TDM</a:t>
            </a:r>
            <a:r>
              <a:rPr lang="zh-CN" altLang="en-US" sz="3200">
                <a:solidFill>
                  <a:srgbClr val="FF00FF"/>
                </a:solidFill>
                <a:latin typeface="宋体" panose="02010600030101010101" pitchFamily="2" charset="-122"/>
              </a:rPr>
              <a:t>方式 </a:t>
            </a:r>
            <a:r>
              <a:rPr lang="en-US" altLang="zh-CN" sz="3200">
                <a:solidFill>
                  <a:srgbClr val="FF00FF"/>
                </a:solidFill>
                <a:latin typeface="宋体" panose="02010600030101010101" pitchFamily="2" charset="-122"/>
              </a:rPr>
              <a:t>=</a:t>
            </a:r>
            <a:r>
              <a:rPr lang="zh-CN" altLang="en-US" sz="3200">
                <a:solidFill>
                  <a:srgbClr val="FF00FF"/>
                </a:solidFill>
                <a:latin typeface="宋体" panose="02010600030101010101" pitchFamily="2" charset="-122"/>
              </a:rPr>
              <a:t>标准串口 </a:t>
            </a:r>
          </a:p>
          <a:p>
            <a:pPr eaLnBrk="1" hangingPunct="1"/>
            <a:r>
              <a:rPr lang="en-US" altLang="zh-CN" sz="3200">
                <a:solidFill>
                  <a:schemeClr val="folHlink"/>
                </a:solidFill>
                <a:latin typeface="宋体" panose="02010600030101010101" pitchFamily="2" charset="-122"/>
              </a:rPr>
              <a:t>TDM</a:t>
            </a:r>
            <a:r>
              <a:rPr lang="zh-CN" altLang="en-US" sz="3200">
                <a:solidFill>
                  <a:schemeClr val="folHlink"/>
                </a:solidFill>
                <a:latin typeface="宋体" panose="02010600030101010101" pitchFamily="2" charset="-122"/>
              </a:rPr>
              <a:t>方式 当</a:t>
            </a:r>
            <a:r>
              <a:rPr lang="en-US" altLang="zh-CN" sz="3200">
                <a:solidFill>
                  <a:schemeClr val="folHlink"/>
                </a:solidFill>
                <a:latin typeface="宋体" panose="02010600030101010101" pitchFamily="2" charset="-122"/>
                <a:cs typeface="Arial" panose="020B0604020202020204" pitchFamily="34" charset="0"/>
              </a:rPr>
              <a:t>TSPC</a:t>
            </a:r>
            <a:r>
              <a:rPr lang="zh-CN" altLang="en-US" sz="3200">
                <a:solidFill>
                  <a:schemeClr val="folHlink"/>
                </a:solidFill>
                <a:latin typeface="宋体" panose="02010600030101010101" pitchFamily="2" charset="-122"/>
              </a:rPr>
              <a:t>的</a:t>
            </a:r>
            <a:r>
              <a:rPr lang="en-US" altLang="zh-CN" sz="3200">
                <a:solidFill>
                  <a:schemeClr val="folHlink"/>
                </a:solidFill>
                <a:latin typeface="宋体" panose="02010600030101010101" pitchFamily="2" charset="-122"/>
                <a:cs typeface="Arial" panose="020B0604020202020204" pitchFamily="34" charset="0"/>
              </a:rPr>
              <a:t>TDM=1</a:t>
            </a:r>
            <a:r>
              <a:rPr lang="en-US" altLang="zh-CN" sz="3200">
                <a:latin typeface="宋体" panose="02010600030101010101" pitchFamily="2" charset="-122"/>
              </a:rPr>
              <a:t> </a:t>
            </a:r>
          </a:p>
        </p:txBody>
      </p:sp>
      <p:sp>
        <p:nvSpPr>
          <p:cNvPr id="635909" name="Rectangle 5" descr="小棋盘"/>
          <p:cNvSpPr>
            <a:spLocks noChangeArrowheads="1"/>
          </p:cNvSpPr>
          <p:nvPr/>
        </p:nvSpPr>
        <p:spPr bwMode="auto">
          <a:xfrm>
            <a:off x="1905000" y="1905000"/>
            <a:ext cx="1006475" cy="1173163"/>
          </a:xfrm>
          <a:prstGeom prst="rect">
            <a:avLst/>
          </a:prstGeom>
          <a:pattFill prst="smCheck">
            <a:fgClr>
              <a:srgbClr val="FFFF00"/>
            </a:fgClr>
            <a:bgClr>
              <a:srgbClr val="FFFFFF"/>
            </a:bgClr>
          </a:pattFill>
          <a:ln w="9525">
            <a:solidFill>
              <a:schemeClr val="tx2"/>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a:solidFill>
                  <a:schemeClr val="folHlink"/>
                </a:solidFill>
                <a:latin typeface="宋体" panose="02010600030101010101" pitchFamily="2" charset="-122"/>
              </a:rPr>
              <a:t>工作</a:t>
            </a:r>
          </a:p>
          <a:p>
            <a:pPr eaLnBrk="1" hangingPunct="1">
              <a:spcBef>
                <a:spcPct val="20000"/>
              </a:spcBef>
            </a:pPr>
            <a:r>
              <a:rPr lang="zh-CN" altLang="en-US" sz="3200">
                <a:solidFill>
                  <a:schemeClr val="folHlink"/>
                </a:solidFill>
                <a:latin typeface="宋体" panose="02010600030101010101" pitchFamily="2" charset="-122"/>
              </a:rPr>
              <a:t>方式</a:t>
            </a:r>
          </a:p>
        </p:txBody>
      </p:sp>
      <p:sp>
        <p:nvSpPr>
          <p:cNvPr id="635910" name="AutoShape 6"/>
          <p:cNvSpPr>
            <a:spLocks/>
          </p:cNvSpPr>
          <p:nvPr/>
        </p:nvSpPr>
        <p:spPr bwMode="auto">
          <a:xfrm>
            <a:off x="3200400" y="2133600"/>
            <a:ext cx="609600" cy="762000"/>
          </a:xfrm>
          <a:prstGeom prst="leftBrace">
            <a:avLst>
              <a:gd name="adj1" fmla="val 1041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35911" name="Rectangle 7" descr="小棋盘"/>
          <p:cNvSpPr>
            <a:spLocks noChangeArrowheads="1"/>
          </p:cNvSpPr>
          <p:nvPr/>
        </p:nvSpPr>
        <p:spPr bwMode="auto">
          <a:xfrm>
            <a:off x="1219200" y="3810000"/>
            <a:ext cx="600075" cy="2538413"/>
          </a:xfrm>
          <a:prstGeom prst="rect">
            <a:avLst/>
          </a:prstGeom>
          <a:pattFill prst="smCheck">
            <a:fgClr>
              <a:srgbClr val="FFFF00"/>
            </a:fgClr>
            <a:bgClr>
              <a:srgbClr val="FFFFFF"/>
            </a:bgClr>
          </a:pattFill>
          <a:ln w="9525">
            <a:solidFill>
              <a:schemeClr val="bg2"/>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chemeClr val="tx2"/>
                </a:solidFill>
                <a:latin typeface="宋体" panose="02010600030101010101" pitchFamily="2" charset="-122"/>
              </a:rPr>
              <a:t>相</a:t>
            </a:r>
          </a:p>
          <a:p>
            <a:pPr eaLnBrk="1" hangingPunct="1"/>
            <a:r>
              <a:rPr lang="zh-CN" altLang="en-US" sz="3200">
                <a:solidFill>
                  <a:schemeClr val="tx2"/>
                </a:solidFill>
                <a:latin typeface="宋体" panose="02010600030101010101" pitchFamily="2" charset="-122"/>
              </a:rPr>
              <a:t>关</a:t>
            </a:r>
          </a:p>
          <a:p>
            <a:pPr eaLnBrk="1" hangingPunct="1"/>
            <a:r>
              <a:rPr lang="zh-CN" altLang="en-US" sz="3200">
                <a:solidFill>
                  <a:schemeClr val="tx2"/>
                </a:solidFill>
                <a:latin typeface="宋体" panose="02010600030101010101" pitchFamily="2" charset="-122"/>
              </a:rPr>
              <a:t>寄</a:t>
            </a:r>
          </a:p>
          <a:p>
            <a:pPr eaLnBrk="1" hangingPunct="1"/>
            <a:r>
              <a:rPr lang="zh-CN" altLang="en-US" sz="3200">
                <a:solidFill>
                  <a:schemeClr val="tx2"/>
                </a:solidFill>
                <a:latin typeface="宋体" panose="02010600030101010101" pitchFamily="2" charset="-122"/>
              </a:rPr>
              <a:t>存</a:t>
            </a:r>
          </a:p>
          <a:p>
            <a:pPr eaLnBrk="1" hangingPunct="1"/>
            <a:r>
              <a:rPr lang="zh-CN" altLang="en-US" sz="3200">
                <a:solidFill>
                  <a:schemeClr val="tx2"/>
                </a:solidFill>
                <a:latin typeface="宋体" panose="02010600030101010101" pitchFamily="2" charset="-122"/>
              </a:rPr>
              <a:t>器</a:t>
            </a:r>
          </a:p>
        </p:txBody>
      </p:sp>
      <p:sp>
        <p:nvSpPr>
          <p:cNvPr id="635912" name="Rectangle 8"/>
          <p:cNvSpPr>
            <a:spLocks noChangeArrowheads="1"/>
          </p:cNvSpPr>
          <p:nvPr/>
        </p:nvSpPr>
        <p:spPr bwMode="auto">
          <a:xfrm>
            <a:off x="2895600" y="3048000"/>
            <a:ext cx="5105400"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latin typeface="宋体" panose="02010600030101010101" pitchFamily="2" charset="-122"/>
              </a:rPr>
              <a:t>TDM</a:t>
            </a:r>
            <a:r>
              <a:rPr lang="zh-CN" altLang="en-US" sz="2800">
                <a:latin typeface="宋体" panose="02010600030101010101" pitchFamily="2" charset="-122"/>
              </a:rPr>
              <a:t>数据接收寄存器</a:t>
            </a:r>
            <a:r>
              <a:rPr lang="en-US" altLang="zh-CN" sz="2800">
                <a:latin typeface="宋体" panose="02010600030101010101" pitchFamily="2" charset="-122"/>
              </a:rPr>
              <a:t>TDRR</a:t>
            </a:r>
          </a:p>
          <a:p>
            <a:pPr eaLnBrk="1" hangingPunct="1"/>
            <a:r>
              <a:rPr lang="en-US" altLang="zh-CN" sz="2800">
                <a:latin typeface="宋体" panose="02010600030101010101" pitchFamily="2" charset="-122"/>
              </a:rPr>
              <a:t>TDM</a:t>
            </a:r>
            <a:r>
              <a:rPr lang="zh-CN" altLang="en-US" sz="2800">
                <a:latin typeface="宋体" panose="02010600030101010101" pitchFamily="2" charset="-122"/>
              </a:rPr>
              <a:t>数据发送寄存器</a:t>
            </a:r>
            <a:r>
              <a:rPr lang="en-US" altLang="zh-CN" sz="2800">
                <a:latin typeface="宋体" panose="02010600030101010101" pitchFamily="2" charset="-122"/>
              </a:rPr>
              <a:t>TDXR</a:t>
            </a:r>
          </a:p>
          <a:p>
            <a:pPr eaLnBrk="1" hangingPunct="1"/>
            <a:r>
              <a:rPr lang="en-US" altLang="zh-CN" sz="2800">
                <a:latin typeface="宋体" panose="02010600030101010101" pitchFamily="2" charset="-122"/>
              </a:rPr>
              <a:t>TDM</a:t>
            </a:r>
            <a:r>
              <a:rPr lang="zh-CN" altLang="en-US" sz="2800">
                <a:latin typeface="宋体" panose="02010600030101010101" pitchFamily="2" charset="-122"/>
              </a:rPr>
              <a:t>串口控制发送寄存器</a:t>
            </a:r>
            <a:r>
              <a:rPr lang="en-US" altLang="zh-CN" sz="2800">
                <a:latin typeface="宋体" panose="02010600030101010101" pitchFamily="2" charset="-122"/>
              </a:rPr>
              <a:t>TSPC</a:t>
            </a:r>
          </a:p>
          <a:p>
            <a:pPr eaLnBrk="1" hangingPunct="1"/>
            <a:r>
              <a:rPr lang="en-US" altLang="zh-CN" sz="2800">
                <a:latin typeface="宋体" panose="02010600030101010101" pitchFamily="2" charset="-122"/>
              </a:rPr>
              <a:t>TDM</a:t>
            </a:r>
            <a:r>
              <a:rPr lang="zh-CN" altLang="en-US" sz="2800">
                <a:latin typeface="宋体" panose="02010600030101010101" pitchFamily="2" charset="-122"/>
              </a:rPr>
              <a:t>通道选择寄存器</a:t>
            </a:r>
            <a:r>
              <a:rPr lang="en-US" altLang="zh-CN" sz="2800">
                <a:latin typeface="宋体" panose="02010600030101010101" pitchFamily="2" charset="-122"/>
              </a:rPr>
              <a:t>TCSR</a:t>
            </a:r>
          </a:p>
          <a:p>
            <a:pPr eaLnBrk="1" hangingPunct="1"/>
            <a:r>
              <a:rPr lang="en-US" altLang="zh-CN" sz="2800">
                <a:latin typeface="宋体" panose="02010600030101010101" pitchFamily="2" charset="-122"/>
              </a:rPr>
              <a:t>TDM</a:t>
            </a:r>
            <a:r>
              <a:rPr lang="zh-CN" altLang="en-US" sz="2800">
                <a:latin typeface="宋体" panose="02010600030101010101" pitchFamily="2" charset="-122"/>
              </a:rPr>
              <a:t>发送</a:t>
            </a:r>
            <a:r>
              <a:rPr lang="en-US" altLang="zh-CN" sz="2800">
                <a:latin typeface="宋体" panose="02010600030101010101" pitchFamily="2" charset="-122"/>
              </a:rPr>
              <a:t>/</a:t>
            </a:r>
            <a:r>
              <a:rPr lang="zh-CN" altLang="en-US" sz="2800">
                <a:latin typeface="宋体" panose="02010600030101010101" pitchFamily="2" charset="-122"/>
              </a:rPr>
              <a:t>接收地址寄存器</a:t>
            </a:r>
            <a:r>
              <a:rPr lang="en-US" altLang="zh-CN" sz="2800">
                <a:latin typeface="宋体" panose="02010600030101010101" pitchFamily="2" charset="-122"/>
              </a:rPr>
              <a:t>TRTA</a:t>
            </a:r>
          </a:p>
          <a:p>
            <a:pPr eaLnBrk="1" hangingPunct="1"/>
            <a:r>
              <a:rPr lang="en-US" altLang="zh-CN" sz="2800">
                <a:latin typeface="宋体" panose="02010600030101010101" pitchFamily="2" charset="-122"/>
              </a:rPr>
              <a:t>TDM</a:t>
            </a:r>
            <a:r>
              <a:rPr lang="zh-CN" altLang="en-US" sz="2800">
                <a:latin typeface="宋体" panose="02010600030101010101" pitchFamily="2" charset="-122"/>
              </a:rPr>
              <a:t>接收地址寄存器</a:t>
            </a:r>
            <a:r>
              <a:rPr lang="en-US" altLang="zh-CN" sz="2800">
                <a:latin typeface="宋体" panose="02010600030101010101" pitchFamily="2" charset="-122"/>
              </a:rPr>
              <a:t>TRAD</a:t>
            </a:r>
          </a:p>
          <a:p>
            <a:pPr eaLnBrk="1" hangingPunct="1"/>
            <a:r>
              <a:rPr lang="en-US" altLang="zh-CN" sz="2800">
                <a:latin typeface="宋体" panose="02010600030101010101" pitchFamily="2" charset="-122"/>
              </a:rPr>
              <a:t>TDM</a:t>
            </a:r>
            <a:r>
              <a:rPr lang="zh-CN" altLang="en-US" sz="2800">
                <a:latin typeface="宋体" panose="02010600030101010101" pitchFamily="2" charset="-122"/>
              </a:rPr>
              <a:t>数据接收移位寄存器</a:t>
            </a:r>
            <a:r>
              <a:rPr lang="en-US" altLang="zh-CN" sz="2800">
                <a:latin typeface="宋体" panose="02010600030101010101" pitchFamily="2" charset="-122"/>
              </a:rPr>
              <a:t>TRSR</a:t>
            </a:r>
          </a:p>
          <a:p>
            <a:pPr eaLnBrk="1" hangingPunct="1"/>
            <a:r>
              <a:rPr lang="en-US" altLang="zh-CN" sz="2800">
                <a:latin typeface="宋体" panose="02010600030101010101" pitchFamily="2" charset="-122"/>
              </a:rPr>
              <a:t>TDM</a:t>
            </a:r>
            <a:r>
              <a:rPr lang="zh-CN" altLang="en-US" sz="2800">
                <a:latin typeface="宋体" panose="02010600030101010101" pitchFamily="2" charset="-122"/>
              </a:rPr>
              <a:t>数据发送移位寄存器</a:t>
            </a:r>
            <a:r>
              <a:rPr lang="en-US" altLang="zh-CN" sz="2800">
                <a:latin typeface="宋体" panose="02010600030101010101" pitchFamily="2" charset="-122"/>
              </a:rPr>
              <a:t>TXSR</a:t>
            </a:r>
            <a:r>
              <a:rPr lang="en-US" altLang="zh-CN" sz="3200"/>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35906"/>
                                        </p:tgtEl>
                                        <p:attrNameLst>
                                          <p:attrName>style.visibility</p:attrName>
                                        </p:attrNameLst>
                                      </p:cBhvr>
                                      <p:to>
                                        <p:strVal val="visible"/>
                                      </p:to>
                                    </p:set>
                                    <p:anim calcmode="lin" valueType="num">
                                      <p:cBhvr additive="base">
                                        <p:cTn id="7" dur="500" fill="hold"/>
                                        <p:tgtEl>
                                          <p:spTgt spid="635906"/>
                                        </p:tgtEl>
                                        <p:attrNameLst>
                                          <p:attrName>ppt_x</p:attrName>
                                        </p:attrNameLst>
                                      </p:cBhvr>
                                      <p:tavLst>
                                        <p:tav tm="0">
                                          <p:val>
                                            <p:strVal val="0-#ppt_w/2"/>
                                          </p:val>
                                        </p:tav>
                                        <p:tav tm="100000">
                                          <p:val>
                                            <p:strVal val="#ppt_x"/>
                                          </p:val>
                                        </p:tav>
                                      </p:tavLst>
                                    </p:anim>
                                    <p:anim calcmode="lin" valueType="num">
                                      <p:cBhvr additive="base">
                                        <p:cTn id="8" dur="500" fill="hold"/>
                                        <p:tgtEl>
                                          <p:spTgt spid="63590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635909"/>
                                        </p:tgtEl>
                                        <p:attrNameLst>
                                          <p:attrName>style.visibility</p:attrName>
                                        </p:attrNameLst>
                                      </p:cBhvr>
                                      <p:to>
                                        <p:strVal val="visible"/>
                                      </p:to>
                                    </p:set>
                                    <p:animEffect transition="in" filter="slide(fromLeft)">
                                      <p:cBhvr>
                                        <p:cTn id="12" dur="500"/>
                                        <p:tgtEl>
                                          <p:spTgt spid="635909"/>
                                        </p:tgtEl>
                                      </p:cBhvr>
                                    </p:animEffect>
                                  </p:childTnLst>
                                </p:cTn>
                              </p:par>
                            </p:childTnLst>
                          </p:cTn>
                        </p:par>
                        <p:par>
                          <p:cTn id="13" fill="hold" nodeType="afterGroup">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635910"/>
                                        </p:tgtEl>
                                        <p:attrNameLst>
                                          <p:attrName>style.visibility</p:attrName>
                                        </p:attrNameLst>
                                      </p:cBhvr>
                                      <p:to>
                                        <p:strVal val="visible"/>
                                      </p:to>
                                    </p:set>
                                    <p:animEffect transition="in" filter="slide(fromLeft)">
                                      <p:cBhvr>
                                        <p:cTn id="16" dur="500"/>
                                        <p:tgtEl>
                                          <p:spTgt spid="635910"/>
                                        </p:tgtEl>
                                      </p:cBhvr>
                                    </p:animEffect>
                                  </p:childTnLst>
                                </p:cTn>
                              </p:par>
                            </p:childTnLst>
                          </p:cTn>
                        </p:par>
                        <p:par>
                          <p:cTn id="17" fill="hold" nodeType="afterGroup">
                            <p:stCondLst>
                              <p:cond delay="1500"/>
                            </p:stCondLst>
                            <p:childTnLst>
                              <p:par>
                                <p:cTn id="18" presetID="12" presetClass="entr" presetSubtype="8" fill="hold" grpId="0" nodeType="afterEffect">
                                  <p:stCondLst>
                                    <p:cond delay="0"/>
                                  </p:stCondLst>
                                  <p:childTnLst>
                                    <p:set>
                                      <p:cBhvr>
                                        <p:cTn id="19" dur="1" fill="hold">
                                          <p:stCondLst>
                                            <p:cond delay="0"/>
                                          </p:stCondLst>
                                        </p:cTn>
                                        <p:tgtEl>
                                          <p:spTgt spid="635908"/>
                                        </p:tgtEl>
                                        <p:attrNameLst>
                                          <p:attrName>style.visibility</p:attrName>
                                        </p:attrNameLst>
                                      </p:cBhvr>
                                      <p:to>
                                        <p:strVal val="visible"/>
                                      </p:to>
                                    </p:set>
                                    <p:animEffect transition="in" filter="slide(fromLeft)">
                                      <p:cBhvr>
                                        <p:cTn id="20" dur="500"/>
                                        <p:tgtEl>
                                          <p:spTgt spid="635908"/>
                                        </p:tgtEl>
                                      </p:cBhvr>
                                    </p:animEffect>
                                  </p:childTnLst>
                                </p:cTn>
                              </p:par>
                            </p:childTnLst>
                          </p:cTn>
                        </p:par>
                        <p:par>
                          <p:cTn id="21" fill="hold" nodeType="afterGroup">
                            <p:stCondLst>
                              <p:cond delay="2000"/>
                            </p:stCondLst>
                            <p:childTnLst>
                              <p:par>
                                <p:cTn id="22" presetID="2" presetClass="entr" presetSubtype="8" fill="hold" grpId="0" nodeType="afterEffect">
                                  <p:stCondLst>
                                    <p:cond delay="0"/>
                                  </p:stCondLst>
                                  <p:childTnLst>
                                    <p:set>
                                      <p:cBhvr>
                                        <p:cTn id="23" dur="1" fill="hold">
                                          <p:stCondLst>
                                            <p:cond delay="0"/>
                                          </p:stCondLst>
                                        </p:cTn>
                                        <p:tgtEl>
                                          <p:spTgt spid="635911"/>
                                        </p:tgtEl>
                                        <p:attrNameLst>
                                          <p:attrName>style.visibility</p:attrName>
                                        </p:attrNameLst>
                                      </p:cBhvr>
                                      <p:to>
                                        <p:strVal val="visible"/>
                                      </p:to>
                                    </p:set>
                                    <p:anim calcmode="lin" valueType="num">
                                      <p:cBhvr additive="base">
                                        <p:cTn id="24" dur="500" fill="hold"/>
                                        <p:tgtEl>
                                          <p:spTgt spid="635911"/>
                                        </p:tgtEl>
                                        <p:attrNameLst>
                                          <p:attrName>ppt_x</p:attrName>
                                        </p:attrNameLst>
                                      </p:cBhvr>
                                      <p:tavLst>
                                        <p:tav tm="0">
                                          <p:val>
                                            <p:strVal val="0-#ppt_w/2"/>
                                          </p:val>
                                        </p:tav>
                                        <p:tav tm="100000">
                                          <p:val>
                                            <p:strVal val="#ppt_x"/>
                                          </p:val>
                                        </p:tav>
                                      </p:tavLst>
                                    </p:anim>
                                    <p:anim calcmode="lin" valueType="num">
                                      <p:cBhvr additive="base">
                                        <p:cTn id="25" dur="500" fill="hold"/>
                                        <p:tgtEl>
                                          <p:spTgt spid="635911"/>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2500"/>
                            </p:stCondLst>
                            <p:childTnLst>
                              <p:par>
                                <p:cTn id="27" presetID="16" presetClass="entr" presetSubtype="42" fill="hold" grpId="0" nodeType="afterEffect">
                                  <p:stCondLst>
                                    <p:cond delay="0"/>
                                  </p:stCondLst>
                                  <p:childTnLst>
                                    <p:set>
                                      <p:cBhvr>
                                        <p:cTn id="28" dur="1" fill="hold">
                                          <p:stCondLst>
                                            <p:cond delay="0"/>
                                          </p:stCondLst>
                                        </p:cTn>
                                        <p:tgtEl>
                                          <p:spTgt spid="635912"/>
                                        </p:tgtEl>
                                        <p:attrNameLst>
                                          <p:attrName>style.visibility</p:attrName>
                                        </p:attrNameLst>
                                      </p:cBhvr>
                                      <p:to>
                                        <p:strVal val="visible"/>
                                      </p:to>
                                    </p:set>
                                    <p:animEffect transition="in" filter="barn(outHorizontal)">
                                      <p:cBhvr>
                                        <p:cTn id="29" dur="500"/>
                                        <p:tgtEl>
                                          <p:spTgt spid="635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6" grpId="0" autoUpdateAnimBg="0"/>
      <p:bldP spid="635908" grpId="0" animBg="1" autoUpdateAnimBg="0"/>
      <p:bldP spid="635909" grpId="0" animBg="1" autoUpdateAnimBg="0"/>
      <p:bldP spid="635910" grpId="0" animBg="1"/>
      <p:bldP spid="635911" grpId="0" animBg="1" autoUpdateAnimBg="0"/>
      <p:bldP spid="635912" grpId="0"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32CFD8F0-DC6A-442E-9079-561AF4336833}" type="slidenum">
              <a:rPr lang="en-US" altLang="zh-CN" sz="1400" b="0"/>
              <a:pPr eaLnBrk="1" hangingPunct="1"/>
              <a:t>125</a:t>
            </a:fld>
            <a:endParaRPr lang="en-US" altLang="zh-CN" sz="1400" b="0"/>
          </a:p>
        </p:txBody>
      </p:sp>
      <p:grpSp>
        <p:nvGrpSpPr>
          <p:cNvPr id="2" name="Group 2"/>
          <p:cNvGrpSpPr>
            <a:grpSpLocks/>
          </p:cNvGrpSpPr>
          <p:nvPr/>
        </p:nvGrpSpPr>
        <p:grpSpPr bwMode="auto">
          <a:xfrm>
            <a:off x="914400" y="1219200"/>
            <a:ext cx="6553200" cy="4195763"/>
            <a:chOff x="576" y="768"/>
            <a:chExt cx="4128" cy="2643"/>
          </a:xfrm>
        </p:grpSpPr>
        <p:sp>
          <p:nvSpPr>
            <p:cNvPr id="139269" name="Rectangle 3"/>
            <p:cNvSpPr>
              <a:spLocks noChangeArrowheads="1"/>
            </p:cNvSpPr>
            <p:nvPr/>
          </p:nvSpPr>
          <p:spPr bwMode="auto">
            <a:xfrm>
              <a:off x="576" y="2535"/>
              <a:ext cx="4128" cy="876"/>
            </a:xfrm>
            <a:prstGeom prst="rect">
              <a:avLst/>
            </a:prstGeom>
            <a:solidFill>
              <a:srgbClr val="FF6600"/>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endParaRPr kumimoji="0" lang="en-US" altLang="zh-CN" sz="2400"/>
            </a:p>
            <a:p>
              <a:pPr algn="ctr"/>
              <a:endParaRPr kumimoji="0" lang="en-US" altLang="zh-CN" sz="2400"/>
            </a:p>
            <a:p>
              <a:pPr algn="ctr"/>
              <a:r>
                <a:rPr kumimoji="0" lang="en-US" altLang="zh-CN" sz="3200">
                  <a:solidFill>
                    <a:srgbClr val="00FFFF"/>
                  </a:solidFill>
                </a:rPr>
                <a:t>C54x</a:t>
              </a:r>
            </a:p>
          </p:txBody>
        </p:sp>
        <p:sp>
          <p:nvSpPr>
            <p:cNvPr id="139270" name="Rectangle 4"/>
            <p:cNvSpPr>
              <a:spLocks noChangeArrowheads="1"/>
            </p:cNvSpPr>
            <p:nvPr/>
          </p:nvSpPr>
          <p:spPr bwMode="auto">
            <a:xfrm>
              <a:off x="576" y="2640"/>
              <a:ext cx="404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sz="2400">
                  <a:solidFill>
                    <a:schemeClr val="bg1"/>
                  </a:solidFill>
                </a:rPr>
                <a:t>TDX    TDR   TFSX   TFSR   TCLKX   TCLKR</a:t>
              </a:r>
            </a:p>
          </p:txBody>
        </p:sp>
        <p:sp>
          <p:nvSpPr>
            <p:cNvPr id="139271" name="Line 5"/>
            <p:cNvSpPr>
              <a:spLocks noChangeShapeType="1"/>
            </p:cNvSpPr>
            <p:nvPr/>
          </p:nvSpPr>
          <p:spPr bwMode="auto">
            <a:xfrm>
              <a:off x="588" y="2533"/>
              <a:ext cx="4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72" name="Rectangle 6"/>
            <p:cNvSpPr>
              <a:spLocks noChangeArrowheads="1"/>
            </p:cNvSpPr>
            <p:nvPr/>
          </p:nvSpPr>
          <p:spPr bwMode="auto">
            <a:xfrm>
              <a:off x="601" y="768"/>
              <a:ext cx="802" cy="445"/>
            </a:xfrm>
            <a:prstGeom prst="rect">
              <a:avLst/>
            </a:prstGeom>
            <a:solidFill>
              <a:schemeClr val="folHlink"/>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zh-CN" altLang="en-US" sz="2400">
                  <a:solidFill>
                    <a:schemeClr val="bg1"/>
                  </a:solidFill>
                  <a:latin typeface="宋体" panose="02010600030101010101" pitchFamily="2" charset="-122"/>
                </a:rPr>
                <a:t>器件</a:t>
              </a:r>
              <a:r>
                <a:rPr kumimoji="0" lang="en-US" altLang="zh-CN" sz="2400">
                  <a:solidFill>
                    <a:schemeClr val="bg1"/>
                  </a:solidFill>
                  <a:latin typeface="宋体" panose="02010600030101010101" pitchFamily="2" charset="-122"/>
                </a:rPr>
                <a:t>0</a:t>
              </a:r>
            </a:p>
          </p:txBody>
        </p:sp>
        <p:sp>
          <p:nvSpPr>
            <p:cNvPr id="139273" name="Rectangle 7"/>
            <p:cNvSpPr>
              <a:spLocks noChangeArrowheads="1"/>
            </p:cNvSpPr>
            <p:nvPr/>
          </p:nvSpPr>
          <p:spPr bwMode="auto">
            <a:xfrm>
              <a:off x="1679" y="768"/>
              <a:ext cx="802" cy="445"/>
            </a:xfrm>
            <a:prstGeom prst="rect">
              <a:avLst/>
            </a:prstGeom>
            <a:solidFill>
              <a:schemeClr val="folHlink"/>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zh-CN" altLang="en-US" sz="2400">
                  <a:solidFill>
                    <a:schemeClr val="bg1"/>
                  </a:solidFill>
                  <a:latin typeface="宋体" panose="02010600030101010101" pitchFamily="2" charset="-122"/>
                </a:rPr>
                <a:t>器件</a:t>
              </a:r>
              <a:r>
                <a:rPr kumimoji="0" lang="en-US" altLang="zh-CN" sz="2400">
                  <a:solidFill>
                    <a:schemeClr val="bg1"/>
                  </a:solidFill>
                  <a:latin typeface="宋体" panose="02010600030101010101" pitchFamily="2" charset="-122"/>
                </a:rPr>
                <a:t>1</a:t>
              </a:r>
            </a:p>
          </p:txBody>
        </p:sp>
        <p:sp>
          <p:nvSpPr>
            <p:cNvPr id="139274" name="Rectangle 8"/>
            <p:cNvSpPr>
              <a:spLocks noChangeArrowheads="1"/>
            </p:cNvSpPr>
            <p:nvPr/>
          </p:nvSpPr>
          <p:spPr bwMode="auto">
            <a:xfrm>
              <a:off x="3705" y="768"/>
              <a:ext cx="802" cy="445"/>
            </a:xfrm>
            <a:prstGeom prst="rect">
              <a:avLst/>
            </a:prstGeom>
            <a:solidFill>
              <a:schemeClr val="folHlink"/>
            </a:solidFill>
            <a:ln w="9525">
              <a:solidFill>
                <a:srgbClr val="000000"/>
              </a:solidFill>
              <a:miter lim="800000"/>
              <a:headEnd/>
              <a:tailEnd/>
            </a:ln>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zh-CN" altLang="en-US" sz="2400">
                  <a:solidFill>
                    <a:schemeClr val="bg1"/>
                  </a:solidFill>
                  <a:latin typeface="宋体" panose="02010600030101010101" pitchFamily="2" charset="-122"/>
                </a:rPr>
                <a:t>器件</a:t>
              </a:r>
              <a:r>
                <a:rPr kumimoji="0" lang="en-US" altLang="zh-CN" sz="2400">
                  <a:solidFill>
                    <a:schemeClr val="bg1"/>
                  </a:solidFill>
                  <a:latin typeface="宋体" panose="02010600030101010101" pitchFamily="2" charset="-122"/>
                </a:rPr>
                <a:t>7</a:t>
              </a:r>
            </a:p>
          </p:txBody>
        </p:sp>
        <p:sp>
          <p:nvSpPr>
            <p:cNvPr id="139275" name="Rectangle 9"/>
            <p:cNvSpPr>
              <a:spLocks noChangeArrowheads="1"/>
            </p:cNvSpPr>
            <p:nvPr/>
          </p:nvSpPr>
          <p:spPr bwMode="auto">
            <a:xfrm>
              <a:off x="2731" y="807"/>
              <a:ext cx="801"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0"/>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en-US" altLang="zh-CN" sz="2400"/>
                <a:t>……</a:t>
              </a:r>
              <a:endParaRPr kumimoji="0" lang="en-US" altLang="zh-CN" sz="2400">
                <a:latin typeface="宋体" panose="02010600030101010101" pitchFamily="2" charset="-122"/>
              </a:endParaRPr>
            </a:p>
          </p:txBody>
        </p:sp>
        <p:grpSp>
          <p:nvGrpSpPr>
            <p:cNvPr id="139276" name="Group 10"/>
            <p:cNvGrpSpPr>
              <a:grpSpLocks/>
            </p:cNvGrpSpPr>
            <p:nvPr/>
          </p:nvGrpSpPr>
          <p:grpSpPr bwMode="auto">
            <a:xfrm>
              <a:off x="785" y="1226"/>
              <a:ext cx="473" cy="601"/>
              <a:chOff x="2445" y="5100"/>
              <a:chExt cx="540" cy="690"/>
            </a:xfrm>
          </p:grpSpPr>
          <p:sp>
            <p:nvSpPr>
              <p:cNvPr id="139304" name="Line 11"/>
              <p:cNvSpPr>
                <a:spLocks noChangeShapeType="1"/>
              </p:cNvSpPr>
              <p:nvPr/>
            </p:nvSpPr>
            <p:spPr bwMode="auto">
              <a:xfrm>
                <a:off x="2445" y="5100"/>
                <a:ext cx="0" cy="6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305" name="Line 12"/>
              <p:cNvSpPr>
                <a:spLocks noChangeShapeType="1"/>
              </p:cNvSpPr>
              <p:nvPr/>
            </p:nvSpPr>
            <p:spPr bwMode="auto">
              <a:xfrm>
                <a:off x="2640" y="5100"/>
                <a:ext cx="0" cy="5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306" name="Line 13"/>
              <p:cNvSpPr>
                <a:spLocks noChangeShapeType="1"/>
              </p:cNvSpPr>
              <p:nvPr/>
            </p:nvSpPr>
            <p:spPr bwMode="auto">
              <a:xfrm>
                <a:off x="2820" y="5100"/>
                <a:ext cx="0" cy="4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307" name="Line 14"/>
              <p:cNvSpPr>
                <a:spLocks noChangeShapeType="1"/>
              </p:cNvSpPr>
              <p:nvPr/>
            </p:nvSpPr>
            <p:spPr bwMode="auto">
              <a:xfrm>
                <a:off x="2985" y="5100"/>
                <a:ext cx="0" cy="2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grpSp>
        <p:grpSp>
          <p:nvGrpSpPr>
            <p:cNvPr id="139277" name="Group 15"/>
            <p:cNvGrpSpPr>
              <a:grpSpLocks/>
            </p:cNvGrpSpPr>
            <p:nvPr/>
          </p:nvGrpSpPr>
          <p:grpSpPr bwMode="auto">
            <a:xfrm>
              <a:off x="1850" y="1226"/>
              <a:ext cx="473" cy="601"/>
              <a:chOff x="2445" y="5100"/>
              <a:chExt cx="540" cy="690"/>
            </a:xfrm>
          </p:grpSpPr>
          <p:sp>
            <p:nvSpPr>
              <p:cNvPr id="139300" name="Line 16"/>
              <p:cNvSpPr>
                <a:spLocks noChangeShapeType="1"/>
              </p:cNvSpPr>
              <p:nvPr/>
            </p:nvSpPr>
            <p:spPr bwMode="auto">
              <a:xfrm>
                <a:off x="2445" y="5100"/>
                <a:ext cx="0" cy="6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301" name="Line 17"/>
              <p:cNvSpPr>
                <a:spLocks noChangeShapeType="1"/>
              </p:cNvSpPr>
              <p:nvPr/>
            </p:nvSpPr>
            <p:spPr bwMode="auto">
              <a:xfrm>
                <a:off x="2640" y="5100"/>
                <a:ext cx="0" cy="5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302" name="Line 18"/>
              <p:cNvSpPr>
                <a:spLocks noChangeShapeType="1"/>
              </p:cNvSpPr>
              <p:nvPr/>
            </p:nvSpPr>
            <p:spPr bwMode="auto">
              <a:xfrm>
                <a:off x="2820" y="5100"/>
                <a:ext cx="0" cy="4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303" name="Line 19"/>
              <p:cNvSpPr>
                <a:spLocks noChangeShapeType="1"/>
              </p:cNvSpPr>
              <p:nvPr/>
            </p:nvSpPr>
            <p:spPr bwMode="auto">
              <a:xfrm>
                <a:off x="2985" y="5100"/>
                <a:ext cx="0" cy="2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grpSp>
        <p:grpSp>
          <p:nvGrpSpPr>
            <p:cNvPr id="139278" name="Group 20"/>
            <p:cNvGrpSpPr>
              <a:grpSpLocks/>
            </p:cNvGrpSpPr>
            <p:nvPr/>
          </p:nvGrpSpPr>
          <p:grpSpPr bwMode="auto">
            <a:xfrm>
              <a:off x="3887" y="1226"/>
              <a:ext cx="474" cy="601"/>
              <a:chOff x="2445" y="5100"/>
              <a:chExt cx="540" cy="690"/>
            </a:xfrm>
          </p:grpSpPr>
          <p:sp>
            <p:nvSpPr>
              <p:cNvPr id="139296" name="Line 21"/>
              <p:cNvSpPr>
                <a:spLocks noChangeShapeType="1"/>
              </p:cNvSpPr>
              <p:nvPr/>
            </p:nvSpPr>
            <p:spPr bwMode="auto">
              <a:xfrm>
                <a:off x="2445" y="5100"/>
                <a:ext cx="0" cy="6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97" name="Line 22"/>
              <p:cNvSpPr>
                <a:spLocks noChangeShapeType="1"/>
              </p:cNvSpPr>
              <p:nvPr/>
            </p:nvSpPr>
            <p:spPr bwMode="auto">
              <a:xfrm>
                <a:off x="2640" y="5100"/>
                <a:ext cx="0" cy="5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98" name="Line 23"/>
              <p:cNvSpPr>
                <a:spLocks noChangeShapeType="1"/>
              </p:cNvSpPr>
              <p:nvPr/>
            </p:nvSpPr>
            <p:spPr bwMode="auto">
              <a:xfrm>
                <a:off x="2820" y="5100"/>
                <a:ext cx="0" cy="4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99" name="Line 24"/>
              <p:cNvSpPr>
                <a:spLocks noChangeShapeType="1"/>
              </p:cNvSpPr>
              <p:nvPr/>
            </p:nvSpPr>
            <p:spPr bwMode="auto">
              <a:xfrm>
                <a:off x="2985" y="5100"/>
                <a:ext cx="0" cy="2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grpSp>
        <p:sp>
          <p:nvSpPr>
            <p:cNvPr id="139279" name="Line 25"/>
            <p:cNvSpPr>
              <a:spLocks noChangeShapeType="1"/>
            </p:cNvSpPr>
            <p:nvPr/>
          </p:nvSpPr>
          <p:spPr bwMode="auto">
            <a:xfrm>
              <a:off x="798" y="1827"/>
              <a:ext cx="30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80" name="Line 26"/>
            <p:cNvSpPr>
              <a:spLocks noChangeShapeType="1"/>
            </p:cNvSpPr>
            <p:nvPr/>
          </p:nvSpPr>
          <p:spPr bwMode="auto">
            <a:xfrm>
              <a:off x="969" y="1696"/>
              <a:ext cx="30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81" name="Line 27"/>
            <p:cNvSpPr>
              <a:spLocks noChangeShapeType="1"/>
            </p:cNvSpPr>
            <p:nvPr/>
          </p:nvSpPr>
          <p:spPr bwMode="auto">
            <a:xfrm>
              <a:off x="1114" y="1579"/>
              <a:ext cx="30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82" name="Line 28"/>
            <p:cNvSpPr>
              <a:spLocks noChangeShapeType="1"/>
            </p:cNvSpPr>
            <p:nvPr/>
          </p:nvSpPr>
          <p:spPr bwMode="auto">
            <a:xfrm>
              <a:off x="1271" y="1474"/>
              <a:ext cx="30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83" name="Line 29"/>
            <p:cNvSpPr>
              <a:spLocks noChangeShapeType="1"/>
            </p:cNvSpPr>
            <p:nvPr/>
          </p:nvSpPr>
          <p:spPr bwMode="auto">
            <a:xfrm flipH="1">
              <a:off x="955" y="1824"/>
              <a:ext cx="5" cy="382"/>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9284" name="Line 30"/>
            <p:cNvSpPr>
              <a:spLocks noChangeShapeType="1"/>
            </p:cNvSpPr>
            <p:nvPr/>
          </p:nvSpPr>
          <p:spPr bwMode="auto">
            <a:xfrm flipV="1">
              <a:off x="955" y="2350"/>
              <a:ext cx="0" cy="18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9285" name="Line 31"/>
            <p:cNvSpPr>
              <a:spLocks noChangeShapeType="1"/>
            </p:cNvSpPr>
            <p:nvPr/>
          </p:nvSpPr>
          <p:spPr bwMode="auto">
            <a:xfrm>
              <a:off x="955" y="2154"/>
              <a:ext cx="0" cy="2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86" name="Line 32"/>
            <p:cNvSpPr>
              <a:spLocks noChangeShapeType="1"/>
            </p:cNvSpPr>
            <p:nvPr/>
          </p:nvSpPr>
          <p:spPr bwMode="auto">
            <a:xfrm>
              <a:off x="1508" y="2285"/>
              <a:ext cx="0" cy="2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9287" name="Line 33"/>
            <p:cNvSpPr>
              <a:spLocks noChangeShapeType="1"/>
            </p:cNvSpPr>
            <p:nvPr/>
          </p:nvSpPr>
          <p:spPr bwMode="auto">
            <a:xfrm>
              <a:off x="955" y="2272"/>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88" name="Line 34"/>
            <p:cNvSpPr>
              <a:spLocks noChangeShapeType="1"/>
            </p:cNvSpPr>
            <p:nvPr/>
          </p:nvSpPr>
          <p:spPr bwMode="auto">
            <a:xfrm>
              <a:off x="2112" y="1709"/>
              <a:ext cx="0" cy="3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89" name="Line 35"/>
            <p:cNvSpPr>
              <a:spLocks noChangeShapeType="1"/>
            </p:cNvSpPr>
            <p:nvPr/>
          </p:nvSpPr>
          <p:spPr bwMode="auto">
            <a:xfrm flipV="1">
              <a:off x="2112" y="1984"/>
              <a:ext cx="0" cy="549"/>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9290" name="Line 36"/>
            <p:cNvSpPr>
              <a:spLocks noChangeShapeType="1"/>
            </p:cNvSpPr>
            <p:nvPr/>
          </p:nvSpPr>
          <p:spPr bwMode="auto">
            <a:xfrm>
              <a:off x="2691" y="1579"/>
              <a:ext cx="0" cy="4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91" name="Line 37"/>
            <p:cNvSpPr>
              <a:spLocks noChangeShapeType="1"/>
            </p:cNvSpPr>
            <p:nvPr/>
          </p:nvSpPr>
          <p:spPr bwMode="auto">
            <a:xfrm flipV="1">
              <a:off x="2691" y="1997"/>
              <a:ext cx="0" cy="53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9292" name="Line 38"/>
            <p:cNvSpPr>
              <a:spLocks noChangeShapeType="1"/>
            </p:cNvSpPr>
            <p:nvPr/>
          </p:nvSpPr>
          <p:spPr bwMode="auto">
            <a:xfrm>
              <a:off x="3374" y="1474"/>
              <a:ext cx="0" cy="5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93" name="Line 39"/>
            <p:cNvSpPr>
              <a:spLocks noChangeShapeType="1"/>
            </p:cNvSpPr>
            <p:nvPr/>
          </p:nvSpPr>
          <p:spPr bwMode="auto">
            <a:xfrm flipV="1">
              <a:off x="3374" y="1997"/>
              <a:ext cx="0" cy="53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sp>
          <p:nvSpPr>
            <p:cNvPr id="139294" name="Line 40"/>
            <p:cNvSpPr>
              <a:spLocks noChangeShapeType="1"/>
            </p:cNvSpPr>
            <p:nvPr/>
          </p:nvSpPr>
          <p:spPr bwMode="auto">
            <a:xfrm>
              <a:off x="3374" y="2272"/>
              <a:ext cx="81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08000"/>
            <a:lstStyle/>
            <a:p>
              <a:endParaRPr lang="zh-CN" altLang="en-US"/>
            </a:p>
          </p:txBody>
        </p:sp>
        <p:sp>
          <p:nvSpPr>
            <p:cNvPr id="139295" name="Line 41"/>
            <p:cNvSpPr>
              <a:spLocks noChangeShapeType="1"/>
            </p:cNvSpPr>
            <p:nvPr/>
          </p:nvSpPr>
          <p:spPr bwMode="auto">
            <a:xfrm>
              <a:off x="4203" y="2272"/>
              <a:ext cx="0" cy="26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tIns="108000"/>
            <a:lstStyle/>
            <a:p>
              <a:endParaRPr lang="zh-CN" altLang="en-US"/>
            </a:p>
          </p:txBody>
        </p:sp>
      </p:grpSp>
      <p:sp>
        <p:nvSpPr>
          <p:cNvPr id="636970" name="Text Box 42"/>
          <p:cNvSpPr txBox="1">
            <a:spLocks noChangeArrowheads="1"/>
          </p:cNvSpPr>
          <p:nvPr/>
        </p:nvSpPr>
        <p:spPr bwMode="auto">
          <a:xfrm>
            <a:off x="2079625" y="5943600"/>
            <a:ext cx="43211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spcAft>
                <a:spcPts val="800"/>
              </a:spcAft>
            </a:pPr>
            <a:r>
              <a:rPr kumimoji="0" lang="en-US" altLang="zh-CN" sz="2800">
                <a:latin typeface="宋体" panose="02010600030101010101" pitchFamily="2" charset="-122"/>
              </a:rPr>
              <a:t>TDM</a:t>
            </a:r>
            <a:r>
              <a:rPr kumimoji="0" lang="zh-CN" altLang="en-US" sz="2800">
                <a:latin typeface="宋体" panose="02010600030101010101" pitchFamily="2" charset="-122"/>
              </a:rPr>
              <a:t>时分多路串口连接</a:t>
            </a:r>
            <a:endParaRPr kumimoji="0" lang="zh-CN" altLang="en-US" sz="280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36970"/>
                                        </p:tgtEl>
                                        <p:attrNameLst>
                                          <p:attrName>style.visibility</p:attrName>
                                        </p:attrNameLst>
                                      </p:cBhvr>
                                      <p:to>
                                        <p:strVal val="visible"/>
                                      </p:to>
                                    </p:set>
                                    <p:anim calcmode="lin" valueType="num">
                                      <p:cBhvr additive="base">
                                        <p:cTn id="11" dur="500" fill="hold"/>
                                        <p:tgtEl>
                                          <p:spTgt spid="636970"/>
                                        </p:tgtEl>
                                        <p:attrNameLst>
                                          <p:attrName>ppt_x</p:attrName>
                                        </p:attrNameLst>
                                      </p:cBhvr>
                                      <p:tavLst>
                                        <p:tav tm="0">
                                          <p:val>
                                            <p:strVal val="0-#ppt_w/2"/>
                                          </p:val>
                                        </p:tav>
                                        <p:tav tm="100000">
                                          <p:val>
                                            <p:strVal val="#ppt_x"/>
                                          </p:val>
                                        </p:tav>
                                      </p:tavLst>
                                    </p:anim>
                                    <p:anim calcmode="lin" valueType="num">
                                      <p:cBhvr additive="base">
                                        <p:cTn id="12" dur="500" fill="hold"/>
                                        <p:tgtEl>
                                          <p:spTgt spid="6369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70" grpId="0"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A732D61-8D59-432A-8633-4D7B77D9C0D8}" type="slidenum">
              <a:rPr lang="en-US" altLang="zh-CN" sz="1400" b="0"/>
              <a:pPr eaLnBrk="1" hangingPunct="1"/>
              <a:t>126</a:t>
            </a:fld>
            <a:endParaRPr lang="en-US" altLang="zh-CN" sz="1400" b="0"/>
          </a:p>
        </p:txBody>
      </p:sp>
      <p:sp>
        <p:nvSpPr>
          <p:cNvPr id="140291" name="Rectangle 2"/>
          <p:cNvSpPr>
            <a:spLocks noChangeArrowheads="1"/>
          </p:cNvSpPr>
          <p:nvPr/>
        </p:nvSpPr>
        <p:spPr bwMode="auto">
          <a:xfrm>
            <a:off x="250825" y="1557338"/>
            <a:ext cx="8458200"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3200">
                <a:solidFill>
                  <a:schemeClr val="tx2"/>
                </a:solidFill>
                <a:latin typeface="宋体" panose="02010600030101010101" pitchFamily="2" charset="-122"/>
              </a:rPr>
              <a:t>时分多路串行口是一个允许数据时分多路的同步串口，它将时间间隔分成若干个子间隔，按照事先规定，每个子间隔表示一个通信信道。</a:t>
            </a:r>
            <a:r>
              <a:rPr lang="en-US" altLang="zh-CN" sz="3200">
                <a:solidFill>
                  <a:schemeClr val="tx2"/>
                </a:solidFill>
                <a:latin typeface="宋体" panose="02010600030101010101" pitchFamily="2" charset="-122"/>
              </a:rPr>
              <a:t>C54x </a:t>
            </a:r>
            <a:r>
              <a:rPr lang="zh-CN" altLang="en-US" sz="3200">
                <a:solidFill>
                  <a:schemeClr val="tx2"/>
                </a:solidFill>
                <a:latin typeface="宋体" panose="02010600030101010101" pitchFamily="2" charset="-122"/>
              </a:rPr>
              <a:t>的</a:t>
            </a:r>
            <a:r>
              <a:rPr lang="en-US" altLang="zh-CN" sz="3200">
                <a:solidFill>
                  <a:schemeClr val="tx2"/>
                </a:solidFill>
                <a:latin typeface="宋体" panose="02010600030101010101" pitchFamily="2" charset="-122"/>
              </a:rPr>
              <a:t>TDM</a:t>
            </a:r>
            <a:r>
              <a:rPr lang="zh-CN" altLang="en-US" sz="3200">
                <a:solidFill>
                  <a:schemeClr val="tx2"/>
                </a:solidFill>
                <a:latin typeface="宋体" panose="02010600030101010101" pitchFamily="2" charset="-122"/>
              </a:rPr>
              <a:t>最多可以有</a:t>
            </a:r>
            <a:r>
              <a:rPr lang="en-US" altLang="zh-CN" sz="3200">
                <a:solidFill>
                  <a:schemeClr val="tx2"/>
                </a:solidFill>
                <a:latin typeface="宋体" panose="02010600030101010101" pitchFamily="2" charset="-122"/>
              </a:rPr>
              <a:t>8</a:t>
            </a:r>
            <a:r>
              <a:rPr lang="zh-CN" altLang="en-US" sz="3200">
                <a:solidFill>
                  <a:schemeClr val="tx2"/>
                </a:solidFill>
                <a:latin typeface="宋体" panose="02010600030101010101" pitchFamily="2" charset="-122"/>
              </a:rPr>
              <a:t>个</a:t>
            </a:r>
            <a:r>
              <a:rPr lang="en-US" altLang="zh-CN" sz="3200">
                <a:solidFill>
                  <a:schemeClr val="tx2"/>
                </a:solidFill>
                <a:latin typeface="宋体" panose="02010600030101010101" pitchFamily="2" charset="-122"/>
              </a:rPr>
              <a:t>TDM</a:t>
            </a:r>
            <a:r>
              <a:rPr lang="zh-CN" altLang="en-US" sz="3200">
                <a:solidFill>
                  <a:schemeClr val="tx2"/>
                </a:solidFill>
                <a:latin typeface="宋体" panose="02010600030101010101" pitchFamily="2" charset="-122"/>
              </a:rPr>
              <a:t>信道可用。</a:t>
            </a:r>
          </a:p>
          <a:p>
            <a:pPr algn="just" eaLnBrk="1" hangingPunct="1"/>
            <a:r>
              <a:rPr lang="zh-CN" altLang="en-US" sz="3200">
                <a:latin typeface="宋体" panose="02010600030101010101" pitchFamily="2" charset="-122"/>
              </a:rPr>
              <a:t>每种器件，可以用一个信道发送数据，用</a:t>
            </a:r>
            <a:r>
              <a:rPr lang="en-US" altLang="zh-CN" sz="3200">
                <a:latin typeface="宋体" panose="02010600030101010101" pitchFamily="2" charset="-122"/>
              </a:rPr>
              <a:t>8</a:t>
            </a:r>
            <a:r>
              <a:rPr lang="zh-CN" altLang="en-US" sz="3200">
                <a:latin typeface="宋体" panose="02010600030101010101" pitchFamily="2" charset="-122"/>
              </a:rPr>
              <a:t>个信道中的一个或多个信道接收数据。这样，</a:t>
            </a:r>
            <a:r>
              <a:rPr lang="en-US" altLang="zh-CN" sz="3200">
                <a:latin typeface="宋体" panose="02010600030101010101" pitchFamily="2" charset="-122"/>
              </a:rPr>
              <a:t>TDM</a:t>
            </a:r>
            <a:r>
              <a:rPr lang="zh-CN" altLang="en-US" sz="3200">
                <a:latin typeface="宋体" panose="02010600030101010101" pitchFamily="2" charset="-122"/>
              </a:rPr>
              <a:t>为多处理器通信提供了简便而有效的接口，因而在多处理器应用中得到广泛使用。</a:t>
            </a:r>
          </a:p>
        </p:txBody>
      </p:sp>
    </p:spTree>
  </p:cSld>
  <p:clrMapOvr>
    <a:masterClrMapping/>
  </p:clrMapOvr>
  <p:transition spd="med">
    <p:pull dir="lu"/>
  </p:transition>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8978" name="Rectangle 2"/>
          <p:cNvSpPr>
            <a:spLocks noGrp="1" noChangeArrowheads="1"/>
          </p:cNvSpPr>
          <p:nvPr>
            <p:ph type="title"/>
          </p:nvPr>
        </p:nvSpPr>
        <p:spPr bwMode="auto">
          <a:xfrm>
            <a:off x="685800" y="1143000"/>
            <a:ext cx="7772400" cy="7731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rPr>
              <a:t>第七节  外设接口</a:t>
            </a:r>
            <a:r>
              <a:rPr lang="zh-CN" altLang="en-US" b="1"/>
              <a:t> </a:t>
            </a:r>
          </a:p>
        </p:txBody>
      </p:sp>
      <p:sp>
        <p:nvSpPr>
          <p:cNvPr id="141315" name="Rectangle 3"/>
          <p:cNvSpPr>
            <a:spLocks noGrp="1" noChangeArrowheads="1"/>
          </p:cNvSpPr>
          <p:nvPr>
            <p:ph idx="1"/>
          </p:nvPr>
        </p:nvSpPr>
        <p:spPr bwMode="auto">
          <a:xfrm>
            <a:off x="5181600" y="2667000"/>
            <a:ext cx="3048000" cy="1752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zh-CN" altLang="en-US" b="1"/>
              <a:t>数据总线</a:t>
            </a:r>
          </a:p>
          <a:p>
            <a:pPr eaLnBrk="1" hangingPunct="1">
              <a:buFontTx/>
              <a:buNone/>
            </a:pPr>
            <a:r>
              <a:rPr lang="zh-CN" altLang="en-US" b="1"/>
              <a:t>地址总线</a:t>
            </a:r>
          </a:p>
          <a:p>
            <a:pPr eaLnBrk="1" hangingPunct="1">
              <a:buFontTx/>
              <a:buNone/>
            </a:pPr>
            <a:r>
              <a:rPr lang="zh-CN" altLang="en-US" b="1"/>
              <a:t>一组控制信号</a:t>
            </a:r>
          </a:p>
        </p:txBody>
      </p:sp>
      <p:sp>
        <p:nvSpPr>
          <p:cNvPr id="14131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51553C3-B64F-4BEA-B995-E4073870C0AF}" type="slidenum">
              <a:rPr lang="en-US" altLang="zh-CN" sz="1400" b="0"/>
              <a:pPr eaLnBrk="1" hangingPunct="1"/>
              <a:t>127</a:t>
            </a:fld>
            <a:endParaRPr lang="en-US" altLang="zh-CN" sz="1400" b="0"/>
          </a:p>
        </p:txBody>
      </p:sp>
      <p:sp>
        <p:nvSpPr>
          <p:cNvPr id="638980" name="Rectangle 4"/>
          <p:cNvSpPr>
            <a:spLocks noChangeArrowheads="1"/>
          </p:cNvSpPr>
          <p:nvPr/>
        </p:nvSpPr>
        <p:spPr bwMode="auto">
          <a:xfrm>
            <a:off x="2133600" y="1981200"/>
            <a:ext cx="4756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a:solidFill>
                  <a:srgbClr val="FF0066"/>
                </a:solidFill>
              </a:rPr>
              <a:t>一、外设接口的时序关系</a:t>
            </a:r>
            <a:r>
              <a:rPr lang="zh-CN" altLang="en-US" sz="3200"/>
              <a:t> </a:t>
            </a:r>
          </a:p>
        </p:txBody>
      </p:sp>
      <p:sp>
        <p:nvSpPr>
          <p:cNvPr id="638981" name="Rectangle 5" descr="小棋盘"/>
          <p:cNvSpPr>
            <a:spLocks noChangeArrowheads="1"/>
          </p:cNvSpPr>
          <p:nvPr/>
        </p:nvSpPr>
        <p:spPr bwMode="auto">
          <a:xfrm>
            <a:off x="539750" y="3200400"/>
            <a:ext cx="3600450" cy="588963"/>
          </a:xfrm>
          <a:prstGeom prst="rect">
            <a:avLst/>
          </a:prstGeom>
          <a:pattFill prst="smCheck">
            <a:fgClr>
              <a:srgbClr val="FFFF00"/>
            </a:fgClr>
            <a:bgClr>
              <a:srgbClr val="FFFFFF"/>
            </a:bgClr>
          </a:patt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solidFill>
                  <a:srgbClr val="FF0000"/>
                </a:solidFill>
                <a:ea typeface="仿宋_GB2312" pitchFamily="49" charset="-122"/>
              </a:rPr>
              <a:t>外设接口引线</a:t>
            </a:r>
          </a:p>
        </p:txBody>
      </p:sp>
      <p:sp>
        <p:nvSpPr>
          <p:cNvPr id="638982" name="Rectangle 6" descr="窄横线"/>
          <p:cNvSpPr>
            <a:spLocks noChangeArrowheads="1"/>
          </p:cNvSpPr>
          <p:nvPr/>
        </p:nvSpPr>
        <p:spPr bwMode="auto">
          <a:xfrm>
            <a:off x="5105400" y="5029200"/>
            <a:ext cx="2274888" cy="1320800"/>
          </a:xfrm>
          <a:prstGeom prst="rect">
            <a:avLst/>
          </a:prstGeom>
          <a:pattFill prst="narHorz">
            <a:fgClr>
              <a:srgbClr val="FFFF00"/>
            </a:fgClr>
            <a:bgClr>
              <a:srgbClr val="FFFFFF"/>
            </a:bgClr>
          </a:patt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solidFill>
                  <a:schemeClr val="folHlink"/>
                </a:solidFill>
                <a:latin typeface="宋体" panose="02010600030101010101" pitchFamily="2" charset="-122"/>
              </a:rPr>
              <a:t>片外存储器</a:t>
            </a:r>
          </a:p>
          <a:p>
            <a:pPr eaLnBrk="1" hangingPunct="1">
              <a:spcBef>
                <a:spcPct val="50000"/>
              </a:spcBef>
            </a:pPr>
            <a:r>
              <a:rPr lang="en-US" altLang="zh-CN" sz="3200">
                <a:solidFill>
                  <a:srgbClr val="FF00FF"/>
                </a:solidFill>
                <a:latin typeface="宋体" panose="02010600030101010101" pitchFamily="2" charset="-122"/>
              </a:rPr>
              <a:t>I/O</a:t>
            </a:r>
            <a:r>
              <a:rPr lang="zh-CN" altLang="en-US" sz="3200">
                <a:solidFill>
                  <a:srgbClr val="FF00FF"/>
                </a:solidFill>
                <a:latin typeface="宋体" panose="02010600030101010101" pitchFamily="2" charset="-122"/>
              </a:rPr>
              <a:t>口</a:t>
            </a:r>
            <a:r>
              <a:rPr lang="zh-CN" altLang="en-US" sz="3200">
                <a:latin typeface="宋体" panose="02010600030101010101" pitchFamily="2" charset="-122"/>
              </a:rPr>
              <a:t> </a:t>
            </a:r>
          </a:p>
        </p:txBody>
      </p:sp>
      <p:sp>
        <p:nvSpPr>
          <p:cNvPr id="638983" name="Rectangle 7" descr="小棋盘"/>
          <p:cNvSpPr>
            <a:spLocks noChangeArrowheads="1"/>
          </p:cNvSpPr>
          <p:nvPr/>
        </p:nvSpPr>
        <p:spPr bwMode="auto">
          <a:xfrm>
            <a:off x="1295400" y="5334000"/>
            <a:ext cx="1006475" cy="588963"/>
          </a:xfrm>
          <a:prstGeom prst="rect">
            <a:avLst/>
          </a:prstGeom>
          <a:pattFill prst="smCheck">
            <a:fgClr>
              <a:srgbClr val="FFFF00"/>
            </a:fgClr>
            <a:bgClr>
              <a:srgbClr val="FFFFFF"/>
            </a:bgClr>
          </a:pattFill>
          <a:ln w="9525">
            <a:solidFill>
              <a:schemeClr val="folHlink"/>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solidFill>
                  <a:srgbClr val="FF0000"/>
                </a:solidFill>
                <a:latin typeface="Arial" panose="020B0604020202020204" pitchFamily="34" charset="0"/>
              </a:rPr>
              <a:t>作用</a:t>
            </a:r>
          </a:p>
        </p:txBody>
      </p:sp>
      <p:sp>
        <p:nvSpPr>
          <p:cNvPr id="638984" name="Rectangle 8"/>
          <p:cNvSpPr>
            <a:spLocks noChangeArrowheads="1"/>
          </p:cNvSpPr>
          <p:nvPr/>
        </p:nvSpPr>
        <p:spPr bwMode="auto">
          <a:xfrm>
            <a:off x="3048000" y="5029200"/>
            <a:ext cx="1000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t>寻址</a:t>
            </a:r>
          </a:p>
        </p:txBody>
      </p:sp>
      <p:sp>
        <p:nvSpPr>
          <p:cNvPr id="638985" name="Line 9"/>
          <p:cNvSpPr>
            <a:spLocks noChangeShapeType="1"/>
          </p:cNvSpPr>
          <p:nvPr/>
        </p:nvSpPr>
        <p:spPr bwMode="auto">
          <a:xfrm>
            <a:off x="2362200" y="5715000"/>
            <a:ext cx="2514600" cy="0"/>
          </a:xfrm>
          <a:prstGeom prst="line">
            <a:avLst/>
          </a:prstGeom>
          <a:noFill/>
          <a:ln w="7620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38986" name="AutoShape 10"/>
          <p:cNvSpPr>
            <a:spLocks/>
          </p:cNvSpPr>
          <p:nvPr/>
        </p:nvSpPr>
        <p:spPr bwMode="auto">
          <a:xfrm>
            <a:off x="4343400" y="2895600"/>
            <a:ext cx="457200" cy="1295400"/>
          </a:xfrm>
          <a:prstGeom prst="leftBrace">
            <a:avLst>
              <a:gd name="adj1" fmla="val 23611"/>
              <a:gd name="adj2" fmla="val 50000"/>
            </a:avLst>
          </a:prstGeom>
          <a:noFill/>
          <a:ln w="412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38978"/>
                                        </p:tgtEl>
                                        <p:attrNameLst>
                                          <p:attrName>style.visibility</p:attrName>
                                        </p:attrNameLst>
                                      </p:cBhvr>
                                      <p:to>
                                        <p:strVal val="visible"/>
                                      </p:to>
                                    </p:set>
                                    <p:anim calcmode="lin" valueType="num">
                                      <p:cBhvr additive="base">
                                        <p:cTn id="7" dur="500" fill="hold"/>
                                        <p:tgtEl>
                                          <p:spTgt spid="638978"/>
                                        </p:tgtEl>
                                        <p:attrNameLst>
                                          <p:attrName>ppt_x</p:attrName>
                                        </p:attrNameLst>
                                      </p:cBhvr>
                                      <p:tavLst>
                                        <p:tav tm="0">
                                          <p:val>
                                            <p:strVal val="1+#ppt_w/2"/>
                                          </p:val>
                                        </p:tav>
                                        <p:tav tm="100000">
                                          <p:val>
                                            <p:strVal val="#ppt_x"/>
                                          </p:val>
                                        </p:tav>
                                      </p:tavLst>
                                    </p:anim>
                                    <p:anim calcmode="lin" valueType="num">
                                      <p:cBhvr additive="base">
                                        <p:cTn id="8" dur="500" fill="hold"/>
                                        <p:tgtEl>
                                          <p:spTgt spid="63897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38980"/>
                                        </p:tgtEl>
                                        <p:attrNameLst>
                                          <p:attrName>style.visibility</p:attrName>
                                        </p:attrNameLst>
                                      </p:cBhvr>
                                      <p:to>
                                        <p:strVal val="visible"/>
                                      </p:to>
                                    </p:set>
                                    <p:anim calcmode="lin" valueType="num">
                                      <p:cBhvr additive="base">
                                        <p:cTn id="12" dur="500" fill="hold"/>
                                        <p:tgtEl>
                                          <p:spTgt spid="638980"/>
                                        </p:tgtEl>
                                        <p:attrNameLst>
                                          <p:attrName>ppt_x</p:attrName>
                                        </p:attrNameLst>
                                      </p:cBhvr>
                                      <p:tavLst>
                                        <p:tav tm="0">
                                          <p:val>
                                            <p:strVal val="0-#ppt_w/2"/>
                                          </p:val>
                                        </p:tav>
                                        <p:tav tm="100000">
                                          <p:val>
                                            <p:strVal val="#ppt_x"/>
                                          </p:val>
                                        </p:tav>
                                      </p:tavLst>
                                    </p:anim>
                                    <p:anim calcmode="lin" valueType="num">
                                      <p:cBhvr additive="base">
                                        <p:cTn id="13" dur="500" fill="hold"/>
                                        <p:tgtEl>
                                          <p:spTgt spid="638980"/>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638981"/>
                                        </p:tgtEl>
                                        <p:attrNameLst>
                                          <p:attrName>style.visibility</p:attrName>
                                        </p:attrNameLst>
                                      </p:cBhvr>
                                      <p:to>
                                        <p:strVal val="visible"/>
                                      </p:to>
                                    </p:set>
                                    <p:anim calcmode="lin" valueType="num">
                                      <p:cBhvr additive="base">
                                        <p:cTn id="17" dur="500" fill="hold"/>
                                        <p:tgtEl>
                                          <p:spTgt spid="638981"/>
                                        </p:tgtEl>
                                        <p:attrNameLst>
                                          <p:attrName>ppt_x</p:attrName>
                                        </p:attrNameLst>
                                      </p:cBhvr>
                                      <p:tavLst>
                                        <p:tav tm="0">
                                          <p:val>
                                            <p:strVal val="0-#ppt_w/2"/>
                                          </p:val>
                                        </p:tav>
                                        <p:tav tm="100000">
                                          <p:val>
                                            <p:strVal val="#ppt_x"/>
                                          </p:val>
                                        </p:tav>
                                      </p:tavLst>
                                    </p:anim>
                                    <p:anim calcmode="lin" valueType="num">
                                      <p:cBhvr additive="base">
                                        <p:cTn id="18" dur="500" fill="hold"/>
                                        <p:tgtEl>
                                          <p:spTgt spid="638981"/>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12" presetClass="entr" presetSubtype="8" fill="hold" grpId="0" nodeType="afterEffect">
                                  <p:stCondLst>
                                    <p:cond delay="0"/>
                                  </p:stCondLst>
                                  <p:childTnLst>
                                    <p:set>
                                      <p:cBhvr>
                                        <p:cTn id="21" dur="1" fill="hold">
                                          <p:stCondLst>
                                            <p:cond delay="0"/>
                                          </p:stCondLst>
                                        </p:cTn>
                                        <p:tgtEl>
                                          <p:spTgt spid="638986"/>
                                        </p:tgtEl>
                                        <p:attrNameLst>
                                          <p:attrName>style.visibility</p:attrName>
                                        </p:attrNameLst>
                                      </p:cBhvr>
                                      <p:to>
                                        <p:strVal val="visible"/>
                                      </p:to>
                                    </p:set>
                                    <p:animEffect transition="in" filter="slide(fromLeft)">
                                      <p:cBhvr>
                                        <p:cTn id="22" dur="500"/>
                                        <p:tgtEl>
                                          <p:spTgt spid="638986"/>
                                        </p:tgtEl>
                                      </p:cBhvr>
                                    </p:animEffect>
                                  </p:childTnLst>
                                </p:cTn>
                              </p:par>
                            </p:childTnLst>
                          </p:cTn>
                        </p:par>
                        <p:par>
                          <p:cTn id="23" fill="hold" nodeType="afterGroup">
                            <p:stCondLst>
                              <p:cond delay="2000"/>
                            </p:stCondLst>
                            <p:childTnLst>
                              <p:par>
                                <p:cTn id="24" presetID="2" presetClass="entr" presetSubtype="8" fill="hold" grpId="0" nodeType="afterEffect">
                                  <p:stCondLst>
                                    <p:cond delay="0"/>
                                  </p:stCondLst>
                                  <p:childTnLst>
                                    <p:set>
                                      <p:cBhvr>
                                        <p:cTn id="25" dur="1" fill="hold">
                                          <p:stCondLst>
                                            <p:cond delay="0"/>
                                          </p:stCondLst>
                                        </p:cTn>
                                        <p:tgtEl>
                                          <p:spTgt spid="638983"/>
                                        </p:tgtEl>
                                        <p:attrNameLst>
                                          <p:attrName>style.visibility</p:attrName>
                                        </p:attrNameLst>
                                      </p:cBhvr>
                                      <p:to>
                                        <p:strVal val="visible"/>
                                      </p:to>
                                    </p:set>
                                    <p:anim calcmode="lin" valueType="num">
                                      <p:cBhvr additive="base">
                                        <p:cTn id="26" dur="500" fill="hold"/>
                                        <p:tgtEl>
                                          <p:spTgt spid="638983"/>
                                        </p:tgtEl>
                                        <p:attrNameLst>
                                          <p:attrName>ppt_x</p:attrName>
                                        </p:attrNameLst>
                                      </p:cBhvr>
                                      <p:tavLst>
                                        <p:tav tm="0">
                                          <p:val>
                                            <p:strVal val="0-#ppt_w/2"/>
                                          </p:val>
                                        </p:tav>
                                        <p:tav tm="100000">
                                          <p:val>
                                            <p:strVal val="#ppt_x"/>
                                          </p:val>
                                        </p:tav>
                                      </p:tavLst>
                                    </p:anim>
                                    <p:anim calcmode="lin" valueType="num">
                                      <p:cBhvr additive="base">
                                        <p:cTn id="27" dur="500" fill="hold"/>
                                        <p:tgtEl>
                                          <p:spTgt spid="638983"/>
                                        </p:tgtEl>
                                        <p:attrNameLst>
                                          <p:attrName>ppt_y</p:attrName>
                                        </p:attrNameLst>
                                      </p:cBhvr>
                                      <p:tavLst>
                                        <p:tav tm="0">
                                          <p:val>
                                            <p:strVal val="#ppt_y"/>
                                          </p:val>
                                        </p:tav>
                                        <p:tav tm="100000">
                                          <p:val>
                                            <p:strVal val="#ppt_y"/>
                                          </p:val>
                                        </p:tav>
                                      </p:tavLst>
                                    </p:anim>
                                  </p:childTnLst>
                                </p:cTn>
                              </p:par>
                            </p:childTnLst>
                          </p:cTn>
                        </p:par>
                        <p:par>
                          <p:cTn id="28" fill="hold" nodeType="afterGroup">
                            <p:stCondLst>
                              <p:cond delay="2500"/>
                            </p:stCondLst>
                            <p:childTnLst>
                              <p:par>
                                <p:cTn id="29" presetID="12" presetClass="entr" presetSubtype="8" fill="hold" grpId="0" nodeType="afterEffect">
                                  <p:stCondLst>
                                    <p:cond delay="0"/>
                                  </p:stCondLst>
                                  <p:childTnLst>
                                    <p:set>
                                      <p:cBhvr>
                                        <p:cTn id="30" dur="1" fill="hold">
                                          <p:stCondLst>
                                            <p:cond delay="0"/>
                                          </p:stCondLst>
                                        </p:cTn>
                                        <p:tgtEl>
                                          <p:spTgt spid="638985"/>
                                        </p:tgtEl>
                                        <p:attrNameLst>
                                          <p:attrName>style.visibility</p:attrName>
                                        </p:attrNameLst>
                                      </p:cBhvr>
                                      <p:to>
                                        <p:strVal val="visible"/>
                                      </p:to>
                                    </p:set>
                                    <p:animEffect transition="in" filter="slide(fromLeft)">
                                      <p:cBhvr>
                                        <p:cTn id="31" dur="500"/>
                                        <p:tgtEl>
                                          <p:spTgt spid="638985"/>
                                        </p:tgtEl>
                                      </p:cBhvr>
                                    </p:animEffect>
                                  </p:childTnLst>
                                </p:cTn>
                              </p:par>
                            </p:childTnLst>
                          </p:cTn>
                        </p:par>
                        <p:par>
                          <p:cTn id="32" fill="hold" nodeType="afterGroup">
                            <p:stCondLst>
                              <p:cond delay="3000"/>
                            </p:stCondLst>
                            <p:childTnLst>
                              <p:par>
                                <p:cTn id="33" presetID="12" presetClass="entr" presetSubtype="8" fill="hold" grpId="0" nodeType="afterEffect">
                                  <p:stCondLst>
                                    <p:cond delay="0"/>
                                  </p:stCondLst>
                                  <p:childTnLst>
                                    <p:set>
                                      <p:cBhvr>
                                        <p:cTn id="34" dur="1" fill="hold">
                                          <p:stCondLst>
                                            <p:cond delay="0"/>
                                          </p:stCondLst>
                                        </p:cTn>
                                        <p:tgtEl>
                                          <p:spTgt spid="638984"/>
                                        </p:tgtEl>
                                        <p:attrNameLst>
                                          <p:attrName>style.visibility</p:attrName>
                                        </p:attrNameLst>
                                      </p:cBhvr>
                                      <p:to>
                                        <p:strVal val="visible"/>
                                      </p:to>
                                    </p:set>
                                    <p:animEffect transition="in" filter="slide(fromLeft)">
                                      <p:cBhvr>
                                        <p:cTn id="35" dur="500"/>
                                        <p:tgtEl>
                                          <p:spTgt spid="638984"/>
                                        </p:tgtEl>
                                      </p:cBhvr>
                                    </p:animEffect>
                                  </p:childTnLst>
                                </p:cTn>
                              </p:par>
                            </p:childTnLst>
                          </p:cTn>
                        </p:par>
                        <p:par>
                          <p:cTn id="36" fill="hold" nodeType="afterGroup">
                            <p:stCondLst>
                              <p:cond delay="3500"/>
                            </p:stCondLst>
                            <p:childTnLst>
                              <p:par>
                                <p:cTn id="37" presetID="12" presetClass="entr" presetSubtype="8" fill="hold" grpId="0" nodeType="afterEffect">
                                  <p:stCondLst>
                                    <p:cond delay="0"/>
                                  </p:stCondLst>
                                  <p:childTnLst>
                                    <p:set>
                                      <p:cBhvr>
                                        <p:cTn id="38" dur="1" fill="hold">
                                          <p:stCondLst>
                                            <p:cond delay="0"/>
                                          </p:stCondLst>
                                        </p:cTn>
                                        <p:tgtEl>
                                          <p:spTgt spid="638982"/>
                                        </p:tgtEl>
                                        <p:attrNameLst>
                                          <p:attrName>style.visibility</p:attrName>
                                        </p:attrNameLst>
                                      </p:cBhvr>
                                      <p:to>
                                        <p:strVal val="visible"/>
                                      </p:to>
                                    </p:set>
                                    <p:animEffect transition="in" filter="slide(fromLeft)">
                                      <p:cBhvr>
                                        <p:cTn id="39" dur="500"/>
                                        <p:tgtEl>
                                          <p:spTgt spid="638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8978" grpId="0" autoUpdateAnimBg="0"/>
      <p:bldP spid="638980" grpId="0" autoUpdateAnimBg="0"/>
      <p:bldP spid="638981" grpId="0" animBg="1" autoUpdateAnimBg="0"/>
      <p:bldP spid="638982" grpId="0" animBg="1" autoUpdateAnimBg="0"/>
      <p:bldP spid="638983" grpId="0" animBg="1" autoUpdateAnimBg="0"/>
      <p:bldP spid="638984" grpId="0" autoUpdateAnimBg="0"/>
      <p:bldP spid="638985" grpId="0" animBg="1"/>
      <p:bldP spid="638986"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A0B9E36-6D17-46BF-8301-50884A6F3AB3}" type="slidenum">
              <a:rPr lang="en-US" altLang="zh-CN" sz="1400" b="0"/>
              <a:pPr eaLnBrk="1" hangingPunct="1"/>
              <a:t>128</a:t>
            </a:fld>
            <a:endParaRPr lang="en-US" altLang="zh-CN" sz="1400" b="0"/>
          </a:p>
        </p:txBody>
      </p:sp>
      <p:sp>
        <p:nvSpPr>
          <p:cNvPr id="142339" name="Rectangle 3" descr="小棋盘"/>
          <p:cNvSpPr>
            <a:spLocks noChangeArrowheads="1"/>
          </p:cNvSpPr>
          <p:nvPr/>
        </p:nvSpPr>
        <p:spPr bwMode="auto">
          <a:xfrm>
            <a:off x="2843213" y="260350"/>
            <a:ext cx="3313112" cy="711200"/>
          </a:xfrm>
          <a:prstGeom prst="rect">
            <a:avLst/>
          </a:prstGeom>
          <a:pattFill prst="smCheck">
            <a:fgClr>
              <a:schemeClr val="accent1"/>
            </a:fgClr>
            <a:bgClr>
              <a:schemeClr val="bg1"/>
            </a:bgClr>
          </a:pattFill>
          <a:ln w="9525">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a:solidFill>
                  <a:srgbClr val="FF0066"/>
                </a:solidFill>
                <a:ea typeface="仿宋_GB2312" pitchFamily="49" charset="-122"/>
              </a:rPr>
              <a:t>1</a:t>
            </a:r>
            <a:r>
              <a:rPr lang="zh-CN" altLang="en-US" sz="4000">
                <a:solidFill>
                  <a:srgbClr val="FF0066"/>
                </a:solidFill>
                <a:ea typeface="仿宋_GB2312" pitchFamily="49" charset="-122"/>
              </a:rPr>
              <a:t>．外部总线</a:t>
            </a:r>
          </a:p>
        </p:txBody>
      </p:sp>
      <p:graphicFrame>
        <p:nvGraphicFramePr>
          <p:cNvPr id="640123" name="Group 123"/>
          <p:cNvGraphicFramePr>
            <a:graphicFrameLocks noGrp="1"/>
          </p:cNvGraphicFramePr>
          <p:nvPr/>
        </p:nvGraphicFramePr>
        <p:xfrm>
          <a:off x="250825" y="1162050"/>
          <a:ext cx="8569325" cy="5486400"/>
        </p:xfrm>
        <a:graphic>
          <a:graphicData uri="http://schemas.openxmlformats.org/drawingml/2006/table">
            <a:tbl>
              <a:tblPr/>
              <a:tblGrid>
                <a:gridCol w="1511300">
                  <a:extLst>
                    <a:ext uri="{9D8B030D-6E8A-4147-A177-3AD203B41FA5}">
                      <a16:colId xmlns:a16="http://schemas.microsoft.com/office/drawing/2014/main" val="20000"/>
                    </a:ext>
                  </a:extLst>
                </a:gridCol>
                <a:gridCol w="2773363">
                  <a:extLst>
                    <a:ext uri="{9D8B030D-6E8A-4147-A177-3AD203B41FA5}">
                      <a16:colId xmlns:a16="http://schemas.microsoft.com/office/drawing/2014/main" val="20001"/>
                    </a:ext>
                  </a:extLst>
                </a:gridCol>
                <a:gridCol w="1187450">
                  <a:extLst>
                    <a:ext uri="{9D8B030D-6E8A-4147-A177-3AD203B41FA5}">
                      <a16:colId xmlns:a16="http://schemas.microsoft.com/office/drawing/2014/main" val="20002"/>
                    </a:ext>
                  </a:extLst>
                </a:gridCol>
                <a:gridCol w="3097212">
                  <a:extLst>
                    <a:ext uri="{9D8B030D-6E8A-4147-A177-3AD203B41FA5}">
                      <a16:colId xmlns:a16="http://schemas.microsoft.com/office/drawing/2014/main" val="20003"/>
                    </a:ext>
                  </a:extLst>
                </a:gridCol>
              </a:tblGrid>
              <a:tr h="3397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信号名称</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C541,542,C543,C545,,C546 </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C548,C549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说明</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98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 </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A15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 </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22 </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地址总线</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14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D0 </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A15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 </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 </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数据总线</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14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MSTRB</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外部存储器选通信号</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98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PS</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程序空间选择信号</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14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DS</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数据空间选择信号</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14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IOSTRB</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I/O</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设备选通信号</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98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IS</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I/O</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空间选择信号</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14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R/W</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读</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写信号</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14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READY</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数据准备好信号</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98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HOLD</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请求控制存储器接口 </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14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HOLDA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响应请求</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714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MSG</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微状态完成信号</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698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IAQ</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获取指令地址信号</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714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IACK</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中断响应信号</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142422" name="Line 107"/>
          <p:cNvSpPr>
            <a:spLocks noChangeShapeType="1"/>
          </p:cNvSpPr>
          <p:nvPr/>
        </p:nvSpPr>
        <p:spPr bwMode="auto">
          <a:xfrm>
            <a:off x="358775" y="2314575"/>
            <a:ext cx="863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423" name="Line 108"/>
          <p:cNvSpPr>
            <a:spLocks noChangeShapeType="1"/>
          </p:cNvSpPr>
          <p:nvPr/>
        </p:nvSpPr>
        <p:spPr bwMode="auto">
          <a:xfrm>
            <a:off x="366713" y="2667000"/>
            <a:ext cx="2159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424" name="Line 109"/>
          <p:cNvSpPr>
            <a:spLocks noChangeShapeType="1"/>
          </p:cNvSpPr>
          <p:nvPr/>
        </p:nvSpPr>
        <p:spPr bwMode="auto">
          <a:xfrm>
            <a:off x="381000" y="3032125"/>
            <a:ext cx="2159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425" name="Line 110"/>
          <p:cNvSpPr>
            <a:spLocks noChangeShapeType="1"/>
          </p:cNvSpPr>
          <p:nvPr/>
        </p:nvSpPr>
        <p:spPr bwMode="auto">
          <a:xfrm>
            <a:off x="382588" y="3406775"/>
            <a:ext cx="863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426" name="Line 111"/>
          <p:cNvSpPr>
            <a:spLocks noChangeShapeType="1"/>
          </p:cNvSpPr>
          <p:nvPr/>
        </p:nvSpPr>
        <p:spPr bwMode="auto">
          <a:xfrm>
            <a:off x="349250" y="3771900"/>
            <a:ext cx="2159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427" name="Line 112"/>
          <p:cNvSpPr>
            <a:spLocks noChangeShapeType="1"/>
          </p:cNvSpPr>
          <p:nvPr/>
        </p:nvSpPr>
        <p:spPr bwMode="auto">
          <a:xfrm>
            <a:off x="596900" y="4146550"/>
            <a:ext cx="2159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428" name="Line 113"/>
          <p:cNvSpPr>
            <a:spLocks noChangeShapeType="1"/>
          </p:cNvSpPr>
          <p:nvPr/>
        </p:nvSpPr>
        <p:spPr bwMode="auto">
          <a:xfrm>
            <a:off x="323850" y="4868863"/>
            <a:ext cx="792163"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429" name="Line 114"/>
          <p:cNvSpPr>
            <a:spLocks noChangeShapeType="1"/>
          </p:cNvSpPr>
          <p:nvPr/>
        </p:nvSpPr>
        <p:spPr bwMode="auto">
          <a:xfrm flipV="1">
            <a:off x="395288" y="5224463"/>
            <a:ext cx="889000" cy="476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430" name="Line 115"/>
          <p:cNvSpPr>
            <a:spLocks noChangeShapeType="1"/>
          </p:cNvSpPr>
          <p:nvPr/>
        </p:nvSpPr>
        <p:spPr bwMode="auto">
          <a:xfrm>
            <a:off x="325438" y="5591175"/>
            <a:ext cx="57626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431" name="Line 117"/>
          <p:cNvSpPr>
            <a:spLocks noChangeShapeType="1"/>
          </p:cNvSpPr>
          <p:nvPr/>
        </p:nvSpPr>
        <p:spPr bwMode="auto">
          <a:xfrm>
            <a:off x="381000" y="5973763"/>
            <a:ext cx="35877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432" name="Line 118"/>
          <p:cNvSpPr>
            <a:spLocks noChangeShapeType="1"/>
          </p:cNvSpPr>
          <p:nvPr/>
        </p:nvSpPr>
        <p:spPr bwMode="auto">
          <a:xfrm>
            <a:off x="325438" y="6330950"/>
            <a:ext cx="7207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2" name="Rectangle 2"/>
          <p:cNvSpPr>
            <a:spLocks noGrp="1" noChangeArrowheads="1"/>
          </p:cNvSpPr>
          <p:nvPr>
            <p:ph idx="1"/>
          </p:nvPr>
        </p:nvSpPr>
        <p:spPr bwMode="auto">
          <a:xfrm>
            <a:off x="755650" y="1773238"/>
            <a:ext cx="7924800" cy="4824412"/>
          </a:xfrm>
          <a:noFill/>
          <a:ln w="762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just" eaLnBrk="1" hangingPunct="1">
              <a:buFontTx/>
              <a:buNone/>
            </a:pPr>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）如何识别片内存储器与片外存储器</a:t>
            </a:r>
            <a:endParaRPr lang="zh-CN" altLang="en-US" b="1">
              <a:latin typeface="Arial" panose="020B0604020202020204" pitchFamily="34" charset="0"/>
              <a:cs typeface="Arial" panose="020B0604020202020204" pitchFamily="34" charset="0"/>
            </a:endParaRPr>
          </a:p>
          <a:p>
            <a:pPr algn="just" eaLnBrk="1" hangingPunct="1">
              <a:buFontTx/>
              <a:buNone/>
            </a:pPr>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）如何区别片外数据存储器与程序存 </a:t>
            </a:r>
          </a:p>
          <a:p>
            <a:pPr algn="just" eaLnBrk="1" hangingPunct="1">
              <a:buFontTx/>
              <a:buNone/>
            </a:pPr>
            <a:r>
              <a:rPr lang="zh-CN" altLang="en-US" b="1">
                <a:latin typeface="宋体" panose="02010600030101010101" pitchFamily="2" charset="-122"/>
              </a:rPr>
              <a:t>      储器和</a:t>
            </a:r>
            <a:r>
              <a:rPr lang="en-US" altLang="zh-CN" b="1">
                <a:latin typeface="宋体" panose="02010600030101010101" pitchFamily="2" charset="-122"/>
              </a:rPr>
              <a:t>I/O</a:t>
            </a:r>
            <a:r>
              <a:rPr lang="zh-CN" altLang="en-US" b="1">
                <a:latin typeface="宋体" panose="02010600030101010101" pitchFamily="2" charset="-122"/>
              </a:rPr>
              <a:t>空间</a:t>
            </a:r>
            <a:r>
              <a:rPr lang="zh-CN" altLang="en-US" b="1"/>
              <a:t> </a:t>
            </a:r>
          </a:p>
          <a:p>
            <a:pPr algn="just" eaLnBrk="1" hangingPunct="1">
              <a:buFontTx/>
              <a:buNone/>
            </a:pPr>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）如何确定与外部器件通信期间数据 </a:t>
            </a:r>
          </a:p>
          <a:p>
            <a:pPr algn="just" eaLnBrk="1" hangingPunct="1">
              <a:buFontTx/>
              <a:buNone/>
            </a:pPr>
            <a:r>
              <a:rPr lang="zh-CN" altLang="en-US" b="1">
                <a:latin typeface="宋体" panose="02010600030101010101" pitchFamily="2" charset="-122"/>
              </a:rPr>
              <a:t>      传送的方向</a:t>
            </a:r>
          </a:p>
          <a:p>
            <a:pPr algn="just" eaLnBrk="1" hangingPunct="1">
              <a:buFontTx/>
              <a:buNone/>
            </a:pPr>
            <a:r>
              <a:rPr lang="zh-CN" altLang="en-US" b="1">
                <a:latin typeface="宋体" panose="02010600030101010101" pitchFamily="2" charset="-122"/>
              </a:rPr>
              <a:t>（</a:t>
            </a:r>
            <a:r>
              <a:rPr lang="en-US" altLang="zh-CN" b="1">
                <a:latin typeface="宋体" panose="02010600030101010101" pitchFamily="2" charset="-122"/>
              </a:rPr>
              <a:t>4</a:t>
            </a:r>
            <a:r>
              <a:rPr lang="zh-CN" altLang="en-US" b="1">
                <a:latin typeface="宋体" panose="02010600030101010101" pitchFamily="2" charset="-122"/>
              </a:rPr>
              <a:t>）如何与低速设备通信</a:t>
            </a:r>
            <a:endParaRPr lang="zh-CN" altLang="en-US" b="1">
              <a:latin typeface="Arial" panose="020B0604020202020204" pitchFamily="34" charset="0"/>
              <a:cs typeface="Arial" panose="020B0604020202020204" pitchFamily="34" charset="0"/>
            </a:endParaRPr>
          </a:p>
          <a:p>
            <a:pPr algn="just" eaLnBrk="1" hangingPunct="1">
              <a:buFontTx/>
              <a:buNone/>
            </a:pPr>
            <a:r>
              <a:rPr lang="zh-CN" altLang="en-US" b="1">
                <a:latin typeface="宋体" panose="02010600030101010101" pitchFamily="2" charset="-122"/>
              </a:rPr>
              <a:t>（</a:t>
            </a:r>
            <a:r>
              <a:rPr lang="en-US" altLang="zh-CN" b="1">
                <a:latin typeface="宋体" panose="02010600030101010101" pitchFamily="2" charset="-122"/>
              </a:rPr>
              <a:t>5</a:t>
            </a:r>
            <a:r>
              <a:rPr lang="zh-CN" altLang="en-US" b="1">
                <a:latin typeface="宋体" panose="02010600030101010101" pitchFamily="2" charset="-122"/>
              </a:rPr>
              <a:t>）如何与外部电路共享总线 </a:t>
            </a:r>
          </a:p>
          <a:p>
            <a:pPr algn="just" eaLnBrk="1" hangingPunct="1">
              <a:buFontTx/>
              <a:buNone/>
            </a:pPr>
            <a:r>
              <a:rPr lang="zh-CN" altLang="en-US" b="1">
                <a:latin typeface="宋体" panose="02010600030101010101" pitchFamily="2" charset="-122"/>
              </a:rPr>
              <a:t>（</a:t>
            </a:r>
            <a:r>
              <a:rPr lang="en-US" altLang="zh-CN" b="1">
                <a:latin typeface="宋体" panose="02010600030101010101" pitchFamily="2" charset="-122"/>
              </a:rPr>
              <a:t>6</a:t>
            </a:r>
            <a:r>
              <a:rPr lang="zh-CN" altLang="en-US" b="1">
                <a:latin typeface="宋体" panose="02010600030101010101" pitchFamily="2" charset="-122"/>
              </a:rPr>
              <a:t>）如何隐藏内部程序地址线内容 </a:t>
            </a:r>
          </a:p>
        </p:txBody>
      </p:sp>
      <p:sp>
        <p:nvSpPr>
          <p:cNvPr id="14336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A3CCF33F-CBDF-4812-A25E-8F241CAC001E}" type="slidenum">
              <a:rPr lang="en-US" altLang="zh-CN" sz="1400" b="0"/>
              <a:pPr eaLnBrk="1" hangingPunct="1"/>
              <a:t>129</a:t>
            </a:fld>
            <a:endParaRPr lang="en-US" altLang="zh-CN" sz="1400" b="0"/>
          </a:p>
        </p:txBody>
      </p:sp>
      <p:sp>
        <p:nvSpPr>
          <p:cNvPr id="641027" name="Rectangle 3" descr="小棋盘"/>
          <p:cNvSpPr>
            <a:spLocks noChangeArrowheads="1"/>
          </p:cNvSpPr>
          <p:nvPr/>
        </p:nvSpPr>
        <p:spPr bwMode="auto">
          <a:xfrm>
            <a:off x="3851275" y="1052513"/>
            <a:ext cx="1441450" cy="588962"/>
          </a:xfrm>
          <a:prstGeom prst="rect">
            <a:avLst/>
          </a:prstGeom>
          <a:pattFill prst="smCheck">
            <a:fgClr>
              <a:srgbClr val="FFFF00"/>
            </a:fgClr>
            <a:bgClr>
              <a:srgbClr val="FFFFFF"/>
            </a:bgClr>
          </a:patt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solidFill>
                  <a:srgbClr val="FF0000"/>
                </a:solidFill>
                <a:latin typeface="Arial" panose="020B0604020202020204" pitchFamily="34" charset="0"/>
              </a:rPr>
              <a:t>要点</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41027"/>
                                        </p:tgtEl>
                                        <p:attrNameLst>
                                          <p:attrName>style.visibility</p:attrName>
                                        </p:attrNameLst>
                                      </p:cBhvr>
                                      <p:to>
                                        <p:strVal val="visible"/>
                                      </p:to>
                                    </p:set>
                                    <p:anim calcmode="lin" valueType="num">
                                      <p:cBhvr additive="base">
                                        <p:cTn id="7" dur="500" fill="hold"/>
                                        <p:tgtEl>
                                          <p:spTgt spid="641027"/>
                                        </p:tgtEl>
                                        <p:attrNameLst>
                                          <p:attrName>ppt_x</p:attrName>
                                        </p:attrNameLst>
                                      </p:cBhvr>
                                      <p:tavLst>
                                        <p:tav tm="0">
                                          <p:val>
                                            <p:strVal val="0-#ppt_w/2"/>
                                          </p:val>
                                        </p:tav>
                                        <p:tav tm="100000">
                                          <p:val>
                                            <p:strVal val="#ppt_x"/>
                                          </p:val>
                                        </p:tav>
                                      </p:tavLst>
                                    </p:anim>
                                    <p:anim calcmode="lin" valueType="num">
                                      <p:cBhvr additive="base">
                                        <p:cTn id="8" dur="500" fill="hold"/>
                                        <p:tgtEl>
                                          <p:spTgt spid="6410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27" grpId="0" animBg="1"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685800" y="10668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000" b="1">
                <a:solidFill>
                  <a:srgbClr val="FF0066"/>
                </a:solidFill>
                <a:ea typeface="仿宋_GB2312" pitchFamily="49" charset="-122"/>
              </a:rPr>
              <a:t>2</a:t>
            </a:r>
            <a:r>
              <a:rPr lang="zh-CN" altLang="en-US" sz="4000" b="1">
                <a:solidFill>
                  <a:srgbClr val="FF0066"/>
                </a:solidFill>
                <a:ea typeface="仿宋_GB2312" pitchFamily="49" charset="-122"/>
              </a:rPr>
              <a:t>．外部总线操作的优先级别</a:t>
            </a:r>
            <a:r>
              <a:rPr lang="zh-CN" altLang="en-US" b="1"/>
              <a:t> </a:t>
            </a:r>
          </a:p>
        </p:txBody>
      </p:sp>
      <p:sp>
        <p:nvSpPr>
          <p:cNvPr id="144387" name="Rectangle 3"/>
          <p:cNvSpPr>
            <a:spLocks noGrp="1" noChangeArrowheads="1"/>
          </p:cNvSpPr>
          <p:nvPr>
            <p:ph idx="1"/>
          </p:nvPr>
        </p:nvSpPr>
        <p:spPr bwMode="auto">
          <a:xfrm>
            <a:off x="395288" y="2924175"/>
            <a:ext cx="8382000" cy="3505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661988" algn="just" eaLnBrk="1" hangingPunct="1">
              <a:lnSpc>
                <a:spcPct val="90000"/>
              </a:lnSpc>
              <a:buFontTx/>
              <a:buNone/>
            </a:pPr>
            <a:r>
              <a:rPr lang="zh-CN" altLang="en-US" b="1">
                <a:latin typeface="Arial" panose="020B0604020202020204" pitchFamily="34" charset="0"/>
              </a:rPr>
              <a:t>单周期内对片内存储器可完成从程序存储器取</a:t>
            </a:r>
            <a:r>
              <a:rPr lang="en-US" altLang="zh-CN" b="1">
                <a:latin typeface="Arial" panose="020B0604020202020204" pitchFamily="34" charset="0"/>
              </a:rPr>
              <a:t>1</a:t>
            </a:r>
            <a:r>
              <a:rPr lang="zh-CN" altLang="en-US" b="1">
                <a:latin typeface="Arial" panose="020B0604020202020204" pitchFamily="34" charset="0"/>
              </a:rPr>
              <a:t>条指令、从数据存储器读</a:t>
            </a:r>
            <a:r>
              <a:rPr lang="en-US" altLang="zh-CN" b="1">
                <a:latin typeface="Arial" panose="020B0604020202020204" pitchFamily="34" charset="0"/>
              </a:rPr>
              <a:t>2</a:t>
            </a:r>
            <a:r>
              <a:rPr lang="zh-CN" altLang="en-US" b="1">
                <a:latin typeface="Arial" panose="020B0604020202020204" pitchFamily="34" charset="0"/>
              </a:rPr>
              <a:t>个操作数，写</a:t>
            </a:r>
            <a:r>
              <a:rPr lang="en-US" altLang="zh-CN" b="1">
                <a:latin typeface="Arial" panose="020B0604020202020204" pitchFamily="34" charset="0"/>
              </a:rPr>
              <a:t>1</a:t>
            </a:r>
            <a:r>
              <a:rPr lang="zh-CN" altLang="en-US" b="1">
                <a:latin typeface="Arial" panose="020B0604020202020204" pitchFamily="34" charset="0"/>
              </a:rPr>
              <a:t>个操作数。</a:t>
            </a:r>
          </a:p>
          <a:p>
            <a:pPr marL="0" indent="661988" algn="just" eaLnBrk="1" hangingPunct="1">
              <a:lnSpc>
                <a:spcPct val="90000"/>
              </a:lnSpc>
              <a:buFontTx/>
              <a:buNone/>
            </a:pPr>
            <a:r>
              <a:rPr lang="zh-CN" altLang="en-US" b="1">
                <a:solidFill>
                  <a:schemeClr val="tx2"/>
                </a:solidFill>
                <a:latin typeface="Arial" panose="020B0604020202020204" pitchFamily="34" charset="0"/>
              </a:rPr>
              <a:t>但由于只有一条外部总线，故在一个机器周期内，</a:t>
            </a:r>
            <a:r>
              <a:rPr lang="en-US" altLang="zh-CN" b="1">
                <a:solidFill>
                  <a:schemeClr val="tx2"/>
                </a:solidFill>
                <a:latin typeface="Arial" panose="020B0604020202020204" pitchFamily="34" charset="0"/>
              </a:rPr>
              <a:t>CPU</a:t>
            </a:r>
            <a:r>
              <a:rPr lang="zh-CN" altLang="en-US" b="1">
                <a:solidFill>
                  <a:schemeClr val="tx2"/>
                </a:solidFill>
                <a:latin typeface="Arial" panose="020B0604020202020204" pitchFamily="34" charset="0"/>
              </a:rPr>
              <a:t>只能有</a:t>
            </a:r>
            <a:r>
              <a:rPr lang="en-US" altLang="zh-CN" b="1">
                <a:solidFill>
                  <a:schemeClr val="tx2"/>
                </a:solidFill>
                <a:latin typeface="Arial" panose="020B0604020202020204" pitchFamily="34" charset="0"/>
              </a:rPr>
              <a:t>1</a:t>
            </a:r>
            <a:r>
              <a:rPr lang="zh-CN" altLang="en-US" b="1">
                <a:solidFill>
                  <a:schemeClr val="tx2"/>
                </a:solidFill>
                <a:latin typeface="Arial" panose="020B0604020202020204" pitchFamily="34" charset="0"/>
              </a:rPr>
              <a:t>个操作。</a:t>
            </a:r>
          </a:p>
          <a:p>
            <a:pPr marL="0" indent="661988" algn="just" eaLnBrk="1" hangingPunct="1">
              <a:lnSpc>
                <a:spcPct val="90000"/>
              </a:lnSpc>
              <a:buFontTx/>
              <a:buNone/>
            </a:pPr>
            <a:r>
              <a:rPr lang="zh-CN" altLang="en-US" b="1">
                <a:solidFill>
                  <a:srgbClr val="FF00FF"/>
                </a:solidFill>
                <a:latin typeface="Arial" panose="020B0604020202020204" pitchFamily="34" charset="0"/>
              </a:rPr>
              <a:t>数据寻址比程序存储器取指具有较高的优先权。</a:t>
            </a:r>
          </a:p>
        </p:txBody>
      </p:sp>
      <p:sp>
        <p:nvSpPr>
          <p:cNvPr id="14438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31AB791-0A19-43CD-87A0-CB0415B05806}" type="slidenum">
              <a:rPr lang="en-US" altLang="zh-CN" sz="1400" b="0"/>
              <a:pPr eaLnBrk="1" hangingPunct="1"/>
              <a:t>130</a:t>
            </a:fld>
            <a:endParaRPr lang="en-US" altLang="zh-CN" sz="1400" b="0"/>
          </a:p>
        </p:txBody>
      </p:sp>
      <p:sp>
        <p:nvSpPr>
          <p:cNvPr id="642052" name="Rectangle 4" descr="小棋盘"/>
          <p:cNvSpPr>
            <a:spLocks noChangeArrowheads="1"/>
          </p:cNvSpPr>
          <p:nvPr/>
        </p:nvSpPr>
        <p:spPr bwMode="auto">
          <a:xfrm>
            <a:off x="1981200" y="1828800"/>
            <a:ext cx="4822825" cy="1041400"/>
          </a:xfrm>
          <a:prstGeom prst="rect">
            <a:avLst/>
          </a:prstGeom>
          <a:pattFill prst="smCheck">
            <a:fgClr>
              <a:srgbClr val="FFFF00"/>
            </a:fgClr>
            <a:bgClr>
              <a:schemeClr val="bg1"/>
            </a:bgClr>
          </a:pattFill>
          <a:ln w="9525">
            <a:solidFill>
              <a:schemeClr val="fo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2800">
                <a:solidFill>
                  <a:srgbClr val="FF0066"/>
                </a:solidFill>
                <a:latin typeface="Arial" panose="020B0604020202020204" pitchFamily="34" charset="0"/>
              </a:rPr>
              <a:t>单周期内对片内存储器操作</a:t>
            </a:r>
          </a:p>
          <a:p>
            <a:pPr eaLnBrk="1" hangingPunct="1">
              <a:spcBef>
                <a:spcPct val="20000"/>
              </a:spcBef>
            </a:pPr>
            <a:r>
              <a:rPr lang="zh-CN" altLang="en-US" sz="2800">
                <a:solidFill>
                  <a:srgbClr val="FF0066"/>
                </a:solidFill>
                <a:latin typeface="Arial" panose="020B0604020202020204" pitchFamily="34" charset="0"/>
              </a:rPr>
              <a:t>与片外存储器操作的区别</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42050"/>
                                        </p:tgtEl>
                                        <p:attrNameLst>
                                          <p:attrName>style.visibility</p:attrName>
                                        </p:attrNameLst>
                                      </p:cBhvr>
                                      <p:to>
                                        <p:strVal val="visible"/>
                                      </p:to>
                                    </p:set>
                                    <p:animEffect transition="in" filter="blinds(horizontal)">
                                      <p:cBhvr>
                                        <p:cTn id="7" dur="500"/>
                                        <p:tgtEl>
                                          <p:spTgt spid="642050"/>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642052"/>
                                        </p:tgtEl>
                                        <p:attrNameLst>
                                          <p:attrName>style.visibility</p:attrName>
                                        </p:attrNameLst>
                                      </p:cBhvr>
                                      <p:to>
                                        <p:strVal val="visible"/>
                                      </p:to>
                                    </p:set>
                                    <p:animEffect transition="in" filter="slide(fromBottom)">
                                      <p:cBhvr>
                                        <p:cTn id="11" dur="500"/>
                                        <p:tgtEl>
                                          <p:spTgt spid="64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50" grpId="0" autoUpdateAnimBg="0"/>
      <p:bldP spid="642052" grpId="0" animBg="1"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bwMode="auto">
          <a:xfrm>
            <a:off x="1870075" y="1019175"/>
            <a:ext cx="57150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66"/>
                </a:solidFill>
                <a:ea typeface="仿宋_GB2312" pitchFamily="49" charset="-122"/>
              </a:rPr>
              <a:t>3</a:t>
            </a:r>
            <a:r>
              <a:rPr lang="zh-CN" altLang="en-US" b="1">
                <a:solidFill>
                  <a:srgbClr val="FF0066"/>
                </a:solidFill>
                <a:ea typeface="仿宋_GB2312" pitchFamily="49" charset="-122"/>
              </a:rPr>
              <a:t>．外部接口时序图</a:t>
            </a:r>
            <a:r>
              <a:rPr lang="zh-CN" altLang="en-US" b="1"/>
              <a:t> </a:t>
            </a:r>
          </a:p>
        </p:txBody>
      </p:sp>
      <p:sp>
        <p:nvSpPr>
          <p:cNvPr id="14541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F1C88CD-3E77-4AA6-BB60-BEF807DB2431}" type="slidenum">
              <a:rPr lang="en-US" altLang="zh-CN" sz="1400" b="0"/>
              <a:pPr eaLnBrk="1" hangingPunct="1"/>
              <a:t>131</a:t>
            </a:fld>
            <a:endParaRPr lang="en-US" altLang="zh-CN" sz="1400" b="0"/>
          </a:p>
        </p:txBody>
      </p:sp>
      <p:grpSp>
        <p:nvGrpSpPr>
          <p:cNvPr id="145412" name="Group 319"/>
          <p:cNvGrpSpPr>
            <a:grpSpLocks/>
          </p:cNvGrpSpPr>
          <p:nvPr/>
        </p:nvGrpSpPr>
        <p:grpSpPr bwMode="auto">
          <a:xfrm>
            <a:off x="358775" y="2024063"/>
            <a:ext cx="8029575" cy="4419600"/>
            <a:chOff x="589" y="2474"/>
            <a:chExt cx="5058" cy="2784"/>
          </a:xfrm>
        </p:grpSpPr>
        <p:sp>
          <p:nvSpPr>
            <p:cNvPr id="145413" name="Text Box 4"/>
            <p:cNvSpPr txBox="1">
              <a:spLocks noChangeArrowheads="1"/>
            </p:cNvSpPr>
            <p:nvPr/>
          </p:nvSpPr>
          <p:spPr bwMode="auto">
            <a:xfrm>
              <a:off x="1791" y="5018"/>
              <a:ext cx="288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宋体" panose="02010600030101010101" pitchFamily="2" charset="-122"/>
                </a:rPr>
                <a:t>   </a:t>
              </a:r>
              <a:r>
                <a:rPr kumimoji="0" lang="zh-CN" altLang="en-US" sz="2400">
                  <a:latin typeface="宋体" panose="02010600030101010101" pitchFamily="2" charset="-122"/>
                </a:rPr>
                <a:t>存储器读一读一写操作定时图</a:t>
              </a:r>
              <a:endParaRPr kumimoji="0" lang="zh-CN" altLang="en-US" sz="2400"/>
            </a:p>
          </p:txBody>
        </p:sp>
        <p:grpSp>
          <p:nvGrpSpPr>
            <p:cNvPr id="145414" name="Group 297"/>
            <p:cNvGrpSpPr>
              <a:grpSpLocks/>
            </p:cNvGrpSpPr>
            <p:nvPr/>
          </p:nvGrpSpPr>
          <p:grpSpPr bwMode="auto">
            <a:xfrm>
              <a:off x="1329" y="2474"/>
              <a:ext cx="4318" cy="2476"/>
              <a:chOff x="1329" y="2474"/>
              <a:chExt cx="4318" cy="2476"/>
            </a:xfrm>
          </p:grpSpPr>
          <p:grpSp>
            <p:nvGrpSpPr>
              <p:cNvPr id="145431" name="Group 87"/>
              <p:cNvGrpSpPr>
                <a:grpSpLocks/>
              </p:cNvGrpSpPr>
              <p:nvPr/>
            </p:nvGrpSpPr>
            <p:grpSpPr bwMode="auto">
              <a:xfrm>
                <a:off x="1338" y="2931"/>
                <a:ext cx="4295" cy="240"/>
                <a:chOff x="1329" y="3045"/>
                <a:chExt cx="4295" cy="240"/>
              </a:xfrm>
            </p:grpSpPr>
            <p:sp>
              <p:nvSpPr>
                <p:cNvPr id="145533" name="Line 50"/>
                <p:cNvSpPr>
                  <a:spLocks noChangeShapeType="1"/>
                </p:cNvSpPr>
                <p:nvPr/>
              </p:nvSpPr>
              <p:spPr bwMode="auto">
                <a:xfrm>
                  <a:off x="1329" y="3045"/>
                  <a:ext cx="288"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5534" name="AutoShape 52"/>
                <p:cNvCxnSpPr>
                  <a:cxnSpLocks noChangeShapeType="1"/>
                </p:cNvCxnSpPr>
                <p:nvPr/>
              </p:nvCxnSpPr>
              <p:spPr bwMode="auto">
                <a:xfrm>
                  <a:off x="1723" y="3271"/>
                  <a:ext cx="658"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grpSp>
              <p:nvGrpSpPr>
                <p:cNvPr id="145535" name="Group 67"/>
                <p:cNvGrpSpPr>
                  <a:grpSpLocks/>
                </p:cNvGrpSpPr>
                <p:nvPr/>
              </p:nvGrpSpPr>
              <p:grpSpPr bwMode="auto">
                <a:xfrm>
                  <a:off x="1615" y="3045"/>
                  <a:ext cx="113" cy="235"/>
                  <a:chOff x="1615" y="3045"/>
                  <a:chExt cx="113" cy="235"/>
                </a:xfrm>
              </p:grpSpPr>
              <p:cxnSp>
                <p:nvCxnSpPr>
                  <p:cNvPr id="145551" name="AutoShape 51"/>
                  <p:cNvCxnSpPr>
                    <a:cxnSpLocks noChangeShapeType="1"/>
                  </p:cNvCxnSpPr>
                  <p:nvPr/>
                </p:nvCxnSpPr>
                <p:spPr bwMode="auto">
                  <a:xfrm>
                    <a:off x="1615" y="3045"/>
                    <a:ext cx="113" cy="226"/>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52" name="AutoShape 53"/>
                  <p:cNvCxnSpPr>
                    <a:cxnSpLocks noChangeShapeType="1"/>
                    <a:stCxn id="145537" idx="1"/>
                  </p:cNvCxnSpPr>
                  <p:nvPr/>
                </p:nvCxnSpPr>
                <p:spPr bwMode="auto">
                  <a:xfrm flipV="1">
                    <a:off x="1630" y="3067"/>
                    <a:ext cx="98" cy="213"/>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grpSp>
            <p:cxnSp>
              <p:nvCxnSpPr>
                <p:cNvPr id="145536" name="AutoShape 54"/>
                <p:cNvCxnSpPr>
                  <a:cxnSpLocks noChangeShapeType="1"/>
                </p:cNvCxnSpPr>
                <p:nvPr/>
              </p:nvCxnSpPr>
              <p:spPr bwMode="auto">
                <a:xfrm>
                  <a:off x="1723" y="3067"/>
                  <a:ext cx="635"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sp>
              <p:nvSpPr>
                <p:cNvPr id="145537" name="Line 55"/>
                <p:cNvSpPr>
                  <a:spLocks noChangeShapeType="1"/>
                </p:cNvSpPr>
                <p:nvPr/>
              </p:nvSpPr>
              <p:spPr bwMode="auto">
                <a:xfrm>
                  <a:off x="1342" y="3271"/>
                  <a:ext cx="288"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5538" name="AutoShape 70"/>
                <p:cNvCxnSpPr>
                  <a:cxnSpLocks noChangeShapeType="1"/>
                </p:cNvCxnSpPr>
                <p:nvPr/>
              </p:nvCxnSpPr>
              <p:spPr bwMode="auto">
                <a:xfrm>
                  <a:off x="2358" y="3067"/>
                  <a:ext cx="113" cy="204"/>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39" name="AutoShape 71"/>
                <p:cNvCxnSpPr>
                  <a:cxnSpLocks noChangeShapeType="1"/>
                </p:cNvCxnSpPr>
                <p:nvPr/>
              </p:nvCxnSpPr>
              <p:spPr bwMode="auto">
                <a:xfrm flipV="1">
                  <a:off x="2373" y="3067"/>
                  <a:ext cx="98" cy="213"/>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40" name="AutoShape 73"/>
                <p:cNvCxnSpPr>
                  <a:cxnSpLocks noChangeShapeType="1"/>
                </p:cNvCxnSpPr>
                <p:nvPr/>
              </p:nvCxnSpPr>
              <p:spPr bwMode="auto">
                <a:xfrm>
                  <a:off x="3515" y="3067"/>
                  <a:ext cx="99" cy="208"/>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41" name="AutoShape 74"/>
                <p:cNvCxnSpPr>
                  <a:cxnSpLocks noChangeShapeType="1"/>
                </p:cNvCxnSpPr>
                <p:nvPr/>
              </p:nvCxnSpPr>
              <p:spPr bwMode="auto">
                <a:xfrm flipV="1">
                  <a:off x="3516" y="3067"/>
                  <a:ext cx="112" cy="217"/>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42" name="AutoShape 76"/>
                <p:cNvCxnSpPr>
                  <a:cxnSpLocks noChangeShapeType="1"/>
                </p:cNvCxnSpPr>
                <p:nvPr/>
              </p:nvCxnSpPr>
              <p:spPr bwMode="auto">
                <a:xfrm>
                  <a:off x="4989" y="3059"/>
                  <a:ext cx="113" cy="226"/>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43" name="AutoShape 77"/>
                <p:cNvCxnSpPr>
                  <a:cxnSpLocks noChangeShapeType="1"/>
                </p:cNvCxnSpPr>
                <p:nvPr/>
              </p:nvCxnSpPr>
              <p:spPr bwMode="auto">
                <a:xfrm flipV="1">
                  <a:off x="5004" y="3067"/>
                  <a:ext cx="98" cy="213"/>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44" name="AutoShape 78"/>
                <p:cNvCxnSpPr>
                  <a:cxnSpLocks noChangeShapeType="1"/>
                </p:cNvCxnSpPr>
                <p:nvPr/>
              </p:nvCxnSpPr>
              <p:spPr bwMode="auto">
                <a:xfrm>
                  <a:off x="2472" y="3067"/>
                  <a:ext cx="1043"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45" name="AutoShape 79"/>
                <p:cNvCxnSpPr>
                  <a:cxnSpLocks noChangeShapeType="1"/>
                </p:cNvCxnSpPr>
                <p:nvPr/>
              </p:nvCxnSpPr>
              <p:spPr bwMode="auto">
                <a:xfrm>
                  <a:off x="2472" y="3271"/>
                  <a:ext cx="1043" cy="1"/>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46" name="AutoShape 80"/>
                <p:cNvCxnSpPr>
                  <a:cxnSpLocks noChangeShapeType="1"/>
                </p:cNvCxnSpPr>
                <p:nvPr/>
              </p:nvCxnSpPr>
              <p:spPr bwMode="auto">
                <a:xfrm>
                  <a:off x="3628" y="3067"/>
                  <a:ext cx="1361"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47" name="AutoShape 81"/>
                <p:cNvCxnSpPr>
                  <a:cxnSpLocks noChangeShapeType="1"/>
                </p:cNvCxnSpPr>
                <p:nvPr/>
              </p:nvCxnSpPr>
              <p:spPr bwMode="auto">
                <a:xfrm flipV="1">
                  <a:off x="3606" y="3271"/>
                  <a:ext cx="1406" cy="9"/>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48" name="AutoShape 82"/>
                <p:cNvCxnSpPr>
                  <a:cxnSpLocks noChangeShapeType="1"/>
                </p:cNvCxnSpPr>
                <p:nvPr/>
              </p:nvCxnSpPr>
              <p:spPr bwMode="auto">
                <a:xfrm>
                  <a:off x="3628" y="3067"/>
                  <a:ext cx="1316"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49" name="AutoShape 83"/>
                <p:cNvCxnSpPr>
                  <a:cxnSpLocks noChangeShapeType="1"/>
                </p:cNvCxnSpPr>
                <p:nvPr/>
              </p:nvCxnSpPr>
              <p:spPr bwMode="auto">
                <a:xfrm flipV="1">
                  <a:off x="5103" y="3067"/>
                  <a:ext cx="499" cy="1"/>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5550" name="AutoShape 86"/>
                <p:cNvCxnSpPr>
                  <a:cxnSpLocks noChangeShapeType="1"/>
                </p:cNvCxnSpPr>
                <p:nvPr/>
              </p:nvCxnSpPr>
              <p:spPr bwMode="auto">
                <a:xfrm flipV="1">
                  <a:off x="5103" y="3271"/>
                  <a:ext cx="521" cy="7"/>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grpSp>
          <p:cxnSp>
            <p:nvCxnSpPr>
              <p:cNvPr id="145432" name="AutoShape 224"/>
              <p:cNvCxnSpPr>
                <a:cxnSpLocks noChangeShapeType="1"/>
              </p:cNvCxnSpPr>
              <p:nvPr/>
            </p:nvCxnSpPr>
            <p:spPr bwMode="auto">
              <a:xfrm flipV="1">
                <a:off x="5103" y="4201"/>
                <a:ext cx="521" cy="7"/>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sp>
            <p:nvSpPr>
              <p:cNvPr id="145433" name="Line 56"/>
              <p:cNvSpPr>
                <a:spLocks noChangeShapeType="1"/>
              </p:cNvSpPr>
              <p:nvPr/>
            </p:nvSpPr>
            <p:spPr bwMode="auto">
              <a:xfrm>
                <a:off x="1678" y="2478"/>
                <a:ext cx="0" cy="2472"/>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434" name="Line 57"/>
              <p:cNvSpPr>
                <a:spLocks noChangeShapeType="1"/>
              </p:cNvSpPr>
              <p:nvPr/>
            </p:nvSpPr>
            <p:spPr bwMode="auto">
              <a:xfrm>
                <a:off x="2018" y="2478"/>
                <a:ext cx="0" cy="2472"/>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435" name="Line 58"/>
              <p:cNvSpPr>
                <a:spLocks noChangeShapeType="1"/>
              </p:cNvSpPr>
              <p:nvPr/>
            </p:nvSpPr>
            <p:spPr bwMode="auto">
              <a:xfrm>
                <a:off x="2419" y="2478"/>
                <a:ext cx="0" cy="2472"/>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436" name="Line 59"/>
              <p:cNvSpPr>
                <a:spLocks noChangeShapeType="1"/>
              </p:cNvSpPr>
              <p:nvPr/>
            </p:nvSpPr>
            <p:spPr bwMode="auto">
              <a:xfrm>
                <a:off x="2767" y="2478"/>
                <a:ext cx="0" cy="2472"/>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437" name="Line 61"/>
              <p:cNvSpPr>
                <a:spLocks noChangeShapeType="1"/>
              </p:cNvSpPr>
              <p:nvPr/>
            </p:nvSpPr>
            <p:spPr bwMode="auto">
              <a:xfrm>
                <a:off x="3220" y="2478"/>
                <a:ext cx="0" cy="2472"/>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438" name="Line 62"/>
              <p:cNvSpPr>
                <a:spLocks noChangeShapeType="1"/>
              </p:cNvSpPr>
              <p:nvPr/>
            </p:nvSpPr>
            <p:spPr bwMode="auto">
              <a:xfrm>
                <a:off x="3567" y="2478"/>
                <a:ext cx="0" cy="2472"/>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439" name="Line 63"/>
              <p:cNvSpPr>
                <a:spLocks noChangeShapeType="1"/>
              </p:cNvSpPr>
              <p:nvPr/>
            </p:nvSpPr>
            <p:spPr bwMode="auto">
              <a:xfrm>
                <a:off x="3969" y="2478"/>
                <a:ext cx="0" cy="2472"/>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440" name="Line 64"/>
              <p:cNvSpPr>
                <a:spLocks noChangeShapeType="1"/>
              </p:cNvSpPr>
              <p:nvPr/>
            </p:nvSpPr>
            <p:spPr bwMode="auto">
              <a:xfrm>
                <a:off x="4309" y="2478"/>
                <a:ext cx="0" cy="2472"/>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441" name="Line 65"/>
              <p:cNvSpPr>
                <a:spLocks noChangeShapeType="1"/>
              </p:cNvSpPr>
              <p:nvPr/>
            </p:nvSpPr>
            <p:spPr bwMode="auto">
              <a:xfrm>
                <a:off x="4717" y="2478"/>
                <a:ext cx="0" cy="2472"/>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442" name="Line 66"/>
              <p:cNvSpPr>
                <a:spLocks noChangeShapeType="1"/>
              </p:cNvSpPr>
              <p:nvPr/>
            </p:nvSpPr>
            <p:spPr bwMode="auto">
              <a:xfrm>
                <a:off x="5057" y="2478"/>
                <a:ext cx="0" cy="2472"/>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45443" name="Group 293"/>
              <p:cNvGrpSpPr>
                <a:grpSpLocks/>
              </p:cNvGrpSpPr>
              <p:nvPr/>
            </p:nvGrpSpPr>
            <p:grpSpPr bwMode="auto">
              <a:xfrm>
                <a:off x="1338" y="2614"/>
                <a:ext cx="4309" cy="233"/>
                <a:chOff x="1338" y="2614"/>
                <a:chExt cx="4309" cy="233"/>
              </a:xfrm>
            </p:grpSpPr>
            <p:cxnSp>
              <p:nvCxnSpPr>
                <p:cNvPr id="145507" name="AutoShape 85"/>
                <p:cNvCxnSpPr>
                  <a:cxnSpLocks noChangeShapeType="1"/>
                </p:cNvCxnSpPr>
                <p:nvPr/>
              </p:nvCxnSpPr>
              <p:spPr bwMode="auto">
                <a:xfrm>
                  <a:off x="5450" y="2811"/>
                  <a:ext cx="197" cy="0"/>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grpSp>
              <p:nvGrpSpPr>
                <p:cNvPr id="145508" name="Group 23"/>
                <p:cNvGrpSpPr>
                  <a:grpSpLocks/>
                </p:cNvGrpSpPr>
                <p:nvPr/>
              </p:nvGrpSpPr>
              <p:grpSpPr bwMode="auto">
                <a:xfrm>
                  <a:off x="1338" y="2614"/>
                  <a:ext cx="976" cy="205"/>
                  <a:chOff x="1995" y="2659"/>
                  <a:chExt cx="1139" cy="205"/>
                </a:xfrm>
              </p:grpSpPr>
              <p:sp>
                <p:nvSpPr>
                  <p:cNvPr id="145528" name="Line 15"/>
                  <p:cNvSpPr>
                    <a:spLocks noChangeShapeType="1"/>
                  </p:cNvSpPr>
                  <p:nvPr/>
                </p:nvSpPr>
                <p:spPr bwMode="auto">
                  <a:xfrm>
                    <a:off x="1995" y="2659"/>
                    <a:ext cx="336" cy="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5529" name="AutoShape 16"/>
                  <p:cNvCxnSpPr>
                    <a:cxnSpLocks noChangeShapeType="1"/>
                    <a:stCxn id="145528" idx="1"/>
                  </p:cNvCxnSpPr>
                  <p:nvPr/>
                </p:nvCxnSpPr>
                <p:spPr bwMode="auto">
                  <a:xfrm>
                    <a:off x="2331" y="2665"/>
                    <a:ext cx="118" cy="19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30" name="AutoShape 18"/>
                  <p:cNvCxnSpPr>
                    <a:cxnSpLocks noChangeShapeType="1"/>
                  </p:cNvCxnSpPr>
                  <p:nvPr/>
                </p:nvCxnSpPr>
                <p:spPr bwMode="auto">
                  <a:xfrm>
                    <a:off x="2449" y="2863"/>
                    <a:ext cx="295"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31" name="AutoShape 20"/>
                  <p:cNvCxnSpPr>
                    <a:cxnSpLocks noChangeShapeType="1"/>
                  </p:cNvCxnSpPr>
                  <p:nvPr/>
                </p:nvCxnSpPr>
                <p:spPr bwMode="auto">
                  <a:xfrm flipV="1">
                    <a:off x="2744" y="2682"/>
                    <a:ext cx="113" cy="18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32" name="AutoShape 22"/>
                  <p:cNvCxnSpPr>
                    <a:cxnSpLocks noChangeShapeType="1"/>
                  </p:cNvCxnSpPr>
                  <p:nvPr/>
                </p:nvCxnSpPr>
                <p:spPr bwMode="auto">
                  <a:xfrm>
                    <a:off x="2862" y="2682"/>
                    <a:ext cx="272"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grpSp>
            <p:sp>
              <p:nvSpPr>
                <p:cNvPr id="145509" name="Line 25"/>
                <p:cNvSpPr>
                  <a:spLocks noChangeShapeType="1"/>
                </p:cNvSpPr>
                <p:nvPr/>
              </p:nvSpPr>
              <p:spPr bwMode="auto">
                <a:xfrm>
                  <a:off x="2087" y="2637"/>
                  <a:ext cx="288" cy="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5510" name="AutoShape 26"/>
                <p:cNvCxnSpPr>
                  <a:cxnSpLocks noChangeShapeType="1"/>
                  <a:stCxn id="145509" idx="1"/>
                </p:cNvCxnSpPr>
                <p:nvPr/>
              </p:nvCxnSpPr>
              <p:spPr bwMode="auto">
                <a:xfrm>
                  <a:off x="2375" y="2646"/>
                  <a:ext cx="101" cy="19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11" name="AutoShape 27"/>
                <p:cNvCxnSpPr>
                  <a:cxnSpLocks noChangeShapeType="1"/>
                </p:cNvCxnSpPr>
                <p:nvPr/>
              </p:nvCxnSpPr>
              <p:spPr bwMode="auto">
                <a:xfrm>
                  <a:off x="2476" y="2841"/>
                  <a:ext cx="253"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12" name="AutoShape 28"/>
                <p:cNvCxnSpPr>
                  <a:cxnSpLocks noChangeShapeType="1"/>
                </p:cNvCxnSpPr>
                <p:nvPr/>
              </p:nvCxnSpPr>
              <p:spPr bwMode="auto">
                <a:xfrm flipV="1">
                  <a:off x="2729" y="2653"/>
                  <a:ext cx="97" cy="18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13" name="AutoShape 29"/>
                <p:cNvCxnSpPr>
                  <a:cxnSpLocks noChangeShapeType="1"/>
                </p:cNvCxnSpPr>
                <p:nvPr/>
              </p:nvCxnSpPr>
              <p:spPr bwMode="auto">
                <a:xfrm flipV="1">
                  <a:off x="2830" y="2645"/>
                  <a:ext cx="345"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14" name="AutoShape 32"/>
                <p:cNvCxnSpPr>
                  <a:cxnSpLocks noChangeShapeType="1"/>
                </p:cNvCxnSpPr>
                <p:nvPr/>
              </p:nvCxnSpPr>
              <p:spPr bwMode="auto">
                <a:xfrm>
                  <a:off x="3175" y="2645"/>
                  <a:ext cx="94" cy="162"/>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15" name="AutoShape 33"/>
                <p:cNvCxnSpPr>
                  <a:cxnSpLocks noChangeShapeType="1"/>
                </p:cNvCxnSpPr>
                <p:nvPr/>
              </p:nvCxnSpPr>
              <p:spPr bwMode="auto">
                <a:xfrm>
                  <a:off x="3269" y="2814"/>
                  <a:ext cx="253"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16" name="AutoShape 34"/>
                <p:cNvCxnSpPr>
                  <a:cxnSpLocks noChangeShapeType="1"/>
                </p:cNvCxnSpPr>
                <p:nvPr/>
              </p:nvCxnSpPr>
              <p:spPr bwMode="auto">
                <a:xfrm flipV="1">
                  <a:off x="3522" y="2640"/>
                  <a:ext cx="97" cy="18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17" name="AutoShape 35"/>
                <p:cNvCxnSpPr>
                  <a:cxnSpLocks noChangeShapeType="1"/>
                </p:cNvCxnSpPr>
                <p:nvPr/>
              </p:nvCxnSpPr>
              <p:spPr bwMode="auto">
                <a:xfrm>
                  <a:off x="3623" y="2640"/>
                  <a:ext cx="233"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sp>
              <p:nvSpPr>
                <p:cNvPr id="145518" name="Line 37"/>
                <p:cNvSpPr>
                  <a:spLocks noChangeShapeType="1"/>
                </p:cNvSpPr>
                <p:nvPr/>
              </p:nvSpPr>
              <p:spPr bwMode="auto">
                <a:xfrm>
                  <a:off x="3629" y="2640"/>
                  <a:ext cx="288" cy="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5519" name="AutoShape 38"/>
                <p:cNvCxnSpPr>
                  <a:cxnSpLocks noChangeShapeType="1"/>
                  <a:stCxn id="145518" idx="1"/>
                </p:cNvCxnSpPr>
                <p:nvPr/>
              </p:nvCxnSpPr>
              <p:spPr bwMode="auto">
                <a:xfrm>
                  <a:off x="3917" y="2649"/>
                  <a:ext cx="101" cy="19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20" name="AutoShape 39"/>
                <p:cNvCxnSpPr>
                  <a:cxnSpLocks noChangeShapeType="1"/>
                </p:cNvCxnSpPr>
                <p:nvPr/>
              </p:nvCxnSpPr>
              <p:spPr bwMode="auto">
                <a:xfrm>
                  <a:off x="4018" y="2844"/>
                  <a:ext cx="253"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21" name="AutoShape 40"/>
                <p:cNvCxnSpPr>
                  <a:cxnSpLocks noChangeShapeType="1"/>
                </p:cNvCxnSpPr>
                <p:nvPr/>
              </p:nvCxnSpPr>
              <p:spPr bwMode="auto">
                <a:xfrm flipV="1">
                  <a:off x="4271" y="2663"/>
                  <a:ext cx="97" cy="18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22" name="AutoShape 41"/>
                <p:cNvCxnSpPr>
                  <a:cxnSpLocks noChangeShapeType="1"/>
                </p:cNvCxnSpPr>
                <p:nvPr/>
              </p:nvCxnSpPr>
              <p:spPr bwMode="auto">
                <a:xfrm flipV="1">
                  <a:off x="4372" y="2659"/>
                  <a:ext cx="300" cy="4"/>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23" name="AutoShape 44"/>
                <p:cNvCxnSpPr>
                  <a:cxnSpLocks noChangeShapeType="1"/>
                </p:cNvCxnSpPr>
                <p:nvPr/>
              </p:nvCxnSpPr>
              <p:spPr bwMode="auto">
                <a:xfrm>
                  <a:off x="4672" y="2659"/>
                  <a:ext cx="94" cy="165"/>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24" name="AutoShape 45"/>
                <p:cNvCxnSpPr>
                  <a:cxnSpLocks noChangeShapeType="1"/>
                </p:cNvCxnSpPr>
                <p:nvPr/>
              </p:nvCxnSpPr>
              <p:spPr bwMode="auto">
                <a:xfrm>
                  <a:off x="4766" y="2821"/>
                  <a:ext cx="253"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25" name="AutoShape 46"/>
                <p:cNvCxnSpPr>
                  <a:cxnSpLocks noChangeShapeType="1"/>
                </p:cNvCxnSpPr>
                <p:nvPr/>
              </p:nvCxnSpPr>
              <p:spPr bwMode="auto">
                <a:xfrm flipV="1">
                  <a:off x="5019" y="2640"/>
                  <a:ext cx="97" cy="18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26" name="AutoShape 47"/>
                <p:cNvCxnSpPr>
                  <a:cxnSpLocks noChangeShapeType="1"/>
                </p:cNvCxnSpPr>
                <p:nvPr/>
              </p:nvCxnSpPr>
              <p:spPr bwMode="auto">
                <a:xfrm>
                  <a:off x="5120" y="2640"/>
                  <a:ext cx="233"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5527" name="AutoShape 84"/>
                <p:cNvCxnSpPr>
                  <a:cxnSpLocks noChangeShapeType="1"/>
                </p:cNvCxnSpPr>
                <p:nvPr/>
              </p:nvCxnSpPr>
              <p:spPr bwMode="auto">
                <a:xfrm>
                  <a:off x="5343" y="2636"/>
                  <a:ext cx="113" cy="18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grpSp>
          <p:grpSp>
            <p:nvGrpSpPr>
              <p:cNvPr id="145444" name="Group 292"/>
              <p:cNvGrpSpPr>
                <a:grpSpLocks/>
              </p:cNvGrpSpPr>
              <p:nvPr/>
            </p:nvGrpSpPr>
            <p:grpSpPr bwMode="auto">
              <a:xfrm>
                <a:off x="1360" y="3290"/>
                <a:ext cx="4242" cy="236"/>
                <a:chOff x="1360" y="3290"/>
                <a:chExt cx="4242" cy="236"/>
              </a:xfrm>
            </p:grpSpPr>
            <p:sp>
              <p:nvSpPr>
                <p:cNvPr id="145479" name="Line 88"/>
                <p:cNvSpPr>
                  <a:spLocks noChangeShapeType="1"/>
                </p:cNvSpPr>
                <p:nvPr/>
              </p:nvSpPr>
              <p:spPr bwMode="auto">
                <a:xfrm flipV="1">
                  <a:off x="1360" y="3426"/>
                  <a:ext cx="658" cy="1"/>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5480" name="AutoShape 89"/>
                <p:cNvCxnSpPr>
                  <a:cxnSpLocks noChangeShapeType="1"/>
                </p:cNvCxnSpPr>
                <p:nvPr/>
              </p:nvCxnSpPr>
              <p:spPr bwMode="auto">
                <a:xfrm>
                  <a:off x="2078" y="3517"/>
                  <a:ext cx="280" cy="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nvGrpSpPr>
                <p:cNvPr id="145481" name="Group 108"/>
                <p:cNvGrpSpPr>
                  <a:grpSpLocks/>
                </p:cNvGrpSpPr>
                <p:nvPr/>
              </p:nvGrpSpPr>
              <p:grpSpPr bwMode="auto">
                <a:xfrm>
                  <a:off x="2018" y="3311"/>
                  <a:ext cx="68" cy="213"/>
                  <a:chOff x="2018" y="3444"/>
                  <a:chExt cx="68" cy="213"/>
                </a:xfrm>
              </p:grpSpPr>
              <p:cxnSp>
                <p:nvCxnSpPr>
                  <p:cNvPr id="145505" name="AutoShape 91"/>
                  <p:cNvCxnSpPr>
                    <a:cxnSpLocks noChangeShapeType="1"/>
                    <a:stCxn id="145479" idx="1"/>
                  </p:cNvCxnSpPr>
                  <p:nvPr/>
                </p:nvCxnSpPr>
                <p:spPr bwMode="auto">
                  <a:xfrm>
                    <a:off x="2018" y="3558"/>
                    <a:ext cx="68" cy="99"/>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5506" name="AutoShape 92"/>
                  <p:cNvCxnSpPr>
                    <a:cxnSpLocks noChangeShapeType="1"/>
                    <a:endCxn id="145482" idx="0"/>
                  </p:cNvCxnSpPr>
                  <p:nvPr/>
                </p:nvCxnSpPr>
                <p:spPr bwMode="auto">
                  <a:xfrm flipV="1">
                    <a:off x="2018" y="3444"/>
                    <a:ext cx="68" cy="13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sp>
              <p:nvSpPr>
                <p:cNvPr id="145482" name="Line 94"/>
                <p:cNvSpPr>
                  <a:spLocks noChangeShapeType="1"/>
                </p:cNvSpPr>
                <p:nvPr/>
              </p:nvSpPr>
              <p:spPr bwMode="auto">
                <a:xfrm>
                  <a:off x="2086" y="3320"/>
                  <a:ext cx="250"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45483" name="Group 112"/>
                <p:cNvGrpSpPr>
                  <a:grpSpLocks/>
                </p:cNvGrpSpPr>
                <p:nvPr/>
              </p:nvGrpSpPr>
              <p:grpSpPr bwMode="auto">
                <a:xfrm>
                  <a:off x="2336" y="3322"/>
                  <a:ext cx="85" cy="195"/>
                  <a:chOff x="2336" y="3462"/>
                  <a:chExt cx="85" cy="195"/>
                </a:xfrm>
              </p:grpSpPr>
              <p:cxnSp>
                <p:nvCxnSpPr>
                  <p:cNvPr id="145503" name="AutoShape 95"/>
                  <p:cNvCxnSpPr>
                    <a:cxnSpLocks noChangeShapeType="1"/>
                    <a:stCxn id="145482" idx="1"/>
                  </p:cNvCxnSpPr>
                  <p:nvPr/>
                </p:nvCxnSpPr>
                <p:spPr bwMode="auto">
                  <a:xfrm>
                    <a:off x="2336" y="3462"/>
                    <a:ext cx="83" cy="10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5504" name="AutoShape 96"/>
                  <p:cNvCxnSpPr>
                    <a:cxnSpLocks noChangeShapeType="1"/>
                  </p:cNvCxnSpPr>
                  <p:nvPr/>
                </p:nvCxnSpPr>
                <p:spPr bwMode="auto">
                  <a:xfrm flipV="1">
                    <a:off x="2358" y="3559"/>
                    <a:ext cx="63" cy="98"/>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cxnSp>
              <p:nvCxnSpPr>
                <p:cNvPr id="145484" name="AutoShape 101"/>
                <p:cNvCxnSpPr>
                  <a:cxnSpLocks noChangeShapeType="1"/>
                </p:cNvCxnSpPr>
                <p:nvPr/>
              </p:nvCxnSpPr>
              <p:spPr bwMode="auto">
                <a:xfrm>
                  <a:off x="2421" y="3426"/>
                  <a:ext cx="318" cy="1"/>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5485" name="AutoShape 102"/>
                <p:cNvCxnSpPr>
                  <a:cxnSpLocks noChangeShapeType="1"/>
                </p:cNvCxnSpPr>
                <p:nvPr/>
              </p:nvCxnSpPr>
              <p:spPr bwMode="auto">
                <a:xfrm>
                  <a:off x="2812" y="3517"/>
                  <a:ext cx="340" cy="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nvGrpSpPr>
                <p:cNvPr id="145486" name="Group 109"/>
                <p:cNvGrpSpPr>
                  <a:grpSpLocks/>
                </p:cNvGrpSpPr>
                <p:nvPr/>
              </p:nvGrpSpPr>
              <p:grpSpPr bwMode="auto">
                <a:xfrm>
                  <a:off x="2744" y="3313"/>
                  <a:ext cx="68" cy="213"/>
                  <a:chOff x="2018" y="3444"/>
                  <a:chExt cx="68" cy="213"/>
                </a:xfrm>
              </p:grpSpPr>
              <p:cxnSp>
                <p:nvCxnSpPr>
                  <p:cNvPr id="145501" name="AutoShape 110"/>
                  <p:cNvCxnSpPr>
                    <a:cxnSpLocks noChangeShapeType="1"/>
                  </p:cNvCxnSpPr>
                  <p:nvPr/>
                </p:nvCxnSpPr>
                <p:spPr bwMode="auto">
                  <a:xfrm>
                    <a:off x="2018" y="3558"/>
                    <a:ext cx="68" cy="99"/>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5502" name="AutoShape 111"/>
                  <p:cNvCxnSpPr>
                    <a:cxnSpLocks noChangeShapeType="1"/>
                  </p:cNvCxnSpPr>
                  <p:nvPr/>
                </p:nvCxnSpPr>
                <p:spPr bwMode="auto">
                  <a:xfrm flipV="1">
                    <a:off x="2018" y="3444"/>
                    <a:ext cx="68" cy="13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grpSp>
              <p:nvGrpSpPr>
                <p:cNvPr id="145487" name="Group 113"/>
                <p:cNvGrpSpPr>
                  <a:grpSpLocks/>
                </p:cNvGrpSpPr>
                <p:nvPr/>
              </p:nvGrpSpPr>
              <p:grpSpPr bwMode="auto">
                <a:xfrm>
                  <a:off x="3129" y="3314"/>
                  <a:ext cx="85" cy="195"/>
                  <a:chOff x="2336" y="3462"/>
                  <a:chExt cx="85" cy="195"/>
                </a:xfrm>
              </p:grpSpPr>
              <p:cxnSp>
                <p:nvCxnSpPr>
                  <p:cNvPr id="145499" name="AutoShape 114"/>
                  <p:cNvCxnSpPr>
                    <a:cxnSpLocks noChangeShapeType="1"/>
                  </p:cNvCxnSpPr>
                  <p:nvPr/>
                </p:nvCxnSpPr>
                <p:spPr bwMode="auto">
                  <a:xfrm>
                    <a:off x="2336" y="3462"/>
                    <a:ext cx="83" cy="10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5500" name="AutoShape 115"/>
                  <p:cNvCxnSpPr>
                    <a:cxnSpLocks noChangeShapeType="1"/>
                  </p:cNvCxnSpPr>
                  <p:nvPr/>
                </p:nvCxnSpPr>
                <p:spPr bwMode="auto">
                  <a:xfrm flipV="1">
                    <a:off x="2358" y="3559"/>
                    <a:ext cx="63" cy="98"/>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cxnSp>
              <p:nvCxnSpPr>
                <p:cNvPr id="145488" name="AutoShape 116"/>
                <p:cNvCxnSpPr>
                  <a:cxnSpLocks noChangeShapeType="1"/>
                </p:cNvCxnSpPr>
                <p:nvPr/>
              </p:nvCxnSpPr>
              <p:spPr bwMode="auto">
                <a:xfrm>
                  <a:off x="2812" y="3313"/>
                  <a:ext cx="317" cy="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5489" name="AutoShape 117"/>
                <p:cNvCxnSpPr>
                  <a:cxnSpLocks noChangeShapeType="1"/>
                </p:cNvCxnSpPr>
                <p:nvPr/>
              </p:nvCxnSpPr>
              <p:spPr bwMode="auto">
                <a:xfrm flipV="1">
                  <a:off x="4037" y="3494"/>
                  <a:ext cx="952" cy="2"/>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nvGrpSpPr>
                <p:cNvPr id="145490" name="Group 118"/>
                <p:cNvGrpSpPr>
                  <a:grpSpLocks/>
                </p:cNvGrpSpPr>
                <p:nvPr/>
              </p:nvGrpSpPr>
              <p:grpSpPr bwMode="auto">
                <a:xfrm>
                  <a:off x="3969" y="3292"/>
                  <a:ext cx="68" cy="213"/>
                  <a:chOff x="2018" y="3444"/>
                  <a:chExt cx="68" cy="213"/>
                </a:xfrm>
              </p:grpSpPr>
              <p:cxnSp>
                <p:nvCxnSpPr>
                  <p:cNvPr id="145497" name="AutoShape 119"/>
                  <p:cNvCxnSpPr>
                    <a:cxnSpLocks noChangeShapeType="1"/>
                  </p:cNvCxnSpPr>
                  <p:nvPr/>
                </p:nvCxnSpPr>
                <p:spPr bwMode="auto">
                  <a:xfrm>
                    <a:off x="2018" y="3558"/>
                    <a:ext cx="68" cy="99"/>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5498" name="AutoShape 120"/>
                  <p:cNvCxnSpPr>
                    <a:cxnSpLocks noChangeShapeType="1"/>
                  </p:cNvCxnSpPr>
                  <p:nvPr/>
                </p:nvCxnSpPr>
                <p:spPr bwMode="auto">
                  <a:xfrm flipV="1">
                    <a:off x="2018" y="3444"/>
                    <a:ext cx="68" cy="13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grpSp>
              <p:nvGrpSpPr>
                <p:cNvPr id="145491" name="Group 121"/>
                <p:cNvGrpSpPr>
                  <a:grpSpLocks/>
                </p:cNvGrpSpPr>
                <p:nvPr/>
              </p:nvGrpSpPr>
              <p:grpSpPr bwMode="auto">
                <a:xfrm>
                  <a:off x="4967" y="3290"/>
                  <a:ext cx="85" cy="204"/>
                  <a:chOff x="2336" y="3462"/>
                  <a:chExt cx="85" cy="195"/>
                </a:xfrm>
              </p:grpSpPr>
              <p:cxnSp>
                <p:nvCxnSpPr>
                  <p:cNvPr id="145495" name="AutoShape 122"/>
                  <p:cNvCxnSpPr>
                    <a:cxnSpLocks noChangeShapeType="1"/>
                  </p:cNvCxnSpPr>
                  <p:nvPr/>
                </p:nvCxnSpPr>
                <p:spPr bwMode="auto">
                  <a:xfrm>
                    <a:off x="2336" y="3462"/>
                    <a:ext cx="83" cy="10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5496" name="AutoShape 123"/>
                  <p:cNvCxnSpPr>
                    <a:cxnSpLocks noChangeShapeType="1"/>
                  </p:cNvCxnSpPr>
                  <p:nvPr/>
                </p:nvCxnSpPr>
                <p:spPr bwMode="auto">
                  <a:xfrm flipV="1">
                    <a:off x="2358" y="3559"/>
                    <a:ext cx="63" cy="98"/>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cxnSp>
              <p:nvCxnSpPr>
                <p:cNvPr id="145492" name="AutoShape 124"/>
                <p:cNvCxnSpPr>
                  <a:cxnSpLocks noChangeShapeType="1"/>
                </p:cNvCxnSpPr>
                <p:nvPr/>
              </p:nvCxnSpPr>
              <p:spPr bwMode="auto">
                <a:xfrm>
                  <a:off x="4037" y="3290"/>
                  <a:ext cx="952" cy="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sp>
              <p:nvSpPr>
                <p:cNvPr id="145493" name="Line 125"/>
                <p:cNvSpPr>
                  <a:spLocks noChangeShapeType="1"/>
                </p:cNvSpPr>
                <p:nvPr/>
              </p:nvSpPr>
              <p:spPr bwMode="auto">
                <a:xfrm flipV="1">
                  <a:off x="3220" y="3403"/>
                  <a:ext cx="749"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5494" name="AutoShape 126"/>
                <p:cNvCxnSpPr>
                  <a:cxnSpLocks noChangeShapeType="1"/>
                </p:cNvCxnSpPr>
                <p:nvPr/>
              </p:nvCxnSpPr>
              <p:spPr bwMode="auto">
                <a:xfrm>
                  <a:off x="5057" y="3395"/>
                  <a:ext cx="545" cy="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grpSp>
            <p:nvGrpSpPr>
              <p:cNvPr id="145445" name="Group 203"/>
              <p:cNvGrpSpPr>
                <a:grpSpLocks/>
              </p:cNvGrpSpPr>
              <p:nvPr/>
            </p:nvGrpSpPr>
            <p:grpSpPr bwMode="auto">
              <a:xfrm>
                <a:off x="1360" y="3656"/>
                <a:ext cx="4244" cy="213"/>
                <a:chOff x="1360" y="3656"/>
                <a:chExt cx="4244" cy="213"/>
              </a:xfrm>
            </p:grpSpPr>
            <p:cxnSp>
              <p:nvCxnSpPr>
                <p:cNvPr id="145474" name="AutoShape 165"/>
                <p:cNvCxnSpPr>
                  <a:cxnSpLocks noChangeShapeType="1"/>
                </p:cNvCxnSpPr>
                <p:nvPr/>
              </p:nvCxnSpPr>
              <p:spPr bwMode="auto">
                <a:xfrm>
                  <a:off x="3517" y="3656"/>
                  <a:ext cx="99" cy="20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75" name="AutoShape 168"/>
                <p:cNvCxnSpPr>
                  <a:cxnSpLocks noChangeShapeType="1"/>
                </p:cNvCxnSpPr>
                <p:nvPr/>
              </p:nvCxnSpPr>
              <p:spPr bwMode="auto">
                <a:xfrm flipV="1">
                  <a:off x="5006" y="3656"/>
                  <a:ext cx="98" cy="213"/>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76" name="AutoShape 169"/>
                <p:cNvCxnSpPr>
                  <a:cxnSpLocks noChangeShapeType="1"/>
                </p:cNvCxnSpPr>
                <p:nvPr/>
              </p:nvCxnSpPr>
              <p:spPr bwMode="auto">
                <a:xfrm>
                  <a:off x="1360" y="3657"/>
                  <a:ext cx="2157" cy="0"/>
                </a:xfrm>
                <a:prstGeom prst="straightConnector1">
                  <a:avLst/>
                </a:prstGeom>
                <a:noFill/>
                <a:ln w="28575">
                  <a:solidFill>
                    <a:srgbClr val="666633"/>
                  </a:solidFill>
                  <a:miter lim="800000"/>
                  <a:headEnd/>
                  <a:tailEnd/>
                </a:ln>
                <a:extLst>
                  <a:ext uri="{909E8E84-426E-40DD-AFC4-6F175D3DCCD1}">
                    <a14:hiddenFill xmlns:a14="http://schemas.microsoft.com/office/drawing/2010/main">
                      <a:noFill/>
                    </a14:hiddenFill>
                  </a:ext>
                </a:extLst>
              </p:spPr>
            </p:cxnSp>
            <p:cxnSp>
              <p:nvCxnSpPr>
                <p:cNvPr id="145477" name="AutoShape 172"/>
                <p:cNvCxnSpPr>
                  <a:cxnSpLocks noChangeShapeType="1"/>
                </p:cNvCxnSpPr>
                <p:nvPr/>
              </p:nvCxnSpPr>
              <p:spPr bwMode="auto">
                <a:xfrm flipV="1">
                  <a:off x="3608" y="3860"/>
                  <a:ext cx="1406" cy="9"/>
                </a:xfrm>
                <a:prstGeom prst="straightConnector1">
                  <a:avLst/>
                </a:prstGeom>
                <a:noFill/>
                <a:ln w="28575">
                  <a:solidFill>
                    <a:srgbClr val="CCCC00"/>
                  </a:solidFill>
                  <a:miter lim="800000"/>
                  <a:headEnd/>
                  <a:tailEnd/>
                </a:ln>
                <a:extLst>
                  <a:ext uri="{909E8E84-426E-40DD-AFC4-6F175D3DCCD1}">
                    <a14:hiddenFill xmlns:a14="http://schemas.microsoft.com/office/drawing/2010/main">
                      <a:noFill/>
                    </a14:hiddenFill>
                  </a:ext>
                </a:extLst>
              </p:spPr>
            </p:cxnSp>
            <p:cxnSp>
              <p:nvCxnSpPr>
                <p:cNvPr id="145478" name="AutoShape 174"/>
                <p:cNvCxnSpPr>
                  <a:cxnSpLocks noChangeShapeType="1"/>
                </p:cNvCxnSpPr>
                <p:nvPr/>
              </p:nvCxnSpPr>
              <p:spPr bwMode="auto">
                <a:xfrm flipV="1">
                  <a:off x="5105" y="3656"/>
                  <a:ext cx="499" cy="1"/>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grpSp>
          <p:sp>
            <p:nvSpPr>
              <p:cNvPr id="145446" name="Line 205"/>
              <p:cNvSpPr>
                <a:spLocks noChangeShapeType="1"/>
              </p:cNvSpPr>
              <p:nvPr/>
            </p:nvSpPr>
            <p:spPr bwMode="auto">
              <a:xfrm flipH="1" flipV="1">
                <a:off x="1338" y="3974"/>
                <a:ext cx="28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5447" name="AutoShape 206"/>
              <p:cNvCxnSpPr>
                <a:cxnSpLocks noChangeShapeType="1"/>
              </p:cNvCxnSpPr>
              <p:nvPr/>
            </p:nvCxnSpPr>
            <p:spPr bwMode="auto">
              <a:xfrm>
                <a:off x="1732" y="4200"/>
                <a:ext cx="1783" cy="1"/>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cxnSp>
            <p:nvCxnSpPr>
              <p:cNvPr id="145448" name="AutoShape 208"/>
              <p:cNvCxnSpPr>
                <a:cxnSpLocks noChangeShapeType="1"/>
              </p:cNvCxnSpPr>
              <p:nvPr/>
            </p:nvCxnSpPr>
            <p:spPr bwMode="auto">
              <a:xfrm>
                <a:off x="1624" y="3974"/>
                <a:ext cx="113" cy="226"/>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49" name="AutoShape 215"/>
              <p:cNvCxnSpPr>
                <a:cxnSpLocks noChangeShapeType="1"/>
              </p:cNvCxnSpPr>
              <p:nvPr/>
            </p:nvCxnSpPr>
            <p:spPr bwMode="auto">
              <a:xfrm flipV="1">
                <a:off x="3525" y="3996"/>
                <a:ext cx="112" cy="217"/>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50" name="AutoShape 216"/>
              <p:cNvCxnSpPr>
                <a:cxnSpLocks noChangeShapeType="1"/>
              </p:cNvCxnSpPr>
              <p:nvPr/>
            </p:nvCxnSpPr>
            <p:spPr bwMode="auto">
              <a:xfrm>
                <a:off x="4998" y="3988"/>
                <a:ext cx="113" cy="226"/>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51" name="AutoShape 220"/>
              <p:cNvCxnSpPr>
                <a:cxnSpLocks noChangeShapeType="1"/>
              </p:cNvCxnSpPr>
              <p:nvPr/>
            </p:nvCxnSpPr>
            <p:spPr bwMode="auto">
              <a:xfrm>
                <a:off x="3637" y="3996"/>
                <a:ext cx="1361" cy="0"/>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52" name="AutoShape 222"/>
              <p:cNvCxnSpPr>
                <a:cxnSpLocks noChangeShapeType="1"/>
              </p:cNvCxnSpPr>
              <p:nvPr/>
            </p:nvCxnSpPr>
            <p:spPr bwMode="auto">
              <a:xfrm>
                <a:off x="3637" y="3996"/>
                <a:ext cx="1316" cy="0"/>
              </a:xfrm>
              <a:prstGeom prst="straightConnector1">
                <a:avLst/>
              </a:prstGeom>
              <a:noFill/>
              <a:ln w="28575">
                <a:solidFill>
                  <a:schemeClr val="folHlink"/>
                </a:solidFill>
                <a:miter lim="800000"/>
                <a:headEnd/>
                <a:tailEnd/>
              </a:ln>
              <a:extLst>
                <a:ext uri="{909E8E84-426E-40DD-AFC4-6F175D3DCCD1}">
                  <a14:hiddenFill xmlns:a14="http://schemas.microsoft.com/office/drawing/2010/main">
                    <a:noFill/>
                  </a14:hiddenFill>
                </a:ext>
              </a:extLst>
            </p:spPr>
          </p:cxnSp>
          <p:grpSp>
            <p:nvGrpSpPr>
              <p:cNvPr id="145453" name="Group 257"/>
              <p:cNvGrpSpPr>
                <a:grpSpLocks/>
              </p:cNvGrpSpPr>
              <p:nvPr/>
            </p:nvGrpSpPr>
            <p:grpSpPr bwMode="auto">
              <a:xfrm>
                <a:off x="1350" y="4365"/>
                <a:ext cx="4244" cy="213"/>
                <a:chOff x="1360" y="3656"/>
                <a:chExt cx="4244" cy="213"/>
              </a:xfrm>
            </p:grpSpPr>
            <p:cxnSp>
              <p:nvCxnSpPr>
                <p:cNvPr id="145469" name="AutoShape 258"/>
                <p:cNvCxnSpPr>
                  <a:cxnSpLocks noChangeShapeType="1"/>
                </p:cNvCxnSpPr>
                <p:nvPr/>
              </p:nvCxnSpPr>
              <p:spPr bwMode="auto">
                <a:xfrm>
                  <a:off x="3517" y="3656"/>
                  <a:ext cx="99" cy="20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70" name="AutoShape 259"/>
                <p:cNvCxnSpPr>
                  <a:cxnSpLocks noChangeShapeType="1"/>
                </p:cNvCxnSpPr>
                <p:nvPr/>
              </p:nvCxnSpPr>
              <p:spPr bwMode="auto">
                <a:xfrm flipV="1">
                  <a:off x="5006" y="3656"/>
                  <a:ext cx="98" cy="213"/>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71" name="AutoShape 260"/>
                <p:cNvCxnSpPr>
                  <a:cxnSpLocks noChangeShapeType="1"/>
                </p:cNvCxnSpPr>
                <p:nvPr/>
              </p:nvCxnSpPr>
              <p:spPr bwMode="auto">
                <a:xfrm>
                  <a:off x="1360" y="3657"/>
                  <a:ext cx="2157" cy="0"/>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72" name="AutoShape 261"/>
                <p:cNvCxnSpPr>
                  <a:cxnSpLocks noChangeShapeType="1"/>
                </p:cNvCxnSpPr>
                <p:nvPr/>
              </p:nvCxnSpPr>
              <p:spPr bwMode="auto">
                <a:xfrm flipV="1">
                  <a:off x="3608" y="3860"/>
                  <a:ext cx="1406" cy="9"/>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cxnSp>
              <p:nvCxnSpPr>
                <p:cNvPr id="145473" name="AutoShape 262"/>
                <p:cNvCxnSpPr>
                  <a:cxnSpLocks noChangeShapeType="1"/>
                </p:cNvCxnSpPr>
                <p:nvPr/>
              </p:nvCxnSpPr>
              <p:spPr bwMode="auto">
                <a:xfrm flipV="1">
                  <a:off x="5105" y="3656"/>
                  <a:ext cx="499" cy="1"/>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grpSp>
          <p:sp>
            <p:nvSpPr>
              <p:cNvPr id="145454" name="Line 264"/>
              <p:cNvSpPr>
                <a:spLocks noChangeShapeType="1"/>
              </p:cNvSpPr>
              <p:nvPr/>
            </p:nvSpPr>
            <p:spPr bwMode="auto">
              <a:xfrm>
                <a:off x="1329" y="4668"/>
                <a:ext cx="28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5455" name="AutoShape 265"/>
              <p:cNvCxnSpPr>
                <a:cxnSpLocks noChangeShapeType="1"/>
                <a:stCxn id="145454" idx="1"/>
              </p:cNvCxnSpPr>
              <p:nvPr/>
            </p:nvCxnSpPr>
            <p:spPr bwMode="auto">
              <a:xfrm>
                <a:off x="1617" y="4677"/>
                <a:ext cx="101" cy="19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56" name="AutoShape 266"/>
              <p:cNvCxnSpPr>
                <a:cxnSpLocks noChangeShapeType="1"/>
              </p:cNvCxnSpPr>
              <p:nvPr/>
            </p:nvCxnSpPr>
            <p:spPr bwMode="auto">
              <a:xfrm>
                <a:off x="1718" y="4872"/>
                <a:ext cx="1502" cy="1"/>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cxnSp>
            <p:nvCxnSpPr>
              <p:cNvPr id="145457" name="AutoShape 276"/>
              <p:cNvCxnSpPr>
                <a:cxnSpLocks noChangeShapeType="1"/>
              </p:cNvCxnSpPr>
              <p:nvPr/>
            </p:nvCxnSpPr>
            <p:spPr bwMode="auto">
              <a:xfrm flipV="1">
                <a:off x="3220" y="4705"/>
                <a:ext cx="97" cy="181"/>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145458" name="Line 278"/>
              <p:cNvSpPr>
                <a:spLocks noChangeShapeType="1"/>
              </p:cNvSpPr>
              <p:nvPr/>
            </p:nvSpPr>
            <p:spPr bwMode="auto">
              <a:xfrm>
                <a:off x="3311" y="4714"/>
                <a:ext cx="63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5459" name="AutoShape 279"/>
              <p:cNvCxnSpPr>
                <a:cxnSpLocks noChangeShapeType="1"/>
              </p:cNvCxnSpPr>
              <p:nvPr/>
            </p:nvCxnSpPr>
            <p:spPr bwMode="auto">
              <a:xfrm>
                <a:off x="3923" y="4707"/>
                <a:ext cx="91" cy="18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60" name="AutoShape 280"/>
              <p:cNvCxnSpPr>
                <a:cxnSpLocks noChangeShapeType="1"/>
              </p:cNvCxnSpPr>
              <p:nvPr/>
            </p:nvCxnSpPr>
            <p:spPr bwMode="auto">
              <a:xfrm>
                <a:off x="4014" y="4895"/>
                <a:ext cx="658" cy="0"/>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cxnSp>
            <p:nvCxnSpPr>
              <p:cNvPr id="145461" name="AutoShape 285"/>
              <p:cNvCxnSpPr>
                <a:cxnSpLocks noChangeShapeType="1"/>
              </p:cNvCxnSpPr>
              <p:nvPr/>
            </p:nvCxnSpPr>
            <p:spPr bwMode="auto">
              <a:xfrm flipV="1">
                <a:off x="4672" y="4714"/>
                <a:ext cx="97" cy="181"/>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62" name="AutoShape 286"/>
              <p:cNvCxnSpPr>
                <a:cxnSpLocks noChangeShapeType="1"/>
              </p:cNvCxnSpPr>
              <p:nvPr/>
            </p:nvCxnSpPr>
            <p:spPr bwMode="auto">
              <a:xfrm>
                <a:off x="4762" y="4714"/>
                <a:ext cx="233" cy="1"/>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63" name="AutoShape 288"/>
              <p:cNvCxnSpPr>
                <a:cxnSpLocks noChangeShapeType="1"/>
              </p:cNvCxnSpPr>
              <p:nvPr/>
            </p:nvCxnSpPr>
            <p:spPr bwMode="auto">
              <a:xfrm>
                <a:off x="4989" y="4714"/>
                <a:ext cx="113" cy="181"/>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5464" name="AutoShape 289"/>
              <p:cNvCxnSpPr>
                <a:cxnSpLocks noChangeShapeType="1"/>
              </p:cNvCxnSpPr>
              <p:nvPr/>
            </p:nvCxnSpPr>
            <p:spPr bwMode="auto">
              <a:xfrm>
                <a:off x="5103" y="4880"/>
                <a:ext cx="499" cy="0"/>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sp>
            <p:nvSpPr>
              <p:cNvPr id="145465" name="Line 290"/>
              <p:cNvSpPr>
                <a:spLocks noChangeShapeType="1"/>
              </p:cNvSpPr>
              <p:nvPr/>
            </p:nvSpPr>
            <p:spPr bwMode="auto">
              <a:xfrm>
                <a:off x="5397" y="2474"/>
                <a:ext cx="0" cy="2472"/>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466" name="Rectangle 294"/>
              <p:cNvSpPr>
                <a:spLocks noChangeArrowheads="1"/>
              </p:cNvSpPr>
              <p:nvPr/>
            </p:nvSpPr>
            <p:spPr bwMode="auto">
              <a:xfrm>
                <a:off x="2064" y="3287"/>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chemeClr val="folHlink"/>
                    </a:solidFill>
                  </a:rPr>
                  <a:t>读</a:t>
                </a:r>
              </a:p>
            </p:txBody>
          </p:sp>
          <p:sp>
            <p:nvSpPr>
              <p:cNvPr id="145467" name="Rectangle 295"/>
              <p:cNvSpPr>
                <a:spLocks noChangeArrowheads="1"/>
              </p:cNvSpPr>
              <p:nvPr/>
            </p:nvSpPr>
            <p:spPr bwMode="auto">
              <a:xfrm>
                <a:off x="2821" y="3289"/>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chemeClr val="folHlink"/>
                    </a:solidFill>
                  </a:rPr>
                  <a:t>读</a:t>
                </a:r>
              </a:p>
            </p:txBody>
          </p:sp>
          <p:sp>
            <p:nvSpPr>
              <p:cNvPr id="145468" name="Rectangle 296"/>
              <p:cNvSpPr>
                <a:spLocks noChangeArrowheads="1"/>
              </p:cNvSpPr>
              <p:nvPr/>
            </p:nvSpPr>
            <p:spPr bwMode="auto">
              <a:xfrm>
                <a:off x="4193" y="3271"/>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00FF"/>
                    </a:solidFill>
                  </a:rPr>
                  <a:t>写数据</a:t>
                </a:r>
              </a:p>
            </p:txBody>
          </p:sp>
        </p:grpSp>
        <p:grpSp>
          <p:nvGrpSpPr>
            <p:cNvPr id="145415" name="Group 300"/>
            <p:cNvGrpSpPr>
              <a:grpSpLocks/>
            </p:cNvGrpSpPr>
            <p:nvPr/>
          </p:nvGrpSpPr>
          <p:grpSpPr bwMode="auto">
            <a:xfrm>
              <a:off x="589" y="4655"/>
              <a:ext cx="686" cy="250"/>
              <a:chOff x="657" y="4655"/>
              <a:chExt cx="686" cy="250"/>
            </a:xfrm>
          </p:grpSpPr>
          <p:sp>
            <p:nvSpPr>
              <p:cNvPr id="145429" name="Rectangle 298"/>
              <p:cNvSpPr>
                <a:spLocks noChangeArrowheads="1"/>
              </p:cNvSpPr>
              <p:nvPr/>
            </p:nvSpPr>
            <p:spPr bwMode="auto">
              <a:xfrm>
                <a:off x="657" y="4655"/>
                <a:ext cx="6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MSTRB</a:t>
                </a:r>
              </a:p>
            </p:txBody>
          </p:sp>
          <p:sp>
            <p:nvSpPr>
              <p:cNvPr id="145430" name="Line 299"/>
              <p:cNvSpPr>
                <a:spLocks noChangeShapeType="1"/>
              </p:cNvSpPr>
              <p:nvPr/>
            </p:nvSpPr>
            <p:spPr bwMode="auto">
              <a:xfrm>
                <a:off x="725" y="4677"/>
                <a:ext cx="54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45416" name="Group 304"/>
            <p:cNvGrpSpPr>
              <a:grpSpLocks/>
            </p:cNvGrpSpPr>
            <p:nvPr/>
          </p:nvGrpSpPr>
          <p:grpSpPr bwMode="auto">
            <a:xfrm>
              <a:off x="614" y="4327"/>
              <a:ext cx="321" cy="250"/>
              <a:chOff x="612" y="4195"/>
              <a:chExt cx="321" cy="250"/>
            </a:xfrm>
          </p:grpSpPr>
          <p:sp>
            <p:nvSpPr>
              <p:cNvPr id="145427" name="Rectangle 302"/>
              <p:cNvSpPr>
                <a:spLocks noChangeArrowheads="1"/>
              </p:cNvSpPr>
              <p:nvPr/>
            </p:nvSpPr>
            <p:spPr bwMode="auto">
              <a:xfrm>
                <a:off x="612" y="4195"/>
                <a:ext cx="3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DS</a:t>
                </a:r>
              </a:p>
            </p:txBody>
          </p:sp>
          <p:sp>
            <p:nvSpPr>
              <p:cNvPr id="145428" name="Line 303"/>
              <p:cNvSpPr>
                <a:spLocks noChangeShapeType="1"/>
              </p:cNvSpPr>
              <p:nvPr/>
            </p:nvSpPr>
            <p:spPr bwMode="auto">
              <a:xfrm>
                <a:off x="680" y="4217"/>
                <a:ext cx="204" cy="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45417" name="Group 305"/>
            <p:cNvGrpSpPr>
              <a:grpSpLocks/>
            </p:cNvGrpSpPr>
            <p:nvPr/>
          </p:nvGrpSpPr>
          <p:grpSpPr bwMode="auto">
            <a:xfrm>
              <a:off x="621" y="4000"/>
              <a:ext cx="303" cy="250"/>
              <a:chOff x="612" y="4195"/>
              <a:chExt cx="303" cy="250"/>
            </a:xfrm>
          </p:grpSpPr>
          <p:sp>
            <p:nvSpPr>
              <p:cNvPr id="145425" name="Rectangle 306"/>
              <p:cNvSpPr>
                <a:spLocks noChangeArrowheads="1"/>
              </p:cNvSpPr>
              <p:nvPr/>
            </p:nvSpPr>
            <p:spPr bwMode="auto">
              <a:xfrm>
                <a:off x="612" y="4195"/>
                <a:ext cx="3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PS</a:t>
                </a:r>
              </a:p>
            </p:txBody>
          </p:sp>
          <p:sp>
            <p:nvSpPr>
              <p:cNvPr id="145426" name="Line 307"/>
              <p:cNvSpPr>
                <a:spLocks noChangeShapeType="1"/>
              </p:cNvSpPr>
              <p:nvPr/>
            </p:nvSpPr>
            <p:spPr bwMode="auto">
              <a:xfrm>
                <a:off x="680" y="4217"/>
                <a:ext cx="204" cy="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45418" name="Group 312"/>
            <p:cNvGrpSpPr>
              <a:grpSpLocks/>
            </p:cNvGrpSpPr>
            <p:nvPr/>
          </p:nvGrpSpPr>
          <p:grpSpPr bwMode="auto">
            <a:xfrm>
              <a:off x="612" y="3634"/>
              <a:ext cx="567" cy="250"/>
              <a:chOff x="340" y="3521"/>
              <a:chExt cx="567" cy="250"/>
            </a:xfrm>
          </p:grpSpPr>
          <p:sp>
            <p:nvSpPr>
              <p:cNvPr id="145422" name="Rectangle 309"/>
              <p:cNvSpPr>
                <a:spLocks noChangeArrowheads="1"/>
              </p:cNvSpPr>
              <p:nvPr/>
            </p:nvSpPr>
            <p:spPr bwMode="auto">
              <a:xfrm>
                <a:off x="340" y="3521"/>
                <a:ext cx="5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R</a:t>
                </a:r>
                <a:r>
                  <a:rPr kumimoji="0" lang="zh-CN" altLang="en-US"/>
                  <a:t>　</a:t>
                </a:r>
                <a:r>
                  <a:rPr kumimoji="0" lang="en-US" altLang="zh-CN"/>
                  <a:t>W</a:t>
                </a:r>
              </a:p>
            </p:txBody>
          </p:sp>
          <p:sp>
            <p:nvSpPr>
              <p:cNvPr id="145423" name="Line 310"/>
              <p:cNvSpPr>
                <a:spLocks noChangeShapeType="1"/>
              </p:cNvSpPr>
              <p:nvPr/>
            </p:nvSpPr>
            <p:spPr bwMode="auto">
              <a:xfrm>
                <a:off x="680" y="3566"/>
                <a:ext cx="159"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424" name="Line 311"/>
              <p:cNvSpPr>
                <a:spLocks noChangeShapeType="1"/>
              </p:cNvSpPr>
              <p:nvPr/>
            </p:nvSpPr>
            <p:spPr bwMode="auto">
              <a:xfrm flipH="1">
                <a:off x="561" y="3557"/>
                <a:ext cx="68" cy="159"/>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45419" name="Rectangle 314"/>
            <p:cNvSpPr>
              <a:spLocks noChangeArrowheads="1"/>
            </p:cNvSpPr>
            <p:nvPr/>
          </p:nvSpPr>
          <p:spPr bwMode="auto">
            <a:xfrm>
              <a:off x="612" y="3294"/>
              <a:ext cx="7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D(15</a:t>
              </a:r>
              <a:r>
                <a:rPr kumimoji="0" lang="zh-CN" altLang="en-US"/>
                <a:t>～</a:t>
              </a:r>
              <a:r>
                <a:rPr kumimoji="0" lang="en-US" altLang="zh-CN"/>
                <a:t>0)</a:t>
              </a:r>
            </a:p>
          </p:txBody>
        </p:sp>
        <p:sp>
          <p:nvSpPr>
            <p:cNvPr id="145420" name="Rectangle 317"/>
            <p:cNvSpPr>
              <a:spLocks noChangeArrowheads="1"/>
            </p:cNvSpPr>
            <p:nvPr/>
          </p:nvSpPr>
          <p:spPr bwMode="auto">
            <a:xfrm>
              <a:off x="612" y="2931"/>
              <a:ext cx="7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A(15</a:t>
              </a:r>
              <a:r>
                <a:rPr kumimoji="0" lang="zh-CN" altLang="en-US"/>
                <a:t>～</a:t>
              </a:r>
              <a:r>
                <a:rPr kumimoji="0" lang="en-US" altLang="zh-CN"/>
                <a:t>0)</a:t>
              </a:r>
            </a:p>
          </p:txBody>
        </p:sp>
        <p:sp>
          <p:nvSpPr>
            <p:cNvPr id="145421" name="Rectangle 318"/>
            <p:cNvSpPr>
              <a:spLocks noChangeArrowheads="1"/>
            </p:cNvSpPr>
            <p:nvPr/>
          </p:nvSpPr>
          <p:spPr bwMode="auto">
            <a:xfrm>
              <a:off x="612" y="2591"/>
              <a:ext cx="8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CLKOUT</a:t>
              </a:r>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43074"/>
                                        </p:tgtEl>
                                        <p:attrNameLst>
                                          <p:attrName>style.visibility</p:attrName>
                                        </p:attrNameLst>
                                      </p:cBhvr>
                                      <p:to>
                                        <p:strVal val="visible"/>
                                      </p:to>
                                    </p:set>
                                    <p:anim calcmode="lin" valueType="num">
                                      <p:cBhvr additive="base">
                                        <p:cTn id="7" dur="500" fill="hold"/>
                                        <p:tgtEl>
                                          <p:spTgt spid="643074"/>
                                        </p:tgtEl>
                                        <p:attrNameLst>
                                          <p:attrName>ppt_x</p:attrName>
                                        </p:attrNameLst>
                                      </p:cBhvr>
                                      <p:tavLst>
                                        <p:tav tm="0">
                                          <p:val>
                                            <p:strVal val="0-#ppt_w/2"/>
                                          </p:val>
                                        </p:tav>
                                        <p:tav tm="100000">
                                          <p:val>
                                            <p:strVal val="#ppt_x"/>
                                          </p:val>
                                        </p:tav>
                                      </p:tavLst>
                                    </p:anim>
                                    <p:anim calcmode="lin" valueType="num">
                                      <p:cBhvr additive="base">
                                        <p:cTn id="8" dur="500" fill="hold"/>
                                        <p:tgtEl>
                                          <p:spTgt spid="6430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74" grpId="0"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2F2E258-EDF4-4D13-969F-D29EBF780460}" type="slidenum">
              <a:rPr lang="en-US" altLang="zh-CN" sz="1400" b="0"/>
              <a:pPr eaLnBrk="1" hangingPunct="1"/>
              <a:t>132</a:t>
            </a:fld>
            <a:endParaRPr lang="en-US" altLang="zh-CN" sz="1400" b="0"/>
          </a:p>
        </p:txBody>
      </p:sp>
      <p:sp>
        <p:nvSpPr>
          <p:cNvPr id="146435" name="Text Box 4"/>
          <p:cNvSpPr txBox="1">
            <a:spLocks noChangeArrowheads="1"/>
          </p:cNvSpPr>
          <p:nvPr/>
        </p:nvSpPr>
        <p:spPr bwMode="auto">
          <a:xfrm>
            <a:off x="2447925" y="5300663"/>
            <a:ext cx="4368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zh-CN" altLang="en-US" sz="2400">
                <a:latin typeface="宋体" panose="02010600030101010101" pitchFamily="2" charset="-122"/>
              </a:rPr>
              <a:t>存储器写一写一读操作定时图</a:t>
            </a:r>
          </a:p>
          <a:p>
            <a:pPr algn="just"/>
            <a:endParaRPr kumimoji="0" lang="en-US" altLang="zh-CN" sz="2400"/>
          </a:p>
        </p:txBody>
      </p:sp>
      <p:sp>
        <p:nvSpPr>
          <p:cNvPr id="644101" name="Rectangle 5"/>
          <p:cNvSpPr>
            <a:spLocks noChangeArrowheads="1"/>
          </p:cNvSpPr>
          <p:nvPr/>
        </p:nvSpPr>
        <p:spPr bwMode="auto">
          <a:xfrm>
            <a:off x="1943100" y="6021388"/>
            <a:ext cx="4724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latin typeface="宋体" panose="02010600030101010101" pitchFamily="2" charset="-122"/>
              </a:rPr>
              <a:t>写操作要用</a:t>
            </a:r>
            <a:r>
              <a:rPr lang="en-US" altLang="zh-CN" sz="3200">
                <a:latin typeface="宋体" panose="02010600030101010101" pitchFamily="2" charset="-122"/>
              </a:rPr>
              <a:t>2</a:t>
            </a:r>
            <a:r>
              <a:rPr lang="zh-CN" altLang="en-US" sz="3200">
                <a:latin typeface="宋体" panose="02010600030101010101" pitchFamily="2" charset="-122"/>
              </a:rPr>
              <a:t>个机器周期</a:t>
            </a:r>
            <a:r>
              <a:rPr lang="zh-CN" altLang="en-US" sz="3200">
                <a:solidFill>
                  <a:schemeClr val="bg1"/>
                </a:solidFill>
              </a:rPr>
              <a:t> </a:t>
            </a:r>
          </a:p>
        </p:txBody>
      </p:sp>
      <p:sp>
        <p:nvSpPr>
          <p:cNvPr id="146437" name="Line 10"/>
          <p:cNvSpPr>
            <a:spLocks noChangeShapeType="1"/>
          </p:cNvSpPr>
          <p:nvPr/>
        </p:nvSpPr>
        <p:spPr bwMode="auto">
          <a:xfrm>
            <a:off x="1584325" y="2022475"/>
            <a:ext cx="684213"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438" name="AutoShape 11"/>
          <p:cNvCxnSpPr>
            <a:cxnSpLocks noChangeShapeType="1"/>
          </p:cNvCxnSpPr>
          <p:nvPr/>
        </p:nvCxnSpPr>
        <p:spPr bwMode="auto">
          <a:xfrm>
            <a:off x="2411413" y="2349500"/>
            <a:ext cx="1692275"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39" name="AutoShape 13"/>
          <p:cNvCxnSpPr>
            <a:cxnSpLocks noChangeShapeType="1"/>
            <a:stCxn id="146437" idx="1"/>
          </p:cNvCxnSpPr>
          <p:nvPr/>
        </p:nvCxnSpPr>
        <p:spPr bwMode="auto">
          <a:xfrm>
            <a:off x="2268538" y="2036763"/>
            <a:ext cx="153987" cy="319087"/>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40" name="AutoShape 14"/>
          <p:cNvCxnSpPr>
            <a:cxnSpLocks noChangeShapeType="1"/>
          </p:cNvCxnSpPr>
          <p:nvPr/>
        </p:nvCxnSpPr>
        <p:spPr bwMode="auto">
          <a:xfrm flipV="1">
            <a:off x="2232025" y="2035175"/>
            <a:ext cx="179388" cy="31115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41" name="AutoShape 15"/>
          <p:cNvCxnSpPr>
            <a:cxnSpLocks noChangeShapeType="1"/>
          </p:cNvCxnSpPr>
          <p:nvPr/>
        </p:nvCxnSpPr>
        <p:spPr bwMode="auto">
          <a:xfrm>
            <a:off x="2411413" y="2024063"/>
            <a:ext cx="1728787"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sp>
        <p:nvSpPr>
          <p:cNvPr id="146442" name="Line 16"/>
          <p:cNvSpPr>
            <a:spLocks noChangeShapeType="1"/>
          </p:cNvSpPr>
          <p:nvPr/>
        </p:nvSpPr>
        <p:spPr bwMode="auto">
          <a:xfrm flipV="1">
            <a:off x="1584325" y="2349500"/>
            <a:ext cx="647700"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443" name="AutoShape 17"/>
          <p:cNvCxnSpPr>
            <a:cxnSpLocks noChangeShapeType="1"/>
          </p:cNvCxnSpPr>
          <p:nvPr/>
        </p:nvCxnSpPr>
        <p:spPr bwMode="auto">
          <a:xfrm>
            <a:off x="4137025" y="2024063"/>
            <a:ext cx="179388" cy="32385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44" name="AutoShape 18"/>
          <p:cNvCxnSpPr>
            <a:cxnSpLocks noChangeShapeType="1"/>
          </p:cNvCxnSpPr>
          <p:nvPr/>
        </p:nvCxnSpPr>
        <p:spPr bwMode="auto">
          <a:xfrm flipV="1">
            <a:off x="4103688" y="2012950"/>
            <a:ext cx="214312" cy="33655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45" name="AutoShape 19"/>
          <p:cNvCxnSpPr>
            <a:cxnSpLocks noChangeShapeType="1"/>
          </p:cNvCxnSpPr>
          <p:nvPr/>
        </p:nvCxnSpPr>
        <p:spPr bwMode="auto">
          <a:xfrm>
            <a:off x="5948363" y="2011363"/>
            <a:ext cx="171450" cy="338137"/>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46" name="AutoShape 20"/>
          <p:cNvCxnSpPr>
            <a:cxnSpLocks noChangeShapeType="1"/>
          </p:cNvCxnSpPr>
          <p:nvPr/>
        </p:nvCxnSpPr>
        <p:spPr bwMode="auto">
          <a:xfrm flipV="1">
            <a:off x="5951538" y="2001838"/>
            <a:ext cx="177800" cy="344487"/>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47" name="AutoShape 21"/>
          <p:cNvCxnSpPr>
            <a:cxnSpLocks noChangeShapeType="1"/>
          </p:cNvCxnSpPr>
          <p:nvPr/>
        </p:nvCxnSpPr>
        <p:spPr bwMode="auto">
          <a:xfrm>
            <a:off x="7272338" y="2012950"/>
            <a:ext cx="215900" cy="33655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48" name="AutoShape 22"/>
          <p:cNvCxnSpPr>
            <a:cxnSpLocks noChangeShapeType="1"/>
          </p:cNvCxnSpPr>
          <p:nvPr/>
        </p:nvCxnSpPr>
        <p:spPr bwMode="auto">
          <a:xfrm flipV="1">
            <a:off x="7272338" y="2012950"/>
            <a:ext cx="192087" cy="33655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49" name="AutoShape 23"/>
          <p:cNvCxnSpPr>
            <a:cxnSpLocks noChangeShapeType="1"/>
          </p:cNvCxnSpPr>
          <p:nvPr/>
        </p:nvCxnSpPr>
        <p:spPr bwMode="auto">
          <a:xfrm>
            <a:off x="4319588" y="2024063"/>
            <a:ext cx="1620837"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50" name="AutoShape 24"/>
          <p:cNvCxnSpPr>
            <a:cxnSpLocks noChangeShapeType="1"/>
          </p:cNvCxnSpPr>
          <p:nvPr/>
        </p:nvCxnSpPr>
        <p:spPr bwMode="auto">
          <a:xfrm>
            <a:off x="4319588" y="2349500"/>
            <a:ext cx="1620837"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51" name="AutoShape 26"/>
          <p:cNvCxnSpPr>
            <a:cxnSpLocks noChangeShapeType="1"/>
          </p:cNvCxnSpPr>
          <p:nvPr/>
        </p:nvCxnSpPr>
        <p:spPr bwMode="auto">
          <a:xfrm flipV="1">
            <a:off x="6119813" y="2349500"/>
            <a:ext cx="1152525" cy="1588"/>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6452" name="AutoShape 27"/>
          <p:cNvCxnSpPr>
            <a:cxnSpLocks noChangeShapeType="1"/>
          </p:cNvCxnSpPr>
          <p:nvPr/>
        </p:nvCxnSpPr>
        <p:spPr bwMode="auto">
          <a:xfrm>
            <a:off x="6119813" y="2024063"/>
            <a:ext cx="1152525"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sp>
        <p:nvSpPr>
          <p:cNvPr id="146453" name="Line 31"/>
          <p:cNvSpPr>
            <a:spLocks noChangeShapeType="1"/>
          </p:cNvSpPr>
          <p:nvPr/>
        </p:nvSpPr>
        <p:spPr bwMode="auto">
          <a:xfrm>
            <a:off x="1930400" y="1304925"/>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454" name="Line 32"/>
          <p:cNvSpPr>
            <a:spLocks noChangeShapeType="1"/>
          </p:cNvSpPr>
          <p:nvPr/>
        </p:nvSpPr>
        <p:spPr bwMode="auto">
          <a:xfrm>
            <a:off x="2339975" y="1268413"/>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455" name="Line 33"/>
          <p:cNvSpPr>
            <a:spLocks noChangeShapeType="1"/>
          </p:cNvSpPr>
          <p:nvPr/>
        </p:nvSpPr>
        <p:spPr bwMode="auto">
          <a:xfrm>
            <a:off x="2830513" y="1304925"/>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456" name="Line 34"/>
          <p:cNvSpPr>
            <a:spLocks noChangeShapeType="1"/>
          </p:cNvSpPr>
          <p:nvPr/>
        </p:nvSpPr>
        <p:spPr bwMode="auto">
          <a:xfrm>
            <a:off x="3805238" y="1304925"/>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457" name="Line 35"/>
          <p:cNvSpPr>
            <a:spLocks noChangeShapeType="1"/>
          </p:cNvSpPr>
          <p:nvPr/>
        </p:nvSpPr>
        <p:spPr bwMode="auto">
          <a:xfrm>
            <a:off x="4694238" y="1268413"/>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458" name="Line 36"/>
          <p:cNvSpPr>
            <a:spLocks noChangeShapeType="1"/>
          </p:cNvSpPr>
          <p:nvPr/>
        </p:nvSpPr>
        <p:spPr bwMode="auto">
          <a:xfrm>
            <a:off x="5111750" y="1268413"/>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459" name="Line 37"/>
          <p:cNvSpPr>
            <a:spLocks noChangeShapeType="1"/>
          </p:cNvSpPr>
          <p:nvPr/>
        </p:nvSpPr>
        <p:spPr bwMode="auto">
          <a:xfrm>
            <a:off x="5616575" y="1268413"/>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460" name="Line 38"/>
          <p:cNvSpPr>
            <a:spLocks noChangeShapeType="1"/>
          </p:cNvSpPr>
          <p:nvPr/>
        </p:nvSpPr>
        <p:spPr bwMode="auto">
          <a:xfrm>
            <a:off x="6442075" y="1268413"/>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461" name="Line 39"/>
          <p:cNvSpPr>
            <a:spLocks noChangeShapeType="1"/>
          </p:cNvSpPr>
          <p:nvPr/>
        </p:nvSpPr>
        <p:spPr bwMode="auto">
          <a:xfrm>
            <a:off x="6888163" y="1268413"/>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462" name="Line 40"/>
          <p:cNvSpPr>
            <a:spLocks noChangeShapeType="1"/>
          </p:cNvSpPr>
          <p:nvPr/>
        </p:nvSpPr>
        <p:spPr bwMode="auto">
          <a:xfrm>
            <a:off x="7377113" y="1268413"/>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463" name="AutoShape 42"/>
          <p:cNvCxnSpPr>
            <a:cxnSpLocks noChangeShapeType="1"/>
          </p:cNvCxnSpPr>
          <p:nvPr/>
        </p:nvCxnSpPr>
        <p:spPr bwMode="auto">
          <a:xfrm>
            <a:off x="6494463" y="1803400"/>
            <a:ext cx="346075" cy="4763"/>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grpSp>
        <p:nvGrpSpPr>
          <p:cNvPr id="146464" name="Group 43"/>
          <p:cNvGrpSpPr>
            <a:grpSpLocks/>
          </p:cNvGrpSpPr>
          <p:nvPr/>
        </p:nvGrpSpPr>
        <p:grpSpPr bwMode="auto">
          <a:xfrm>
            <a:off x="1512888" y="1490663"/>
            <a:ext cx="1182687" cy="325437"/>
            <a:chOff x="1995" y="2659"/>
            <a:chExt cx="1139" cy="205"/>
          </a:xfrm>
        </p:grpSpPr>
        <p:sp>
          <p:nvSpPr>
            <p:cNvPr id="146573" name="Line 44"/>
            <p:cNvSpPr>
              <a:spLocks noChangeShapeType="1"/>
            </p:cNvSpPr>
            <p:nvPr/>
          </p:nvSpPr>
          <p:spPr bwMode="auto">
            <a:xfrm>
              <a:off x="1995" y="2659"/>
              <a:ext cx="336" cy="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574" name="AutoShape 45"/>
            <p:cNvCxnSpPr>
              <a:cxnSpLocks noChangeShapeType="1"/>
              <a:stCxn id="146573" idx="1"/>
            </p:cNvCxnSpPr>
            <p:nvPr/>
          </p:nvCxnSpPr>
          <p:spPr bwMode="auto">
            <a:xfrm>
              <a:off x="2331" y="2665"/>
              <a:ext cx="118" cy="19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575" name="AutoShape 46"/>
            <p:cNvCxnSpPr>
              <a:cxnSpLocks noChangeShapeType="1"/>
            </p:cNvCxnSpPr>
            <p:nvPr/>
          </p:nvCxnSpPr>
          <p:spPr bwMode="auto">
            <a:xfrm>
              <a:off x="2449" y="2863"/>
              <a:ext cx="295"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576" name="AutoShape 47"/>
            <p:cNvCxnSpPr>
              <a:cxnSpLocks noChangeShapeType="1"/>
            </p:cNvCxnSpPr>
            <p:nvPr/>
          </p:nvCxnSpPr>
          <p:spPr bwMode="auto">
            <a:xfrm flipV="1">
              <a:off x="2744" y="2682"/>
              <a:ext cx="113" cy="18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577" name="AutoShape 48"/>
            <p:cNvCxnSpPr>
              <a:cxnSpLocks noChangeShapeType="1"/>
            </p:cNvCxnSpPr>
            <p:nvPr/>
          </p:nvCxnSpPr>
          <p:spPr bwMode="auto">
            <a:xfrm>
              <a:off x="2862" y="2682"/>
              <a:ext cx="272"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grpSp>
      <p:sp>
        <p:nvSpPr>
          <p:cNvPr id="146465" name="Line 49"/>
          <p:cNvSpPr>
            <a:spLocks noChangeShapeType="1"/>
          </p:cNvSpPr>
          <p:nvPr/>
        </p:nvSpPr>
        <p:spPr bwMode="auto">
          <a:xfrm>
            <a:off x="2420938" y="1527175"/>
            <a:ext cx="347662" cy="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466" name="AutoShape 50"/>
          <p:cNvCxnSpPr>
            <a:cxnSpLocks noChangeShapeType="1"/>
            <a:stCxn id="146465" idx="1"/>
          </p:cNvCxnSpPr>
          <p:nvPr/>
        </p:nvCxnSpPr>
        <p:spPr bwMode="auto">
          <a:xfrm>
            <a:off x="2768600" y="1541463"/>
            <a:ext cx="122238" cy="314325"/>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67" name="AutoShape 51"/>
          <p:cNvCxnSpPr>
            <a:cxnSpLocks noChangeShapeType="1"/>
          </p:cNvCxnSpPr>
          <p:nvPr/>
        </p:nvCxnSpPr>
        <p:spPr bwMode="auto">
          <a:xfrm>
            <a:off x="2890838" y="1851025"/>
            <a:ext cx="306387" cy="158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68" name="AutoShape 52"/>
          <p:cNvCxnSpPr>
            <a:cxnSpLocks noChangeShapeType="1"/>
          </p:cNvCxnSpPr>
          <p:nvPr/>
        </p:nvCxnSpPr>
        <p:spPr bwMode="auto">
          <a:xfrm flipV="1">
            <a:off x="3197225" y="1552575"/>
            <a:ext cx="117475" cy="28733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69" name="AutoShape 53"/>
          <p:cNvCxnSpPr>
            <a:cxnSpLocks noChangeShapeType="1"/>
          </p:cNvCxnSpPr>
          <p:nvPr/>
        </p:nvCxnSpPr>
        <p:spPr bwMode="auto">
          <a:xfrm flipV="1">
            <a:off x="3319463" y="1539875"/>
            <a:ext cx="419100" cy="158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70" name="AutoShape 54"/>
          <p:cNvCxnSpPr>
            <a:cxnSpLocks noChangeShapeType="1"/>
          </p:cNvCxnSpPr>
          <p:nvPr/>
        </p:nvCxnSpPr>
        <p:spPr bwMode="auto">
          <a:xfrm>
            <a:off x="3738563" y="1539875"/>
            <a:ext cx="112712" cy="257175"/>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71" name="AutoShape 55"/>
          <p:cNvCxnSpPr>
            <a:cxnSpLocks noChangeShapeType="1"/>
          </p:cNvCxnSpPr>
          <p:nvPr/>
        </p:nvCxnSpPr>
        <p:spPr bwMode="auto">
          <a:xfrm>
            <a:off x="3851275" y="1808163"/>
            <a:ext cx="307975" cy="158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72" name="AutoShape 56"/>
          <p:cNvCxnSpPr>
            <a:cxnSpLocks noChangeShapeType="1"/>
          </p:cNvCxnSpPr>
          <p:nvPr/>
        </p:nvCxnSpPr>
        <p:spPr bwMode="auto">
          <a:xfrm flipV="1">
            <a:off x="4159250" y="1531938"/>
            <a:ext cx="117475" cy="28733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73" name="AutoShape 57"/>
          <p:cNvCxnSpPr>
            <a:cxnSpLocks noChangeShapeType="1"/>
          </p:cNvCxnSpPr>
          <p:nvPr/>
        </p:nvCxnSpPr>
        <p:spPr bwMode="auto">
          <a:xfrm>
            <a:off x="4281488" y="1531938"/>
            <a:ext cx="280987" cy="158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sp>
        <p:nvSpPr>
          <p:cNvPr id="146474" name="Line 58"/>
          <p:cNvSpPr>
            <a:spLocks noChangeShapeType="1"/>
          </p:cNvSpPr>
          <p:nvPr/>
        </p:nvSpPr>
        <p:spPr bwMode="auto">
          <a:xfrm>
            <a:off x="4287838" y="1531938"/>
            <a:ext cx="349250" cy="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475" name="AutoShape 59"/>
          <p:cNvCxnSpPr>
            <a:cxnSpLocks noChangeShapeType="1"/>
            <a:stCxn id="146474" idx="1"/>
          </p:cNvCxnSpPr>
          <p:nvPr/>
        </p:nvCxnSpPr>
        <p:spPr bwMode="auto">
          <a:xfrm>
            <a:off x="4637088" y="1546225"/>
            <a:ext cx="122237" cy="314325"/>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76" name="AutoShape 60"/>
          <p:cNvCxnSpPr>
            <a:cxnSpLocks noChangeShapeType="1"/>
          </p:cNvCxnSpPr>
          <p:nvPr/>
        </p:nvCxnSpPr>
        <p:spPr bwMode="auto">
          <a:xfrm>
            <a:off x="4759325" y="1855788"/>
            <a:ext cx="306388" cy="158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77" name="AutoShape 61"/>
          <p:cNvCxnSpPr>
            <a:cxnSpLocks noChangeShapeType="1"/>
          </p:cNvCxnSpPr>
          <p:nvPr/>
        </p:nvCxnSpPr>
        <p:spPr bwMode="auto">
          <a:xfrm flipV="1">
            <a:off x="5065713" y="1568450"/>
            <a:ext cx="117475" cy="28733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78" name="AutoShape 62"/>
          <p:cNvCxnSpPr>
            <a:cxnSpLocks noChangeShapeType="1"/>
          </p:cNvCxnSpPr>
          <p:nvPr/>
        </p:nvCxnSpPr>
        <p:spPr bwMode="auto">
          <a:xfrm flipV="1">
            <a:off x="5187950" y="1562100"/>
            <a:ext cx="363538" cy="6350"/>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79" name="AutoShape 63"/>
          <p:cNvCxnSpPr>
            <a:cxnSpLocks noChangeShapeType="1"/>
          </p:cNvCxnSpPr>
          <p:nvPr/>
        </p:nvCxnSpPr>
        <p:spPr bwMode="auto">
          <a:xfrm>
            <a:off x="5551488" y="1562100"/>
            <a:ext cx="114300" cy="26193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80" name="AutoShape 64"/>
          <p:cNvCxnSpPr>
            <a:cxnSpLocks noChangeShapeType="1"/>
          </p:cNvCxnSpPr>
          <p:nvPr/>
        </p:nvCxnSpPr>
        <p:spPr bwMode="auto">
          <a:xfrm>
            <a:off x="5665788" y="1819275"/>
            <a:ext cx="306387" cy="158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81" name="AutoShape 65"/>
          <p:cNvCxnSpPr>
            <a:cxnSpLocks noChangeShapeType="1"/>
          </p:cNvCxnSpPr>
          <p:nvPr/>
        </p:nvCxnSpPr>
        <p:spPr bwMode="auto">
          <a:xfrm flipV="1">
            <a:off x="5972175" y="1531938"/>
            <a:ext cx="117475" cy="28733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82" name="AutoShape 66"/>
          <p:cNvCxnSpPr>
            <a:cxnSpLocks noChangeShapeType="1"/>
          </p:cNvCxnSpPr>
          <p:nvPr/>
        </p:nvCxnSpPr>
        <p:spPr bwMode="auto">
          <a:xfrm>
            <a:off x="6094413" y="1531938"/>
            <a:ext cx="282575" cy="158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483" name="AutoShape 67"/>
          <p:cNvCxnSpPr>
            <a:cxnSpLocks noChangeShapeType="1"/>
          </p:cNvCxnSpPr>
          <p:nvPr/>
        </p:nvCxnSpPr>
        <p:spPr bwMode="auto">
          <a:xfrm>
            <a:off x="6364288" y="1525588"/>
            <a:ext cx="136525" cy="28733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sp>
        <p:nvSpPr>
          <p:cNvPr id="146484" name="Line 69"/>
          <p:cNvSpPr>
            <a:spLocks noChangeShapeType="1"/>
          </p:cNvSpPr>
          <p:nvPr/>
        </p:nvSpPr>
        <p:spPr bwMode="auto">
          <a:xfrm flipV="1">
            <a:off x="1908175" y="2781300"/>
            <a:ext cx="900113"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46485" name="Group 80"/>
          <p:cNvGrpSpPr>
            <a:grpSpLocks/>
          </p:cNvGrpSpPr>
          <p:nvPr/>
        </p:nvGrpSpPr>
        <p:grpSpPr bwMode="auto">
          <a:xfrm>
            <a:off x="6659563" y="2528888"/>
            <a:ext cx="109537" cy="360362"/>
            <a:chOff x="2018" y="3444"/>
            <a:chExt cx="68" cy="213"/>
          </a:xfrm>
        </p:grpSpPr>
        <p:cxnSp>
          <p:nvCxnSpPr>
            <p:cNvPr id="146571" name="AutoShape 81"/>
            <p:cNvCxnSpPr>
              <a:cxnSpLocks noChangeShapeType="1"/>
            </p:cNvCxnSpPr>
            <p:nvPr/>
          </p:nvCxnSpPr>
          <p:spPr bwMode="auto">
            <a:xfrm>
              <a:off x="2018" y="3558"/>
              <a:ext cx="68" cy="99"/>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6572" name="AutoShape 82"/>
            <p:cNvCxnSpPr>
              <a:cxnSpLocks noChangeShapeType="1"/>
            </p:cNvCxnSpPr>
            <p:nvPr/>
          </p:nvCxnSpPr>
          <p:spPr bwMode="auto">
            <a:xfrm flipV="1">
              <a:off x="2018" y="3444"/>
              <a:ext cx="68" cy="13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cxnSp>
        <p:nvCxnSpPr>
          <p:cNvPr id="146486" name="AutoShape 84"/>
          <p:cNvCxnSpPr>
            <a:cxnSpLocks noChangeShapeType="1"/>
          </p:cNvCxnSpPr>
          <p:nvPr/>
        </p:nvCxnSpPr>
        <p:spPr bwMode="auto">
          <a:xfrm>
            <a:off x="7380288" y="2528888"/>
            <a:ext cx="141287" cy="17780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nvGrpSpPr>
          <p:cNvPr id="146487" name="Group 88"/>
          <p:cNvGrpSpPr>
            <a:grpSpLocks/>
          </p:cNvGrpSpPr>
          <p:nvPr/>
        </p:nvGrpSpPr>
        <p:grpSpPr bwMode="auto">
          <a:xfrm>
            <a:off x="4694238" y="2590800"/>
            <a:ext cx="107950" cy="338138"/>
            <a:chOff x="2018" y="3444"/>
            <a:chExt cx="68" cy="213"/>
          </a:xfrm>
        </p:grpSpPr>
        <p:cxnSp>
          <p:nvCxnSpPr>
            <p:cNvPr id="146569" name="AutoShape 89"/>
            <p:cNvCxnSpPr>
              <a:cxnSpLocks noChangeShapeType="1"/>
            </p:cNvCxnSpPr>
            <p:nvPr/>
          </p:nvCxnSpPr>
          <p:spPr bwMode="auto">
            <a:xfrm>
              <a:off x="2018" y="3558"/>
              <a:ext cx="68" cy="99"/>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6570" name="AutoShape 90"/>
            <p:cNvCxnSpPr>
              <a:cxnSpLocks noChangeShapeType="1"/>
            </p:cNvCxnSpPr>
            <p:nvPr/>
          </p:nvCxnSpPr>
          <p:spPr bwMode="auto">
            <a:xfrm flipV="1">
              <a:off x="2018" y="3444"/>
              <a:ext cx="68" cy="13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sp>
        <p:nvSpPr>
          <p:cNvPr id="146488" name="Line 95"/>
          <p:cNvSpPr>
            <a:spLocks noChangeShapeType="1"/>
          </p:cNvSpPr>
          <p:nvPr/>
        </p:nvSpPr>
        <p:spPr bwMode="auto">
          <a:xfrm>
            <a:off x="4203700" y="2781300"/>
            <a:ext cx="476250"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489" name="AutoShape 98"/>
          <p:cNvCxnSpPr>
            <a:cxnSpLocks noChangeShapeType="1"/>
          </p:cNvCxnSpPr>
          <p:nvPr/>
        </p:nvCxnSpPr>
        <p:spPr bwMode="auto">
          <a:xfrm>
            <a:off x="2232025" y="3141663"/>
            <a:ext cx="157163" cy="330200"/>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490" name="AutoShape 99"/>
          <p:cNvCxnSpPr>
            <a:cxnSpLocks noChangeShapeType="1"/>
          </p:cNvCxnSpPr>
          <p:nvPr/>
        </p:nvCxnSpPr>
        <p:spPr bwMode="auto">
          <a:xfrm flipV="1">
            <a:off x="5951538" y="3141663"/>
            <a:ext cx="155575" cy="338137"/>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491" name="AutoShape 100"/>
          <p:cNvCxnSpPr>
            <a:cxnSpLocks noChangeShapeType="1"/>
          </p:cNvCxnSpPr>
          <p:nvPr/>
        </p:nvCxnSpPr>
        <p:spPr bwMode="auto">
          <a:xfrm>
            <a:off x="6084888" y="3141663"/>
            <a:ext cx="1619250" cy="0"/>
          </a:xfrm>
          <a:prstGeom prst="straightConnector1">
            <a:avLst/>
          </a:prstGeom>
          <a:noFill/>
          <a:ln w="28575">
            <a:solidFill>
              <a:srgbClr val="666633"/>
            </a:solidFill>
            <a:miter lim="800000"/>
            <a:headEnd/>
            <a:tailEnd/>
          </a:ln>
          <a:extLst>
            <a:ext uri="{909E8E84-426E-40DD-AFC4-6F175D3DCCD1}">
              <a14:hiddenFill xmlns:a14="http://schemas.microsoft.com/office/drawing/2010/main">
                <a:noFill/>
              </a14:hiddenFill>
            </a:ext>
          </a:extLst>
        </p:spPr>
      </p:cxnSp>
      <p:cxnSp>
        <p:nvCxnSpPr>
          <p:cNvPr id="146492" name="AutoShape 101"/>
          <p:cNvCxnSpPr>
            <a:cxnSpLocks noChangeShapeType="1"/>
          </p:cNvCxnSpPr>
          <p:nvPr/>
        </p:nvCxnSpPr>
        <p:spPr bwMode="auto">
          <a:xfrm flipV="1">
            <a:off x="2376488" y="3465513"/>
            <a:ext cx="3563937" cy="14287"/>
          </a:xfrm>
          <a:prstGeom prst="straightConnector1">
            <a:avLst/>
          </a:prstGeom>
          <a:noFill/>
          <a:ln w="28575">
            <a:solidFill>
              <a:srgbClr val="CCCC00"/>
            </a:solidFill>
            <a:miter lim="800000"/>
            <a:headEnd/>
            <a:tailEnd/>
          </a:ln>
          <a:extLst>
            <a:ext uri="{909E8E84-426E-40DD-AFC4-6F175D3DCCD1}">
              <a14:hiddenFill xmlns:a14="http://schemas.microsoft.com/office/drawing/2010/main">
                <a:noFill/>
              </a14:hiddenFill>
            </a:ext>
          </a:extLst>
        </p:spPr>
      </p:cxnSp>
      <p:sp>
        <p:nvSpPr>
          <p:cNvPr id="146493" name="Line 103"/>
          <p:cNvSpPr>
            <a:spLocks noChangeShapeType="1"/>
          </p:cNvSpPr>
          <p:nvPr/>
        </p:nvSpPr>
        <p:spPr bwMode="auto">
          <a:xfrm flipH="1">
            <a:off x="1524000" y="3644900"/>
            <a:ext cx="322263" cy="476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494" name="AutoShape 104"/>
          <p:cNvCxnSpPr>
            <a:cxnSpLocks noChangeShapeType="1"/>
          </p:cNvCxnSpPr>
          <p:nvPr/>
        </p:nvCxnSpPr>
        <p:spPr bwMode="auto">
          <a:xfrm>
            <a:off x="1547813" y="4005263"/>
            <a:ext cx="6192837" cy="0"/>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cxnSp>
        <p:nvCxnSpPr>
          <p:cNvPr id="146495" name="AutoShape 105"/>
          <p:cNvCxnSpPr>
            <a:cxnSpLocks noChangeShapeType="1"/>
          </p:cNvCxnSpPr>
          <p:nvPr/>
        </p:nvCxnSpPr>
        <p:spPr bwMode="auto">
          <a:xfrm>
            <a:off x="1835150" y="3644900"/>
            <a:ext cx="179388" cy="358775"/>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496" name="AutoShape 106"/>
          <p:cNvCxnSpPr>
            <a:cxnSpLocks noChangeShapeType="1"/>
          </p:cNvCxnSpPr>
          <p:nvPr/>
        </p:nvCxnSpPr>
        <p:spPr bwMode="auto">
          <a:xfrm flipV="1">
            <a:off x="4140200" y="3667125"/>
            <a:ext cx="179388" cy="34448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497" name="AutoShape 107"/>
          <p:cNvCxnSpPr>
            <a:cxnSpLocks noChangeShapeType="1"/>
          </p:cNvCxnSpPr>
          <p:nvPr/>
        </p:nvCxnSpPr>
        <p:spPr bwMode="auto">
          <a:xfrm>
            <a:off x="5940425" y="3671888"/>
            <a:ext cx="179388" cy="333375"/>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498" name="AutoShape 109"/>
          <p:cNvCxnSpPr>
            <a:cxnSpLocks noChangeShapeType="1"/>
          </p:cNvCxnSpPr>
          <p:nvPr/>
        </p:nvCxnSpPr>
        <p:spPr bwMode="auto">
          <a:xfrm>
            <a:off x="4319588" y="3681413"/>
            <a:ext cx="1620837" cy="0"/>
          </a:xfrm>
          <a:prstGeom prst="straightConnector1">
            <a:avLst/>
          </a:prstGeom>
          <a:noFill/>
          <a:ln w="28575">
            <a:solidFill>
              <a:schemeClr val="folHlink"/>
            </a:solidFill>
            <a:miter lim="800000"/>
            <a:headEnd/>
            <a:tailEnd/>
          </a:ln>
          <a:extLst>
            <a:ext uri="{909E8E84-426E-40DD-AFC4-6F175D3DCCD1}">
              <a14:hiddenFill xmlns:a14="http://schemas.microsoft.com/office/drawing/2010/main">
                <a:noFill/>
              </a14:hiddenFill>
            </a:ext>
          </a:extLst>
        </p:spPr>
      </p:cxnSp>
      <p:cxnSp>
        <p:nvCxnSpPr>
          <p:cNvPr id="146499" name="AutoShape 112"/>
          <p:cNvCxnSpPr>
            <a:cxnSpLocks noChangeShapeType="1"/>
          </p:cNvCxnSpPr>
          <p:nvPr/>
        </p:nvCxnSpPr>
        <p:spPr bwMode="auto">
          <a:xfrm flipV="1">
            <a:off x="1846263" y="4221163"/>
            <a:ext cx="155575" cy="338137"/>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500" name="AutoShape 114"/>
          <p:cNvCxnSpPr>
            <a:cxnSpLocks noChangeShapeType="1"/>
          </p:cNvCxnSpPr>
          <p:nvPr/>
        </p:nvCxnSpPr>
        <p:spPr bwMode="auto">
          <a:xfrm>
            <a:off x="1511300" y="4545013"/>
            <a:ext cx="323850" cy="0"/>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cxnSp>
        <p:nvCxnSpPr>
          <p:cNvPr id="146501" name="AutoShape 115"/>
          <p:cNvCxnSpPr>
            <a:cxnSpLocks noChangeShapeType="1"/>
          </p:cNvCxnSpPr>
          <p:nvPr/>
        </p:nvCxnSpPr>
        <p:spPr bwMode="auto">
          <a:xfrm flipV="1">
            <a:off x="1979613" y="4221163"/>
            <a:ext cx="5724525" cy="1587"/>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146502" name="Line 116"/>
          <p:cNvSpPr>
            <a:spLocks noChangeShapeType="1"/>
          </p:cNvSpPr>
          <p:nvPr/>
        </p:nvSpPr>
        <p:spPr bwMode="auto">
          <a:xfrm>
            <a:off x="1511300" y="4760913"/>
            <a:ext cx="1223963"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503" name="AutoShape 117"/>
          <p:cNvCxnSpPr>
            <a:cxnSpLocks noChangeShapeType="1"/>
          </p:cNvCxnSpPr>
          <p:nvPr/>
        </p:nvCxnSpPr>
        <p:spPr bwMode="auto">
          <a:xfrm>
            <a:off x="2735263" y="4760913"/>
            <a:ext cx="160337" cy="314325"/>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504" name="AutoShape 118"/>
          <p:cNvCxnSpPr>
            <a:cxnSpLocks noChangeShapeType="1"/>
          </p:cNvCxnSpPr>
          <p:nvPr/>
        </p:nvCxnSpPr>
        <p:spPr bwMode="auto">
          <a:xfrm>
            <a:off x="2879725" y="5049838"/>
            <a:ext cx="936625" cy="0"/>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cxnSp>
        <p:nvCxnSpPr>
          <p:cNvPr id="146505" name="AutoShape 119"/>
          <p:cNvCxnSpPr>
            <a:cxnSpLocks noChangeShapeType="1"/>
            <a:endCxn id="146506" idx="0"/>
          </p:cNvCxnSpPr>
          <p:nvPr/>
        </p:nvCxnSpPr>
        <p:spPr bwMode="auto">
          <a:xfrm flipV="1">
            <a:off x="3816350" y="4783138"/>
            <a:ext cx="107950" cy="265112"/>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146506" name="Line 120"/>
          <p:cNvSpPr>
            <a:spLocks noChangeShapeType="1"/>
          </p:cNvSpPr>
          <p:nvPr/>
        </p:nvSpPr>
        <p:spPr bwMode="auto">
          <a:xfrm>
            <a:off x="3924300" y="4797425"/>
            <a:ext cx="684213"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507" name="AutoShape 121"/>
          <p:cNvCxnSpPr>
            <a:cxnSpLocks noChangeShapeType="1"/>
          </p:cNvCxnSpPr>
          <p:nvPr/>
        </p:nvCxnSpPr>
        <p:spPr bwMode="auto">
          <a:xfrm>
            <a:off x="4608513" y="4797425"/>
            <a:ext cx="179387" cy="28733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508" name="AutoShape 122"/>
          <p:cNvCxnSpPr>
            <a:cxnSpLocks noChangeShapeType="1"/>
          </p:cNvCxnSpPr>
          <p:nvPr/>
        </p:nvCxnSpPr>
        <p:spPr bwMode="auto">
          <a:xfrm>
            <a:off x="4787900" y="5084763"/>
            <a:ext cx="755650" cy="0"/>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cxnSp>
        <p:nvCxnSpPr>
          <p:cNvPr id="146509" name="AutoShape 123"/>
          <p:cNvCxnSpPr>
            <a:cxnSpLocks noChangeShapeType="1"/>
          </p:cNvCxnSpPr>
          <p:nvPr/>
        </p:nvCxnSpPr>
        <p:spPr bwMode="auto">
          <a:xfrm flipV="1">
            <a:off x="5543550" y="4811713"/>
            <a:ext cx="153988" cy="287337"/>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510" name="AutoShape 124"/>
          <p:cNvCxnSpPr>
            <a:cxnSpLocks noChangeShapeType="1"/>
          </p:cNvCxnSpPr>
          <p:nvPr/>
        </p:nvCxnSpPr>
        <p:spPr bwMode="auto">
          <a:xfrm>
            <a:off x="5688013" y="4811713"/>
            <a:ext cx="684212" cy="0"/>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511" name="AutoShape 125"/>
          <p:cNvCxnSpPr>
            <a:cxnSpLocks noChangeShapeType="1"/>
          </p:cNvCxnSpPr>
          <p:nvPr/>
        </p:nvCxnSpPr>
        <p:spPr bwMode="auto">
          <a:xfrm>
            <a:off x="6346825" y="4797425"/>
            <a:ext cx="179388" cy="28733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512" name="AutoShape 126"/>
          <p:cNvCxnSpPr>
            <a:cxnSpLocks noChangeShapeType="1"/>
          </p:cNvCxnSpPr>
          <p:nvPr/>
        </p:nvCxnSpPr>
        <p:spPr bwMode="auto">
          <a:xfrm>
            <a:off x="6521450" y="5084763"/>
            <a:ext cx="787400" cy="0"/>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sp>
        <p:nvSpPr>
          <p:cNvPr id="146513" name="Rectangle 129"/>
          <p:cNvSpPr>
            <a:spLocks noChangeArrowheads="1"/>
          </p:cNvSpPr>
          <p:nvPr/>
        </p:nvSpPr>
        <p:spPr bwMode="auto">
          <a:xfrm>
            <a:off x="6877050" y="248443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chemeClr val="folHlink"/>
                </a:solidFill>
              </a:rPr>
              <a:t>读</a:t>
            </a:r>
          </a:p>
        </p:txBody>
      </p:sp>
      <p:sp>
        <p:nvSpPr>
          <p:cNvPr id="146514" name="Rectangle 130"/>
          <p:cNvSpPr>
            <a:spLocks noChangeArrowheads="1"/>
          </p:cNvSpPr>
          <p:nvPr/>
        </p:nvSpPr>
        <p:spPr bwMode="auto">
          <a:xfrm>
            <a:off x="4895850" y="2543175"/>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00FF"/>
                </a:solidFill>
              </a:rPr>
              <a:t>写数据</a:t>
            </a:r>
          </a:p>
        </p:txBody>
      </p:sp>
      <p:grpSp>
        <p:nvGrpSpPr>
          <p:cNvPr id="146515" name="Group 131"/>
          <p:cNvGrpSpPr>
            <a:grpSpLocks/>
          </p:cNvGrpSpPr>
          <p:nvPr/>
        </p:nvGrpSpPr>
        <p:grpSpPr bwMode="auto">
          <a:xfrm>
            <a:off x="395288" y="4724400"/>
            <a:ext cx="1089025" cy="396875"/>
            <a:chOff x="657" y="4655"/>
            <a:chExt cx="686" cy="250"/>
          </a:xfrm>
        </p:grpSpPr>
        <p:sp>
          <p:nvSpPr>
            <p:cNvPr id="146567" name="Rectangle 132"/>
            <p:cNvSpPr>
              <a:spLocks noChangeArrowheads="1"/>
            </p:cNvSpPr>
            <p:nvPr/>
          </p:nvSpPr>
          <p:spPr bwMode="auto">
            <a:xfrm>
              <a:off x="657" y="4655"/>
              <a:ext cx="6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MSTRB</a:t>
              </a:r>
            </a:p>
          </p:txBody>
        </p:sp>
        <p:sp>
          <p:nvSpPr>
            <p:cNvPr id="146568" name="Line 133"/>
            <p:cNvSpPr>
              <a:spLocks noChangeShapeType="1"/>
            </p:cNvSpPr>
            <p:nvPr/>
          </p:nvSpPr>
          <p:spPr bwMode="auto">
            <a:xfrm>
              <a:off x="725" y="4677"/>
              <a:ext cx="54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46516" name="Group 134"/>
          <p:cNvGrpSpPr>
            <a:grpSpLocks/>
          </p:cNvGrpSpPr>
          <p:nvPr/>
        </p:nvGrpSpPr>
        <p:grpSpPr bwMode="auto">
          <a:xfrm>
            <a:off x="792163" y="3681413"/>
            <a:ext cx="509587" cy="396875"/>
            <a:chOff x="612" y="4195"/>
            <a:chExt cx="321" cy="250"/>
          </a:xfrm>
        </p:grpSpPr>
        <p:sp>
          <p:nvSpPr>
            <p:cNvPr id="146565" name="Rectangle 135"/>
            <p:cNvSpPr>
              <a:spLocks noChangeArrowheads="1"/>
            </p:cNvSpPr>
            <p:nvPr/>
          </p:nvSpPr>
          <p:spPr bwMode="auto">
            <a:xfrm>
              <a:off x="612" y="4195"/>
              <a:ext cx="3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DS</a:t>
              </a:r>
            </a:p>
          </p:txBody>
        </p:sp>
        <p:sp>
          <p:nvSpPr>
            <p:cNvPr id="146566" name="Line 136"/>
            <p:cNvSpPr>
              <a:spLocks noChangeShapeType="1"/>
            </p:cNvSpPr>
            <p:nvPr/>
          </p:nvSpPr>
          <p:spPr bwMode="auto">
            <a:xfrm>
              <a:off x="680" y="4217"/>
              <a:ext cx="204" cy="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46517" name="Rectangle 138"/>
          <p:cNvSpPr>
            <a:spLocks noChangeArrowheads="1"/>
          </p:cNvSpPr>
          <p:nvPr/>
        </p:nvSpPr>
        <p:spPr bwMode="auto">
          <a:xfrm>
            <a:off x="358775" y="3681413"/>
            <a:ext cx="541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PS</a:t>
            </a:r>
            <a:r>
              <a:rPr kumimoji="0" lang="zh-CN" altLang="en-US"/>
              <a:t>、</a:t>
            </a:r>
          </a:p>
        </p:txBody>
      </p:sp>
      <p:sp>
        <p:nvSpPr>
          <p:cNvPr id="146518" name="Line 139"/>
          <p:cNvSpPr>
            <a:spLocks noChangeShapeType="1"/>
          </p:cNvSpPr>
          <p:nvPr/>
        </p:nvSpPr>
        <p:spPr bwMode="auto">
          <a:xfrm>
            <a:off x="468313" y="3716338"/>
            <a:ext cx="2508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46519" name="Group 140"/>
          <p:cNvGrpSpPr>
            <a:grpSpLocks/>
          </p:cNvGrpSpPr>
          <p:nvPr/>
        </p:nvGrpSpPr>
        <p:grpSpPr bwMode="auto">
          <a:xfrm>
            <a:off x="360363" y="3109913"/>
            <a:ext cx="900112" cy="396875"/>
            <a:chOff x="340" y="3521"/>
            <a:chExt cx="567" cy="250"/>
          </a:xfrm>
        </p:grpSpPr>
        <p:sp>
          <p:nvSpPr>
            <p:cNvPr id="146562" name="Rectangle 141"/>
            <p:cNvSpPr>
              <a:spLocks noChangeArrowheads="1"/>
            </p:cNvSpPr>
            <p:nvPr/>
          </p:nvSpPr>
          <p:spPr bwMode="auto">
            <a:xfrm>
              <a:off x="340" y="3521"/>
              <a:ext cx="5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R</a:t>
              </a:r>
              <a:r>
                <a:rPr kumimoji="0" lang="zh-CN" altLang="en-US"/>
                <a:t>　</a:t>
              </a:r>
              <a:r>
                <a:rPr kumimoji="0" lang="en-US" altLang="zh-CN"/>
                <a:t>W</a:t>
              </a:r>
            </a:p>
          </p:txBody>
        </p:sp>
        <p:sp>
          <p:nvSpPr>
            <p:cNvPr id="146563" name="Line 142"/>
            <p:cNvSpPr>
              <a:spLocks noChangeShapeType="1"/>
            </p:cNvSpPr>
            <p:nvPr/>
          </p:nvSpPr>
          <p:spPr bwMode="auto">
            <a:xfrm>
              <a:off x="680" y="3566"/>
              <a:ext cx="159"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64" name="Line 143"/>
            <p:cNvSpPr>
              <a:spLocks noChangeShapeType="1"/>
            </p:cNvSpPr>
            <p:nvPr/>
          </p:nvSpPr>
          <p:spPr bwMode="auto">
            <a:xfrm flipH="1">
              <a:off x="561" y="3557"/>
              <a:ext cx="68" cy="159"/>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46520" name="Rectangle 144"/>
          <p:cNvSpPr>
            <a:spLocks noChangeArrowheads="1"/>
          </p:cNvSpPr>
          <p:nvPr/>
        </p:nvSpPr>
        <p:spPr bwMode="auto">
          <a:xfrm>
            <a:off x="360363" y="2570163"/>
            <a:ext cx="1187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D(15</a:t>
            </a:r>
            <a:r>
              <a:rPr kumimoji="0" lang="zh-CN" altLang="en-US"/>
              <a:t>～</a:t>
            </a:r>
            <a:r>
              <a:rPr kumimoji="0" lang="en-US" altLang="zh-CN"/>
              <a:t>0)</a:t>
            </a:r>
          </a:p>
        </p:txBody>
      </p:sp>
      <p:sp>
        <p:nvSpPr>
          <p:cNvPr id="146521" name="Rectangle 145"/>
          <p:cNvSpPr>
            <a:spLocks noChangeArrowheads="1"/>
          </p:cNvSpPr>
          <p:nvPr/>
        </p:nvSpPr>
        <p:spPr bwMode="auto">
          <a:xfrm>
            <a:off x="360363" y="1993900"/>
            <a:ext cx="1187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A(15</a:t>
            </a:r>
            <a:r>
              <a:rPr kumimoji="0" lang="zh-CN" altLang="en-US"/>
              <a:t>～</a:t>
            </a:r>
            <a:r>
              <a:rPr kumimoji="0" lang="en-US" altLang="zh-CN"/>
              <a:t>0)</a:t>
            </a:r>
          </a:p>
        </p:txBody>
      </p:sp>
      <p:sp>
        <p:nvSpPr>
          <p:cNvPr id="146522" name="Rectangle 146"/>
          <p:cNvSpPr>
            <a:spLocks noChangeArrowheads="1"/>
          </p:cNvSpPr>
          <p:nvPr/>
        </p:nvSpPr>
        <p:spPr bwMode="auto">
          <a:xfrm>
            <a:off x="360363" y="1454150"/>
            <a:ext cx="1404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CLKOUT</a:t>
            </a:r>
          </a:p>
        </p:txBody>
      </p:sp>
      <p:cxnSp>
        <p:nvCxnSpPr>
          <p:cNvPr id="146523" name="AutoShape 150"/>
          <p:cNvCxnSpPr>
            <a:cxnSpLocks noChangeShapeType="1"/>
          </p:cNvCxnSpPr>
          <p:nvPr/>
        </p:nvCxnSpPr>
        <p:spPr bwMode="auto">
          <a:xfrm flipV="1">
            <a:off x="6826250" y="1527175"/>
            <a:ext cx="117475" cy="28733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524" name="AutoShape 151"/>
          <p:cNvCxnSpPr>
            <a:cxnSpLocks noChangeShapeType="1"/>
          </p:cNvCxnSpPr>
          <p:nvPr/>
        </p:nvCxnSpPr>
        <p:spPr bwMode="auto">
          <a:xfrm flipV="1">
            <a:off x="6948488" y="1520825"/>
            <a:ext cx="363537" cy="6350"/>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525" name="AutoShape 152"/>
          <p:cNvCxnSpPr>
            <a:cxnSpLocks noChangeShapeType="1"/>
          </p:cNvCxnSpPr>
          <p:nvPr/>
        </p:nvCxnSpPr>
        <p:spPr bwMode="auto">
          <a:xfrm>
            <a:off x="7312025" y="1520825"/>
            <a:ext cx="114300" cy="26193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6526" name="AutoShape 153"/>
          <p:cNvCxnSpPr>
            <a:cxnSpLocks noChangeShapeType="1"/>
          </p:cNvCxnSpPr>
          <p:nvPr/>
        </p:nvCxnSpPr>
        <p:spPr bwMode="auto">
          <a:xfrm>
            <a:off x="7426325" y="1778000"/>
            <a:ext cx="306388" cy="158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sp>
        <p:nvSpPr>
          <p:cNvPr id="146527" name="Line 157"/>
          <p:cNvSpPr>
            <a:spLocks noChangeShapeType="1"/>
          </p:cNvSpPr>
          <p:nvPr/>
        </p:nvSpPr>
        <p:spPr bwMode="auto">
          <a:xfrm>
            <a:off x="3265488" y="1304925"/>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28" name="Line 158"/>
          <p:cNvSpPr>
            <a:spLocks noChangeShapeType="1"/>
          </p:cNvSpPr>
          <p:nvPr/>
        </p:nvSpPr>
        <p:spPr bwMode="auto">
          <a:xfrm>
            <a:off x="4222750" y="1268413"/>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29" name="Line 159"/>
          <p:cNvSpPr>
            <a:spLocks noChangeShapeType="1"/>
          </p:cNvSpPr>
          <p:nvPr/>
        </p:nvSpPr>
        <p:spPr bwMode="auto">
          <a:xfrm>
            <a:off x="6034088" y="1304925"/>
            <a:ext cx="0" cy="39243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530" name="AutoShape 162"/>
          <p:cNvCxnSpPr>
            <a:cxnSpLocks noChangeShapeType="1"/>
            <a:stCxn id="146545" idx="1"/>
          </p:cNvCxnSpPr>
          <p:nvPr/>
        </p:nvCxnSpPr>
        <p:spPr bwMode="auto">
          <a:xfrm>
            <a:off x="1824038" y="2687638"/>
            <a:ext cx="107950" cy="119062"/>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6531" name="AutoShape 163"/>
          <p:cNvCxnSpPr>
            <a:cxnSpLocks noChangeShapeType="1"/>
          </p:cNvCxnSpPr>
          <p:nvPr/>
        </p:nvCxnSpPr>
        <p:spPr bwMode="auto">
          <a:xfrm flipV="1">
            <a:off x="1835150" y="2790825"/>
            <a:ext cx="100013" cy="155575"/>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nvGrpSpPr>
          <p:cNvPr id="146532" name="Group 166"/>
          <p:cNvGrpSpPr>
            <a:grpSpLocks/>
          </p:cNvGrpSpPr>
          <p:nvPr/>
        </p:nvGrpSpPr>
        <p:grpSpPr bwMode="auto">
          <a:xfrm>
            <a:off x="2808288" y="2598738"/>
            <a:ext cx="107950" cy="338137"/>
            <a:chOff x="2018" y="3444"/>
            <a:chExt cx="68" cy="213"/>
          </a:xfrm>
        </p:grpSpPr>
        <p:cxnSp>
          <p:nvCxnSpPr>
            <p:cNvPr id="146560" name="AutoShape 167"/>
            <p:cNvCxnSpPr>
              <a:cxnSpLocks noChangeShapeType="1"/>
            </p:cNvCxnSpPr>
            <p:nvPr/>
          </p:nvCxnSpPr>
          <p:spPr bwMode="auto">
            <a:xfrm>
              <a:off x="2018" y="3558"/>
              <a:ext cx="68" cy="99"/>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6561" name="AutoShape 168"/>
            <p:cNvCxnSpPr>
              <a:cxnSpLocks noChangeShapeType="1"/>
            </p:cNvCxnSpPr>
            <p:nvPr/>
          </p:nvCxnSpPr>
          <p:spPr bwMode="auto">
            <a:xfrm flipV="1">
              <a:off x="2018" y="3444"/>
              <a:ext cx="68" cy="13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grpSp>
        <p:nvGrpSpPr>
          <p:cNvPr id="146533" name="Group 169"/>
          <p:cNvGrpSpPr>
            <a:grpSpLocks/>
          </p:cNvGrpSpPr>
          <p:nvPr/>
        </p:nvGrpSpPr>
        <p:grpSpPr bwMode="auto">
          <a:xfrm>
            <a:off x="4095750" y="2600325"/>
            <a:ext cx="115888" cy="360363"/>
            <a:chOff x="2336" y="3462"/>
            <a:chExt cx="85" cy="195"/>
          </a:xfrm>
        </p:grpSpPr>
        <p:cxnSp>
          <p:nvCxnSpPr>
            <p:cNvPr id="146558" name="AutoShape 170"/>
            <p:cNvCxnSpPr>
              <a:cxnSpLocks noChangeShapeType="1"/>
            </p:cNvCxnSpPr>
            <p:nvPr/>
          </p:nvCxnSpPr>
          <p:spPr bwMode="auto">
            <a:xfrm>
              <a:off x="2336" y="3462"/>
              <a:ext cx="83" cy="10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6559" name="AutoShape 171"/>
            <p:cNvCxnSpPr>
              <a:cxnSpLocks noChangeShapeType="1"/>
            </p:cNvCxnSpPr>
            <p:nvPr/>
          </p:nvCxnSpPr>
          <p:spPr bwMode="auto">
            <a:xfrm flipV="1">
              <a:off x="2358" y="3559"/>
              <a:ext cx="63" cy="98"/>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cxnSp>
        <p:nvCxnSpPr>
          <p:cNvPr id="146534" name="AutoShape 172"/>
          <p:cNvCxnSpPr>
            <a:cxnSpLocks noChangeShapeType="1"/>
          </p:cNvCxnSpPr>
          <p:nvPr/>
        </p:nvCxnSpPr>
        <p:spPr bwMode="auto">
          <a:xfrm>
            <a:off x="2890838" y="2600325"/>
            <a:ext cx="1223962" cy="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sp>
        <p:nvSpPr>
          <p:cNvPr id="146535" name="Rectangle 173"/>
          <p:cNvSpPr>
            <a:spLocks noChangeArrowheads="1"/>
          </p:cNvSpPr>
          <p:nvPr/>
        </p:nvSpPr>
        <p:spPr bwMode="auto">
          <a:xfrm>
            <a:off x="3059113" y="2565400"/>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00FF"/>
                </a:solidFill>
              </a:rPr>
              <a:t>写数据</a:t>
            </a:r>
          </a:p>
        </p:txBody>
      </p:sp>
      <p:cxnSp>
        <p:nvCxnSpPr>
          <p:cNvPr id="146536" name="AutoShape 174"/>
          <p:cNvCxnSpPr>
            <a:cxnSpLocks noChangeShapeType="1"/>
          </p:cNvCxnSpPr>
          <p:nvPr/>
        </p:nvCxnSpPr>
        <p:spPr bwMode="auto">
          <a:xfrm>
            <a:off x="2894013" y="2938463"/>
            <a:ext cx="1223962" cy="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sp>
        <p:nvSpPr>
          <p:cNvPr id="146537" name="Line 175"/>
          <p:cNvSpPr>
            <a:spLocks noChangeShapeType="1"/>
          </p:cNvSpPr>
          <p:nvPr/>
        </p:nvSpPr>
        <p:spPr bwMode="auto">
          <a:xfrm flipV="1">
            <a:off x="6048375" y="2744788"/>
            <a:ext cx="611188"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38" name="Line 176"/>
          <p:cNvSpPr>
            <a:spLocks noChangeShapeType="1"/>
          </p:cNvSpPr>
          <p:nvPr/>
        </p:nvSpPr>
        <p:spPr bwMode="auto">
          <a:xfrm>
            <a:off x="4787900" y="2600325"/>
            <a:ext cx="1116013"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39" name="Line 177"/>
          <p:cNvSpPr>
            <a:spLocks noChangeShapeType="1"/>
          </p:cNvSpPr>
          <p:nvPr/>
        </p:nvSpPr>
        <p:spPr bwMode="auto">
          <a:xfrm>
            <a:off x="4787900" y="2924175"/>
            <a:ext cx="1152525"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40" name="Line 178"/>
          <p:cNvSpPr>
            <a:spLocks noChangeShapeType="1"/>
          </p:cNvSpPr>
          <p:nvPr/>
        </p:nvSpPr>
        <p:spPr bwMode="auto">
          <a:xfrm>
            <a:off x="6767513" y="2528888"/>
            <a:ext cx="612775"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41" name="Line 179"/>
          <p:cNvSpPr>
            <a:spLocks noChangeShapeType="1"/>
          </p:cNvSpPr>
          <p:nvPr/>
        </p:nvSpPr>
        <p:spPr bwMode="auto">
          <a:xfrm>
            <a:off x="6767513" y="2889250"/>
            <a:ext cx="612775"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42" name="Line 180"/>
          <p:cNvSpPr>
            <a:spLocks noChangeShapeType="1"/>
          </p:cNvSpPr>
          <p:nvPr/>
        </p:nvSpPr>
        <p:spPr bwMode="auto">
          <a:xfrm flipV="1">
            <a:off x="7380288" y="2708275"/>
            <a:ext cx="144462" cy="180975"/>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543" name="AutoShape 181"/>
          <p:cNvCxnSpPr>
            <a:cxnSpLocks noChangeShapeType="1"/>
          </p:cNvCxnSpPr>
          <p:nvPr/>
        </p:nvCxnSpPr>
        <p:spPr bwMode="auto">
          <a:xfrm>
            <a:off x="5903913" y="2573338"/>
            <a:ext cx="141287" cy="17780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sp>
        <p:nvSpPr>
          <p:cNvPr id="146544" name="Line 182"/>
          <p:cNvSpPr>
            <a:spLocks noChangeShapeType="1"/>
          </p:cNvSpPr>
          <p:nvPr/>
        </p:nvSpPr>
        <p:spPr bwMode="auto">
          <a:xfrm flipV="1">
            <a:off x="5903913" y="2752725"/>
            <a:ext cx="144462" cy="180975"/>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45" name="Line 183"/>
          <p:cNvSpPr>
            <a:spLocks noChangeShapeType="1"/>
          </p:cNvSpPr>
          <p:nvPr/>
        </p:nvSpPr>
        <p:spPr bwMode="auto">
          <a:xfrm>
            <a:off x="1573213" y="2673350"/>
            <a:ext cx="250825"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46" name="Line 184"/>
          <p:cNvSpPr>
            <a:spLocks noChangeShapeType="1"/>
          </p:cNvSpPr>
          <p:nvPr/>
        </p:nvSpPr>
        <p:spPr bwMode="auto">
          <a:xfrm>
            <a:off x="1581150" y="2935288"/>
            <a:ext cx="250825"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6547" name="AutoShape 185"/>
          <p:cNvCxnSpPr>
            <a:cxnSpLocks noChangeShapeType="1"/>
          </p:cNvCxnSpPr>
          <p:nvPr/>
        </p:nvCxnSpPr>
        <p:spPr bwMode="auto">
          <a:xfrm flipV="1">
            <a:off x="1547813" y="3155950"/>
            <a:ext cx="684212" cy="9525"/>
          </a:xfrm>
          <a:prstGeom prst="straightConnector1">
            <a:avLst/>
          </a:prstGeom>
          <a:noFill/>
          <a:ln w="28575">
            <a:solidFill>
              <a:srgbClr val="666633"/>
            </a:solidFill>
            <a:miter lim="800000"/>
            <a:headEnd/>
            <a:tailEnd/>
          </a:ln>
          <a:extLst>
            <a:ext uri="{909E8E84-426E-40DD-AFC4-6F175D3DCCD1}">
              <a14:hiddenFill xmlns:a14="http://schemas.microsoft.com/office/drawing/2010/main">
                <a:noFill/>
              </a14:hiddenFill>
            </a:ext>
          </a:extLst>
        </p:spPr>
      </p:cxnSp>
      <p:cxnSp>
        <p:nvCxnSpPr>
          <p:cNvPr id="146548" name="AutoShape 186"/>
          <p:cNvCxnSpPr>
            <a:cxnSpLocks noChangeShapeType="1"/>
          </p:cNvCxnSpPr>
          <p:nvPr/>
        </p:nvCxnSpPr>
        <p:spPr bwMode="auto">
          <a:xfrm flipV="1">
            <a:off x="7277100" y="3630613"/>
            <a:ext cx="179388" cy="344487"/>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549" name="AutoShape 187"/>
          <p:cNvCxnSpPr>
            <a:cxnSpLocks noChangeShapeType="1"/>
          </p:cNvCxnSpPr>
          <p:nvPr/>
        </p:nvCxnSpPr>
        <p:spPr bwMode="auto">
          <a:xfrm>
            <a:off x="7456488" y="3644900"/>
            <a:ext cx="284162" cy="0"/>
          </a:xfrm>
          <a:prstGeom prst="straightConnector1">
            <a:avLst/>
          </a:prstGeom>
          <a:noFill/>
          <a:ln w="28575">
            <a:solidFill>
              <a:schemeClr val="folHlink"/>
            </a:solidFill>
            <a:miter lim="800000"/>
            <a:headEnd/>
            <a:tailEnd/>
          </a:ln>
          <a:extLst>
            <a:ext uri="{909E8E84-426E-40DD-AFC4-6F175D3DCCD1}">
              <a14:hiddenFill xmlns:a14="http://schemas.microsoft.com/office/drawing/2010/main">
                <a:noFill/>
              </a14:hiddenFill>
            </a:ext>
          </a:extLst>
        </p:spPr>
      </p:cxnSp>
      <p:sp>
        <p:nvSpPr>
          <p:cNvPr id="146550" name="Line 188"/>
          <p:cNvSpPr>
            <a:spLocks noChangeShapeType="1"/>
          </p:cNvSpPr>
          <p:nvPr/>
        </p:nvSpPr>
        <p:spPr bwMode="auto">
          <a:xfrm>
            <a:off x="7451725" y="2024063"/>
            <a:ext cx="252413"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51" name="Line 189"/>
          <p:cNvSpPr>
            <a:spLocks noChangeShapeType="1"/>
          </p:cNvSpPr>
          <p:nvPr/>
        </p:nvSpPr>
        <p:spPr bwMode="auto">
          <a:xfrm>
            <a:off x="7462838" y="2338388"/>
            <a:ext cx="252412"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552" name="Line 190"/>
          <p:cNvSpPr>
            <a:spLocks noChangeShapeType="1"/>
          </p:cNvSpPr>
          <p:nvPr/>
        </p:nvSpPr>
        <p:spPr bwMode="auto">
          <a:xfrm>
            <a:off x="7488238" y="2708275"/>
            <a:ext cx="252412"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46553" name="Group 191"/>
          <p:cNvGrpSpPr>
            <a:grpSpLocks/>
          </p:cNvGrpSpPr>
          <p:nvPr/>
        </p:nvGrpSpPr>
        <p:grpSpPr bwMode="auto">
          <a:xfrm>
            <a:off x="395288" y="4221163"/>
            <a:ext cx="431800" cy="396875"/>
            <a:chOff x="612" y="4195"/>
            <a:chExt cx="272" cy="250"/>
          </a:xfrm>
        </p:grpSpPr>
        <p:sp>
          <p:nvSpPr>
            <p:cNvPr id="146556" name="Rectangle 192"/>
            <p:cNvSpPr>
              <a:spLocks noChangeArrowheads="1"/>
            </p:cNvSpPr>
            <p:nvPr/>
          </p:nvSpPr>
          <p:spPr bwMode="auto">
            <a:xfrm>
              <a:off x="612" y="4195"/>
              <a:ext cx="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IS</a:t>
              </a:r>
            </a:p>
          </p:txBody>
        </p:sp>
        <p:sp>
          <p:nvSpPr>
            <p:cNvPr id="146557" name="Line 193"/>
            <p:cNvSpPr>
              <a:spLocks noChangeShapeType="1"/>
            </p:cNvSpPr>
            <p:nvPr/>
          </p:nvSpPr>
          <p:spPr bwMode="auto">
            <a:xfrm>
              <a:off x="680" y="4217"/>
              <a:ext cx="204" cy="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cxnSp>
        <p:nvCxnSpPr>
          <p:cNvPr id="146554" name="AutoShape 194"/>
          <p:cNvCxnSpPr>
            <a:cxnSpLocks noChangeShapeType="1"/>
          </p:cNvCxnSpPr>
          <p:nvPr/>
        </p:nvCxnSpPr>
        <p:spPr bwMode="auto">
          <a:xfrm flipV="1">
            <a:off x="7297738" y="4802188"/>
            <a:ext cx="153987" cy="287337"/>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6555" name="AutoShape 195"/>
          <p:cNvCxnSpPr>
            <a:cxnSpLocks noChangeShapeType="1"/>
          </p:cNvCxnSpPr>
          <p:nvPr/>
        </p:nvCxnSpPr>
        <p:spPr bwMode="auto">
          <a:xfrm>
            <a:off x="7451725" y="4797425"/>
            <a:ext cx="252413" cy="0"/>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44101"/>
                                        </p:tgtEl>
                                        <p:attrNameLst>
                                          <p:attrName>style.visibility</p:attrName>
                                        </p:attrNameLst>
                                      </p:cBhvr>
                                      <p:to>
                                        <p:strVal val="visible"/>
                                      </p:to>
                                    </p:set>
                                    <p:anim calcmode="lin" valueType="num">
                                      <p:cBhvr additive="base">
                                        <p:cTn id="7" dur="500" fill="hold"/>
                                        <p:tgtEl>
                                          <p:spTgt spid="644101"/>
                                        </p:tgtEl>
                                        <p:attrNameLst>
                                          <p:attrName>ppt_x</p:attrName>
                                        </p:attrNameLst>
                                      </p:cBhvr>
                                      <p:tavLst>
                                        <p:tav tm="0">
                                          <p:val>
                                            <p:strVal val="1+#ppt_w/2"/>
                                          </p:val>
                                        </p:tav>
                                        <p:tav tm="100000">
                                          <p:val>
                                            <p:strVal val="#ppt_x"/>
                                          </p:val>
                                        </p:tav>
                                      </p:tavLst>
                                    </p:anim>
                                    <p:anim calcmode="lin" valueType="num">
                                      <p:cBhvr additive="base">
                                        <p:cTn id="8" dur="500" fill="hold"/>
                                        <p:tgtEl>
                                          <p:spTgt spid="644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101" grpId="0"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41E1473-DCFA-47D5-8176-7AEB47815103}" type="slidenum">
              <a:rPr lang="en-US" altLang="zh-CN" sz="1400" b="0"/>
              <a:pPr eaLnBrk="1" hangingPunct="1"/>
              <a:t>133</a:t>
            </a:fld>
            <a:endParaRPr lang="en-US" altLang="zh-CN" sz="1400" b="0"/>
          </a:p>
        </p:txBody>
      </p:sp>
      <p:sp>
        <p:nvSpPr>
          <p:cNvPr id="645123" name="Text Box 3"/>
          <p:cNvSpPr txBox="1">
            <a:spLocks noChangeArrowheads="1"/>
          </p:cNvSpPr>
          <p:nvPr/>
        </p:nvSpPr>
        <p:spPr bwMode="auto">
          <a:xfrm>
            <a:off x="2484438" y="5049838"/>
            <a:ext cx="449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zh-CN" altLang="en-US" sz="2800">
                <a:latin typeface="宋体" panose="02010600030101010101" pitchFamily="2" charset="-122"/>
              </a:rPr>
              <a:t>并行</a:t>
            </a:r>
            <a:r>
              <a:rPr kumimoji="0" lang="en-US" altLang="zh-CN" sz="2800">
                <a:latin typeface="宋体" panose="02010600030101010101" pitchFamily="2" charset="-122"/>
              </a:rPr>
              <a:t>I/O</a:t>
            </a:r>
            <a:r>
              <a:rPr kumimoji="0" lang="zh-CN" altLang="en-US" sz="2800">
                <a:latin typeface="宋体" panose="02010600030101010101" pitchFamily="2" charset="-122"/>
              </a:rPr>
              <a:t>读一写一读定时图</a:t>
            </a:r>
            <a:endParaRPr kumimoji="0" lang="zh-CN" altLang="en-US" sz="2800"/>
          </a:p>
        </p:txBody>
      </p:sp>
      <p:sp>
        <p:nvSpPr>
          <p:cNvPr id="645124" name="Rectangle 4"/>
          <p:cNvSpPr>
            <a:spLocks noChangeArrowheads="1"/>
          </p:cNvSpPr>
          <p:nvPr/>
        </p:nvSpPr>
        <p:spPr bwMode="auto">
          <a:xfrm>
            <a:off x="755650" y="5768975"/>
            <a:ext cx="7239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chemeClr val="tx2"/>
                </a:solidFill>
                <a:latin typeface="宋体" panose="02010600030101010101" pitchFamily="2" charset="-122"/>
              </a:rPr>
              <a:t>I/O</a:t>
            </a:r>
            <a:r>
              <a:rPr lang="zh-CN" altLang="en-US" sz="3200">
                <a:solidFill>
                  <a:schemeClr val="tx2"/>
                </a:solidFill>
                <a:latin typeface="宋体" panose="02010600030101010101" pitchFamily="2" charset="-122"/>
              </a:rPr>
              <a:t>设备读</a:t>
            </a:r>
            <a:r>
              <a:rPr lang="en-US" altLang="zh-CN" sz="3200">
                <a:solidFill>
                  <a:schemeClr val="tx2"/>
                </a:solidFill>
                <a:latin typeface="宋体" panose="02010600030101010101" pitchFamily="2" charset="-122"/>
              </a:rPr>
              <a:t>/</a:t>
            </a:r>
            <a:r>
              <a:rPr lang="zh-CN" altLang="en-US" sz="3200">
                <a:solidFill>
                  <a:schemeClr val="tx2"/>
                </a:solidFill>
                <a:latin typeface="宋体" panose="02010600030101010101" pitchFamily="2" charset="-122"/>
              </a:rPr>
              <a:t>写操作要持续</a:t>
            </a:r>
            <a:r>
              <a:rPr lang="en-US" altLang="zh-CN" sz="3200">
                <a:solidFill>
                  <a:schemeClr val="tx2"/>
                </a:solidFill>
                <a:latin typeface="宋体" panose="02010600030101010101" pitchFamily="2" charset="-122"/>
              </a:rPr>
              <a:t>2</a:t>
            </a:r>
            <a:r>
              <a:rPr lang="zh-CN" altLang="en-US" sz="3200">
                <a:solidFill>
                  <a:schemeClr val="tx2"/>
                </a:solidFill>
                <a:latin typeface="宋体" panose="02010600030101010101" pitchFamily="2" charset="-122"/>
              </a:rPr>
              <a:t>个机器周期</a:t>
            </a:r>
            <a:r>
              <a:rPr lang="zh-CN" altLang="en-US" sz="3200">
                <a:solidFill>
                  <a:schemeClr val="tx2"/>
                </a:solidFill>
              </a:rPr>
              <a:t> </a:t>
            </a:r>
          </a:p>
        </p:txBody>
      </p:sp>
      <p:sp>
        <p:nvSpPr>
          <p:cNvPr id="147461" name="Line 6"/>
          <p:cNvSpPr>
            <a:spLocks noChangeShapeType="1"/>
          </p:cNvSpPr>
          <p:nvPr/>
        </p:nvSpPr>
        <p:spPr bwMode="auto">
          <a:xfrm>
            <a:off x="1800225" y="2071688"/>
            <a:ext cx="287338"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7462" name="AutoShape 7"/>
          <p:cNvCxnSpPr>
            <a:cxnSpLocks noChangeShapeType="1"/>
          </p:cNvCxnSpPr>
          <p:nvPr/>
        </p:nvCxnSpPr>
        <p:spPr bwMode="auto">
          <a:xfrm>
            <a:off x="2209800" y="2386013"/>
            <a:ext cx="1692275"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63" name="AutoShape 8"/>
          <p:cNvCxnSpPr>
            <a:cxnSpLocks noChangeShapeType="1"/>
          </p:cNvCxnSpPr>
          <p:nvPr/>
        </p:nvCxnSpPr>
        <p:spPr bwMode="auto">
          <a:xfrm>
            <a:off x="2066925" y="2073275"/>
            <a:ext cx="153988" cy="319088"/>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64" name="AutoShape 9"/>
          <p:cNvCxnSpPr>
            <a:cxnSpLocks noChangeShapeType="1"/>
          </p:cNvCxnSpPr>
          <p:nvPr/>
        </p:nvCxnSpPr>
        <p:spPr bwMode="auto">
          <a:xfrm flipV="1">
            <a:off x="2030413" y="2071688"/>
            <a:ext cx="179387" cy="31115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65" name="AutoShape 10"/>
          <p:cNvCxnSpPr>
            <a:cxnSpLocks noChangeShapeType="1"/>
          </p:cNvCxnSpPr>
          <p:nvPr/>
        </p:nvCxnSpPr>
        <p:spPr bwMode="auto">
          <a:xfrm>
            <a:off x="2209800" y="2060575"/>
            <a:ext cx="1728788"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sp>
        <p:nvSpPr>
          <p:cNvPr id="147466" name="Line 11"/>
          <p:cNvSpPr>
            <a:spLocks noChangeShapeType="1"/>
          </p:cNvSpPr>
          <p:nvPr/>
        </p:nvSpPr>
        <p:spPr bwMode="auto">
          <a:xfrm flipV="1">
            <a:off x="1800225" y="2386013"/>
            <a:ext cx="250825"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7467" name="AutoShape 12"/>
          <p:cNvCxnSpPr>
            <a:cxnSpLocks noChangeShapeType="1"/>
          </p:cNvCxnSpPr>
          <p:nvPr/>
        </p:nvCxnSpPr>
        <p:spPr bwMode="auto">
          <a:xfrm>
            <a:off x="3935413" y="2060575"/>
            <a:ext cx="179387" cy="32385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68" name="AutoShape 13"/>
          <p:cNvCxnSpPr>
            <a:cxnSpLocks noChangeShapeType="1"/>
          </p:cNvCxnSpPr>
          <p:nvPr/>
        </p:nvCxnSpPr>
        <p:spPr bwMode="auto">
          <a:xfrm flipV="1">
            <a:off x="3902075" y="2049463"/>
            <a:ext cx="214313" cy="33655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69" name="AutoShape 14"/>
          <p:cNvCxnSpPr>
            <a:cxnSpLocks noChangeShapeType="1"/>
          </p:cNvCxnSpPr>
          <p:nvPr/>
        </p:nvCxnSpPr>
        <p:spPr bwMode="auto">
          <a:xfrm>
            <a:off x="5746750" y="2047875"/>
            <a:ext cx="171450" cy="338138"/>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70" name="AutoShape 15"/>
          <p:cNvCxnSpPr>
            <a:cxnSpLocks noChangeShapeType="1"/>
          </p:cNvCxnSpPr>
          <p:nvPr/>
        </p:nvCxnSpPr>
        <p:spPr bwMode="auto">
          <a:xfrm flipV="1">
            <a:off x="5749925" y="2038350"/>
            <a:ext cx="177800" cy="344488"/>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71" name="AutoShape 16"/>
          <p:cNvCxnSpPr>
            <a:cxnSpLocks noChangeShapeType="1"/>
          </p:cNvCxnSpPr>
          <p:nvPr/>
        </p:nvCxnSpPr>
        <p:spPr bwMode="auto">
          <a:xfrm>
            <a:off x="7499350" y="2060575"/>
            <a:ext cx="215900" cy="33655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72" name="AutoShape 17"/>
          <p:cNvCxnSpPr>
            <a:cxnSpLocks noChangeShapeType="1"/>
          </p:cNvCxnSpPr>
          <p:nvPr/>
        </p:nvCxnSpPr>
        <p:spPr bwMode="auto">
          <a:xfrm flipV="1">
            <a:off x="7499350" y="2060575"/>
            <a:ext cx="192088" cy="33655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73" name="AutoShape 18"/>
          <p:cNvCxnSpPr>
            <a:cxnSpLocks noChangeShapeType="1"/>
          </p:cNvCxnSpPr>
          <p:nvPr/>
        </p:nvCxnSpPr>
        <p:spPr bwMode="auto">
          <a:xfrm>
            <a:off x="4117975" y="2060575"/>
            <a:ext cx="1620838"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74" name="AutoShape 19"/>
          <p:cNvCxnSpPr>
            <a:cxnSpLocks noChangeShapeType="1"/>
          </p:cNvCxnSpPr>
          <p:nvPr/>
        </p:nvCxnSpPr>
        <p:spPr bwMode="auto">
          <a:xfrm>
            <a:off x="4117975" y="2386013"/>
            <a:ext cx="1620838"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75" name="AutoShape 20"/>
          <p:cNvCxnSpPr>
            <a:cxnSpLocks noChangeShapeType="1"/>
          </p:cNvCxnSpPr>
          <p:nvPr/>
        </p:nvCxnSpPr>
        <p:spPr bwMode="auto">
          <a:xfrm flipV="1">
            <a:off x="5918200" y="2386013"/>
            <a:ext cx="1606550" cy="1587"/>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147476" name="AutoShape 21"/>
          <p:cNvCxnSpPr>
            <a:cxnSpLocks noChangeShapeType="1"/>
          </p:cNvCxnSpPr>
          <p:nvPr/>
        </p:nvCxnSpPr>
        <p:spPr bwMode="auto">
          <a:xfrm>
            <a:off x="5918200" y="2060575"/>
            <a:ext cx="1606550" cy="0"/>
          </a:xfrm>
          <a:prstGeom prst="straightConnector1">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sp>
        <p:nvSpPr>
          <p:cNvPr id="147477" name="Line 22"/>
          <p:cNvSpPr>
            <a:spLocks noChangeShapeType="1"/>
          </p:cNvSpPr>
          <p:nvPr/>
        </p:nvSpPr>
        <p:spPr bwMode="auto">
          <a:xfrm flipH="1">
            <a:off x="2124075" y="1341438"/>
            <a:ext cx="22225" cy="338455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478" name="Line 23"/>
          <p:cNvSpPr>
            <a:spLocks noChangeShapeType="1"/>
          </p:cNvSpPr>
          <p:nvPr/>
        </p:nvSpPr>
        <p:spPr bwMode="auto">
          <a:xfrm>
            <a:off x="2555875" y="1304925"/>
            <a:ext cx="0" cy="3455988"/>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479" name="Line 24"/>
          <p:cNvSpPr>
            <a:spLocks noChangeShapeType="1"/>
          </p:cNvSpPr>
          <p:nvPr/>
        </p:nvSpPr>
        <p:spPr bwMode="auto">
          <a:xfrm>
            <a:off x="3046413" y="1341438"/>
            <a:ext cx="12700" cy="338455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480" name="Line 25"/>
          <p:cNvSpPr>
            <a:spLocks noChangeShapeType="1"/>
          </p:cNvSpPr>
          <p:nvPr/>
        </p:nvSpPr>
        <p:spPr bwMode="auto">
          <a:xfrm>
            <a:off x="4021138" y="1341438"/>
            <a:ext cx="11112" cy="3419475"/>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481" name="Line 26"/>
          <p:cNvSpPr>
            <a:spLocks noChangeShapeType="1"/>
          </p:cNvSpPr>
          <p:nvPr/>
        </p:nvSpPr>
        <p:spPr bwMode="auto">
          <a:xfrm>
            <a:off x="4910138" y="1304925"/>
            <a:ext cx="22225" cy="3421063"/>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482" name="Line 27"/>
          <p:cNvSpPr>
            <a:spLocks noChangeShapeType="1"/>
          </p:cNvSpPr>
          <p:nvPr/>
        </p:nvSpPr>
        <p:spPr bwMode="auto">
          <a:xfrm>
            <a:off x="5327650" y="1304925"/>
            <a:ext cx="0" cy="3455988"/>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483" name="Line 28"/>
          <p:cNvSpPr>
            <a:spLocks noChangeShapeType="1"/>
          </p:cNvSpPr>
          <p:nvPr/>
        </p:nvSpPr>
        <p:spPr bwMode="auto">
          <a:xfrm>
            <a:off x="5832475" y="1304925"/>
            <a:ext cx="0" cy="3455988"/>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484" name="Line 29"/>
          <p:cNvSpPr>
            <a:spLocks noChangeShapeType="1"/>
          </p:cNvSpPr>
          <p:nvPr/>
        </p:nvSpPr>
        <p:spPr bwMode="auto">
          <a:xfrm>
            <a:off x="6657975" y="1304925"/>
            <a:ext cx="1588" cy="3455988"/>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485" name="Line 30"/>
          <p:cNvSpPr>
            <a:spLocks noChangeShapeType="1"/>
          </p:cNvSpPr>
          <p:nvPr/>
        </p:nvSpPr>
        <p:spPr bwMode="auto">
          <a:xfrm flipH="1">
            <a:off x="7092950" y="1304925"/>
            <a:ext cx="11113" cy="3492500"/>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486" name="Line 31"/>
          <p:cNvSpPr>
            <a:spLocks noChangeShapeType="1"/>
          </p:cNvSpPr>
          <p:nvPr/>
        </p:nvSpPr>
        <p:spPr bwMode="auto">
          <a:xfrm>
            <a:off x="7593013" y="1304925"/>
            <a:ext cx="3175" cy="3421063"/>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7487" name="AutoShape 32"/>
          <p:cNvCxnSpPr>
            <a:cxnSpLocks noChangeShapeType="1"/>
          </p:cNvCxnSpPr>
          <p:nvPr/>
        </p:nvCxnSpPr>
        <p:spPr bwMode="auto">
          <a:xfrm>
            <a:off x="6710363" y="1839913"/>
            <a:ext cx="346075" cy="4762"/>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grpSp>
        <p:nvGrpSpPr>
          <p:cNvPr id="147488" name="Group 33"/>
          <p:cNvGrpSpPr>
            <a:grpSpLocks/>
          </p:cNvGrpSpPr>
          <p:nvPr/>
        </p:nvGrpSpPr>
        <p:grpSpPr bwMode="auto">
          <a:xfrm>
            <a:off x="1728788" y="1527175"/>
            <a:ext cx="1182687" cy="325438"/>
            <a:chOff x="1995" y="2659"/>
            <a:chExt cx="1139" cy="205"/>
          </a:xfrm>
        </p:grpSpPr>
        <p:sp>
          <p:nvSpPr>
            <p:cNvPr id="147581" name="Line 34"/>
            <p:cNvSpPr>
              <a:spLocks noChangeShapeType="1"/>
            </p:cNvSpPr>
            <p:nvPr/>
          </p:nvSpPr>
          <p:spPr bwMode="auto">
            <a:xfrm>
              <a:off x="1995" y="2659"/>
              <a:ext cx="336" cy="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7582" name="AutoShape 35"/>
            <p:cNvCxnSpPr>
              <a:cxnSpLocks noChangeShapeType="1"/>
              <a:stCxn id="147581" idx="1"/>
            </p:cNvCxnSpPr>
            <p:nvPr/>
          </p:nvCxnSpPr>
          <p:spPr bwMode="auto">
            <a:xfrm>
              <a:off x="2331" y="2665"/>
              <a:ext cx="118" cy="19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83" name="AutoShape 36"/>
            <p:cNvCxnSpPr>
              <a:cxnSpLocks noChangeShapeType="1"/>
            </p:cNvCxnSpPr>
            <p:nvPr/>
          </p:nvCxnSpPr>
          <p:spPr bwMode="auto">
            <a:xfrm>
              <a:off x="2449" y="2863"/>
              <a:ext cx="295"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84" name="AutoShape 37"/>
            <p:cNvCxnSpPr>
              <a:cxnSpLocks noChangeShapeType="1"/>
            </p:cNvCxnSpPr>
            <p:nvPr/>
          </p:nvCxnSpPr>
          <p:spPr bwMode="auto">
            <a:xfrm flipV="1">
              <a:off x="2744" y="2682"/>
              <a:ext cx="113" cy="18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85" name="AutoShape 38"/>
            <p:cNvCxnSpPr>
              <a:cxnSpLocks noChangeShapeType="1"/>
            </p:cNvCxnSpPr>
            <p:nvPr/>
          </p:nvCxnSpPr>
          <p:spPr bwMode="auto">
            <a:xfrm>
              <a:off x="2862" y="2682"/>
              <a:ext cx="272" cy="1"/>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grpSp>
      <p:sp>
        <p:nvSpPr>
          <p:cNvPr id="147489" name="Line 39"/>
          <p:cNvSpPr>
            <a:spLocks noChangeShapeType="1"/>
          </p:cNvSpPr>
          <p:nvPr/>
        </p:nvSpPr>
        <p:spPr bwMode="auto">
          <a:xfrm>
            <a:off x="2636838" y="1563688"/>
            <a:ext cx="347662" cy="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7490" name="AutoShape 40"/>
          <p:cNvCxnSpPr>
            <a:cxnSpLocks noChangeShapeType="1"/>
            <a:stCxn id="147489" idx="1"/>
          </p:cNvCxnSpPr>
          <p:nvPr/>
        </p:nvCxnSpPr>
        <p:spPr bwMode="auto">
          <a:xfrm>
            <a:off x="2984500" y="1577975"/>
            <a:ext cx="122238" cy="314325"/>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491" name="AutoShape 41"/>
          <p:cNvCxnSpPr>
            <a:cxnSpLocks noChangeShapeType="1"/>
          </p:cNvCxnSpPr>
          <p:nvPr/>
        </p:nvCxnSpPr>
        <p:spPr bwMode="auto">
          <a:xfrm>
            <a:off x="3106738" y="1887538"/>
            <a:ext cx="306387" cy="158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492" name="AutoShape 42"/>
          <p:cNvCxnSpPr>
            <a:cxnSpLocks noChangeShapeType="1"/>
          </p:cNvCxnSpPr>
          <p:nvPr/>
        </p:nvCxnSpPr>
        <p:spPr bwMode="auto">
          <a:xfrm flipV="1">
            <a:off x="3413125" y="1589088"/>
            <a:ext cx="117475" cy="28733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493" name="AutoShape 43"/>
          <p:cNvCxnSpPr>
            <a:cxnSpLocks noChangeShapeType="1"/>
          </p:cNvCxnSpPr>
          <p:nvPr/>
        </p:nvCxnSpPr>
        <p:spPr bwMode="auto">
          <a:xfrm flipV="1">
            <a:off x="3535363" y="1576388"/>
            <a:ext cx="419100" cy="158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494" name="AutoShape 44"/>
          <p:cNvCxnSpPr>
            <a:cxnSpLocks noChangeShapeType="1"/>
          </p:cNvCxnSpPr>
          <p:nvPr/>
        </p:nvCxnSpPr>
        <p:spPr bwMode="auto">
          <a:xfrm>
            <a:off x="3954463" y="1576388"/>
            <a:ext cx="112712" cy="257175"/>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495" name="AutoShape 45"/>
          <p:cNvCxnSpPr>
            <a:cxnSpLocks noChangeShapeType="1"/>
          </p:cNvCxnSpPr>
          <p:nvPr/>
        </p:nvCxnSpPr>
        <p:spPr bwMode="auto">
          <a:xfrm>
            <a:off x="4067175" y="1844675"/>
            <a:ext cx="307975" cy="158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496" name="AutoShape 46"/>
          <p:cNvCxnSpPr>
            <a:cxnSpLocks noChangeShapeType="1"/>
          </p:cNvCxnSpPr>
          <p:nvPr/>
        </p:nvCxnSpPr>
        <p:spPr bwMode="auto">
          <a:xfrm flipV="1">
            <a:off x="4375150" y="1568450"/>
            <a:ext cx="117475" cy="28733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497" name="AutoShape 47"/>
          <p:cNvCxnSpPr>
            <a:cxnSpLocks noChangeShapeType="1"/>
          </p:cNvCxnSpPr>
          <p:nvPr/>
        </p:nvCxnSpPr>
        <p:spPr bwMode="auto">
          <a:xfrm>
            <a:off x="4497388" y="1568450"/>
            <a:ext cx="280987" cy="158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sp>
        <p:nvSpPr>
          <p:cNvPr id="147498" name="Line 48"/>
          <p:cNvSpPr>
            <a:spLocks noChangeShapeType="1"/>
          </p:cNvSpPr>
          <p:nvPr/>
        </p:nvSpPr>
        <p:spPr bwMode="auto">
          <a:xfrm>
            <a:off x="4503738" y="1568450"/>
            <a:ext cx="349250" cy="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7499" name="AutoShape 49"/>
          <p:cNvCxnSpPr>
            <a:cxnSpLocks noChangeShapeType="1"/>
            <a:stCxn id="147498" idx="1"/>
          </p:cNvCxnSpPr>
          <p:nvPr/>
        </p:nvCxnSpPr>
        <p:spPr bwMode="auto">
          <a:xfrm>
            <a:off x="4852988" y="1582738"/>
            <a:ext cx="122237" cy="314325"/>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00" name="AutoShape 50"/>
          <p:cNvCxnSpPr>
            <a:cxnSpLocks noChangeShapeType="1"/>
          </p:cNvCxnSpPr>
          <p:nvPr/>
        </p:nvCxnSpPr>
        <p:spPr bwMode="auto">
          <a:xfrm>
            <a:off x="4975225" y="1892300"/>
            <a:ext cx="306388" cy="158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01" name="AutoShape 51"/>
          <p:cNvCxnSpPr>
            <a:cxnSpLocks noChangeShapeType="1"/>
          </p:cNvCxnSpPr>
          <p:nvPr/>
        </p:nvCxnSpPr>
        <p:spPr bwMode="auto">
          <a:xfrm flipV="1">
            <a:off x="5281613" y="1604963"/>
            <a:ext cx="117475" cy="28733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02" name="AutoShape 52"/>
          <p:cNvCxnSpPr>
            <a:cxnSpLocks noChangeShapeType="1"/>
          </p:cNvCxnSpPr>
          <p:nvPr/>
        </p:nvCxnSpPr>
        <p:spPr bwMode="auto">
          <a:xfrm flipV="1">
            <a:off x="5403850" y="1598613"/>
            <a:ext cx="363538" cy="6350"/>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03" name="AutoShape 53"/>
          <p:cNvCxnSpPr>
            <a:cxnSpLocks noChangeShapeType="1"/>
          </p:cNvCxnSpPr>
          <p:nvPr/>
        </p:nvCxnSpPr>
        <p:spPr bwMode="auto">
          <a:xfrm>
            <a:off x="5767388" y="1598613"/>
            <a:ext cx="114300" cy="26193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04" name="AutoShape 54"/>
          <p:cNvCxnSpPr>
            <a:cxnSpLocks noChangeShapeType="1"/>
          </p:cNvCxnSpPr>
          <p:nvPr/>
        </p:nvCxnSpPr>
        <p:spPr bwMode="auto">
          <a:xfrm>
            <a:off x="5881688" y="1855788"/>
            <a:ext cx="306387" cy="158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05" name="AutoShape 55"/>
          <p:cNvCxnSpPr>
            <a:cxnSpLocks noChangeShapeType="1"/>
          </p:cNvCxnSpPr>
          <p:nvPr/>
        </p:nvCxnSpPr>
        <p:spPr bwMode="auto">
          <a:xfrm flipV="1">
            <a:off x="6188075" y="1568450"/>
            <a:ext cx="117475" cy="28733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06" name="AutoShape 56"/>
          <p:cNvCxnSpPr>
            <a:cxnSpLocks noChangeShapeType="1"/>
          </p:cNvCxnSpPr>
          <p:nvPr/>
        </p:nvCxnSpPr>
        <p:spPr bwMode="auto">
          <a:xfrm>
            <a:off x="6310313" y="1568450"/>
            <a:ext cx="282575" cy="158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07" name="AutoShape 57"/>
          <p:cNvCxnSpPr>
            <a:cxnSpLocks noChangeShapeType="1"/>
          </p:cNvCxnSpPr>
          <p:nvPr/>
        </p:nvCxnSpPr>
        <p:spPr bwMode="auto">
          <a:xfrm>
            <a:off x="6580188" y="1562100"/>
            <a:ext cx="136525" cy="287338"/>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sp>
        <p:nvSpPr>
          <p:cNvPr id="147508" name="Line 58"/>
          <p:cNvSpPr>
            <a:spLocks noChangeShapeType="1"/>
          </p:cNvSpPr>
          <p:nvPr/>
        </p:nvSpPr>
        <p:spPr bwMode="auto">
          <a:xfrm flipV="1">
            <a:off x="1763713" y="2817813"/>
            <a:ext cx="1187450"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47509" name="Group 59"/>
          <p:cNvGrpSpPr>
            <a:grpSpLocks/>
          </p:cNvGrpSpPr>
          <p:nvPr/>
        </p:nvGrpSpPr>
        <p:grpSpPr bwMode="auto">
          <a:xfrm>
            <a:off x="6535738" y="2609850"/>
            <a:ext cx="109537" cy="360363"/>
            <a:chOff x="2018" y="3444"/>
            <a:chExt cx="68" cy="213"/>
          </a:xfrm>
        </p:grpSpPr>
        <p:cxnSp>
          <p:nvCxnSpPr>
            <p:cNvPr id="147579" name="AutoShape 60"/>
            <p:cNvCxnSpPr>
              <a:cxnSpLocks noChangeShapeType="1"/>
            </p:cNvCxnSpPr>
            <p:nvPr/>
          </p:nvCxnSpPr>
          <p:spPr bwMode="auto">
            <a:xfrm>
              <a:off x="2018" y="3558"/>
              <a:ext cx="68" cy="99"/>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7580" name="AutoShape 61"/>
            <p:cNvCxnSpPr>
              <a:cxnSpLocks noChangeShapeType="1"/>
            </p:cNvCxnSpPr>
            <p:nvPr/>
          </p:nvCxnSpPr>
          <p:spPr bwMode="auto">
            <a:xfrm flipV="1">
              <a:off x="2018" y="3444"/>
              <a:ext cx="68" cy="13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cxnSp>
        <p:nvCxnSpPr>
          <p:cNvPr id="147510" name="AutoShape 62"/>
          <p:cNvCxnSpPr>
            <a:cxnSpLocks noChangeShapeType="1"/>
          </p:cNvCxnSpPr>
          <p:nvPr/>
        </p:nvCxnSpPr>
        <p:spPr bwMode="auto">
          <a:xfrm>
            <a:off x="7256463" y="2609850"/>
            <a:ext cx="141287" cy="17780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nvGrpSpPr>
          <p:cNvPr id="147511" name="Group 63"/>
          <p:cNvGrpSpPr>
            <a:grpSpLocks/>
          </p:cNvGrpSpPr>
          <p:nvPr/>
        </p:nvGrpSpPr>
        <p:grpSpPr bwMode="auto">
          <a:xfrm>
            <a:off x="4910138" y="2627313"/>
            <a:ext cx="107950" cy="338137"/>
            <a:chOff x="2018" y="3444"/>
            <a:chExt cx="68" cy="213"/>
          </a:xfrm>
        </p:grpSpPr>
        <p:cxnSp>
          <p:nvCxnSpPr>
            <p:cNvPr id="147577" name="AutoShape 64"/>
            <p:cNvCxnSpPr>
              <a:cxnSpLocks noChangeShapeType="1"/>
            </p:cNvCxnSpPr>
            <p:nvPr/>
          </p:nvCxnSpPr>
          <p:spPr bwMode="auto">
            <a:xfrm>
              <a:off x="2018" y="3558"/>
              <a:ext cx="68" cy="99"/>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7578" name="AutoShape 65"/>
            <p:cNvCxnSpPr>
              <a:cxnSpLocks noChangeShapeType="1"/>
            </p:cNvCxnSpPr>
            <p:nvPr/>
          </p:nvCxnSpPr>
          <p:spPr bwMode="auto">
            <a:xfrm flipV="1">
              <a:off x="2018" y="3444"/>
              <a:ext cx="68" cy="13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sp>
        <p:nvSpPr>
          <p:cNvPr id="147512" name="Line 66"/>
          <p:cNvSpPr>
            <a:spLocks noChangeShapeType="1"/>
          </p:cNvSpPr>
          <p:nvPr/>
        </p:nvSpPr>
        <p:spPr bwMode="auto">
          <a:xfrm>
            <a:off x="3600450" y="2817813"/>
            <a:ext cx="1295400"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7513" name="AutoShape 67"/>
          <p:cNvCxnSpPr>
            <a:cxnSpLocks noChangeShapeType="1"/>
          </p:cNvCxnSpPr>
          <p:nvPr/>
        </p:nvCxnSpPr>
        <p:spPr bwMode="auto">
          <a:xfrm>
            <a:off x="3959225" y="3178175"/>
            <a:ext cx="157163" cy="330200"/>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7514" name="AutoShape 68"/>
          <p:cNvCxnSpPr>
            <a:cxnSpLocks noChangeShapeType="1"/>
          </p:cNvCxnSpPr>
          <p:nvPr/>
        </p:nvCxnSpPr>
        <p:spPr bwMode="auto">
          <a:xfrm flipV="1">
            <a:off x="5759450" y="3178175"/>
            <a:ext cx="155575" cy="33813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7515" name="AutoShape 69"/>
          <p:cNvCxnSpPr>
            <a:cxnSpLocks noChangeShapeType="1"/>
          </p:cNvCxnSpPr>
          <p:nvPr/>
        </p:nvCxnSpPr>
        <p:spPr bwMode="auto">
          <a:xfrm>
            <a:off x="5903913" y="3178175"/>
            <a:ext cx="2016125" cy="1588"/>
          </a:xfrm>
          <a:prstGeom prst="straightConnector1">
            <a:avLst/>
          </a:prstGeom>
          <a:noFill/>
          <a:ln w="28575">
            <a:solidFill>
              <a:srgbClr val="666633"/>
            </a:solidFill>
            <a:miter lim="800000"/>
            <a:headEnd/>
            <a:tailEnd/>
          </a:ln>
          <a:extLst>
            <a:ext uri="{909E8E84-426E-40DD-AFC4-6F175D3DCCD1}">
              <a14:hiddenFill xmlns:a14="http://schemas.microsoft.com/office/drawing/2010/main">
                <a:noFill/>
              </a14:hiddenFill>
            </a:ext>
          </a:extLst>
        </p:spPr>
      </p:cxnSp>
      <p:cxnSp>
        <p:nvCxnSpPr>
          <p:cNvPr id="147516" name="AutoShape 70"/>
          <p:cNvCxnSpPr>
            <a:cxnSpLocks noChangeShapeType="1"/>
          </p:cNvCxnSpPr>
          <p:nvPr/>
        </p:nvCxnSpPr>
        <p:spPr bwMode="auto">
          <a:xfrm>
            <a:off x="4103688" y="3502025"/>
            <a:ext cx="1655762" cy="0"/>
          </a:xfrm>
          <a:prstGeom prst="straightConnector1">
            <a:avLst/>
          </a:prstGeom>
          <a:noFill/>
          <a:ln w="28575">
            <a:solidFill>
              <a:srgbClr val="CCCC00"/>
            </a:solidFill>
            <a:miter lim="800000"/>
            <a:headEnd/>
            <a:tailEnd/>
          </a:ln>
          <a:extLst>
            <a:ext uri="{909E8E84-426E-40DD-AFC4-6F175D3DCCD1}">
              <a14:hiddenFill xmlns:a14="http://schemas.microsoft.com/office/drawing/2010/main">
                <a:noFill/>
              </a14:hiddenFill>
            </a:ext>
          </a:extLst>
        </p:spPr>
      </p:cxnSp>
      <p:cxnSp>
        <p:nvCxnSpPr>
          <p:cNvPr id="147517" name="AutoShape 77"/>
          <p:cNvCxnSpPr>
            <a:cxnSpLocks noChangeShapeType="1"/>
          </p:cNvCxnSpPr>
          <p:nvPr/>
        </p:nvCxnSpPr>
        <p:spPr bwMode="auto">
          <a:xfrm flipV="1">
            <a:off x="7508875" y="3644900"/>
            <a:ext cx="155575" cy="33813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7518" name="AutoShape 78"/>
          <p:cNvCxnSpPr>
            <a:cxnSpLocks noChangeShapeType="1"/>
          </p:cNvCxnSpPr>
          <p:nvPr/>
        </p:nvCxnSpPr>
        <p:spPr bwMode="auto">
          <a:xfrm>
            <a:off x="1762125" y="3622675"/>
            <a:ext cx="323850" cy="0"/>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7519" name="AutoShape 79"/>
          <p:cNvCxnSpPr>
            <a:cxnSpLocks noChangeShapeType="1"/>
          </p:cNvCxnSpPr>
          <p:nvPr/>
        </p:nvCxnSpPr>
        <p:spPr bwMode="auto">
          <a:xfrm>
            <a:off x="2230438" y="3968750"/>
            <a:ext cx="5292725" cy="0"/>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sp>
        <p:nvSpPr>
          <p:cNvPr id="147520" name="Line 80"/>
          <p:cNvSpPr>
            <a:spLocks noChangeShapeType="1"/>
          </p:cNvSpPr>
          <p:nvPr/>
        </p:nvSpPr>
        <p:spPr bwMode="auto">
          <a:xfrm>
            <a:off x="1784350" y="4221163"/>
            <a:ext cx="685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7521" name="AutoShape 81"/>
          <p:cNvCxnSpPr>
            <a:cxnSpLocks noChangeShapeType="1"/>
          </p:cNvCxnSpPr>
          <p:nvPr/>
        </p:nvCxnSpPr>
        <p:spPr bwMode="auto">
          <a:xfrm>
            <a:off x="2470150" y="4210050"/>
            <a:ext cx="160338" cy="314325"/>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7522" name="AutoShape 82"/>
          <p:cNvCxnSpPr>
            <a:cxnSpLocks noChangeShapeType="1"/>
          </p:cNvCxnSpPr>
          <p:nvPr/>
        </p:nvCxnSpPr>
        <p:spPr bwMode="auto">
          <a:xfrm>
            <a:off x="2592388" y="4510088"/>
            <a:ext cx="825500" cy="0"/>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cxnSp>
        <p:nvCxnSpPr>
          <p:cNvPr id="147523" name="AutoShape 83"/>
          <p:cNvCxnSpPr>
            <a:cxnSpLocks noChangeShapeType="1"/>
          </p:cNvCxnSpPr>
          <p:nvPr/>
        </p:nvCxnSpPr>
        <p:spPr bwMode="auto">
          <a:xfrm flipV="1">
            <a:off x="3417888" y="4254500"/>
            <a:ext cx="107950" cy="252413"/>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147524" name="Line 84"/>
          <p:cNvSpPr>
            <a:spLocks noChangeShapeType="1"/>
          </p:cNvSpPr>
          <p:nvPr/>
        </p:nvSpPr>
        <p:spPr bwMode="auto">
          <a:xfrm>
            <a:off x="3525838" y="4257675"/>
            <a:ext cx="82867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7525" name="AutoShape 85"/>
          <p:cNvCxnSpPr>
            <a:cxnSpLocks noChangeShapeType="1"/>
          </p:cNvCxnSpPr>
          <p:nvPr/>
        </p:nvCxnSpPr>
        <p:spPr bwMode="auto">
          <a:xfrm>
            <a:off x="4343400" y="4257675"/>
            <a:ext cx="179388" cy="28733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7526" name="AutoShape 86"/>
          <p:cNvCxnSpPr>
            <a:cxnSpLocks noChangeShapeType="1"/>
          </p:cNvCxnSpPr>
          <p:nvPr/>
        </p:nvCxnSpPr>
        <p:spPr bwMode="auto">
          <a:xfrm>
            <a:off x="4500563" y="4545013"/>
            <a:ext cx="755650" cy="0"/>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cxnSp>
        <p:nvCxnSpPr>
          <p:cNvPr id="147527" name="AutoShape 87"/>
          <p:cNvCxnSpPr>
            <a:cxnSpLocks noChangeShapeType="1"/>
          </p:cNvCxnSpPr>
          <p:nvPr/>
        </p:nvCxnSpPr>
        <p:spPr bwMode="auto">
          <a:xfrm flipV="1">
            <a:off x="5256213" y="4271963"/>
            <a:ext cx="153987" cy="287337"/>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7528" name="AutoShape 88"/>
          <p:cNvCxnSpPr>
            <a:cxnSpLocks noChangeShapeType="1"/>
          </p:cNvCxnSpPr>
          <p:nvPr/>
        </p:nvCxnSpPr>
        <p:spPr bwMode="auto">
          <a:xfrm flipV="1">
            <a:off x="5400675" y="4257675"/>
            <a:ext cx="755650" cy="1428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7529" name="AutoShape 89"/>
          <p:cNvCxnSpPr>
            <a:cxnSpLocks noChangeShapeType="1"/>
          </p:cNvCxnSpPr>
          <p:nvPr/>
        </p:nvCxnSpPr>
        <p:spPr bwMode="auto">
          <a:xfrm>
            <a:off x="6154738" y="4257675"/>
            <a:ext cx="179387" cy="287338"/>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7530" name="AutoShape 90"/>
          <p:cNvCxnSpPr>
            <a:cxnSpLocks noChangeShapeType="1"/>
          </p:cNvCxnSpPr>
          <p:nvPr/>
        </p:nvCxnSpPr>
        <p:spPr bwMode="auto">
          <a:xfrm>
            <a:off x="6300788" y="4545013"/>
            <a:ext cx="720725" cy="1587"/>
          </a:xfrm>
          <a:prstGeom prst="straightConnector1">
            <a:avLst/>
          </a:prstGeom>
          <a:noFill/>
          <a:ln w="28575">
            <a:solidFill>
              <a:srgbClr val="FF0000"/>
            </a:solidFill>
            <a:miter lim="800000"/>
            <a:headEnd/>
            <a:tailEnd/>
          </a:ln>
          <a:extLst>
            <a:ext uri="{909E8E84-426E-40DD-AFC4-6F175D3DCCD1}">
              <a14:hiddenFill xmlns:a14="http://schemas.microsoft.com/office/drawing/2010/main">
                <a:noFill/>
              </a14:hiddenFill>
            </a:ext>
          </a:extLst>
        </p:spPr>
      </p:cxnSp>
      <p:sp>
        <p:nvSpPr>
          <p:cNvPr id="147531" name="Rectangle 91"/>
          <p:cNvSpPr>
            <a:spLocks noChangeArrowheads="1"/>
          </p:cNvSpPr>
          <p:nvPr/>
        </p:nvSpPr>
        <p:spPr bwMode="auto">
          <a:xfrm>
            <a:off x="2916238" y="2613025"/>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1600">
                <a:solidFill>
                  <a:schemeClr val="folHlink"/>
                </a:solidFill>
              </a:rPr>
              <a:t>I/O</a:t>
            </a:r>
            <a:r>
              <a:rPr kumimoji="0" lang="zh-CN" altLang="en-US" sz="1600">
                <a:solidFill>
                  <a:schemeClr val="folHlink"/>
                </a:solidFill>
              </a:rPr>
              <a:t>读</a:t>
            </a:r>
          </a:p>
        </p:txBody>
      </p:sp>
      <p:grpSp>
        <p:nvGrpSpPr>
          <p:cNvPr id="147532" name="Group 93"/>
          <p:cNvGrpSpPr>
            <a:grpSpLocks/>
          </p:cNvGrpSpPr>
          <p:nvPr/>
        </p:nvGrpSpPr>
        <p:grpSpPr bwMode="auto">
          <a:xfrm>
            <a:off x="609600" y="4184650"/>
            <a:ext cx="1144588" cy="366713"/>
            <a:chOff x="657" y="4655"/>
            <a:chExt cx="721" cy="231"/>
          </a:xfrm>
        </p:grpSpPr>
        <p:sp>
          <p:nvSpPr>
            <p:cNvPr id="147575" name="Rectangle 94"/>
            <p:cNvSpPr>
              <a:spLocks noChangeArrowheads="1"/>
            </p:cNvSpPr>
            <p:nvPr/>
          </p:nvSpPr>
          <p:spPr bwMode="auto">
            <a:xfrm>
              <a:off x="657" y="4655"/>
              <a:ext cx="72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pPr>
              <a:r>
                <a:rPr lang="en-US" altLang="zh-CN"/>
                <a:t>IOSTRB</a:t>
              </a:r>
              <a:endParaRPr kumimoji="0" lang="en-US" altLang="zh-CN"/>
            </a:p>
          </p:txBody>
        </p:sp>
        <p:sp>
          <p:nvSpPr>
            <p:cNvPr id="147576" name="Line 95"/>
            <p:cNvSpPr>
              <a:spLocks noChangeShapeType="1"/>
            </p:cNvSpPr>
            <p:nvPr/>
          </p:nvSpPr>
          <p:spPr bwMode="auto">
            <a:xfrm>
              <a:off x="725" y="4677"/>
              <a:ext cx="54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47533" name="Group 101"/>
          <p:cNvGrpSpPr>
            <a:grpSpLocks/>
          </p:cNvGrpSpPr>
          <p:nvPr/>
        </p:nvGrpSpPr>
        <p:grpSpPr bwMode="auto">
          <a:xfrm>
            <a:off x="576263" y="3146425"/>
            <a:ext cx="900112" cy="396875"/>
            <a:chOff x="340" y="3521"/>
            <a:chExt cx="567" cy="250"/>
          </a:xfrm>
        </p:grpSpPr>
        <p:sp>
          <p:nvSpPr>
            <p:cNvPr id="147572" name="Rectangle 102"/>
            <p:cNvSpPr>
              <a:spLocks noChangeArrowheads="1"/>
            </p:cNvSpPr>
            <p:nvPr/>
          </p:nvSpPr>
          <p:spPr bwMode="auto">
            <a:xfrm>
              <a:off x="340" y="3521"/>
              <a:ext cx="5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R</a:t>
              </a:r>
              <a:r>
                <a:rPr kumimoji="0" lang="zh-CN" altLang="en-US"/>
                <a:t>　</a:t>
              </a:r>
              <a:r>
                <a:rPr kumimoji="0" lang="en-US" altLang="zh-CN"/>
                <a:t>W</a:t>
              </a:r>
            </a:p>
          </p:txBody>
        </p:sp>
        <p:sp>
          <p:nvSpPr>
            <p:cNvPr id="147573" name="Line 103"/>
            <p:cNvSpPr>
              <a:spLocks noChangeShapeType="1"/>
            </p:cNvSpPr>
            <p:nvPr/>
          </p:nvSpPr>
          <p:spPr bwMode="auto">
            <a:xfrm>
              <a:off x="680" y="3566"/>
              <a:ext cx="159"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74" name="Line 104"/>
            <p:cNvSpPr>
              <a:spLocks noChangeShapeType="1"/>
            </p:cNvSpPr>
            <p:nvPr/>
          </p:nvSpPr>
          <p:spPr bwMode="auto">
            <a:xfrm flipH="1">
              <a:off x="561" y="3557"/>
              <a:ext cx="68" cy="159"/>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47534" name="Rectangle 105"/>
          <p:cNvSpPr>
            <a:spLocks noChangeArrowheads="1"/>
          </p:cNvSpPr>
          <p:nvPr/>
        </p:nvSpPr>
        <p:spPr bwMode="auto">
          <a:xfrm>
            <a:off x="576263" y="2606675"/>
            <a:ext cx="1187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D(15</a:t>
            </a:r>
            <a:r>
              <a:rPr kumimoji="0" lang="zh-CN" altLang="en-US"/>
              <a:t>～</a:t>
            </a:r>
            <a:r>
              <a:rPr kumimoji="0" lang="en-US" altLang="zh-CN"/>
              <a:t>0)</a:t>
            </a:r>
          </a:p>
        </p:txBody>
      </p:sp>
      <p:sp>
        <p:nvSpPr>
          <p:cNvPr id="147535" name="Rectangle 106"/>
          <p:cNvSpPr>
            <a:spLocks noChangeArrowheads="1"/>
          </p:cNvSpPr>
          <p:nvPr/>
        </p:nvSpPr>
        <p:spPr bwMode="auto">
          <a:xfrm>
            <a:off x="576263" y="2030413"/>
            <a:ext cx="1187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A(15</a:t>
            </a:r>
            <a:r>
              <a:rPr kumimoji="0" lang="zh-CN" altLang="en-US"/>
              <a:t>～</a:t>
            </a:r>
            <a:r>
              <a:rPr kumimoji="0" lang="en-US" altLang="zh-CN"/>
              <a:t>0)</a:t>
            </a:r>
          </a:p>
        </p:txBody>
      </p:sp>
      <p:sp>
        <p:nvSpPr>
          <p:cNvPr id="147536" name="Rectangle 107"/>
          <p:cNvSpPr>
            <a:spLocks noChangeArrowheads="1"/>
          </p:cNvSpPr>
          <p:nvPr/>
        </p:nvSpPr>
        <p:spPr bwMode="auto">
          <a:xfrm>
            <a:off x="576263" y="1490663"/>
            <a:ext cx="1404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CLKOUT</a:t>
            </a:r>
          </a:p>
        </p:txBody>
      </p:sp>
      <p:cxnSp>
        <p:nvCxnSpPr>
          <p:cNvPr id="147537" name="AutoShape 108"/>
          <p:cNvCxnSpPr>
            <a:cxnSpLocks noChangeShapeType="1"/>
          </p:cNvCxnSpPr>
          <p:nvPr/>
        </p:nvCxnSpPr>
        <p:spPr bwMode="auto">
          <a:xfrm flipV="1">
            <a:off x="7042150" y="1563688"/>
            <a:ext cx="117475" cy="28733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38" name="AutoShape 109"/>
          <p:cNvCxnSpPr>
            <a:cxnSpLocks noChangeShapeType="1"/>
          </p:cNvCxnSpPr>
          <p:nvPr/>
        </p:nvCxnSpPr>
        <p:spPr bwMode="auto">
          <a:xfrm flipV="1">
            <a:off x="7164388" y="1557338"/>
            <a:ext cx="363537" cy="6350"/>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39" name="AutoShape 110"/>
          <p:cNvCxnSpPr>
            <a:cxnSpLocks noChangeShapeType="1"/>
          </p:cNvCxnSpPr>
          <p:nvPr/>
        </p:nvCxnSpPr>
        <p:spPr bwMode="auto">
          <a:xfrm>
            <a:off x="7527925" y="1557338"/>
            <a:ext cx="114300" cy="26193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cxnSp>
        <p:nvCxnSpPr>
          <p:cNvPr id="147540" name="AutoShape 111"/>
          <p:cNvCxnSpPr>
            <a:cxnSpLocks noChangeShapeType="1"/>
          </p:cNvCxnSpPr>
          <p:nvPr/>
        </p:nvCxnSpPr>
        <p:spPr bwMode="auto">
          <a:xfrm>
            <a:off x="7642225" y="1814513"/>
            <a:ext cx="306388" cy="1587"/>
          </a:xfrm>
          <a:prstGeom prst="straightConnector1">
            <a:avLst/>
          </a:prstGeom>
          <a:noFill/>
          <a:ln w="28575">
            <a:solidFill>
              <a:srgbClr val="FF9900"/>
            </a:solidFill>
            <a:miter lim="800000"/>
            <a:headEnd/>
            <a:tailEnd/>
          </a:ln>
          <a:extLst>
            <a:ext uri="{909E8E84-426E-40DD-AFC4-6F175D3DCCD1}">
              <a14:hiddenFill xmlns:a14="http://schemas.microsoft.com/office/drawing/2010/main">
                <a:noFill/>
              </a14:hiddenFill>
            </a:ext>
          </a:extLst>
        </p:spPr>
      </p:cxnSp>
      <p:sp>
        <p:nvSpPr>
          <p:cNvPr id="147541" name="Line 112"/>
          <p:cNvSpPr>
            <a:spLocks noChangeShapeType="1"/>
          </p:cNvSpPr>
          <p:nvPr/>
        </p:nvSpPr>
        <p:spPr bwMode="auto">
          <a:xfrm flipH="1">
            <a:off x="3455988" y="1341438"/>
            <a:ext cx="25400" cy="3419475"/>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42" name="Line 113"/>
          <p:cNvSpPr>
            <a:spLocks noChangeShapeType="1"/>
          </p:cNvSpPr>
          <p:nvPr/>
        </p:nvSpPr>
        <p:spPr bwMode="auto">
          <a:xfrm>
            <a:off x="4427538" y="1355725"/>
            <a:ext cx="0" cy="3405188"/>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43" name="Line 114"/>
          <p:cNvSpPr>
            <a:spLocks noChangeShapeType="1"/>
          </p:cNvSpPr>
          <p:nvPr/>
        </p:nvSpPr>
        <p:spPr bwMode="auto">
          <a:xfrm>
            <a:off x="6249988" y="1341438"/>
            <a:ext cx="14287" cy="3419475"/>
          </a:xfrm>
          <a:prstGeom prst="line">
            <a:avLst/>
          </a:prstGeom>
          <a:noFill/>
          <a:ln w="12700">
            <a:solidFill>
              <a:schemeClr val="tx1"/>
            </a:solidFill>
            <a:prstDash val="dash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47544" name="Group 117"/>
          <p:cNvGrpSpPr>
            <a:grpSpLocks/>
          </p:cNvGrpSpPr>
          <p:nvPr/>
        </p:nvGrpSpPr>
        <p:grpSpPr bwMode="auto">
          <a:xfrm>
            <a:off x="2949575" y="2636838"/>
            <a:ext cx="107950" cy="338137"/>
            <a:chOff x="2018" y="3444"/>
            <a:chExt cx="68" cy="213"/>
          </a:xfrm>
        </p:grpSpPr>
        <p:cxnSp>
          <p:nvCxnSpPr>
            <p:cNvPr id="147570" name="AutoShape 118"/>
            <p:cNvCxnSpPr>
              <a:cxnSpLocks noChangeShapeType="1"/>
            </p:cNvCxnSpPr>
            <p:nvPr/>
          </p:nvCxnSpPr>
          <p:spPr bwMode="auto">
            <a:xfrm>
              <a:off x="2018" y="3558"/>
              <a:ext cx="68" cy="99"/>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7571" name="AutoShape 119"/>
            <p:cNvCxnSpPr>
              <a:cxnSpLocks noChangeShapeType="1"/>
            </p:cNvCxnSpPr>
            <p:nvPr/>
          </p:nvCxnSpPr>
          <p:spPr bwMode="auto">
            <a:xfrm flipV="1">
              <a:off x="2018" y="3444"/>
              <a:ext cx="68" cy="13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grpSp>
      <p:cxnSp>
        <p:nvCxnSpPr>
          <p:cNvPr id="147545" name="AutoShape 121"/>
          <p:cNvCxnSpPr>
            <a:cxnSpLocks noChangeShapeType="1"/>
          </p:cNvCxnSpPr>
          <p:nvPr/>
        </p:nvCxnSpPr>
        <p:spPr bwMode="auto">
          <a:xfrm>
            <a:off x="3492500" y="2636838"/>
            <a:ext cx="107950" cy="180975"/>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cxnSp>
        <p:nvCxnSpPr>
          <p:cNvPr id="147546" name="AutoShape 122"/>
          <p:cNvCxnSpPr>
            <a:cxnSpLocks noChangeShapeType="1"/>
            <a:stCxn id="147561" idx="1"/>
          </p:cNvCxnSpPr>
          <p:nvPr/>
        </p:nvCxnSpPr>
        <p:spPr bwMode="auto">
          <a:xfrm flipV="1">
            <a:off x="3492500" y="2817813"/>
            <a:ext cx="107950" cy="157162"/>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sp>
        <p:nvSpPr>
          <p:cNvPr id="147547" name="Line 126"/>
          <p:cNvSpPr>
            <a:spLocks noChangeShapeType="1"/>
          </p:cNvSpPr>
          <p:nvPr/>
        </p:nvSpPr>
        <p:spPr bwMode="auto">
          <a:xfrm flipV="1">
            <a:off x="5832475" y="2803525"/>
            <a:ext cx="719138"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48" name="Line 127"/>
          <p:cNvSpPr>
            <a:spLocks noChangeShapeType="1"/>
          </p:cNvSpPr>
          <p:nvPr/>
        </p:nvSpPr>
        <p:spPr bwMode="auto">
          <a:xfrm>
            <a:off x="5003800" y="2636838"/>
            <a:ext cx="720725"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49" name="Line 128"/>
          <p:cNvSpPr>
            <a:spLocks noChangeShapeType="1"/>
          </p:cNvSpPr>
          <p:nvPr/>
        </p:nvSpPr>
        <p:spPr bwMode="auto">
          <a:xfrm>
            <a:off x="5003800" y="2960688"/>
            <a:ext cx="720725"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50" name="Line 129"/>
          <p:cNvSpPr>
            <a:spLocks noChangeShapeType="1"/>
          </p:cNvSpPr>
          <p:nvPr/>
        </p:nvSpPr>
        <p:spPr bwMode="auto">
          <a:xfrm>
            <a:off x="6643688" y="2609850"/>
            <a:ext cx="612775"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51" name="Line 130"/>
          <p:cNvSpPr>
            <a:spLocks noChangeShapeType="1"/>
          </p:cNvSpPr>
          <p:nvPr/>
        </p:nvSpPr>
        <p:spPr bwMode="auto">
          <a:xfrm>
            <a:off x="6643688" y="2970213"/>
            <a:ext cx="612775"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52" name="Line 131"/>
          <p:cNvSpPr>
            <a:spLocks noChangeShapeType="1"/>
          </p:cNvSpPr>
          <p:nvPr/>
        </p:nvSpPr>
        <p:spPr bwMode="auto">
          <a:xfrm flipV="1">
            <a:off x="7256463" y="2789238"/>
            <a:ext cx="144462" cy="180975"/>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47553" name="AutoShape 132"/>
          <p:cNvCxnSpPr>
            <a:cxnSpLocks noChangeShapeType="1"/>
          </p:cNvCxnSpPr>
          <p:nvPr/>
        </p:nvCxnSpPr>
        <p:spPr bwMode="auto">
          <a:xfrm>
            <a:off x="5713413" y="2620963"/>
            <a:ext cx="141287" cy="177800"/>
          </a:xfrm>
          <a:prstGeom prst="straightConnector1">
            <a:avLst/>
          </a:prstGeom>
          <a:noFill/>
          <a:ln w="28575">
            <a:solidFill>
              <a:schemeClr val="tx2"/>
            </a:solidFill>
            <a:miter lim="800000"/>
            <a:headEnd/>
            <a:tailEnd/>
          </a:ln>
          <a:extLst>
            <a:ext uri="{909E8E84-426E-40DD-AFC4-6F175D3DCCD1}">
              <a14:hiddenFill xmlns:a14="http://schemas.microsoft.com/office/drawing/2010/main">
                <a:noFill/>
              </a14:hiddenFill>
            </a:ext>
          </a:extLst>
        </p:spPr>
      </p:cxnSp>
      <p:sp>
        <p:nvSpPr>
          <p:cNvPr id="147554" name="Line 133"/>
          <p:cNvSpPr>
            <a:spLocks noChangeShapeType="1"/>
          </p:cNvSpPr>
          <p:nvPr/>
        </p:nvSpPr>
        <p:spPr bwMode="auto">
          <a:xfrm flipV="1">
            <a:off x="5713413" y="2792413"/>
            <a:ext cx="144462" cy="180975"/>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55" name="Line 139"/>
          <p:cNvSpPr>
            <a:spLocks noChangeShapeType="1"/>
          </p:cNvSpPr>
          <p:nvPr/>
        </p:nvSpPr>
        <p:spPr bwMode="auto">
          <a:xfrm>
            <a:off x="7678738" y="2071688"/>
            <a:ext cx="252412"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56" name="Line 140"/>
          <p:cNvSpPr>
            <a:spLocks noChangeShapeType="1"/>
          </p:cNvSpPr>
          <p:nvPr/>
        </p:nvSpPr>
        <p:spPr bwMode="auto">
          <a:xfrm>
            <a:off x="7689850" y="2386013"/>
            <a:ext cx="252413"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47557" name="Group 142"/>
          <p:cNvGrpSpPr>
            <a:grpSpLocks/>
          </p:cNvGrpSpPr>
          <p:nvPr/>
        </p:nvGrpSpPr>
        <p:grpSpPr bwMode="auto">
          <a:xfrm>
            <a:off x="609600" y="3681413"/>
            <a:ext cx="431800" cy="396875"/>
            <a:chOff x="612" y="4195"/>
            <a:chExt cx="272" cy="250"/>
          </a:xfrm>
        </p:grpSpPr>
        <p:sp>
          <p:nvSpPr>
            <p:cNvPr id="147568" name="Rectangle 143"/>
            <p:cNvSpPr>
              <a:spLocks noChangeArrowheads="1"/>
            </p:cNvSpPr>
            <p:nvPr/>
          </p:nvSpPr>
          <p:spPr bwMode="auto">
            <a:xfrm>
              <a:off x="612" y="4195"/>
              <a:ext cx="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t>IS</a:t>
              </a:r>
            </a:p>
          </p:txBody>
        </p:sp>
        <p:sp>
          <p:nvSpPr>
            <p:cNvPr id="147569" name="Line 144"/>
            <p:cNvSpPr>
              <a:spLocks noChangeShapeType="1"/>
            </p:cNvSpPr>
            <p:nvPr/>
          </p:nvSpPr>
          <p:spPr bwMode="auto">
            <a:xfrm>
              <a:off x="680" y="4217"/>
              <a:ext cx="204" cy="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cxnSp>
        <p:nvCxnSpPr>
          <p:cNvPr id="147558" name="AutoShape 145"/>
          <p:cNvCxnSpPr>
            <a:cxnSpLocks noChangeShapeType="1"/>
          </p:cNvCxnSpPr>
          <p:nvPr/>
        </p:nvCxnSpPr>
        <p:spPr bwMode="auto">
          <a:xfrm flipV="1">
            <a:off x="7010400" y="4262438"/>
            <a:ext cx="153988" cy="287337"/>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7559" name="AutoShape 146"/>
          <p:cNvCxnSpPr>
            <a:cxnSpLocks noChangeShapeType="1"/>
          </p:cNvCxnSpPr>
          <p:nvPr/>
        </p:nvCxnSpPr>
        <p:spPr bwMode="auto">
          <a:xfrm>
            <a:off x="7164388" y="4257675"/>
            <a:ext cx="755650" cy="0"/>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147560" name="Line 147"/>
          <p:cNvSpPr>
            <a:spLocks noChangeShapeType="1"/>
          </p:cNvSpPr>
          <p:nvPr/>
        </p:nvSpPr>
        <p:spPr bwMode="auto">
          <a:xfrm>
            <a:off x="3059113" y="2636838"/>
            <a:ext cx="433387"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61" name="Line 148"/>
          <p:cNvSpPr>
            <a:spLocks noChangeShapeType="1"/>
          </p:cNvSpPr>
          <p:nvPr/>
        </p:nvSpPr>
        <p:spPr bwMode="auto">
          <a:xfrm>
            <a:off x="3059113" y="2960688"/>
            <a:ext cx="433387"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62" name="Line 149"/>
          <p:cNvSpPr>
            <a:spLocks noChangeShapeType="1"/>
          </p:cNvSpPr>
          <p:nvPr/>
        </p:nvSpPr>
        <p:spPr bwMode="auto">
          <a:xfrm>
            <a:off x="7416800" y="2803525"/>
            <a:ext cx="503238"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563" name="Rectangle 150"/>
          <p:cNvSpPr>
            <a:spLocks noChangeArrowheads="1"/>
          </p:cNvSpPr>
          <p:nvPr/>
        </p:nvSpPr>
        <p:spPr bwMode="auto">
          <a:xfrm>
            <a:off x="5003800" y="2636838"/>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1600">
                <a:solidFill>
                  <a:srgbClr val="FF00FF"/>
                </a:solidFill>
              </a:rPr>
              <a:t>I/O</a:t>
            </a:r>
            <a:r>
              <a:rPr kumimoji="0" lang="zh-CN" altLang="en-US" sz="1600">
                <a:solidFill>
                  <a:srgbClr val="FF00FF"/>
                </a:solidFill>
              </a:rPr>
              <a:t>写</a:t>
            </a:r>
          </a:p>
        </p:txBody>
      </p:sp>
      <p:sp>
        <p:nvSpPr>
          <p:cNvPr id="147564" name="Rectangle 151"/>
          <p:cNvSpPr>
            <a:spLocks noChangeArrowheads="1"/>
          </p:cNvSpPr>
          <p:nvPr/>
        </p:nvSpPr>
        <p:spPr bwMode="auto">
          <a:xfrm>
            <a:off x="6624638" y="2624138"/>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1600">
                <a:solidFill>
                  <a:schemeClr val="folHlink"/>
                </a:solidFill>
              </a:rPr>
              <a:t>I/O</a:t>
            </a:r>
            <a:r>
              <a:rPr kumimoji="0" lang="zh-CN" altLang="en-US" sz="1600">
                <a:solidFill>
                  <a:schemeClr val="folHlink"/>
                </a:solidFill>
              </a:rPr>
              <a:t>读</a:t>
            </a:r>
          </a:p>
        </p:txBody>
      </p:sp>
      <p:cxnSp>
        <p:nvCxnSpPr>
          <p:cNvPr id="147565" name="AutoShape 152"/>
          <p:cNvCxnSpPr>
            <a:cxnSpLocks noChangeShapeType="1"/>
          </p:cNvCxnSpPr>
          <p:nvPr/>
        </p:nvCxnSpPr>
        <p:spPr bwMode="auto">
          <a:xfrm flipV="1">
            <a:off x="1800225" y="3192463"/>
            <a:ext cx="2159000" cy="20637"/>
          </a:xfrm>
          <a:prstGeom prst="straightConnector1">
            <a:avLst/>
          </a:prstGeom>
          <a:noFill/>
          <a:ln w="28575">
            <a:solidFill>
              <a:srgbClr val="666633"/>
            </a:solidFill>
            <a:miter lim="800000"/>
            <a:headEnd/>
            <a:tailEnd/>
          </a:ln>
          <a:extLst>
            <a:ext uri="{909E8E84-426E-40DD-AFC4-6F175D3DCCD1}">
              <a14:hiddenFill xmlns:a14="http://schemas.microsoft.com/office/drawing/2010/main">
                <a:noFill/>
              </a14:hiddenFill>
            </a:ext>
          </a:extLst>
        </p:spPr>
      </p:cxnSp>
      <p:cxnSp>
        <p:nvCxnSpPr>
          <p:cNvPr id="147566" name="AutoShape 153"/>
          <p:cNvCxnSpPr>
            <a:cxnSpLocks noChangeShapeType="1"/>
          </p:cNvCxnSpPr>
          <p:nvPr/>
        </p:nvCxnSpPr>
        <p:spPr bwMode="auto">
          <a:xfrm>
            <a:off x="2063750" y="3609975"/>
            <a:ext cx="179388" cy="358775"/>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7567" name="AutoShape 154"/>
          <p:cNvCxnSpPr>
            <a:cxnSpLocks noChangeShapeType="1"/>
          </p:cNvCxnSpPr>
          <p:nvPr/>
        </p:nvCxnSpPr>
        <p:spPr bwMode="auto">
          <a:xfrm>
            <a:off x="7658100" y="3648075"/>
            <a:ext cx="323850" cy="0"/>
          </a:xfrm>
          <a:prstGeom prst="straightConnector1">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45124"/>
                                        </p:tgtEl>
                                        <p:attrNameLst>
                                          <p:attrName>style.visibility</p:attrName>
                                        </p:attrNameLst>
                                      </p:cBhvr>
                                      <p:to>
                                        <p:strVal val="visible"/>
                                      </p:to>
                                    </p:set>
                                    <p:anim calcmode="lin" valueType="num">
                                      <p:cBhvr additive="base">
                                        <p:cTn id="7" dur="500" fill="hold"/>
                                        <p:tgtEl>
                                          <p:spTgt spid="645124"/>
                                        </p:tgtEl>
                                        <p:attrNameLst>
                                          <p:attrName>ppt_x</p:attrName>
                                        </p:attrNameLst>
                                      </p:cBhvr>
                                      <p:tavLst>
                                        <p:tav tm="0">
                                          <p:val>
                                            <p:strVal val="0-#ppt_w/2"/>
                                          </p:val>
                                        </p:tav>
                                        <p:tav tm="100000">
                                          <p:val>
                                            <p:strVal val="#ppt_x"/>
                                          </p:val>
                                        </p:tav>
                                      </p:tavLst>
                                    </p:anim>
                                    <p:anim calcmode="lin" valueType="num">
                                      <p:cBhvr additive="base">
                                        <p:cTn id="8" dur="500" fill="hold"/>
                                        <p:tgtEl>
                                          <p:spTgt spid="64512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645123"/>
                                        </p:tgtEl>
                                        <p:attrNameLst>
                                          <p:attrName>style.visibility</p:attrName>
                                        </p:attrNameLst>
                                      </p:cBhvr>
                                      <p:to>
                                        <p:strVal val="visible"/>
                                      </p:to>
                                    </p:set>
                                    <p:animEffect transition="in" filter="slide(fromTop)">
                                      <p:cBhvr>
                                        <p:cTn id="12" dur="500"/>
                                        <p:tgtEl>
                                          <p:spTgt spid="645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23" grpId="0" autoUpdateAnimBg="0"/>
      <p:bldP spid="645124" grpId="0" autoUpdateAnimBg="0"/>
    </p:bld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6146" name="Rectangle 2"/>
          <p:cNvSpPr>
            <a:spLocks noGrp="1" noChangeArrowheads="1"/>
          </p:cNvSpPr>
          <p:nvPr>
            <p:ph type="title"/>
          </p:nvPr>
        </p:nvSpPr>
        <p:spPr bwMode="auto">
          <a:xfrm>
            <a:off x="684213" y="1052513"/>
            <a:ext cx="7772400" cy="720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二、外设接口的速度配合</a:t>
            </a:r>
            <a:endParaRPr lang="zh-CN" altLang="en-US" b="1">
              <a:solidFill>
                <a:srgbClr val="FF0000"/>
              </a:solidFill>
              <a:latin typeface="Arial" panose="020B0604020202020204" pitchFamily="34" charset="0"/>
              <a:cs typeface="Arial" panose="020B0604020202020204" pitchFamily="34" charset="0"/>
            </a:endParaRPr>
          </a:p>
        </p:txBody>
      </p:sp>
      <p:sp>
        <p:nvSpPr>
          <p:cNvPr id="3076" name="Rectangle 3"/>
          <p:cNvSpPr>
            <a:spLocks noGrp="1" noChangeArrowheads="1"/>
          </p:cNvSpPr>
          <p:nvPr>
            <p:ph idx="1"/>
          </p:nvPr>
        </p:nvSpPr>
        <p:spPr bwMode="auto">
          <a:xfrm>
            <a:off x="609600" y="1828800"/>
            <a:ext cx="7924800" cy="1752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582613" eaLnBrk="1" hangingPunct="1">
              <a:buFontTx/>
              <a:buNone/>
            </a:pPr>
            <a:r>
              <a:rPr lang="en-US" altLang="zh-CN" sz="3600" b="1">
                <a:solidFill>
                  <a:srgbClr val="FF0066"/>
                </a:solidFill>
                <a:ea typeface="仿宋_GB2312" pitchFamily="49" charset="-122"/>
              </a:rPr>
              <a:t>1</a:t>
            </a:r>
            <a:r>
              <a:rPr lang="zh-CN" altLang="en-US" sz="3600" b="1">
                <a:solidFill>
                  <a:srgbClr val="FF0066"/>
                </a:solidFill>
                <a:ea typeface="仿宋_GB2312" pitchFamily="49" charset="-122"/>
              </a:rPr>
              <a:t>．对接口器件的速度要求</a:t>
            </a:r>
            <a:r>
              <a:rPr lang="zh-CN" altLang="en-US" sz="3600" b="1">
                <a:solidFill>
                  <a:srgbClr val="FF0066"/>
                </a:solidFill>
              </a:rPr>
              <a:t> </a:t>
            </a:r>
          </a:p>
          <a:p>
            <a:pPr marL="0" indent="582613" eaLnBrk="1" hangingPunct="1">
              <a:buFontTx/>
              <a:buNone/>
            </a:pPr>
            <a:r>
              <a:rPr lang="zh-CN" altLang="en-US" b="1">
                <a:latin typeface="宋体" panose="02010600030101010101" pitchFamily="2" charset="-122"/>
              </a:rPr>
              <a:t>外部存储器存取时间应小于</a:t>
            </a:r>
            <a:r>
              <a:rPr lang="en-US" altLang="zh-CN" b="1">
                <a:latin typeface="宋体" panose="02010600030101010101" pitchFamily="2" charset="-122"/>
              </a:rPr>
              <a:t>60%</a:t>
            </a:r>
            <a:r>
              <a:rPr lang="zh-CN" altLang="en-US" b="1">
                <a:latin typeface="宋体" panose="02010600030101010101" pitchFamily="2" charset="-122"/>
              </a:rPr>
              <a:t>的机器周期，否则需通过软件或硬件插入等待状态。</a:t>
            </a:r>
            <a:r>
              <a:rPr lang="zh-CN" altLang="en-US" b="1"/>
              <a:t> </a:t>
            </a:r>
          </a:p>
        </p:txBody>
      </p:sp>
      <p:sp>
        <p:nvSpPr>
          <p:cNvPr id="307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33EF9873-78E8-4565-ACA4-444E7B07CF12}" type="slidenum">
              <a:rPr lang="en-US" altLang="zh-CN" sz="1400" b="0"/>
              <a:pPr eaLnBrk="1" hangingPunct="1"/>
              <a:t>134</a:t>
            </a:fld>
            <a:endParaRPr lang="en-US" altLang="zh-CN" sz="1400" b="0"/>
          </a:p>
        </p:txBody>
      </p:sp>
      <p:graphicFrame>
        <p:nvGraphicFramePr>
          <p:cNvPr id="646148" name="Object 4"/>
          <p:cNvGraphicFramePr>
            <a:graphicFrameLocks noChangeAspect="1"/>
          </p:cNvGraphicFramePr>
          <p:nvPr/>
        </p:nvGraphicFramePr>
        <p:xfrm>
          <a:off x="1258888" y="3429000"/>
          <a:ext cx="6792912" cy="2470150"/>
        </p:xfrm>
        <a:graphic>
          <a:graphicData uri="http://schemas.openxmlformats.org/presentationml/2006/ole">
            <mc:AlternateContent xmlns:mc="http://schemas.openxmlformats.org/markup-compatibility/2006">
              <mc:Choice xmlns:v="urn:schemas-microsoft-com:vml" Requires="v">
                <p:oleObj spid="_x0000_s3102" name="BMP 图像" r:id="rId3" imgW="3086531" imgH="1609524" progId="PBrush">
                  <p:embed/>
                </p:oleObj>
              </mc:Choice>
              <mc:Fallback>
                <p:oleObj name="BMP 图像" r:id="rId3" imgW="3086531" imgH="1609524" progId="PBrush">
                  <p:embed/>
                  <p:pic>
                    <p:nvPicPr>
                      <p:cNvPr id="0"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3429000"/>
                        <a:ext cx="6792912" cy="24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tx2"/>
                            </a:solidFill>
                            <a:miter lim="800000"/>
                            <a:headEnd/>
                            <a:tailEnd/>
                          </a14:hiddenLine>
                        </a:ext>
                      </a:extLst>
                    </p:spPr>
                  </p:pic>
                </p:oleObj>
              </mc:Fallback>
            </mc:AlternateContent>
          </a:graphicData>
        </a:graphic>
      </p:graphicFrame>
      <p:sp>
        <p:nvSpPr>
          <p:cNvPr id="646149" name="Text Box 5"/>
          <p:cNvSpPr txBox="1">
            <a:spLocks noChangeArrowheads="1"/>
          </p:cNvSpPr>
          <p:nvPr/>
        </p:nvSpPr>
        <p:spPr bwMode="auto">
          <a:xfrm>
            <a:off x="2514600" y="6019800"/>
            <a:ext cx="423703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en-US" altLang="zh-CN" sz="2800">
                <a:latin typeface="宋体" panose="02010600030101010101" pitchFamily="2" charset="-122"/>
              </a:rPr>
              <a:t>  C54x</a:t>
            </a:r>
            <a:r>
              <a:rPr kumimoji="0" lang="zh-CN" altLang="en-US" sz="2800">
                <a:latin typeface="宋体" panose="02010600030101010101" pitchFamily="2" charset="-122"/>
              </a:rPr>
              <a:t>读操作定时简图</a:t>
            </a:r>
          </a:p>
          <a:p>
            <a:pPr algn="just"/>
            <a:endParaRPr kumimoji="0" lang="en-US" altLang="zh-CN" sz="100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46146"/>
                                        </p:tgtEl>
                                        <p:attrNameLst>
                                          <p:attrName>style.visibility</p:attrName>
                                        </p:attrNameLst>
                                      </p:cBhvr>
                                      <p:to>
                                        <p:strVal val="visible"/>
                                      </p:to>
                                    </p:set>
                                    <p:anim calcmode="lin" valueType="num">
                                      <p:cBhvr additive="base">
                                        <p:cTn id="7" dur="500" fill="hold"/>
                                        <p:tgtEl>
                                          <p:spTgt spid="646146"/>
                                        </p:tgtEl>
                                        <p:attrNameLst>
                                          <p:attrName>ppt_x</p:attrName>
                                        </p:attrNameLst>
                                      </p:cBhvr>
                                      <p:tavLst>
                                        <p:tav tm="0">
                                          <p:val>
                                            <p:strVal val="0-#ppt_w/2"/>
                                          </p:val>
                                        </p:tav>
                                        <p:tav tm="100000">
                                          <p:val>
                                            <p:strVal val="#ppt_x"/>
                                          </p:val>
                                        </p:tav>
                                      </p:tavLst>
                                    </p:anim>
                                    <p:anim calcmode="lin" valueType="num">
                                      <p:cBhvr additive="base">
                                        <p:cTn id="8" dur="500" fill="hold"/>
                                        <p:tgtEl>
                                          <p:spTgt spid="64614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9" presetClass="entr" presetSubtype="0" fill="hold" nodeType="afterEffect">
                                  <p:stCondLst>
                                    <p:cond delay="0"/>
                                  </p:stCondLst>
                                  <p:childTnLst>
                                    <p:set>
                                      <p:cBhvr>
                                        <p:cTn id="11" dur="1" fill="hold">
                                          <p:stCondLst>
                                            <p:cond delay="0"/>
                                          </p:stCondLst>
                                        </p:cTn>
                                        <p:tgtEl>
                                          <p:spTgt spid="646148"/>
                                        </p:tgtEl>
                                        <p:attrNameLst>
                                          <p:attrName>style.visibility</p:attrName>
                                        </p:attrNameLst>
                                      </p:cBhvr>
                                      <p:to>
                                        <p:strVal val="visible"/>
                                      </p:to>
                                    </p:set>
                                    <p:animEffect transition="in" filter="dissolve">
                                      <p:cBhvr>
                                        <p:cTn id="12" dur="500"/>
                                        <p:tgtEl>
                                          <p:spTgt spid="646148"/>
                                        </p:tgtEl>
                                      </p:cBhvr>
                                    </p:animEffect>
                                  </p:childTnLst>
                                </p:cTn>
                              </p:par>
                            </p:childTnLst>
                          </p:cTn>
                        </p:par>
                        <p:par>
                          <p:cTn id="13" fill="hold" nodeType="afterGroup">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646149"/>
                                        </p:tgtEl>
                                        <p:attrNameLst>
                                          <p:attrName>style.visibility</p:attrName>
                                        </p:attrNameLst>
                                      </p:cBhvr>
                                      <p:to>
                                        <p:strVal val="visible"/>
                                      </p:to>
                                    </p:set>
                                    <p:anim calcmode="lin" valueType="num">
                                      <p:cBhvr additive="base">
                                        <p:cTn id="16" dur="500" fill="hold"/>
                                        <p:tgtEl>
                                          <p:spTgt spid="646149"/>
                                        </p:tgtEl>
                                        <p:attrNameLst>
                                          <p:attrName>ppt_x</p:attrName>
                                        </p:attrNameLst>
                                      </p:cBhvr>
                                      <p:tavLst>
                                        <p:tav tm="0">
                                          <p:val>
                                            <p:strVal val="0-#ppt_w/2"/>
                                          </p:val>
                                        </p:tav>
                                        <p:tav tm="100000">
                                          <p:val>
                                            <p:strVal val="#ppt_x"/>
                                          </p:val>
                                        </p:tav>
                                      </p:tavLst>
                                    </p:anim>
                                    <p:anim calcmode="lin" valueType="num">
                                      <p:cBhvr additive="base">
                                        <p:cTn id="17" dur="500" fill="hold"/>
                                        <p:tgtEl>
                                          <p:spTgt spid="6461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146" grpId="0" autoUpdateAnimBg="0"/>
      <p:bldP spid="646149" grpId="0"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bwMode="auto">
          <a:xfrm>
            <a:off x="468313" y="1052513"/>
            <a:ext cx="8229600" cy="504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a:latin typeface="宋体" panose="02010600030101010101" pitchFamily="2" charset="-122"/>
              </a:rPr>
              <a:t>插入等待状态数与外部器件的存取时间的关系</a:t>
            </a:r>
            <a:endParaRPr lang="zh-CN" altLang="en-US" b="1"/>
          </a:p>
        </p:txBody>
      </p:sp>
      <p:graphicFrame>
        <p:nvGraphicFramePr>
          <p:cNvPr id="647269" name="Group 101"/>
          <p:cNvGraphicFramePr>
            <a:graphicFrameLocks noGrp="1"/>
          </p:cNvGraphicFramePr>
          <p:nvPr/>
        </p:nvGraphicFramePr>
        <p:xfrm>
          <a:off x="468313" y="1700213"/>
          <a:ext cx="8229600" cy="4446588"/>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746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外部器件的存取时间</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 ns</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插入等待状态数</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81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ta≤15</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77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ta≤40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611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ta≤65</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77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ta≤90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45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ta≤115</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477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115</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ta≤140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4850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8439DAB3-FC8A-486A-A8BD-98B3531D0765}" type="slidenum">
              <a:rPr lang="en-US" altLang="zh-CN" sz="1400" b="0"/>
              <a:pPr eaLnBrk="1" hangingPunct="1"/>
              <a:t>135</a:t>
            </a:fld>
            <a:endParaRPr lang="en-US" altLang="zh-CN" sz="1400" b="0"/>
          </a:p>
        </p:txBody>
      </p:sp>
      <p:sp>
        <p:nvSpPr>
          <p:cNvPr id="647216" name="Rectangle 48"/>
          <p:cNvSpPr>
            <a:spLocks noChangeArrowheads="1"/>
          </p:cNvSpPr>
          <p:nvPr/>
        </p:nvSpPr>
        <p:spPr bwMode="auto">
          <a:xfrm>
            <a:off x="1187450" y="6165850"/>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latin typeface="宋体" panose="02010600030101010101" pitchFamily="2" charset="-122"/>
              </a:rPr>
              <a:t>对于型号为</a:t>
            </a:r>
            <a:r>
              <a:rPr lang="en-US" altLang="zh-CN" sz="2400">
                <a:latin typeface="宋体" panose="02010600030101010101" pitchFamily="2" charset="-122"/>
              </a:rPr>
              <a:t>TMS320C54x-40</a:t>
            </a:r>
            <a:r>
              <a:rPr lang="zh-CN" altLang="en-US" sz="2400">
                <a:latin typeface="宋体" panose="02010600030101010101" pitchFamily="2" charset="-122"/>
              </a:rPr>
              <a:t>的</a:t>
            </a:r>
            <a:r>
              <a:rPr lang="en-US" altLang="zh-CN" sz="2400">
                <a:latin typeface="宋体" panose="02010600030101010101" pitchFamily="2" charset="-122"/>
              </a:rPr>
              <a:t>DSP</a:t>
            </a:r>
            <a:r>
              <a:rPr lang="zh-CN" altLang="en-US" sz="2400">
                <a:latin typeface="宋体" panose="02010600030101010101" pitchFamily="2" charset="-122"/>
              </a:rPr>
              <a:t>芯片</a:t>
            </a:r>
            <a:r>
              <a:rPr lang="zh-CN" altLang="en-US" sz="2400"/>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647170"/>
                                        </p:tgtEl>
                                        <p:attrNameLst>
                                          <p:attrName>style.visibility</p:attrName>
                                        </p:attrNameLst>
                                      </p:cBhvr>
                                      <p:to>
                                        <p:strVal val="visible"/>
                                      </p:to>
                                    </p:set>
                                    <p:anim calcmode="lin" valueType="num">
                                      <p:cBhvr additive="base">
                                        <p:cTn id="7" dur="500" fill="hold"/>
                                        <p:tgtEl>
                                          <p:spTgt spid="647170"/>
                                        </p:tgtEl>
                                        <p:attrNameLst>
                                          <p:attrName>ppt_x</p:attrName>
                                        </p:attrNameLst>
                                      </p:cBhvr>
                                      <p:tavLst>
                                        <p:tav tm="0">
                                          <p:val>
                                            <p:strVal val="0-#ppt_w/2"/>
                                          </p:val>
                                        </p:tav>
                                        <p:tav tm="100000">
                                          <p:val>
                                            <p:strVal val="#ppt_x"/>
                                          </p:val>
                                        </p:tav>
                                      </p:tavLst>
                                    </p:anim>
                                    <p:anim calcmode="lin" valueType="num">
                                      <p:cBhvr additive="base">
                                        <p:cTn id="8" dur="500" fill="hold"/>
                                        <p:tgtEl>
                                          <p:spTgt spid="647170"/>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647216"/>
                                        </p:tgtEl>
                                        <p:attrNameLst>
                                          <p:attrName>style.visibility</p:attrName>
                                        </p:attrNameLst>
                                      </p:cBhvr>
                                      <p:to>
                                        <p:strVal val="visible"/>
                                      </p:to>
                                    </p:set>
                                    <p:animEffect transition="in" filter="blinds(horizontal)">
                                      <p:cBhvr>
                                        <p:cTn id="12" dur="500"/>
                                        <p:tgtEl>
                                          <p:spTgt spid="647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0" grpId="0" autoUpdateAnimBg="0"/>
      <p:bldP spid="647216" grpId="0" autoUpdateAnimBg="0"/>
    </p:bldLst>
  </p:timing>
</p:sld>
</file>

<file path=ppt/slides/slide1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bwMode="auto">
          <a:xfrm>
            <a:off x="684213" y="981075"/>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ea typeface="仿宋_GB2312" pitchFamily="49" charset="-122"/>
              </a:rPr>
              <a:t>2</a:t>
            </a:r>
            <a:r>
              <a:rPr lang="zh-CN" altLang="en-US" b="1">
                <a:solidFill>
                  <a:srgbClr val="FF0000"/>
                </a:solidFill>
                <a:ea typeface="仿宋_GB2312" pitchFamily="49" charset="-122"/>
              </a:rPr>
              <a:t>．软件等待状态发生器</a:t>
            </a:r>
            <a:r>
              <a:rPr lang="zh-CN" altLang="en-US" b="1"/>
              <a:t> </a:t>
            </a:r>
          </a:p>
        </p:txBody>
      </p:sp>
      <p:sp>
        <p:nvSpPr>
          <p:cNvPr id="14950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31F8D25B-0B0A-4AE6-82A0-DB9DFB1DA068}" type="slidenum">
              <a:rPr lang="en-US" altLang="zh-CN" sz="1400" b="0"/>
              <a:pPr eaLnBrk="1" hangingPunct="1"/>
              <a:t>136</a:t>
            </a:fld>
            <a:endParaRPr lang="en-US" altLang="zh-CN" sz="1400" b="0"/>
          </a:p>
        </p:txBody>
      </p:sp>
      <p:sp>
        <p:nvSpPr>
          <p:cNvPr id="648197" name="Rectangle 5" descr="小棋盘"/>
          <p:cNvSpPr>
            <a:spLocks noChangeArrowheads="1"/>
          </p:cNvSpPr>
          <p:nvPr/>
        </p:nvSpPr>
        <p:spPr bwMode="auto">
          <a:xfrm>
            <a:off x="685800" y="3124200"/>
            <a:ext cx="5562600" cy="588963"/>
          </a:xfrm>
          <a:prstGeom prst="rect">
            <a:avLst/>
          </a:prstGeom>
          <a:pattFill prst="smCheck">
            <a:fgClr>
              <a:srgbClr val="FFFF00"/>
            </a:fgClr>
            <a:bgClr>
              <a:schemeClr val="bg1"/>
            </a:bgClr>
          </a:patt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chemeClr val="folHlink"/>
                </a:solidFill>
                <a:latin typeface="宋体" panose="02010600030101010101" pitchFamily="2" charset="-122"/>
              </a:rPr>
              <a:t>为什么要对外部存储器分块</a:t>
            </a:r>
            <a:r>
              <a:rPr lang="zh-CN" altLang="en-US" sz="3200">
                <a:solidFill>
                  <a:schemeClr val="folHlink"/>
                </a:solidFill>
              </a:rPr>
              <a:t> </a:t>
            </a:r>
          </a:p>
        </p:txBody>
      </p:sp>
      <p:sp>
        <p:nvSpPr>
          <p:cNvPr id="648198" name="Rectangle 6" descr="小棋盘"/>
          <p:cNvSpPr>
            <a:spLocks noChangeArrowheads="1"/>
          </p:cNvSpPr>
          <p:nvPr/>
        </p:nvSpPr>
        <p:spPr bwMode="auto">
          <a:xfrm>
            <a:off x="838200" y="2057400"/>
            <a:ext cx="1295400" cy="711200"/>
          </a:xfrm>
          <a:prstGeom prst="rect">
            <a:avLst/>
          </a:prstGeom>
          <a:pattFill prst="smCheck">
            <a:fgClr>
              <a:srgbClr val="FFFF00"/>
            </a:fgClr>
            <a:bgClr>
              <a:srgbClr val="FFFFFF"/>
            </a:bgClr>
          </a:pattFill>
          <a:ln w="9525">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000">
                <a:solidFill>
                  <a:srgbClr val="FF0066"/>
                </a:solidFill>
                <a:latin typeface="宋体" panose="02010600030101010101" pitchFamily="2" charset="-122"/>
              </a:rPr>
              <a:t>功能</a:t>
            </a:r>
          </a:p>
        </p:txBody>
      </p:sp>
      <p:sp>
        <p:nvSpPr>
          <p:cNvPr id="648199" name="AutoShape 7" descr="小棋盘"/>
          <p:cNvSpPr>
            <a:spLocks noChangeArrowheads="1"/>
          </p:cNvSpPr>
          <p:nvPr/>
        </p:nvSpPr>
        <p:spPr bwMode="auto">
          <a:xfrm>
            <a:off x="6324600" y="2895600"/>
            <a:ext cx="2362200" cy="762000"/>
          </a:xfrm>
          <a:prstGeom prst="wedgeRoundRectCallout">
            <a:avLst>
              <a:gd name="adj1" fmla="val -71440"/>
              <a:gd name="adj2" fmla="val 20417"/>
              <a:gd name="adj3" fmla="val 16667"/>
            </a:avLst>
          </a:prstGeom>
          <a:pattFill prst="smCheck">
            <a:fgClr>
              <a:srgbClr val="FFFF00"/>
            </a:fgClr>
            <a:bgClr>
              <a:srgbClr val="FFFFFF"/>
            </a:bgClr>
          </a:pattFill>
          <a:ln w="9525">
            <a:solidFill>
              <a:srgbClr val="FF00FF"/>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rgbClr val="006600"/>
                </a:solidFill>
              </a:rPr>
              <a:t>协调不同速度的外存器件</a:t>
            </a:r>
          </a:p>
        </p:txBody>
      </p:sp>
      <p:sp>
        <p:nvSpPr>
          <p:cNvPr id="648200" name="AutoShape 8" descr="小棋盘"/>
          <p:cNvSpPr>
            <a:spLocks noChangeArrowheads="1"/>
          </p:cNvSpPr>
          <p:nvPr/>
        </p:nvSpPr>
        <p:spPr bwMode="auto">
          <a:xfrm>
            <a:off x="2590800" y="1752600"/>
            <a:ext cx="5942013" cy="990600"/>
          </a:xfrm>
          <a:prstGeom prst="wedgeRoundRectCallout">
            <a:avLst>
              <a:gd name="adj1" fmla="val -55505"/>
              <a:gd name="adj2" fmla="val 18750"/>
              <a:gd name="adj3" fmla="val 16667"/>
            </a:avLst>
          </a:prstGeom>
          <a:pattFill prst="smCheck">
            <a:fgClr>
              <a:srgbClr val="FFFF00"/>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latin typeface="宋体" panose="02010600030101010101" pitchFamily="2" charset="-122"/>
              </a:rPr>
              <a:t>将外部总线周期延长多达</a:t>
            </a:r>
            <a:r>
              <a:rPr lang="en-US" altLang="zh-CN" sz="2800">
                <a:latin typeface="宋体" panose="02010600030101010101" pitchFamily="2" charset="-122"/>
              </a:rPr>
              <a:t>7</a:t>
            </a:r>
            <a:r>
              <a:rPr lang="zh-CN" altLang="en-US" sz="2800">
                <a:latin typeface="宋体" panose="02010600030101010101" pitchFamily="2" charset="-122"/>
              </a:rPr>
              <a:t>个机器周期</a:t>
            </a:r>
            <a:r>
              <a:rPr lang="en-US" altLang="zh-CN" sz="2800">
                <a:latin typeface="宋体" panose="02010600030101010101" pitchFamily="2" charset="-122"/>
              </a:rPr>
              <a:t>,</a:t>
            </a:r>
            <a:r>
              <a:rPr lang="zh-CN" altLang="en-US" sz="2800">
                <a:latin typeface="宋体" panose="02010600030101010101" pitchFamily="2" charset="-122"/>
              </a:rPr>
              <a:t>方便与外部慢速器件相接口</a:t>
            </a:r>
          </a:p>
        </p:txBody>
      </p:sp>
      <p:sp>
        <p:nvSpPr>
          <p:cNvPr id="149512" name="Rectangle 4"/>
          <p:cNvSpPr>
            <a:spLocks noChangeArrowheads="1"/>
          </p:cNvSpPr>
          <p:nvPr/>
        </p:nvSpPr>
        <p:spPr bwMode="auto">
          <a:xfrm>
            <a:off x="1763713" y="5734050"/>
            <a:ext cx="5791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00"/>
                </a:solidFill>
                <a:latin typeface="宋体" panose="02010600030101010101" pitchFamily="2" charset="-122"/>
              </a:rPr>
              <a:t>软件等待状态寄存器（</a:t>
            </a:r>
            <a:r>
              <a:rPr lang="en-US" altLang="zh-CN" sz="3200">
                <a:solidFill>
                  <a:srgbClr val="FF0000"/>
                </a:solidFill>
                <a:latin typeface="宋体" panose="02010600030101010101" pitchFamily="2" charset="-122"/>
              </a:rPr>
              <a:t>SWWSR</a:t>
            </a:r>
            <a:r>
              <a:rPr lang="zh-CN" altLang="en-US" sz="3200">
                <a:solidFill>
                  <a:srgbClr val="FF0000"/>
                </a:solidFill>
                <a:latin typeface="宋体" panose="02010600030101010101" pitchFamily="2" charset="-122"/>
              </a:rPr>
              <a:t>）</a:t>
            </a:r>
            <a:r>
              <a:rPr lang="zh-CN" altLang="en-US" sz="3200">
                <a:solidFill>
                  <a:srgbClr val="FF0000"/>
                </a:solidFill>
              </a:rPr>
              <a:t> </a:t>
            </a:r>
          </a:p>
        </p:txBody>
      </p:sp>
      <p:grpSp>
        <p:nvGrpSpPr>
          <p:cNvPr id="149513" name="Group 50"/>
          <p:cNvGrpSpPr>
            <a:grpSpLocks/>
          </p:cNvGrpSpPr>
          <p:nvPr/>
        </p:nvGrpSpPr>
        <p:grpSpPr bwMode="auto">
          <a:xfrm>
            <a:off x="468313" y="4005263"/>
            <a:ext cx="8148637" cy="1665287"/>
            <a:chOff x="340" y="2931"/>
            <a:chExt cx="5133" cy="1049"/>
          </a:xfrm>
        </p:grpSpPr>
        <p:sp>
          <p:nvSpPr>
            <p:cNvPr id="149515" name="Text Box 10"/>
            <p:cNvSpPr txBox="1">
              <a:spLocks noChangeArrowheads="1"/>
            </p:cNvSpPr>
            <p:nvPr/>
          </p:nvSpPr>
          <p:spPr bwMode="auto">
            <a:xfrm>
              <a:off x="340" y="3219"/>
              <a:ext cx="1004" cy="448"/>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t>保留</a:t>
              </a:r>
              <a:r>
                <a:rPr lang="en-US" altLang="zh-CN"/>
                <a:t>/XPA</a:t>
              </a:r>
            </a:p>
            <a:p>
              <a:pPr algn="ctr" eaLnBrk="1" hangingPunct="1"/>
              <a:r>
                <a:rPr lang="en-US" altLang="zh-CN"/>
                <a:t>(C548.C549)</a:t>
              </a:r>
            </a:p>
          </p:txBody>
        </p:sp>
        <p:sp>
          <p:nvSpPr>
            <p:cNvPr id="149516" name="Text Box 11"/>
            <p:cNvSpPr txBox="1">
              <a:spLocks noChangeArrowheads="1"/>
            </p:cNvSpPr>
            <p:nvPr/>
          </p:nvSpPr>
          <p:spPr bwMode="auto">
            <a:xfrm>
              <a:off x="748" y="2931"/>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15</a:t>
              </a:r>
            </a:p>
          </p:txBody>
        </p:sp>
        <p:grpSp>
          <p:nvGrpSpPr>
            <p:cNvPr id="149517" name="Group 47"/>
            <p:cNvGrpSpPr>
              <a:grpSpLocks/>
            </p:cNvGrpSpPr>
            <p:nvPr/>
          </p:nvGrpSpPr>
          <p:grpSpPr bwMode="auto">
            <a:xfrm>
              <a:off x="1344" y="2931"/>
              <a:ext cx="772" cy="736"/>
              <a:chOff x="1292" y="3521"/>
              <a:chExt cx="772" cy="736"/>
            </a:xfrm>
          </p:grpSpPr>
          <p:sp>
            <p:nvSpPr>
              <p:cNvPr id="149532" name="Text Box 13"/>
              <p:cNvSpPr txBox="1">
                <a:spLocks noChangeArrowheads="1"/>
              </p:cNvSpPr>
              <p:nvPr/>
            </p:nvSpPr>
            <p:spPr bwMode="auto">
              <a:xfrm>
                <a:off x="1292" y="3809"/>
                <a:ext cx="772" cy="448"/>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t>I/O</a:t>
                </a:r>
                <a:r>
                  <a:rPr lang="zh-CN" altLang="en-US"/>
                  <a:t>空间</a:t>
                </a:r>
              </a:p>
              <a:p>
                <a:pPr algn="ctr" eaLnBrk="1" hangingPunct="1"/>
                <a:r>
                  <a:rPr lang="en-US" altLang="zh-CN"/>
                  <a:t>(64k)</a:t>
                </a:r>
              </a:p>
            </p:txBody>
          </p:sp>
          <p:sp>
            <p:nvSpPr>
              <p:cNvPr id="149533" name="Text Box 14"/>
              <p:cNvSpPr txBox="1">
                <a:spLocks noChangeArrowheads="1"/>
              </p:cNvSpPr>
              <p:nvPr/>
            </p:nvSpPr>
            <p:spPr bwMode="auto">
              <a:xfrm>
                <a:off x="1383" y="3521"/>
                <a:ext cx="6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14</a:t>
                </a:r>
                <a:r>
                  <a:rPr lang="zh-CN" altLang="en-US"/>
                  <a:t>～</a:t>
                </a:r>
                <a:r>
                  <a:rPr lang="en-US" altLang="zh-CN"/>
                  <a:t>12</a:t>
                </a:r>
              </a:p>
            </p:txBody>
          </p:sp>
        </p:grpSp>
        <p:sp>
          <p:nvSpPr>
            <p:cNvPr id="149518" name="Text Box 20"/>
            <p:cNvSpPr txBox="1">
              <a:spLocks noChangeArrowheads="1"/>
            </p:cNvSpPr>
            <p:nvPr/>
          </p:nvSpPr>
          <p:spPr bwMode="auto">
            <a:xfrm>
              <a:off x="2116" y="3222"/>
              <a:ext cx="907" cy="448"/>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t>数据空间</a:t>
              </a:r>
            </a:p>
            <a:p>
              <a:pPr algn="ctr" eaLnBrk="1" hangingPunct="1"/>
              <a:r>
                <a:rPr lang="en-US" altLang="zh-CN"/>
                <a:t>(</a:t>
              </a:r>
              <a:r>
                <a:rPr lang="zh-CN" altLang="en-US"/>
                <a:t>高</a:t>
              </a:r>
              <a:r>
                <a:rPr lang="en-US" altLang="zh-CN"/>
                <a:t>32k)</a:t>
              </a:r>
            </a:p>
          </p:txBody>
        </p:sp>
        <p:sp>
          <p:nvSpPr>
            <p:cNvPr id="149519" name="Text Box 21"/>
            <p:cNvSpPr txBox="1">
              <a:spLocks noChangeArrowheads="1"/>
            </p:cNvSpPr>
            <p:nvPr/>
          </p:nvSpPr>
          <p:spPr bwMode="auto">
            <a:xfrm>
              <a:off x="2297" y="2931"/>
              <a:ext cx="5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11</a:t>
              </a:r>
              <a:r>
                <a:rPr lang="zh-CN" altLang="en-US"/>
                <a:t>～</a:t>
              </a:r>
              <a:r>
                <a:rPr lang="en-US" altLang="zh-CN"/>
                <a:t>9</a:t>
              </a:r>
            </a:p>
          </p:txBody>
        </p:sp>
        <p:sp>
          <p:nvSpPr>
            <p:cNvPr id="149520" name="Text Box 26"/>
            <p:cNvSpPr txBox="1">
              <a:spLocks noChangeArrowheads="1"/>
            </p:cNvSpPr>
            <p:nvPr/>
          </p:nvSpPr>
          <p:spPr bwMode="auto">
            <a:xfrm>
              <a:off x="3018" y="3222"/>
              <a:ext cx="776" cy="448"/>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数据空间</a:t>
              </a:r>
            </a:p>
            <a:p>
              <a:pPr eaLnBrk="1" hangingPunct="1"/>
              <a:r>
                <a:rPr lang="en-US" altLang="zh-CN"/>
                <a:t>(</a:t>
              </a:r>
              <a:r>
                <a:rPr lang="zh-CN" altLang="en-US"/>
                <a:t>低</a:t>
              </a:r>
              <a:r>
                <a:rPr lang="en-US" altLang="zh-CN"/>
                <a:t>32k)</a:t>
              </a:r>
            </a:p>
          </p:txBody>
        </p:sp>
        <p:sp>
          <p:nvSpPr>
            <p:cNvPr id="149521" name="Text Box 27"/>
            <p:cNvSpPr txBox="1">
              <a:spLocks noChangeArrowheads="1"/>
            </p:cNvSpPr>
            <p:nvPr/>
          </p:nvSpPr>
          <p:spPr bwMode="auto">
            <a:xfrm>
              <a:off x="3159" y="2931"/>
              <a:ext cx="4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8</a:t>
              </a:r>
              <a:r>
                <a:rPr lang="zh-CN" altLang="en-US"/>
                <a:t>～</a:t>
              </a:r>
              <a:r>
                <a:rPr lang="en-US" altLang="zh-CN"/>
                <a:t>6</a:t>
              </a:r>
            </a:p>
          </p:txBody>
        </p:sp>
        <p:sp>
          <p:nvSpPr>
            <p:cNvPr id="149522" name="Text Box 35"/>
            <p:cNvSpPr txBox="1">
              <a:spLocks noChangeArrowheads="1"/>
            </p:cNvSpPr>
            <p:nvPr/>
          </p:nvSpPr>
          <p:spPr bwMode="auto">
            <a:xfrm>
              <a:off x="4792" y="2931"/>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2 </a:t>
              </a:r>
              <a:r>
                <a:rPr lang="zh-CN" altLang="en-US">
                  <a:latin typeface="宋体" panose="02010600030101010101" pitchFamily="2" charset="-122"/>
                </a:rPr>
                <a:t>～</a:t>
              </a:r>
              <a:r>
                <a:rPr lang="zh-CN" altLang="en-US"/>
                <a:t> </a:t>
              </a:r>
              <a:r>
                <a:rPr lang="en-US" altLang="zh-CN"/>
                <a:t>0</a:t>
              </a:r>
            </a:p>
          </p:txBody>
        </p:sp>
        <p:sp>
          <p:nvSpPr>
            <p:cNvPr id="149523" name="Text Box 37"/>
            <p:cNvSpPr txBox="1">
              <a:spLocks noChangeArrowheads="1"/>
            </p:cNvSpPr>
            <p:nvPr/>
          </p:nvSpPr>
          <p:spPr bwMode="auto">
            <a:xfrm>
              <a:off x="3790" y="3222"/>
              <a:ext cx="907" cy="448"/>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t>程序空间</a:t>
              </a:r>
            </a:p>
            <a:p>
              <a:pPr algn="ctr" eaLnBrk="1" hangingPunct="1"/>
              <a:r>
                <a:rPr lang="en-US" altLang="zh-CN"/>
                <a:t>(</a:t>
              </a:r>
              <a:r>
                <a:rPr lang="zh-CN" altLang="en-US"/>
                <a:t>高</a:t>
              </a:r>
              <a:r>
                <a:rPr lang="en-US" altLang="zh-CN"/>
                <a:t>32k)</a:t>
              </a:r>
            </a:p>
          </p:txBody>
        </p:sp>
        <p:sp>
          <p:nvSpPr>
            <p:cNvPr id="149524" name="Text Box 38"/>
            <p:cNvSpPr txBox="1">
              <a:spLocks noChangeArrowheads="1"/>
            </p:cNvSpPr>
            <p:nvPr/>
          </p:nvSpPr>
          <p:spPr bwMode="auto">
            <a:xfrm>
              <a:off x="4697" y="3222"/>
              <a:ext cx="776" cy="448"/>
            </a:xfrm>
            <a:prstGeom prst="rect">
              <a:avLst/>
            </a:prstGeom>
            <a:solidFill>
              <a:srgbClr val="FFFF00"/>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程序空间</a:t>
              </a:r>
            </a:p>
            <a:p>
              <a:pPr eaLnBrk="1" hangingPunct="1"/>
              <a:r>
                <a:rPr lang="en-US" altLang="zh-CN"/>
                <a:t>(</a:t>
              </a:r>
              <a:r>
                <a:rPr lang="zh-CN" altLang="en-US"/>
                <a:t>低</a:t>
              </a:r>
              <a:r>
                <a:rPr lang="en-US" altLang="zh-CN"/>
                <a:t>32k)</a:t>
              </a:r>
            </a:p>
          </p:txBody>
        </p:sp>
        <p:sp>
          <p:nvSpPr>
            <p:cNvPr id="149525" name="Text Box 40"/>
            <p:cNvSpPr txBox="1">
              <a:spLocks noChangeArrowheads="1"/>
            </p:cNvSpPr>
            <p:nvPr/>
          </p:nvSpPr>
          <p:spPr bwMode="auto">
            <a:xfrm>
              <a:off x="3975" y="2931"/>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5 </a:t>
              </a:r>
              <a:r>
                <a:rPr lang="zh-CN" altLang="en-US">
                  <a:latin typeface="宋体" panose="02010600030101010101" pitchFamily="2" charset="-122"/>
                </a:rPr>
                <a:t>～</a:t>
              </a:r>
              <a:r>
                <a:rPr lang="zh-CN" altLang="en-US"/>
                <a:t> </a:t>
              </a:r>
              <a:r>
                <a:rPr lang="en-US" altLang="zh-CN"/>
                <a:t>3</a:t>
              </a:r>
            </a:p>
          </p:txBody>
        </p:sp>
        <p:sp>
          <p:nvSpPr>
            <p:cNvPr id="149526" name="Text Box 41"/>
            <p:cNvSpPr txBox="1">
              <a:spLocks noChangeArrowheads="1"/>
            </p:cNvSpPr>
            <p:nvPr/>
          </p:nvSpPr>
          <p:spPr bwMode="auto">
            <a:xfrm>
              <a:off x="664" y="373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a:t>
              </a:r>
            </a:p>
          </p:txBody>
        </p:sp>
        <p:sp>
          <p:nvSpPr>
            <p:cNvPr id="149527" name="Text Box 42"/>
            <p:cNvSpPr txBox="1">
              <a:spLocks noChangeArrowheads="1"/>
            </p:cNvSpPr>
            <p:nvPr/>
          </p:nvSpPr>
          <p:spPr bwMode="auto">
            <a:xfrm>
              <a:off x="1481" y="3730"/>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R/W</a:t>
              </a:r>
            </a:p>
          </p:txBody>
        </p:sp>
        <p:sp>
          <p:nvSpPr>
            <p:cNvPr id="149528" name="Text Box 43"/>
            <p:cNvSpPr txBox="1">
              <a:spLocks noChangeArrowheads="1"/>
            </p:cNvSpPr>
            <p:nvPr/>
          </p:nvSpPr>
          <p:spPr bwMode="auto">
            <a:xfrm>
              <a:off x="2342" y="3730"/>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R/W</a:t>
              </a:r>
            </a:p>
          </p:txBody>
        </p:sp>
        <p:sp>
          <p:nvSpPr>
            <p:cNvPr id="149529" name="Text Box 44"/>
            <p:cNvSpPr txBox="1">
              <a:spLocks noChangeArrowheads="1"/>
            </p:cNvSpPr>
            <p:nvPr/>
          </p:nvSpPr>
          <p:spPr bwMode="auto">
            <a:xfrm>
              <a:off x="3204" y="3730"/>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R/W</a:t>
              </a:r>
            </a:p>
          </p:txBody>
        </p:sp>
        <p:sp>
          <p:nvSpPr>
            <p:cNvPr id="149530" name="Text Box 45"/>
            <p:cNvSpPr txBox="1">
              <a:spLocks noChangeArrowheads="1"/>
            </p:cNvSpPr>
            <p:nvPr/>
          </p:nvSpPr>
          <p:spPr bwMode="auto">
            <a:xfrm>
              <a:off x="4066" y="3730"/>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R/W</a:t>
              </a:r>
            </a:p>
          </p:txBody>
        </p:sp>
        <p:sp>
          <p:nvSpPr>
            <p:cNvPr id="149531" name="Text Box 46"/>
            <p:cNvSpPr txBox="1">
              <a:spLocks noChangeArrowheads="1"/>
            </p:cNvSpPr>
            <p:nvPr/>
          </p:nvSpPr>
          <p:spPr bwMode="auto">
            <a:xfrm>
              <a:off x="4792" y="3730"/>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R/W</a:t>
              </a:r>
            </a:p>
          </p:txBody>
        </p:sp>
      </p:grpSp>
      <p:sp>
        <p:nvSpPr>
          <p:cNvPr id="149514" name="AutoShape 51"/>
          <p:cNvSpPr>
            <a:spLocks noChangeArrowheads="1"/>
          </p:cNvSpPr>
          <p:nvPr/>
        </p:nvSpPr>
        <p:spPr bwMode="auto">
          <a:xfrm rot="-5838148">
            <a:off x="296069" y="5201444"/>
            <a:ext cx="1062037" cy="1152525"/>
          </a:xfrm>
          <a:custGeom>
            <a:avLst/>
            <a:gdLst>
              <a:gd name="T0" fmla="*/ 22362170 w 21600"/>
              <a:gd name="T1" fmla="*/ 0 h 21600"/>
              <a:gd name="T2" fmla="*/ 7385534 w 21600"/>
              <a:gd name="T3" fmla="*/ 61496017 h 21600"/>
              <a:gd name="T4" fmla="*/ 23510498 w 21600"/>
              <a:gd name="T5" fmla="*/ 23658882 h 21600"/>
              <a:gd name="T6" fmla="*/ 37863339 w 21600"/>
              <a:gd name="T7" fmla="*/ 40669938 h 21600"/>
              <a:gd name="T8" fmla="*/ 52218644 w 21600"/>
              <a:gd name="T9" fmla="*/ 23658882 h 21600"/>
              <a:gd name="T10" fmla="*/ 17694720 60000 65536"/>
              <a:gd name="T11" fmla="*/ 5898240 60000 65536"/>
              <a:gd name="T12" fmla="*/ 5898240 60000 65536"/>
              <a:gd name="T13" fmla="*/ 5898240 60000 65536"/>
              <a:gd name="T14" fmla="*/ 0 60000 65536"/>
              <a:gd name="T15" fmla="*/ 0 w 21600"/>
              <a:gd name="T16" fmla="*/ 8310 h 21600"/>
              <a:gd name="T17" fmla="*/ 611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close/>
              </a:path>
            </a:pathLst>
          </a:custGeom>
          <a:solidFill>
            <a:srgbClr val="00FFFF"/>
          </a:solidFill>
          <a:ln w="9525">
            <a:solidFill>
              <a:schemeClr val="tx1"/>
            </a:solidFill>
            <a:miter lim="800000"/>
            <a:headEnd/>
            <a:tailEnd/>
          </a:ln>
        </p:spPr>
        <p:txBody>
          <a:bodyPr wrap="none" anchor="ctr"/>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648194"/>
                                        </p:tgtEl>
                                        <p:attrNameLst>
                                          <p:attrName>style.visibility</p:attrName>
                                        </p:attrNameLst>
                                      </p:cBhvr>
                                      <p:to>
                                        <p:strVal val="visible"/>
                                      </p:to>
                                    </p:set>
                                    <p:anim calcmode="lin" valueType="num">
                                      <p:cBhvr>
                                        <p:cTn id="7" dur="1000" fill="hold"/>
                                        <p:tgtEl>
                                          <p:spTgt spid="648194"/>
                                        </p:tgtEl>
                                        <p:attrNameLst>
                                          <p:attrName>ppt_w</p:attrName>
                                        </p:attrNameLst>
                                      </p:cBhvr>
                                      <p:tavLst>
                                        <p:tav tm="0">
                                          <p:val>
                                            <p:fltVal val="0"/>
                                          </p:val>
                                        </p:tav>
                                        <p:tav tm="100000">
                                          <p:val>
                                            <p:strVal val="#ppt_w"/>
                                          </p:val>
                                        </p:tav>
                                      </p:tavLst>
                                    </p:anim>
                                    <p:anim calcmode="lin" valueType="num">
                                      <p:cBhvr>
                                        <p:cTn id="8" dur="1000" fill="hold"/>
                                        <p:tgtEl>
                                          <p:spTgt spid="648194"/>
                                        </p:tgtEl>
                                        <p:attrNameLst>
                                          <p:attrName>ppt_h</p:attrName>
                                        </p:attrNameLst>
                                      </p:cBhvr>
                                      <p:tavLst>
                                        <p:tav tm="0">
                                          <p:val>
                                            <p:fltVal val="0"/>
                                          </p:val>
                                        </p:tav>
                                        <p:tav tm="100000">
                                          <p:val>
                                            <p:strVal val="#ppt_h"/>
                                          </p:val>
                                        </p:tav>
                                      </p:tavLst>
                                    </p:anim>
                                    <p:anim calcmode="lin" valueType="num">
                                      <p:cBhvr>
                                        <p:cTn id="9" dur="1000" fill="hold"/>
                                        <p:tgtEl>
                                          <p:spTgt spid="64819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48194"/>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12" presetClass="entr" presetSubtype="8" fill="hold" grpId="0" nodeType="afterEffect">
                                  <p:stCondLst>
                                    <p:cond delay="0"/>
                                  </p:stCondLst>
                                  <p:childTnLst>
                                    <p:set>
                                      <p:cBhvr>
                                        <p:cTn id="13" dur="1" fill="hold">
                                          <p:stCondLst>
                                            <p:cond delay="0"/>
                                          </p:stCondLst>
                                        </p:cTn>
                                        <p:tgtEl>
                                          <p:spTgt spid="648198"/>
                                        </p:tgtEl>
                                        <p:attrNameLst>
                                          <p:attrName>style.visibility</p:attrName>
                                        </p:attrNameLst>
                                      </p:cBhvr>
                                      <p:to>
                                        <p:strVal val="visible"/>
                                      </p:to>
                                    </p:set>
                                    <p:animEffect transition="in" filter="slide(fromLeft)">
                                      <p:cBhvr>
                                        <p:cTn id="14" dur="500"/>
                                        <p:tgtEl>
                                          <p:spTgt spid="648198"/>
                                        </p:tgtEl>
                                      </p:cBhvr>
                                    </p:animEffect>
                                  </p:childTnLst>
                                </p:cTn>
                              </p:par>
                            </p:childTnLst>
                          </p:cTn>
                        </p:par>
                        <p:par>
                          <p:cTn id="15" fill="hold" nodeType="afterGroup">
                            <p:stCondLst>
                              <p:cond delay="1500"/>
                            </p:stCondLst>
                            <p:childTnLst>
                              <p:par>
                                <p:cTn id="16" presetID="2" presetClass="entr" presetSubtype="8" fill="hold" grpId="0" nodeType="afterEffect">
                                  <p:stCondLst>
                                    <p:cond delay="0"/>
                                  </p:stCondLst>
                                  <p:childTnLst>
                                    <p:set>
                                      <p:cBhvr>
                                        <p:cTn id="17" dur="1" fill="hold">
                                          <p:stCondLst>
                                            <p:cond delay="0"/>
                                          </p:stCondLst>
                                        </p:cTn>
                                        <p:tgtEl>
                                          <p:spTgt spid="648197"/>
                                        </p:tgtEl>
                                        <p:attrNameLst>
                                          <p:attrName>style.visibility</p:attrName>
                                        </p:attrNameLst>
                                      </p:cBhvr>
                                      <p:to>
                                        <p:strVal val="visible"/>
                                      </p:to>
                                    </p:set>
                                    <p:anim calcmode="lin" valueType="num">
                                      <p:cBhvr additive="base">
                                        <p:cTn id="18" dur="500" fill="hold"/>
                                        <p:tgtEl>
                                          <p:spTgt spid="648197"/>
                                        </p:tgtEl>
                                        <p:attrNameLst>
                                          <p:attrName>ppt_x</p:attrName>
                                        </p:attrNameLst>
                                      </p:cBhvr>
                                      <p:tavLst>
                                        <p:tav tm="0">
                                          <p:val>
                                            <p:strVal val="0-#ppt_w/2"/>
                                          </p:val>
                                        </p:tav>
                                        <p:tav tm="100000">
                                          <p:val>
                                            <p:strVal val="#ppt_x"/>
                                          </p:val>
                                        </p:tav>
                                      </p:tavLst>
                                    </p:anim>
                                    <p:anim calcmode="lin" valueType="num">
                                      <p:cBhvr additive="base">
                                        <p:cTn id="19" dur="500" fill="hold"/>
                                        <p:tgtEl>
                                          <p:spTgt spid="648197"/>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2000"/>
                            </p:stCondLst>
                            <p:childTnLst>
                              <p:par>
                                <p:cTn id="21" presetID="2" presetClass="entr" presetSubtype="2" fill="hold" grpId="0" nodeType="afterEffect">
                                  <p:stCondLst>
                                    <p:cond delay="0"/>
                                  </p:stCondLst>
                                  <p:childTnLst>
                                    <p:set>
                                      <p:cBhvr>
                                        <p:cTn id="22" dur="1" fill="hold">
                                          <p:stCondLst>
                                            <p:cond delay="0"/>
                                          </p:stCondLst>
                                        </p:cTn>
                                        <p:tgtEl>
                                          <p:spTgt spid="648199"/>
                                        </p:tgtEl>
                                        <p:attrNameLst>
                                          <p:attrName>style.visibility</p:attrName>
                                        </p:attrNameLst>
                                      </p:cBhvr>
                                      <p:to>
                                        <p:strVal val="visible"/>
                                      </p:to>
                                    </p:set>
                                    <p:anim calcmode="lin" valueType="num">
                                      <p:cBhvr additive="base">
                                        <p:cTn id="23" dur="500" fill="hold"/>
                                        <p:tgtEl>
                                          <p:spTgt spid="648199"/>
                                        </p:tgtEl>
                                        <p:attrNameLst>
                                          <p:attrName>ppt_x</p:attrName>
                                        </p:attrNameLst>
                                      </p:cBhvr>
                                      <p:tavLst>
                                        <p:tav tm="0">
                                          <p:val>
                                            <p:strVal val="1+#ppt_w/2"/>
                                          </p:val>
                                        </p:tav>
                                        <p:tav tm="100000">
                                          <p:val>
                                            <p:strVal val="#ppt_x"/>
                                          </p:val>
                                        </p:tav>
                                      </p:tavLst>
                                    </p:anim>
                                    <p:anim calcmode="lin" valueType="num">
                                      <p:cBhvr additive="base">
                                        <p:cTn id="24" dur="500" fill="hold"/>
                                        <p:tgtEl>
                                          <p:spTgt spid="648199"/>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2500"/>
                            </p:stCondLst>
                            <p:childTnLst>
                              <p:par>
                                <p:cTn id="26" presetID="2" presetClass="entr" presetSubtype="2" fill="hold" grpId="0" nodeType="afterEffect">
                                  <p:stCondLst>
                                    <p:cond delay="0"/>
                                  </p:stCondLst>
                                  <p:childTnLst>
                                    <p:set>
                                      <p:cBhvr>
                                        <p:cTn id="27" dur="1" fill="hold">
                                          <p:stCondLst>
                                            <p:cond delay="0"/>
                                          </p:stCondLst>
                                        </p:cTn>
                                        <p:tgtEl>
                                          <p:spTgt spid="648200"/>
                                        </p:tgtEl>
                                        <p:attrNameLst>
                                          <p:attrName>style.visibility</p:attrName>
                                        </p:attrNameLst>
                                      </p:cBhvr>
                                      <p:to>
                                        <p:strVal val="visible"/>
                                      </p:to>
                                    </p:set>
                                    <p:anim calcmode="lin" valueType="num">
                                      <p:cBhvr additive="base">
                                        <p:cTn id="28" dur="500" fill="hold"/>
                                        <p:tgtEl>
                                          <p:spTgt spid="648200"/>
                                        </p:tgtEl>
                                        <p:attrNameLst>
                                          <p:attrName>ppt_x</p:attrName>
                                        </p:attrNameLst>
                                      </p:cBhvr>
                                      <p:tavLst>
                                        <p:tav tm="0">
                                          <p:val>
                                            <p:strVal val="1+#ppt_w/2"/>
                                          </p:val>
                                        </p:tav>
                                        <p:tav tm="100000">
                                          <p:val>
                                            <p:strVal val="#ppt_x"/>
                                          </p:val>
                                        </p:tav>
                                      </p:tavLst>
                                    </p:anim>
                                    <p:anim calcmode="lin" valueType="num">
                                      <p:cBhvr additive="base">
                                        <p:cTn id="29" dur="500" fill="hold"/>
                                        <p:tgtEl>
                                          <p:spTgt spid="6482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4" grpId="0" autoUpdateAnimBg="0"/>
      <p:bldP spid="648197" grpId="0" animBg="1" autoUpdateAnimBg="0"/>
      <p:bldP spid="648198" grpId="0" animBg="1" autoUpdateAnimBg="0"/>
      <p:bldP spid="648199" grpId="0" animBg="1" autoUpdateAnimBg="0"/>
      <p:bldP spid="648200" grpId="0" animBg="1"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9218" name="Rectangle 2"/>
          <p:cNvSpPr>
            <a:spLocks noGrp="1" noChangeArrowheads="1"/>
          </p:cNvSpPr>
          <p:nvPr>
            <p:ph type="title"/>
          </p:nvPr>
        </p:nvSpPr>
        <p:spPr bwMode="auto">
          <a:xfrm>
            <a:off x="2590800" y="990600"/>
            <a:ext cx="4141788"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等待应用举例</a:t>
            </a:r>
            <a:r>
              <a:rPr lang="zh-CN" altLang="en-US" b="1"/>
              <a:t> </a:t>
            </a:r>
          </a:p>
        </p:txBody>
      </p:sp>
      <p:sp>
        <p:nvSpPr>
          <p:cNvPr id="150531" name="Rectangle 3"/>
          <p:cNvSpPr>
            <a:spLocks noGrp="1" noChangeArrowheads="1"/>
          </p:cNvSpPr>
          <p:nvPr>
            <p:ph idx="1"/>
          </p:nvPr>
        </p:nvSpPr>
        <p:spPr bwMode="auto">
          <a:xfrm>
            <a:off x="838200" y="1752600"/>
            <a:ext cx="73152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lnSpc>
                <a:spcPct val="90000"/>
              </a:lnSpc>
              <a:buFontTx/>
              <a:buNone/>
            </a:pPr>
            <a:r>
              <a:rPr lang="zh-CN" altLang="en-US" b="1">
                <a:latin typeface="宋体" panose="02010600030101010101" pitchFamily="2" charset="-122"/>
              </a:rPr>
              <a:t>为程序空间和</a:t>
            </a:r>
            <a:r>
              <a:rPr lang="en-US" altLang="zh-CN" b="1">
                <a:latin typeface="宋体" panose="02010600030101010101" pitchFamily="2" charset="-122"/>
              </a:rPr>
              <a:t>I/O</a:t>
            </a:r>
            <a:r>
              <a:rPr lang="zh-CN" altLang="en-US" b="1">
                <a:latin typeface="宋体" panose="02010600030101010101" pitchFamily="2" charset="-122"/>
              </a:rPr>
              <a:t>空间插入</a:t>
            </a:r>
            <a:r>
              <a:rPr lang="en-US" altLang="zh-CN" b="1">
                <a:latin typeface="宋体" panose="02010600030101010101" pitchFamily="2" charset="-122"/>
              </a:rPr>
              <a:t>3</a:t>
            </a:r>
            <a:r>
              <a:rPr lang="zh-CN" altLang="en-US" b="1">
                <a:latin typeface="宋体" panose="02010600030101010101" pitchFamily="2" charset="-122"/>
              </a:rPr>
              <a:t>个等待状态</a:t>
            </a:r>
            <a:r>
              <a:rPr lang="zh-CN" altLang="en-US" b="1"/>
              <a:t> </a:t>
            </a:r>
          </a:p>
        </p:txBody>
      </p:sp>
      <p:sp>
        <p:nvSpPr>
          <p:cNvPr id="15053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2D79F6F-9EF3-4F66-9F04-716A0571BB69}" type="slidenum">
              <a:rPr lang="en-US" altLang="zh-CN" sz="1400" b="0"/>
              <a:pPr eaLnBrk="1" hangingPunct="1"/>
              <a:t>137</a:t>
            </a:fld>
            <a:endParaRPr lang="en-US" altLang="zh-CN" sz="1400" b="0"/>
          </a:p>
        </p:txBody>
      </p:sp>
      <p:sp>
        <p:nvSpPr>
          <p:cNvPr id="649221" name="Text Box 5"/>
          <p:cNvSpPr txBox="1">
            <a:spLocks noChangeArrowheads="1"/>
          </p:cNvSpPr>
          <p:nvPr/>
        </p:nvSpPr>
        <p:spPr bwMode="auto">
          <a:xfrm>
            <a:off x="1403350" y="5661025"/>
            <a:ext cx="63246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lnSpc>
                <a:spcPct val="128000"/>
              </a:lnSpc>
            </a:pPr>
            <a:r>
              <a:rPr kumimoji="0" lang="en-US" altLang="zh-CN" sz="2400">
                <a:latin typeface="宋体" panose="02010600030101010101" pitchFamily="2" charset="-122"/>
              </a:rPr>
              <a:t> </a:t>
            </a:r>
            <a:r>
              <a:rPr kumimoji="0" lang="en-US" altLang="zh-CN" sz="3200">
                <a:latin typeface="宋体" panose="02010600030101010101" pitchFamily="2" charset="-122"/>
              </a:rPr>
              <a:t>C54x</a:t>
            </a:r>
            <a:r>
              <a:rPr kumimoji="0" lang="zh-CN" altLang="en-US" sz="3200">
                <a:latin typeface="宋体" panose="02010600030101010101" pitchFamily="2" charset="-122"/>
              </a:rPr>
              <a:t>等待状态发生器的逻辑框图</a:t>
            </a:r>
            <a:endParaRPr kumimoji="0" lang="zh-CN" altLang="en-US" sz="2400"/>
          </a:p>
        </p:txBody>
      </p:sp>
      <p:sp>
        <p:nvSpPr>
          <p:cNvPr id="150534" name="Line 29"/>
          <p:cNvSpPr>
            <a:spLocks noChangeShapeType="1"/>
          </p:cNvSpPr>
          <p:nvPr/>
        </p:nvSpPr>
        <p:spPr bwMode="auto">
          <a:xfrm>
            <a:off x="2268538" y="3213100"/>
            <a:ext cx="503237" cy="0"/>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0535" name="Text Box 21"/>
          <p:cNvSpPr txBox="1">
            <a:spLocks noChangeArrowheads="1"/>
          </p:cNvSpPr>
          <p:nvPr/>
        </p:nvSpPr>
        <p:spPr bwMode="auto">
          <a:xfrm>
            <a:off x="5653088" y="2492375"/>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SWWSR</a:t>
            </a:r>
          </a:p>
        </p:txBody>
      </p:sp>
      <p:sp>
        <p:nvSpPr>
          <p:cNvPr id="150536" name="Oval 28"/>
          <p:cNvSpPr>
            <a:spLocks noChangeArrowheads="1"/>
          </p:cNvSpPr>
          <p:nvPr/>
        </p:nvSpPr>
        <p:spPr bwMode="auto">
          <a:xfrm>
            <a:off x="3132138" y="4926013"/>
            <a:ext cx="71437" cy="71437"/>
          </a:xfrm>
          <a:prstGeom prst="ellipse">
            <a:avLst/>
          </a:prstGeom>
          <a:solidFill>
            <a:schemeClr val="accent1"/>
          </a:solidFill>
          <a:ln w="9525">
            <a:solidFill>
              <a:srgbClr val="FF00FF"/>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0537" name="Text Box 6"/>
          <p:cNvSpPr txBox="1">
            <a:spLocks noChangeArrowheads="1"/>
          </p:cNvSpPr>
          <p:nvPr/>
        </p:nvSpPr>
        <p:spPr bwMode="auto">
          <a:xfrm>
            <a:off x="611188" y="2925763"/>
            <a:ext cx="1657350" cy="2235200"/>
          </a:xfrm>
          <a:prstGeom prst="rect">
            <a:avLst/>
          </a:prstGeom>
          <a:solidFill>
            <a:srgbClr val="00FFFF"/>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p:txBody>
      </p:sp>
      <p:sp>
        <p:nvSpPr>
          <p:cNvPr id="150538" name="Text Box 7"/>
          <p:cNvSpPr txBox="1">
            <a:spLocks noChangeArrowheads="1"/>
          </p:cNvSpPr>
          <p:nvPr/>
        </p:nvSpPr>
        <p:spPr bwMode="auto">
          <a:xfrm>
            <a:off x="1403350" y="2941638"/>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PSEL</a:t>
            </a:r>
          </a:p>
        </p:txBody>
      </p:sp>
      <p:sp>
        <p:nvSpPr>
          <p:cNvPr id="150539" name="Text Box 8"/>
          <p:cNvSpPr txBox="1">
            <a:spLocks noChangeArrowheads="1"/>
          </p:cNvSpPr>
          <p:nvPr/>
        </p:nvSpPr>
        <p:spPr bwMode="auto">
          <a:xfrm>
            <a:off x="1403350" y="3302000"/>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A15</a:t>
            </a:r>
          </a:p>
        </p:txBody>
      </p:sp>
      <p:sp>
        <p:nvSpPr>
          <p:cNvPr id="150540" name="Text Box 9"/>
          <p:cNvSpPr txBox="1">
            <a:spLocks noChangeArrowheads="1"/>
          </p:cNvSpPr>
          <p:nvPr/>
        </p:nvSpPr>
        <p:spPr bwMode="auto">
          <a:xfrm>
            <a:off x="1187450" y="4076700"/>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CYCLE</a:t>
            </a:r>
          </a:p>
        </p:txBody>
      </p:sp>
      <p:sp>
        <p:nvSpPr>
          <p:cNvPr id="150541" name="Text Box 10"/>
          <p:cNvSpPr txBox="1">
            <a:spLocks noChangeArrowheads="1"/>
          </p:cNvSpPr>
          <p:nvPr/>
        </p:nvSpPr>
        <p:spPr bwMode="auto">
          <a:xfrm>
            <a:off x="1187450" y="4581525"/>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WAIT</a:t>
            </a:r>
          </a:p>
        </p:txBody>
      </p:sp>
      <p:sp>
        <p:nvSpPr>
          <p:cNvPr id="150542" name="Text Box 11"/>
          <p:cNvSpPr txBox="1">
            <a:spLocks noChangeArrowheads="1"/>
          </p:cNvSpPr>
          <p:nvPr/>
        </p:nvSpPr>
        <p:spPr bwMode="auto">
          <a:xfrm>
            <a:off x="684213" y="3573463"/>
            <a:ext cx="12239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3200">
                <a:solidFill>
                  <a:srgbClr val="FF0000"/>
                </a:solidFill>
              </a:rPr>
              <a:t>CPU</a:t>
            </a:r>
          </a:p>
        </p:txBody>
      </p:sp>
      <p:sp>
        <p:nvSpPr>
          <p:cNvPr id="150543" name="Text Box 12"/>
          <p:cNvSpPr txBox="1">
            <a:spLocks noChangeArrowheads="1"/>
          </p:cNvSpPr>
          <p:nvPr/>
        </p:nvSpPr>
        <p:spPr bwMode="auto">
          <a:xfrm>
            <a:off x="2771775" y="2925763"/>
            <a:ext cx="2663825" cy="863600"/>
          </a:xfrm>
          <a:prstGeom prst="rect">
            <a:avLst/>
          </a:prstGeom>
          <a:solidFill>
            <a:schemeClr val="accent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p:txBody>
      </p:sp>
      <p:sp>
        <p:nvSpPr>
          <p:cNvPr id="150544" name="Text Box 13"/>
          <p:cNvSpPr txBox="1">
            <a:spLocks noChangeArrowheads="1"/>
          </p:cNvSpPr>
          <p:nvPr/>
        </p:nvSpPr>
        <p:spPr bwMode="auto">
          <a:xfrm>
            <a:off x="2771775" y="2960688"/>
            <a:ext cx="43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G</a:t>
            </a:r>
          </a:p>
        </p:txBody>
      </p:sp>
      <p:sp>
        <p:nvSpPr>
          <p:cNvPr id="150545" name="Text Box 14"/>
          <p:cNvSpPr txBox="1">
            <a:spLocks noChangeArrowheads="1"/>
          </p:cNvSpPr>
          <p:nvPr/>
        </p:nvSpPr>
        <p:spPr bwMode="auto">
          <a:xfrm>
            <a:off x="2771775" y="3321050"/>
            <a:ext cx="43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A</a:t>
            </a:r>
          </a:p>
        </p:txBody>
      </p:sp>
      <p:sp>
        <p:nvSpPr>
          <p:cNvPr id="150546" name="Text Box 15"/>
          <p:cNvSpPr txBox="1">
            <a:spLocks noChangeArrowheads="1"/>
          </p:cNvSpPr>
          <p:nvPr/>
        </p:nvSpPr>
        <p:spPr bwMode="auto">
          <a:xfrm>
            <a:off x="3060700" y="3141663"/>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1-</a:t>
            </a:r>
            <a:r>
              <a:rPr lang="zh-CN" altLang="en-US" sz="2400"/>
              <a:t>二译码器</a:t>
            </a:r>
          </a:p>
        </p:txBody>
      </p:sp>
      <p:sp>
        <p:nvSpPr>
          <p:cNvPr id="150547" name="Text Box 16"/>
          <p:cNvSpPr txBox="1">
            <a:spLocks noChangeArrowheads="1"/>
          </p:cNvSpPr>
          <p:nvPr/>
        </p:nvSpPr>
        <p:spPr bwMode="auto">
          <a:xfrm>
            <a:off x="4645025" y="2960688"/>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Y0</a:t>
            </a:r>
          </a:p>
        </p:txBody>
      </p:sp>
      <p:sp>
        <p:nvSpPr>
          <p:cNvPr id="150548" name="Text Box 17"/>
          <p:cNvSpPr txBox="1">
            <a:spLocks noChangeArrowheads="1"/>
          </p:cNvSpPr>
          <p:nvPr/>
        </p:nvSpPr>
        <p:spPr bwMode="auto">
          <a:xfrm>
            <a:off x="4645025" y="3332163"/>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Y1</a:t>
            </a:r>
          </a:p>
        </p:txBody>
      </p:sp>
      <p:sp>
        <p:nvSpPr>
          <p:cNvPr id="150549" name="Text Box 18"/>
          <p:cNvSpPr txBox="1">
            <a:spLocks noChangeArrowheads="1"/>
          </p:cNvSpPr>
          <p:nvPr/>
        </p:nvSpPr>
        <p:spPr bwMode="auto">
          <a:xfrm>
            <a:off x="5868988" y="2925763"/>
            <a:ext cx="1008062" cy="863600"/>
          </a:xfrm>
          <a:prstGeom prst="rect">
            <a:avLst/>
          </a:prstGeom>
          <a:solidFill>
            <a:srgbClr val="CC3300"/>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p:txBody>
      </p:sp>
      <p:sp>
        <p:nvSpPr>
          <p:cNvPr id="150550" name="Text Box 19"/>
          <p:cNvSpPr txBox="1">
            <a:spLocks noChangeArrowheads="1"/>
          </p:cNvSpPr>
          <p:nvPr/>
        </p:nvSpPr>
        <p:spPr bwMode="auto">
          <a:xfrm>
            <a:off x="6084888" y="2997200"/>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solidFill>
                  <a:schemeClr val="bg1"/>
                </a:solidFill>
              </a:rPr>
              <a:t>5-3</a:t>
            </a:r>
          </a:p>
        </p:txBody>
      </p:sp>
      <p:sp>
        <p:nvSpPr>
          <p:cNvPr id="150551" name="Text Box 20"/>
          <p:cNvSpPr txBox="1">
            <a:spLocks noChangeArrowheads="1"/>
          </p:cNvSpPr>
          <p:nvPr/>
        </p:nvSpPr>
        <p:spPr bwMode="auto">
          <a:xfrm>
            <a:off x="5868988" y="3357563"/>
            <a:ext cx="79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solidFill>
                  <a:schemeClr val="bg1"/>
                </a:solidFill>
              </a:rPr>
              <a:t>2-0</a:t>
            </a:r>
          </a:p>
        </p:txBody>
      </p:sp>
      <p:sp>
        <p:nvSpPr>
          <p:cNvPr id="150552" name="Text Box 22"/>
          <p:cNvSpPr txBox="1">
            <a:spLocks noChangeArrowheads="1"/>
          </p:cNvSpPr>
          <p:nvPr/>
        </p:nvSpPr>
        <p:spPr bwMode="auto">
          <a:xfrm>
            <a:off x="4716463" y="3933825"/>
            <a:ext cx="2663825" cy="635000"/>
          </a:xfrm>
          <a:prstGeom prst="rect">
            <a:avLst/>
          </a:prstGeom>
          <a:solidFill>
            <a:schemeClr val="bg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sz="1000"/>
          </a:p>
        </p:txBody>
      </p:sp>
      <p:sp>
        <p:nvSpPr>
          <p:cNvPr id="150553" name="Text Box 23"/>
          <p:cNvSpPr txBox="1">
            <a:spLocks noChangeArrowheads="1"/>
          </p:cNvSpPr>
          <p:nvPr/>
        </p:nvSpPr>
        <p:spPr bwMode="auto">
          <a:xfrm>
            <a:off x="5219700" y="4005263"/>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3</a:t>
            </a:r>
            <a:r>
              <a:rPr lang="zh-CN" altLang="en-US" sz="2400">
                <a:solidFill>
                  <a:srgbClr val="FF0000"/>
                </a:solidFill>
              </a:rPr>
              <a:t>位计数器</a:t>
            </a:r>
          </a:p>
        </p:txBody>
      </p:sp>
      <p:sp>
        <p:nvSpPr>
          <p:cNvPr id="649240" name="Text Box 24"/>
          <p:cNvSpPr txBox="1">
            <a:spLocks noChangeArrowheads="1"/>
          </p:cNvSpPr>
          <p:nvPr/>
        </p:nvSpPr>
        <p:spPr bwMode="auto">
          <a:xfrm>
            <a:off x="2771775" y="4652963"/>
            <a:ext cx="360363" cy="406400"/>
          </a:xfrm>
          <a:prstGeom prst="rect">
            <a:avLst/>
          </a:prstGeom>
          <a:solidFill>
            <a:srgbClr val="FF00FF"/>
          </a:solidFill>
          <a:ln w="9525">
            <a:solidFill>
              <a:srgbClr val="FF00FF"/>
            </a:solidFill>
            <a:miter lim="800000"/>
            <a:headEnd/>
            <a:tailEnd/>
          </a:ln>
          <a:effec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ffectLst>
                  <a:outerShdw blurRad="38100" dist="38100" dir="2700000" algn="tl">
                    <a:srgbClr val="000000"/>
                  </a:outerShdw>
                </a:effectLst>
              </a:rPr>
              <a:t>+</a:t>
            </a:r>
          </a:p>
        </p:txBody>
      </p:sp>
      <p:sp>
        <p:nvSpPr>
          <p:cNvPr id="150555" name="Oval 26"/>
          <p:cNvSpPr>
            <a:spLocks noChangeArrowheads="1"/>
          </p:cNvSpPr>
          <p:nvPr/>
        </p:nvSpPr>
        <p:spPr bwMode="auto">
          <a:xfrm>
            <a:off x="2700338" y="4829175"/>
            <a:ext cx="71437" cy="71438"/>
          </a:xfrm>
          <a:prstGeom prst="ellipse">
            <a:avLst/>
          </a:prstGeom>
          <a:solidFill>
            <a:schemeClr val="accent1"/>
          </a:solidFill>
          <a:ln w="9525">
            <a:solidFill>
              <a:srgbClr val="FF00FF"/>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0556" name="Oval 27"/>
          <p:cNvSpPr>
            <a:spLocks noChangeArrowheads="1"/>
          </p:cNvSpPr>
          <p:nvPr/>
        </p:nvSpPr>
        <p:spPr bwMode="auto">
          <a:xfrm>
            <a:off x="3124200" y="4749800"/>
            <a:ext cx="71438" cy="71438"/>
          </a:xfrm>
          <a:prstGeom prst="ellipse">
            <a:avLst/>
          </a:prstGeom>
          <a:solidFill>
            <a:schemeClr val="accent1"/>
          </a:solidFill>
          <a:ln w="9525">
            <a:solidFill>
              <a:srgbClr val="FF00FF"/>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0557" name="Line 31"/>
          <p:cNvSpPr>
            <a:spLocks noChangeShapeType="1"/>
          </p:cNvSpPr>
          <p:nvPr/>
        </p:nvSpPr>
        <p:spPr bwMode="auto">
          <a:xfrm>
            <a:off x="2268538" y="3500438"/>
            <a:ext cx="503237" cy="0"/>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0558" name="Line 32"/>
          <p:cNvSpPr>
            <a:spLocks noChangeShapeType="1"/>
          </p:cNvSpPr>
          <p:nvPr/>
        </p:nvSpPr>
        <p:spPr bwMode="auto">
          <a:xfrm>
            <a:off x="5435600" y="3213100"/>
            <a:ext cx="433388" cy="0"/>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0559" name="Line 33"/>
          <p:cNvSpPr>
            <a:spLocks noChangeShapeType="1"/>
          </p:cNvSpPr>
          <p:nvPr/>
        </p:nvSpPr>
        <p:spPr bwMode="auto">
          <a:xfrm>
            <a:off x="5435600" y="3500438"/>
            <a:ext cx="433388" cy="0"/>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0560" name="Line 34"/>
          <p:cNvSpPr>
            <a:spLocks noChangeShapeType="1"/>
          </p:cNvSpPr>
          <p:nvPr/>
        </p:nvSpPr>
        <p:spPr bwMode="auto">
          <a:xfrm>
            <a:off x="6877050" y="3213100"/>
            <a:ext cx="287338" cy="0"/>
          </a:xfrm>
          <a:prstGeom prst="line">
            <a:avLst/>
          </a:prstGeom>
          <a:noFill/>
          <a:ln w="2857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61" name="Line 35"/>
          <p:cNvSpPr>
            <a:spLocks noChangeShapeType="1"/>
          </p:cNvSpPr>
          <p:nvPr/>
        </p:nvSpPr>
        <p:spPr bwMode="auto">
          <a:xfrm>
            <a:off x="6877050" y="3500438"/>
            <a:ext cx="287338" cy="0"/>
          </a:xfrm>
          <a:prstGeom prst="line">
            <a:avLst/>
          </a:prstGeom>
          <a:noFill/>
          <a:ln w="2857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62" name="Line 36"/>
          <p:cNvSpPr>
            <a:spLocks noChangeShapeType="1"/>
          </p:cNvSpPr>
          <p:nvPr/>
        </p:nvSpPr>
        <p:spPr bwMode="auto">
          <a:xfrm>
            <a:off x="7164388" y="3213100"/>
            <a:ext cx="0" cy="720725"/>
          </a:xfrm>
          <a:prstGeom prst="line">
            <a:avLst/>
          </a:prstGeom>
          <a:noFill/>
          <a:ln w="5715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0563" name="Line 37"/>
          <p:cNvSpPr>
            <a:spLocks noChangeShapeType="1"/>
          </p:cNvSpPr>
          <p:nvPr/>
        </p:nvSpPr>
        <p:spPr bwMode="auto">
          <a:xfrm>
            <a:off x="2268538" y="4852988"/>
            <a:ext cx="431800" cy="0"/>
          </a:xfrm>
          <a:prstGeom prst="line">
            <a:avLst/>
          </a:prstGeom>
          <a:noFill/>
          <a:ln w="28575">
            <a:solidFill>
              <a:srgbClr val="CC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64" name="Line 38"/>
          <p:cNvSpPr>
            <a:spLocks noChangeShapeType="1"/>
          </p:cNvSpPr>
          <p:nvPr/>
        </p:nvSpPr>
        <p:spPr bwMode="auto">
          <a:xfrm>
            <a:off x="3203575" y="4781550"/>
            <a:ext cx="2881313" cy="15875"/>
          </a:xfrm>
          <a:prstGeom prst="line">
            <a:avLst/>
          </a:prstGeom>
          <a:noFill/>
          <a:ln w="28575">
            <a:solidFill>
              <a:srgbClr val="CC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65" name="Line 39"/>
          <p:cNvSpPr>
            <a:spLocks noChangeShapeType="1"/>
          </p:cNvSpPr>
          <p:nvPr/>
        </p:nvSpPr>
        <p:spPr bwMode="auto">
          <a:xfrm>
            <a:off x="3203575" y="4957763"/>
            <a:ext cx="4968875" cy="0"/>
          </a:xfrm>
          <a:prstGeom prst="line">
            <a:avLst/>
          </a:prstGeom>
          <a:noFill/>
          <a:ln w="28575">
            <a:solidFill>
              <a:srgbClr val="CC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66" name="Line 40"/>
          <p:cNvSpPr>
            <a:spLocks noChangeShapeType="1"/>
          </p:cNvSpPr>
          <p:nvPr/>
        </p:nvSpPr>
        <p:spPr bwMode="auto">
          <a:xfrm flipV="1">
            <a:off x="6084888" y="4581525"/>
            <a:ext cx="0" cy="215900"/>
          </a:xfrm>
          <a:prstGeom prst="line">
            <a:avLst/>
          </a:prstGeom>
          <a:noFill/>
          <a:ln w="28575">
            <a:solidFill>
              <a:srgbClr val="CC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67" name="Line 42"/>
          <p:cNvSpPr>
            <a:spLocks noChangeShapeType="1"/>
          </p:cNvSpPr>
          <p:nvPr/>
        </p:nvSpPr>
        <p:spPr bwMode="auto">
          <a:xfrm>
            <a:off x="2268538" y="4244975"/>
            <a:ext cx="2447925" cy="0"/>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0568" name="Text Box 43"/>
          <p:cNvSpPr txBox="1">
            <a:spLocks noChangeArrowheads="1"/>
          </p:cNvSpPr>
          <p:nvPr/>
        </p:nvSpPr>
        <p:spPr bwMode="auto">
          <a:xfrm>
            <a:off x="6877050" y="4941888"/>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READY</a:t>
            </a:r>
          </a:p>
        </p:txBody>
      </p:sp>
      <p:sp>
        <p:nvSpPr>
          <p:cNvPr id="150569" name="Text Box 44"/>
          <p:cNvSpPr txBox="1">
            <a:spLocks noChangeArrowheads="1"/>
          </p:cNvSpPr>
          <p:nvPr/>
        </p:nvSpPr>
        <p:spPr bwMode="auto">
          <a:xfrm>
            <a:off x="7669213" y="2997200"/>
            <a:ext cx="576262"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a:solidFill>
                  <a:srgbClr val="FF0000"/>
                </a:solidFill>
              </a:rPr>
              <a:t>外部逻辑</a:t>
            </a:r>
          </a:p>
        </p:txBody>
      </p:sp>
      <p:sp>
        <p:nvSpPr>
          <p:cNvPr id="150570" name="Line 45"/>
          <p:cNvSpPr>
            <a:spLocks noChangeShapeType="1"/>
          </p:cNvSpPr>
          <p:nvPr/>
        </p:nvSpPr>
        <p:spPr bwMode="auto">
          <a:xfrm>
            <a:off x="7596188" y="2636838"/>
            <a:ext cx="0" cy="2952750"/>
          </a:xfrm>
          <a:prstGeom prst="line">
            <a:avLst/>
          </a:prstGeom>
          <a:noFill/>
          <a:ln w="38100">
            <a:solidFill>
              <a:srgbClr val="FF00FF"/>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71" name="Line 46"/>
          <p:cNvSpPr>
            <a:spLocks noChangeShapeType="1"/>
          </p:cNvSpPr>
          <p:nvPr/>
        </p:nvSpPr>
        <p:spPr bwMode="auto">
          <a:xfrm>
            <a:off x="4716463" y="4076700"/>
            <a:ext cx="144462" cy="144463"/>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72" name="Line 47"/>
          <p:cNvSpPr>
            <a:spLocks noChangeShapeType="1"/>
          </p:cNvSpPr>
          <p:nvPr/>
        </p:nvSpPr>
        <p:spPr bwMode="auto">
          <a:xfrm flipV="1">
            <a:off x="4716463" y="4221163"/>
            <a:ext cx="144462" cy="144462"/>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73" name="Line 49"/>
          <p:cNvSpPr>
            <a:spLocks noChangeShapeType="1"/>
          </p:cNvSpPr>
          <p:nvPr/>
        </p:nvSpPr>
        <p:spPr bwMode="auto">
          <a:xfrm>
            <a:off x="1476375" y="4652963"/>
            <a:ext cx="6477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74" name="Line 50"/>
          <p:cNvSpPr>
            <a:spLocks noChangeShapeType="1"/>
          </p:cNvSpPr>
          <p:nvPr/>
        </p:nvSpPr>
        <p:spPr bwMode="auto">
          <a:xfrm>
            <a:off x="2868613" y="2997200"/>
            <a:ext cx="287337"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75" name="Line 52"/>
          <p:cNvSpPr>
            <a:spLocks noChangeShapeType="1"/>
          </p:cNvSpPr>
          <p:nvPr/>
        </p:nvSpPr>
        <p:spPr bwMode="auto">
          <a:xfrm>
            <a:off x="5867400" y="3392488"/>
            <a:ext cx="1009650" cy="0"/>
          </a:xfrm>
          <a:prstGeom prst="line">
            <a:avLst/>
          </a:prstGeom>
          <a:noFill/>
          <a:ln w="28575">
            <a:solidFill>
              <a:srgbClr val="666633"/>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576" name="Text Box 53"/>
          <p:cNvSpPr txBox="1">
            <a:spLocks noChangeArrowheads="1"/>
          </p:cNvSpPr>
          <p:nvPr/>
        </p:nvSpPr>
        <p:spPr bwMode="auto">
          <a:xfrm>
            <a:off x="3419475" y="5049838"/>
            <a:ext cx="288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1</a:t>
            </a:r>
          </a:p>
        </p:txBody>
      </p:sp>
      <p:sp>
        <p:nvSpPr>
          <p:cNvPr id="150577" name="Text Box 54"/>
          <p:cNvSpPr txBox="1">
            <a:spLocks noChangeArrowheads="1"/>
          </p:cNvSpPr>
          <p:nvPr/>
        </p:nvSpPr>
        <p:spPr bwMode="auto">
          <a:xfrm>
            <a:off x="3419475" y="4329113"/>
            <a:ext cx="288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1</a:t>
            </a:r>
          </a:p>
        </p:txBody>
      </p:sp>
      <p:sp>
        <p:nvSpPr>
          <p:cNvPr id="150578" name="Text Box 55"/>
          <p:cNvSpPr txBox="1">
            <a:spLocks noChangeArrowheads="1"/>
          </p:cNvSpPr>
          <p:nvPr/>
        </p:nvSpPr>
        <p:spPr bwMode="auto">
          <a:xfrm>
            <a:off x="2339975" y="4905375"/>
            <a:ext cx="288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1</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49218"/>
                                        </p:tgtEl>
                                        <p:attrNameLst>
                                          <p:attrName>style.visibility</p:attrName>
                                        </p:attrNameLst>
                                      </p:cBhvr>
                                      <p:to>
                                        <p:strVal val="visible"/>
                                      </p:to>
                                    </p:set>
                                    <p:anim calcmode="lin" valueType="num">
                                      <p:cBhvr additive="base">
                                        <p:cTn id="7" dur="500" fill="hold"/>
                                        <p:tgtEl>
                                          <p:spTgt spid="649218"/>
                                        </p:tgtEl>
                                        <p:attrNameLst>
                                          <p:attrName>ppt_x</p:attrName>
                                        </p:attrNameLst>
                                      </p:cBhvr>
                                      <p:tavLst>
                                        <p:tav tm="0">
                                          <p:val>
                                            <p:strVal val="0-#ppt_w/2"/>
                                          </p:val>
                                        </p:tav>
                                        <p:tav tm="100000">
                                          <p:val>
                                            <p:strVal val="#ppt_x"/>
                                          </p:val>
                                        </p:tav>
                                      </p:tavLst>
                                    </p:anim>
                                    <p:anim calcmode="lin" valueType="num">
                                      <p:cBhvr additive="base">
                                        <p:cTn id="8" dur="500" fill="hold"/>
                                        <p:tgtEl>
                                          <p:spTgt spid="64921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49221"/>
                                        </p:tgtEl>
                                        <p:attrNameLst>
                                          <p:attrName>style.visibility</p:attrName>
                                        </p:attrNameLst>
                                      </p:cBhvr>
                                      <p:to>
                                        <p:strVal val="visible"/>
                                      </p:to>
                                    </p:set>
                                    <p:anim calcmode="lin" valueType="num">
                                      <p:cBhvr additive="base">
                                        <p:cTn id="12" dur="500" fill="hold"/>
                                        <p:tgtEl>
                                          <p:spTgt spid="649221"/>
                                        </p:tgtEl>
                                        <p:attrNameLst>
                                          <p:attrName>ppt_x</p:attrName>
                                        </p:attrNameLst>
                                      </p:cBhvr>
                                      <p:tavLst>
                                        <p:tav tm="0">
                                          <p:val>
                                            <p:strVal val="0-#ppt_w/2"/>
                                          </p:val>
                                        </p:tav>
                                        <p:tav tm="100000">
                                          <p:val>
                                            <p:strVal val="#ppt_x"/>
                                          </p:val>
                                        </p:tav>
                                      </p:tavLst>
                                    </p:anim>
                                    <p:anim calcmode="lin" valueType="num">
                                      <p:cBhvr additive="base">
                                        <p:cTn id="13" dur="500" fill="hold"/>
                                        <p:tgtEl>
                                          <p:spTgt spid="6492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218" grpId="0" autoUpdateAnimBg="0"/>
      <p:bldP spid="649221" grpId="0" autoUpdateAnimBg="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B965C827-5D49-44BF-990F-69D608B5EC0C}" type="slidenum">
              <a:rPr lang="en-US" altLang="zh-CN" sz="1400" b="0"/>
              <a:pPr eaLnBrk="1" hangingPunct="1"/>
              <a:t>138</a:t>
            </a:fld>
            <a:endParaRPr lang="en-US" altLang="zh-CN" sz="1400" b="0"/>
          </a:p>
        </p:txBody>
      </p:sp>
      <p:sp>
        <p:nvSpPr>
          <p:cNvPr id="650242" name="Rectangle 2"/>
          <p:cNvSpPr>
            <a:spLocks noChangeArrowheads="1"/>
          </p:cNvSpPr>
          <p:nvPr/>
        </p:nvSpPr>
        <p:spPr bwMode="auto">
          <a:xfrm>
            <a:off x="174625" y="1773238"/>
            <a:ext cx="8763000" cy="3213100"/>
          </a:xfrm>
          <a:prstGeom prst="rect">
            <a:avLst/>
          </a:prstGeom>
          <a:noFill/>
          <a:ln w="9525">
            <a:solidFill>
              <a:srgbClr val="66663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latin typeface="宋体" panose="02010600030101010101" pitchFamily="2" charset="-122"/>
              </a:rPr>
              <a:t>复位时，</a:t>
            </a:r>
            <a:r>
              <a:rPr lang="en-US" altLang="zh-CN" sz="3600">
                <a:latin typeface="宋体" panose="02010600030101010101" pitchFamily="2" charset="-122"/>
              </a:rPr>
              <a:t>SWWSR=7FFFh</a:t>
            </a:r>
            <a:r>
              <a:rPr lang="zh-CN" altLang="en-US" sz="3600">
                <a:latin typeface="宋体" panose="02010600030101010101" pitchFamily="2" charset="-122"/>
              </a:rPr>
              <a:t>，所有的程序、数据和</a:t>
            </a:r>
            <a:r>
              <a:rPr lang="en-US" altLang="zh-CN" sz="3600">
                <a:latin typeface="宋体" panose="02010600030101010101" pitchFamily="2" charset="-122"/>
              </a:rPr>
              <a:t>I/O</a:t>
            </a:r>
            <a:r>
              <a:rPr lang="zh-CN" altLang="en-US" sz="3600">
                <a:latin typeface="宋体" panose="02010600030101010101" pitchFamily="2" charset="-122"/>
              </a:rPr>
              <a:t>空间都被插入</a:t>
            </a:r>
            <a:r>
              <a:rPr lang="en-US" altLang="zh-CN" sz="3600">
                <a:latin typeface="宋体" panose="02010600030101010101" pitchFamily="2" charset="-122"/>
              </a:rPr>
              <a:t>7</a:t>
            </a:r>
            <a:r>
              <a:rPr lang="zh-CN" altLang="en-US" sz="3600">
                <a:latin typeface="宋体" panose="02010600030101010101" pitchFamily="2" charset="-122"/>
              </a:rPr>
              <a:t>个等待状态。然后用</a:t>
            </a:r>
            <a:r>
              <a:rPr lang="en-US" altLang="zh-CN" sz="3600">
                <a:latin typeface="宋体" panose="02010600030101010101" pitchFamily="2" charset="-122"/>
              </a:rPr>
              <a:t>STM</a:t>
            </a:r>
            <a:r>
              <a:rPr lang="zh-CN" altLang="en-US" sz="3600">
                <a:latin typeface="宋体" panose="02010600030101010101" pitchFamily="2" charset="-122"/>
              </a:rPr>
              <a:t>指令进行修改</a:t>
            </a:r>
            <a:r>
              <a:rPr lang="en-US" altLang="zh-CN" sz="3600">
                <a:latin typeface="宋体" panose="02010600030101010101" pitchFamily="2" charset="-122"/>
              </a:rPr>
              <a:t>SWWSR</a:t>
            </a:r>
            <a:r>
              <a:rPr lang="zh-CN" altLang="en-US" sz="3600">
                <a:latin typeface="宋体" panose="02010600030101010101" pitchFamily="2" charset="-122"/>
              </a:rPr>
              <a:t>：</a:t>
            </a:r>
            <a:endParaRPr lang="zh-CN" altLang="en-US" sz="3600">
              <a:latin typeface="Arial" panose="020B0604020202020204" pitchFamily="34" charset="0"/>
              <a:cs typeface="Arial" panose="020B0604020202020204" pitchFamily="34" charset="0"/>
            </a:endParaRPr>
          </a:p>
          <a:p>
            <a:pPr eaLnBrk="1" hangingPunct="1">
              <a:spcBef>
                <a:spcPct val="50000"/>
              </a:spcBef>
            </a:pPr>
            <a:r>
              <a:rPr lang="en-US" altLang="zh-CN" sz="3200">
                <a:latin typeface="宋体" panose="02010600030101010101" pitchFamily="2" charset="-122"/>
              </a:rPr>
              <a:t>STM  #349Bh</a:t>
            </a:r>
            <a:r>
              <a:rPr lang="zh-CN" altLang="en-US" sz="3200">
                <a:latin typeface="宋体" panose="02010600030101010101" pitchFamily="2" charset="-122"/>
              </a:rPr>
              <a:t>，</a:t>
            </a:r>
            <a:r>
              <a:rPr lang="en-US" altLang="zh-CN" sz="3200">
                <a:latin typeface="宋体" panose="02010600030101010101" pitchFamily="2" charset="-122"/>
              </a:rPr>
              <a:t>SWWSR  </a:t>
            </a:r>
          </a:p>
          <a:p>
            <a:pPr eaLnBrk="1" hangingPunct="1">
              <a:spcBef>
                <a:spcPct val="50000"/>
              </a:spcBef>
            </a:pPr>
            <a:r>
              <a:rPr lang="en-US" altLang="zh-CN" sz="3200">
                <a:latin typeface="宋体" panose="02010600030101010101" pitchFamily="2" charset="-122"/>
              </a:rPr>
              <a:t>         </a:t>
            </a:r>
            <a:r>
              <a:rPr lang="zh-CN" altLang="en-US" sz="3200">
                <a:latin typeface="宋体" panose="02010600030101010101" pitchFamily="2" charset="-122"/>
              </a:rPr>
              <a:t>；</a:t>
            </a:r>
            <a:r>
              <a:rPr lang="en-US" altLang="zh-CN" sz="3200">
                <a:latin typeface="宋体" panose="02010600030101010101" pitchFamily="2" charset="-122"/>
              </a:rPr>
              <a:t>SWWSR= 0 </a:t>
            </a:r>
            <a:r>
              <a:rPr lang="en-US" altLang="zh-CN" sz="3200">
                <a:solidFill>
                  <a:schemeClr val="tx2"/>
                </a:solidFill>
                <a:latin typeface="宋体" panose="02010600030101010101" pitchFamily="2" charset="-122"/>
              </a:rPr>
              <a:t>011</a:t>
            </a:r>
            <a:r>
              <a:rPr lang="en-US" altLang="zh-CN" sz="3200">
                <a:latin typeface="宋体" panose="02010600030101010101" pitchFamily="2" charset="-122"/>
              </a:rPr>
              <a:t> </a:t>
            </a:r>
            <a:r>
              <a:rPr lang="en-US" altLang="zh-CN" sz="3200">
                <a:solidFill>
                  <a:srgbClr val="FF0000"/>
                </a:solidFill>
                <a:latin typeface="宋体" panose="02010600030101010101" pitchFamily="2" charset="-122"/>
              </a:rPr>
              <a:t>010</a:t>
            </a:r>
            <a:r>
              <a:rPr lang="en-US" altLang="zh-CN" sz="3200">
                <a:latin typeface="宋体" panose="02010600030101010101" pitchFamily="2" charset="-122"/>
              </a:rPr>
              <a:t> </a:t>
            </a:r>
            <a:r>
              <a:rPr lang="en-US" altLang="zh-CN" sz="3200">
                <a:solidFill>
                  <a:schemeClr val="folHlink"/>
                </a:solidFill>
                <a:latin typeface="宋体" panose="02010600030101010101" pitchFamily="2" charset="-122"/>
              </a:rPr>
              <a:t>010</a:t>
            </a:r>
            <a:r>
              <a:rPr lang="en-US" altLang="zh-CN" sz="3200">
                <a:solidFill>
                  <a:srgbClr val="666633"/>
                </a:solidFill>
                <a:latin typeface="宋体" panose="02010600030101010101" pitchFamily="2" charset="-122"/>
              </a:rPr>
              <a:t> 011</a:t>
            </a:r>
            <a:r>
              <a:rPr lang="en-US" altLang="zh-CN" sz="3200">
                <a:latin typeface="宋体" panose="02010600030101010101" pitchFamily="2" charset="-122"/>
              </a:rPr>
              <a:t> </a:t>
            </a:r>
            <a:r>
              <a:rPr lang="en-US" altLang="zh-CN" sz="3200">
                <a:solidFill>
                  <a:srgbClr val="CC3300"/>
                </a:solidFill>
                <a:latin typeface="宋体" panose="02010600030101010101" pitchFamily="2" charset="-122"/>
              </a:rPr>
              <a:t>011</a:t>
            </a:r>
            <a:r>
              <a:rPr lang="en-US" altLang="zh-CN" sz="3200"/>
              <a:t> </a:t>
            </a:r>
          </a:p>
        </p:txBody>
      </p:sp>
      <p:sp>
        <p:nvSpPr>
          <p:cNvPr id="650243" name="Rectangle 3"/>
          <p:cNvSpPr>
            <a:spLocks noChangeArrowheads="1"/>
          </p:cNvSpPr>
          <p:nvPr/>
        </p:nvSpPr>
        <p:spPr bwMode="auto">
          <a:xfrm>
            <a:off x="1403350" y="1125538"/>
            <a:ext cx="1809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solidFill>
                  <a:schemeClr val="tx2"/>
                </a:solidFill>
                <a:latin typeface="宋体" panose="02010600030101010101" pitchFamily="2" charset="-122"/>
              </a:rPr>
              <a:t>工作过程</a:t>
            </a:r>
          </a:p>
        </p:txBody>
      </p:sp>
      <p:sp>
        <p:nvSpPr>
          <p:cNvPr id="650245" name="AutoShape 5" descr="小棋盘"/>
          <p:cNvSpPr>
            <a:spLocks noChangeArrowheads="1"/>
          </p:cNvSpPr>
          <p:nvPr/>
        </p:nvSpPr>
        <p:spPr bwMode="auto">
          <a:xfrm>
            <a:off x="6084888" y="5445125"/>
            <a:ext cx="2720975" cy="1079500"/>
          </a:xfrm>
          <a:prstGeom prst="wedgeRoundRectCallout">
            <a:avLst>
              <a:gd name="adj1" fmla="val -17444"/>
              <a:gd name="adj2" fmla="val -94412"/>
              <a:gd name="adj3" fmla="val 16667"/>
            </a:avLst>
          </a:prstGeom>
          <a:pattFill prst="smCheck">
            <a:fgClr>
              <a:srgbClr val="FFFF00"/>
            </a:fgClr>
            <a:bgClr>
              <a:srgbClr val="FFFFFF"/>
            </a:bgClr>
          </a:pattFill>
          <a:ln w="9525">
            <a:solidFill>
              <a:srgbClr val="FF00FF"/>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程序空间</a:t>
            </a:r>
          </a:p>
          <a:p>
            <a:pPr eaLnBrk="1" hangingPunct="1"/>
            <a:r>
              <a:rPr lang="en-US" altLang="zh-CN"/>
              <a:t>(</a:t>
            </a:r>
            <a:r>
              <a:rPr lang="zh-CN" altLang="en-US"/>
              <a:t>高</a:t>
            </a:r>
            <a:r>
              <a:rPr lang="en-US" altLang="zh-CN"/>
              <a:t>32k) (</a:t>
            </a:r>
            <a:r>
              <a:rPr lang="zh-CN" altLang="en-US"/>
              <a:t>低</a:t>
            </a:r>
            <a:r>
              <a:rPr lang="en-US" altLang="zh-CN"/>
              <a:t>32k)</a:t>
            </a:r>
            <a:r>
              <a:rPr lang="zh-CN" altLang="en-US"/>
              <a:t>插入</a:t>
            </a:r>
            <a:r>
              <a:rPr lang="en-US" altLang="zh-CN"/>
              <a:t>3</a:t>
            </a:r>
            <a:r>
              <a:rPr lang="zh-CN" altLang="en-US"/>
              <a:t>个等待状态 </a:t>
            </a:r>
          </a:p>
        </p:txBody>
      </p:sp>
      <p:sp>
        <p:nvSpPr>
          <p:cNvPr id="650246" name="AutoShape 6" descr="小棋盘"/>
          <p:cNvSpPr>
            <a:spLocks noChangeArrowheads="1"/>
          </p:cNvSpPr>
          <p:nvPr/>
        </p:nvSpPr>
        <p:spPr bwMode="auto">
          <a:xfrm>
            <a:off x="323850" y="5445125"/>
            <a:ext cx="2720975" cy="1079500"/>
          </a:xfrm>
          <a:prstGeom prst="wedgeRoundRectCallout">
            <a:avLst>
              <a:gd name="adj1" fmla="val 101926"/>
              <a:gd name="adj2" fmla="val -103972"/>
              <a:gd name="adj3" fmla="val 16667"/>
            </a:avLst>
          </a:prstGeom>
          <a:pattFill prst="smCheck">
            <a:fgClr>
              <a:srgbClr val="FFFF00"/>
            </a:fgClr>
            <a:bgClr>
              <a:srgbClr val="FFFFFF"/>
            </a:bgClr>
          </a:pattFill>
          <a:ln w="9525">
            <a:solidFill>
              <a:srgbClr val="FF00FF"/>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I/O</a:t>
            </a:r>
            <a:r>
              <a:rPr lang="zh-CN" altLang="en-US">
                <a:solidFill>
                  <a:schemeClr val="tx2"/>
                </a:solidFill>
              </a:rPr>
              <a:t>空间</a:t>
            </a:r>
          </a:p>
          <a:p>
            <a:pPr eaLnBrk="1" hangingPunct="1"/>
            <a:r>
              <a:rPr lang="en-US" altLang="zh-CN">
                <a:solidFill>
                  <a:schemeClr val="tx2"/>
                </a:solidFill>
              </a:rPr>
              <a:t>(</a:t>
            </a:r>
            <a:r>
              <a:rPr lang="zh-CN" altLang="en-US">
                <a:solidFill>
                  <a:schemeClr val="tx2"/>
                </a:solidFill>
              </a:rPr>
              <a:t>高</a:t>
            </a:r>
            <a:r>
              <a:rPr lang="en-US" altLang="zh-CN">
                <a:solidFill>
                  <a:schemeClr val="tx2"/>
                </a:solidFill>
              </a:rPr>
              <a:t>32k) (</a:t>
            </a:r>
            <a:r>
              <a:rPr lang="zh-CN" altLang="en-US">
                <a:solidFill>
                  <a:schemeClr val="tx2"/>
                </a:solidFill>
              </a:rPr>
              <a:t>低</a:t>
            </a:r>
            <a:r>
              <a:rPr lang="en-US" altLang="zh-CN">
                <a:solidFill>
                  <a:schemeClr val="tx2"/>
                </a:solidFill>
              </a:rPr>
              <a:t>32k)</a:t>
            </a:r>
            <a:r>
              <a:rPr lang="zh-CN" altLang="en-US">
                <a:solidFill>
                  <a:schemeClr val="tx2"/>
                </a:solidFill>
              </a:rPr>
              <a:t>插入</a:t>
            </a:r>
            <a:r>
              <a:rPr lang="en-US" altLang="zh-CN">
                <a:solidFill>
                  <a:schemeClr val="tx2"/>
                </a:solidFill>
              </a:rPr>
              <a:t>3</a:t>
            </a:r>
            <a:r>
              <a:rPr lang="zh-CN" altLang="en-US">
                <a:solidFill>
                  <a:schemeClr val="tx2"/>
                </a:solidFill>
              </a:rPr>
              <a:t>个等待状态 </a:t>
            </a:r>
          </a:p>
          <a:p>
            <a:pPr eaLnBrk="1" hangingPunct="1"/>
            <a:endParaRPr lang="en-US" altLang="zh-CN">
              <a:solidFill>
                <a:schemeClr val="tx2"/>
              </a:solidFill>
            </a:endParaRPr>
          </a:p>
        </p:txBody>
      </p:sp>
      <p:sp>
        <p:nvSpPr>
          <p:cNvPr id="650247" name="AutoShape 7" descr="小棋盘"/>
          <p:cNvSpPr>
            <a:spLocks noChangeArrowheads="1"/>
          </p:cNvSpPr>
          <p:nvPr/>
        </p:nvSpPr>
        <p:spPr bwMode="auto">
          <a:xfrm>
            <a:off x="2989263" y="5519738"/>
            <a:ext cx="2720975" cy="1079500"/>
          </a:xfrm>
          <a:prstGeom prst="wedgeRoundRectCallout">
            <a:avLst>
              <a:gd name="adj1" fmla="val 37866"/>
              <a:gd name="adj2" fmla="val -107060"/>
              <a:gd name="adj3" fmla="val 16667"/>
            </a:avLst>
          </a:prstGeom>
          <a:pattFill prst="smCheck">
            <a:fgClr>
              <a:srgbClr val="FFFF00"/>
            </a:fgClr>
            <a:bgClr>
              <a:srgbClr val="FFFFFF"/>
            </a:bgClr>
          </a:pattFill>
          <a:ln w="9525">
            <a:solidFill>
              <a:srgbClr val="FF00FF"/>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数据空间</a:t>
            </a:r>
          </a:p>
          <a:p>
            <a:pPr eaLnBrk="1" hangingPunct="1"/>
            <a:r>
              <a:rPr lang="en-US" altLang="zh-CN"/>
              <a:t>(</a:t>
            </a:r>
            <a:r>
              <a:rPr lang="zh-CN" altLang="en-US"/>
              <a:t>高</a:t>
            </a:r>
            <a:r>
              <a:rPr lang="en-US" altLang="zh-CN"/>
              <a:t>32k) (</a:t>
            </a:r>
            <a:r>
              <a:rPr lang="zh-CN" altLang="en-US"/>
              <a:t>低</a:t>
            </a:r>
            <a:r>
              <a:rPr lang="en-US" altLang="zh-CN"/>
              <a:t>32k)</a:t>
            </a:r>
            <a:r>
              <a:rPr lang="zh-CN" altLang="en-US"/>
              <a:t>插入</a:t>
            </a:r>
            <a:r>
              <a:rPr lang="en-US" altLang="zh-CN"/>
              <a:t>3</a:t>
            </a:r>
            <a:r>
              <a:rPr lang="zh-CN" altLang="en-US"/>
              <a:t>个等待状态 </a:t>
            </a:r>
          </a:p>
        </p:txBody>
      </p:sp>
      <p:sp>
        <p:nvSpPr>
          <p:cNvPr id="650248" name="AutoShape 8" descr="小棋盘"/>
          <p:cNvSpPr>
            <a:spLocks noChangeArrowheads="1"/>
          </p:cNvSpPr>
          <p:nvPr/>
        </p:nvSpPr>
        <p:spPr bwMode="auto">
          <a:xfrm>
            <a:off x="2987675" y="5516563"/>
            <a:ext cx="2720975" cy="1079500"/>
          </a:xfrm>
          <a:prstGeom prst="wedgeRoundRectCallout">
            <a:avLst>
              <a:gd name="adj1" fmla="val 80222"/>
              <a:gd name="adj2" fmla="val -111764"/>
              <a:gd name="adj3" fmla="val 16667"/>
            </a:avLst>
          </a:prstGeom>
          <a:pattFill prst="smCheck">
            <a:fgClr>
              <a:srgbClr val="FFFF00"/>
            </a:fgClr>
            <a:bgClr>
              <a:srgbClr val="FFFFFF"/>
            </a:bgClr>
          </a:pattFill>
          <a:ln w="9525">
            <a:solidFill>
              <a:srgbClr val="FF00FF"/>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数据空间</a:t>
            </a:r>
          </a:p>
          <a:p>
            <a:pPr eaLnBrk="1" hangingPunct="1"/>
            <a:r>
              <a:rPr lang="en-US" altLang="zh-CN"/>
              <a:t>(</a:t>
            </a:r>
            <a:r>
              <a:rPr lang="zh-CN" altLang="en-US"/>
              <a:t>高</a:t>
            </a:r>
            <a:r>
              <a:rPr lang="en-US" altLang="zh-CN"/>
              <a:t>32k) (</a:t>
            </a:r>
            <a:r>
              <a:rPr lang="zh-CN" altLang="en-US"/>
              <a:t>低</a:t>
            </a:r>
            <a:r>
              <a:rPr lang="en-US" altLang="zh-CN"/>
              <a:t>32k)</a:t>
            </a:r>
            <a:r>
              <a:rPr lang="zh-CN" altLang="en-US"/>
              <a:t>插入</a:t>
            </a:r>
            <a:r>
              <a:rPr lang="en-US" altLang="zh-CN"/>
              <a:t>2</a:t>
            </a:r>
            <a:r>
              <a:rPr lang="zh-CN" altLang="en-US"/>
              <a:t>个等待状态 </a:t>
            </a:r>
          </a:p>
        </p:txBody>
      </p:sp>
      <p:sp>
        <p:nvSpPr>
          <p:cNvPr id="650249" name="AutoShape 9" descr="小棋盘"/>
          <p:cNvSpPr>
            <a:spLocks noChangeArrowheads="1"/>
          </p:cNvSpPr>
          <p:nvPr/>
        </p:nvSpPr>
        <p:spPr bwMode="auto">
          <a:xfrm>
            <a:off x="6088063" y="5440363"/>
            <a:ext cx="2720975" cy="1079500"/>
          </a:xfrm>
          <a:prstGeom prst="wedgeRoundRectCallout">
            <a:avLst>
              <a:gd name="adj1" fmla="val 16745"/>
              <a:gd name="adj2" fmla="val -94560"/>
              <a:gd name="adj3" fmla="val 16667"/>
            </a:avLst>
          </a:prstGeom>
          <a:pattFill prst="smCheck">
            <a:fgClr>
              <a:srgbClr val="FFFF00"/>
            </a:fgClr>
            <a:bgClr>
              <a:srgbClr val="FFFFFF"/>
            </a:bgClr>
          </a:pattFill>
          <a:ln w="9525">
            <a:solidFill>
              <a:srgbClr val="FF00FF"/>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程序空间</a:t>
            </a:r>
          </a:p>
          <a:p>
            <a:pPr eaLnBrk="1" hangingPunct="1"/>
            <a:r>
              <a:rPr lang="en-US" altLang="zh-CN"/>
              <a:t>(</a:t>
            </a:r>
            <a:r>
              <a:rPr lang="zh-CN" altLang="en-US"/>
              <a:t>高</a:t>
            </a:r>
            <a:r>
              <a:rPr lang="en-US" altLang="zh-CN"/>
              <a:t>32k) (</a:t>
            </a:r>
            <a:r>
              <a:rPr lang="zh-CN" altLang="en-US"/>
              <a:t>低</a:t>
            </a:r>
            <a:r>
              <a:rPr lang="en-US" altLang="zh-CN"/>
              <a:t>32k)</a:t>
            </a:r>
            <a:r>
              <a:rPr lang="zh-CN" altLang="en-US"/>
              <a:t>插入</a:t>
            </a:r>
            <a:r>
              <a:rPr lang="en-US" altLang="zh-CN"/>
              <a:t>3</a:t>
            </a:r>
            <a:r>
              <a:rPr lang="zh-CN" altLang="en-US"/>
              <a:t>个等待状态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650243"/>
                                        </p:tgtEl>
                                        <p:attrNameLst>
                                          <p:attrName>style.visibility</p:attrName>
                                        </p:attrNameLst>
                                      </p:cBhvr>
                                      <p:to>
                                        <p:strVal val="visible"/>
                                      </p:to>
                                    </p:set>
                                    <p:anim calcmode="lin" valueType="num">
                                      <p:cBhvr>
                                        <p:cTn id="7" dur="1000" fill="hold"/>
                                        <p:tgtEl>
                                          <p:spTgt spid="650243"/>
                                        </p:tgtEl>
                                        <p:attrNameLst>
                                          <p:attrName>ppt_w</p:attrName>
                                        </p:attrNameLst>
                                      </p:cBhvr>
                                      <p:tavLst>
                                        <p:tav tm="0">
                                          <p:val>
                                            <p:fltVal val="0"/>
                                          </p:val>
                                        </p:tav>
                                        <p:tav tm="100000">
                                          <p:val>
                                            <p:strVal val="#ppt_w"/>
                                          </p:val>
                                        </p:tav>
                                      </p:tavLst>
                                    </p:anim>
                                    <p:anim calcmode="lin" valueType="num">
                                      <p:cBhvr>
                                        <p:cTn id="8" dur="1000" fill="hold"/>
                                        <p:tgtEl>
                                          <p:spTgt spid="650243"/>
                                        </p:tgtEl>
                                        <p:attrNameLst>
                                          <p:attrName>ppt_h</p:attrName>
                                        </p:attrNameLst>
                                      </p:cBhvr>
                                      <p:tavLst>
                                        <p:tav tm="0">
                                          <p:val>
                                            <p:fltVal val="0"/>
                                          </p:val>
                                        </p:tav>
                                        <p:tav tm="100000">
                                          <p:val>
                                            <p:strVal val="#ppt_h"/>
                                          </p:val>
                                        </p:tav>
                                      </p:tavLst>
                                    </p:anim>
                                    <p:anim calcmode="lin" valueType="num">
                                      <p:cBhvr>
                                        <p:cTn id="9" dur="1000" fill="hold"/>
                                        <p:tgtEl>
                                          <p:spTgt spid="65024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50243"/>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18" presetClass="entr" presetSubtype="6" fill="hold" grpId="0" nodeType="afterEffect">
                                  <p:stCondLst>
                                    <p:cond delay="0"/>
                                  </p:stCondLst>
                                  <p:childTnLst>
                                    <p:set>
                                      <p:cBhvr>
                                        <p:cTn id="13" dur="1" fill="hold">
                                          <p:stCondLst>
                                            <p:cond delay="0"/>
                                          </p:stCondLst>
                                        </p:cTn>
                                        <p:tgtEl>
                                          <p:spTgt spid="650242"/>
                                        </p:tgtEl>
                                        <p:attrNameLst>
                                          <p:attrName>style.visibility</p:attrName>
                                        </p:attrNameLst>
                                      </p:cBhvr>
                                      <p:to>
                                        <p:strVal val="visible"/>
                                      </p:to>
                                    </p:set>
                                    <p:animEffect transition="in" filter="strips(downRight)">
                                      <p:cBhvr>
                                        <p:cTn id="14" dur="500"/>
                                        <p:tgtEl>
                                          <p:spTgt spid="650242"/>
                                        </p:tgtEl>
                                      </p:cBhvr>
                                    </p:animEffect>
                                  </p:childTnLst>
                                </p:cTn>
                              </p:par>
                            </p:childTnLst>
                          </p:cTn>
                        </p:par>
                        <p:par>
                          <p:cTn id="15" fill="hold" nodeType="afterGroup">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650245"/>
                                        </p:tgtEl>
                                        <p:attrNameLst>
                                          <p:attrName>style.visibility</p:attrName>
                                        </p:attrNameLst>
                                      </p:cBhvr>
                                      <p:to>
                                        <p:strVal val="visible"/>
                                      </p:to>
                                    </p:set>
                                    <p:anim calcmode="lin" valueType="num">
                                      <p:cBhvr additive="base">
                                        <p:cTn id="18" dur="500" fill="hold"/>
                                        <p:tgtEl>
                                          <p:spTgt spid="650245"/>
                                        </p:tgtEl>
                                        <p:attrNameLst>
                                          <p:attrName>ppt_x</p:attrName>
                                        </p:attrNameLst>
                                      </p:cBhvr>
                                      <p:tavLst>
                                        <p:tav tm="0">
                                          <p:val>
                                            <p:strVal val="1+#ppt_w/2"/>
                                          </p:val>
                                        </p:tav>
                                        <p:tav tm="100000">
                                          <p:val>
                                            <p:strVal val="#ppt_x"/>
                                          </p:val>
                                        </p:tav>
                                      </p:tavLst>
                                    </p:anim>
                                    <p:anim calcmode="lin" valueType="num">
                                      <p:cBhvr additive="base">
                                        <p:cTn id="19" dur="500" fill="hold"/>
                                        <p:tgtEl>
                                          <p:spTgt spid="650245"/>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2000"/>
                            </p:stCondLst>
                            <p:childTnLst>
                              <p:par>
                                <p:cTn id="21" presetID="2" presetClass="entr" presetSubtype="2" fill="hold" grpId="0" nodeType="afterEffect">
                                  <p:stCondLst>
                                    <p:cond delay="0"/>
                                  </p:stCondLst>
                                  <p:childTnLst>
                                    <p:set>
                                      <p:cBhvr>
                                        <p:cTn id="22" dur="1" fill="hold">
                                          <p:stCondLst>
                                            <p:cond delay="0"/>
                                          </p:stCondLst>
                                        </p:cTn>
                                        <p:tgtEl>
                                          <p:spTgt spid="650246"/>
                                        </p:tgtEl>
                                        <p:attrNameLst>
                                          <p:attrName>style.visibility</p:attrName>
                                        </p:attrNameLst>
                                      </p:cBhvr>
                                      <p:to>
                                        <p:strVal val="visible"/>
                                      </p:to>
                                    </p:set>
                                    <p:anim calcmode="lin" valueType="num">
                                      <p:cBhvr additive="base">
                                        <p:cTn id="23" dur="500" fill="hold"/>
                                        <p:tgtEl>
                                          <p:spTgt spid="650246"/>
                                        </p:tgtEl>
                                        <p:attrNameLst>
                                          <p:attrName>ppt_x</p:attrName>
                                        </p:attrNameLst>
                                      </p:cBhvr>
                                      <p:tavLst>
                                        <p:tav tm="0">
                                          <p:val>
                                            <p:strVal val="1+#ppt_w/2"/>
                                          </p:val>
                                        </p:tav>
                                        <p:tav tm="100000">
                                          <p:val>
                                            <p:strVal val="#ppt_x"/>
                                          </p:val>
                                        </p:tav>
                                      </p:tavLst>
                                    </p:anim>
                                    <p:anim calcmode="lin" valueType="num">
                                      <p:cBhvr additive="base">
                                        <p:cTn id="24" dur="500" fill="hold"/>
                                        <p:tgtEl>
                                          <p:spTgt spid="650246"/>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2500"/>
                            </p:stCondLst>
                            <p:childTnLst>
                              <p:par>
                                <p:cTn id="26" presetID="2" presetClass="entr" presetSubtype="2" fill="hold" grpId="0" nodeType="afterEffect">
                                  <p:stCondLst>
                                    <p:cond delay="0"/>
                                  </p:stCondLst>
                                  <p:childTnLst>
                                    <p:set>
                                      <p:cBhvr>
                                        <p:cTn id="27" dur="1" fill="hold">
                                          <p:stCondLst>
                                            <p:cond delay="0"/>
                                          </p:stCondLst>
                                        </p:cTn>
                                        <p:tgtEl>
                                          <p:spTgt spid="650247"/>
                                        </p:tgtEl>
                                        <p:attrNameLst>
                                          <p:attrName>style.visibility</p:attrName>
                                        </p:attrNameLst>
                                      </p:cBhvr>
                                      <p:to>
                                        <p:strVal val="visible"/>
                                      </p:to>
                                    </p:set>
                                    <p:anim calcmode="lin" valueType="num">
                                      <p:cBhvr additive="base">
                                        <p:cTn id="28" dur="500" fill="hold"/>
                                        <p:tgtEl>
                                          <p:spTgt spid="650247"/>
                                        </p:tgtEl>
                                        <p:attrNameLst>
                                          <p:attrName>ppt_x</p:attrName>
                                        </p:attrNameLst>
                                      </p:cBhvr>
                                      <p:tavLst>
                                        <p:tav tm="0">
                                          <p:val>
                                            <p:strVal val="1+#ppt_w/2"/>
                                          </p:val>
                                        </p:tav>
                                        <p:tav tm="100000">
                                          <p:val>
                                            <p:strVal val="#ppt_x"/>
                                          </p:val>
                                        </p:tav>
                                      </p:tavLst>
                                    </p:anim>
                                    <p:anim calcmode="lin" valueType="num">
                                      <p:cBhvr additive="base">
                                        <p:cTn id="29" dur="500" fill="hold"/>
                                        <p:tgtEl>
                                          <p:spTgt spid="650247"/>
                                        </p:tgtEl>
                                        <p:attrNameLst>
                                          <p:attrName>ppt_y</p:attrName>
                                        </p:attrNameLst>
                                      </p:cBhvr>
                                      <p:tavLst>
                                        <p:tav tm="0">
                                          <p:val>
                                            <p:strVal val="#ppt_y"/>
                                          </p:val>
                                        </p:tav>
                                        <p:tav tm="100000">
                                          <p:val>
                                            <p:strVal val="#ppt_y"/>
                                          </p:val>
                                        </p:tav>
                                      </p:tavLst>
                                    </p:anim>
                                  </p:childTnLst>
                                </p:cTn>
                              </p:par>
                            </p:childTnLst>
                          </p:cTn>
                        </p:par>
                        <p:par>
                          <p:cTn id="30" fill="hold" nodeType="afterGroup">
                            <p:stCondLst>
                              <p:cond delay="3000"/>
                            </p:stCondLst>
                            <p:childTnLst>
                              <p:par>
                                <p:cTn id="31" presetID="2" presetClass="entr" presetSubtype="2" fill="hold" grpId="0" nodeType="afterEffect">
                                  <p:stCondLst>
                                    <p:cond delay="0"/>
                                  </p:stCondLst>
                                  <p:childTnLst>
                                    <p:set>
                                      <p:cBhvr>
                                        <p:cTn id="32" dur="1" fill="hold">
                                          <p:stCondLst>
                                            <p:cond delay="0"/>
                                          </p:stCondLst>
                                        </p:cTn>
                                        <p:tgtEl>
                                          <p:spTgt spid="650248"/>
                                        </p:tgtEl>
                                        <p:attrNameLst>
                                          <p:attrName>style.visibility</p:attrName>
                                        </p:attrNameLst>
                                      </p:cBhvr>
                                      <p:to>
                                        <p:strVal val="visible"/>
                                      </p:to>
                                    </p:set>
                                    <p:anim calcmode="lin" valueType="num">
                                      <p:cBhvr additive="base">
                                        <p:cTn id="33" dur="500" fill="hold"/>
                                        <p:tgtEl>
                                          <p:spTgt spid="650248"/>
                                        </p:tgtEl>
                                        <p:attrNameLst>
                                          <p:attrName>ppt_x</p:attrName>
                                        </p:attrNameLst>
                                      </p:cBhvr>
                                      <p:tavLst>
                                        <p:tav tm="0">
                                          <p:val>
                                            <p:strVal val="1+#ppt_w/2"/>
                                          </p:val>
                                        </p:tav>
                                        <p:tav tm="100000">
                                          <p:val>
                                            <p:strVal val="#ppt_x"/>
                                          </p:val>
                                        </p:tav>
                                      </p:tavLst>
                                    </p:anim>
                                    <p:anim calcmode="lin" valueType="num">
                                      <p:cBhvr additive="base">
                                        <p:cTn id="34" dur="500" fill="hold"/>
                                        <p:tgtEl>
                                          <p:spTgt spid="650248"/>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3500"/>
                            </p:stCondLst>
                            <p:childTnLst>
                              <p:par>
                                <p:cTn id="36" presetID="2" presetClass="entr" presetSubtype="2" fill="hold" grpId="0" nodeType="afterEffect">
                                  <p:stCondLst>
                                    <p:cond delay="0"/>
                                  </p:stCondLst>
                                  <p:childTnLst>
                                    <p:set>
                                      <p:cBhvr>
                                        <p:cTn id="37" dur="1" fill="hold">
                                          <p:stCondLst>
                                            <p:cond delay="0"/>
                                          </p:stCondLst>
                                        </p:cTn>
                                        <p:tgtEl>
                                          <p:spTgt spid="650249"/>
                                        </p:tgtEl>
                                        <p:attrNameLst>
                                          <p:attrName>style.visibility</p:attrName>
                                        </p:attrNameLst>
                                      </p:cBhvr>
                                      <p:to>
                                        <p:strVal val="visible"/>
                                      </p:to>
                                    </p:set>
                                    <p:anim calcmode="lin" valueType="num">
                                      <p:cBhvr additive="base">
                                        <p:cTn id="38" dur="500" fill="hold"/>
                                        <p:tgtEl>
                                          <p:spTgt spid="650249"/>
                                        </p:tgtEl>
                                        <p:attrNameLst>
                                          <p:attrName>ppt_x</p:attrName>
                                        </p:attrNameLst>
                                      </p:cBhvr>
                                      <p:tavLst>
                                        <p:tav tm="0">
                                          <p:val>
                                            <p:strVal val="1+#ppt_w/2"/>
                                          </p:val>
                                        </p:tav>
                                        <p:tav tm="100000">
                                          <p:val>
                                            <p:strVal val="#ppt_x"/>
                                          </p:val>
                                        </p:tav>
                                      </p:tavLst>
                                    </p:anim>
                                    <p:anim calcmode="lin" valueType="num">
                                      <p:cBhvr additive="base">
                                        <p:cTn id="39" dur="500" fill="hold"/>
                                        <p:tgtEl>
                                          <p:spTgt spid="6502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242" grpId="0" animBg="1" autoUpdateAnimBg="0"/>
      <p:bldP spid="650243" grpId="0" autoUpdateAnimBg="0"/>
      <p:bldP spid="650245" grpId="0" animBg="1" autoUpdateAnimBg="0"/>
      <p:bldP spid="650246" grpId="0" animBg="1" autoUpdateAnimBg="0"/>
      <p:bldP spid="650247" grpId="0" animBg="1" autoUpdateAnimBg="0"/>
      <p:bldP spid="650248" grpId="0" animBg="1" autoUpdateAnimBg="0"/>
      <p:bldP spid="650249" grpId="0" animBg="1" autoUpdateAnimBg="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865842E5-6A34-422E-824D-B240DC084220}" type="slidenum">
              <a:rPr lang="en-US" altLang="zh-CN" sz="1400" b="0"/>
              <a:pPr eaLnBrk="1" hangingPunct="1"/>
              <a:t>139</a:t>
            </a:fld>
            <a:endParaRPr lang="en-US" altLang="zh-CN" sz="1400" b="0"/>
          </a:p>
        </p:txBody>
      </p:sp>
      <p:sp>
        <p:nvSpPr>
          <p:cNvPr id="651266" name="Rectangle 2"/>
          <p:cNvSpPr>
            <a:spLocks noChangeArrowheads="1"/>
          </p:cNvSpPr>
          <p:nvPr/>
        </p:nvSpPr>
        <p:spPr bwMode="auto">
          <a:xfrm>
            <a:off x="468313" y="1125538"/>
            <a:ext cx="8077200" cy="496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82613"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3200">
                <a:latin typeface="宋体" panose="02010600030101010101" pitchFamily="2" charset="-122"/>
              </a:rPr>
              <a:t>将</a:t>
            </a:r>
            <a:r>
              <a:rPr lang="en-US" altLang="zh-CN" sz="3200">
                <a:latin typeface="宋体" panose="02010600030101010101" pitchFamily="2" charset="-122"/>
              </a:rPr>
              <a:t>SWWSR</a:t>
            </a:r>
            <a:r>
              <a:rPr lang="zh-CN" altLang="en-US" sz="3200">
                <a:latin typeface="宋体" panose="02010600030101010101" pitchFamily="2" charset="-122"/>
              </a:rPr>
              <a:t>中相应的字段值加载到计数器。等待状态计数器减计数。当计数器减到</a:t>
            </a:r>
            <a:r>
              <a:rPr lang="en-US" altLang="zh-CN" sz="3200">
                <a:latin typeface="宋体" panose="02010600030101010101" pitchFamily="2" charset="-122"/>
              </a:rPr>
              <a:t>0</a:t>
            </a:r>
            <a:r>
              <a:rPr lang="zh-CN" altLang="en-US" sz="3200">
                <a:latin typeface="宋体" panose="02010600030101010101" pitchFamily="2" charset="-122"/>
              </a:rPr>
              <a:t>且外部</a:t>
            </a:r>
            <a:r>
              <a:rPr lang="en-US" altLang="zh-CN" sz="3200">
                <a:latin typeface="宋体" panose="02010600030101010101" pitchFamily="2" charset="-122"/>
              </a:rPr>
              <a:t>READY</a:t>
            </a:r>
            <a:r>
              <a:rPr lang="zh-CN" altLang="en-US" sz="3200">
                <a:latin typeface="宋体" panose="02010600030101010101" pitchFamily="2" charset="-122"/>
              </a:rPr>
              <a:t>线置高电平，经或门加到</a:t>
            </a:r>
            <a:r>
              <a:rPr lang="en-US" altLang="zh-CN" sz="3200">
                <a:latin typeface="宋体" panose="02010600030101010101" pitchFamily="2" charset="-122"/>
              </a:rPr>
              <a:t>CPU</a:t>
            </a:r>
            <a:r>
              <a:rPr lang="zh-CN" altLang="en-US" sz="3200">
                <a:latin typeface="宋体" panose="02010600030101010101" pitchFamily="2" charset="-122"/>
              </a:rPr>
              <a:t>的　</a:t>
            </a:r>
            <a:r>
              <a:rPr lang="en-US" altLang="zh-CN" sz="3200">
                <a:latin typeface="宋体" panose="02010600030101010101" pitchFamily="2" charset="-122"/>
              </a:rPr>
              <a:t>WAIT</a:t>
            </a:r>
            <a:r>
              <a:rPr lang="zh-CN" altLang="en-US" sz="3200">
                <a:latin typeface="宋体" panose="02010600030101010101" pitchFamily="2" charset="-122"/>
              </a:rPr>
              <a:t>端，结束等待状态。</a:t>
            </a:r>
          </a:p>
          <a:p>
            <a:pPr algn="just" eaLnBrk="1" hangingPunct="1"/>
            <a:r>
              <a:rPr lang="zh-CN" altLang="en-US" sz="3200">
                <a:solidFill>
                  <a:srgbClr val="FF0066"/>
                </a:solidFill>
                <a:latin typeface="宋体" panose="02010600030101010101" pitchFamily="2" charset="-122"/>
              </a:rPr>
              <a:t>注意：只有插入</a:t>
            </a:r>
            <a:r>
              <a:rPr lang="en-US" altLang="zh-CN" sz="3200">
                <a:solidFill>
                  <a:srgbClr val="FF0066"/>
                </a:solidFill>
                <a:latin typeface="宋体" panose="02010600030101010101" pitchFamily="2" charset="-122"/>
              </a:rPr>
              <a:t>2</a:t>
            </a:r>
            <a:r>
              <a:rPr lang="zh-CN" altLang="en-US" sz="3200">
                <a:solidFill>
                  <a:srgbClr val="FF0066"/>
                </a:solidFill>
                <a:latin typeface="宋体" panose="02010600030101010101" pitchFamily="2" charset="-122"/>
              </a:rPr>
              <a:t>个以上机器周期时，</a:t>
            </a:r>
            <a:r>
              <a:rPr lang="en-US" altLang="zh-CN" sz="3200">
                <a:solidFill>
                  <a:srgbClr val="FF0066"/>
                </a:solidFill>
                <a:latin typeface="宋体" panose="02010600030101010101" pitchFamily="2" charset="-122"/>
              </a:rPr>
              <a:t>CPU</a:t>
            </a:r>
            <a:r>
              <a:rPr lang="zh-CN" altLang="en-US" sz="3200">
                <a:solidFill>
                  <a:srgbClr val="FF0066"/>
                </a:solidFill>
                <a:latin typeface="宋体" panose="02010600030101010101" pitchFamily="2" charset="-122"/>
              </a:rPr>
              <a:t>才在</a:t>
            </a:r>
            <a:r>
              <a:rPr lang="en-US" altLang="zh-CN" sz="3200">
                <a:solidFill>
                  <a:srgbClr val="FF0066"/>
                </a:solidFill>
                <a:latin typeface="宋体" panose="02010600030101010101" pitchFamily="2" charset="-122"/>
              </a:rPr>
              <a:t>CLKOUT</a:t>
            </a:r>
            <a:r>
              <a:rPr lang="zh-CN" altLang="en-US" sz="3200">
                <a:solidFill>
                  <a:srgbClr val="FF0066"/>
                </a:solidFill>
                <a:latin typeface="宋体" panose="02010600030101010101" pitchFamily="2" charset="-122"/>
              </a:rPr>
              <a:t>的下降沿检测外部</a:t>
            </a:r>
            <a:r>
              <a:rPr lang="en-US" altLang="zh-CN" sz="3200">
                <a:solidFill>
                  <a:srgbClr val="FF0066"/>
                </a:solidFill>
                <a:latin typeface="宋体" panose="02010600030101010101" pitchFamily="2" charset="-122"/>
              </a:rPr>
              <a:t>READY</a:t>
            </a:r>
            <a:r>
              <a:rPr lang="zh-CN" altLang="en-US" sz="3200">
                <a:solidFill>
                  <a:srgbClr val="FF0066"/>
                </a:solidFill>
                <a:latin typeface="宋体" panose="02010600030101010101" pitchFamily="2" charset="-122"/>
              </a:rPr>
              <a:t>信号。执行到最后一个等待状态时，</a:t>
            </a:r>
            <a:r>
              <a:rPr lang="en-US" altLang="zh-CN" sz="3200">
                <a:solidFill>
                  <a:srgbClr val="FF0066"/>
                </a:solidFill>
                <a:latin typeface="宋体" panose="02010600030101010101" pitchFamily="2" charset="-122"/>
              </a:rPr>
              <a:t>MSC</a:t>
            </a:r>
            <a:r>
              <a:rPr lang="zh-CN" altLang="en-US" sz="3200">
                <a:solidFill>
                  <a:srgbClr val="FF0066"/>
                </a:solidFill>
                <a:latin typeface="宋体" panose="02010600030101010101" pitchFamily="2" charset="-122"/>
              </a:rPr>
              <a:t>信号将变成低</a:t>
            </a:r>
            <a:r>
              <a:rPr lang="zh-CN" altLang="en-US" sz="3200">
                <a:solidFill>
                  <a:srgbClr val="FF0000"/>
                </a:solidFill>
                <a:latin typeface="宋体" panose="02010600030101010101" pitchFamily="2" charset="-122"/>
              </a:rPr>
              <a:t>电平。</a:t>
            </a:r>
          </a:p>
          <a:p>
            <a:pPr algn="just" eaLnBrk="1" hangingPunct="1"/>
            <a:r>
              <a:rPr lang="zh-CN" altLang="en-US" sz="3200">
                <a:latin typeface="宋体" panose="02010600030101010101" pitchFamily="2" charset="-122"/>
              </a:rPr>
              <a:t>利用这一特点，可以再附加插入硬件等状态。</a:t>
            </a:r>
            <a:endParaRPr lang="zh-CN" altLang="en-US" sz="3200"/>
          </a:p>
        </p:txBody>
      </p:sp>
      <p:sp>
        <p:nvSpPr>
          <p:cNvPr id="152580" name="Line 3"/>
          <p:cNvSpPr>
            <a:spLocks noChangeShapeType="1"/>
          </p:cNvSpPr>
          <p:nvPr/>
        </p:nvSpPr>
        <p:spPr bwMode="auto">
          <a:xfrm>
            <a:off x="6084888" y="4076700"/>
            <a:ext cx="609600" cy="0"/>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2581" name="Line 4"/>
          <p:cNvSpPr>
            <a:spLocks noChangeShapeType="1"/>
          </p:cNvSpPr>
          <p:nvPr/>
        </p:nvSpPr>
        <p:spPr bwMode="auto">
          <a:xfrm>
            <a:off x="611188" y="270827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2582" name="Line 5"/>
          <p:cNvSpPr>
            <a:spLocks noChangeShapeType="1"/>
          </p:cNvSpPr>
          <p:nvPr/>
        </p:nvSpPr>
        <p:spPr bwMode="auto">
          <a:xfrm>
            <a:off x="6119813" y="4184650"/>
            <a:ext cx="576262" cy="0"/>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651266"/>
                                        </p:tgtEl>
                                        <p:attrNameLst>
                                          <p:attrName>style.visibility</p:attrName>
                                        </p:attrNameLst>
                                      </p:cBhvr>
                                      <p:to>
                                        <p:strVal val="visible"/>
                                      </p:to>
                                    </p:set>
                                    <p:animEffect transition="in" filter="barn(outHorizontal)">
                                      <p:cBhvr>
                                        <p:cTn id="7" dur="500"/>
                                        <p:tgtEl>
                                          <p:spTgt spid="65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1266" grpId="0" autoUpdateAnimBg="0"/>
    </p:bldLst>
  </p:timing>
</p:sld>
</file>

<file path=ppt/slides/slide1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2290" name="Rectangle 2"/>
          <p:cNvSpPr>
            <a:spLocks noGrp="1" noChangeArrowheads="1"/>
          </p:cNvSpPr>
          <p:nvPr>
            <p:ph type="title"/>
          </p:nvPr>
        </p:nvSpPr>
        <p:spPr bwMode="auto">
          <a:xfrm>
            <a:off x="685800" y="1219200"/>
            <a:ext cx="7772400" cy="1371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66"/>
                </a:solidFill>
                <a:latin typeface="Arial" panose="020B0604020202020204" pitchFamily="34" charset="0"/>
                <a:ea typeface="仿宋_GB2312" pitchFamily="49" charset="-122"/>
              </a:rPr>
              <a:t>3.</a:t>
            </a:r>
            <a:r>
              <a:rPr lang="zh-CN" altLang="en-US" b="1">
                <a:solidFill>
                  <a:srgbClr val="FF0066"/>
                </a:solidFill>
                <a:latin typeface="Arial" panose="020B0604020202020204" pitchFamily="34" charset="0"/>
                <a:ea typeface="仿宋_GB2312" pitchFamily="49" charset="-122"/>
              </a:rPr>
              <a:t>利用软件等待实现</a:t>
            </a:r>
            <a:br>
              <a:rPr lang="zh-CN" altLang="en-US" b="1">
                <a:solidFill>
                  <a:srgbClr val="FF0066"/>
                </a:solidFill>
                <a:latin typeface="Arial" panose="020B0604020202020204" pitchFamily="34" charset="0"/>
                <a:ea typeface="仿宋_GB2312" pitchFamily="49" charset="-122"/>
              </a:rPr>
            </a:br>
            <a:r>
              <a:rPr lang="zh-CN" altLang="en-US" b="1">
                <a:solidFill>
                  <a:srgbClr val="FF0066"/>
                </a:solidFill>
                <a:latin typeface="Arial" panose="020B0604020202020204" pitchFamily="34" charset="0"/>
                <a:ea typeface="仿宋_GB2312" pitchFamily="49" charset="-122"/>
              </a:rPr>
              <a:t>接口的速度配合</a:t>
            </a:r>
            <a:endParaRPr lang="zh-CN" altLang="en-US" b="1">
              <a:solidFill>
                <a:srgbClr val="FF0066"/>
              </a:solidFill>
              <a:latin typeface="Arial" panose="020B0604020202020204" pitchFamily="34" charset="0"/>
              <a:cs typeface="Arial" panose="020B0604020202020204" pitchFamily="34" charset="0"/>
            </a:endParaRPr>
          </a:p>
        </p:txBody>
      </p:sp>
      <p:sp>
        <p:nvSpPr>
          <p:cNvPr id="153603" name="Rectangle 3"/>
          <p:cNvSpPr>
            <a:spLocks noGrp="1" noChangeArrowheads="1"/>
          </p:cNvSpPr>
          <p:nvPr>
            <p:ph idx="1"/>
          </p:nvPr>
        </p:nvSpPr>
        <p:spPr bwMode="auto">
          <a:xfrm>
            <a:off x="323850" y="2819400"/>
            <a:ext cx="8496300" cy="3292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eaLnBrk="1" hangingPunct="1">
              <a:buFontTx/>
              <a:buNone/>
            </a:pPr>
            <a:r>
              <a:rPr lang="zh-CN" altLang="en-US" b="1">
                <a:latin typeface="Arial" panose="020B0604020202020204" pitchFamily="34" charset="0"/>
                <a:ea typeface="黑体" panose="02010609060101010101" pitchFamily="49" charset="-122"/>
              </a:rPr>
              <a:t>例</a:t>
            </a:r>
            <a:r>
              <a:rPr lang="en-US" altLang="zh-CN" b="1">
                <a:latin typeface="Arial" panose="020B0604020202020204" pitchFamily="34" charset="0"/>
                <a:ea typeface="黑体" panose="02010609060101010101" pitchFamily="49" charset="-122"/>
              </a:rPr>
              <a:t>2-1  </a:t>
            </a:r>
            <a:r>
              <a:rPr lang="zh-CN" altLang="en-US" b="1">
                <a:latin typeface="宋体" panose="02010600030101010101" pitchFamily="2" charset="-122"/>
              </a:rPr>
              <a:t>试为</a:t>
            </a:r>
            <a:r>
              <a:rPr lang="en-US" altLang="zh-CN" b="1">
                <a:latin typeface="宋体" panose="02010600030101010101" pitchFamily="2" charset="-122"/>
              </a:rPr>
              <a:t>TMS320C54x-40</a:t>
            </a:r>
            <a:r>
              <a:rPr lang="zh-CN" altLang="en-US" b="1">
                <a:latin typeface="宋体" panose="02010600030101010101" pitchFamily="2" charset="-122"/>
              </a:rPr>
              <a:t>作如下外设配置：</a:t>
            </a:r>
          </a:p>
          <a:p>
            <a:pPr marL="0" indent="0" algn="just" eaLnBrk="1" hangingPunct="1">
              <a:buFontTx/>
              <a:buNone/>
            </a:pPr>
            <a:r>
              <a:rPr lang="zh-CN" altLang="en-US" b="1">
                <a:latin typeface="宋体" panose="02010600030101010101" pitchFamily="2" charset="-122"/>
              </a:rPr>
              <a:t>程序存储器</a:t>
            </a:r>
            <a:r>
              <a:rPr lang="en-US" altLang="zh-CN" b="1">
                <a:latin typeface="宋体" panose="02010600030101010101" pitchFamily="2" charset="-122"/>
              </a:rPr>
              <a:t>(</a:t>
            </a:r>
            <a:r>
              <a:rPr lang="zh-CN" altLang="en-US" b="1">
                <a:latin typeface="宋体" panose="02010600030101010101" pitchFamily="2" charset="-122"/>
              </a:rPr>
              <a:t>高</a:t>
            </a:r>
            <a:r>
              <a:rPr lang="en-US" altLang="zh-CN" b="1">
                <a:latin typeface="宋体" panose="02010600030101010101" pitchFamily="2" charset="-122"/>
              </a:rPr>
              <a:t>) EPROM 8K×16</a:t>
            </a:r>
            <a:r>
              <a:rPr lang="zh-CN" altLang="en-US" b="1">
                <a:latin typeface="宋体" panose="02010600030101010101" pitchFamily="2" charset="-122"/>
              </a:rPr>
              <a:t>位，</a:t>
            </a:r>
            <a:r>
              <a:rPr lang="en-US" altLang="zh-CN" b="1">
                <a:latin typeface="宋体" panose="02010600030101010101" pitchFamily="2" charset="-122"/>
              </a:rPr>
              <a:t>t</a:t>
            </a:r>
            <a:r>
              <a:rPr lang="en-US" altLang="zh-CN" b="1" baseline="-30000">
                <a:latin typeface="宋体" panose="02010600030101010101" pitchFamily="2" charset="-122"/>
              </a:rPr>
              <a:t>a</a:t>
            </a:r>
            <a:r>
              <a:rPr lang="en-US" altLang="zh-CN" b="1">
                <a:latin typeface="宋体" panose="02010600030101010101" pitchFamily="2" charset="-122"/>
              </a:rPr>
              <a:t>=70ns  </a:t>
            </a:r>
          </a:p>
          <a:p>
            <a:pPr marL="0" indent="0" algn="just" eaLnBrk="1" hangingPunct="1">
              <a:buFontTx/>
              <a:buNone/>
            </a:pPr>
            <a:r>
              <a:rPr lang="zh-CN" altLang="en-US" b="1">
                <a:latin typeface="宋体" panose="02010600030101010101" pitchFamily="2" charset="-122"/>
              </a:rPr>
              <a:t>数据存储器      </a:t>
            </a:r>
            <a:r>
              <a:rPr lang="en-US" altLang="zh-CN" b="1">
                <a:latin typeface="宋体" panose="02010600030101010101" pitchFamily="2" charset="-122"/>
              </a:rPr>
              <a:t>SRAM 8K×16</a:t>
            </a:r>
            <a:r>
              <a:rPr lang="zh-CN" altLang="en-US" b="1">
                <a:latin typeface="宋体" panose="02010600030101010101" pitchFamily="2" charset="-122"/>
              </a:rPr>
              <a:t>位，</a:t>
            </a:r>
            <a:r>
              <a:rPr lang="en-US" altLang="zh-CN" b="1">
                <a:latin typeface="宋体" panose="02010600030101010101" pitchFamily="2" charset="-122"/>
              </a:rPr>
              <a:t>t</a:t>
            </a:r>
            <a:r>
              <a:rPr lang="en-US" altLang="zh-CN" b="1" baseline="-30000">
                <a:latin typeface="宋体" panose="02010600030101010101" pitchFamily="2" charset="-122"/>
              </a:rPr>
              <a:t>a</a:t>
            </a:r>
            <a:r>
              <a:rPr lang="en-US" altLang="zh-CN" b="1">
                <a:latin typeface="宋体" panose="02010600030101010101" pitchFamily="2" charset="-122"/>
              </a:rPr>
              <a:t>=12ns  </a:t>
            </a:r>
          </a:p>
          <a:p>
            <a:pPr marL="0" indent="0" algn="just" eaLnBrk="1" hangingPunct="1">
              <a:buFontTx/>
              <a:buNone/>
            </a:pPr>
            <a:r>
              <a:rPr lang="en-US" altLang="zh-CN" b="1">
                <a:latin typeface="宋体" panose="02010600030101010101" pitchFamily="2" charset="-122"/>
              </a:rPr>
              <a:t>A/D</a:t>
            </a:r>
            <a:r>
              <a:rPr lang="zh-CN" altLang="en-US" b="1">
                <a:latin typeface="宋体" panose="02010600030101010101" pitchFamily="2" charset="-122"/>
              </a:rPr>
              <a:t>和</a:t>
            </a:r>
            <a:r>
              <a:rPr lang="en-US" altLang="zh-CN" b="1">
                <a:latin typeface="宋体" panose="02010600030101010101" pitchFamily="2" charset="-122"/>
              </a:rPr>
              <a:t>D/A</a:t>
            </a:r>
            <a:r>
              <a:rPr lang="zh-CN" altLang="en-US" b="1">
                <a:latin typeface="宋体" panose="02010600030101010101" pitchFamily="2" charset="-122"/>
              </a:rPr>
              <a:t>变换器  </a:t>
            </a:r>
            <a:r>
              <a:rPr lang="en-US" altLang="zh-CN" b="1">
                <a:latin typeface="宋体" panose="02010600030101010101" pitchFamily="2" charset="-122"/>
              </a:rPr>
              <a:t>16</a:t>
            </a:r>
            <a:r>
              <a:rPr lang="zh-CN" altLang="en-US" b="1">
                <a:latin typeface="宋体" panose="02010600030101010101" pitchFamily="2" charset="-122"/>
              </a:rPr>
              <a:t>位，转换时间</a:t>
            </a:r>
            <a:r>
              <a:rPr lang="en-US" altLang="zh-CN" b="1">
                <a:latin typeface="宋体" panose="02010600030101010101" pitchFamily="2" charset="-122"/>
              </a:rPr>
              <a:t>=120ns</a:t>
            </a:r>
          </a:p>
          <a:p>
            <a:pPr marL="0" indent="0" algn="just" eaLnBrk="1" hangingPunct="1">
              <a:buFontTx/>
              <a:buNone/>
            </a:pPr>
            <a:r>
              <a:rPr lang="zh-CN" altLang="en-US" b="1">
                <a:latin typeface="宋体" panose="02010600030101010101" pitchFamily="2" charset="-122"/>
              </a:rPr>
              <a:t>画出系统的接口连线图。</a:t>
            </a:r>
            <a:endParaRPr lang="zh-CN" altLang="en-US" b="1"/>
          </a:p>
        </p:txBody>
      </p:sp>
      <p:sp>
        <p:nvSpPr>
          <p:cNvPr id="15360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7159EC44-E9DE-4692-A810-7B50BBF89B58}" type="slidenum">
              <a:rPr lang="en-US" altLang="zh-CN" sz="1400" b="0"/>
              <a:pPr eaLnBrk="1" hangingPunct="1"/>
              <a:t>140</a:t>
            </a:fld>
            <a:endParaRPr lang="en-US" altLang="zh-CN" sz="1400" b="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52290"/>
                                        </p:tgtEl>
                                        <p:attrNameLst>
                                          <p:attrName>style.visibility</p:attrName>
                                        </p:attrNameLst>
                                      </p:cBhvr>
                                      <p:to>
                                        <p:strVal val="visible"/>
                                      </p:to>
                                    </p:set>
                                    <p:anim calcmode="lin" valueType="num">
                                      <p:cBhvr additive="base">
                                        <p:cTn id="7" dur="500" fill="hold"/>
                                        <p:tgtEl>
                                          <p:spTgt spid="652290"/>
                                        </p:tgtEl>
                                        <p:attrNameLst>
                                          <p:attrName>ppt_x</p:attrName>
                                        </p:attrNameLst>
                                      </p:cBhvr>
                                      <p:tavLst>
                                        <p:tav tm="0">
                                          <p:val>
                                            <p:strVal val="0-#ppt_w/2"/>
                                          </p:val>
                                        </p:tav>
                                        <p:tav tm="100000">
                                          <p:val>
                                            <p:strVal val="#ppt_x"/>
                                          </p:val>
                                        </p:tav>
                                      </p:tavLst>
                                    </p:anim>
                                    <p:anim calcmode="lin" valueType="num">
                                      <p:cBhvr additive="base">
                                        <p:cTn id="8" dur="500" fill="hold"/>
                                        <p:tgtEl>
                                          <p:spTgt spid="6522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290" grpId="0" autoUpdateAnimBg="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688113AA-44EC-487A-9C4C-C5D420E774F0}" type="slidenum">
              <a:rPr lang="en-US" altLang="zh-CN" sz="1400" b="0"/>
              <a:pPr eaLnBrk="1" hangingPunct="1"/>
              <a:t>141</a:t>
            </a:fld>
            <a:endParaRPr lang="en-US" altLang="zh-CN" sz="1400" b="0"/>
          </a:p>
        </p:txBody>
      </p:sp>
      <p:sp>
        <p:nvSpPr>
          <p:cNvPr id="653315" name="Text Box 3"/>
          <p:cNvSpPr txBox="1">
            <a:spLocks noChangeArrowheads="1"/>
          </p:cNvSpPr>
          <p:nvPr/>
        </p:nvSpPr>
        <p:spPr bwMode="auto">
          <a:xfrm>
            <a:off x="2268538" y="908050"/>
            <a:ext cx="41608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a:solidFill>
                  <a:srgbClr val="FF0000"/>
                </a:solidFill>
                <a:latin typeface="宋体" panose="02010600030101010101" pitchFamily="2" charset="-122"/>
              </a:rPr>
              <a:t>系统接口连线图</a:t>
            </a:r>
            <a:endParaRPr kumimoji="0" lang="zh-CN" altLang="en-US" sz="3200">
              <a:solidFill>
                <a:srgbClr val="FF0000"/>
              </a:solidFill>
            </a:endParaRPr>
          </a:p>
        </p:txBody>
      </p:sp>
      <p:grpSp>
        <p:nvGrpSpPr>
          <p:cNvPr id="154628" name="Group 240"/>
          <p:cNvGrpSpPr>
            <a:grpSpLocks/>
          </p:cNvGrpSpPr>
          <p:nvPr/>
        </p:nvGrpSpPr>
        <p:grpSpPr bwMode="auto">
          <a:xfrm>
            <a:off x="250825" y="1557338"/>
            <a:ext cx="8423275" cy="5053012"/>
            <a:chOff x="204" y="1071"/>
            <a:chExt cx="5306" cy="3183"/>
          </a:xfrm>
        </p:grpSpPr>
        <p:grpSp>
          <p:nvGrpSpPr>
            <p:cNvPr id="154633" name="Group 110"/>
            <p:cNvGrpSpPr>
              <a:grpSpLocks/>
            </p:cNvGrpSpPr>
            <p:nvPr/>
          </p:nvGrpSpPr>
          <p:grpSpPr bwMode="auto">
            <a:xfrm>
              <a:off x="3288" y="1071"/>
              <a:ext cx="1678" cy="795"/>
              <a:chOff x="3198" y="2069"/>
              <a:chExt cx="1678" cy="795"/>
            </a:xfrm>
          </p:grpSpPr>
          <p:sp>
            <p:nvSpPr>
              <p:cNvPr id="154754" name="Text Box 15"/>
              <p:cNvSpPr txBox="1">
                <a:spLocks noChangeArrowheads="1"/>
              </p:cNvSpPr>
              <p:nvPr/>
            </p:nvSpPr>
            <p:spPr bwMode="auto">
              <a:xfrm>
                <a:off x="3198" y="2070"/>
                <a:ext cx="1678" cy="757"/>
              </a:xfrm>
              <a:prstGeom prst="rect">
                <a:avLst/>
              </a:prstGeom>
              <a:solidFill>
                <a:schemeClr val="accent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sz="1800"/>
              </a:p>
              <a:p>
                <a:pPr eaLnBrk="1" hangingPunct="1">
                  <a:spcBef>
                    <a:spcPct val="50000"/>
                  </a:spcBef>
                </a:pPr>
                <a:endParaRPr lang="en-US" altLang="zh-CN" sz="1800"/>
              </a:p>
              <a:p>
                <a:pPr eaLnBrk="1" hangingPunct="1">
                  <a:spcBef>
                    <a:spcPct val="50000"/>
                  </a:spcBef>
                </a:pPr>
                <a:endParaRPr lang="en-US" altLang="zh-CN" sz="1800"/>
              </a:p>
            </p:txBody>
          </p:sp>
          <p:sp>
            <p:nvSpPr>
              <p:cNvPr id="154755" name="Text Box 16"/>
              <p:cNvSpPr txBox="1">
                <a:spLocks noChangeArrowheads="1"/>
              </p:cNvSpPr>
              <p:nvPr/>
            </p:nvSpPr>
            <p:spPr bwMode="auto">
              <a:xfrm>
                <a:off x="3198" y="2070"/>
                <a:ext cx="4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CS1</a:t>
                </a:r>
              </a:p>
            </p:txBody>
          </p:sp>
          <p:sp>
            <p:nvSpPr>
              <p:cNvPr id="154756" name="Text Box 18"/>
              <p:cNvSpPr txBox="1">
                <a:spLocks noChangeArrowheads="1"/>
              </p:cNvSpPr>
              <p:nvPr/>
            </p:nvSpPr>
            <p:spPr bwMode="auto">
              <a:xfrm>
                <a:off x="3606" y="2296"/>
                <a:ext cx="1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8k EPROM</a:t>
                </a:r>
              </a:p>
            </p:txBody>
          </p:sp>
          <p:sp>
            <p:nvSpPr>
              <p:cNvPr id="154757" name="Text Box 53"/>
              <p:cNvSpPr txBox="1">
                <a:spLocks noChangeArrowheads="1"/>
              </p:cNvSpPr>
              <p:nvPr/>
            </p:nvSpPr>
            <p:spPr bwMode="auto">
              <a:xfrm>
                <a:off x="3198" y="2251"/>
                <a:ext cx="4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OE</a:t>
                </a:r>
              </a:p>
            </p:txBody>
          </p:sp>
          <p:sp>
            <p:nvSpPr>
              <p:cNvPr id="154758" name="Text Box 54"/>
              <p:cNvSpPr txBox="1">
                <a:spLocks noChangeArrowheads="1"/>
              </p:cNvSpPr>
              <p:nvPr/>
            </p:nvSpPr>
            <p:spPr bwMode="auto">
              <a:xfrm>
                <a:off x="3198" y="2433"/>
                <a:ext cx="4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CS2</a:t>
                </a:r>
              </a:p>
            </p:txBody>
          </p:sp>
          <p:sp>
            <p:nvSpPr>
              <p:cNvPr id="154759" name="Text Box 55"/>
              <p:cNvSpPr txBox="1">
                <a:spLocks noChangeArrowheads="1"/>
              </p:cNvSpPr>
              <p:nvPr/>
            </p:nvSpPr>
            <p:spPr bwMode="auto">
              <a:xfrm>
                <a:off x="3228" y="2614"/>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A</a:t>
                </a:r>
              </a:p>
            </p:txBody>
          </p:sp>
          <p:sp>
            <p:nvSpPr>
              <p:cNvPr id="154760" name="Text Box 7"/>
              <p:cNvSpPr txBox="1">
                <a:spLocks noChangeArrowheads="1"/>
              </p:cNvSpPr>
              <p:nvPr/>
            </p:nvSpPr>
            <p:spPr bwMode="auto">
              <a:xfrm>
                <a:off x="3742" y="2069"/>
                <a:ext cx="8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PROG</a:t>
                </a:r>
              </a:p>
            </p:txBody>
          </p:sp>
          <p:sp>
            <p:nvSpPr>
              <p:cNvPr id="154761" name="Text Box 63"/>
              <p:cNvSpPr txBox="1">
                <a:spLocks noChangeArrowheads="1"/>
              </p:cNvSpPr>
              <p:nvPr/>
            </p:nvSpPr>
            <p:spPr bwMode="auto">
              <a:xfrm>
                <a:off x="3742" y="2523"/>
                <a:ext cx="8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70ns</a:t>
                </a:r>
              </a:p>
            </p:txBody>
          </p:sp>
          <p:sp>
            <p:nvSpPr>
              <p:cNvPr id="154762" name="Text Box 85"/>
              <p:cNvSpPr txBox="1">
                <a:spLocks noChangeArrowheads="1"/>
              </p:cNvSpPr>
              <p:nvPr/>
            </p:nvSpPr>
            <p:spPr bwMode="auto">
              <a:xfrm>
                <a:off x="4604" y="2478"/>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D</a:t>
                </a:r>
              </a:p>
            </p:txBody>
          </p:sp>
          <p:sp>
            <p:nvSpPr>
              <p:cNvPr id="154763" name="Line 107"/>
              <p:cNvSpPr>
                <a:spLocks noChangeShapeType="1"/>
              </p:cNvSpPr>
              <p:nvPr/>
            </p:nvSpPr>
            <p:spPr bwMode="auto">
              <a:xfrm>
                <a:off x="3243" y="2115"/>
                <a:ext cx="27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64" name="Line 108"/>
              <p:cNvSpPr>
                <a:spLocks noChangeShapeType="1"/>
              </p:cNvSpPr>
              <p:nvPr/>
            </p:nvSpPr>
            <p:spPr bwMode="auto">
              <a:xfrm>
                <a:off x="3243" y="2296"/>
                <a:ext cx="27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65" name="Line 109"/>
              <p:cNvSpPr>
                <a:spLocks noChangeShapeType="1"/>
              </p:cNvSpPr>
              <p:nvPr/>
            </p:nvSpPr>
            <p:spPr bwMode="auto">
              <a:xfrm>
                <a:off x="3243" y="2478"/>
                <a:ext cx="27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54634" name="Text Box 112"/>
            <p:cNvSpPr txBox="1">
              <a:spLocks noChangeArrowheads="1"/>
            </p:cNvSpPr>
            <p:nvPr/>
          </p:nvSpPr>
          <p:spPr bwMode="auto">
            <a:xfrm>
              <a:off x="3288" y="1888"/>
              <a:ext cx="1678" cy="1017"/>
            </a:xfrm>
            <a:prstGeom prst="rect">
              <a:avLst/>
            </a:prstGeom>
            <a:solidFill>
              <a:schemeClr va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sz="1800"/>
            </a:p>
            <a:p>
              <a:pPr eaLnBrk="1" hangingPunct="1">
                <a:spcBef>
                  <a:spcPct val="50000"/>
                </a:spcBef>
              </a:pPr>
              <a:endParaRPr lang="en-US" altLang="zh-CN" sz="1800"/>
            </a:p>
            <a:p>
              <a:pPr eaLnBrk="1" hangingPunct="1">
                <a:spcBef>
                  <a:spcPct val="50000"/>
                </a:spcBef>
              </a:pPr>
              <a:endParaRPr lang="en-US" altLang="zh-CN" sz="1800"/>
            </a:p>
            <a:p>
              <a:pPr eaLnBrk="1" hangingPunct="1">
                <a:spcBef>
                  <a:spcPct val="50000"/>
                </a:spcBef>
              </a:pPr>
              <a:endParaRPr lang="en-US" altLang="zh-CN" sz="1800"/>
            </a:p>
          </p:txBody>
        </p:sp>
        <p:sp>
          <p:nvSpPr>
            <p:cNvPr id="154635" name="Text Box 113"/>
            <p:cNvSpPr txBox="1">
              <a:spLocks noChangeArrowheads="1"/>
            </p:cNvSpPr>
            <p:nvPr/>
          </p:nvSpPr>
          <p:spPr bwMode="auto">
            <a:xfrm>
              <a:off x="3305" y="1933"/>
              <a:ext cx="498" cy="2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CS1</a:t>
              </a:r>
            </a:p>
          </p:txBody>
        </p:sp>
        <p:sp>
          <p:nvSpPr>
            <p:cNvPr id="154636" name="Text Box 114"/>
            <p:cNvSpPr txBox="1">
              <a:spLocks noChangeArrowheads="1"/>
            </p:cNvSpPr>
            <p:nvPr/>
          </p:nvSpPr>
          <p:spPr bwMode="auto">
            <a:xfrm>
              <a:off x="3696" y="2245"/>
              <a:ext cx="1224"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8k SRAM</a:t>
              </a:r>
            </a:p>
          </p:txBody>
        </p:sp>
        <p:sp>
          <p:nvSpPr>
            <p:cNvPr id="154637" name="Text Box 115"/>
            <p:cNvSpPr txBox="1">
              <a:spLocks noChangeArrowheads="1"/>
            </p:cNvSpPr>
            <p:nvPr/>
          </p:nvSpPr>
          <p:spPr bwMode="auto">
            <a:xfrm>
              <a:off x="3305" y="2115"/>
              <a:ext cx="498" cy="2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OE</a:t>
              </a:r>
            </a:p>
          </p:txBody>
        </p:sp>
        <p:sp>
          <p:nvSpPr>
            <p:cNvPr id="154638" name="Text Box 117"/>
            <p:cNvSpPr txBox="1">
              <a:spLocks noChangeArrowheads="1"/>
            </p:cNvSpPr>
            <p:nvPr/>
          </p:nvSpPr>
          <p:spPr bwMode="auto">
            <a:xfrm>
              <a:off x="3404" y="2704"/>
              <a:ext cx="272" cy="19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A</a:t>
              </a:r>
            </a:p>
          </p:txBody>
        </p:sp>
        <p:sp>
          <p:nvSpPr>
            <p:cNvPr id="154639" name="Text Box 116"/>
            <p:cNvSpPr txBox="1">
              <a:spLocks noChangeArrowheads="1"/>
            </p:cNvSpPr>
            <p:nvPr/>
          </p:nvSpPr>
          <p:spPr bwMode="auto">
            <a:xfrm>
              <a:off x="3315" y="2497"/>
              <a:ext cx="498" cy="2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CS2</a:t>
              </a:r>
            </a:p>
          </p:txBody>
        </p:sp>
        <p:sp>
          <p:nvSpPr>
            <p:cNvPr id="154640" name="Text Box 118"/>
            <p:cNvSpPr txBox="1">
              <a:spLocks noChangeArrowheads="1"/>
            </p:cNvSpPr>
            <p:nvPr/>
          </p:nvSpPr>
          <p:spPr bwMode="auto">
            <a:xfrm>
              <a:off x="3832" y="2018"/>
              <a:ext cx="862"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DATA</a:t>
              </a:r>
            </a:p>
          </p:txBody>
        </p:sp>
        <p:sp>
          <p:nvSpPr>
            <p:cNvPr id="154641" name="Text Box 119"/>
            <p:cNvSpPr txBox="1">
              <a:spLocks noChangeArrowheads="1"/>
            </p:cNvSpPr>
            <p:nvPr/>
          </p:nvSpPr>
          <p:spPr bwMode="auto">
            <a:xfrm>
              <a:off x="3832" y="2472"/>
              <a:ext cx="862"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12ns</a:t>
              </a:r>
            </a:p>
          </p:txBody>
        </p:sp>
        <p:sp>
          <p:nvSpPr>
            <p:cNvPr id="154642" name="Text Box 120"/>
            <p:cNvSpPr txBox="1">
              <a:spLocks noChangeArrowheads="1"/>
            </p:cNvSpPr>
            <p:nvPr/>
          </p:nvSpPr>
          <p:spPr bwMode="auto">
            <a:xfrm>
              <a:off x="4694" y="2427"/>
              <a:ext cx="227" cy="2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D</a:t>
              </a:r>
            </a:p>
          </p:txBody>
        </p:sp>
        <p:sp>
          <p:nvSpPr>
            <p:cNvPr id="154643" name="Line 121"/>
            <p:cNvSpPr>
              <a:spLocks noChangeShapeType="1"/>
            </p:cNvSpPr>
            <p:nvPr/>
          </p:nvSpPr>
          <p:spPr bwMode="auto">
            <a:xfrm>
              <a:off x="3350" y="1979"/>
              <a:ext cx="27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44" name="Line 122"/>
            <p:cNvSpPr>
              <a:spLocks noChangeShapeType="1"/>
            </p:cNvSpPr>
            <p:nvPr/>
          </p:nvSpPr>
          <p:spPr bwMode="auto">
            <a:xfrm>
              <a:off x="3350" y="2160"/>
              <a:ext cx="27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45" name="Text Box 137"/>
            <p:cNvSpPr txBox="1">
              <a:spLocks noChangeArrowheads="1"/>
            </p:cNvSpPr>
            <p:nvPr/>
          </p:nvSpPr>
          <p:spPr bwMode="auto">
            <a:xfrm>
              <a:off x="3305" y="2296"/>
              <a:ext cx="498" cy="2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WE</a:t>
              </a:r>
            </a:p>
          </p:txBody>
        </p:sp>
        <p:sp>
          <p:nvSpPr>
            <p:cNvPr id="154646" name="Line 138"/>
            <p:cNvSpPr>
              <a:spLocks noChangeShapeType="1"/>
            </p:cNvSpPr>
            <p:nvPr/>
          </p:nvSpPr>
          <p:spPr bwMode="auto">
            <a:xfrm>
              <a:off x="3350" y="2351"/>
              <a:ext cx="27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47" name="Text Box 141"/>
            <p:cNvSpPr txBox="1">
              <a:spLocks noChangeArrowheads="1"/>
            </p:cNvSpPr>
            <p:nvPr/>
          </p:nvSpPr>
          <p:spPr bwMode="auto">
            <a:xfrm>
              <a:off x="3288" y="2971"/>
              <a:ext cx="1678" cy="1017"/>
            </a:xfrm>
            <a:prstGeom prst="rect">
              <a:avLst/>
            </a:prstGeom>
            <a:solidFill>
              <a:srgbClr val="FFFF99"/>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sz="1800"/>
            </a:p>
            <a:p>
              <a:pPr eaLnBrk="1" hangingPunct="1">
                <a:spcBef>
                  <a:spcPct val="50000"/>
                </a:spcBef>
              </a:pPr>
              <a:endParaRPr lang="en-US" altLang="zh-CN" sz="1800"/>
            </a:p>
            <a:p>
              <a:pPr eaLnBrk="1" hangingPunct="1">
                <a:spcBef>
                  <a:spcPct val="50000"/>
                </a:spcBef>
              </a:pPr>
              <a:endParaRPr lang="en-US" altLang="zh-CN" sz="1800"/>
            </a:p>
            <a:p>
              <a:pPr eaLnBrk="1" hangingPunct="1">
                <a:spcBef>
                  <a:spcPct val="50000"/>
                </a:spcBef>
              </a:pPr>
              <a:endParaRPr lang="en-US" altLang="zh-CN" sz="1800"/>
            </a:p>
          </p:txBody>
        </p:sp>
        <p:sp>
          <p:nvSpPr>
            <p:cNvPr id="154648" name="Text Box 142"/>
            <p:cNvSpPr txBox="1">
              <a:spLocks noChangeArrowheads="1"/>
            </p:cNvSpPr>
            <p:nvPr/>
          </p:nvSpPr>
          <p:spPr bwMode="auto">
            <a:xfrm>
              <a:off x="3288" y="2971"/>
              <a:ext cx="4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CS1</a:t>
              </a:r>
            </a:p>
          </p:txBody>
        </p:sp>
        <p:sp>
          <p:nvSpPr>
            <p:cNvPr id="154649" name="Text Box 143"/>
            <p:cNvSpPr txBox="1">
              <a:spLocks noChangeArrowheads="1"/>
            </p:cNvSpPr>
            <p:nvPr/>
          </p:nvSpPr>
          <p:spPr bwMode="auto">
            <a:xfrm>
              <a:off x="3973" y="3328"/>
              <a:ext cx="6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1DAC</a:t>
              </a:r>
            </a:p>
          </p:txBody>
        </p:sp>
        <p:sp>
          <p:nvSpPr>
            <p:cNvPr id="154650" name="Text Box 144"/>
            <p:cNvSpPr txBox="1">
              <a:spLocks noChangeArrowheads="1"/>
            </p:cNvSpPr>
            <p:nvPr/>
          </p:nvSpPr>
          <p:spPr bwMode="auto">
            <a:xfrm>
              <a:off x="3288" y="3152"/>
              <a:ext cx="4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OE</a:t>
              </a:r>
            </a:p>
          </p:txBody>
        </p:sp>
        <p:sp>
          <p:nvSpPr>
            <p:cNvPr id="154651" name="Text Box 145"/>
            <p:cNvSpPr txBox="1">
              <a:spLocks noChangeArrowheads="1"/>
            </p:cNvSpPr>
            <p:nvPr/>
          </p:nvSpPr>
          <p:spPr bwMode="auto">
            <a:xfrm>
              <a:off x="3298" y="3534"/>
              <a:ext cx="4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CS2</a:t>
              </a:r>
            </a:p>
          </p:txBody>
        </p:sp>
        <p:sp>
          <p:nvSpPr>
            <p:cNvPr id="154652" name="Text Box 146"/>
            <p:cNvSpPr txBox="1">
              <a:spLocks noChangeArrowheads="1"/>
            </p:cNvSpPr>
            <p:nvPr/>
          </p:nvSpPr>
          <p:spPr bwMode="auto">
            <a:xfrm>
              <a:off x="3328" y="3715"/>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A</a:t>
              </a:r>
            </a:p>
          </p:txBody>
        </p:sp>
        <p:sp>
          <p:nvSpPr>
            <p:cNvPr id="154653" name="Text Box 147"/>
            <p:cNvSpPr txBox="1">
              <a:spLocks noChangeArrowheads="1"/>
            </p:cNvSpPr>
            <p:nvPr/>
          </p:nvSpPr>
          <p:spPr bwMode="auto">
            <a:xfrm>
              <a:off x="3968" y="2986"/>
              <a:ext cx="6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tx2"/>
                  </a:solidFill>
                </a:rPr>
                <a:t>1ADC</a:t>
              </a:r>
            </a:p>
          </p:txBody>
        </p:sp>
        <p:sp>
          <p:nvSpPr>
            <p:cNvPr id="154654" name="Text Box 148"/>
            <p:cNvSpPr txBox="1">
              <a:spLocks noChangeArrowheads="1"/>
            </p:cNvSpPr>
            <p:nvPr/>
          </p:nvSpPr>
          <p:spPr bwMode="auto">
            <a:xfrm>
              <a:off x="3877" y="3611"/>
              <a:ext cx="8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120ns</a:t>
              </a:r>
            </a:p>
          </p:txBody>
        </p:sp>
        <p:sp>
          <p:nvSpPr>
            <p:cNvPr id="154655" name="Text Box 149"/>
            <p:cNvSpPr txBox="1">
              <a:spLocks noChangeArrowheads="1"/>
            </p:cNvSpPr>
            <p:nvPr/>
          </p:nvSpPr>
          <p:spPr bwMode="auto">
            <a:xfrm>
              <a:off x="4694" y="3509"/>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D</a:t>
              </a:r>
            </a:p>
          </p:txBody>
        </p:sp>
        <p:sp>
          <p:nvSpPr>
            <p:cNvPr id="154656" name="Line 150"/>
            <p:cNvSpPr>
              <a:spLocks noChangeShapeType="1"/>
            </p:cNvSpPr>
            <p:nvPr/>
          </p:nvSpPr>
          <p:spPr bwMode="auto">
            <a:xfrm>
              <a:off x="3313" y="3016"/>
              <a:ext cx="27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57" name="Line 151"/>
            <p:cNvSpPr>
              <a:spLocks noChangeShapeType="1"/>
            </p:cNvSpPr>
            <p:nvPr/>
          </p:nvSpPr>
          <p:spPr bwMode="auto">
            <a:xfrm>
              <a:off x="3333" y="3197"/>
              <a:ext cx="27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58" name="Line 152"/>
            <p:cNvSpPr>
              <a:spLocks noChangeShapeType="1"/>
            </p:cNvSpPr>
            <p:nvPr/>
          </p:nvSpPr>
          <p:spPr bwMode="auto">
            <a:xfrm>
              <a:off x="3343" y="3579"/>
              <a:ext cx="27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59" name="Text Box 153"/>
            <p:cNvSpPr txBox="1">
              <a:spLocks noChangeArrowheads="1"/>
            </p:cNvSpPr>
            <p:nvPr/>
          </p:nvSpPr>
          <p:spPr bwMode="auto">
            <a:xfrm>
              <a:off x="3288" y="3333"/>
              <a:ext cx="4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WE</a:t>
              </a:r>
            </a:p>
          </p:txBody>
        </p:sp>
        <p:sp>
          <p:nvSpPr>
            <p:cNvPr id="154660" name="Line 154"/>
            <p:cNvSpPr>
              <a:spLocks noChangeShapeType="1"/>
            </p:cNvSpPr>
            <p:nvPr/>
          </p:nvSpPr>
          <p:spPr bwMode="auto">
            <a:xfrm>
              <a:off x="3333" y="3388"/>
              <a:ext cx="27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61" name="Text Box 155"/>
            <p:cNvSpPr txBox="1">
              <a:spLocks noChangeArrowheads="1"/>
            </p:cNvSpPr>
            <p:nvPr/>
          </p:nvSpPr>
          <p:spPr bwMode="auto">
            <a:xfrm>
              <a:off x="4079" y="3154"/>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&amp;</a:t>
              </a:r>
            </a:p>
          </p:txBody>
        </p:sp>
        <p:sp>
          <p:nvSpPr>
            <p:cNvPr id="154662" name="Line 123"/>
            <p:cNvSpPr>
              <a:spLocks noChangeShapeType="1"/>
            </p:cNvSpPr>
            <p:nvPr/>
          </p:nvSpPr>
          <p:spPr bwMode="auto">
            <a:xfrm>
              <a:off x="3360" y="2542"/>
              <a:ext cx="27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63" name="Text Box 9"/>
            <p:cNvSpPr txBox="1">
              <a:spLocks noChangeArrowheads="1"/>
            </p:cNvSpPr>
            <p:nvPr/>
          </p:nvSpPr>
          <p:spPr bwMode="auto">
            <a:xfrm>
              <a:off x="204" y="1118"/>
              <a:ext cx="1587" cy="3136"/>
            </a:xfrm>
            <a:prstGeom prst="rect">
              <a:avLst/>
            </a:prstGeom>
            <a:solidFill>
              <a:srgbClr val="00FFFF"/>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p:txBody>
        </p:sp>
        <p:sp>
          <p:nvSpPr>
            <p:cNvPr id="154664" name="Text Box 10"/>
            <p:cNvSpPr txBox="1">
              <a:spLocks noChangeArrowheads="1"/>
            </p:cNvSpPr>
            <p:nvPr/>
          </p:nvSpPr>
          <p:spPr bwMode="auto">
            <a:xfrm>
              <a:off x="1027" y="1809"/>
              <a:ext cx="7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PS</a:t>
              </a:r>
            </a:p>
          </p:txBody>
        </p:sp>
        <p:sp>
          <p:nvSpPr>
            <p:cNvPr id="154665" name="Text Box 11"/>
            <p:cNvSpPr txBox="1">
              <a:spLocks noChangeArrowheads="1"/>
            </p:cNvSpPr>
            <p:nvPr/>
          </p:nvSpPr>
          <p:spPr bwMode="auto">
            <a:xfrm>
              <a:off x="624" y="1585"/>
              <a:ext cx="111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ADDRES</a:t>
              </a:r>
            </a:p>
          </p:txBody>
        </p:sp>
        <p:sp>
          <p:nvSpPr>
            <p:cNvPr id="154666" name="Text Box 12"/>
            <p:cNvSpPr txBox="1">
              <a:spLocks noChangeArrowheads="1"/>
            </p:cNvSpPr>
            <p:nvPr/>
          </p:nvSpPr>
          <p:spPr bwMode="auto">
            <a:xfrm>
              <a:off x="1262" y="2031"/>
              <a:ext cx="4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DS</a:t>
              </a:r>
            </a:p>
          </p:txBody>
        </p:sp>
        <p:sp>
          <p:nvSpPr>
            <p:cNvPr id="154667" name="Text Box 13"/>
            <p:cNvSpPr txBox="1">
              <a:spLocks noChangeArrowheads="1"/>
            </p:cNvSpPr>
            <p:nvPr/>
          </p:nvSpPr>
          <p:spPr bwMode="auto">
            <a:xfrm>
              <a:off x="1321" y="2255"/>
              <a:ext cx="41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IS</a:t>
              </a:r>
            </a:p>
          </p:txBody>
        </p:sp>
        <p:sp>
          <p:nvSpPr>
            <p:cNvPr id="154668" name="Text Box 14"/>
            <p:cNvSpPr txBox="1">
              <a:spLocks noChangeArrowheads="1"/>
            </p:cNvSpPr>
            <p:nvPr/>
          </p:nvSpPr>
          <p:spPr bwMode="auto">
            <a:xfrm>
              <a:off x="264" y="1117"/>
              <a:ext cx="14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solidFill>
                    <a:srgbClr val="FF0000"/>
                  </a:solidFill>
                </a:rPr>
                <a:t>TMS320C54x-40</a:t>
              </a:r>
            </a:p>
          </p:txBody>
        </p:sp>
        <p:sp>
          <p:nvSpPr>
            <p:cNvPr id="154669" name="Text Box 48"/>
            <p:cNvSpPr txBox="1">
              <a:spLocks noChangeArrowheads="1"/>
            </p:cNvSpPr>
            <p:nvPr/>
          </p:nvSpPr>
          <p:spPr bwMode="auto">
            <a:xfrm>
              <a:off x="792" y="2477"/>
              <a:ext cx="93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MSTRB</a:t>
              </a:r>
            </a:p>
          </p:txBody>
        </p:sp>
        <p:sp>
          <p:nvSpPr>
            <p:cNvPr id="154670" name="Text Box 49"/>
            <p:cNvSpPr txBox="1">
              <a:spLocks noChangeArrowheads="1"/>
            </p:cNvSpPr>
            <p:nvPr/>
          </p:nvSpPr>
          <p:spPr bwMode="auto">
            <a:xfrm>
              <a:off x="792" y="2701"/>
              <a:ext cx="9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R/W</a:t>
              </a:r>
            </a:p>
          </p:txBody>
        </p:sp>
        <p:sp>
          <p:nvSpPr>
            <p:cNvPr id="154671" name="Text Box 50"/>
            <p:cNvSpPr txBox="1">
              <a:spLocks noChangeArrowheads="1"/>
            </p:cNvSpPr>
            <p:nvPr/>
          </p:nvSpPr>
          <p:spPr bwMode="auto">
            <a:xfrm>
              <a:off x="820" y="3240"/>
              <a:ext cx="94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MP/MC</a:t>
              </a:r>
            </a:p>
          </p:txBody>
        </p:sp>
        <p:sp>
          <p:nvSpPr>
            <p:cNvPr id="154672" name="Text Box 51"/>
            <p:cNvSpPr txBox="1">
              <a:spLocks noChangeArrowheads="1"/>
            </p:cNvSpPr>
            <p:nvPr/>
          </p:nvSpPr>
          <p:spPr bwMode="auto">
            <a:xfrm>
              <a:off x="839" y="3566"/>
              <a:ext cx="9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IOSTRB</a:t>
              </a:r>
            </a:p>
          </p:txBody>
        </p:sp>
        <p:sp>
          <p:nvSpPr>
            <p:cNvPr id="154673" name="Text Box 52"/>
            <p:cNvSpPr txBox="1">
              <a:spLocks noChangeArrowheads="1"/>
            </p:cNvSpPr>
            <p:nvPr/>
          </p:nvSpPr>
          <p:spPr bwMode="auto">
            <a:xfrm>
              <a:off x="1156" y="3929"/>
              <a:ext cx="5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DATA</a:t>
              </a:r>
            </a:p>
          </p:txBody>
        </p:sp>
        <p:sp>
          <p:nvSpPr>
            <p:cNvPr id="154674" name="Line 58"/>
            <p:cNvSpPr>
              <a:spLocks noChangeShapeType="1"/>
            </p:cNvSpPr>
            <p:nvPr/>
          </p:nvSpPr>
          <p:spPr bwMode="auto">
            <a:xfrm flipV="1">
              <a:off x="1156" y="2532"/>
              <a:ext cx="479"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75" name="Line 59"/>
            <p:cNvSpPr>
              <a:spLocks noChangeShapeType="1"/>
            </p:cNvSpPr>
            <p:nvPr/>
          </p:nvSpPr>
          <p:spPr bwMode="auto">
            <a:xfrm flipV="1">
              <a:off x="1519" y="2757"/>
              <a:ext cx="154" cy="1"/>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76" name="Line 60"/>
            <p:cNvSpPr>
              <a:spLocks noChangeShapeType="1"/>
            </p:cNvSpPr>
            <p:nvPr/>
          </p:nvSpPr>
          <p:spPr bwMode="auto">
            <a:xfrm flipV="1">
              <a:off x="1444" y="3295"/>
              <a:ext cx="26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77" name="Line 61"/>
            <p:cNvSpPr>
              <a:spLocks noChangeShapeType="1"/>
            </p:cNvSpPr>
            <p:nvPr/>
          </p:nvSpPr>
          <p:spPr bwMode="auto">
            <a:xfrm>
              <a:off x="1156" y="3612"/>
              <a:ext cx="545"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78" name="Line 158"/>
            <p:cNvSpPr>
              <a:spLocks noChangeShapeType="1"/>
            </p:cNvSpPr>
            <p:nvPr/>
          </p:nvSpPr>
          <p:spPr bwMode="auto">
            <a:xfrm flipV="1">
              <a:off x="1519" y="2305"/>
              <a:ext cx="154" cy="1"/>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79" name="Line 159"/>
            <p:cNvSpPr>
              <a:spLocks noChangeShapeType="1"/>
            </p:cNvSpPr>
            <p:nvPr/>
          </p:nvSpPr>
          <p:spPr bwMode="auto">
            <a:xfrm flipV="1">
              <a:off x="1474" y="2078"/>
              <a:ext cx="199"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80" name="Line 160"/>
            <p:cNvSpPr>
              <a:spLocks noChangeShapeType="1"/>
            </p:cNvSpPr>
            <p:nvPr/>
          </p:nvSpPr>
          <p:spPr bwMode="auto">
            <a:xfrm flipV="1">
              <a:off x="1474" y="1851"/>
              <a:ext cx="199"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81" name="Line 163"/>
            <p:cNvSpPr>
              <a:spLocks noChangeShapeType="1"/>
            </p:cNvSpPr>
            <p:nvPr/>
          </p:nvSpPr>
          <p:spPr bwMode="auto">
            <a:xfrm>
              <a:off x="1791" y="4110"/>
              <a:ext cx="3629" cy="0"/>
            </a:xfrm>
            <a:prstGeom prst="line">
              <a:avLst/>
            </a:prstGeom>
            <a:noFill/>
            <a:ln w="5715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682" name="Line 164"/>
            <p:cNvSpPr>
              <a:spLocks noChangeShapeType="1"/>
            </p:cNvSpPr>
            <p:nvPr/>
          </p:nvSpPr>
          <p:spPr bwMode="auto">
            <a:xfrm>
              <a:off x="5420" y="1570"/>
              <a:ext cx="0" cy="2586"/>
            </a:xfrm>
            <a:prstGeom prst="line">
              <a:avLst/>
            </a:prstGeom>
            <a:noFill/>
            <a:ln w="762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54683" name="Group 176"/>
            <p:cNvGrpSpPr>
              <a:grpSpLocks/>
            </p:cNvGrpSpPr>
            <p:nvPr/>
          </p:nvGrpSpPr>
          <p:grpSpPr bwMode="auto">
            <a:xfrm>
              <a:off x="4921" y="1162"/>
              <a:ext cx="589" cy="742"/>
              <a:chOff x="4921" y="1162"/>
              <a:chExt cx="589" cy="742"/>
            </a:xfrm>
          </p:grpSpPr>
          <p:grpSp>
            <p:nvGrpSpPr>
              <p:cNvPr id="154744" name="Group 168"/>
              <p:cNvGrpSpPr>
                <a:grpSpLocks/>
              </p:cNvGrpSpPr>
              <p:nvPr/>
            </p:nvGrpSpPr>
            <p:grpSpPr bwMode="auto">
              <a:xfrm>
                <a:off x="4967" y="1480"/>
                <a:ext cx="453" cy="136"/>
                <a:chOff x="4967" y="1480"/>
                <a:chExt cx="453" cy="136"/>
              </a:xfrm>
            </p:grpSpPr>
            <p:sp>
              <p:nvSpPr>
                <p:cNvPr id="154752" name="Line 165"/>
                <p:cNvSpPr>
                  <a:spLocks noChangeShapeType="1"/>
                </p:cNvSpPr>
                <p:nvPr/>
              </p:nvSpPr>
              <p:spPr bwMode="auto">
                <a:xfrm>
                  <a:off x="4967" y="1480"/>
                  <a:ext cx="272"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53" name="Line 166"/>
                <p:cNvSpPr>
                  <a:spLocks noChangeShapeType="1"/>
                </p:cNvSpPr>
                <p:nvPr/>
              </p:nvSpPr>
              <p:spPr bwMode="auto">
                <a:xfrm>
                  <a:off x="5239" y="1480"/>
                  <a:ext cx="181" cy="13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4745" name="Group 169"/>
              <p:cNvGrpSpPr>
                <a:grpSpLocks/>
              </p:cNvGrpSpPr>
              <p:nvPr/>
            </p:nvGrpSpPr>
            <p:grpSpPr bwMode="auto">
              <a:xfrm>
                <a:off x="4967" y="1616"/>
                <a:ext cx="453" cy="136"/>
                <a:chOff x="4967" y="1480"/>
                <a:chExt cx="453" cy="136"/>
              </a:xfrm>
            </p:grpSpPr>
            <p:sp>
              <p:nvSpPr>
                <p:cNvPr id="154750" name="Line 170"/>
                <p:cNvSpPr>
                  <a:spLocks noChangeShapeType="1"/>
                </p:cNvSpPr>
                <p:nvPr/>
              </p:nvSpPr>
              <p:spPr bwMode="auto">
                <a:xfrm>
                  <a:off x="4967" y="1480"/>
                  <a:ext cx="272"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51" name="Line 171"/>
                <p:cNvSpPr>
                  <a:spLocks noChangeShapeType="1"/>
                </p:cNvSpPr>
                <p:nvPr/>
              </p:nvSpPr>
              <p:spPr bwMode="auto">
                <a:xfrm>
                  <a:off x="5239" y="1480"/>
                  <a:ext cx="181" cy="13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54746" name="Text Box 172"/>
              <p:cNvSpPr txBox="1">
                <a:spLocks noChangeArrowheads="1"/>
              </p:cNvSpPr>
              <p:nvPr/>
            </p:nvSpPr>
            <p:spPr bwMode="auto">
              <a:xfrm>
                <a:off x="4921" y="1162"/>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8-15</a:t>
                </a:r>
              </a:p>
            </p:txBody>
          </p:sp>
          <p:sp>
            <p:nvSpPr>
              <p:cNvPr id="154747" name="Text Box 173"/>
              <p:cNvSpPr txBox="1">
                <a:spLocks noChangeArrowheads="1"/>
              </p:cNvSpPr>
              <p:nvPr/>
            </p:nvSpPr>
            <p:spPr bwMode="auto">
              <a:xfrm>
                <a:off x="4921" y="1616"/>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0-7</a:t>
                </a:r>
              </a:p>
            </p:txBody>
          </p:sp>
          <p:sp>
            <p:nvSpPr>
              <p:cNvPr id="154748" name="Line 174"/>
              <p:cNvSpPr>
                <a:spLocks noChangeShapeType="1"/>
              </p:cNvSpPr>
              <p:nvPr/>
            </p:nvSpPr>
            <p:spPr bwMode="auto">
              <a:xfrm flipH="1">
                <a:off x="5103" y="1434"/>
                <a:ext cx="45" cy="9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49" name="Line 175"/>
              <p:cNvSpPr>
                <a:spLocks noChangeShapeType="1"/>
              </p:cNvSpPr>
              <p:nvPr/>
            </p:nvSpPr>
            <p:spPr bwMode="auto">
              <a:xfrm flipH="1">
                <a:off x="5103" y="1570"/>
                <a:ext cx="45" cy="9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4684" name="Group 177"/>
            <p:cNvGrpSpPr>
              <a:grpSpLocks/>
            </p:cNvGrpSpPr>
            <p:nvPr/>
          </p:nvGrpSpPr>
          <p:grpSpPr bwMode="auto">
            <a:xfrm>
              <a:off x="4921" y="2115"/>
              <a:ext cx="589" cy="742"/>
              <a:chOff x="4921" y="1162"/>
              <a:chExt cx="589" cy="742"/>
            </a:xfrm>
          </p:grpSpPr>
          <p:grpSp>
            <p:nvGrpSpPr>
              <p:cNvPr id="154734" name="Group 178"/>
              <p:cNvGrpSpPr>
                <a:grpSpLocks/>
              </p:cNvGrpSpPr>
              <p:nvPr/>
            </p:nvGrpSpPr>
            <p:grpSpPr bwMode="auto">
              <a:xfrm>
                <a:off x="4967" y="1480"/>
                <a:ext cx="453" cy="136"/>
                <a:chOff x="4967" y="1480"/>
                <a:chExt cx="453" cy="136"/>
              </a:xfrm>
            </p:grpSpPr>
            <p:sp>
              <p:nvSpPr>
                <p:cNvPr id="154742" name="Line 179"/>
                <p:cNvSpPr>
                  <a:spLocks noChangeShapeType="1"/>
                </p:cNvSpPr>
                <p:nvPr/>
              </p:nvSpPr>
              <p:spPr bwMode="auto">
                <a:xfrm>
                  <a:off x="4967" y="1480"/>
                  <a:ext cx="272"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43" name="Line 180"/>
                <p:cNvSpPr>
                  <a:spLocks noChangeShapeType="1"/>
                </p:cNvSpPr>
                <p:nvPr/>
              </p:nvSpPr>
              <p:spPr bwMode="auto">
                <a:xfrm>
                  <a:off x="5239" y="1480"/>
                  <a:ext cx="181" cy="13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4735" name="Group 181"/>
              <p:cNvGrpSpPr>
                <a:grpSpLocks/>
              </p:cNvGrpSpPr>
              <p:nvPr/>
            </p:nvGrpSpPr>
            <p:grpSpPr bwMode="auto">
              <a:xfrm>
                <a:off x="4967" y="1616"/>
                <a:ext cx="453" cy="136"/>
                <a:chOff x="4967" y="1480"/>
                <a:chExt cx="453" cy="136"/>
              </a:xfrm>
            </p:grpSpPr>
            <p:sp>
              <p:nvSpPr>
                <p:cNvPr id="154740" name="Line 182"/>
                <p:cNvSpPr>
                  <a:spLocks noChangeShapeType="1"/>
                </p:cNvSpPr>
                <p:nvPr/>
              </p:nvSpPr>
              <p:spPr bwMode="auto">
                <a:xfrm>
                  <a:off x="4967" y="1480"/>
                  <a:ext cx="272"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41" name="Line 183"/>
                <p:cNvSpPr>
                  <a:spLocks noChangeShapeType="1"/>
                </p:cNvSpPr>
                <p:nvPr/>
              </p:nvSpPr>
              <p:spPr bwMode="auto">
                <a:xfrm>
                  <a:off x="5239" y="1480"/>
                  <a:ext cx="181" cy="13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54736" name="Text Box 184"/>
              <p:cNvSpPr txBox="1">
                <a:spLocks noChangeArrowheads="1"/>
              </p:cNvSpPr>
              <p:nvPr/>
            </p:nvSpPr>
            <p:spPr bwMode="auto">
              <a:xfrm>
                <a:off x="4921" y="1162"/>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8-15</a:t>
                </a:r>
              </a:p>
            </p:txBody>
          </p:sp>
          <p:sp>
            <p:nvSpPr>
              <p:cNvPr id="154737" name="Text Box 185"/>
              <p:cNvSpPr txBox="1">
                <a:spLocks noChangeArrowheads="1"/>
              </p:cNvSpPr>
              <p:nvPr/>
            </p:nvSpPr>
            <p:spPr bwMode="auto">
              <a:xfrm>
                <a:off x="4921" y="1616"/>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0-7</a:t>
                </a:r>
              </a:p>
            </p:txBody>
          </p:sp>
          <p:sp>
            <p:nvSpPr>
              <p:cNvPr id="154738" name="Line 186"/>
              <p:cNvSpPr>
                <a:spLocks noChangeShapeType="1"/>
              </p:cNvSpPr>
              <p:nvPr/>
            </p:nvSpPr>
            <p:spPr bwMode="auto">
              <a:xfrm flipH="1">
                <a:off x="5103" y="1434"/>
                <a:ext cx="45" cy="9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39" name="Line 187"/>
              <p:cNvSpPr>
                <a:spLocks noChangeShapeType="1"/>
              </p:cNvSpPr>
              <p:nvPr/>
            </p:nvSpPr>
            <p:spPr bwMode="auto">
              <a:xfrm flipH="1">
                <a:off x="5103" y="1570"/>
                <a:ext cx="45" cy="9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4685" name="Group 188"/>
            <p:cNvGrpSpPr>
              <a:grpSpLocks/>
            </p:cNvGrpSpPr>
            <p:nvPr/>
          </p:nvGrpSpPr>
          <p:grpSpPr bwMode="auto">
            <a:xfrm>
              <a:off x="4921" y="3203"/>
              <a:ext cx="589" cy="742"/>
              <a:chOff x="4921" y="1162"/>
              <a:chExt cx="589" cy="742"/>
            </a:xfrm>
          </p:grpSpPr>
          <p:grpSp>
            <p:nvGrpSpPr>
              <p:cNvPr id="154724" name="Group 189"/>
              <p:cNvGrpSpPr>
                <a:grpSpLocks/>
              </p:cNvGrpSpPr>
              <p:nvPr/>
            </p:nvGrpSpPr>
            <p:grpSpPr bwMode="auto">
              <a:xfrm>
                <a:off x="4967" y="1480"/>
                <a:ext cx="453" cy="136"/>
                <a:chOff x="4967" y="1480"/>
                <a:chExt cx="453" cy="136"/>
              </a:xfrm>
            </p:grpSpPr>
            <p:sp>
              <p:nvSpPr>
                <p:cNvPr id="154732" name="Line 190"/>
                <p:cNvSpPr>
                  <a:spLocks noChangeShapeType="1"/>
                </p:cNvSpPr>
                <p:nvPr/>
              </p:nvSpPr>
              <p:spPr bwMode="auto">
                <a:xfrm>
                  <a:off x="4967" y="1480"/>
                  <a:ext cx="272"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33" name="Line 191"/>
                <p:cNvSpPr>
                  <a:spLocks noChangeShapeType="1"/>
                </p:cNvSpPr>
                <p:nvPr/>
              </p:nvSpPr>
              <p:spPr bwMode="auto">
                <a:xfrm>
                  <a:off x="5239" y="1480"/>
                  <a:ext cx="181" cy="13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4725" name="Group 192"/>
              <p:cNvGrpSpPr>
                <a:grpSpLocks/>
              </p:cNvGrpSpPr>
              <p:nvPr/>
            </p:nvGrpSpPr>
            <p:grpSpPr bwMode="auto">
              <a:xfrm>
                <a:off x="4967" y="1616"/>
                <a:ext cx="453" cy="136"/>
                <a:chOff x="4967" y="1480"/>
                <a:chExt cx="453" cy="136"/>
              </a:xfrm>
            </p:grpSpPr>
            <p:sp>
              <p:nvSpPr>
                <p:cNvPr id="154730" name="Line 193"/>
                <p:cNvSpPr>
                  <a:spLocks noChangeShapeType="1"/>
                </p:cNvSpPr>
                <p:nvPr/>
              </p:nvSpPr>
              <p:spPr bwMode="auto">
                <a:xfrm>
                  <a:off x="4967" y="1480"/>
                  <a:ext cx="272"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31" name="Line 194"/>
                <p:cNvSpPr>
                  <a:spLocks noChangeShapeType="1"/>
                </p:cNvSpPr>
                <p:nvPr/>
              </p:nvSpPr>
              <p:spPr bwMode="auto">
                <a:xfrm>
                  <a:off x="5239" y="1480"/>
                  <a:ext cx="181" cy="13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54726" name="Text Box 195"/>
              <p:cNvSpPr txBox="1">
                <a:spLocks noChangeArrowheads="1"/>
              </p:cNvSpPr>
              <p:nvPr/>
            </p:nvSpPr>
            <p:spPr bwMode="auto">
              <a:xfrm>
                <a:off x="4921" y="1162"/>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8-15</a:t>
                </a:r>
              </a:p>
            </p:txBody>
          </p:sp>
          <p:sp>
            <p:nvSpPr>
              <p:cNvPr id="154727" name="Text Box 196"/>
              <p:cNvSpPr txBox="1">
                <a:spLocks noChangeArrowheads="1"/>
              </p:cNvSpPr>
              <p:nvPr/>
            </p:nvSpPr>
            <p:spPr bwMode="auto">
              <a:xfrm>
                <a:off x="4921" y="1616"/>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0-7</a:t>
                </a:r>
              </a:p>
            </p:txBody>
          </p:sp>
          <p:sp>
            <p:nvSpPr>
              <p:cNvPr id="154728" name="Line 197"/>
              <p:cNvSpPr>
                <a:spLocks noChangeShapeType="1"/>
              </p:cNvSpPr>
              <p:nvPr/>
            </p:nvSpPr>
            <p:spPr bwMode="auto">
              <a:xfrm flipH="1">
                <a:off x="5103" y="1434"/>
                <a:ext cx="45" cy="9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29" name="Line 198"/>
              <p:cNvSpPr>
                <a:spLocks noChangeShapeType="1"/>
              </p:cNvSpPr>
              <p:nvPr/>
            </p:nvSpPr>
            <p:spPr bwMode="auto">
              <a:xfrm flipH="1">
                <a:off x="5103" y="1570"/>
                <a:ext cx="45" cy="9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54686" name="Line 199"/>
            <p:cNvSpPr>
              <a:spLocks noChangeShapeType="1"/>
            </p:cNvSpPr>
            <p:nvPr/>
          </p:nvSpPr>
          <p:spPr bwMode="auto">
            <a:xfrm>
              <a:off x="1791" y="1933"/>
              <a:ext cx="227" cy="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87" name="Line 200"/>
            <p:cNvSpPr>
              <a:spLocks noChangeShapeType="1"/>
            </p:cNvSpPr>
            <p:nvPr/>
          </p:nvSpPr>
          <p:spPr bwMode="auto">
            <a:xfrm>
              <a:off x="2018" y="1207"/>
              <a:ext cx="1265" cy="0"/>
            </a:xfrm>
            <a:prstGeom prst="line">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688" name="Line 201"/>
            <p:cNvSpPr>
              <a:spLocks noChangeShapeType="1"/>
            </p:cNvSpPr>
            <p:nvPr/>
          </p:nvSpPr>
          <p:spPr bwMode="auto">
            <a:xfrm>
              <a:off x="2018" y="1207"/>
              <a:ext cx="0" cy="726"/>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89" name="Line 202"/>
            <p:cNvSpPr>
              <a:spLocks noChangeShapeType="1"/>
            </p:cNvSpPr>
            <p:nvPr/>
          </p:nvSpPr>
          <p:spPr bwMode="auto">
            <a:xfrm>
              <a:off x="3107" y="1344"/>
              <a:ext cx="0" cy="199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90" name="Line 203"/>
            <p:cNvSpPr>
              <a:spLocks noChangeShapeType="1"/>
            </p:cNvSpPr>
            <p:nvPr/>
          </p:nvSpPr>
          <p:spPr bwMode="auto">
            <a:xfrm>
              <a:off x="3107" y="1344"/>
              <a:ext cx="181"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91" name="Line 204"/>
            <p:cNvSpPr>
              <a:spLocks noChangeShapeType="1"/>
            </p:cNvSpPr>
            <p:nvPr/>
          </p:nvSpPr>
          <p:spPr bwMode="auto">
            <a:xfrm>
              <a:off x="3107" y="2205"/>
              <a:ext cx="181"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92" name="Line 205"/>
            <p:cNvSpPr>
              <a:spLocks noChangeShapeType="1"/>
            </p:cNvSpPr>
            <p:nvPr/>
          </p:nvSpPr>
          <p:spPr bwMode="auto">
            <a:xfrm>
              <a:off x="3107" y="3249"/>
              <a:ext cx="181"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93" name="Line 206"/>
            <p:cNvSpPr>
              <a:spLocks noChangeShapeType="1"/>
            </p:cNvSpPr>
            <p:nvPr/>
          </p:nvSpPr>
          <p:spPr bwMode="auto">
            <a:xfrm>
              <a:off x="1791" y="1706"/>
              <a:ext cx="1492" cy="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694" name="Line 207"/>
            <p:cNvSpPr>
              <a:spLocks noChangeShapeType="1"/>
            </p:cNvSpPr>
            <p:nvPr/>
          </p:nvSpPr>
          <p:spPr bwMode="auto">
            <a:xfrm>
              <a:off x="2562" y="1525"/>
              <a:ext cx="721" cy="0"/>
            </a:xfrm>
            <a:prstGeom prst="line">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695" name="Line 208"/>
            <p:cNvSpPr>
              <a:spLocks noChangeShapeType="1"/>
            </p:cNvSpPr>
            <p:nvPr/>
          </p:nvSpPr>
          <p:spPr bwMode="auto">
            <a:xfrm>
              <a:off x="2290" y="2024"/>
              <a:ext cx="993" cy="0"/>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696" name="Line 209"/>
            <p:cNvSpPr>
              <a:spLocks noChangeShapeType="1"/>
            </p:cNvSpPr>
            <p:nvPr/>
          </p:nvSpPr>
          <p:spPr bwMode="auto">
            <a:xfrm>
              <a:off x="2789" y="1686"/>
              <a:ext cx="0" cy="2152"/>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697" name="Line 210"/>
            <p:cNvSpPr>
              <a:spLocks noChangeShapeType="1"/>
            </p:cNvSpPr>
            <p:nvPr/>
          </p:nvSpPr>
          <p:spPr bwMode="auto">
            <a:xfrm>
              <a:off x="2789" y="2750"/>
              <a:ext cx="494" cy="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698" name="Line 211"/>
            <p:cNvSpPr>
              <a:spLocks noChangeShapeType="1"/>
            </p:cNvSpPr>
            <p:nvPr/>
          </p:nvSpPr>
          <p:spPr bwMode="auto">
            <a:xfrm>
              <a:off x="2789" y="3838"/>
              <a:ext cx="494" cy="0"/>
            </a:xfrm>
            <a:prstGeom prst="line">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699" name="Line 212"/>
            <p:cNvSpPr>
              <a:spLocks noChangeShapeType="1"/>
            </p:cNvSpPr>
            <p:nvPr/>
          </p:nvSpPr>
          <p:spPr bwMode="auto">
            <a:xfrm>
              <a:off x="1791" y="2341"/>
              <a:ext cx="227" cy="0"/>
            </a:xfrm>
            <a:prstGeom prst="line">
              <a:avLst/>
            </a:prstGeom>
            <a:noFill/>
            <a:ln w="952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00" name="Line 213"/>
            <p:cNvSpPr>
              <a:spLocks noChangeShapeType="1"/>
            </p:cNvSpPr>
            <p:nvPr/>
          </p:nvSpPr>
          <p:spPr bwMode="auto">
            <a:xfrm>
              <a:off x="1791" y="2160"/>
              <a:ext cx="499" cy="0"/>
            </a:xfrm>
            <a:prstGeom prst="line">
              <a:avLst/>
            </a:prstGeom>
            <a:noFill/>
            <a:ln w="952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01" name="Line 216"/>
            <p:cNvSpPr>
              <a:spLocks noChangeShapeType="1"/>
            </p:cNvSpPr>
            <p:nvPr/>
          </p:nvSpPr>
          <p:spPr bwMode="auto">
            <a:xfrm>
              <a:off x="1791" y="3339"/>
              <a:ext cx="227"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02" name="Line 217"/>
            <p:cNvSpPr>
              <a:spLocks noChangeShapeType="1"/>
            </p:cNvSpPr>
            <p:nvPr/>
          </p:nvSpPr>
          <p:spPr bwMode="auto">
            <a:xfrm>
              <a:off x="1791" y="3657"/>
              <a:ext cx="1497"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703" name="Line 219"/>
            <p:cNvSpPr>
              <a:spLocks noChangeShapeType="1"/>
            </p:cNvSpPr>
            <p:nvPr/>
          </p:nvSpPr>
          <p:spPr bwMode="auto">
            <a:xfrm>
              <a:off x="2562" y="1525"/>
              <a:ext cx="0" cy="1089"/>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04" name="Line 220"/>
            <p:cNvSpPr>
              <a:spLocks noChangeShapeType="1"/>
            </p:cNvSpPr>
            <p:nvPr/>
          </p:nvSpPr>
          <p:spPr bwMode="auto">
            <a:xfrm>
              <a:off x="1791" y="2614"/>
              <a:ext cx="1492" cy="0"/>
            </a:xfrm>
            <a:prstGeom prst="line">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705" name="Line 221"/>
            <p:cNvSpPr>
              <a:spLocks noChangeShapeType="1"/>
            </p:cNvSpPr>
            <p:nvPr/>
          </p:nvSpPr>
          <p:spPr bwMode="auto">
            <a:xfrm>
              <a:off x="2290" y="2024"/>
              <a:ext cx="0" cy="136"/>
            </a:xfrm>
            <a:prstGeom prst="line">
              <a:avLst/>
            </a:prstGeom>
            <a:noFill/>
            <a:ln w="952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06" name="Line 222"/>
            <p:cNvSpPr>
              <a:spLocks noChangeShapeType="1"/>
            </p:cNvSpPr>
            <p:nvPr/>
          </p:nvSpPr>
          <p:spPr bwMode="auto">
            <a:xfrm>
              <a:off x="2018" y="3113"/>
              <a:ext cx="1265" cy="0"/>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707" name="Line 223"/>
            <p:cNvSpPr>
              <a:spLocks noChangeShapeType="1"/>
            </p:cNvSpPr>
            <p:nvPr/>
          </p:nvSpPr>
          <p:spPr bwMode="auto">
            <a:xfrm>
              <a:off x="2018" y="2336"/>
              <a:ext cx="0" cy="772"/>
            </a:xfrm>
            <a:prstGeom prst="line">
              <a:avLst/>
            </a:prstGeom>
            <a:noFill/>
            <a:ln w="952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08" name="Line 224"/>
            <p:cNvSpPr>
              <a:spLocks noChangeShapeType="1"/>
            </p:cNvSpPr>
            <p:nvPr/>
          </p:nvSpPr>
          <p:spPr bwMode="auto">
            <a:xfrm>
              <a:off x="2290" y="3475"/>
              <a:ext cx="993" cy="0"/>
            </a:xfrm>
            <a:prstGeom prst="line">
              <a:avLst/>
            </a:prstGeom>
            <a:noFill/>
            <a:ln w="952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709" name="Line 225"/>
            <p:cNvSpPr>
              <a:spLocks noChangeShapeType="1"/>
            </p:cNvSpPr>
            <p:nvPr/>
          </p:nvSpPr>
          <p:spPr bwMode="auto">
            <a:xfrm>
              <a:off x="2290" y="2387"/>
              <a:ext cx="993" cy="0"/>
            </a:xfrm>
            <a:prstGeom prst="line">
              <a:avLst/>
            </a:prstGeom>
            <a:noFill/>
            <a:ln w="952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710" name="Line 226"/>
            <p:cNvSpPr>
              <a:spLocks noChangeShapeType="1"/>
            </p:cNvSpPr>
            <p:nvPr/>
          </p:nvSpPr>
          <p:spPr bwMode="auto">
            <a:xfrm>
              <a:off x="1791" y="2840"/>
              <a:ext cx="499" cy="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11" name="Line 227"/>
            <p:cNvSpPr>
              <a:spLocks noChangeShapeType="1"/>
            </p:cNvSpPr>
            <p:nvPr/>
          </p:nvSpPr>
          <p:spPr bwMode="auto">
            <a:xfrm>
              <a:off x="2290" y="2387"/>
              <a:ext cx="0" cy="1088"/>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12" name="Line 228"/>
            <p:cNvSpPr>
              <a:spLocks noChangeShapeType="1"/>
            </p:cNvSpPr>
            <p:nvPr/>
          </p:nvSpPr>
          <p:spPr bwMode="auto">
            <a:xfrm>
              <a:off x="3036" y="3339"/>
              <a:ext cx="136"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13" name="Line 229"/>
            <p:cNvSpPr>
              <a:spLocks noChangeShapeType="1"/>
            </p:cNvSpPr>
            <p:nvPr/>
          </p:nvSpPr>
          <p:spPr bwMode="auto">
            <a:xfrm>
              <a:off x="3061" y="3365"/>
              <a:ext cx="91"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14" name="Line 230"/>
            <p:cNvSpPr>
              <a:spLocks noChangeShapeType="1"/>
            </p:cNvSpPr>
            <p:nvPr/>
          </p:nvSpPr>
          <p:spPr bwMode="auto">
            <a:xfrm>
              <a:off x="3081" y="3380"/>
              <a:ext cx="46"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15" name="Text Box 231"/>
            <p:cNvSpPr txBox="1">
              <a:spLocks noChangeArrowheads="1"/>
            </p:cNvSpPr>
            <p:nvPr/>
          </p:nvSpPr>
          <p:spPr bwMode="auto">
            <a:xfrm>
              <a:off x="1882" y="3294"/>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Vcc</a:t>
              </a:r>
            </a:p>
          </p:txBody>
        </p:sp>
        <p:sp>
          <p:nvSpPr>
            <p:cNvPr id="154716" name="Line 232"/>
            <p:cNvSpPr>
              <a:spLocks noChangeShapeType="1"/>
            </p:cNvSpPr>
            <p:nvPr/>
          </p:nvSpPr>
          <p:spPr bwMode="auto">
            <a:xfrm flipV="1">
              <a:off x="2154" y="1636"/>
              <a:ext cx="91" cy="13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17" name="Text Box 233"/>
            <p:cNvSpPr txBox="1">
              <a:spLocks noChangeArrowheads="1"/>
            </p:cNvSpPr>
            <p:nvPr/>
          </p:nvSpPr>
          <p:spPr bwMode="auto">
            <a:xfrm>
              <a:off x="2018" y="1389"/>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16</a:t>
              </a:r>
            </a:p>
          </p:txBody>
        </p:sp>
        <p:sp>
          <p:nvSpPr>
            <p:cNvPr id="154718" name="Line 234"/>
            <p:cNvSpPr>
              <a:spLocks noChangeShapeType="1"/>
            </p:cNvSpPr>
            <p:nvPr/>
          </p:nvSpPr>
          <p:spPr bwMode="auto">
            <a:xfrm flipV="1">
              <a:off x="2200" y="4040"/>
              <a:ext cx="91" cy="13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19" name="Text Box 235"/>
            <p:cNvSpPr txBox="1">
              <a:spLocks noChangeArrowheads="1"/>
            </p:cNvSpPr>
            <p:nvPr/>
          </p:nvSpPr>
          <p:spPr bwMode="auto">
            <a:xfrm>
              <a:off x="2064" y="3793"/>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16</a:t>
              </a:r>
            </a:p>
          </p:txBody>
        </p:sp>
        <p:sp>
          <p:nvSpPr>
            <p:cNvPr id="154720" name="Line 236"/>
            <p:cNvSpPr>
              <a:spLocks noChangeShapeType="1"/>
            </p:cNvSpPr>
            <p:nvPr/>
          </p:nvSpPr>
          <p:spPr bwMode="auto">
            <a:xfrm flipV="1">
              <a:off x="2880" y="2679"/>
              <a:ext cx="91" cy="13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21" name="Text Box 237"/>
            <p:cNvSpPr txBox="1">
              <a:spLocks noChangeArrowheads="1"/>
            </p:cNvSpPr>
            <p:nvPr/>
          </p:nvSpPr>
          <p:spPr bwMode="auto">
            <a:xfrm>
              <a:off x="2744" y="2750"/>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13</a:t>
              </a:r>
            </a:p>
          </p:txBody>
        </p:sp>
        <p:sp>
          <p:nvSpPr>
            <p:cNvPr id="154722" name="Line 238"/>
            <p:cNvSpPr>
              <a:spLocks noChangeShapeType="1"/>
            </p:cNvSpPr>
            <p:nvPr/>
          </p:nvSpPr>
          <p:spPr bwMode="auto">
            <a:xfrm flipV="1">
              <a:off x="2865" y="1635"/>
              <a:ext cx="91" cy="13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723" name="Text Box 239"/>
            <p:cNvSpPr txBox="1">
              <a:spLocks noChangeArrowheads="1"/>
            </p:cNvSpPr>
            <p:nvPr/>
          </p:nvSpPr>
          <p:spPr bwMode="auto">
            <a:xfrm>
              <a:off x="2729" y="1706"/>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chemeClr val="folHlink"/>
                  </a:solidFill>
                </a:rPr>
                <a:t>13</a:t>
              </a:r>
            </a:p>
          </p:txBody>
        </p:sp>
      </p:grpSp>
      <p:sp>
        <p:nvSpPr>
          <p:cNvPr id="154629" name="Oval 241"/>
          <p:cNvSpPr>
            <a:spLocks noChangeArrowheads="1"/>
          </p:cNvSpPr>
          <p:nvPr/>
        </p:nvSpPr>
        <p:spPr bwMode="auto">
          <a:xfrm>
            <a:off x="3959225" y="3989388"/>
            <a:ext cx="71438" cy="36512"/>
          </a:xfrm>
          <a:prstGeom prst="ellipse">
            <a:avLst/>
          </a:prstGeom>
          <a:solidFill>
            <a:srgbClr val="FF00FF"/>
          </a:solidFill>
          <a:ln w="9525">
            <a:solidFill>
              <a:srgbClr val="FF00FF"/>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630" name="Oval 242"/>
          <p:cNvSpPr>
            <a:spLocks noChangeArrowheads="1"/>
          </p:cNvSpPr>
          <p:nvPr/>
        </p:nvSpPr>
        <p:spPr bwMode="auto">
          <a:xfrm>
            <a:off x="3527425" y="4354513"/>
            <a:ext cx="49213" cy="46037"/>
          </a:xfrm>
          <a:prstGeom prst="ellipse">
            <a:avLst/>
          </a:prstGeom>
          <a:solidFill>
            <a:schemeClr val="bg2"/>
          </a:solidFill>
          <a:ln w="9525">
            <a:solidFill>
              <a:schemeClr val="bg2"/>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631" name="Oval 243"/>
          <p:cNvSpPr>
            <a:spLocks noChangeArrowheads="1"/>
          </p:cNvSpPr>
          <p:nvPr/>
        </p:nvSpPr>
        <p:spPr bwMode="auto">
          <a:xfrm>
            <a:off x="4837113" y="5002213"/>
            <a:ext cx="49212" cy="46037"/>
          </a:xfrm>
          <a:prstGeom prst="ellipse">
            <a:avLst/>
          </a:prstGeom>
          <a:solidFill>
            <a:srgbClr val="000000"/>
          </a:solidFill>
          <a:ln w="9525">
            <a:solidFill>
              <a:srgbClr val="0000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632" name="Oval 244"/>
          <p:cNvSpPr>
            <a:spLocks noChangeArrowheads="1"/>
          </p:cNvSpPr>
          <p:nvPr/>
        </p:nvSpPr>
        <p:spPr bwMode="auto">
          <a:xfrm>
            <a:off x="4837113" y="3346450"/>
            <a:ext cx="49212" cy="46038"/>
          </a:xfrm>
          <a:prstGeom prst="ellipse">
            <a:avLst/>
          </a:prstGeom>
          <a:solidFill>
            <a:srgbClr val="000000"/>
          </a:solidFill>
          <a:ln w="9525">
            <a:solidFill>
              <a:srgbClr val="0000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653315"/>
                                        </p:tgtEl>
                                        <p:attrNameLst>
                                          <p:attrName>style.visibility</p:attrName>
                                        </p:attrNameLst>
                                      </p:cBhvr>
                                      <p:to>
                                        <p:strVal val="visible"/>
                                      </p:to>
                                    </p:set>
                                    <p:anim calcmode="lin" valueType="num">
                                      <p:cBhvr additive="base">
                                        <p:cTn id="7" dur="500" fill="hold"/>
                                        <p:tgtEl>
                                          <p:spTgt spid="653315"/>
                                        </p:tgtEl>
                                        <p:attrNameLst>
                                          <p:attrName>ppt_x</p:attrName>
                                        </p:attrNameLst>
                                      </p:cBhvr>
                                      <p:tavLst>
                                        <p:tav tm="0">
                                          <p:val>
                                            <p:strVal val="0-#ppt_w/2"/>
                                          </p:val>
                                        </p:tav>
                                        <p:tav tm="100000">
                                          <p:val>
                                            <p:strVal val="#ppt_x"/>
                                          </p:val>
                                        </p:tav>
                                      </p:tavLst>
                                    </p:anim>
                                    <p:anim calcmode="lin" valueType="num">
                                      <p:cBhvr additive="base">
                                        <p:cTn id="8" dur="500" fill="hold"/>
                                        <p:tgtEl>
                                          <p:spTgt spid="6533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315" grpId="0"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0" name="Rectangle 2"/>
          <p:cNvSpPr>
            <a:spLocks noGrp="1" noChangeArrowheads="1"/>
          </p:cNvSpPr>
          <p:nvPr>
            <p:ph idx="1"/>
          </p:nvPr>
        </p:nvSpPr>
        <p:spPr bwMode="auto">
          <a:xfrm>
            <a:off x="304800" y="1295400"/>
            <a:ext cx="8458200" cy="3352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582613" algn="just" eaLnBrk="1" hangingPunct="1">
              <a:lnSpc>
                <a:spcPct val="90000"/>
              </a:lnSpc>
              <a:buFontTx/>
              <a:buNone/>
            </a:pPr>
            <a:r>
              <a:rPr lang="zh-CN" altLang="en-US" b="1">
                <a:latin typeface="宋体" panose="02010600030101010101" pitchFamily="2" charset="-122"/>
              </a:rPr>
              <a:t>本例中</a:t>
            </a:r>
            <a:r>
              <a:rPr lang="en-US" altLang="zh-CN" b="1">
                <a:latin typeface="宋体" panose="02010600030101010101" pitchFamily="2" charset="-122"/>
              </a:rPr>
              <a:t>C54x</a:t>
            </a:r>
            <a:r>
              <a:rPr lang="zh-CN" altLang="en-US" b="1">
                <a:latin typeface="宋体" panose="02010600030101010101" pitchFamily="2" charset="-122"/>
              </a:rPr>
              <a:t>的机器周期为</a:t>
            </a:r>
            <a:r>
              <a:rPr lang="en-US" altLang="zh-CN" b="1">
                <a:latin typeface="宋体" panose="02010600030101010101" pitchFamily="2" charset="-122"/>
              </a:rPr>
              <a:t>25ns</a:t>
            </a:r>
            <a:r>
              <a:rPr lang="zh-CN" altLang="en-US" b="1">
                <a:latin typeface="宋体" panose="02010600030101010101" pitchFamily="2" charset="-122"/>
              </a:rPr>
              <a:t>（</a:t>
            </a:r>
            <a:r>
              <a:rPr lang="en-US" altLang="zh-CN" b="1">
                <a:latin typeface="宋体" panose="02010600030101010101" pitchFamily="2" charset="-122"/>
              </a:rPr>
              <a:t>40MHz</a:t>
            </a:r>
            <a:r>
              <a:rPr lang="zh-CN" altLang="en-US" b="1">
                <a:latin typeface="宋体" panose="02010600030101010101" pitchFamily="2" charset="-122"/>
              </a:rPr>
              <a:t>），若外部器件的存取时间小于</a:t>
            </a:r>
            <a:r>
              <a:rPr lang="en-US" altLang="zh-CN" b="1">
                <a:latin typeface="宋体" panose="02010600030101010101" pitchFamily="2" charset="-122"/>
              </a:rPr>
              <a:t>15ns</a:t>
            </a:r>
            <a:r>
              <a:rPr lang="zh-CN" altLang="en-US" b="1">
                <a:latin typeface="宋体" panose="02010600030101010101" pitchFamily="2" charset="-122"/>
              </a:rPr>
              <a:t>，可以不插入等待状态。因此例中的数据存储器可以不插入等待状态，但程序存储器和</a:t>
            </a:r>
            <a:r>
              <a:rPr lang="en-US" altLang="zh-CN" b="1">
                <a:latin typeface="宋体" panose="02010600030101010101" pitchFamily="2" charset="-122"/>
              </a:rPr>
              <a:t>A/D&amp;D/A</a:t>
            </a:r>
            <a:r>
              <a:rPr lang="zh-CN" altLang="en-US" b="1">
                <a:latin typeface="宋体" panose="02010600030101010101" pitchFamily="2" charset="-122"/>
              </a:rPr>
              <a:t>外部设备应分别插入</a:t>
            </a:r>
            <a:r>
              <a:rPr lang="en-US" altLang="zh-CN" b="1">
                <a:latin typeface="宋体" panose="02010600030101010101" pitchFamily="2" charset="-122"/>
              </a:rPr>
              <a:t>3</a:t>
            </a:r>
            <a:r>
              <a:rPr lang="zh-CN" altLang="en-US" b="1">
                <a:latin typeface="宋体" panose="02010600030101010101" pitchFamily="2" charset="-122"/>
              </a:rPr>
              <a:t>个（</a:t>
            </a:r>
            <a:r>
              <a:rPr lang="en-US" altLang="zh-CN" b="1">
                <a:latin typeface="宋体" panose="02010600030101010101" pitchFamily="2" charset="-122"/>
              </a:rPr>
              <a:t>75ns</a:t>
            </a:r>
            <a:r>
              <a:rPr lang="zh-CN" altLang="en-US" b="1">
                <a:latin typeface="宋体" panose="02010600030101010101" pitchFamily="2" charset="-122"/>
              </a:rPr>
              <a:t>）和</a:t>
            </a:r>
            <a:r>
              <a:rPr lang="en-US" altLang="zh-CN" b="1">
                <a:latin typeface="宋体" panose="02010600030101010101" pitchFamily="2" charset="-122"/>
              </a:rPr>
              <a:t>5</a:t>
            </a:r>
            <a:r>
              <a:rPr lang="zh-CN" altLang="en-US" b="1">
                <a:latin typeface="宋体" panose="02010600030101010101" pitchFamily="2" charset="-122"/>
              </a:rPr>
              <a:t>个（</a:t>
            </a:r>
            <a:r>
              <a:rPr lang="en-US" altLang="zh-CN" b="1">
                <a:latin typeface="宋体" panose="02010600030101010101" pitchFamily="2" charset="-122"/>
              </a:rPr>
              <a:t>125ns</a:t>
            </a:r>
            <a:r>
              <a:rPr lang="zh-CN" altLang="en-US" b="1">
                <a:latin typeface="宋体" panose="02010600030101010101" pitchFamily="2" charset="-122"/>
              </a:rPr>
              <a:t>）等待状态。此时软件等待状态寄存器</a:t>
            </a:r>
            <a:r>
              <a:rPr lang="en-US" altLang="zh-CN" b="1">
                <a:latin typeface="宋体" panose="02010600030101010101" pitchFamily="2" charset="-122"/>
              </a:rPr>
              <a:t>SWWSR</a:t>
            </a:r>
            <a:r>
              <a:rPr lang="zh-CN" altLang="en-US" b="1">
                <a:latin typeface="宋体" panose="02010600030101010101" pitchFamily="2" charset="-122"/>
              </a:rPr>
              <a:t>应配置为：</a:t>
            </a:r>
            <a:endParaRPr lang="zh-CN" altLang="en-US" b="1"/>
          </a:p>
        </p:txBody>
      </p:sp>
      <p:sp>
        <p:nvSpPr>
          <p:cNvPr id="15565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3928F8F-CED6-4EB5-A383-80AC91982DF5}" type="slidenum">
              <a:rPr lang="en-US" altLang="zh-CN" sz="1400" b="0"/>
              <a:pPr eaLnBrk="1" hangingPunct="1"/>
              <a:t>142</a:t>
            </a:fld>
            <a:endParaRPr lang="en-US" altLang="zh-CN" sz="1400" b="0"/>
          </a:p>
        </p:txBody>
      </p:sp>
      <p:grpSp>
        <p:nvGrpSpPr>
          <p:cNvPr id="2" name="Group 3"/>
          <p:cNvGrpSpPr>
            <a:grpSpLocks/>
          </p:cNvGrpSpPr>
          <p:nvPr/>
        </p:nvGrpSpPr>
        <p:grpSpPr bwMode="auto">
          <a:xfrm>
            <a:off x="1447800" y="4648200"/>
            <a:ext cx="6151563" cy="665163"/>
            <a:chOff x="-3" y="-3"/>
            <a:chExt cx="3875" cy="419"/>
          </a:xfrm>
        </p:grpSpPr>
        <p:grpSp>
          <p:nvGrpSpPr>
            <p:cNvPr id="155654" name="Group 4"/>
            <p:cNvGrpSpPr>
              <a:grpSpLocks/>
            </p:cNvGrpSpPr>
            <p:nvPr/>
          </p:nvGrpSpPr>
          <p:grpSpPr bwMode="auto">
            <a:xfrm>
              <a:off x="0" y="0"/>
              <a:ext cx="3869" cy="413"/>
              <a:chOff x="0" y="0"/>
              <a:chExt cx="3869" cy="413"/>
            </a:xfrm>
          </p:grpSpPr>
          <p:grpSp>
            <p:nvGrpSpPr>
              <p:cNvPr id="155656" name="Group 5"/>
              <p:cNvGrpSpPr>
                <a:grpSpLocks/>
              </p:cNvGrpSpPr>
              <p:nvPr/>
            </p:nvGrpSpPr>
            <p:grpSpPr bwMode="auto">
              <a:xfrm>
                <a:off x="0" y="0"/>
                <a:ext cx="644" cy="413"/>
                <a:chOff x="0" y="0"/>
                <a:chExt cx="644" cy="413"/>
              </a:xfrm>
            </p:grpSpPr>
            <p:sp>
              <p:nvSpPr>
                <p:cNvPr id="155672" name="Rectangle 6"/>
                <p:cNvSpPr>
                  <a:spLocks noChangeArrowheads="1"/>
                </p:cNvSpPr>
                <p:nvPr/>
              </p:nvSpPr>
              <p:spPr bwMode="auto">
                <a:xfrm>
                  <a:off x="43" y="0"/>
                  <a:ext cx="558"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a:latin typeface="宋体" panose="02010600030101010101" pitchFamily="2" charset="-122"/>
                    </a:rPr>
                    <a:t>0</a:t>
                  </a:r>
                  <a:endParaRPr lang="en-US" altLang="zh-CN" sz="2400"/>
                </a:p>
              </p:txBody>
            </p:sp>
            <p:sp>
              <p:nvSpPr>
                <p:cNvPr id="155673" name="Rectangle 7"/>
                <p:cNvSpPr>
                  <a:spLocks noChangeArrowheads="1"/>
                </p:cNvSpPr>
                <p:nvPr/>
              </p:nvSpPr>
              <p:spPr bwMode="auto">
                <a:xfrm>
                  <a:off x="0" y="0"/>
                  <a:ext cx="644"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55657" name="Group 8"/>
              <p:cNvGrpSpPr>
                <a:grpSpLocks/>
              </p:cNvGrpSpPr>
              <p:nvPr/>
            </p:nvGrpSpPr>
            <p:grpSpPr bwMode="auto">
              <a:xfrm>
                <a:off x="644" y="0"/>
                <a:ext cx="645" cy="413"/>
                <a:chOff x="644" y="0"/>
                <a:chExt cx="645" cy="413"/>
              </a:xfrm>
            </p:grpSpPr>
            <p:sp>
              <p:nvSpPr>
                <p:cNvPr id="155670" name="Rectangle 9"/>
                <p:cNvSpPr>
                  <a:spLocks noChangeArrowheads="1"/>
                </p:cNvSpPr>
                <p:nvPr/>
              </p:nvSpPr>
              <p:spPr bwMode="auto">
                <a:xfrm>
                  <a:off x="687" y="0"/>
                  <a:ext cx="559"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a:solidFill>
                        <a:srgbClr val="9900CC"/>
                      </a:solidFill>
                      <a:latin typeface="宋体" panose="02010600030101010101" pitchFamily="2" charset="-122"/>
                    </a:rPr>
                    <a:t>101</a:t>
                  </a:r>
                  <a:endParaRPr lang="en-US" altLang="zh-CN" sz="2400">
                    <a:solidFill>
                      <a:srgbClr val="9900CC"/>
                    </a:solidFill>
                  </a:endParaRPr>
                </a:p>
              </p:txBody>
            </p:sp>
            <p:sp>
              <p:nvSpPr>
                <p:cNvPr id="155671" name="Rectangle 10"/>
                <p:cNvSpPr>
                  <a:spLocks noChangeArrowheads="1"/>
                </p:cNvSpPr>
                <p:nvPr/>
              </p:nvSpPr>
              <p:spPr bwMode="auto">
                <a:xfrm>
                  <a:off x="644" y="0"/>
                  <a:ext cx="645"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55658" name="Group 11"/>
              <p:cNvGrpSpPr>
                <a:grpSpLocks/>
              </p:cNvGrpSpPr>
              <p:nvPr/>
            </p:nvGrpSpPr>
            <p:grpSpPr bwMode="auto">
              <a:xfrm>
                <a:off x="1289" y="0"/>
                <a:ext cx="645" cy="413"/>
                <a:chOff x="1289" y="0"/>
                <a:chExt cx="645" cy="413"/>
              </a:xfrm>
            </p:grpSpPr>
            <p:sp>
              <p:nvSpPr>
                <p:cNvPr id="155668" name="Rectangle 12"/>
                <p:cNvSpPr>
                  <a:spLocks noChangeArrowheads="1"/>
                </p:cNvSpPr>
                <p:nvPr/>
              </p:nvSpPr>
              <p:spPr bwMode="auto">
                <a:xfrm>
                  <a:off x="1332" y="0"/>
                  <a:ext cx="559"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a:latin typeface="宋体" panose="02010600030101010101" pitchFamily="2" charset="-122"/>
                    </a:rPr>
                    <a:t>000</a:t>
                  </a:r>
                  <a:endParaRPr lang="en-US" altLang="zh-CN" sz="2400"/>
                </a:p>
              </p:txBody>
            </p:sp>
            <p:sp>
              <p:nvSpPr>
                <p:cNvPr id="155669" name="Rectangle 13"/>
                <p:cNvSpPr>
                  <a:spLocks noChangeArrowheads="1"/>
                </p:cNvSpPr>
                <p:nvPr/>
              </p:nvSpPr>
              <p:spPr bwMode="auto">
                <a:xfrm>
                  <a:off x="1289" y="0"/>
                  <a:ext cx="645"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55659" name="Group 14"/>
              <p:cNvGrpSpPr>
                <a:grpSpLocks/>
              </p:cNvGrpSpPr>
              <p:nvPr/>
            </p:nvGrpSpPr>
            <p:grpSpPr bwMode="auto">
              <a:xfrm>
                <a:off x="1934" y="0"/>
                <a:ext cx="645" cy="413"/>
                <a:chOff x="1934" y="0"/>
                <a:chExt cx="645" cy="413"/>
              </a:xfrm>
            </p:grpSpPr>
            <p:sp>
              <p:nvSpPr>
                <p:cNvPr id="155666" name="Rectangle 15"/>
                <p:cNvSpPr>
                  <a:spLocks noChangeArrowheads="1"/>
                </p:cNvSpPr>
                <p:nvPr/>
              </p:nvSpPr>
              <p:spPr bwMode="auto">
                <a:xfrm>
                  <a:off x="1977" y="0"/>
                  <a:ext cx="559"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a:latin typeface="宋体" panose="02010600030101010101" pitchFamily="2" charset="-122"/>
                    </a:rPr>
                    <a:t>000</a:t>
                  </a:r>
                  <a:endParaRPr lang="en-US" altLang="zh-CN" sz="2400"/>
                </a:p>
              </p:txBody>
            </p:sp>
            <p:sp>
              <p:nvSpPr>
                <p:cNvPr id="155667" name="Rectangle 16"/>
                <p:cNvSpPr>
                  <a:spLocks noChangeArrowheads="1"/>
                </p:cNvSpPr>
                <p:nvPr/>
              </p:nvSpPr>
              <p:spPr bwMode="auto">
                <a:xfrm>
                  <a:off x="1934" y="0"/>
                  <a:ext cx="645"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55660" name="Group 17"/>
              <p:cNvGrpSpPr>
                <a:grpSpLocks/>
              </p:cNvGrpSpPr>
              <p:nvPr/>
            </p:nvGrpSpPr>
            <p:grpSpPr bwMode="auto">
              <a:xfrm>
                <a:off x="2579" y="0"/>
                <a:ext cx="645" cy="413"/>
                <a:chOff x="2579" y="0"/>
                <a:chExt cx="645" cy="413"/>
              </a:xfrm>
            </p:grpSpPr>
            <p:sp>
              <p:nvSpPr>
                <p:cNvPr id="155664" name="Rectangle 18"/>
                <p:cNvSpPr>
                  <a:spLocks noChangeArrowheads="1"/>
                </p:cNvSpPr>
                <p:nvPr/>
              </p:nvSpPr>
              <p:spPr bwMode="auto">
                <a:xfrm>
                  <a:off x="2622" y="0"/>
                  <a:ext cx="559"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a:solidFill>
                        <a:srgbClr val="FF0000"/>
                      </a:solidFill>
                      <a:latin typeface="宋体" panose="02010600030101010101" pitchFamily="2" charset="-122"/>
                    </a:rPr>
                    <a:t>011</a:t>
                  </a:r>
                  <a:endParaRPr lang="en-US" altLang="zh-CN" sz="2400">
                    <a:solidFill>
                      <a:srgbClr val="FF0000"/>
                    </a:solidFill>
                  </a:endParaRPr>
                </a:p>
              </p:txBody>
            </p:sp>
            <p:sp>
              <p:nvSpPr>
                <p:cNvPr id="155665" name="Rectangle 19"/>
                <p:cNvSpPr>
                  <a:spLocks noChangeArrowheads="1"/>
                </p:cNvSpPr>
                <p:nvPr/>
              </p:nvSpPr>
              <p:spPr bwMode="auto">
                <a:xfrm>
                  <a:off x="2579" y="0"/>
                  <a:ext cx="645"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55661" name="Group 20"/>
              <p:cNvGrpSpPr>
                <a:grpSpLocks/>
              </p:cNvGrpSpPr>
              <p:nvPr/>
            </p:nvGrpSpPr>
            <p:grpSpPr bwMode="auto">
              <a:xfrm>
                <a:off x="3224" y="0"/>
                <a:ext cx="645" cy="413"/>
                <a:chOff x="3224" y="0"/>
                <a:chExt cx="645" cy="413"/>
              </a:xfrm>
            </p:grpSpPr>
            <p:sp>
              <p:nvSpPr>
                <p:cNvPr id="155662" name="Rectangle 21"/>
                <p:cNvSpPr>
                  <a:spLocks noChangeArrowheads="1"/>
                </p:cNvSpPr>
                <p:nvPr/>
              </p:nvSpPr>
              <p:spPr bwMode="auto">
                <a:xfrm>
                  <a:off x="3267" y="0"/>
                  <a:ext cx="559"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400">
                      <a:latin typeface="宋体" panose="02010600030101010101" pitchFamily="2" charset="-122"/>
                    </a:rPr>
                    <a:t>000</a:t>
                  </a:r>
                  <a:endParaRPr lang="en-US" altLang="zh-CN" sz="2400"/>
                </a:p>
              </p:txBody>
            </p:sp>
            <p:sp>
              <p:nvSpPr>
                <p:cNvPr id="155663" name="Rectangle 22"/>
                <p:cNvSpPr>
                  <a:spLocks noChangeArrowheads="1"/>
                </p:cNvSpPr>
                <p:nvPr/>
              </p:nvSpPr>
              <p:spPr bwMode="auto">
                <a:xfrm>
                  <a:off x="3224" y="0"/>
                  <a:ext cx="645" cy="4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155655" name="Rectangle 23"/>
            <p:cNvSpPr>
              <a:spLocks noChangeArrowheads="1"/>
            </p:cNvSpPr>
            <p:nvPr/>
          </p:nvSpPr>
          <p:spPr bwMode="auto">
            <a:xfrm>
              <a:off x="-3" y="-3"/>
              <a:ext cx="3875" cy="419"/>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654360" name="Rectangle 24"/>
          <p:cNvSpPr>
            <a:spLocks noChangeArrowheads="1"/>
          </p:cNvSpPr>
          <p:nvPr/>
        </p:nvSpPr>
        <p:spPr bwMode="auto">
          <a:xfrm>
            <a:off x="990600" y="5486400"/>
            <a:ext cx="4953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3600">
                <a:latin typeface="宋体" panose="02010600030101010101" pitchFamily="2" charset="-122"/>
              </a:rPr>
              <a:t>STM  #5018h</a:t>
            </a:r>
            <a:r>
              <a:rPr lang="zh-CN" altLang="en-US" sz="3600">
                <a:latin typeface="宋体" panose="02010600030101010101" pitchFamily="2" charset="-122"/>
              </a:rPr>
              <a:t>，</a:t>
            </a:r>
            <a:r>
              <a:rPr lang="en-US" altLang="zh-CN" sz="3600">
                <a:latin typeface="宋体" panose="02010600030101010101" pitchFamily="2" charset="-122"/>
              </a:rPr>
              <a:t>SWWSR</a:t>
            </a:r>
            <a:endParaRPr lang="en-US" altLang="zh-CN" sz="360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nodeType="afterGroup">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654360"/>
                                        </p:tgtEl>
                                        <p:attrNameLst>
                                          <p:attrName>style.visibility</p:attrName>
                                        </p:attrNameLst>
                                      </p:cBhvr>
                                      <p:to>
                                        <p:strVal val="visible"/>
                                      </p:to>
                                    </p:set>
                                    <p:anim calcmode="lin" valueType="num">
                                      <p:cBhvr additive="base">
                                        <p:cTn id="11" dur="500" fill="hold"/>
                                        <p:tgtEl>
                                          <p:spTgt spid="654360"/>
                                        </p:tgtEl>
                                        <p:attrNameLst>
                                          <p:attrName>ppt_x</p:attrName>
                                        </p:attrNameLst>
                                      </p:cBhvr>
                                      <p:tavLst>
                                        <p:tav tm="0">
                                          <p:val>
                                            <p:strVal val="1+#ppt_w/2"/>
                                          </p:val>
                                        </p:tav>
                                        <p:tav tm="100000">
                                          <p:val>
                                            <p:strVal val="#ppt_x"/>
                                          </p:val>
                                        </p:tav>
                                      </p:tavLst>
                                    </p:anim>
                                    <p:anim calcmode="lin" valueType="num">
                                      <p:cBhvr additive="base">
                                        <p:cTn id="12" dur="500" fill="hold"/>
                                        <p:tgtEl>
                                          <p:spTgt spid="6543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4360" grpId="0"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62" name="Rectangle 2"/>
          <p:cNvSpPr>
            <a:spLocks noGrp="1" noChangeArrowheads="1"/>
          </p:cNvSpPr>
          <p:nvPr>
            <p:ph type="title"/>
          </p:nvPr>
        </p:nvSpPr>
        <p:spPr bwMode="auto">
          <a:xfrm>
            <a:off x="533400" y="9144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b="1">
                <a:solidFill>
                  <a:srgbClr val="FF0066"/>
                </a:solidFill>
                <a:ea typeface="仿宋_GB2312" pitchFamily="49" charset="-122"/>
              </a:rPr>
              <a:t>4</a:t>
            </a:r>
            <a:r>
              <a:rPr lang="zh-CN" altLang="en-US" sz="3600" b="1">
                <a:solidFill>
                  <a:srgbClr val="FF0066"/>
                </a:solidFill>
                <a:ea typeface="仿宋_GB2312" pitchFamily="49" charset="-122"/>
              </a:rPr>
              <a:t>．利用硬件等待实现接口的速度配合</a:t>
            </a:r>
            <a:r>
              <a:rPr lang="zh-CN" altLang="en-US" b="1"/>
              <a:t> </a:t>
            </a:r>
          </a:p>
        </p:txBody>
      </p:sp>
      <p:sp>
        <p:nvSpPr>
          <p:cNvPr id="156675" name="Rectangle 3"/>
          <p:cNvSpPr>
            <a:spLocks noGrp="1" noChangeArrowheads="1"/>
          </p:cNvSpPr>
          <p:nvPr>
            <p:ph idx="1"/>
          </p:nvPr>
        </p:nvSpPr>
        <p:spPr bwMode="auto">
          <a:xfrm>
            <a:off x="228600" y="1628775"/>
            <a:ext cx="7772400" cy="1952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zh-CN" altLang="en-US" sz="2800" b="1">
                <a:latin typeface="宋体" panose="02010600030101010101" pitchFamily="2" charset="-122"/>
              </a:rPr>
              <a:t>什么情况下需插入硬件等待状态</a:t>
            </a:r>
          </a:p>
          <a:p>
            <a:pPr eaLnBrk="1" hangingPunct="1">
              <a:lnSpc>
                <a:spcPct val="90000"/>
              </a:lnSpc>
            </a:pPr>
            <a:endParaRPr lang="zh-CN" altLang="en-US" sz="2800" b="1"/>
          </a:p>
          <a:p>
            <a:pPr eaLnBrk="1" hangingPunct="1">
              <a:lnSpc>
                <a:spcPct val="90000"/>
              </a:lnSpc>
            </a:pPr>
            <a:r>
              <a:rPr lang="zh-CN" altLang="en-US" sz="2800" b="1"/>
              <a:t> </a:t>
            </a:r>
          </a:p>
          <a:p>
            <a:pPr eaLnBrk="1" hangingPunct="1">
              <a:lnSpc>
                <a:spcPct val="90000"/>
              </a:lnSpc>
            </a:pPr>
            <a:r>
              <a:rPr lang="zh-CN" altLang="en-US" sz="2800" b="1">
                <a:latin typeface="宋体" panose="02010600030101010101" pitchFamily="2" charset="-122"/>
              </a:rPr>
              <a:t>怎样用硬件插入等待</a:t>
            </a:r>
            <a:endParaRPr lang="zh-CN" altLang="en-US" sz="2800" b="1"/>
          </a:p>
        </p:txBody>
      </p:sp>
      <p:sp>
        <p:nvSpPr>
          <p:cNvPr id="15667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BA55E259-1A81-44A6-A783-3FC3FDC142AC}" type="slidenum">
              <a:rPr lang="en-US" altLang="zh-CN" sz="1400" b="0"/>
              <a:pPr eaLnBrk="1" hangingPunct="1"/>
              <a:t>143</a:t>
            </a:fld>
            <a:endParaRPr lang="en-US" altLang="zh-CN" sz="1400" b="0"/>
          </a:p>
        </p:txBody>
      </p:sp>
      <p:sp>
        <p:nvSpPr>
          <p:cNvPr id="655364" name="Rectangle 4"/>
          <p:cNvSpPr>
            <a:spLocks noChangeArrowheads="1"/>
          </p:cNvSpPr>
          <p:nvPr/>
        </p:nvSpPr>
        <p:spPr bwMode="auto">
          <a:xfrm>
            <a:off x="685800" y="3581400"/>
            <a:ext cx="78295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en-US" altLang="zh-CN" sz="3600">
                <a:solidFill>
                  <a:srgbClr val="FF0066"/>
                </a:solidFill>
                <a:ea typeface="仿宋_GB2312" pitchFamily="49" charset="-122"/>
              </a:rPr>
              <a:t>5</a:t>
            </a:r>
            <a:r>
              <a:rPr lang="zh-CN" altLang="en-US" sz="3600">
                <a:solidFill>
                  <a:srgbClr val="FF0066"/>
                </a:solidFill>
                <a:ea typeface="仿宋_GB2312" pitchFamily="49" charset="-122"/>
              </a:rPr>
              <a:t>．利用混合等待实现接口的速度配合</a:t>
            </a:r>
            <a:r>
              <a:rPr lang="zh-CN" altLang="en-US" sz="3200">
                <a:solidFill>
                  <a:schemeClr val="tx2"/>
                </a:solidFill>
              </a:rPr>
              <a:t> </a:t>
            </a:r>
          </a:p>
        </p:txBody>
      </p:sp>
      <p:sp>
        <p:nvSpPr>
          <p:cNvPr id="655365" name="Rectangle 5"/>
          <p:cNvSpPr>
            <a:spLocks noChangeArrowheads="1"/>
          </p:cNvSpPr>
          <p:nvPr/>
        </p:nvSpPr>
        <p:spPr bwMode="auto">
          <a:xfrm>
            <a:off x="838200" y="4191000"/>
            <a:ext cx="419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chemeClr val="tx2"/>
                </a:solidFill>
                <a:latin typeface="宋体" panose="02010600030101010101" pitchFamily="2" charset="-122"/>
              </a:rPr>
              <a:t>混合等待状态举例</a:t>
            </a:r>
            <a:r>
              <a:rPr lang="zh-CN" altLang="en-US" sz="2800">
                <a:solidFill>
                  <a:schemeClr val="tx2"/>
                </a:solidFill>
              </a:rPr>
              <a:t> </a:t>
            </a:r>
          </a:p>
        </p:txBody>
      </p:sp>
      <p:sp>
        <p:nvSpPr>
          <p:cNvPr id="655366" name="Rectangle 6"/>
          <p:cNvSpPr>
            <a:spLocks noChangeArrowheads="1"/>
          </p:cNvSpPr>
          <p:nvPr/>
        </p:nvSpPr>
        <p:spPr bwMode="auto">
          <a:xfrm>
            <a:off x="457200" y="4876800"/>
            <a:ext cx="82296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latin typeface="宋体" panose="02010600030101010101" pitchFamily="2" charset="-122"/>
              </a:rPr>
              <a:t>C54x-40</a:t>
            </a:r>
            <a:r>
              <a:rPr lang="zh-CN" altLang="en-US" sz="3200">
                <a:latin typeface="宋体" panose="02010600030101010101" pitchFamily="2" charset="-122"/>
              </a:rPr>
              <a:t>与低地址程序存储器（</a:t>
            </a:r>
            <a:r>
              <a:rPr lang="en-US" altLang="zh-CN" sz="3200">
                <a:latin typeface="宋体" panose="02010600030101010101" pitchFamily="2" charset="-122"/>
              </a:rPr>
              <a:t>SRAM</a:t>
            </a:r>
            <a:r>
              <a:rPr lang="zh-CN" altLang="en-US" sz="3200">
                <a:latin typeface="宋体" panose="02010600030101010101" pitchFamily="2" charset="-122"/>
              </a:rPr>
              <a:t>，</a:t>
            </a:r>
            <a:r>
              <a:rPr lang="en-US" altLang="zh-CN" sz="3200">
                <a:latin typeface="宋体" panose="02010600030101010101" pitchFamily="2" charset="-122"/>
              </a:rPr>
              <a:t>12 ns</a:t>
            </a:r>
            <a:r>
              <a:rPr lang="zh-CN" altLang="en-US" sz="3200">
                <a:latin typeface="宋体" panose="02010600030101010101" pitchFamily="2" charset="-122"/>
              </a:rPr>
              <a:t>）以及高地址程序存储器（</a:t>
            </a:r>
            <a:r>
              <a:rPr lang="en-US" altLang="zh-CN" sz="3200">
                <a:latin typeface="宋体" panose="02010600030101010101" pitchFamily="2" charset="-122"/>
              </a:rPr>
              <a:t>EPROM</a:t>
            </a:r>
            <a:r>
              <a:rPr lang="zh-CN" altLang="en-US" sz="3200">
                <a:latin typeface="宋体" panose="02010600030101010101" pitchFamily="2" charset="-122"/>
              </a:rPr>
              <a:t>，</a:t>
            </a:r>
            <a:r>
              <a:rPr lang="en-US" altLang="zh-CN" sz="3200">
                <a:latin typeface="宋体" panose="02010600030101010101" pitchFamily="2" charset="-122"/>
              </a:rPr>
              <a:t>200 ns</a:t>
            </a:r>
            <a:r>
              <a:rPr lang="zh-CN" altLang="en-US" sz="3200">
                <a:latin typeface="宋体" panose="02010600030101010101" pitchFamily="2" charset="-122"/>
              </a:rPr>
              <a:t>）相接口。</a:t>
            </a:r>
            <a:r>
              <a:rPr lang="zh-CN" altLang="en-US" sz="3200"/>
              <a:t> </a:t>
            </a:r>
          </a:p>
        </p:txBody>
      </p:sp>
      <p:sp>
        <p:nvSpPr>
          <p:cNvPr id="655367" name="AutoShape 7" descr="小棋盘"/>
          <p:cNvSpPr>
            <a:spLocks noChangeArrowheads="1"/>
          </p:cNvSpPr>
          <p:nvPr/>
        </p:nvSpPr>
        <p:spPr bwMode="auto">
          <a:xfrm>
            <a:off x="250825" y="2205038"/>
            <a:ext cx="5791200" cy="762000"/>
          </a:xfrm>
          <a:prstGeom prst="wedgeRoundRectCallout">
            <a:avLst>
              <a:gd name="adj1" fmla="val -29523"/>
              <a:gd name="adj2" fmla="val -69583"/>
              <a:gd name="adj3" fmla="val 16667"/>
            </a:avLst>
          </a:prstGeom>
          <a:pattFill prst="smCheck">
            <a:fgClr>
              <a:schemeClr val="accent1"/>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chemeClr val="folHlink"/>
                </a:solidFill>
                <a:latin typeface="宋体" panose="02010600030101010101" pitchFamily="2" charset="-122"/>
              </a:rPr>
              <a:t>当需要插入</a:t>
            </a:r>
            <a:r>
              <a:rPr lang="en-US" altLang="zh-CN" sz="2400">
                <a:solidFill>
                  <a:schemeClr val="folHlink"/>
                </a:solidFill>
                <a:latin typeface="宋体" panose="02010600030101010101" pitchFamily="2" charset="-122"/>
              </a:rPr>
              <a:t>7</a:t>
            </a:r>
            <a:r>
              <a:rPr lang="zh-CN" altLang="en-US" sz="2400">
                <a:solidFill>
                  <a:schemeClr val="folHlink"/>
                </a:solidFill>
                <a:latin typeface="宋体" panose="02010600030101010101" pitchFamily="2" charset="-122"/>
              </a:rPr>
              <a:t>个以上的等待状态，或在一个存储区中有两种以上的存取速度</a:t>
            </a:r>
          </a:p>
        </p:txBody>
      </p:sp>
      <p:sp>
        <p:nvSpPr>
          <p:cNvPr id="655368" name="AutoShape 8" descr="小棋盘"/>
          <p:cNvSpPr>
            <a:spLocks noChangeArrowheads="1"/>
          </p:cNvSpPr>
          <p:nvPr/>
        </p:nvSpPr>
        <p:spPr bwMode="auto">
          <a:xfrm>
            <a:off x="6659563" y="1628775"/>
            <a:ext cx="2179637" cy="1952625"/>
          </a:xfrm>
          <a:prstGeom prst="wedgeRoundRectCallout">
            <a:avLst>
              <a:gd name="adj1" fmla="val -124944"/>
              <a:gd name="adj2" fmla="val 35366"/>
              <a:gd name="adj3" fmla="val 16667"/>
            </a:avLst>
          </a:prstGeom>
          <a:pattFill prst="smCheck">
            <a:fgClr>
              <a:schemeClr val="accent1"/>
            </a:fgClr>
            <a:bgClr>
              <a:srgbClr val="FFFFFF"/>
            </a:bgClr>
          </a:pattFill>
          <a:ln w="9525">
            <a:solidFill>
              <a:srgbClr val="FF00FF"/>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chemeClr val="tx2"/>
                </a:solidFill>
                <a:latin typeface="宋体" panose="02010600030101010101" pitchFamily="2" charset="-122"/>
              </a:rPr>
              <a:t>利用</a:t>
            </a:r>
            <a:r>
              <a:rPr lang="en-US" altLang="zh-CN" sz="2400">
                <a:solidFill>
                  <a:schemeClr val="tx2"/>
                </a:solidFill>
                <a:latin typeface="宋体" panose="02010600030101010101" pitchFamily="2" charset="-122"/>
              </a:rPr>
              <a:t>MSC</a:t>
            </a:r>
            <a:r>
              <a:rPr lang="zh-CN" altLang="en-US" sz="2400">
                <a:solidFill>
                  <a:schemeClr val="tx2"/>
                </a:solidFill>
                <a:latin typeface="宋体" panose="02010600030101010101" pitchFamily="2" charset="-122"/>
              </a:rPr>
              <a:t>引脚的输出信号变为低电平状态和</a:t>
            </a:r>
            <a:r>
              <a:rPr lang="en-US" altLang="zh-CN" sz="2400">
                <a:solidFill>
                  <a:schemeClr val="tx2"/>
                </a:solidFill>
                <a:latin typeface="宋体" panose="02010600030101010101" pitchFamily="2" charset="-122"/>
              </a:rPr>
              <a:t>READY</a:t>
            </a:r>
            <a:r>
              <a:rPr lang="zh-CN" altLang="en-US" sz="2400">
                <a:solidFill>
                  <a:schemeClr val="tx2"/>
                </a:solidFill>
                <a:latin typeface="宋体" panose="02010600030101010101" pitchFamily="2" charset="-122"/>
              </a:rPr>
              <a:t>线置高电平</a:t>
            </a:r>
          </a:p>
        </p:txBody>
      </p:sp>
      <p:sp>
        <p:nvSpPr>
          <p:cNvPr id="156682" name="Line 9"/>
          <p:cNvSpPr>
            <a:spLocks noChangeShapeType="1"/>
          </p:cNvSpPr>
          <p:nvPr/>
        </p:nvSpPr>
        <p:spPr bwMode="auto">
          <a:xfrm>
            <a:off x="7524750" y="1700213"/>
            <a:ext cx="431800"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55362"/>
                                        </p:tgtEl>
                                        <p:attrNameLst>
                                          <p:attrName>style.visibility</p:attrName>
                                        </p:attrNameLst>
                                      </p:cBhvr>
                                      <p:to>
                                        <p:strVal val="visible"/>
                                      </p:to>
                                    </p:set>
                                    <p:animEffect transition="in" filter="blinds(horizontal)">
                                      <p:cBhvr>
                                        <p:cTn id="7" dur="500"/>
                                        <p:tgtEl>
                                          <p:spTgt spid="655362"/>
                                        </p:tgtEl>
                                      </p:cBhvr>
                                    </p:animEffect>
                                  </p:childTnLst>
                                </p:cTn>
                              </p:par>
                            </p:childTnLst>
                          </p:cTn>
                        </p:par>
                        <p:par>
                          <p:cTn id="8" fill="hold" nodeType="afterGroup">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655364"/>
                                        </p:tgtEl>
                                        <p:attrNameLst>
                                          <p:attrName>style.visibility</p:attrName>
                                        </p:attrNameLst>
                                      </p:cBhvr>
                                      <p:to>
                                        <p:strVal val="visible"/>
                                      </p:to>
                                    </p:set>
                                    <p:anim calcmode="lin" valueType="num">
                                      <p:cBhvr additive="base">
                                        <p:cTn id="11" dur="500" fill="hold"/>
                                        <p:tgtEl>
                                          <p:spTgt spid="655364"/>
                                        </p:tgtEl>
                                        <p:attrNameLst>
                                          <p:attrName>ppt_x</p:attrName>
                                        </p:attrNameLst>
                                      </p:cBhvr>
                                      <p:tavLst>
                                        <p:tav tm="0">
                                          <p:val>
                                            <p:strVal val="1+#ppt_w/2"/>
                                          </p:val>
                                        </p:tav>
                                        <p:tav tm="100000">
                                          <p:val>
                                            <p:strVal val="#ppt_x"/>
                                          </p:val>
                                        </p:tav>
                                      </p:tavLst>
                                    </p:anim>
                                    <p:anim calcmode="lin" valueType="num">
                                      <p:cBhvr additive="base">
                                        <p:cTn id="12" dur="500" fill="hold"/>
                                        <p:tgtEl>
                                          <p:spTgt spid="655364"/>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655367"/>
                                        </p:tgtEl>
                                        <p:attrNameLst>
                                          <p:attrName>style.visibility</p:attrName>
                                        </p:attrNameLst>
                                      </p:cBhvr>
                                      <p:to>
                                        <p:strVal val="visible"/>
                                      </p:to>
                                    </p:set>
                                    <p:anim calcmode="lin" valueType="num">
                                      <p:cBhvr additive="base">
                                        <p:cTn id="16" dur="500" fill="hold"/>
                                        <p:tgtEl>
                                          <p:spTgt spid="655367"/>
                                        </p:tgtEl>
                                        <p:attrNameLst>
                                          <p:attrName>ppt_x</p:attrName>
                                        </p:attrNameLst>
                                      </p:cBhvr>
                                      <p:tavLst>
                                        <p:tav tm="0">
                                          <p:val>
                                            <p:strVal val="1+#ppt_w/2"/>
                                          </p:val>
                                        </p:tav>
                                        <p:tav tm="100000">
                                          <p:val>
                                            <p:strVal val="#ppt_x"/>
                                          </p:val>
                                        </p:tav>
                                      </p:tavLst>
                                    </p:anim>
                                    <p:anim calcmode="lin" valueType="num">
                                      <p:cBhvr additive="base">
                                        <p:cTn id="17" dur="500" fill="hold"/>
                                        <p:tgtEl>
                                          <p:spTgt spid="655367"/>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1500"/>
                            </p:stCondLst>
                            <p:childTnLst>
                              <p:par>
                                <p:cTn id="19" presetID="2" presetClass="entr" presetSubtype="2" fill="hold" grpId="0" nodeType="afterEffect">
                                  <p:stCondLst>
                                    <p:cond delay="0"/>
                                  </p:stCondLst>
                                  <p:childTnLst>
                                    <p:set>
                                      <p:cBhvr>
                                        <p:cTn id="20" dur="1" fill="hold">
                                          <p:stCondLst>
                                            <p:cond delay="0"/>
                                          </p:stCondLst>
                                        </p:cTn>
                                        <p:tgtEl>
                                          <p:spTgt spid="655368"/>
                                        </p:tgtEl>
                                        <p:attrNameLst>
                                          <p:attrName>style.visibility</p:attrName>
                                        </p:attrNameLst>
                                      </p:cBhvr>
                                      <p:to>
                                        <p:strVal val="visible"/>
                                      </p:to>
                                    </p:set>
                                    <p:anim calcmode="lin" valueType="num">
                                      <p:cBhvr additive="base">
                                        <p:cTn id="21" dur="500" fill="hold"/>
                                        <p:tgtEl>
                                          <p:spTgt spid="655368"/>
                                        </p:tgtEl>
                                        <p:attrNameLst>
                                          <p:attrName>ppt_x</p:attrName>
                                        </p:attrNameLst>
                                      </p:cBhvr>
                                      <p:tavLst>
                                        <p:tav tm="0">
                                          <p:val>
                                            <p:strVal val="1+#ppt_w/2"/>
                                          </p:val>
                                        </p:tav>
                                        <p:tav tm="100000">
                                          <p:val>
                                            <p:strVal val="#ppt_x"/>
                                          </p:val>
                                        </p:tav>
                                      </p:tavLst>
                                    </p:anim>
                                    <p:anim calcmode="lin" valueType="num">
                                      <p:cBhvr additive="base">
                                        <p:cTn id="22" dur="500" fill="hold"/>
                                        <p:tgtEl>
                                          <p:spTgt spid="655368"/>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2000"/>
                            </p:stCondLst>
                            <p:childTnLst>
                              <p:par>
                                <p:cTn id="24" presetID="12" presetClass="entr" presetSubtype="8" fill="hold" grpId="0" nodeType="afterEffect">
                                  <p:stCondLst>
                                    <p:cond delay="0"/>
                                  </p:stCondLst>
                                  <p:childTnLst>
                                    <p:set>
                                      <p:cBhvr>
                                        <p:cTn id="25" dur="1" fill="hold">
                                          <p:stCondLst>
                                            <p:cond delay="0"/>
                                          </p:stCondLst>
                                        </p:cTn>
                                        <p:tgtEl>
                                          <p:spTgt spid="655365"/>
                                        </p:tgtEl>
                                        <p:attrNameLst>
                                          <p:attrName>style.visibility</p:attrName>
                                        </p:attrNameLst>
                                      </p:cBhvr>
                                      <p:to>
                                        <p:strVal val="visible"/>
                                      </p:to>
                                    </p:set>
                                    <p:animEffect transition="in" filter="slide(fromLeft)">
                                      <p:cBhvr>
                                        <p:cTn id="26" dur="500"/>
                                        <p:tgtEl>
                                          <p:spTgt spid="655365"/>
                                        </p:tgtEl>
                                      </p:cBhvr>
                                    </p:animEffect>
                                  </p:childTnLst>
                                </p:cTn>
                              </p:par>
                            </p:childTnLst>
                          </p:cTn>
                        </p:par>
                        <p:par>
                          <p:cTn id="27" fill="hold" nodeType="afterGroup">
                            <p:stCondLst>
                              <p:cond delay="2500"/>
                            </p:stCondLst>
                            <p:childTnLst>
                              <p:par>
                                <p:cTn id="28" presetID="5" presetClass="entr" presetSubtype="10" fill="hold" grpId="0" nodeType="afterEffect">
                                  <p:stCondLst>
                                    <p:cond delay="0"/>
                                  </p:stCondLst>
                                  <p:childTnLst>
                                    <p:set>
                                      <p:cBhvr>
                                        <p:cTn id="29" dur="1" fill="hold">
                                          <p:stCondLst>
                                            <p:cond delay="0"/>
                                          </p:stCondLst>
                                        </p:cTn>
                                        <p:tgtEl>
                                          <p:spTgt spid="655366"/>
                                        </p:tgtEl>
                                        <p:attrNameLst>
                                          <p:attrName>style.visibility</p:attrName>
                                        </p:attrNameLst>
                                      </p:cBhvr>
                                      <p:to>
                                        <p:strVal val="visible"/>
                                      </p:to>
                                    </p:set>
                                    <p:animEffect transition="in" filter="checkerboard(across)">
                                      <p:cBhvr>
                                        <p:cTn id="30" dur="500"/>
                                        <p:tgtEl>
                                          <p:spTgt spid="655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62" grpId="0" autoUpdateAnimBg="0"/>
      <p:bldP spid="655364" grpId="0" autoUpdateAnimBg="0"/>
      <p:bldP spid="655365" grpId="0" autoUpdateAnimBg="0"/>
      <p:bldP spid="655366" grpId="0" autoUpdateAnimBg="0"/>
      <p:bldP spid="655367" grpId="0" animBg="1" autoUpdateAnimBg="0"/>
      <p:bldP spid="655368" grpId="0" animBg="1"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A816B62-93BD-4FF7-B2DA-0B0E23DED353}" type="slidenum">
              <a:rPr lang="en-US" altLang="zh-CN" sz="1400" b="0"/>
              <a:pPr eaLnBrk="1" hangingPunct="1"/>
              <a:t>144</a:t>
            </a:fld>
            <a:endParaRPr lang="en-US" altLang="zh-CN" sz="1400" b="0"/>
          </a:p>
        </p:txBody>
      </p:sp>
      <p:sp>
        <p:nvSpPr>
          <p:cNvPr id="656387" name="Text Box 3"/>
          <p:cNvSpPr txBox="1">
            <a:spLocks noChangeArrowheads="1"/>
          </p:cNvSpPr>
          <p:nvPr/>
        </p:nvSpPr>
        <p:spPr bwMode="auto">
          <a:xfrm>
            <a:off x="1619250" y="981075"/>
            <a:ext cx="5754688"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a:r>
              <a:rPr kumimoji="0" lang="zh-CN" altLang="en-US" sz="3200">
                <a:solidFill>
                  <a:srgbClr val="FF0000"/>
                </a:solidFill>
                <a:latin typeface="宋体" panose="02010600030101010101" pitchFamily="2" charset="-122"/>
              </a:rPr>
              <a:t>软件和硬件混合等待状态连接</a:t>
            </a:r>
            <a:endParaRPr kumimoji="0" lang="zh-CN" altLang="en-US" sz="3200">
              <a:solidFill>
                <a:srgbClr val="FF0000"/>
              </a:solidFill>
            </a:endParaRPr>
          </a:p>
        </p:txBody>
      </p:sp>
      <p:sp>
        <p:nvSpPr>
          <p:cNvPr id="656388" name="Rectangle 4"/>
          <p:cNvSpPr>
            <a:spLocks noChangeArrowheads="1"/>
          </p:cNvSpPr>
          <p:nvPr/>
        </p:nvSpPr>
        <p:spPr bwMode="auto">
          <a:xfrm>
            <a:off x="2700338" y="6092825"/>
            <a:ext cx="495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3200">
                <a:latin typeface="宋体" panose="02010600030101010101" pitchFamily="2" charset="-122"/>
              </a:rPr>
              <a:t> STM  #1278h</a:t>
            </a:r>
            <a:r>
              <a:rPr lang="zh-CN" altLang="en-US" sz="3200">
                <a:latin typeface="宋体" panose="02010600030101010101" pitchFamily="2" charset="-122"/>
              </a:rPr>
              <a:t>，</a:t>
            </a:r>
            <a:r>
              <a:rPr lang="en-US" altLang="zh-CN" sz="3200">
                <a:latin typeface="宋体" panose="02010600030101010101" pitchFamily="2" charset="-122"/>
              </a:rPr>
              <a:t>SWWSR</a:t>
            </a:r>
            <a:endParaRPr lang="en-US" altLang="zh-CN" sz="3200"/>
          </a:p>
        </p:txBody>
      </p:sp>
      <p:grpSp>
        <p:nvGrpSpPr>
          <p:cNvPr id="157701" name="Group 162"/>
          <p:cNvGrpSpPr>
            <a:grpSpLocks/>
          </p:cNvGrpSpPr>
          <p:nvPr/>
        </p:nvGrpSpPr>
        <p:grpSpPr bwMode="auto">
          <a:xfrm>
            <a:off x="250825" y="1557338"/>
            <a:ext cx="8423275" cy="4665662"/>
            <a:chOff x="158" y="981"/>
            <a:chExt cx="5306" cy="2939"/>
          </a:xfrm>
        </p:grpSpPr>
        <p:sp>
          <p:nvSpPr>
            <p:cNvPr id="157706" name="Text Box 7"/>
            <p:cNvSpPr txBox="1">
              <a:spLocks noChangeArrowheads="1"/>
            </p:cNvSpPr>
            <p:nvPr/>
          </p:nvSpPr>
          <p:spPr bwMode="auto">
            <a:xfrm>
              <a:off x="3242" y="1097"/>
              <a:ext cx="1678" cy="757"/>
            </a:xfrm>
            <a:prstGeom prst="rect">
              <a:avLst/>
            </a:prstGeom>
            <a:solidFill>
              <a:schemeClr val="accent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sz="1800"/>
            </a:p>
            <a:p>
              <a:pPr eaLnBrk="1" hangingPunct="1">
                <a:spcBef>
                  <a:spcPct val="50000"/>
                </a:spcBef>
              </a:pPr>
              <a:endParaRPr lang="en-US" altLang="zh-CN" sz="1800"/>
            </a:p>
            <a:p>
              <a:pPr eaLnBrk="1" hangingPunct="1">
                <a:spcBef>
                  <a:spcPct val="50000"/>
                </a:spcBef>
              </a:pPr>
              <a:endParaRPr lang="en-US" altLang="zh-CN" sz="1800"/>
            </a:p>
          </p:txBody>
        </p:sp>
        <p:sp>
          <p:nvSpPr>
            <p:cNvPr id="157707" name="Text Box 11"/>
            <p:cNvSpPr txBox="1">
              <a:spLocks noChangeArrowheads="1"/>
            </p:cNvSpPr>
            <p:nvPr/>
          </p:nvSpPr>
          <p:spPr bwMode="auto">
            <a:xfrm>
              <a:off x="3243" y="1550"/>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CS</a:t>
              </a:r>
            </a:p>
          </p:txBody>
        </p:sp>
        <p:sp>
          <p:nvSpPr>
            <p:cNvPr id="157708" name="Text Box 12"/>
            <p:cNvSpPr txBox="1">
              <a:spLocks noChangeArrowheads="1"/>
            </p:cNvSpPr>
            <p:nvPr/>
          </p:nvSpPr>
          <p:spPr bwMode="auto">
            <a:xfrm>
              <a:off x="3263" y="1188"/>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000000"/>
                  </a:solidFill>
                </a:rPr>
                <a:t>A</a:t>
              </a:r>
            </a:p>
          </p:txBody>
        </p:sp>
        <p:sp>
          <p:nvSpPr>
            <p:cNvPr id="157709" name="Text Box 13"/>
            <p:cNvSpPr txBox="1">
              <a:spLocks noChangeArrowheads="1"/>
            </p:cNvSpPr>
            <p:nvPr/>
          </p:nvSpPr>
          <p:spPr bwMode="auto">
            <a:xfrm>
              <a:off x="3560" y="1096"/>
              <a:ext cx="108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a:solidFill>
                    <a:schemeClr val="tx2"/>
                  </a:solidFill>
                </a:rPr>
                <a:t>低地址程序存储器</a:t>
              </a:r>
            </a:p>
          </p:txBody>
        </p:sp>
        <p:sp>
          <p:nvSpPr>
            <p:cNvPr id="157710" name="Text Box 14"/>
            <p:cNvSpPr txBox="1">
              <a:spLocks noChangeArrowheads="1"/>
            </p:cNvSpPr>
            <p:nvPr/>
          </p:nvSpPr>
          <p:spPr bwMode="auto">
            <a:xfrm>
              <a:off x="3470" y="1595"/>
              <a:ext cx="1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12ns SRAM</a:t>
              </a:r>
            </a:p>
          </p:txBody>
        </p:sp>
        <p:sp>
          <p:nvSpPr>
            <p:cNvPr id="157711" name="Text Box 15"/>
            <p:cNvSpPr txBox="1">
              <a:spLocks noChangeArrowheads="1"/>
            </p:cNvSpPr>
            <p:nvPr/>
          </p:nvSpPr>
          <p:spPr bwMode="auto">
            <a:xfrm>
              <a:off x="4286" y="1459"/>
              <a:ext cx="63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DATA</a:t>
              </a:r>
            </a:p>
          </p:txBody>
        </p:sp>
        <p:sp>
          <p:nvSpPr>
            <p:cNvPr id="157712" name="Line 18"/>
            <p:cNvSpPr>
              <a:spLocks noChangeShapeType="1"/>
            </p:cNvSpPr>
            <p:nvPr/>
          </p:nvSpPr>
          <p:spPr bwMode="auto">
            <a:xfrm>
              <a:off x="3318" y="1570"/>
              <a:ext cx="182" cy="0"/>
            </a:xfrm>
            <a:prstGeom prst="line">
              <a:avLst/>
            </a:prstGeom>
            <a:noFill/>
            <a:ln w="952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13" name="Text Box 19"/>
            <p:cNvSpPr txBox="1">
              <a:spLocks noChangeArrowheads="1"/>
            </p:cNvSpPr>
            <p:nvPr/>
          </p:nvSpPr>
          <p:spPr bwMode="auto">
            <a:xfrm>
              <a:off x="3243" y="1903"/>
              <a:ext cx="1678" cy="1017"/>
            </a:xfrm>
            <a:prstGeom prst="rect">
              <a:avLst/>
            </a:prstGeom>
            <a:solidFill>
              <a:schemeClr va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sz="1800"/>
            </a:p>
            <a:p>
              <a:pPr eaLnBrk="1" hangingPunct="1">
                <a:spcBef>
                  <a:spcPct val="50000"/>
                </a:spcBef>
              </a:pPr>
              <a:endParaRPr lang="en-US" altLang="zh-CN" sz="1800"/>
            </a:p>
            <a:p>
              <a:pPr eaLnBrk="1" hangingPunct="1">
                <a:spcBef>
                  <a:spcPct val="50000"/>
                </a:spcBef>
              </a:pPr>
              <a:endParaRPr lang="en-US" altLang="zh-CN" sz="1800"/>
            </a:p>
            <a:p>
              <a:pPr eaLnBrk="1" hangingPunct="1">
                <a:spcBef>
                  <a:spcPct val="50000"/>
                </a:spcBef>
              </a:pPr>
              <a:endParaRPr lang="en-US" altLang="zh-CN" sz="1800"/>
            </a:p>
          </p:txBody>
        </p:sp>
        <p:sp>
          <p:nvSpPr>
            <p:cNvPr id="157714" name="Text Box 23"/>
            <p:cNvSpPr txBox="1">
              <a:spLocks noChangeArrowheads="1"/>
            </p:cNvSpPr>
            <p:nvPr/>
          </p:nvSpPr>
          <p:spPr bwMode="auto">
            <a:xfrm>
              <a:off x="3288" y="2078"/>
              <a:ext cx="272" cy="19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000000"/>
                  </a:solidFill>
                </a:rPr>
                <a:t>A</a:t>
              </a:r>
            </a:p>
          </p:txBody>
        </p:sp>
        <p:sp>
          <p:nvSpPr>
            <p:cNvPr id="157715" name="Text Box 26"/>
            <p:cNvSpPr txBox="1">
              <a:spLocks noChangeArrowheads="1"/>
            </p:cNvSpPr>
            <p:nvPr/>
          </p:nvSpPr>
          <p:spPr bwMode="auto">
            <a:xfrm>
              <a:off x="3470" y="2583"/>
              <a:ext cx="1406"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FF0000"/>
                  </a:solidFill>
                </a:rPr>
                <a:t>200ns EPROM</a:t>
              </a:r>
            </a:p>
          </p:txBody>
        </p:sp>
        <p:sp>
          <p:nvSpPr>
            <p:cNvPr id="157716" name="Text Box 48"/>
            <p:cNvSpPr txBox="1">
              <a:spLocks noChangeArrowheads="1"/>
            </p:cNvSpPr>
            <p:nvPr/>
          </p:nvSpPr>
          <p:spPr bwMode="auto">
            <a:xfrm>
              <a:off x="158" y="1072"/>
              <a:ext cx="1587" cy="2848"/>
            </a:xfrm>
            <a:prstGeom prst="rect">
              <a:avLst/>
            </a:prstGeom>
            <a:solidFill>
              <a:srgbClr val="00FFFF"/>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a:p>
              <a:pPr eaLnBrk="1" hangingPunct="1">
                <a:spcBef>
                  <a:spcPct val="50000"/>
                </a:spcBef>
              </a:pPr>
              <a:endParaRPr lang="en-US" altLang="zh-CN"/>
            </a:p>
          </p:txBody>
        </p:sp>
        <p:sp>
          <p:nvSpPr>
            <p:cNvPr id="157717" name="Text Box 49"/>
            <p:cNvSpPr txBox="1">
              <a:spLocks noChangeArrowheads="1"/>
            </p:cNvSpPr>
            <p:nvPr/>
          </p:nvSpPr>
          <p:spPr bwMode="auto">
            <a:xfrm>
              <a:off x="981" y="1540"/>
              <a:ext cx="7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PS</a:t>
              </a:r>
            </a:p>
          </p:txBody>
        </p:sp>
        <p:sp>
          <p:nvSpPr>
            <p:cNvPr id="157718" name="Text Box 50"/>
            <p:cNvSpPr txBox="1">
              <a:spLocks noChangeArrowheads="1"/>
            </p:cNvSpPr>
            <p:nvPr/>
          </p:nvSpPr>
          <p:spPr bwMode="auto">
            <a:xfrm>
              <a:off x="612" y="1178"/>
              <a:ext cx="111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ADDRES</a:t>
              </a:r>
            </a:p>
          </p:txBody>
        </p:sp>
        <p:sp>
          <p:nvSpPr>
            <p:cNvPr id="157719" name="Text Box 53"/>
            <p:cNvSpPr txBox="1">
              <a:spLocks noChangeArrowheads="1"/>
            </p:cNvSpPr>
            <p:nvPr/>
          </p:nvSpPr>
          <p:spPr bwMode="auto">
            <a:xfrm>
              <a:off x="204" y="2115"/>
              <a:ext cx="1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400">
                  <a:solidFill>
                    <a:srgbClr val="FF0000"/>
                  </a:solidFill>
                </a:rPr>
                <a:t>TMS320C54x-40</a:t>
              </a:r>
            </a:p>
          </p:txBody>
        </p:sp>
        <p:sp>
          <p:nvSpPr>
            <p:cNvPr id="157720" name="Text Box 54"/>
            <p:cNvSpPr txBox="1">
              <a:spLocks noChangeArrowheads="1"/>
            </p:cNvSpPr>
            <p:nvPr/>
          </p:nvSpPr>
          <p:spPr bwMode="auto">
            <a:xfrm>
              <a:off x="746" y="1727"/>
              <a:ext cx="93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MSTRB</a:t>
              </a:r>
            </a:p>
          </p:txBody>
        </p:sp>
        <p:sp>
          <p:nvSpPr>
            <p:cNvPr id="157721" name="Text Box 56"/>
            <p:cNvSpPr txBox="1">
              <a:spLocks noChangeArrowheads="1"/>
            </p:cNvSpPr>
            <p:nvPr/>
          </p:nvSpPr>
          <p:spPr bwMode="auto">
            <a:xfrm>
              <a:off x="748" y="2655"/>
              <a:ext cx="94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MSC</a:t>
              </a:r>
            </a:p>
          </p:txBody>
        </p:sp>
        <p:sp>
          <p:nvSpPr>
            <p:cNvPr id="157722" name="Text Box 57"/>
            <p:cNvSpPr txBox="1">
              <a:spLocks noChangeArrowheads="1"/>
            </p:cNvSpPr>
            <p:nvPr/>
          </p:nvSpPr>
          <p:spPr bwMode="auto">
            <a:xfrm>
              <a:off x="521" y="2871"/>
              <a:ext cx="12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CLOCKOUT</a:t>
              </a:r>
            </a:p>
          </p:txBody>
        </p:sp>
        <p:sp>
          <p:nvSpPr>
            <p:cNvPr id="157723" name="Text Box 58"/>
            <p:cNvSpPr txBox="1">
              <a:spLocks noChangeArrowheads="1"/>
            </p:cNvSpPr>
            <p:nvPr/>
          </p:nvSpPr>
          <p:spPr bwMode="auto">
            <a:xfrm>
              <a:off x="1111" y="3504"/>
              <a:ext cx="5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DATA</a:t>
              </a:r>
            </a:p>
          </p:txBody>
        </p:sp>
        <p:sp>
          <p:nvSpPr>
            <p:cNvPr id="157724" name="Line 61"/>
            <p:cNvSpPr>
              <a:spLocks noChangeShapeType="1"/>
            </p:cNvSpPr>
            <p:nvPr/>
          </p:nvSpPr>
          <p:spPr bwMode="auto">
            <a:xfrm>
              <a:off x="1266" y="2699"/>
              <a:ext cx="366" cy="1"/>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25" name="Line 65"/>
            <p:cNvSpPr>
              <a:spLocks noChangeShapeType="1"/>
            </p:cNvSpPr>
            <p:nvPr/>
          </p:nvSpPr>
          <p:spPr bwMode="auto">
            <a:xfrm flipV="1">
              <a:off x="1428" y="1582"/>
              <a:ext cx="199"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26" name="Line 66"/>
            <p:cNvSpPr>
              <a:spLocks noChangeShapeType="1"/>
            </p:cNvSpPr>
            <p:nvPr/>
          </p:nvSpPr>
          <p:spPr bwMode="auto">
            <a:xfrm>
              <a:off x="1746" y="3658"/>
              <a:ext cx="3629" cy="0"/>
            </a:xfrm>
            <a:prstGeom prst="line">
              <a:avLst/>
            </a:prstGeom>
            <a:noFill/>
            <a:ln w="762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27" name="Line 67"/>
            <p:cNvSpPr>
              <a:spLocks noChangeShapeType="1"/>
            </p:cNvSpPr>
            <p:nvPr/>
          </p:nvSpPr>
          <p:spPr bwMode="auto">
            <a:xfrm>
              <a:off x="5374" y="1525"/>
              <a:ext cx="1" cy="2223"/>
            </a:xfrm>
            <a:prstGeom prst="line">
              <a:avLst/>
            </a:prstGeom>
            <a:noFill/>
            <a:ln w="762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57728" name="Group 68"/>
            <p:cNvGrpSpPr>
              <a:grpSpLocks/>
            </p:cNvGrpSpPr>
            <p:nvPr/>
          </p:nvGrpSpPr>
          <p:grpSpPr bwMode="auto">
            <a:xfrm>
              <a:off x="4875" y="1117"/>
              <a:ext cx="589" cy="742"/>
              <a:chOff x="4921" y="1162"/>
              <a:chExt cx="589" cy="742"/>
            </a:xfrm>
          </p:grpSpPr>
          <p:grpSp>
            <p:nvGrpSpPr>
              <p:cNvPr id="157790" name="Group 69"/>
              <p:cNvGrpSpPr>
                <a:grpSpLocks/>
              </p:cNvGrpSpPr>
              <p:nvPr/>
            </p:nvGrpSpPr>
            <p:grpSpPr bwMode="auto">
              <a:xfrm>
                <a:off x="4967" y="1480"/>
                <a:ext cx="453" cy="136"/>
                <a:chOff x="4967" y="1480"/>
                <a:chExt cx="453" cy="136"/>
              </a:xfrm>
            </p:grpSpPr>
            <p:sp>
              <p:nvSpPr>
                <p:cNvPr id="157798" name="Line 70"/>
                <p:cNvSpPr>
                  <a:spLocks noChangeShapeType="1"/>
                </p:cNvSpPr>
                <p:nvPr/>
              </p:nvSpPr>
              <p:spPr bwMode="auto">
                <a:xfrm>
                  <a:off x="4967" y="1480"/>
                  <a:ext cx="272"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99" name="Line 71"/>
                <p:cNvSpPr>
                  <a:spLocks noChangeShapeType="1"/>
                </p:cNvSpPr>
                <p:nvPr/>
              </p:nvSpPr>
              <p:spPr bwMode="auto">
                <a:xfrm>
                  <a:off x="5239" y="1480"/>
                  <a:ext cx="181" cy="13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7791" name="Group 72"/>
              <p:cNvGrpSpPr>
                <a:grpSpLocks/>
              </p:cNvGrpSpPr>
              <p:nvPr/>
            </p:nvGrpSpPr>
            <p:grpSpPr bwMode="auto">
              <a:xfrm>
                <a:off x="4967" y="1616"/>
                <a:ext cx="453" cy="136"/>
                <a:chOff x="4967" y="1480"/>
                <a:chExt cx="453" cy="136"/>
              </a:xfrm>
            </p:grpSpPr>
            <p:sp>
              <p:nvSpPr>
                <p:cNvPr id="157796" name="Line 73"/>
                <p:cNvSpPr>
                  <a:spLocks noChangeShapeType="1"/>
                </p:cNvSpPr>
                <p:nvPr/>
              </p:nvSpPr>
              <p:spPr bwMode="auto">
                <a:xfrm>
                  <a:off x="4967" y="1480"/>
                  <a:ext cx="272"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97" name="Line 74"/>
                <p:cNvSpPr>
                  <a:spLocks noChangeShapeType="1"/>
                </p:cNvSpPr>
                <p:nvPr/>
              </p:nvSpPr>
              <p:spPr bwMode="auto">
                <a:xfrm>
                  <a:off x="5239" y="1480"/>
                  <a:ext cx="181" cy="13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57792" name="Text Box 75"/>
              <p:cNvSpPr txBox="1">
                <a:spLocks noChangeArrowheads="1"/>
              </p:cNvSpPr>
              <p:nvPr/>
            </p:nvSpPr>
            <p:spPr bwMode="auto">
              <a:xfrm>
                <a:off x="4921" y="1162"/>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8-15</a:t>
                </a:r>
              </a:p>
            </p:txBody>
          </p:sp>
          <p:sp>
            <p:nvSpPr>
              <p:cNvPr id="157793" name="Text Box 76"/>
              <p:cNvSpPr txBox="1">
                <a:spLocks noChangeArrowheads="1"/>
              </p:cNvSpPr>
              <p:nvPr/>
            </p:nvSpPr>
            <p:spPr bwMode="auto">
              <a:xfrm>
                <a:off x="4921" y="1616"/>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0-7</a:t>
                </a:r>
              </a:p>
            </p:txBody>
          </p:sp>
          <p:sp>
            <p:nvSpPr>
              <p:cNvPr id="157794" name="Line 77"/>
              <p:cNvSpPr>
                <a:spLocks noChangeShapeType="1"/>
              </p:cNvSpPr>
              <p:nvPr/>
            </p:nvSpPr>
            <p:spPr bwMode="auto">
              <a:xfrm flipH="1">
                <a:off x="5103" y="1434"/>
                <a:ext cx="45" cy="9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95" name="Line 78"/>
              <p:cNvSpPr>
                <a:spLocks noChangeShapeType="1"/>
              </p:cNvSpPr>
              <p:nvPr/>
            </p:nvSpPr>
            <p:spPr bwMode="auto">
              <a:xfrm flipH="1">
                <a:off x="5103" y="1570"/>
                <a:ext cx="45" cy="9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7729" name="Group 79"/>
            <p:cNvGrpSpPr>
              <a:grpSpLocks/>
            </p:cNvGrpSpPr>
            <p:nvPr/>
          </p:nvGrpSpPr>
          <p:grpSpPr bwMode="auto">
            <a:xfrm>
              <a:off x="4875" y="2070"/>
              <a:ext cx="589" cy="742"/>
              <a:chOff x="4921" y="1162"/>
              <a:chExt cx="589" cy="742"/>
            </a:xfrm>
          </p:grpSpPr>
          <p:grpSp>
            <p:nvGrpSpPr>
              <p:cNvPr id="157780" name="Group 80"/>
              <p:cNvGrpSpPr>
                <a:grpSpLocks/>
              </p:cNvGrpSpPr>
              <p:nvPr/>
            </p:nvGrpSpPr>
            <p:grpSpPr bwMode="auto">
              <a:xfrm>
                <a:off x="4967" y="1480"/>
                <a:ext cx="453" cy="136"/>
                <a:chOff x="4967" y="1480"/>
                <a:chExt cx="453" cy="136"/>
              </a:xfrm>
            </p:grpSpPr>
            <p:sp>
              <p:nvSpPr>
                <p:cNvPr id="157788" name="Line 81"/>
                <p:cNvSpPr>
                  <a:spLocks noChangeShapeType="1"/>
                </p:cNvSpPr>
                <p:nvPr/>
              </p:nvSpPr>
              <p:spPr bwMode="auto">
                <a:xfrm>
                  <a:off x="4967" y="1480"/>
                  <a:ext cx="272"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89" name="Line 82"/>
                <p:cNvSpPr>
                  <a:spLocks noChangeShapeType="1"/>
                </p:cNvSpPr>
                <p:nvPr/>
              </p:nvSpPr>
              <p:spPr bwMode="auto">
                <a:xfrm>
                  <a:off x="5239" y="1480"/>
                  <a:ext cx="181" cy="13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7781" name="Group 83"/>
              <p:cNvGrpSpPr>
                <a:grpSpLocks/>
              </p:cNvGrpSpPr>
              <p:nvPr/>
            </p:nvGrpSpPr>
            <p:grpSpPr bwMode="auto">
              <a:xfrm>
                <a:off x="4967" y="1616"/>
                <a:ext cx="453" cy="136"/>
                <a:chOff x="4967" y="1480"/>
                <a:chExt cx="453" cy="136"/>
              </a:xfrm>
            </p:grpSpPr>
            <p:sp>
              <p:nvSpPr>
                <p:cNvPr id="157786" name="Line 84"/>
                <p:cNvSpPr>
                  <a:spLocks noChangeShapeType="1"/>
                </p:cNvSpPr>
                <p:nvPr/>
              </p:nvSpPr>
              <p:spPr bwMode="auto">
                <a:xfrm>
                  <a:off x="4967" y="1480"/>
                  <a:ext cx="272"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87" name="Line 85"/>
                <p:cNvSpPr>
                  <a:spLocks noChangeShapeType="1"/>
                </p:cNvSpPr>
                <p:nvPr/>
              </p:nvSpPr>
              <p:spPr bwMode="auto">
                <a:xfrm>
                  <a:off x="5239" y="1480"/>
                  <a:ext cx="181" cy="13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57782" name="Text Box 86"/>
              <p:cNvSpPr txBox="1">
                <a:spLocks noChangeArrowheads="1"/>
              </p:cNvSpPr>
              <p:nvPr/>
            </p:nvSpPr>
            <p:spPr bwMode="auto">
              <a:xfrm>
                <a:off x="4921" y="1162"/>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8-15</a:t>
                </a:r>
              </a:p>
            </p:txBody>
          </p:sp>
          <p:sp>
            <p:nvSpPr>
              <p:cNvPr id="157783" name="Text Box 87"/>
              <p:cNvSpPr txBox="1">
                <a:spLocks noChangeArrowheads="1"/>
              </p:cNvSpPr>
              <p:nvPr/>
            </p:nvSpPr>
            <p:spPr bwMode="auto">
              <a:xfrm>
                <a:off x="4921" y="1616"/>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0-7</a:t>
                </a:r>
              </a:p>
            </p:txBody>
          </p:sp>
          <p:sp>
            <p:nvSpPr>
              <p:cNvPr id="157784" name="Line 88"/>
              <p:cNvSpPr>
                <a:spLocks noChangeShapeType="1"/>
              </p:cNvSpPr>
              <p:nvPr/>
            </p:nvSpPr>
            <p:spPr bwMode="auto">
              <a:xfrm flipH="1">
                <a:off x="5103" y="1434"/>
                <a:ext cx="45" cy="9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85" name="Line 89"/>
              <p:cNvSpPr>
                <a:spLocks noChangeShapeType="1"/>
              </p:cNvSpPr>
              <p:nvPr/>
            </p:nvSpPr>
            <p:spPr bwMode="auto">
              <a:xfrm flipH="1">
                <a:off x="5103" y="1570"/>
                <a:ext cx="45" cy="9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57730" name="Line 101"/>
            <p:cNvSpPr>
              <a:spLocks noChangeShapeType="1"/>
            </p:cNvSpPr>
            <p:nvPr/>
          </p:nvSpPr>
          <p:spPr bwMode="auto">
            <a:xfrm>
              <a:off x="1746" y="1686"/>
              <a:ext cx="726" cy="0"/>
            </a:xfrm>
            <a:prstGeom prst="line">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31" name="Line 102"/>
            <p:cNvSpPr>
              <a:spLocks noChangeShapeType="1"/>
            </p:cNvSpPr>
            <p:nvPr/>
          </p:nvSpPr>
          <p:spPr bwMode="auto">
            <a:xfrm>
              <a:off x="2608" y="3340"/>
              <a:ext cx="317" cy="0"/>
            </a:xfrm>
            <a:prstGeom prst="line">
              <a:avLst/>
            </a:prstGeom>
            <a:noFill/>
            <a:ln w="9525">
              <a:solidFill>
                <a:schemeClr val="hlink"/>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32" name="Line 103"/>
            <p:cNvSpPr>
              <a:spLocks noChangeShapeType="1"/>
            </p:cNvSpPr>
            <p:nvPr/>
          </p:nvSpPr>
          <p:spPr bwMode="auto">
            <a:xfrm>
              <a:off x="2109" y="1687"/>
              <a:ext cx="0" cy="801"/>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33" name="Line 104"/>
            <p:cNvSpPr>
              <a:spLocks noChangeShapeType="1"/>
            </p:cNvSpPr>
            <p:nvPr/>
          </p:nvSpPr>
          <p:spPr bwMode="auto">
            <a:xfrm>
              <a:off x="2245" y="1299"/>
              <a:ext cx="0" cy="63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34" name="Line 105"/>
            <p:cNvSpPr>
              <a:spLocks noChangeShapeType="1"/>
            </p:cNvSpPr>
            <p:nvPr/>
          </p:nvSpPr>
          <p:spPr bwMode="auto">
            <a:xfrm>
              <a:off x="3061" y="1299"/>
              <a:ext cx="181"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35" name="Line 106"/>
            <p:cNvSpPr>
              <a:spLocks noChangeShapeType="1"/>
            </p:cNvSpPr>
            <p:nvPr/>
          </p:nvSpPr>
          <p:spPr bwMode="auto">
            <a:xfrm>
              <a:off x="2245" y="1525"/>
              <a:ext cx="227"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36" name="Line 108"/>
            <p:cNvSpPr>
              <a:spLocks noChangeShapeType="1"/>
            </p:cNvSpPr>
            <p:nvPr/>
          </p:nvSpPr>
          <p:spPr bwMode="auto">
            <a:xfrm>
              <a:off x="2835" y="1299"/>
              <a:ext cx="398" cy="0"/>
            </a:xfrm>
            <a:prstGeom prst="line">
              <a:avLst/>
            </a:prstGeom>
            <a:noFill/>
            <a:ln w="571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37" name="Line 110"/>
            <p:cNvSpPr>
              <a:spLocks noChangeShapeType="1"/>
            </p:cNvSpPr>
            <p:nvPr/>
          </p:nvSpPr>
          <p:spPr bwMode="auto">
            <a:xfrm>
              <a:off x="1746" y="1843"/>
              <a:ext cx="726" cy="0"/>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38" name="Line 111"/>
            <p:cNvSpPr>
              <a:spLocks noChangeShapeType="1"/>
            </p:cNvSpPr>
            <p:nvPr/>
          </p:nvSpPr>
          <p:spPr bwMode="auto">
            <a:xfrm>
              <a:off x="2835" y="1299"/>
              <a:ext cx="0" cy="816"/>
            </a:xfrm>
            <a:prstGeom prst="line">
              <a:avLst/>
            </a:prstGeom>
            <a:noFill/>
            <a:ln w="57150">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39" name="Line 112"/>
            <p:cNvSpPr>
              <a:spLocks noChangeShapeType="1"/>
            </p:cNvSpPr>
            <p:nvPr/>
          </p:nvSpPr>
          <p:spPr bwMode="auto">
            <a:xfrm>
              <a:off x="2835" y="2109"/>
              <a:ext cx="408" cy="0"/>
            </a:xfrm>
            <a:prstGeom prst="line">
              <a:avLst/>
            </a:prstGeom>
            <a:noFill/>
            <a:ln w="571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40" name="Line 115"/>
            <p:cNvSpPr>
              <a:spLocks noChangeShapeType="1"/>
            </p:cNvSpPr>
            <p:nvPr/>
          </p:nvSpPr>
          <p:spPr bwMode="auto">
            <a:xfrm>
              <a:off x="1973" y="1843"/>
              <a:ext cx="0" cy="816"/>
            </a:xfrm>
            <a:prstGeom prst="line">
              <a:avLst/>
            </a:prstGeom>
            <a:noFill/>
            <a:ln w="952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41" name="Line 117"/>
            <p:cNvSpPr>
              <a:spLocks noChangeShapeType="1"/>
            </p:cNvSpPr>
            <p:nvPr/>
          </p:nvSpPr>
          <p:spPr bwMode="auto">
            <a:xfrm>
              <a:off x="1746" y="3249"/>
              <a:ext cx="181" cy="0"/>
            </a:xfrm>
            <a:prstGeom prst="line">
              <a:avLst/>
            </a:prstGeom>
            <a:noFill/>
            <a:ln w="9525">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42" name="Line 118"/>
            <p:cNvSpPr>
              <a:spLocks noChangeShapeType="1"/>
            </p:cNvSpPr>
            <p:nvPr/>
          </p:nvSpPr>
          <p:spPr bwMode="auto">
            <a:xfrm>
              <a:off x="2109" y="2977"/>
              <a:ext cx="0" cy="136"/>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43" name="Line 119"/>
            <p:cNvSpPr>
              <a:spLocks noChangeShapeType="1"/>
            </p:cNvSpPr>
            <p:nvPr/>
          </p:nvSpPr>
          <p:spPr bwMode="auto">
            <a:xfrm>
              <a:off x="1746" y="2977"/>
              <a:ext cx="363" cy="0"/>
            </a:xfrm>
            <a:prstGeom prst="line">
              <a:avLst/>
            </a:prstGeom>
            <a:noFill/>
            <a:ln w="952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44" name="Line 120"/>
            <p:cNvSpPr>
              <a:spLocks noChangeShapeType="1"/>
            </p:cNvSpPr>
            <p:nvPr/>
          </p:nvSpPr>
          <p:spPr bwMode="auto">
            <a:xfrm>
              <a:off x="2245" y="2206"/>
              <a:ext cx="0" cy="18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45" name="Line 122"/>
            <p:cNvSpPr>
              <a:spLocks noChangeShapeType="1"/>
            </p:cNvSpPr>
            <p:nvPr/>
          </p:nvSpPr>
          <p:spPr bwMode="auto">
            <a:xfrm>
              <a:off x="2744" y="2801"/>
              <a:ext cx="0" cy="322"/>
            </a:xfrm>
            <a:prstGeom prst="line">
              <a:avLst/>
            </a:prstGeom>
            <a:noFill/>
            <a:ln w="9525">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46" name="Line 123"/>
            <p:cNvSpPr>
              <a:spLocks noChangeShapeType="1"/>
            </p:cNvSpPr>
            <p:nvPr/>
          </p:nvSpPr>
          <p:spPr bwMode="auto">
            <a:xfrm flipV="1">
              <a:off x="2608" y="3123"/>
              <a:ext cx="136" cy="0"/>
            </a:xfrm>
            <a:prstGeom prst="line">
              <a:avLst/>
            </a:prstGeom>
            <a:noFill/>
            <a:ln w="9525">
              <a:solidFill>
                <a:srgbClr val="FF66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47" name="Line 124"/>
            <p:cNvSpPr>
              <a:spLocks noChangeShapeType="1"/>
            </p:cNvSpPr>
            <p:nvPr/>
          </p:nvSpPr>
          <p:spPr bwMode="auto">
            <a:xfrm>
              <a:off x="2653" y="2478"/>
              <a:ext cx="585" cy="0"/>
            </a:xfrm>
            <a:prstGeom prst="line">
              <a:avLst/>
            </a:prstGeom>
            <a:noFill/>
            <a:ln w="952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48" name="Line 125"/>
            <p:cNvSpPr>
              <a:spLocks noChangeShapeType="1"/>
            </p:cNvSpPr>
            <p:nvPr/>
          </p:nvSpPr>
          <p:spPr bwMode="auto">
            <a:xfrm>
              <a:off x="1745" y="2795"/>
              <a:ext cx="999" cy="1"/>
            </a:xfrm>
            <a:prstGeom prst="line">
              <a:avLst/>
            </a:prstGeom>
            <a:noFill/>
            <a:ln w="9525">
              <a:solidFill>
                <a:srgbClr val="FF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49" name="Line 126"/>
            <p:cNvSpPr>
              <a:spLocks noChangeShapeType="1"/>
            </p:cNvSpPr>
            <p:nvPr/>
          </p:nvSpPr>
          <p:spPr bwMode="auto">
            <a:xfrm>
              <a:off x="2925" y="2478"/>
              <a:ext cx="0" cy="862"/>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50" name="Line 131"/>
            <p:cNvSpPr>
              <a:spLocks noChangeShapeType="1"/>
            </p:cNvSpPr>
            <p:nvPr/>
          </p:nvSpPr>
          <p:spPr bwMode="auto">
            <a:xfrm flipV="1">
              <a:off x="2109" y="1228"/>
              <a:ext cx="91" cy="13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51" name="Text Box 132"/>
            <p:cNvSpPr txBox="1">
              <a:spLocks noChangeArrowheads="1"/>
            </p:cNvSpPr>
            <p:nvPr/>
          </p:nvSpPr>
          <p:spPr bwMode="auto">
            <a:xfrm>
              <a:off x="1973" y="981"/>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000000"/>
                  </a:solidFill>
                </a:rPr>
                <a:t>16</a:t>
              </a:r>
            </a:p>
          </p:txBody>
        </p:sp>
        <p:sp>
          <p:nvSpPr>
            <p:cNvPr id="157752" name="Line 133"/>
            <p:cNvSpPr>
              <a:spLocks noChangeShapeType="1"/>
            </p:cNvSpPr>
            <p:nvPr/>
          </p:nvSpPr>
          <p:spPr bwMode="auto">
            <a:xfrm flipV="1">
              <a:off x="2154" y="3587"/>
              <a:ext cx="91" cy="13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53" name="Text Box 134"/>
            <p:cNvSpPr txBox="1">
              <a:spLocks noChangeArrowheads="1"/>
            </p:cNvSpPr>
            <p:nvPr/>
          </p:nvSpPr>
          <p:spPr bwMode="auto">
            <a:xfrm>
              <a:off x="2018" y="3340"/>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t>16</a:t>
              </a:r>
            </a:p>
          </p:txBody>
        </p:sp>
        <p:sp>
          <p:nvSpPr>
            <p:cNvPr id="157754" name="Line 135"/>
            <p:cNvSpPr>
              <a:spLocks noChangeShapeType="1"/>
            </p:cNvSpPr>
            <p:nvPr/>
          </p:nvSpPr>
          <p:spPr bwMode="auto">
            <a:xfrm flipV="1">
              <a:off x="2925" y="2038"/>
              <a:ext cx="91" cy="13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55" name="Text Box 136"/>
            <p:cNvSpPr txBox="1">
              <a:spLocks noChangeArrowheads="1"/>
            </p:cNvSpPr>
            <p:nvPr/>
          </p:nvSpPr>
          <p:spPr bwMode="auto">
            <a:xfrm>
              <a:off x="2789" y="1752"/>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000000"/>
                  </a:solidFill>
                </a:rPr>
                <a:t>15</a:t>
              </a:r>
            </a:p>
          </p:txBody>
        </p:sp>
        <p:sp>
          <p:nvSpPr>
            <p:cNvPr id="157756" name="Line 137"/>
            <p:cNvSpPr>
              <a:spLocks noChangeShapeType="1"/>
            </p:cNvSpPr>
            <p:nvPr/>
          </p:nvSpPr>
          <p:spPr bwMode="auto">
            <a:xfrm flipV="1">
              <a:off x="2925" y="1228"/>
              <a:ext cx="91" cy="13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57" name="Text Box 138"/>
            <p:cNvSpPr txBox="1">
              <a:spLocks noChangeArrowheads="1"/>
            </p:cNvSpPr>
            <p:nvPr/>
          </p:nvSpPr>
          <p:spPr bwMode="auto">
            <a:xfrm>
              <a:off x="2744" y="981"/>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000000"/>
                  </a:solidFill>
                </a:rPr>
                <a:t>15</a:t>
              </a:r>
            </a:p>
          </p:txBody>
        </p:sp>
        <p:sp>
          <p:nvSpPr>
            <p:cNvPr id="157758" name="Text Box 139"/>
            <p:cNvSpPr txBox="1">
              <a:spLocks noChangeArrowheads="1"/>
            </p:cNvSpPr>
            <p:nvPr/>
          </p:nvSpPr>
          <p:spPr bwMode="auto">
            <a:xfrm>
              <a:off x="3560" y="1903"/>
              <a:ext cx="108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a:solidFill>
                    <a:schemeClr val="folHlink"/>
                  </a:solidFill>
                </a:rPr>
                <a:t>高地址程序存储器</a:t>
              </a:r>
            </a:p>
          </p:txBody>
        </p:sp>
        <p:sp>
          <p:nvSpPr>
            <p:cNvPr id="157759" name="Text Box 140"/>
            <p:cNvSpPr txBox="1">
              <a:spLocks noChangeArrowheads="1"/>
            </p:cNvSpPr>
            <p:nvPr/>
          </p:nvSpPr>
          <p:spPr bwMode="auto">
            <a:xfrm>
              <a:off x="4286" y="2402"/>
              <a:ext cx="63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DATA</a:t>
              </a:r>
            </a:p>
          </p:txBody>
        </p:sp>
        <p:sp>
          <p:nvSpPr>
            <p:cNvPr id="157760" name="Text Box 141"/>
            <p:cNvSpPr txBox="1">
              <a:spLocks noChangeArrowheads="1"/>
            </p:cNvSpPr>
            <p:nvPr/>
          </p:nvSpPr>
          <p:spPr bwMode="auto">
            <a:xfrm>
              <a:off x="3243" y="2402"/>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CS</a:t>
              </a:r>
            </a:p>
          </p:txBody>
        </p:sp>
        <p:sp>
          <p:nvSpPr>
            <p:cNvPr id="157761" name="Line 142"/>
            <p:cNvSpPr>
              <a:spLocks noChangeShapeType="1"/>
            </p:cNvSpPr>
            <p:nvPr/>
          </p:nvSpPr>
          <p:spPr bwMode="auto">
            <a:xfrm>
              <a:off x="3318" y="2422"/>
              <a:ext cx="182" cy="0"/>
            </a:xfrm>
            <a:prstGeom prst="line">
              <a:avLst/>
            </a:prstGeom>
            <a:noFill/>
            <a:ln w="9525">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62" name="Line 143"/>
            <p:cNvSpPr>
              <a:spLocks noChangeShapeType="1"/>
            </p:cNvSpPr>
            <p:nvPr/>
          </p:nvSpPr>
          <p:spPr bwMode="auto">
            <a:xfrm>
              <a:off x="1746" y="1299"/>
              <a:ext cx="1089" cy="0"/>
            </a:xfrm>
            <a:prstGeom prst="line">
              <a:avLst/>
            </a:prstGeom>
            <a:noFill/>
            <a:ln w="76200">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63" name="Text Box 144"/>
            <p:cNvSpPr txBox="1">
              <a:spLocks noChangeArrowheads="1"/>
            </p:cNvSpPr>
            <p:nvPr/>
          </p:nvSpPr>
          <p:spPr bwMode="auto">
            <a:xfrm>
              <a:off x="2472" y="1480"/>
              <a:ext cx="181" cy="413"/>
            </a:xfrm>
            <a:prstGeom prst="rect">
              <a:avLst/>
            </a:prstGeom>
            <a:solidFill>
              <a:srgbClr val="FFFF99"/>
            </a:solidFill>
            <a:ln w="9525">
              <a:solidFill>
                <a:schemeClr val="folHlink"/>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400">
                <a:solidFill>
                  <a:schemeClr val="folHlink"/>
                </a:solidFill>
              </a:endParaRPr>
            </a:p>
            <a:p>
              <a:pPr algn="ctr" eaLnBrk="1" hangingPunct="1">
                <a:lnSpc>
                  <a:spcPct val="70000"/>
                </a:lnSpc>
              </a:pPr>
              <a:r>
                <a:rPr lang="en-US" altLang="zh-CN" sz="2400">
                  <a:solidFill>
                    <a:schemeClr val="folHlink"/>
                  </a:solidFill>
                </a:rPr>
                <a:t>+</a:t>
              </a:r>
            </a:p>
            <a:p>
              <a:pPr algn="ctr" eaLnBrk="1" hangingPunct="1">
                <a:lnSpc>
                  <a:spcPct val="70000"/>
                </a:lnSpc>
              </a:pPr>
              <a:endParaRPr lang="en-US" altLang="zh-CN" sz="1400">
                <a:solidFill>
                  <a:schemeClr val="folHlink"/>
                </a:solidFill>
              </a:endParaRPr>
            </a:p>
          </p:txBody>
        </p:sp>
        <p:sp>
          <p:nvSpPr>
            <p:cNvPr id="157764" name="Text Box 145"/>
            <p:cNvSpPr txBox="1">
              <a:spLocks noChangeArrowheads="1"/>
            </p:cNvSpPr>
            <p:nvPr/>
          </p:nvSpPr>
          <p:spPr bwMode="auto">
            <a:xfrm>
              <a:off x="2230" y="1253"/>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000000"/>
                  </a:solidFill>
                </a:rPr>
                <a:t>A15</a:t>
              </a:r>
            </a:p>
          </p:txBody>
        </p:sp>
        <p:sp>
          <p:nvSpPr>
            <p:cNvPr id="157765" name="Line 146"/>
            <p:cNvSpPr>
              <a:spLocks noChangeShapeType="1"/>
            </p:cNvSpPr>
            <p:nvPr/>
          </p:nvSpPr>
          <p:spPr bwMode="auto">
            <a:xfrm>
              <a:off x="1061" y="1772"/>
              <a:ext cx="545"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66" name="Line 147"/>
            <p:cNvSpPr>
              <a:spLocks noChangeShapeType="1"/>
            </p:cNvSpPr>
            <p:nvPr/>
          </p:nvSpPr>
          <p:spPr bwMode="auto">
            <a:xfrm>
              <a:off x="2653" y="1682"/>
              <a:ext cx="590" cy="0"/>
            </a:xfrm>
            <a:prstGeom prst="line">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67" name="Text Box 148"/>
            <p:cNvSpPr txBox="1">
              <a:spLocks noChangeArrowheads="1"/>
            </p:cNvSpPr>
            <p:nvPr/>
          </p:nvSpPr>
          <p:spPr bwMode="auto">
            <a:xfrm>
              <a:off x="2472" y="2297"/>
              <a:ext cx="181" cy="413"/>
            </a:xfrm>
            <a:prstGeom prst="rect">
              <a:avLst/>
            </a:prstGeom>
            <a:solidFill>
              <a:srgbClr val="FFFF99"/>
            </a:solidFill>
            <a:ln w="9525">
              <a:solidFill>
                <a:schemeClr val="folHlink"/>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400">
                <a:solidFill>
                  <a:schemeClr val="folHlink"/>
                </a:solidFill>
              </a:endParaRPr>
            </a:p>
            <a:p>
              <a:pPr algn="ctr" eaLnBrk="1" hangingPunct="1">
                <a:lnSpc>
                  <a:spcPct val="70000"/>
                </a:lnSpc>
              </a:pPr>
              <a:r>
                <a:rPr lang="en-US" altLang="zh-CN" sz="2400">
                  <a:solidFill>
                    <a:schemeClr val="folHlink"/>
                  </a:solidFill>
                </a:rPr>
                <a:t>+</a:t>
              </a:r>
            </a:p>
            <a:p>
              <a:pPr algn="ctr" eaLnBrk="1" hangingPunct="1">
                <a:lnSpc>
                  <a:spcPct val="70000"/>
                </a:lnSpc>
              </a:pPr>
              <a:endParaRPr lang="en-US" altLang="zh-CN" sz="1400">
                <a:solidFill>
                  <a:schemeClr val="folHlink"/>
                </a:solidFill>
              </a:endParaRPr>
            </a:p>
          </p:txBody>
        </p:sp>
        <p:sp>
          <p:nvSpPr>
            <p:cNvPr id="157768" name="Line 149"/>
            <p:cNvSpPr>
              <a:spLocks noChangeShapeType="1"/>
            </p:cNvSpPr>
            <p:nvPr/>
          </p:nvSpPr>
          <p:spPr bwMode="auto">
            <a:xfrm>
              <a:off x="2245" y="2387"/>
              <a:ext cx="227"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69" name="Line 150"/>
            <p:cNvSpPr>
              <a:spLocks noChangeShapeType="1"/>
            </p:cNvSpPr>
            <p:nvPr/>
          </p:nvSpPr>
          <p:spPr bwMode="auto">
            <a:xfrm>
              <a:off x="2109" y="2493"/>
              <a:ext cx="363" cy="0"/>
            </a:xfrm>
            <a:prstGeom prst="line">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70" name="Line 151"/>
            <p:cNvSpPr>
              <a:spLocks noChangeShapeType="1"/>
            </p:cNvSpPr>
            <p:nvPr/>
          </p:nvSpPr>
          <p:spPr bwMode="auto">
            <a:xfrm>
              <a:off x="1973" y="2659"/>
              <a:ext cx="499" cy="0"/>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71" name="AutoShape 152"/>
            <p:cNvSpPr>
              <a:spLocks noChangeArrowheads="1"/>
            </p:cNvSpPr>
            <p:nvPr/>
          </p:nvSpPr>
          <p:spPr bwMode="auto">
            <a:xfrm rot="10800000">
              <a:off x="2134" y="1934"/>
              <a:ext cx="227" cy="181"/>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7772" name="Oval 153"/>
            <p:cNvSpPr>
              <a:spLocks noChangeArrowheads="1"/>
            </p:cNvSpPr>
            <p:nvPr/>
          </p:nvSpPr>
          <p:spPr bwMode="auto">
            <a:xfrm>
              <a:off x="2200" y="2115"/>
              <a:ext cx="90" cy="9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7773" name="Text Box 154"/>
            <p:cNvSpPr txBox="1">
              <a:spLocks noChangeArrowheads="1"/>
            </p:cNvSpPr>
            <p:nvPr/>
          </p:nvSpPr>
          <p:spPr bwMode="auto">
            <a:xfrm>
              <a:off x="2245" y="2050"/>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a:solidFill>
                    <a:srgbClr val="000000"/>
                  </a:solidFill>
                </a:rPr>
                <a:t>A15</a:t>
              </a:r>
            </a:p>
          </p:txBody>
        </p:sp>
        <p:sp>
          <p:nvSpPr>
            <p:cNvPr id="157774" name="Line 155"/>
            <p:cNvSpPr>
              <a:spLocks noChangeShapeType="1"/>
            </p:cNvSpPr>
            <p:nvPr/>
          </p:nvSpPr>
          <p:spPr bwMode="auto">
            <a:xfrm flipV="1">
              <a:off x="2336" y="2115"/>
              <a:ext cx="272"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75" name="Text Box 156"/>
            <p:cNvSpPr txBox="1">
              <a:spLocks noChangeArrowheads="1"/>
            </p:cNvSpPr>
            <p:nvPr/>
          </p:nvSpPr>
          <p:spPr bwMode="auto">
            <a:xfrm>
              <a:off x="2426" y="3041"/>
              <a:ext cx="181" cy="413"/>
            </a:xfrm>
            <a:prstGeom prst="rect">
              <a:avLst/>
            </a:prstGeom>
            <a:solidFill>
              <a:srgbClr val="FFFF99"/>
            </a:solidFill>
            <a:ln w="9525">
              <a:solidFill>
                <a:schemeClr val="folHlink"/>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endParaRPr lang="en-US" altLang="zh-CN" sz="1400">
                <a:solidFill>
                  <a:schemeClr val="folHlink"/>
                </a:solidFill>
              </a:endParaRPr>
            </a:p>
            <a:p>
              <a:pPr algn="ctr" eaLnBrk="1" hangingPunct="1">
                <a:lnSpc>
                  <a:spcPct val="70000"/>
                </a:lnSpc>
              </a:pPr>
              <a:r>
                <a:rPr lang="en-US" altLang="zh-CN" sz="2400">
                  <a:solidFill>
                    <a:schemeClr val="folHlink"/>
                  </a:solidFill>
                </a:rPr>
                <a:t>+</a:t>
              </a:r>
            </a:p>
            <a:p>
              <a:pPr algn="ctr" eaLnBrk="1" hangingPunct="1">
                <a:lnSpc>
                  <a:spcPct val="70000"/>
                </a:lnSpc>
              </a:pPr>
              <a:endParaRPr lang="en-US" altLang="zh-CN" sz="1400">
                <a:solidFill>
                  <a:schemeClr val="folHlink"/>
                </a:solidFill>
              </a:endParaRPr>
            </a:p>
          </p:txBody>
        </p:sp>
        <p:sp>
          <p:nvSpPr>
            <p:cNvPr id="157776" name="Text Box 157"/>
            <p:cNvSpPr txBox="1">
              <a:spLocks noChangeArrowheads="1"/>
            </p:cNvSpPr>
            <p:nvPr/>
          </p:nvSpPr>
          <p:spPr bwMode="auto">
            <a:xfrm>
              <a:off x="1927" y="3113"/>
              <a:ext cx="363" cy="256"/>
            </a:xfrm>
            <a:prstGeom prst="rect">
              <a:avLst/>
            </a:prstGeom>
            <a:solidFill>
              <a:srgbClr val="FF6600"/>
            </a:solidFill>
            <a:ln w="9525">
              <a:solidFill>
                <a:schemeClr val="tx2"/>
              </a:solidFill>
              <a:miter lim="800000"/>
              <a:headEnd/>
              <a:tailEnd/>
            </a:ln>
          </p:spPr>
          <p:txBody>
            <a:bodyPr lIns="0" r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Q  D</a:t>
              </a:r>
            </a:p>
          </p:txBody>
        </p:sp>
        <p:sp>
          <p:nvSpPr>
            <p:cNvPr id="157777" name="Text Box 158"/>
            <p:cNvSpPr txBox="1">
              <a:spLocks noChangeArrowheads="1"/>
            </p:cNvSpPr>
            <p:nvPr/>
          </p:nvSpPr>
          <p:spPr bwMode="auto">
            <a:xfrm>
              <a:off x="975" y="3113"/>
              <a:ext cx="70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a:t>READY</a:t>
              </a:r>
            </a:p>
          </p:txBody>
        </p:sp>
        <p:sp>
          <p:nvSpPr>
            <p:cNvPr id="157778" name="Line 159"/>
            <p:cNvSpPr>
              <a:spLocks noChangeShapeType="1"/>
            </p:cNvSpPr>
            <p:nvPr/>
          </p:nvSpPr>
          <p:spPr bwMode="auto">
            <a:xfrm>
              <a:off x="2336" y="3249"/>
              <a:ext cx="90" cy="0"/>
            </a:xfrm>
            <a:prstGeom prst="line">
              <a:avLst/>
            </a:prstGeom>
            <a:noFill/>
            <a:ln w="952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779" name="Oval 161"/>
            <p:cNvSpPr>
              <a:spLocks noChangeArrowheads="1"/>
            </p:cNvSpPr>
            <p:nvPr/>
          </p:nvSpPr>
          <p:spPr bwMode="auto">
            <a:xfrm>
              <a:off x="2268" y="3203"/>
              <a:ext cx="90" cy="91"/>
            </a:xfrm>
            <a:prstGeom prst="ellipse">
              <a:avLst/>
            </a:prstGeom>
            <a:solidFill>
              <a:srgbClr val="FF9900"/>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57702" name="Oval 163"/>
          <p:cNvSpPr>
            <a:spLocks noChangeArrowheads="1"/>
          </p:cNvSpPr>
          <p:nvPr/>
        </p:nvSpPr>
        <p:spPr bwMode="auto">
          <a:xfrm>
            <a:off x="4608513" y="3911600"/>
            <a:ext cx="71437" cy="36513"/>
          </a:xfrm>
          <a:prstGeom prst="ellipse">
            <a:avLst/>
          </a:prstGeom>
          <a:solidFill>
            <a:schemeClr val="bg2"/>
          </a:solidFill>
          <a:ln w="9525">
            <a:solidFill>
              <a:schemeClr val="bg2"/>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7703" name="Oval 164"/>
          <p:cNvSpPr>
            <a:spLocks noChangeArrowheads="1"/>
          </p:cNvSpPr>
          <p:nvPr/>
        </p:nvSpPr>
        <p:spPr bwMode="auto">
          <a:xfrm>
            <a:off x="3095625" y="2901950"/>
            <a:ext cx="71438" cy="36513"/>
          </a:xfrm>
          <a:prstGeom prst="ellipse">
            <a:avLst/>
          </a:prstGeom>
          <a:solidFill>
            <a:srgbClr val="9900CC"/>
          </a:solidFill>
          <a:ln w="9525">
            <a:solidFill>
              <a:srgbClr val="9900CC"/>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7704" name="Oval 165"/>
          <p:cNvSpPr>
            <a:spLocks noChangeArrowheads="1"/>
          </p:cNvSpPr>
          <p:nvPr/>
        </p:nvSpPr>
        <p:spPr bwMode="auto">
          <a:xfrm>
            <a:off x="3321050" y="2662238"/>
            <a:ext cx="71438" cy="36512"/>
          </a:xfrm>
          <a:prstGeom prst="ellipse">
            <a:avLst/>
          </a:prstGeom>
          <a:solidFill>
            <a:srgbClr val="FF0000"/>
          </a:solidFill>
          <a:ln w="9525">
            <a:solidFill>
              <a:srgbClr val="FF00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7705" name="Oval 166"/>
          <p:cNvSpPr>
            <a:spLocks noChangeArrowheads="1"/>
          </p:cNvSpPr>
          <p:nvPr/>
        </p:nvSpPr>
        <p:spPr bwMode="auto">
          <a:xfrm>
            <a:off x="3541713" y="2406650"/>
            <a:ext cx="71437" cy="36513"/>
          </a:xfrm>
          <a:prstGeom prst="ellipse">
            <a:avLst/>
          </a:prstGeom>
          <a:solidFill>
            <a:srgbClr val="000000"/>
          </a:solidFill>
          <a:ln w="9525">
            <a:solidFill>
              <a:srgbClr val="000000"/>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656387"/>
                                        </p:tgtEl>
                                        <p:attrNameLst>
                                          <p:attrName>style.visibility</p:attrName>
                                        </p:attrNameLst>
                                      </p:cBhvr>
                                      <p:to>
                                        <p:strVal val="visible"/>
                                      </p:to>
                                    </p:set>
                                    <p:anim calcmode="lin" valueType="num">
                                      <p:cBhvr>
                                        <p:cTn id="7" dur="1000" fill="hold"/>
                                        <p:tgtEl>
                                          <p:spTgt spid="656387"/>
                                        </p:tgtEl>
                                        <p:attrNameLst>
                                          <p:attrName>ppt_w</p:attrName>
                                        </p:attrNameLst>
                                      </p:cBhvr>
                                      <p:tavLst>
                                        <p:tav tm="0">
                                          <p:val>
                                            <p:fltVal val="0"/>
                                          </p:val>
                                        </p:tav>
                                        <p:tav tm="100000">
                                          <p:val>
                                            <p:strVal val="#ppt_w"/>
                                          </p:val>
                                        </p:tav>
                                      </p:tavLst>
                                    </p:anim>
                                    <p:anim calcmode="lin" valueType="num">
                                      <p:cBhvr>
                                        <p:cTn id="8" dur="1000" fill="hold"/>
                                        <p:tgtEl>
                                          <p:spTgt spid="656387"/>
                                        </p:tgtEl>
                                        <p:attrNameLst>
                                          <p:attrName>ppt_h</p:attrName>
                                        </p:attrNameLst>
                                      </p:cBhvr>
                                      <p:tavLst>
                                        <p:tav tm="0">
                                          <p:val>
                                            <p:fltVal val="0"/>
                                          </p:val>
                                        </p:tav>
                                        <p:tav tm="100000">
                                          <p:val>
                                            <p:strVal val="#ppt_h"/>
                                          </p:val>
                                        </p:tav>
                                      </p:tavLst>
                                    </p:anim>
                                    <p:anim calcmode="lin" valueType="num">
                                      <p:cBhvr>
                                        <p:cTn id="9" dur="1000" fill="hold"/>
                                        <p:tgtEl>
                                          <p:spTgt spid="65638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56387"/>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15" presetClass="entr" presetSubtype="0" fill="hold" grpId="0" nodeType="afterEffect">
                                  <p:stCondLst>
                                    <p:cond delay="0"/>
                                  </p:stCondLst>
                                  <p:childTnLst>
                                    <p:set>
                                      <p:cBhvr>
                                        <p:cTn id="13" dur="1" fill="hold">
                                          <p:stCondLst>
                                            <p:cond delay="0"/>
                                          </p:stCondLst>
                                        </p:cTn>
                                        <p:tgtEl>
                                          <p:spTgt spid="656388"/>
                                        </p:tgtEl>
                                        <p:attrNameLst>
                                          <p:attrName>style.visibility</p:attrName>
                                        </p:attrNameLst>
                                      </p:cBhvr>
                                      <p:to>
                                        <p:strVal val="visible"/>
                                      </p:to>
                                    </p:set>
                                    <p:anim calcmode="lin" valueType="num">
                                      <p:cBhvr>
                                        <p:cTn id="14" dur="1000" fill="hold"/>
                                        <p:tgtEl>
                                          <p:spTgt spid="656388"/>
                                        </p:tgtEl>
                                        <p:attrNameLst>
                                          <p:attrName>ppt_w</p:attrName>
                                        </p:attrNameLst>
                                      </p:cBhvr>
                                      <p:tavLst>
                                        <p:tav tm="0">
                                          <p:val>
                                            <p:fltVal val="0"/>
                                          </p:val>
                                        </p:tav>
                                        <p:tav tm="100000">
                                          <p:val>
                                            <p:strVal val="#ppt_w"/>
                                          </p:val>
                                        </p:tav>
                                      </p:tavLst>
                                    </p:anim>
                                    <p:anim calcmode="lin" valueType="num">
                                      <p:cBhvr>
                                        <p:cTn id="15" dur="1000" fill="hold"/>
                                        <p:tgtEl>
                                          <p:spTgt spid="656388"/>
                                        </p:tgtEl>
                                        <p:attrNameLst>
                                          <p:attrName>ppt_h</p:attrName>
                                        </p:attrNameLst>
                                      </p:cBhvr>
                                      <p:tavLst>
                                        <p:tav tm="0">
                                          <p:val>
                                            <p:fltVal val="0"/>
                                          </p:val>
                                        </p:tav>
                                        <p:tav tm="100000">
                                          <p:val>
                                            <p:strVal val="#ppt_h"/>
                                          </p:val>
                                        </p:tav>
                                      </p:tavLst>
                                    </p:anim>
                                    <p:anim calcmode="lin" valueType="num">
                                      <p:cBhvr>
                                        <p:cTn id="16" dur="1000" fill="hold"/>
                                        <p:tgtEl>
                                          <p:spTgt spid="656388"/>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65638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387" grpId="0" autoUpdateAnimBg="0"/>
      <p:bldP spid="656388" grpId="0"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B4046A24-F48E-44C4-B964-F19F598AB938}" type="slidenum">
              <a:rPr lang="en-US" altLang="zh-CN" sz="1400" b="0"/>
              <a:pPr eaLnBrk="1" hangingPunct="1"/>
              <a:t>145</a:t>
            </a:fld>
            <a:endParaRPr lang="en-US" altLang="zh-CN" sz="1400" b="0"/>
          </a:p>
        </p:txBody>
      </p:sp>
      <p:sp>
        <p:nvSpPr>
          <p:cNvPr id="158723" name="Rectangle 2"/>
          <p:cNvSpPr>
            <a:spLocks noChangeArrowheads="1"/>
          </p:cNvSpPr>
          <p:nvPr/>
        </p:nvSpPr>
        <p:spPr bwMode="auto">
          <a:xfrm>
            <a:off x="271463" y="981075"/>
            <a:ext cx="8588375"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eaLnBrk="0" hangingPunct="0">
              <a:tabLst>
                <a:tab pos="2076450" algn="l"/>
              </a:tabLst>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2076450" algn="l"/>
              </a:tabLst>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2076450" algn="l"/>
              </a:tabLst>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2076450" algn="l"/>
              </a:tabLst>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2076450" algn="l"/>
              </a:tabLst>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2076450" algn="l"/>
              </a:tabLs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2076450" algn="l"/>
              </a:tabLs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2076450" algn="l"/>
              </a:tabLs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2076450" algn="l"/>
              </a:tabLs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a:latin typeface="宋体" panose="02010600030101010101" pitchFamily="2" charset="-122"/>
              </a:rPr>
              <a:t>如图所示，</a:t>
            </a:r>
            <a:r>
              <a:rPr lang="en-US" altLang="zh-CN" sz="2800">
                <a:latin typeface="宋体" panose="02010600030101010101" pitchFamily="2" charset="-122"/>
              </a:rPr>
              <a:t>C54x-40</a:t>
            </a:r>
            <a:r>
              <a:rPr lang="zh-CN" altLang="en-US" sz="2800">
                <a:latin typeface="宋体" panose="02010600030101010101" pitchFamily="2" charset="-122"/>
              </a:rPr>
              <a:t>与低地址程序存储器（</a:t>
            </a:r>
            <a:r>
              <a:rPr lang="en-US" altLang="zh-CN" sz="2800">
                <a:latin typeface="宋体" panose="02010600030101010101" pitchFamily="2" charset="-122"/>
              </a:rPr>
              <a:t>SRAM</a:t>
            </a:r>
            <a:r>
              <a:rPr lang="zh-CN" altLang="en-US" sz="2800">
                <a:latin typeface="宋体" panose="02010600030101010101" pitchFamily="2" charset="-122"/>
              </a:rPr>
              <a:t>，</a:t>
            </a:r>
            <a:r>
              <a:rPr lang="en-US" altLang="zh-CN" sz="2800">
                <a:latin typeface="宋体" panose="02010600030101010101" pitchFamily="2" charset="-122"/>
              </a:rPr>
              <a:t>12 ns</a:t>
            </a:r>
            <a:r>
              <a:rPr lang="zh-CN" altLang="en-US" sz="2800">
                <a:latin typeface="宋体" panose="02010600030101010101" pitchFamily="2" charset="-122"/>
              </a:rPr>
              <a:t>）以及高地址程序存储器（</a:t>
            </a:r>
            <a:r>
              <a:rPr lang="en-US" altLang="zh-CN" sz="2800">
                <a:latin typeface="宋体" panose="02010600030101010101" pitchFamily="2" charset="-122"/>
              </a:rPr>
              <a:t>EPROM</a:t>
            </a:r>
            <a:r>
              <a:rPr lang="zh-CN" altLang="en-US" sz="2800">
                <a:latin typeface="宋体" panose="02010600030101010101" pitchFamily="2" charset="-122"/>
              </a:rPr>
              <a:t>，</a:t>
            </a:r>
            <a:r>
              <a:rPr lang="en-US" altLang="zh-CN" sz="2800">
                <a:latin typeface="宋体" panose="02010600030101010101" pitchFamily="2" charset="-122"/>
              </a:rPr>
              <a:t>200 ns</a:t>
            </a:r>
            <a:r>
              <a:rPr lang="zh-CN" altLang="en-US" sz="2800">
                <a:latin typeface="宋体" panose="02010600030101010101" pitchFamily="2" charset="-122"/>
              </a:rPr>
              <a:t>）相接口。前者不需要插入等待状态，后者应插入</a:t>
            </a:r>
            <a:r>
              <a:rPr lang="en-US" altLang="zh-CN" sz="2800">
                <a:latin typeface="宋体" panose="02010600030101010101" pitchFamily="2" charset="-122"/>
              </a:rPr>
              <a:t>8</a:t>
            </a:r>
            <a:r>
              <a:rPr lang="zh-CN" altLang="en-US" sz="2800">
                <a:latin typeface="宋体" panose="02010600030101010101" pitchFamily="2" charset="-122"/>
              </a:rPr>
              <a:t>个（</a:t>
            </a:r>
            <a:r>
              <a:rPr lang="en-US" altLang="zh-CN" sz="2800">
                <a:latin typeface="宋体" panose="02010600030101010101" pitchFamily="2" charset="-122"/>
              </a:rPr>
              <a:t>8×25=200 ns</a:t>
            </a:r>
            <a:r>
              <a:rPr lang="zh-CN" altLang="en-US" sz="2800">
                <a:latin typeface="宋体" panose="02010600030101010101" pitchFamily="2" charset="-122"/>
              </a:rPr>
              <a:t>）等待状态。考虑到软件最多等待</a:t>
            </a:r>
            <a:r>
              <a:rPr lang="en-US" altLang="zh-CN" sz="2800">
                <a:latin typeface="宋体" panose="02010600030101010101" pitchFamily="2" charset="-122"/>
              </a:rPr>
              <a:t>7</a:t>
            </a:r>
            <a:r>
              <a:rPr lang="zh-CN" altLang="en-US" sz="2800">
                <a:latin typeface="宋体" panose="02010600030101010101" pitchFamily="2" charset="-122"/>
              </a:rPr>
              <a:t>个状态，因此还必须增加一个硬件等待状态。</a:t>
            </a:r>
          </a:p>
          <a:p>
            <a:pPr algn="just"/>
            <a:r>
              <a:rPr lang="zh-CN" altLang="en-US" sz="2800">
                <a:latin typeface="宋体" panose="02010600030101010101" pitchFamily="2" charset="-122"/>
              </a:rPr>
              <a:t>在设计软件等待状态时，如果系统中没有与</a:t>
            </a:r>
            <a:r>
              <a:rPr lang="en-US" altLang="zh-CN" sz="2800">
                <a:latin typeface="宋体" panose="02010600030101010101" pitchFamily="2" charset="-122"/>
              </a:rPr>
              <a:t>SWWSR</a:t>
            </a:r>
            <a:r>
              <a:rPr lang="zh-CN" altLang="en-US" sz="2800">
                <a:latin typeface="宋体" panose="02010600030101010101" pitchFamily="2" charset="-122"/>
              </a:rPr>
              <a:t>软件等待状态相对应的存储器，那么最好将这些区的等待状态设为</a:t>
            </a:r>
            <a:r>
              <a:rPr lang="en-US" altLang="zh-CN" sz="2800">
                <a:latin typeface="宋体" panose="02010600030101010101" pitchFamily="2" charset="-122"/>
              </a:rPr>
              <a:t>0</a:t>
            </a:r>
            <a:r>
              <a:rPr lang="zh-CN" altLang="en-US" sz="2800">
                <a:latin typeface="宋体" panose="02010600030101010101" pitchFamily="2" charset="-122"/>
              </a:rPr>
              <a:t>或</a:t>
            </a:r>
            <a:r>
              <a:rPr lang="en-US" altLang="zh-CN" sz="2800">
                <a:latin typeface="宋体" panose="02010600030101010101" pitchFamily="2" charset="-122"/>
              </a:rPr>
              <a:t>1</a:t>
            </a:r>
            <a:r>
              <a:rPr lang="zh-CN" altLang="en-US" sz="2800">
                <a:latin typeface="宋体" panose="02010600030101010101" pitchFamily="2" charset="-122"/>
              </a:rPr>
              <a:t>，以防止</a:t>
            </a:r>
            <a:r>
              <a:rPr lang="en-US" altLang="zh-CN" sz="2800">
                <a:latin typeface="宋体" panose="02010600030101010101" pitchFamily="2" charset="-122"/>
              </a:rPr>
              <a:t>READY</a:t>
            </a:r>
            <a:r>
              <a:rPr lang="zh-CN" altLang="en-US" sz="2800">
                <a:latin typeface="宋体" panose="02010600030101010101" pitchFamily="2" charset="-122"/>
              </a:rPr>
              <a:t>引脚受干扰可能出现的一些问题。</a:t>
            </a:r>
          </a:p>
          <a:p>
            <a:pPr algn="just"/>
            <a:r>
              <a:rPr lang="zh-CN" altLang="en-US" sz="2800"/>
              <a:t> </a:t>
            </a:r>
            <a:r>
              <a:rPr lang="zh-CN" altLang="en-US" sz="2800">
                <a:latin typeface="宋体" panose="02010600030101010101" pitchFamily="2" charset="-122"/>
              </a:rPr>
              <a:t>因此</a:t>
            </a:r>
            <a:r>
              <a:rPr lang="en-US" altLang="zh-CN" sz="2800">
                <a:latin typeface="宋体" panose="02010600030101010101" pitchFamily="2" charset="-122"/>
              </a:rPr>
              <a:t>SWWSR</a:t>
            </a:r>
            <a:r>
              <a:rPr lang="zh-CN" altLang="en-US" sz="2800">
                <a:latin typeface="宋体" panose="02010600030101010101" pitchFamily="2" charset="-122"/>
              </a:rPr>
              <a:t>的设置为：</a:t>
            </a:r>
          </a:p>
        </p:txBody>
      </p:sp>
      <p:graphicFrame>
        <p:nvGraphicFramePr>
          <p:cNvPr id="657411" name="Group 3"/>
          <p:cNvGraphicFramePr>
            <a:graphicFrameLocks noGrp="1"/>
          </p:cNvGraphicFramePr>
          <p:nvPr/>
        </p:nvGraphicFramePr>
        <p:xfrm>
          <a:off x="838200" y="6019800"/>
          <a:ext cx="6934200" cy="518160"/>
        </p:xfrm>
        <a:graphic>
          <a:graphicData uri="http://schemas.openxmlformats.org/drawingml/2006/table">
            <a:tbl>
              <a:tblPr/>
              <a:tblGrid>
                <a:gridCol w="7620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tblGrid>
              <a:tr h="4572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Arial" panose="020B0604020202020204" pitchFamily="34" charset="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Arial" panose="020B0604020202020204" pitchFamily="34" charset="0"/>
                        </a:rPr>
                        <a:t>001</a:t>
                      </a:r>
                      <a:endParaRPr kumimoji="1" lang="en-US" altLang="zh-CN" sz="2800" b="0"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Arial" panose="020B0604020202020204" pitchFamily="34" charset="0"/>
                        </a:rPr>
                        <a:t>001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Arial" panose="020B0604020202020204" pitchFamily="34" charset="0"/>
                        </a:rPr>
                        <a:t>001</a:t>
                      </a:r>
                      <a:endParaRPr kumimoji="1" lang="en-US" altLang="zh-CN" sz="2800" b="0"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Arial" panose="020B0604020202020204" pitchFamily="34" charset="0"/>
                        </a:rPr>
                        <a:t>111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rgbClr val="9900CC"/>
                          </a:solidFill>
                          <a:effectLst/>
                          <a:latin typeface="宋体" panose="02010600030101010101" pitchFamily="2" charset="-122"/>
                          <a:ea typeface="宋体" panose="02010600030101010101" pitchFamily="2" charset="-122"/>
                          <a:cs typeface="Arial" panose="020B0604020202020204" pitchFamily="34" charset="0"/>
                        </a:rPr>
                        <a:t>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58740" name="Rectangle 19"/>
          <p:cNvSpPr>
            <a:spLocks noChangeArrowheads="1"/>
          </p:cNvSpPr>
          <p:nvPr/>
        </p:nvSpPr>
        <p:spPr bwMode="auto">
          <a:xfrm>
            <a:off x="990600" y="5486400"/>
            <a:ext cx="680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r>
              <a:rPr lang="en-US" altLang="zh-CN" sz="2400">
                <a:latin typeface="宋体" panose="02010600030101010101" pitchFamily="2" charset="-122"/>
                <a:cs typeface="Arial" panose="020B0604020202020204" pitchFamily="34" charset="0"/>
              </a:rPr>
              <a:t>R </a:t>
            </a:r>
            <a:r>
              <a:rPr lang="en-US" altLang="zh-CN" sz="2400">
                <a:latin typeface="宋体" panose="02010600030101010101" pitchFamily="2" charset="-122"/>
              </a:rPr>
              <a:t>   </a:t>
            </a:r>
            <a:r>
              <a:rPr lang="en-US" altLang="zh-CN" sz="2400">
                <a:latin typeface="宋体" panose="02010600030101010101" pitchFamily="2" charset="-122"/>
                <a:cs typeface="Arial" panose="020B0604020202020204" pitchFamily="34" charset="0"/>
              </a:rPr>
              <a:t>I/O </a:t>
            </a:r>
            <a:r>
              <a:rPr lang="en-US" altLang="zh-CN" sz="2400">
                <a:latin typeface="宋体" panose="02010600030101010101" pitchFamily="2" charset="-122"/>
              </a:rPr>
              <a:t> </a:t>
            </a:r>
            <a:r>
              <a:rPr lang="en-US" altLang="zh-CN" sz="2400">
                <a:latin typeface="宋体" panose="02010600030101010101" pitchFamily="2" charset="-122"/>
                <a:cs typeface="Arial" panose="020B0604020202020204" pitchFamily="34" charset="0"/>
              </a:rPr>
              <a:t>Hi Data Low Data Hi Prog Low Prog</a:t>
            </a:r>
          </a:p>
        </p:txBody>
      </p:sp>
    </p:spTree>
  </p:cSld>
  <p:clrMapOvr>
    <a:masterClrMapping/>
  </p:clrMapOvr>
  <p:transition spd="med">
    <p:pull dir="lu"/>
  </p:transition>
</p:sld>
</file>

<file path=ppt/slides/slide1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bwMode="auto">
          <a:xfrm>
            <a:off x="1619250" y="1125538"/>
            <a:ext cx="5486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三、分区转换逻辑</a:t>
            </a:r>
            <a:r>
              <a:rPr lang="zh-CN" altLang="en-US" b="1"/>
              <a:t> </a:t>
            </a:r>
          </a:p>
        </p:txBody>
      </p:sp>
      <p:sp>
        <p:nvSpPr>
          <p:cNvPr id="159747" name="Rectangle 3"/>
          <p:cNvSpPr>
            <a:spLocks noGrp="1" noChangeArrowheads="1"/>
          </p:cNvSpPr>
          <p:nvPr>
            <p:ph idx="1"/>
          </p:nvPr>
        </p:nvSpPr>
        <p:spPr bwMode="auto">
          <a:xfrm>
            <a:off x="685800" y="1981200"/>
            <a:ext cx="7772400" cy="1981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为什么要对外部存储器分区</a:t>
            </a:r>
            <a:r>
              <a:rPr lang="zh-CN" altLang="en-US" b="1"/>
              <a:t> </a:t>
            </a:r>
          </a:p>
          <a:p>
            <a:pPr eaLnBrk="1" hangingPunct="1"/>
            <a:r>
              <a:rPr lang="zh-CN" altLang="en-US" b="1">
                <a:latin typeface="宋体" panose="02010600030101010101" pitchFamily="2" charset="-122"/>
              </a:rPr>
              <a:t>可编程分区转换逻辑的功能</a:t>
            </a:r>
            <a:r>
              <a:rPr lang="zh-CN" altLang="en-US" b="1"/>
              <a:t> </a:t>
            </a:r>
          </a:p>
          <a:p>
            <a:pPr eaLnBrk="1" hangingPunct="1"/>
            <a:r>
              <a:rPr lang="zh-CN" altLang="en-US" b="1">
                <a:latin typeface="宋体" panose="02010600030101010101" pitchFamily="2" charset="-122"/>
              </a:rPr>
              <a:t>分区转换控制寄存器（</a:t>
            </a:r>
            <a:r>
              <a:rPr lang="en-US" altLang="zh-CN" b="1">
                <a:latin typeface="宋体" panose="02010600030101010101" pitchFamily="2" charset="-122"/>
              </a:rPr>
              <a:t>BSCR</a:t>
            </a:r>
            <a:r>
              <a:rPr lang="zh-CN" altLang="en-US" b="1">
                <a:latin typeface="宋体" panose="02010600030101010101" pitchFamily="2" charset="-122"/>
              </a:rPr>
              <a:t>）的定义  </a:t>
            </a:r>
          </a:p>
        </p:txBody>
      </p:sp>
      <p:sp>
        <p:nvSpPr>
          <p:cNvPr id="15974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8FF4AC4B-F9D5-45B9-9591-1460F1A8219F}" type="slidenum">
              <a:rPr lang="en-US" altLang="zh-CN" sz="1400" b="0"/>
              <a:pPr eaLnBrk="1" hangingPunct="1"/>
              <a:t>146</a:t>
            </a:fld>
            <a:endParaRPr lang="en-US" altLang="zh-CN" sz="1400" b="0"/>
          </a:p>
        </p:txBody>
      </p:sp>
      <p:grpSp>
        <p:nvGrpSpPr>
          <p:cNvPr id="2" name="Group 4"/>
          <p:cNvGrpSpPr>
            <a:grpSpLocks/>
          </p:cNvGrpSpPr>
          <p:nvPr/>
        </p:nvGrpSpPr>
        <p:grpSpPr bwMode="auto">
          <a:xfrm>
            <a:off x="914400" y="3810000"/>
            <a:ext cx="6629400" cy="863600"/>
            <a:chOff x="672" y="2880"/>
            <a:chExt cx="4176" cy="544"/>
          </a:xfrm>
        </p:grpSpPr>
        <p:sp>
          <p:nvSpPr>
            <p:cNvPr id="159756" name="Text Box 5"/>
            <p:cNvSpPr txBox="1">
              <a:spLocks noChangeArrowheads="1"/>
            </p:cNvSpPr>
            <p:nvPr/>
          </p:nvSpPr>
          <p:spPr bwMode="auto">
            <a:xfrm>
              <a:off x="672" y="3168"/>
              <a:ext cx="1008" cy="256"/>
            </a:xfrm>
            <a:prstGeom prst="rect">
              <a:avLst/>
            </a:prstGeom>
            <a:solidFill>
              <a:srgbClr val="FFFF00"/>
            </a:solid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BNKCMP</a:t>
              </a:r>
            </a:p>
          </p:txBody>
        </p:sp>
        <p:sp>
          <p:nvSpPr>
            <p:cNvPr id="159757" name="Text Box 6"/>
            <p:cNvSpPr txBox="1">
              <a:spLocks noChangeArrowheads="1"/>
            </p:cNvSpPr>
            <p:nvPr/>
          </p:nvSpPr>
          <p:spPr bwMode="auto">
            <a:xfrm>
              <a:off x="816" y="2880"/>
              <a:ext cx="7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15</a:t>
              </a:r>
              <a:r>
                <a:rPr lang="zh-CN" altLang="en-US">
                  <a:latin typeface="宋体" panose="02010600030101010101" pitchFamily="2" charset="-122"/>
                </a:rPr>
                <a:t>～</a:t>
              </a:r>
              <a:r>
                <a:rPr lang="zh-CN" altLang="en-US"/>
                <a:t> </a:t>
              </a:r>
              <a:r>
                <a:rPr lang="en-US" altLang="zh-CN"/>
                <a:t>12</a:t>
              </a:r>
            </a:p>
          </p:txBody>
        </p:sp>
        <p:sp>
          <p:nvSpPr>
            <p:cNvPr id="159758" name="Text Box 7"/>
            <p:cNvSpPr txBox="1">
              <a:spLocks noChangeArrowheads="1"/>
            </p:cNvSpPr>
            <p:nvPr/>
          </p:nvSpPr>
          <p:spPr bwMode="auto">
            <a:xfrm>
              <a:off x="1680" y="3168"/>
              <a:ext cx="864" cy="256"/>
            </a:xfrm>
            <a:prstGeom prst="rect">
              <a:avLst/>
            </a:prstGeom>
            <a:solidFill>
              <a:srgbClr val="FFFF00"/>
            </a:solid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PS </a:t>
              </a:r>
              <a:r>
                <a:rPr lang="zh-CN" altLang="en-US">
                  <a:latin typeface="宋体" panose="02010600030101010101" pitchFamily="2" charset="-122"/>
                </a:rPr>
                <a:t>～</a:t>
              </a:r>
              <a:r>
                <a:rPr lang="en-US" altLang="zh-CN">
                  <a:latin typeface="宋体" panose="02010600030101010101" pitchFamily="2" charset="-122"/>
                </a:rPr>
                <a:t>DS</a:t>
              </a:r>
            </a:p>
          </p:txBody>
        </p:sp>
        <p:sp>
          <p:nvSpPr>
            <p:cNvPr id="159759" name="Text Box 8"/>
            <p:cNvSpPr txBox="1">
              <a:spLocks noChangeArrowheads="1"/>
            </p:cNvSpPr>
            <p:nvPr/>
          </p:nvSpPr>
          <p:spPr bwMode="auto">
            <a:xfrm>
              <a:off x="1968" y="2880"/>
              <a:ext cx="3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11</a:t>
              </a:r>
            </a:p>
          </p:txBody>
        </p:sp>
        <p:sp>
          <p:nvSpPr>
            <p:cNvPr id="159760" name="Text Box 9"/>
            <p:cNvSpPr txBox="1">
              <a:spLocks noChangeArrowheads="1"/>
            </p:cNvSpPr>
            <p:nvPr/>
          </p:nvSpPr>
          <p:spPr bwMode="auto">
            <a:xfrm>
              <a:off x="2496" y="3168"/>
              <a:ext cx="912" cy="256"/>
            </a:xfrm>
            <a:prstGeom prst="rect">
              <a:avLst/>
            </a:prstGeom>
            <a:solidFill>
              <a:srgbClr val="FFFF00"/>
            </a:solid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保留位</a:t>
              </a:r>
            </a:p>
          </p:txBody>
        </p:sp>
        <p:sp>
          <p:nvSpPr>
            <p:cNvPr id="159761" name="Text Box 10"/>
            <p:cNvSpPr txBox="1">
              <a:spLocks noChangeArrowheads="1"/>
            </p:cNvSpPr>
            <p:nvPr/>
          </p:nvSpPr>
          <p:spPr bwMode="auto">
            <a:xfrm>
              <a:off x="3408" y="3168"/>
              <a:ext cx="768" cy="256"/>
            </a:xfrm>
            <a:prstGeom prst="rect">
              <a:avLst/>
            </a:prstGeom>
            <a:solidFill>
              <a:srgbClr val="FFFF00"/>
            </a:solid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BH</a:t>
              </a:r>
            </a:p>
          </p:txBody>
        </p:sp>
        <p:sp>
          <p:nvSpPr>
            <p:cNvPr id="159762" name="Text Box 11"/>
            <p:cNvSpPr txBox="1">
              <a:spLocks noChangeArrowheads="1"/>
            </p:cNvSpPr>
            <p:nvPr/>
          </p:nvSpPr>
          <p:spPr bwMode="auto">
            <a:xfrm>
              <a:off x="3648" y="288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a:t>
              </a:r>
            </a:p>
          </p:txBody>
        </p:sp>
        <p:sp>
          <p:nvSpPr>
            <p:cNvPr id="159763" name="Text Box 12"/>
            <p:cNvSpPr txBox="1">
              <a:spLocks noChangeArrowheads="1"/>
            </p:cNvSpPr>
            <p:nvPr/>
          </p:nvSpPr>
          <p:spPr bwMode="auto">
            <a:xfrm>
              <a:off x="4176" y="3168"/>
              <a:ext cx="672" cy="256"/>
            </a:xfrm>
            <a:prstGeom prst="rect">
              <a:avLst/>
            </a:prstGeom>
            <a:solidFill>
              <a:srgbClr val="FFFF00"/>
            </a:solid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EXO</a:t>
              </a:r>
            </a:p>
          </p:txBody>
        </p:sp>
        <p:sp>
          <p:nvSpPr>
            <p:cNvPr id="159764" name="Text Box 13"/>
            <p:cNvSpPr txBox="1">
              <a:spLocks noChangeArrowheads="1"/>
            </p:cNvSpPr>
            <p:nvPr/>
          </p:nvSpPr>
          <p:spPr bwMode="auto">
            <a:xfrm>
              <a:off x="4320" y="288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0</a:t>
              </a:r>
            </a:p>
          </p:txBody>
        </p:sp>
        <p:sp>
          <p:nvSpPr>
            <p:cNvPr id="159765" name="Text Box 14"/>
            <p:cNvSpPr txBox="1">
              <a:spLocks noChangeArrowheads="1"/>
            </p:cNvSpPr>
            <p:nvPr/>
          </p:nvSpPr>
          <p:spPr bwMode="auto">
            <a:xfrm>
              <a:off x="2640" y="2880"/>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10</a:t>
              </a:r>
              <a:r>
                <a:rPr lang="zh-CN" altLang="en-US">
                  <a:latin typeface="宋体" panose="02010600030101010101" pitchFamily="2" charset="-122"/>
                </a:rPr>
                <a:t>～</a:t>
              </a:r>
              <a:r>
                <a:rPr lang="zh-CN" altLang="en-US"/>
                <a:t> </a:t>
              </a:r>
              <a:r>
                <a:rPr lang="en-US" altLang="zh-CN"/>
                <a:t>2</a:t>
              </a:r>
            </a:p>
          </p:txBody>
        </p:sp>
      </p:grpSp>
      <p:sp>
        <p:nvSpPr>
          <p:cNvPr id="658447" name="AutoShape 15" descr="小棋盘"/>
          <p:cNvSpPr>
            <a:spLocks noChangeArrowheads="1"/>
          </p:cNvSpPr>
          <p:nvPr/>
        </p:nvSpPr>
        <p:spPr bwMode="auto">
          <a:xfrm>
            <a:off x="6858000" y="914400"/>
            <a:ext cx="2057400" cy="2154238"/>
          </a:xfrm>
          <a:prstGeom prst="wedgeRoundRectCallout">
            <a:avLst>
              <a:gd name="adj1" fmla="val -82792"/>
              <a:gd name="adj2" fmla="val 36662"/>
              <a:gd name="adj3" fmla="val 16667"/>
            </a:avLst>
          </a:prstGeom>
          <a:pattFill prst="smCheck">
            <a:fgClr>
              <a:schemeClr val="accent1"/>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latin typeface="宋体" panose="02010600030101010101" pitchFamily="2" charset="-122"/>
              </a:rPr>
              <a:t>当跨越外部存储器分区界线寻址时，自动地插入一个周期。 </a:t>
            </a:r>
          </a:p>
        </p:txBody>
      </p:sp>
      <p:grpSp>
        <p:nvGrpSpPr>
          <p:cNvPr id="159751" name="Group 21"/>
          <p:cNvGrpSpPr>
            <a:grpSpLocks/>
          </p:cNvGrpSpPr>
          <p:nvPr/>
        </p:nvGrpSpPr>
        <p:grpSpPr bwMode="auto">
          <a:xfrm>
            <a:off x="250825" y="4941888"/>
            <a:ext cx="8642350" cy="1727200"/>
            <a:chOff x="158" y="3113"/>
            <a:chExt cx="5444" cy="1088"/>
          </a:xfrm>
        </p:grpSpPr>
        <p:sp>
          <p:nvSpPr>
            <p:cNvPr id="159752" name="AutoShape 17" descr="小棋盘"/>
            <p:cNvSpPr>
              <a:spLocks noChangeArrowheads="1"/>
            </p:cNvSpPr>
            <p:nvPr/>
          </p:nvSpPr>
          <p:spPr bwMode="auto">
            <a:xfrm>
              <a:off x="158" y="3331"/>
              <a:ext cx="1008" cy="816"/>
            </a:xfrm>
            <a:prstGeom prst="wedgeRoundRectCallout">
              <a:avLst>
                <a:gd name="adj1" fmla="val 38292"/>
                <a:gd name="adj2" fmla="val -73611"/>
                <a:gd name="adj3" fmla="val 16667"/>
              </a:avLst>
            </a:prstGeom>
            <a:pattFill prst="smCheck">
              <a:fgClr>
                <a:schemeClr val="accent1"/>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latin typeface="宋体" panose="02010600030101010101" pitchFamily="2" charset="-122"/>
                </a:rPr>
                <a:t>决定外部存储器分区的大小 </a:t>
              </a:r>
            </a:p>
          </p:txBody>
        </p:sp>
        <p:sp>
          <p:nvSpPr>
            <p:cNvPr id="159753" name="AutoShape 18" descr="小棋盘"/>
            <p:cNvSpPr>
              <a:spLocks noChangeArrowheads="1"/>
            </p:cNvSpPr>
            <p:nvPr/>
          </p:nvSpPr>
          <p:spPr bwMode="auto">
            <a:xfrm>
              <a:off x="1262" y="3113"/>
              <a:ext cx="2112" cy="1088"/>
            </a:xfrm>
            <a:prstGeom prst="wedgeRoundRectCallout">
              <a:avLst>
                <a:gd name="adj1" fmla="val -21685"/>
                <a:gd name="adj2" fmla="val -62398"/>
                <a:gd name="adj3" fmla="val 16667"/>
              </a:avLst>
            </a:prstGeom>
            <a:pattFill prst="smCheck">
              <a:fgClr>
                <a:schemeClr val="accent1"/>
              </a:fgClr>
              <a:bgClr>
                <a:srgbClr val="FFFFFF"/>
              </a:bgClr>
            </a:pattFill>
            <a:ln w="9525">
              <a:solidFill>
                <a:srgbClr val="FF00FF"/>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chemeClr val="tx2"/>
                  </a:solidFill>
                  <a:latin typeface="宋体" panose="02010600030101010101" pitchFamily="2" charset="-122"/>
                </a:rPr>
                <a:t>决定在连续进行程序读</a:t>
              </a:r>
              <a:r>
                <a:rPr lang="en-US" altLang="zh-CN" sz="2400">
                  <a:solidFill>
                    <a:schemeClr val="tx2"/>
                  </a:solidFill>
                  <a:latin typeface="宋体" panose="02010600030101010101" pitchFamily="2" charset="-122"/>
                </a:rPr>
                <a:t>/</a:t>
              </a:r>
              <a:r>
                <a:rPr lang="zh-CN" altLang="en-US" sz="2400">
                  <a:solidFill>
                    <a:schemeClr val="tx2"/>
                  </a:solidFill>
                  <a:latin typeface="宋体" panose="02010600030101010101" pitchFamily="2" charset="-122"/>
                </a:rPr>
                <a:t>数据读或者数据读</a:t>
              </a:r>
              <a:r>
                <a:rPr lang="en-US" altLang="zh-CN" sz="2400">
                  <a:solidFill>
                    <a:schemeClr val="tx2"/>
                  </a:solidFill>
                  <a:latin typeface="宋体" panose="02010600030101010101" pitchFamily="2" charset="-122"/>
                </a:rPr>
                <a:t>/</a:t>
              </a:r>
              <a:r>
                <a:rPr lang="zh-CN" altLang="en-US" sz="2400">
                  <a:solidFill>
                    <a:schemeClr val="tx2"/>
                  </a:solidFill>
                  <a:latin typeface="宋体" panose="02010600030101010101" pitchFamily="2" charset="-122"/>
                </a:rPr>
                <a:t>程序读寻址之间是否插一个额外的周期。</a:t>
              </a:r>
              <a:r>
                <a:rPr lang="en-US" altLang="zh-CN" sz="2400">
                  <a:solidFill>
                    <a:schemeClr val="tx2"/>
                  </a:solidFill>
                  <a:latin typeface="宋体" panose="02010600030101010101" pitchFamily="2" charset="-122"/>
                </a:rPr>
                <a:t>0</a:t>
              </a:r>
              <a:r>
                <a:rPr lang="zh-CN" altLang="en-US" sz="2400">
                  <a:solidFill>
                    <a:schemeClr val="tx2"/>
                  </a:solidFill>
                  <a:latin typeface="宋体" panose="02010600030101010101" pitchFamily="2" charset="-122"/>
                </a:rPr>
                <a:t>不插。</a:t>
              </a:r>
              <a:r>
                <a:rPr lang="zh-CN" altLang="en-US" sz="2400" b="0">
                  <a:latin typeface="宋体" panose="02010600030101010101" pitchFamily="2" charset="-122"/>
                </a:rPr>
                <a:t> </a:t>
              </a:r>
            </a:p>
          </p:txBody>
        </p:sp>
        <p:sp>
          <p:nvSpPr>
            <p:cNvPr id="159754" name="AutoShape 19" descr="小棋盘"/>
            <p:cNvSpPr>
              <a:spLocks noChangeArrowheads="1"/>
            </p:cNvSpPr>
            <p:nvPr/>
          </p:nvSpPr>
          <p:spPr bwMode="auto">
            <a:xfrm>
              <a:off x="3470" y="3167"/>
              <a:ext cx="998" cy="717"/>
            </a:xfrm>
            <a:prstGeom prst="wedgeRoundRectCallout">
              <a:avLst>
                <a:gd name="adj1" fmla="val -28356"/>
                <a:gd name="adj2" fmla="val -68829"/>
                <a:gd name="adj3" fmla="val 16667"/>
              </a:avLst>
            </a:prstGeom>
            <a:pattFill prst="smCheck">
              <a:fgClr>
                <a:schemeClr val="accent1"/>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solidFill>
                    <a:schemeClr val="folHlink"/>
                  </a:solidFill>
                  <a:latin typeface="宋体" panose="02010600030101010101" pitchFamily="2" charset="-122"/>
                </a:rPr>
                <a:t>控制总线保持器，为</a:t>
              </a:r>
              <a:r>
                <a:rPr lang="en-US" altLang="zh-CN" sz="2400">
                  <a:solidFill>
                    <a:schemeClr val="folHlink"/>
                  </a:solidFill>
                  <a:latin typeface="宋体" panose="02010600030101010101" pitchFamily="2" charset="-122"/>
                </a:rPr>
                <a:t>0</a:t>
              </a:r>
              <a:r>
                <a:rPr lang="zh-CN" altLang="en-US" sz="2400">
                  <a:solidFill>
                    <a:schemeClr val="folHlink"/>
                  </a:solidFill>
                  <a:latin typeface="宋体" panose="02010600030101010101" pitchFamily="2" charset="-122"/>
                </a:rPr>
                <a:t>关</a:t>
              </a:r>
              <a:r>
                <a:rPr lang="zh-CN" altLang="en-US" sz="2400" b="0">
                  <a:solidFill>
                    <a:schemeClr val="folHlink"/>
                  </a:solidFill>
                  <a:latin typeface="宋体" panose="02010600030101010101" pitchFamily="2" charset="-122"/>
                </a:rPr>
                <a:t> </a:t>
              </a:r>
            </a:p>
          </p:txBody>
        </p:sp>
        <p:sp>
          <p:nvSpPr>
            <p:cNvPr id="159755" name="AutoShape 20" descr="小棋盘"/>
            <p:cNvSpPr>
              <a:spLocks noChangeArrowheads="1"/>
            </p:cNvSpPr>
            <p:nvPr/>
          </p:nvSpPr>
          <p:spPr bwMode="auto">
            <a:xfrm>
              <a:off x="4513" y="3113"/>
              <a:ext cx="1089" cy="870"/>
            </a:xfrm>
            <a:prstGeom prst="wedgeRoundRectCallout">
              <a:avLst>
                <a:gd name="adj1" fmla="val -37972"/>
                <a:gd name="adj2" fmla="val -52991"/>
                <a:gd name="adj3" fmla="val 16667"/>
              </a:avLst>
            </a:prstGeom>
            <a:pattFill prst="smCheck">
              <a:fgClr>
                <a:schemeClr val="accent1"/>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400">
                  <a:latin typeface="宋体" panose="02010600030101010101" pitchFamily="2" charset="-122"/>
                </a:rPr>
                <a:t>关断外部总线接口位，</a:t>
              </a:r>
              <a:r>
                <a:rPr lang="en-US" altLang="zh-CN" sz="2400">
                  <a:latin typeface="宋体" panose="02010600030101010101" pitchFamily="2" charset="-122"/>
                </a:rPr>
                <a:t>0</a:t>
              </a:r>
              <a:r>
                <a:rPr lang="zh-CN" altLang="en-US" sz="2400">
                  <a:latin typeface="宋体" panose="02010600030101010101" pitchFamily="2" charset="-122"/>
                </a:rPr>
                <a:t>接通。</a:t>
              </a:r>
              <a:r>
                <a:rPr lang="zh-CN" altLang="en-US" sz="2400" b="0">
                  <a:latin typeface="宋体" panose="02010600030101010101" pitchFamily="2" charset="-122"/>
                </a:rPr>
                <a:t> </a:t>
              </a:r>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58434"/>
                                        </p:tgtEl>
                                        <p:attrNameLst>
                                          <p:attrName>style.visibility</p:attrName>
                                        </p:attrNameLst>
                                      </p:cBhvr>
                                      <p:to>
                                        <p:strVal val="visible"/>
                                      </p:to>
                                    </p:set>
                                    <p:animEffect transition="in" filter="barn(inVertical)">
                                      <p:cBhvr>
                                        <p:cTn id="7" dur="500"/>
                                        <p:tgtEl>
                                          <p:spTgt spid="658434"/>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par>
                          <p:cTn id="12" fill="hold" nodeType="afterGroup">
                            <p:stCondLst>
                              <p:cond delay="1000"/>
                            </p:stCondLst>
                            <p:childTnLst>
                              <p:par>
                                <p:cTn id="13" presetID="2" presetClass="entr" presetSubtype="2" fill="hold" grpId="0" nodeType="afterEffect">
                                  <p:stCondLst>
                                    <p:cond delay="0"/>
                                  </p:stCondLst>
                                  <p:childTnLst>
                                    <p:set>
                                      <p:cBhvr>
                                        <p:cTn id="14" dur="1" fill="hold">
                                          <p:stCondLst>
                                            <p:cond delay="0"/>
                                          </p:stCondLst>
                                        </p:cTn>
                                        <p:tgtEl>
                                          <p:spTgt spid="658447"/>
                                        </p:tgtEl>
                                        <p:attrNameLst>
                                          <p:attrName>style.visibility</p:attrName>
                                        </p:attrNameLst>
                                      </p:cBhvr>
                                      <p:to>
                                        <p:strVal val="visible"/>
                                      </p:to>
                                    </p:set>
                                    <p:anim calcmode="lin" valueType="num">
                                      <p:cBhvr additive="base">
                                        <p:cTn id="15" dur="500" fill="hold"/>
                                        <p:tgtEl>
                                          <p:spTgt spid="658447"/>
                                        </p:tgtEl>
                                        <p:attrNameLst>
                                          <p:attrName>ppt_x</p:attrName>
                                        </p:attrNameLst>
                                      </p:cBhvr>
                                      <p:tavLst>
                                        <p:tav tm="0">
                                          <p:val>
                                            <p:strVal val="1+#ppt_w/2"/>
                                          </p:val>
                                        </p:tav>
                                        <p:tav tm="100000">
                                          <p:val>
                                            <p:strVal val="#ppt_x"/>
                                          </p:val>
                                        </p:tav>
                                      </p:tavLst>
                                    </p:anim>
                                    <p:anim calcmode="lin" valueType="num">
                                      <p:cBhvr additive="base">
                                        <p:cTn id="16" dur="500" fill="hold"/>
                                        <p:tgtEl>
                                          <p:spTgt spid="6584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434" grpId="0" autoUpdateAnimBg="0"/>
      <p:bldP spid="658447" grpId="0" animBg="1"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9458" name="Rectangle 2"/>
          <p:cNvSpPr>
            <a:spLocks noGrp="1" noChangeArrowheads="1"/>
          </p:cNvSpPr>
          <p:nvPr>
            <p:ph type="title"/>
          </p:nvPr>
        </p:nvSpPr>
        <p:spPr bwMode="auto">
          <a:xfrm>
            <a:off x="468313" y="981075"/>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FF"/>
                </a:solidFill>
                <a:latin typeface="宋体" panose="02010600030101010101" pitchFamily="2" charset="-122"/>
              </a:rPr>
              <a:t>外部存储器的分区</a:t>
            </a:r>
            <a:r>
              <a:rPr lang="zh-CN" altLang="en-US" b="1"/>
              <a:t> </a:t>
            </a:r>
          </a:p>
        </p:txBody>
      </p:sp>
      <p:graphicFrame>
        <p:nvGraphicFramePr>
          <p:cNvPr id="659663" name="Group 207"/>
          <p:cNvGraphicFramePr>
            <a:graphicFrameLocks noGrp="1"/>
          </p:cNvGraphicFramePr>
          <p:nvPr/>
        </p:nvGraphicFramePr>
        <p:xfrm>
          <a:off x="468313" y="1989138"/>
          <a:ext cx="8229600" cy="4525963"/>
        </p:xfrm>
        <a:graphic>
          <a:graphicData uri="http://schemas.openxmlformats.org/drawingml/2006/table">
            <a:tbl>
              <a:tblPr/>
              <a:tblGrid>
                <a:gridCol w="1008062">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152525">
                  <a:extLst>
                    <a:ext uri="{9D8B030D-6E8A-4147-A177-3AD203B41FA5}">
                      <a16:colId xmlns:a16="http://schemas.microsoft.com/office/drawing/2014/main" val="20002"/>
                    </a:ext>
                  </a:extLst>
                </a:gridCol>
                <a:gridCol w="1081088">
                  <a:extLst>
                    <a:ext uri="{9D8B030D-6E8A-4147-A177-3AD203B41FA5}">
                      <a16:colId xmlns:a16="http://schemas.microsoft.com/office/drawing/2014/main" val="20003"/>
                    </a:ext>
                  </a:extLst>
                </a:gridCol>
                <a:gridCol w="1871662">
                  <a:extLst>
                    <a:ext uri="{9D8B030D-6E8A-4147-A177-3AD203B41FA5}">
                      <a16:colId xmlns:a16="http://schemas.microsoft.com/office/drawing/2014/main" val="20004"/>
                    </a:ext>
                  </a:extLst>
                </a:gridCol>
                <a:gridCol w="2036763">
                  <a:extLst>
                    <a:ext uri="{9D8B030D-6E8A-4147-A177-3AD203B41FA5}">
                      <a16:colId xmlns:a16="http://schemas.microsoft.com/office/drawing/2014/main" val="20005"/>
                    </a:ext>
                  </a:extLst>
                </a:gridCol>
              </a:tblGrid>
              <a:tr h="647700">
                <a:tc gridSpan="4">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BNKCMP</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屏蔽的最</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高有效位</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分区大小（</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a:t>
                      </a: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位字）</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45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位</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位</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位</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位</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6477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64k</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611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32k</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77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16k</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45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8k</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477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4k</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6082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0D942FED-AED6-4C48-961E-014696291E4A}" type="slidenum">
              <a:rPr lang="en-US" altLang="zh-CN" sz="1400" b="0"/>
              <a:pPr eaLnBrk="1" hangingPunct="1"/>
              <a:t>147</a:t>
            </a:fld>
            <a:endParaRPr lang="en-US" altLang="zh-CN" sz="1400" b="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59458"/>
                                        </p:tgtEl>
                                        <p:attrNameLst>
                                          <p:attrName>style.visibility</p:attrName>
                                        </p:attrNameLst>
                                      </p:cBhvr>
                                      <p:to>
                                        <p:strVal val="visible"/>
                                      </p:to>
                                    </p:set>
                                    <p:anim calcmode="lin" valueType="num">
                                      <p:cBhvr additive="base">
                                        <p:cTn id="7" dur="500" fill="hold"/>
                                        <p:tgtEl>
                                          <p:spTgt spid="659458"/>
                                        </p:tgtEl>
                                        <p:attrNameLst>
                                          <p:attrName>ppt_x</p:attrName>
                                        </p:attrNameLst>
                                      </p:cBhvr>
                                      <p:tavLst>
                                        <p:tav tm="0">
                                          <p:val>
                                            <p:strVal val="#ppt_x"/>
                                          </p:val>
                                        </p:tav>
                                        <p:tav tm="100000">
                                          <p:val>
                                            <p:strVal val="#ppt_x"/>
                                          </p:val>
                                        </p:tav>
                                      </p:tavLst>
                                    </p:anim>
                                    <p:anim calcmode="lin" valueType="num">
                                      <p:cBhvr additive="base">
                                        <p:cTn id="8" dur="500" fill="hold"/>
                                        <p:tgtEl>
                                          <p:spTgt spid="6594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9458" grpId="0"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20F4EB1-3120-4AF7-8BB7-C06F2A7B28F2}" type="slidenum">
              <a:rPr lang="en-US" altLang="zh-CN" sz="1400" b="0"/>
              <a:pPr eaLnBrk="1" hangingPunct="1"/>
              <a:t>148</a:t>
            </a:fld>
            <a:endParaRPr lang="en-US" altLang="zh-CN" sz="1400" b="0"/>
          </a:p>
        </p:txBody>
      </p:sp>
      <p:sp>
        <p:nvSpPr>
          <p:cNvPr id="660482" name="Rectangle 2"/>
          <p:cNvSpPr>
            <a:spLocks noChangeArrowheads="1"/>
          </p:cNvSpPr>
          <p:nvPr/>
        </p:nvSpPr>
        <p:spPr bwMode="auto">
          <a:xfrm>
            <a:off x="1692275" y="1125538"/>
            <a:ext cx="5791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4400">
                <a:solidFill>
                  <a:srgbClr val="FF0000"/>
                </a:solidFill>
              </a:rPr>
              <a:t>第八节  复位与省电</a:t>
            </a:r>
            <a:endParaRPr lang="zh-CN" altLang="en-US" sz="4400">
              <a:solidFill>
                <a:srgbClr val="FF0000"/>
              </a:solidFill>
              <a:ea typeface="黑体" panose="02010609060101010101" pitchFamily="49" charset="-122"/>
            </a:endParaRPr>
          </a:p>
        </p:txBody>
      </p:sp>
      <p:sp>
        <p:nvSpPr>
          <p:cNvPr id="660483" name="Rectangle 3"/>
          <p:cNvSpPr>
            <a:spLocks noChangeArrowheads="1"/>
          </p:cNvSpPr>
          <p:nvPr/>
        </p:nvSpPr>
        <p:spPr bwMode="auto">
          <a:xfrm>
            <a:off x="1116013" y="1844675"/>
            <a:ext cx="6559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6600"/>
                </a:solidFill>
              </a:rPr>
              <a:t>一、复位和</a:t>
            </a:r>
            <a:r>
              <a:rPr lang="en-US" altLang="zh-CN" sz="3600">
                <a:solidFill>
                  <a:srgbClr val="FF6600"/>
                </a:solidFill>
              </a:rPr>
              <a:t>IDLE3</a:t>
            </a:r>
            <a:r>
              <a:rPr lang="zh-CN" altLang="en-US" sz="3600">
                <a:solidFill>
                  <a:srgbClr val="FF6600"/>
                </a:solidFill>
              </a:rPr>
              <a:t>省电工作方式</a:t>
            </a:r>
          </a:p>
        </p:txBody>
      </p:sp>
      <p:sp>
        <p:nvSpPr>
          <p:cNvPr id="660484" name="Rectangle 4"/>
          <p:cNvSpPr>
            <a:spLocks noChangeArrowheads="1"/>
          </p:cNvSpPr>
          <p:nvPr/>
        </p:nvSpPr>
        <p:spPr bwMode="auto">
          <a:xfrm>
            <a:off x="1008063" y="2492375"/>
            <a:ext cx="2813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3600">
                <a:solidFill>
                  <a:srgbClr val="FF0066"/>
                </a:solidFill>
                <a:ea typeface="仿宋_GB2312" pitchFamily="49" charset="-122"/>
              </a:rPr>
              <a:t>1</a:t>
            </a:r>
            <a:r>
              <a:rPr lang="zh-CN" altLang="en-US" sz="3600">
                <a:solidFill>
                  <a:srgbClr val="FF0066"/>
                </a:solidFill>
                <a:ea typeface="仿宋_GB2312" pitchFamily="49" charset="-122"/>
              </a:rPr>
              <a:t>．复位操作</a:t>
            </a:r>
            <a:r>
              <a:rPr lang="zh-CN" altLang="en-US" sz="3600">
                <a:solidFill>
                  <a:schemeClr val="bg1"/>
                </a:solidFill>
              </a:rPr>
              <a:t> </a:t>
            </a:r>
          </a:p>
        </p:txBody>
      </p:sp>
      <p:sp>
        <p:nvSpPr>
          <p:cNvPr id="660486" name="Rectangle 6" descr="小棋盘"/>
          <p:cNvSpPr>
            <a:spLocks noChangeArrowheads="1"/>
          </p:cNvSpPr>
          <p:nvPr/>
        </p:nvSpPr>
        <p:spPr bwMode="auto">
          <a:xfrm>
            <a:off x="395288" y="3573463"/>
            <a:ext cx="1412875" cy="1076325"/>
          </a:xfrm>
          <a:prstGeom prst="rect">
            <a:avLst/>
          </a:prstGeom>
          <a:pattFill prst="smCheck">
            <a:fgClr>
              <a:schemeClr val="accent1"/>
            </a:fgClr>
            <a:bgClr>
              <a:schemeClr val="bg1"/>
            </a:bgClr>
          </a:pattFill>
          <a:ln w="9525">
            <a:solidFill>
              <a:srgbClr val="FF00FF"/>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a:solidFill>
                  <a:schemeClr val="tx2"/>
                </a:solidFill>
              </a:rPr>
              <a:t>RS</a:t>
            </a:r>
          </a:p>
          <a:p>
            <a:pPr algn="ctr" eaLnBrk="1" hangingPunct="1"/>
            <a:r>
              <a:rPr lang="zh-CN" altLang="en-US" sz="3200">
                <a:solidFill>
                  <a:schemeClr val="tx2"/>
                </a:solidFill>
              </a:rPr>
              <a:t>的功能</a:t>
            </a:r>
          </a:p>
        </p:txBody>
      </p:sp>
      <p:sp>
        <p:nvSpPr>
          <p:cNvPr id="161799" name="Line 7"/>
          <p:cNvSpPr>
            <a:spLocks noChangeShapeType="1"/>
          </p:cNvSpPr>
          <p:nvPr/>
        </p:nvSpPr>
        <p:spPr bwMode="auto">
          <a:xfrm>
            <a:off x="827088" y="3698875"/>
            <a:ext cx="533400"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61800" name="Group 8"/>
          <p:cNvGrpSpPr>
            <a:grpSpLocks/>
          </p:cNvGrpSpPr>
          <p:nvPr/>
        </p:nvGrpSpPr>
        <p:grpSpPr bwMode="auto">
          <a:xfrm>
            <a:off x="1981200" y="3352800"/>
            <a:ext cx="6629400" cy="3124200"/>
            <a:chOff x="1248" y="2112"/>
            <a:chExt cx="4176" cy="1968"/>
          </a:xfrm>
        </p:grpSpPr>
        <p:sp>
          <p:nvSpPr>
            <p:cNvPr id="161801" name="Rectangle 9"/>
            <p:cNvSpPr>
              <a:spLocks noChangeArrowheads="1"/>
            </p:cNvSpPr>
            <p:nvPr/>
          </p:nvSpPr>
          <p:spPr bwMode="auto">
            <a:xfrm>
              <a:off x="1248" y="2112"/>
              <a:ext cx="4176" cy="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FontTx/>
                <a:buChar char="•"/>
              </a:pPr>
              <a:r>
                <a:rPr lang="zh-CN" altLang="en-US" sz="3200">
                  <a:latin typeface="宋体" panose="02010600030101010101" pitchFamily="2" charset="-122"/>
                </a:rPr>
                <a:t>使</a:t>
              </a:r>
              <a:r>
                <a:rPr lang="en-US" altLang="zh-CN" sz="3200">
                  <a:latin typeface="宋体" panose="02010600030101010101" pitchFamily="2" charset="-122"/>
                </a:rPr>
                <a:t>C54x</a:t>
              </a:r>
              <a:r>
                <a:rPr lang="zh-CN" altLang="en-US" sz="3200">
                  <a:latin typeface="宋体" panose="02010600030101010101" pitchFamily="2" charset="-122"/>
                </a:rPr>
                <a:t>进入一已知状态</a:t>
              </a:r>
            </a:p>
            <a:p>
              <a:pPr eaLnBrk="1" hangingPunct="1">
                <a:lnSpc>
                  <a:spcPct val="90000"/>
                </a:lnSpc>
                <a:spcBef>
                  <a:spcPct val="20000"/>
                </a:spcBef>
                <a:buFontTx/>
                <a:buChar char="•"/>
              </a:pPr>
              <a:r>
                <a:rPr lang="zh-CN" altLang="en-US" sz="3200">
                  <a:latin typeface="宋体" panose="02010600030101010101" pitchFamily="2" charset="-122"/>
                </a:rPr>
                <a:t>至少保持</a:t>
              </a:r>
              <a:r>
                <a:rPr lang="en-US" altLang="zh-CN" sz="3200">
                  <a:latin typeface="宋体" panose="02010600030101010101" pitchFamily="2" charset="-122"/>
                </a:rPr>
                <a:t>2</a:t>
              </a:r>
              <a:r>
                <a:rPr lang="zh-CN" altLang="en-US" sz="3200">
                  <a:latin typeface="宋体" panose="02010600030101010101" pitchFamily="2" charset="-122"/>
                </a:rPr>
                <a:t>个时钟周期的低电平</a:t>
              </a:r>
            </a:p>
            <a:p>
              <a:pPr eaLnBrk="1" hangingPunct="1">
                <a:lnSpc>
                  <a:spcPct val="90000"/>
                </a:lnSpc>
                <a:spcBef>
                  <a:spcPct val="20000"/>
                </a:spcBef>
                <a:buFontTx/>
                <a:buChar char="•"/>
              </a:pPr>
              <a:r>
                <a:rPr lang="zh-CN" altLang="en-US" sz="3200">
                  <a:latin typeface="宋体" panose="02010600030101010101" pitchFamily="2" charset="-122"/>
                </a:rPr>
                <a:t>复位后为高电平</a:t>
              </a:r>
            </a:p>
            <a:p>
              <a:pPr eaLnBrk="1" hangingPunct="1">
                <a:lnSpc>
                  <a:spcPct val="90000"/>
                </a:lnSpc>
                <a:spcBef>
                  <a:spcPct val="20000"/>
                </a:spcBef>
                <a:buFontTx/>
                <a:buChar char="•"/>
              </a:pPr>
              <a:r>
                <a:rPr lang="zh-CN" altLang="en-US" sz="3200">
                  <a:latin typeface="宋体" panose="02010600030101010101" pitchFamily="2" charset="-122"/>
                </a:rPr>
                <a:t>如果</a:t>
              </a:r>
              <a:r>
                <a:rPr lang="en-US" altLang="zh-CN" sz="3200">
                  <a:latin typeface="宋体" panose="02010600030101010101" pitchFamily="2" charset="-122"/>
                </a:rPr>
                <a:t>MP/MC=0</a:t>
              </a:r>
              <a:r>
                <a:rPr lang="zh-CN" altLang="en-US" sz="3200">
                  <a:latin typeface="宋体" panose="02010600030101010101" pitchFamily="2" charset="-122"/>
                </a:rPr>
                <a:t>，则处理器从片内</a:t>
              </a:r>
              <a:r>
                <a:rPr lang="en-US" altLang="zh-CN" sz="3200">
                  <a:latin typeface="宋体" panose="02010600030101010101" pitchFamily="2" charset="-122"/>
                </a:rPr>
                <a:t>ROM</a:t>
              </a:r>
              <a:r>
                <a:rPr lang="zh-CN" altLang="en-US" sz="3200">
                  <a:latin typeface="宋体" panose="02010600030101010101" pitchFamily="2" charset="-122"/>
                </a:rPr>
                <a:t>开始执行程序，否则，它将从片外程序存储器开始执行程序。</a:t>
              </a:r>
              <a:endParaRPr lang="zh-CN" altLang="en-US" sz="3200"/>
            </a:p>
          </p:txBody>
        </p:sp>
        <p:sp>
          <p:nvSpPr>
            <p:cNvPr id="161802" name="Line 10"/>
            <p:cNvSpPr>
              <a:spLocks noChangeShapeType="1"/>
            </p:cNvSpPr>
            <p:nvPr/>
          </p:nvSpPr>
          <p:spPr bwMode="auto">
            <a:xfrm>
              <a:off x="2448" y="3168"/>
              <a:ext cx="19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60482"/>
                                        </p:tgtEl>
                                        <p:attrNameLst>
                                          <p:attrName>style.visibility</p:attrName>
                                        </p:attrNameLst>
                                      </p:cBhvr>
                                      <p:to>
                                        <p:strVal val="visible"/>
                                      </p:to>
                                    </p:set>
                                    <p:anim calcmode="lin" valueType="num">
                                      <p:cBhvr additive="base">
                                        <p:cTn id="7" dur="500" fill="hold"/>
                                        <p:tgtEl>
                                          <p:spTgt spid="660482"/>
                                        </p:tgtEl>
                                        <p:attrNameLst>
                                          <p:attrName>ppt_x</p:attrName>
                                        </p:attrNameLst>
                                      </p:cBhvr>
                                      <p:tavLst>
                                        <p:tav tm="0">
                                          <p:val>
                                            <p:strVal val="0-#ppt_w/2"/>
                                          </p:val>
                                        </p:tav>
                                        <p:tav tm="100000">
                                          <p:val>
                                            <p:strVal val="#ppt_x"/>
                                          </p:val>
                                        </p:tav>
                                      </p:tavLst>
                                    </p:anim>
                                    <p:anim calcmode="lin" valueType="num">
                                      <p:cBhvr additive="base">
                                        <p:cTn id="8" dur="500" fill="hold"/>
                                        <p:tgtEl>
                                          <p:spTgt spid="66048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60483"/>
                                        </p:tgtEl>
                                        <p:attrNameLst>
                                          <p:attrName>style.visibility</p:attrName>
                                        </p:attrNameLst>
                                      </p:cBhvr>
                                      <p:to>
                                        <p:strVal val="visible"/>
                                      </p:to>
                                    </p:set>
                                    <p:anim calcmode="lin" valueType="num">
                                      <p:cBhvr additive="base">
                                        <p:cTn id="12" dur="500" fill="hold"/>
                                        <p:tgtEl>
                                          <p:spTgt spid="660483"/>
                                        </p:tgtEl>
                                        <p:attrNameLst>
                                          <p:attrName>ppt_x</p:attrName>
                                        </p:attrNameLst>
                                      </p:cBhvr>
                                      <p:tavLst>
                                        <p:tav tm="0">
                                          <p:val>
                                            <p:strVal val="0-#ppt_w/2"/>
                                          </p:val>
                                        </p:tav>
                                        <p:tav tm="100000">
                                          <p:val>
                                            <p:strVal val="#ppt_x"/>
                                          </p:val>
                                        </p:tav>
                                      </p:tavLst>
                                    </p:anim>
                                    <p:anim calcmode="lin" valueType="num">
                                      <p:cBhvr additive="base">
                                        <p:cTn id="13" dur="500" fill="hold"/>
                                        <p:tgtEl>
                                          <p:spTgt spid="660483"/>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660484"/>
                                        </p:tgtEl>
                                        <p:attrNameLst>
                                          <p:attrName>style.visibility</p:attrName>
                                        </p:attrNameLst>
                                      </p:cBhvr>
                                      <p:to>
                                        <p:strVal val="visible"/>
                                      </p:to>
                                    </p:set>
                                    <p:anim calcmode="lin" valueType="num">
                                      <p:cBhvr additive="base">
                                        <p:cTn id="17" dur="500" fill="hold"/>
                                        <p:tgtEl>
                                          <p:spTgt spid="660484"/>
                                        </p:tgtEl>
                                        <p:attrNameLst>
                                          <p:attrName>ppt_x</p:attrName>
                                        </p:attrNameLst>
                                      </p:cBhvr>
                                      <p:tavLst>
                                        <p:tav tm="0">
                                          <p:val>
                                            <p:strVal val="0-#ppt_w/2"/>
                                          </p:val>
                                        </p:tav>
                                        <p:tav tm="100000">
                                          <p:val>
                                            <p:strVal val="#ppt_x"/>
                                          </p:val>
                                        </p:tav>
                                      </p:tavLst>
                                    </p:anim>
                                    <p:anim calcmode="lin" valueType="num">
                                      <p:cBhvr additive="base">
                                        <p:cTn id="18" dur="500" fill="hold"/>
                                        <p:tgtEl>
                                          <p:spTgt spid="660484"/>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12" presetClass="entr" presetSubtype="8" fill="hold" grpId="0" nodeType="afterEffect">
                                  <p:stCondLst>
                                    <p:cond delay="0"/>
                                  </p:stCondLst>
                                  <p:childTnLst>
                                    <p:set>
                                      <p:cBhvr>
                                        <p:cTn id="21" dur="1" fill="hold">
                                          <p:stCondLst>
                                            <p:cond delay="0"/>
                                          </p:stCondLst>
                                        </p:cTn>
                                        <p:tgtEl>
                                          <p:spTgt spid="660486"/>
                                        </p:tgtEl>
                                        <p:attrNameLst>
                                          <p:attrName>style.visibility</p:attrName>
                                        </p:attrNameLst>
                                      </p:cBhvr>
                                      <p:to>
                                        <p:strVal val="visible"/>
                                      </p:to>
                                    </p:set>
                                    <p:animEffect transition="in" filter="slide(fromLeft)">
                                      <p:cBhvr>
                                        <p:cTn id="22" dur="500"/>
                                        <p:tgtEl>
                                          <p:spTgt spid="660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482" grpId="0" autoUpdateAnimBg="0"/>
      <p:bldP spid="660483" grpId="0" autoUpdateAnimBg="0"/>
      <p:bldP spid="660484" grpId="0" autoUpdateAnimBg="0"/>
      <p:bldP spid="660486" grpId="0" animBg="1"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3A28206-A6CD-4428-B786-0E087E782F74}" type="slidenum">
              <a:rPr lang="en-US" altLang="zh-CN" sz="1400" b="0"/>
              <a:pPr eaLnBrk="1" hangingPunct="1"/>
              <a:t>149</a:t>
            </a:fld>
            <a:endParaRPr lang="en-US" altLang="zh-CN" sz="1400" b="0"/>
          </a:p>
        </p:txBody>
      </p:sp>
      <p:grpSp>
        <p:nvGrpSpPr>
          <p:cNvPr id="162819" name="Group 2"/>
          <p:cNvGrpSpPr>
            <a:grpSpLocks/>
          </p:cNvGrpSpPr>
          <p:nvPr/>
        </p:nvGrpSpPr>
        <p:grpSpPr bwMode="auto">
          <a:xfrm>
            <a:off x="179388" y="1752600"/>
            <a:ext cx="8785225" cy="4340225"/>
            <a:chOff x="113" y="1104"/>
            <a:chExt cx="5534" cy="2734"/>
          </a:xfrm>
        </p:grpSpPr>
        <p:sp>
          <p:nvSpPr>
            <p:cNvPr id="162821" name="Rectangle 3"/>
            <p:cNvSpPr>
              <a:spLocks noChangeArrowheads="1"/>
            </p:cNvSpPr>
            <p:nvPr/>
          </p:nvSpPr>
          <p:spPr bwMode="auto">
            <a:xfrm>
              <a:off x="113" y="1104"/>
              <a:ext cx="5534" cy="2734"/>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2800">
                  <a:latin typeface="宋体" panose="02010600030101010101" pitchFamily="2" charset="-122"/>
                </a:rPr>
                <a:t>1)</a:t>
              </a:r>
              <a:r>
                <a:rPr lang="zh-CN" altLang="en-US" sz="2800">
                  <a:latin typeface="宋体" panose="02010600030101010101" pitchFamily="2" charset="-122"/>
                </a:rPr>
                <a:t>置</a:t>
              </a:r>
              <a:r>
                <a:rPr lang="en-US" altLang="zh-CN" sz="2800">
                  <a:latin typeface="宋体" panose="02010600030101010101" pitchFamily="2" charset="-122"/>
                </a:rPr>
                <a:t>IPTR</a:t>
              </a:r>
              <a:r>
                <a:rPr lang="zh-CN" altLang="en-US" sz="2800">
                  <a:latin typeface="宋体" panose="02010600030101010101" pitchFamily="2" charset="-122"/>
                </a:rPr>
                <a:t>＝</a:t>
              </a:r>
              <a:r>
                <a:rPr lang="en-US" altLang="zh-CN" sz="2800">
                  <a:latin typeface="宋体" panose="02010600030101010101" pitchFamily="2" charset="-122"/>
                </a:rPr>
                <a:t>1FFh</a:t>
              </a:r>
              <a:r>
                <a:rPr lang="zh-CN" altLang="en-US" sz="2800">
                  <a:latin typeface="宋体" panose="02010600030101010101" pitchFamily="2" charset="-122"/>
                </a:rPr>
                <a:t>。 </a:t>
              </a:r>
              <a:r>
                <a:rPr lang="zh-CN" altLang="en-US">
                  <a:solidFill>
                    <a:srgbClr val="FF0000"/>
                  </a:solidFill>
                </a:rPr>
                <a:t>（</a:t>
              </a:r>
              <a:r>
                <a:rPr lang="en-US" altLang="zh-CN">
                  <a:solidFill>
                    <a:srgbClr val="FF0000"/>
                  </a:solidFill>
                </a:rPr>
                <a:t>PMST</a:t>
              </a:r>
              <a:r>
                <a:rPr lang="zh-CN" altLang="en-US">
                  <a:solidFill>
                    <a:srgbClr val="FF0000"/>
                  </a:solidFill>
                </a:rPr>
                <a:t>）</a:t>
              </a:r>
              <a:r>
                <a:rPr lang="zh-CN" altLang="en-US"/>
                <a:t> </a:t>
              </a:r>
              <a:endParaRPr lang="zh-CN" altLang="en-US" sz="2800">
                <a:latin typeface="Arial" panose="020B0604020202020204" pitchFamily="34" charset="0"/>
                <a:cs typeface="Arial" panose="020B0604020202020204" pitchFamily="34" charset="0"/>
              </a:endParaRPr>
            </a:p>
            <a:p>
              <a:pPr algn="just" eaLnBrk="1" hangingPunct="1">
                <a:lnSpc>
                  <a:spcPct val="90000"/>
                </a:lnSpc>
                <a:spcBef>
                  <a:spcPct val="20000"/>
                </a:spcBef>
              </a:pPr>
              <a:r>
                <a:rPr lang="en-US" altLang="zh-CN" sz="2800">
                  <a:latin typeface="宋体" panose="02010600030101010101" pitchFamily="2" charset="-122"/>
                </a:rPr>
                <a:t>2)</a:t>
              </a:r>
              <a:r>
                <a:rPr lang="zh-CN" altLang="en-US" sz="2800">
                  <a:latin typeface="宋体" panose="02010600030101010101" pitchFamily="2" charset="-122"/>
                </a:rPr>
                <a:t>置</a:t>
              </a:r>
              <a:r>
                <a:rPr lang="en-US" altLang="zh-CN" sz="2800">
                  <a:latin typeface="宋体" panose="02010600030101010101" pitchFamily="2" charset="-122"/>
                </a:rPr>
                <a:t>MP/MC</a:t>
              </a:r>
              <a:r>
                <a:rPr lang="zh-CN" altLang="en-US" sz="2800">
                  <a:latin typeface="宋体" panose="02010600030101010101" pitchFamily="2" charset="-122"/>
                </a:rPr>
                <a:t>位为引脚</a:t>
              </a:r>
              <a:r>
                <a:rPr lang="en-US" altLang="zh-CN" sz="2800">
                  <a:latin typeface="宋体" panose="02010600030101010101" pitchFamily="2" charset="-122"/>
                </a:rPr>
                <a:t>MP/MC</a:t>
              </a:r>
              <a:r>
                <a:rPr lang="zh-CN" altLang="en-US" sz="2800">
                  <a:latin typeface="宋体" panose="02010600030101010101" pitchFamily="2" charset="-122"/>
                </a:rPr>
                <a:t>电平。</a:t>
              </a:r>
              <a:endParaRPr lang="zh-CN" altLang="en-US" sz="2800">
                <a:latin typeface="Arial" panose="020B0604020202020204" pitchFamily="34" charset="0"/>
                <a:cs typeface="Arial" panose="020B0604020202020204" pitchFamily="34" charset="0"/>
              </a:endParaRPr>
            </a:p>
            <a:p>
              <a:pPr algn="just" eaLnBrk="1" hangingPunct="1">
                <a:lnSpc>
                  <a:spcPct val="90000"/>
                </a:lnSpc>
                <a:spcBef>
                  <a:spcPct val="20000"/>
                </a:spcBef>
              </a:pPr>
              <a:r>
                <a:rPr lang="en-US" altLang="zh-CN" sz="2800">
                  <a:latin typeface="宋体" panose="02010600030101010101" pitchFamily="2" charset="-122"/>
                </a:rPr>
                <a:t>3)</a:t>
              </a:r>
              <a:r>
                <a:rPr lang="zh-CN" altLang="en-US" sz="2800">
                  <a:latin typeface="宋体" panose="02010600030101010101" pitchFamily="2" charset="-122"/>
                </a:rPr>
                <a:t>置</a:t>
              </a:r>
              <a:r>
                <a:rPr lang="en-US" altLang="zh-CN" sz="2800">
                  <a:latin typeface="宋体" panose="02010600030101010101" pitchFamily="2" charset="-122"/>
                </a:rPr>
                <a:t>PC</a:t>
              </a:r>
              <a:r>
                <a:rPr lang="zh-CN" altLang="en-US" sz="2800">
                  <a:latin typeface="宋体" panose="02010600030101010101" pitchFamily="2" charset="-122"/>
                </a:rPr>
                <a:t>＝</a:t>
              </a:r>
              <a:r>
                <a:rPr lang="en-US" altLang="zh-CN" sz="2800">
                  <a:latin typeface="宋体" panose="02010600030101010101" pitchFamily="2" charset="-122"/>
                </a:rPr>
                <a:t>FF80h</a:t>
              </a:r>
              <a:endParaRPr lang="en-US" altLang="zh-CN" sz="2800">
                <a:latin typeface="Arial" panose="020B0604020202020204" pitchFamily="34" charset="0"/>
                <a:cs typeface="Arial" panose="020B0604020202020204" pitchFamily="34" charset="0"/>
              </a:endParaRPr>
            </a:p>
            <a:p>
              <a:pPr algn="just" eaLnBrk="1" hangingPunct="1">
                <a:lnSpc>
                  <a:spcPct val="90000"/>
                </a:lnSpc>
                <a:spcBef>
                  <a:spcPct val="20000"/>
                </a:spcBef>
              </a:pPr>
              <a:r>
                <a:rPr lang="en-US" altLang="zh-CN" sz="2800">
                  <a:latin typeface="宋体" panose="02010600030101010101" pitchFamily="2" charset="-122"/>
                </a:rPr>
                <a:t>4)</a:t>
              </a:r>
              <a:r>
                <a:rPr lang="zh-CN" altLang="en-US" sz="2800">
                  <a:latin typeface="宋体" panose="02010600030101010101" pitchFamily="2" charset="-122"/>
                </a:rPr>
                <a:t>将</a:t>
              </a:r>
              <a:r>
                <a:rPr lang="en-US" altLang="zh-CN" sz="2800">
                  <a:latin typeface="宋体" panose="02010600030101010101" pitchFamily="2" charset="-122"/>
                </a:rPr>
                <a:t>FF80h</a:t>
              </a:r>
              <a:r>
                <a:rPr lang="zh-CN" altLang="en-US" sz="2800">
                  <a:latin typeface="宋体" panose="02010600030101010101" pitchFamily="2" charset="-122"/>
                </a:rPr>
                <a:t>加到</a:t>
              </a:r>
              <a:r>
                <a:rPr lang="en-US" altLang="zh-CN" sz="2800">
                  <a:latin typeface="宋体" panose="02010600030101010101" pitchFamily="2" charset="-122"/>
                </a:rPr>
                <a:t>PA</a:t>
              </a:r>
              <a:r>
                <a:rPr lang="zh-CN" altLang="en-US" sz="2800">
                  <a:latin typeface="宋体" panose="02010600030101010101" pitchFamily="2" charset="-122"/>
                </a:rPr>
                <a:t>。</a:t>
              </a:r>
              <a:endParaRPr lang="zh-CN" altLang="en-US" sz="2800">
                <a:latin typeface="Arial" panose="020B0604020202020204" pitchFamily="34" charset="0"/>
                <a:cs typeface="Arial" panose="020B0604020202020204" pitchFamily="34" charset="0"/>
              </a:endParaRPr>
            </a:p>
            <a:p>
              <a:pPr algn="just" eaLnBrk="1" hangingPunct="1">
                <a:lnSpc>
                  <a:spcPct val="90000"/>
                </a:lnSpc>
                <a:spcBef>
                  <a:spcPct val="20000"/>
                </a:spcBef>
              </a:pPr>
              <a:r>
                <a:rPr lang="en-US" altLang="zh-CN" sz="2800">
                  <a:latin typeface="宋体" panose="02010600030101010101" pitchFamily="2" charset="-122"/>
                </a:rPr>
                <a:t>5)</a:t>
              </a:r>
              <a:r>
                <a:rPr lang="zh-CN" altLang="en-US" sz="2800">
                  <a:latin typeface="宋体" panose="02010600030101010101" pitchFamily="2" charset="-122"/>
                </a:rPr>
                <a:t>置数据总线为高阻、控制线为无效状态。</a:t>
              </a:r>
              <a:endParaRPr lang="zh-CN" altLang="en-US" sz="2800">
                <a:latin typeface="Arial" panose="020B0604020202020204" pitchFamily="34" charset="0"/>
                <a:cs typeface="Arial" panose="020B0604020202020204" pitchFamily="34" charset="0"/>
              </a:endParaRPr>
            </a:p>
            <a:p>
              <a:pPr algn="just" eaLnBrk="1" hangingPunct="1">
                <a:lnSpc>
                  <a:spcPct val="90000"/>
                </a:lnSpc>
                <a:spcBef>
                  <a:spcPct val="20000"/>
                </a:spcBef>
              </a:pPr>
              <a:r>
                <a:rPr lang="en-US" altLang="zh-CN" sz="2800">
                  <a:latin typeface="宋体" panose="02010600030101010101" pitchFamily="2" charset="-122"/>
                </a:rPr>
                <a:t>6)</a:t>
              </a:r>
              <a:r>
                <a:rPr lang="zh-CN" altLang="en-US" sz="2800">
                  <a:latin typeface="宋体" panose="02010600030101010101" pitchFamily="2" charset="-122"/>
                </a:rPr>
                <a:t>产生中断响应信号</a:t>
              </a:r>
              <a:r>
                <a:rPr lang="en-US" altLang="zh-CN" sz="2800">
                  <a:latin typeface="宋体" panose="02010600030101010101" pitchFamily="2" charset="-122"/>
                </a:rPr>
                <a:t>IACK</a:t>
              </a:r>
              <a:r>
                <a:rPr lang="zh-CN" altLang="en-US" sz="2800">
                  <a:latin typeface="宋体" panose="02010600030101010101" pitchFamily="2" charset="-122"/>
                </a:rPr>
                <a:t>。</a:t>
              </a:r>
              <a:endParaRPr lang="zh-CN" altLang="en-US" sz="2800">
                <a:latin typeface="Arial" panose="020B0604020202020204" pitchFamily="34" charset="0"/>
                <a:cs typeface="Arial" panose="020B0604020202020204" pitchFamily="34" charset="0"/>
              </a:endParaRPr>
            </a:p>
            <a:p>
              <a:pPr algn="just" eaLnBrk="1" hangingPunct="1">
                <a:lnSpc>
                  <a:spcPct val="90000"/>
                </a:lnSpc>
                <a:spcBef>
                  <a:spcPct val="20000"/>
                </a:spcBef>
              </a:pPr>
              <a:r>
                <a:rPr lang="en-US" altLang="zh-CN" sz="2800">
                  <a:latin typeface="宋体" panose="02010600030101010101" pitchFamily="2" charset="-122"/>
                </a:rPr>
                <a:t>7)</a:t>
              </a:r>
              <a:r>
                <a:rPr lang="zh-CN" altLang="en-US" sz="2800">
                  <a:latin typeface="宋体" panose="02010600030101010101" pitchFamily="2" charset="-122"/>
                </a:rPr>
                <a:t>置</a:t>
              </a:r>
              <a:r>
                <a:rPr lang="en-US" altLang="zh-CN" sz="2800">
                  <a:latin typeface="宋体" panose="02010600030101010101" pitchFamily="2" charset="-122"/>
                </a:rPr>
                <a:t>ST1</a:t>
              </a:r>
              <a:r>
                <a:rPr lang="zh-CN" altLang="en-US" sz="2800">
                  <a:latin typeface="宋体" panose="02010600030101010101" pitchFamily="2" charset="-122"/>
                </a:rPr>
                <a:t>的</a:t>
              </a:r>
              <a:r>
                <a:rPr lang="en-US" altLang="zh-CN" sz="2800">
                  <a:latin typeface="宋体" panose="02010600030101010101" pitchFamily="2" charset="-122"/>
                </a:rPr>
                <a:t>INTM</a:t>
              </a:r>
              <a:r>
                <a:rPr lang="zh-CN" altLang="en-US" sz="2800">
                  <a:latin typeface="宋体" panose="02010600030101010101" pitchFamily="2" charset="-122"/>
                </a:rPr>
                <a:t>＝</a:t>
              </a:r>
              <a:r>
                <a:rPr lang="en-US" altLang="zh-CN" sz="2800">
                  <a:latin typeface="宋体" panose="02010600030101010101" pitchFamily="2" charset="-122"/>
                </a:rPr>
                <a:t>1</a:t>
              </a:r>
              <a:r>
                <a:rPr lang="zh-CN" altLang="en-US" sz="2800">
                  <a:latin typeface="宋体" panose="02010600030101010101" pitchFamily="2" charset="-122"/>
                </a:rPr>
                <a:t>，关闭所有的可屏蔽中断。</a:t>
              </a:r>
              <a:endParaRPr lang="zh-CN" altLang="en-US" sz="2800">
                <a:latin typeface="Arial" panose="020B0604020202020204" pitchFamily="34" charset="0"/>
                <a:cs typeface="Arial" panose="020B0604020202020204" pitchFamily="34" charset="0"/>
              </a:endParaRPr>
            </a:p>
            <a:p>
              <a:pPr algn="just" eaLnBrk="1" hangingPunct="1">
                <a:lnSpc>
                  <a:spcPct val="90000"/>
                </a:lnSpc>
                <a:spcBef>
                  <a:spcPct val="20000"/>
                </a:spcBef>
              </a:pPr>
              <a:r>
                <a:rPr lang="en-US" altLang="zh-CN" sz="2800">
                  <a:latin typeface="宋体" panose="02010600030101010101" pitchFamily="2" charset="-122"/>
                </a:rPr>
                <a:t>8)IFR</a:t>
              </a:r>
              <a:r>
                <a:rPr lang="zh-CN" altLang="en-US" sz="2800">
                  <a:latin typeface="宋体" panose="02010600030101010101" pitchFamily="2" charset="-122"/>
                </a:rPr>
                <a:t>清</a:t>
              </a:r>
              <a:r>
                <a:rPr lang="en-US" altLang="zh-CN" sz="2800">
                  <a:latin typeface="宋体" panose="02010600030101010101" pitchFamily="2" charset="-122"/>
                </a:rPr>
                <a:t>0</a:t>
              </a:r>
              <a:r>
                <a:rPr lang="zh-CN" altLang="en-US" sz="2800">
                  <a:latin typeface="宋体" panose="02010600030101010101" pitchFamily="2" charset="-122"/>
                </a:rPr>
                <a:t>。</a:t>
              </a:r>
              <a:endParaRPr lang="zh-CN" altLang="en-US" sz="2800">
                <a:latin typeface="Arial" panose="020B0604020202020204" pitchFamily="34" charset="0"/>
                <a:cs typeface="Arial" panose="020B0604020202020204" pitchFamily="34" charset="0"/>
              </a:endParaRPr>
            </a:p>
            <a:p>
              <a:pPr algn="just" eaLnBrk="1" hangingPunct="1">
                <a:lnSpc>
                  <a:spcPct val="90000"/>
                </a:lnSpc>
                <a:spcBef>
                  <a:spcPct val="20000"/>
                </a:spcBef>
              </a:pPr>
              <a:r>
                <a:rPr lang="en-US" altLang="zh-CN" sz="2800">
                  <a:latin typeface="宋体" panose="02010600030101010101" pitchFamily="2" charset="-122"/>
                </a:rPr>
                <a:t>9)</a:t>
              </a:r>
              <a:r>
                <a:rPr lang="zh-CN" altLang="en-US" sz="2800">
                  <a:latin typeface="宋体" panose="02010600030101010101" pitchFamily="2" charset="-122"/>
                </a:rPr>
                <a:t>将相应状态位置成初始值。</a:t>
              </a:r>
            </a:p>
          </p:txBody>
        </p:sp>
        <p:sp>
          <p:nvSpPr>
            <p:cNvPr id="162822" name="Line 4"/>
            <p:cNvSpPr>
              <a:spLocks noChangeShapeType="1"/>
            </p:cNvSpPr>
            <p:nvPr/>
          </p:nvSpPr>
          <p:spPr bwMode="auto">
            <a:xfrm>
              <a:off x="1010" y="1449"/>
              <a:ext cx="25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2823" name="Line 5"/>
            <p:cNvSpPr>
              <a:spLocks noChangeShapeType="1"/>
            </p:cNvSpPr>
            <p:nvPr/>
          </p:nvSpPr>
          <p:spPr bwMode="auto">
            <a:xfrm>
              <a:off x="2426" y="1434"/>
              <a:ext cx="249"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2824" name="Line 6"/>
            <p:cNvSpPr>
              <a:spLocks noChangeShapeType="1"/>
            </p:cNvSpPr>
            <p:nvPr/>
          </p:nvSpPr>
          <p:spPr bwMode="auto">
            <a:xfrm>
              <a:off x="2245" y="2614"/>
              <a:ext cx="44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661511" name="Rectangle 7"/>
          <p:cNvSpPr>
            <a:spLocks noChangeArrowheads="1"/>
          </p:cNvSpPr>
          <p:nvPr/>
        </p:nvSpPr>
        <p:spPr bwMode="auto">
          <a:xfrm>
            <a:off x="1371600" y="914400"/>
            <a:ext cx="6248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4400">
                <a:solidFill>
                  <a:srgbClr val="FF0000"/>
                </a:solidFill>
                <a:latin typeface="宋体" panose="02010600030101010101" pitchFamily="2" charset="-122"/>
              </a:rPr>
              <a:t>处理器复位操作包括</a:t>
            </a:r>
            <a:endParaRPr lang="zh-CN" altLang="en-US" sz="4400">
              <a:solidFill>
                <a:srgbClr val="FF0000"/>
              </a:solidFill>
              <a:latin typeface="Arial" panose="020B0604020202020204" pitchFamily="34" charset="0"/>
              <a:cs typeface="Arial" panose="020B0604020202020204" pitchFamily="34" charset="0"/>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61511"/>
                                        </p:tgtEl>
                                        <p:attrNameLst>
                                          <p:attrName>style.visibility</p:attrName>
                                        </p:attrNameLst>
                                      </p:cBhvr>
                                      <p:to>
                                        <p:strVal val="visible"/>
                                      </p:to>
                                    </p:set>
                                    <p:anim calcmode="lin" valueType="num">
                                      <p:cBhvr additive="base">
                                        <p:cTn id="7" dur="500" fill="hold"/>
                                        <p:tgtEl>
                                          <p:spTgt spid="661511"/>
                                        </p:tgtEl>
                                        <p:attrNameLst>
                                          <p:attrName>ppt_x</p:attrName>
                                        </p:attrNameLst>
                                      </p:cBhvr>
                                      <p:tavLst>
                                        <p:tav tm="0">
                                          <p:val>
                                            <p:strVal val="0-#ppt_w/2"/>
                                          </p:val>
                                        </p:tav>
                                        <p:tav tm="100000">
                                          <p:val>
                                            <p:strVal val="#ppt_x"/>
                                          </p:val>
                                        </p:tav>
                                      </p:tavLst>
                                    </p:anim>
                                    <p:anim calcmode="lin" valueType="num">
                                      <p:cBhvr additive="base">
                                        <p:cTn id="8" dur="500" fill="hold"/>
                                        <p:tgtEl>
                                          <p:spTgt spid="6615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11" grpId="0"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521BC6D-FB83-4C4D-8DCF-68E78629F3E2}" type="slidenum">
              <a:rPr lang="en-US" altLang="zh-CN" sz="1400" b="0"/>
              <a:pPr eaLnBrk="1" hangingPunct="1"/>
              <a:t>150</a:t>
            </a:fld>
            <a:endParaRPr lang="en-US" altLang="zh-CN" sz="1400" b="0"/>
          </a:p>
        </p:txBody>
      </p:sp>
      <p:sp>
        <p:nvSpPr>
          <p:cNvPr id="662530" name="Rectangle 2"/>
          <p:cNvSpPr>
            <a:spLocks noChangeArrowheads="1"/>
          </p:cNvSpPr>
          <p:nvPr/>
        </p:nvSpPr>
        <p:spPr bwMode="auto">
          <a:xfrm>
            <a:off x="1905000" y="990600"/>
            <a:ext cx="5410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solidFill>
                  <a:srgbClr val="FF0000"/>
                </a:solidFill>
                <a:ea typeface="仿宋_GB2312" pitchFamily="49" charset="-122"/>
              </a:rPr>
              <a:t>2</a:t>
            </a:r>
            <a:r>
              <a:rPr lang="zh-CN" altLang="en-US" sz="3600">
                <a:solidFill>
                  <a:srgbClr val="FF0000"/>
                </a:solidFill>
                <a:ea typeface="仿宋_GB2312" pitchFamily="49" charset="-122"/>
              </a:rPr>
              <a:t>．外部总线复位时序图 </a:t>
            </a:r>
            <a:endParaRPr lang="zh-CN" altLang="en-US" sz="3600">
              <a:solidFill>
                <a:srgbClr val="FF0000"/>
              </a:solidFill>
            </a:endParaRPr>
          </a:p>
        </p:txBody>
      </p:sp>
      <p:graphicFrame>
        <p:nvGraphicFramePr>
          <p:cNvPr id="662531" name="Object 3"/>
          <p:cNvGraphicFramePr>
            <a:graphicFrameLocks noChangeAspect="1"/>
          </p:cNvGraphicFramePr>
          <p:nvPr/>
        </p:nvGraphicFramePr>
        <p:xfrm>
          <a:off x="1943100" y="1773238"/>
          <a:ext cx="6019800" cy="4233862"/>
        </p:xfrm>
        <a:graphic>
          <a:graphicData uri="http://schemas.openxmlformats.org/presentationml/2006/ole">
            <mc:AlternateContent xmlns:mc="http://schemas.openxmlformats.org/markup-compatibility/2006">
              <mc:Choice xmlns:v="urn:schemas-microsoft-com:vml" Requires="v">
                <p:oleObj spid="_x0000_s4132" name="BMP 图像" r:id="rId3" imgW="3933333" imgH="2152951" progId="PBrush">
                  <p:embed/>
                </p:oleObj>
              </mc:Choice>
              <mc:Fallback>
                <p:oleObj name="BMP 图像" r:id="rId3" imgW="3933333" imgH="2152951" progId="PBrush">
                  <p:embed/>
                  <p:pic>
                    <p:nvPicPr>
                      <p:cNvPr id="0"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1773238"/>
                        <a:ext cx="6019800" cy="4233862"/>
                      </a:xfrm>
                      <a:prstGeom prst="rect">
                        <a:avLst/>
                      </a:prstGeom>
                      <a:noFill/>
                      <a:ln w="57150">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2532" name="Rectangle 4" descr="5%"/>
          <p:cNvSpPr>
            <a:spLocks noChangeArrowheads="1"/>
          </p:cNvSpPr>
          <p:nvPr/>
        </p:nvSpPr>
        <p:spPr bwMode="auto">
          <a:xfrm>
            <a:off x="381000" y="2057400"/>
            <a:ext cx="769938" cy="2914650"/>
          </a:xfrm>
          <a:prstGeom prst="rect">
            <a:avLst/>
          </a:prstGeom>
          <a:pattFill prst="pct5">
            <a:fgClr>
              <a:schemeClr val="bg1"/>
            </a:fgClr>
            <a:bgClr>
              <a:srgbClr val="FFFFFF"/>
            </a:bgClr>
          </a:pattFill>
          <a:ln w="76200">
            <a:solidFill>
              <a:srgbClr val="339933"/>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复位两</a:t>
            </a:r>
          </a:p>
          <a:p>
            <a:pPr algn="ctr" eaLnBrk="1" hangingPunct="1"/>
            <a:r>
              <a:rPr lang="zh-CN" altLang="en-US" sz="3600">
                <a:solidFill>
                  <a:srgbClr val="FF0000"/>
                </a:solidFill>
                <a:latin typeface="宋体" panose="02010600030101010101" pitchFamily="2" charset="-122"/>
              </a:rPr>
              <a:t>阶段</a:t>
            </a:r>
          </a:p>
        </p:txBody>
      </p:sp>
      <p:sp>
        <p:nvSpPr>
          <p:cNvPr id="662533" name="Rectangle 5" descr="小棋盘"/>
          <p:cNvSpPr>
            <a:spLocks noChangeArrowheads="1"/>
          </p:cNvSpPr>
          <p:nvPr/>
        </p:nvSpPr>
        <p:spPr bwMode="auto">
          <a:xfrm>
            <a:off x="2916238" y="5984875"/>
            <a:ext cx="2125662" cy="528638"/>
          </a:xfrm>
          <a:prstGeom prst="rect">
            <a:avLst/>
          </a:prstGeom>
          <a:pattFill prst="smCheck">
            <a:fgClr>
              <a:schemeClr val="accent1"/>
            </a:fgClr>
            <a:bgClr>
              <a:srgbClr val="FFFFFF"/>
            </a:bgClr>
          </a:patt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a:solidFill>
                  <a:schemeClr val="folHlink"/>
                </a:solidFill>
                <a:latin typeface="宋体" panose="02010600030101010101" pitchFamily="2" charset="-122"/>
              </a:rPr>
              <a:t>低电平后</a:t>
            </a:r>
          </a:p>
        </p:txBody>
      </p:sp>
      <p:sp>
        <p:nvSpPr>
          <p:cNvPr id="662534" name="Rectangle 6" descr="小棋盘"/>
          <p:cNvSpPr>
            <a:spLocks noChangeArrowheads="1"/>
          </p:cNvSpPr>
          <p:nvPr/>
        </p:nvSpPr>
        <p:spPr bwMode="auto">
          <a:xfrm>
            <a:off x="5651500" y="6165850"/>
            <a:ext cx="2160588" cy="466725"/>
          </a:xfrm>
          <a:prstGeom prst="rect">
            <a:avLst/>
          </a:prstGeom>
          <a:pattFill prst="smCheck">
            <a:fgClr>
              <a:schemeClr val="accent1"/>
            </a:fgClr>
            <a:bgClr>
              <a:srgbClr val="FFFFFF"/>
            </a:bgClr>
          </a:patt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a:solidFill>
                  <a:schemeClr val="tx2"/>
                </a:solidFill>
                <a:latin typeface="宋体" panose="02010600030101010101" pitchFamily="2" charset="-122"/>
              </a:rPr>
              <a:t>高电平后</a:t>
            </a:r>
          </a:p>
        </p:txBody>
      </p:sp>
      <p:sp>
        <p:nvSpPr>
          <p:cNvPr id="4104" name="AutoShape 7"/>
          <p:cNvSpPr>
            <a:spLocks/>
          </p:cNvSpPr>
          <p:nvPr/>
        </p:nvSpPr>
        <p:spPr bwMode="auto">
          <a:xfrm rot="-5400000">
            <a:off x="3869532" y="4995068"/>
            <a:ext cx="215900" cy="1547813"/>
          </a:xfrm>
          <a:prstGeom prst="leftBrace">
            <a:avLst>
              <a:gd name="adj1" fmla="val 59743"/>
              <a:gd name="adj2" fmla="val 50000"/>
            </a:avLst>
          </a:prstGeom>
          <a:noFill/>
          <a:ln w="19050">
            <a:solidFill>
              <a:srgbClr val="9900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105" name="AutoShape 8"/>
          <p:cNvSpPr>
            <a:spLocks/>
          </p:cNvSpPr>
          <p:nvPr/>
        </p:nvSpPr>
        <p:spPr bwMode="auto">
          <a:xfrm rot="-5400000">
            <a:off x="6606382" y="5176043"/>
            <a:ext cx="215900" cy="1547813"/>
          </a:xfrm>
          <a:prstGeom prst="leftBrace">
            <a:avLst>
              <a:gd name="adj1" fmla="val 59743"/>
              <a:gd name="adj2" fmla="val 50000"/>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106" name="Line 9"/>
          <p:cNvSpPr>
            <a:spLocks noChangeShapeType="1"/>
          </p:cNvSpPr>
          <p:nvPr/>
        </p:nvSpPr>
        <p:spPr bwMode="auto">
          <a:xfrm>
            <a:off x="3095625" y="2241550"/>
            <a:ext cx="863600" cy="3382963"/>
          </a:xfrm>
          <a:prstGeom prst="line">
            <a:avLst/>
          </a:prstGeom>
          <a:noFill/>
          <a:ln w="38100">
            <a:solidFill>
              <a:srgbClr val="9900CC"/>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07" name="Line 10"/>
          <p:cNvSpPr>
            <a:spLocks noChangeShapeType="1"/>
          </p:cNvSpPr>
          <p:nvPr/>
        </p:nvSpPr>
        <p:spPr bwMode="auto">
          <a:xfrm>
            <a:off x="3995738" y="2241550"/>
            <a:ext cx="2628900" cy="3563938"/>
          </a:xfrm>
          <a:prstGeom prst="line">
            <a:avLst/>
          </a:prstGeom>
          <a:noFill/>
          <a:ln w="3810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08" name="Line 11"/>
          <p:cNvSpPr>
            <a:spLocks noChangeShapeType="1"/>
          </p:cNvSpPr>
          <p:nvPr/>
        </p:nvSpPr>
        <p:spPr bwMode="auto">
          <a:xfrm>
            <a:off x="4032250" y="2133600"/>
            <a:ext cx="1079500" cy="827088"/>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662530"/>
                                        </p:tgtEl>
                                        <p:attrNameLst>
                                          <p:attrName>style.visibility</p:attrName>
                                        </p:attrNameLst>
                                      </p:cBhvr>
                                      <p:to>
                                        <p:strVal val="visible"/>
                                      </p:to>
                                    </p:set>
                                    <p:anim calcmode="lin" valueType="num">
                                      <p:cBhvr>
                                        <p:cTn id="7" dur="1000" fill="hold"/>
                                        <p:tgtEl>
                                          <p:spTgt spid="662530"/>
                                        </p:tgtEl>
                                        <p:attrNameLst>
                                          <p:attrName>ppt_w</p:attrName>
                                        </p:attrNameLst>
                                      </p:cBhvr>
                                      <p:tavLst>
                                        <p:tav tm="0">
                                          <p:val>
                                            <p:fltVal val="0"/>
                                          </p:val>
                                        </p:tav>
                                        <p:tav tm="100000">
                                          <p:val>
                                            <p:strVal val="#ppt_w"/>
                                          </p:val>
                                        </p:tav>
                                      </p:tavLst>
                                    </p:anim>
                                    <p:anim calcmode="lin" valueType="num">
                                      <p:cBhvr>
                                        <p:cTn id="8" dur="1000" fill="hold"/>
                                        <p:tgtEl>
                                          <p:spTgt spid="662530"/>
                                        </p:tgtEl>
                                        <p:attrNameLst>
                                          <p:attrName>ppt_h</p:attrName>
                                        </p:attrNameLst>
                                      </p:cBhvr>
                                      <p:tavLst>
                                        <p:tav tm="0">
                                          <p:val>
                                            <p:fltVal val="0"/>
                                          </p:val>
                                        </p:tav>
                                        <p:tav tm="100000">
                                          <p:val>
                                            <p:strVal val="#ppt_h"/>
                                          </p:val>
                                        </p:tav>
                                      </p:tavLst>
                                    </p:anim>
                                    <p:anim calcmode="lin" valueType="num">
                                      <p:cBhvr>
                                        <p:cTn id="9" dur="1000" fill="hold"/>
                                        <p:tgtEl>
                                          <p:spTgt spid="66253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62530"/>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2" presetClass="entr" presetSubtype="2" fill="hold" grpId="0" nodeType="afterEffect">
                                  <p:stCondLst>
                                    <p:cond delay="0"/>
                                  </p:stCondLst>
                                  <p:childTnLst>
                                    <p:set>
                                      <p:cBhvr>
                                        <p:cTn id="13" dur="1" fill="hold">
                                          <p:stCondLst>
                                            <p:cond delay="0"/>
                                          </p:stCondLst>
                                        </p:cTn>
                                        <p:tgtEl>
                                          <p:spTgt spid="662532"/>
                                        </p:tgtEl>
                                        <p:attrNameLst>
                                          <p:attrName>style.visibility</p:attrName>
                                        </p:attrNameLst>
                                      </p:cBhvr>
                                      <p:to>
                                        <p:strVal val="visible"/>
                                      </p:to>
                                    </p:set>
                                    <p:anim calcmode="lin" valueType="num">
                                      <p:cBhvr additive="base">
                                        <p:cTn id="14" dur="500" fill="hold"/>
                                        <p:tgtEl>
                                          <p:spTgt spid="662532"/>
                                        </p:tgtEl>
                                        <p:attrNameLst>
                                          <p:attrName>ppt_x</p:attrName>
                                        </p:attrNameLst>
                                      </p:cBhvr>
                                      <p:tavLst>
                                        <p:tav tm="0">
                                          <p:val>
                                            <p:strVal val="1+#ppt_w/2"/>
                                          </p:val>
                                        </p:tav>
                                        <p:tav tm="100000">
                                          <p:val>
                                            <p:strVal val="#ppt_x"/>
                                          </p:val>
                                        </p:tav>
                                      </p:tavLst>
                                    </p:anim>
                                    <p:anim calcmode="lin" valueType="num">
                                      <p:cBhvr additive="base">
                                        <p:cTn id="15" dur="500" fill="hold"/>
                                        <p:tgtEl>
                                          <p:spTgt spid="662532"/>
                                        </p:tgtEl>
                                        <p:attrNameLst>
                                          <p:attrName>ppt_y</p:attrName>
                                        </p:attrNameLst>
                                      </p:cBhvr>
                                      <p:tavLst>
                                        <p:tav tm="0">
                                          <p:val>
                                            <p:strVal val="#ppt_y"/>
                                          </p:val>
                                        </p:tav>
                                        <p:tav tm="100000">
                                          <p:val>
                                            <p:strVal val="#ppt_y"/>
                                          </p:val>
                                        </p:tav>
                                      </p:tavLst>
                                    </p:anim>
                                  </p:childTnLst>
                                </p:cTn>
                              </p:par>
                            </p:childTnLst>
                          </p:cTn>
                        </p:par>
                        <p:par>
                          <p:cTn id="16" fill="hold" nodeType="afterGroup">
                            <p:stCondLst>
                              <p:cond delay="1500"/>
                            </p:stCondLst>
                            <p:childTnLst>
                              <p:par>
                                <p:cTn id="17" presetID="12" presetClass="entr" presetSubtype="8" fill="hold" grpId="0" nodeType="afterEffect">
                                  <p:stCondLst>
                                    <p:cond delay="0"/>
                                  </p:stCondLst>
                                  <p:childTnLst>
                                    <p:set>
                                      <p:cBhvr>
                                        <p:cTn id="18" dur="1" fill="hold">
                                          <p:stCondLst>
                                            <p:cond delay="0"/>
                                          </p:stCondLst>
                                        </p:cTn>
                                        <p:tgtEl>
                                          <p:spTgt spid="662533"/>
                                        </p:tgtEl>
                                        <p:attrNameLst>
                                          <p:attrName>style.visibility</p:attrName>
                                        </p:attrNameLst>
                                      </p:cBhvr>
                                      <p:to>
                                        <p:strVal val="visible"/>
                                      </p:to>
                                    </p:set>
                                    <p:animEffect transition="in" filter="slide(fromLeft)">
                                      <p:cBhvr>
                                        <p:cTn id="19" dur="500"/>
                                        <p:tgtEl>
                                          <p:spTgt spid="662533"/>
                                        </p:tgtEl>
                                      </p:cBhvr>
                                    </p:animEffect>
                                  </p:childTnLst>
                                </p:cTn>
                              </p:par>
                            </p:childTnLst>
                          </p:cTn>
                        </p:par>
                        <p:par>
                          <p:cTn id="20" fill="hold" nodeType="afterGroup">
                            <p:stCondLst>
                              <p:cond delay="2000"/>
                            </p:stCondLst>
                            <p:childTnLst>
                              <p:par>
                                <p:cTn id="21" presetID="12" presetClass="entr" presetSubtype="2" fill="hold" grpId="0" nodeType="afterEffect">
                                  <p:stCondLst>
                                    <p:cond delay="0"/>
                                  </p:stCondLst>
                                  <p:childTnLst>
                                    <p:set>
                                      <p:cBhvr>
                                        <p:cTn id="22" dur="1" fill="hold">
                                          <p:stCondLst>
                                            <p:cond delay="0"/>
                                          </p:stCondLst>
                                        </p:cTn>
                                        <p:tgtEl>
                                          <p:spTgt spid="662534"/>
                                        </p:tgtEl>
                                        <p:attrNameLst>
                                          <p:attrName>style.visibility</p:attrName>
                                        </p:attrNameLst>
                                      </p:cBhvr>
                                      <p:to>
                                        <p:strVal val="visible"/>
                                      </p:to>
                                    </p:set>
                                    <p:animEffect transition="in" filter="slide(fromRight)">
                                      <p:cBhvr>
                                        <p:cTn id="23" dur="500"/>
                                        <p:tgtEl>
                                          <p:spTgt spid="662534"/>
                                        </p:tgtEl>
                                      </p:cBhvr>
                                    </p:animEffect>
                                  </p:childTnLst>
                                </p:cTn>
                              </p:par>
                            </p:childTnLst>
                          </p:cTn>
                        </p:par>
                        <p:par>
                          <p:cTn id="24" fill="hold" nodeType="afterGroup">
                            <p:stCondLst>
                              <p:cond delay="2500"/>
                            </p:stCondLst>
                            <p:childTnLst>
                              <p:par>
                                <p:cTn id="25" presetID="18" presetClass="entr" presetSubtype="6" fill="hold" nodeType="afterEffect">
                                  <p:stCondLst>
                                    <p:cond delay="0"/>
                                  </p:stCondLst>
                                  <p:childTnLst>
                                    <p:set>
                                      <p:cBhvr>
                                        <p:cTn id="26" dur="1" fill="hold">
                                          <p:stCondLst>
                                            <p:cond delay="0"/>
                                          </p:stCondLst>
                                        </p:cTn>
                                        <p:tgtEl>
                                          <p:spTgt spid="662531"/>
                                        </p:tgtEl>
                                        <p:attrNameLst>
                                          <p:attrName>style.visibility</p:attrName>
                                        </p:attrNameLst>
                                      </p:cBhvr>
                                      <p:to>
                                        <p:strVal val="visible"/>
                                      </p:to>
                                    </p:set>
                                    <p:animEffect transition="in" filter="strips(downRight)">
                                      <p:cBhvr>
                                        <p:cTn id="27" dur="500"/>
                                        <p:tgtEl>
                                          <p:spTgt spid="662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2530" grpId="0" autoUpdateAnimBg="0"/>
      <p:bldP spid="662532" grpId="0" animBg="1" autoUpdateAnimBg="0"/>
      <p:bldP spid="662533" grpId="0" animBg="1" autoUpdateAnimBg="0"/>
      <p:bldP spid="662534" grpId="0" animBg="1" autoUpdateAnimBg="0"/>
    </p:bldLst>
  </p:timing>
</p:sld>
</file>

<file path=ppt/slides/slide1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3554" name="Rectangle 2"/>
          <p:cNvSpPr>
            <a:spLocks noGrp="1" noChangeArrowheads="1"/>
          </p:cNvSpPr>
          <p:nvPr>
            <p:ph type="title"/>
          </p:nvPr>
        </p:nvSpPr>
        <p:spPr bwMode="auto">
          <a:xfrm>
            <a:off x="468313" y="908050"/>
            <a:ext cx="8229600" cy="6492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b="1">
                <a:solidFill>
                  <a:srgbClr val="FF0000"/>
                </a:solidFill>
                <a:ea typeface="仿宋_GB2312" pitchFamily="49" charset="-122"/>
              </a:rPr>
              <a:t>3</a:t>
            </a:r>
            <a:r>
              <a:rPr lang="zh-CN" altLang="en-US" sz="3600" b="1">
                <a:solidFill>
                  <a:srgbClr val="FF0000"/>
                </a:solidFill>
                <a:ea typeface="仿宋_GB2312" pitchFamily="49" charset="-122"/>
              </a:rPr>
              <a:t>．</a:t>
            </a:r>
            <a:r>
              <a:rPr lang="zh-CN" altLang="en-US" sz="3600" b="1">
                <a:solidFill>
                  <a:srgbClr val="FF0000"/>
                </a:solidFill>
                <a:latin typeface="宋体" panose="02010600030101010101" pitchFamily="2" charset="-122"/>
                <a:ea typeface="仿宋_GB2312" pitchFamily="49" charset="-122"/>
              </a:rPr>
              <a:t>“</a:t>
            </a:r>
            <a:r>
              <a:rPr lang="zh-CN" altLang="en-US" sz="3600" b="1">
                <a:solidFill>
                  <a:srgbClr val="FF0000"/>
                </a:solidFill>
                <a:ea typeface="仿宋_GB2312" pitchFamily="49" charset="-122"/>
              </a:rPr>
              <a:t>唤醒</a:t>
            </a:r>
            <a:r>
              <a:rPr lang="zh-CN" altLang="en-US" sz="3600" b="1">
                <a:solidFill>
                  <a:srgbClr val="FF0000"/>
                </a:solidFill>
                <a:latin typeface="宋体" panose="02010600030101010101" pitchFamily="2" charset="-122"/>
                <a:ea typeface="仿宋_GB2312" pitchFamily="49" charset="-122"/>
              </a:rPr>
              <a:t>”</a:t>
            </a:r>
            <a:r>
              <a:rPr lang="en-US" altLang="zh-CN" sz="3600" b="1">
                <a:solidFill>
                  <a:srgbClr val="FF0000"/>
                </a:solidFill>
                <a:ea typeface="仿宋_GB2312" pitchFamily="49" charset="-122"/>
              </a:rPr>
              <a:t>IDLE3</a:t>
            </a:r>
            <a:r>
              <a:rPr lang="zh-CN" altLang="en-US" sz="3600" b="1">
                <a:solidFill>
                  <a:srgbClr val="FF0000"/>
                </a:solidFill>
                <a:ea typeface="仿宋_GB2312" pitchFamily="49" charset="-122"/>
              </a:rPr>
              <a:t>省电方式</a:t>
            </a:r>
            <a:endParaRPr lang="zh-CN" altLang="en-US">
              <a:ea typeface="仿宋_GB2312" pitchFamily="49" charset="-122"/>
            </a:endParaRPr>
          </a:p>
        </p:txBody>
      </p:sp>
      <p:graphicFrame>
        <p:nvGraphicFramePr>
          <p:cNvPr id="663697" name="Group 145"/>
          <p:cNvGraphicFramePr>
            <a:graphicFrameLocks noGrp="1"/>
          </p:cNvGraphicFramePr>
          <p:nvPr>
            <p:ph type="tbl" idx="1"/>
          </p:nvPr>
        </p:nvGraphicFramePr>
        <p:xfrm>
          <a:off x="395288" y="1593850"/>
          <a:ext cx="8374062" cy="5090052"/>
        </p:xfrm>
        <a:graphic>
          <a:graphicData uri="http://schemas.openxmlformats.org/drawingml/2006/table">
            <a:tbl>
              <a:tblPr/>
              <a:tblGrid>
                <a:gridCol w="3736975">
                  <a:extLst>
                    <a:ext uri="{9D8B030D-6E8A-4147-A177-3AD203B41FA5}">
                      <a16:colId xmlns:a16="http://schemas.microsoft.com/office/drawing/2014/main" val="20000"/>
                    </a:ext>
                  </a:extLst>
                </a:gridCol>
                <a:gridCol w="1319212">
                  <a:extLst>
                    <a:ext uri="{9D8B030D-6E8A-4147-A177-3AD203B41FA5}">
                      <a16:colId xmlns:a16="http://schemas.microsoft.com/office/drawing/2014/main" val="20001"/>
                    </a:ext>
                  </a:extLst>
                </a:gridCol>
                <a:gridCol w="1171575">
                  <a:extLst>
                    <a:ext uri="{9D8B030D-6E8A-4147-A177-3AD203B41FA5}">
                      <a16:colId xmlns:a16="http://schemas.microsoft.com/office/drawing/2014/main" val="20002"/>
                    </a:ext>
                  </a:extLst>
                </a:gridCol>
                <a:gridCol w="1171575">
                  <a:extLst>
                    <a:ext uri="{9D8B030D-6E8A-4147-A177-3AD203B41FA5}">
                      <a16:colId xmlns:a16="http://schemas.microsoft.com/office/drawing/2014/main" val="20003"/>
                    </a:ext>
                  </a:extLst>
                </a:gridCol>
                <a:gridCol w="974725">
                  <a:extLst>
                    <a:ext uri="{9D8B030D-6E8A-4147-A177-3AD203B41FA5}">
                      <a16:colId xmlns:a16="http://schemas.microsoft.com/office/drawing/2014/main" val="20004"/>
                    </a:ext>
                  </a:extLst>
                </a:gridCol>
              </a:tblGrid>
              <a:tr h="39619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pitchFamily="2" charset="-122"/>
                        </a:rPr>
                        <a:t>操作</a:t>
                      </a: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a:t>
                      </a:r>
                      <a:r>
                        <a:rPr kumimoji="1" lang="zh-CN" altLang="en-US" sz="2000" b="1" i="0" u="none" strike="noStrike" cap="none" normalizeH="0" baseline="0" dirty="0">
                          <a:ln>
                            <a:noFill/>
                          </a:ln>
                          <a:solidFill>
                            <a:schemeClr val="tx1"/>
                          </a:solidFill>
                          <a:effectLst/>
                          <a:latin typeface="Times New Roman" pitchFamily="18" charset="0"/>
                          <a:ea typeface="宋体" pitchFamily="2" charset="-122"/>
                        </a:rPr>
                        <a:t>特性</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IDLE1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IDLE2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IDLE3</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HOLD</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19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CPU</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处暂停状态</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19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CPU</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时钟停止</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9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外围电路时钟停止</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19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锁相环</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(PLL)</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停止工作</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19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外部地址线处于高阻状态</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19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外部数据线处于高阻状态</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19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外部控制线处于高阻状态</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920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pitchFamily="2" charset="-122"/>
                        </a:rPr>
                        <a:t>因以下原因结束省电方式：</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HOLD</a:t>
                      </a:r>
                      <a:r>
                        <a:rPr kumimoji="1" lang="zh-CN" altLang="en-US" sz="2000" b="1" i="0" u="none" strike="noStrike" cap="none" normalizeH="0" baseline="0" dirty="0">
                          <a:ln>
                            <a:noFill/>
                          </a:ln>
                          <a:solidFill>
                            <a:schemeClr val="tx1"/>
                          </a:solidFill>
                          <a:effectLst/>
                          <a:latin typeface="Times New Roman" pitchFamily="18" charset="0"/>
                          <a:ea typeface="宋体" pitchFamily="2" charset="-122"/>
                        </a:rPr>
                        <a:t>变为高电平</a:t>
                      </a: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pitchFamily="2" charset="-122"/>
                        </a:rPr>
                        <a:t>内部可屏蔽硬件中断</a:t>
                      </a: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pitchFamily="2" charset="-122"/>
                        </a:rPr>
                        <a:t>外部可屏蔽硬件中断</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NMI</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RS</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6390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A211224-1674-4A9F-84E9-C929123E51ED}" type="slidenum">
              <a:rPr lang="en-US" altLang="zh-CN" sz="1400" b="0"/>
              <a:pPr eaLnBrk="1" hangingPunct="1"/>
              <a:t>151</a:t>
            </a:fld>
            <a:endParaRPr lang="en-US" altLang="zh-CN" sz="1400" b="0"/>
          </a:p>
        </p:txBody>
      </p:sp>
      <p:sp>
        <p:nvSpPr>
          <p:cNvPr id="163906" name="Line 135"/>
          <p:cNvSpPr>
            <a:spLocks noChangeShapeType="1"/>
          </p:cNvSpPr>
          <p:nvPr/>
        </p:nvSpPr>
        <p:spPr bwMode="auto">
          <a:xfrm>
            <a:off x="468313" y="6345324"/>
            <a:ext cx="35877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3907" name="Line 136"/>
          <p:cNvSpPr>
            <a:spLocks noChangeShapeType="1"/>
          </p:cNvSpPr>
          <p:nvPr/>
        </p:nvSpPr>
        <p:spPr bwMode="auto">
          <a:xfrm>
            <a:off x="531813" y="6057292"/>
            <a:ext cx="431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3908" name="Line 137"/>
          <p:cNvSpPr>
            <a:spLocks noChangeShapeType="1"/>
          </p:cNvSpPr>
          <p:nvPr/>
        </p:nvSpPr>
        <p:spPr bwMode="auto">
          <a:xfrm>
            <a:off x="531813" y="5121188"/>
            <a:ext cx="6477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3909" name="Line 138"/>
          <p:cNvSpPr>
            <a:spLocks noChangeShapeType="1"/>
          </p:cNvSpPr>
          <p:nvPr/>
        </p:nvSpPr>
        <p:spPr bwMode="auto">
          <a:xfrm>
            <a:off x="7900988" y="1652588"/>
            <a:ext cx="6477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63554"/>
                                        </p:tgtEl>
                                        <p:attrNameLst>
                                          <p:attrName>style.visibility</p:attrName>
                                        </p:attrNameLst>
                                      </p:cBhvr>
                                      <p:to>
                                        <p:strVal val="visible"/>
                                      </p:to>
                                    </p:set>
                                    <p:anim calcmode="lin" valueType="num">
                                      <p:cBhvr additive="base">
                                        <p:cTn id="7" dur="500" fill="hold"/>
                                        <p:tgtEl>
                                          <p:spTgt spid="663554"/>
                                        </p:tgtEl>
                                        <p:attrNameLst>
                                          <p:attrName>ppt_x</p:attrName>
                                        </p:attrNameLst>
                                      </p:cBhvr>
                                      <p:tavLst>
                                        <p:tav tm="0">
                                          <p:val>
                                            <p:strVal val="0-#ppt_w/2"/>
                                          </p:val>
                                        </p:tav>
                                        <p:tav tm="100000">
                                          <p:val>
                                            <p:strVal val="#ppt_x"/>
                                          </p:val>
                                        </p:tav>
                                      </p:tavLst>
                                    </p:anim>
                                    <p:anim calcmode="lin" valueType="num">
                                      <p:cBhvr additive="base">
                                        <p:cTn id="8" dur="500" fill="hold"/>
                                        <p:tgtEl>
                                          <p:spTgt spid="6635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54" grpId="0" autoUpdateAnimBg="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0FEAEE0-C99F-4654-A73A-DC66F86A7B56}" type="slidenum">
              <a:rPr lang="en-US" altLang="zh-CN" sz="1400" b="0"/>
              <a:pPr eaLnBrk="1" hangingPunct="1"/>
              <a:t>152</a:t>
            </a:fld>
            <a:endParaRPr lang="en-US" altLang="zh-CN" sz="1400" b="0"/>
          </a:p>
        </p:txBody>
      </p:sp>
      <p:sp>
        <p:nvSpPr>
          <p:cNvPr id="664578" name="Rectangle 2"/>
          <p:cNvSpPr>
            <a:spLocks noChangeArrowheads="1"/>
          </p:cNvSpPr>
          <p:nvPr/>
        </p:nvSpPr>
        <p:spPr bwMode="auto">
          <a:xfrm>
            <a:off x="609600" y="9906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4400">
                <a:solidFill>
                  <a:srgbClr val="FF0000"/>
                </a:solidFill>
                <a:latin typeface="宋体" panose="02010600030101010101" pitchFamily="2" charset="-122"/>
              </a:rPr>
              <a:t>进入</a:t>
            </a:r>
            <a:r>
              <a:rPr lang="en-US" altLang="zh-CN" sz="4400">
                <a:solidFill>
                  <a:srgbClr val="FF0000"/>
                </a:solidFill>
                <a:latin typeface="宋体" panose="02010600030101010101" pitchFamily="2" charset="-122"/>
              </a:rPr>
              <a:t>IDLE3:</a:t>
            </a:r>
            <a:r>
              <a:rPr lang="zh-CN" altLang="en-US" sz="4400">
                <a:solidFill>
                  <a:srgbClr val="FF0000"/>
                </a:solidFill>
                <a:latin typeface="宋体" panose="02010600030101010101" pitchFamily="2" charset="-122"/>
              </a:rPr>
              <a:t>执行</a:t>
            </a:r>
            <a:r>
              <a:rPr lang="en-US" altLang="zh-CN" sz="4400">
                <a:solidFill>
                  <a:srgbClr val="FF0000"/>
                </a:solidFill>
                <a:latin typeface="宋体" panose="02010600030101010101" pitchFamily="2" charset="-122"/>
              </a:rPr>
              <a:t>IDLE3</a:t>
            </a:r>
            <a:r>
              <a:rPr lang="zh-CN" altLang="en-US" sz="4400">
                <a:solidFill>
                  <a:srgbClr val="FF0000"/>
                </a:solidFill>
                <a:latin typeface="宋体" panose="02010600030101010101" pitchFamily="2" charset="-122"/>
              </a:rPr>
              <a:t>指令</a:t>
            </a:r>
            <a:r>
              <a:rPr lang="zh-CN" altLang="en-US" sz="4400">
                <a:solidFill>
                  <a:schemeClr val="tx2"/>
                </a:solidFill>
              </a:rPr>
              <a:t> </a:t>
            </a:r>
          </a:p>
        </p:txBody>
      </p:sp>
      <p:sp>
        <p:nvSpPr>
          <p:cNvPr id="664579" name="Rectangle 3" descr="小棋盘"/>
          <p:cNvSpPr>
            <a:spLocks noChangeArrowheads="1"/>
          </p:cNvSpPr>
          <p:nvPr/>
        </p:nvSpPr>
        <p:spPr bwMode="auto">
          <a:xfrm>
            <a:off x="685800" y="5181600"/>
            <a:ext cx="5638800" cy="1143000"/>
          </a:xfrm>
          <a:prstGeom prst="rect">
            <a:avLst/>
          </a:prstGeom>
          <a:pattFill prst="smCheck">
            <a:fgClr>
              <a:schemeClr val="accent1"/>
            </a:fgClr>
            <a:bgClr>
              <a:srgbClr val="FFFFFF"/>
            </a:bgClr>
          </a:pattFill>
          <a:ln w="9525">
            <a:solidFill>
              <a:schemeClr val="bg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a:solidFill>
                  <a:srgbClr val="FF00FF"/>
                </a:solidFill>
                <a:latin typeface="宋体" panose="02010600030101010101" pitchFamily="2" charset="-122"/>
              </a:rPr>
              <a:t>必须重新启动</a:t>
            </a:r>
            <a:r>
              <a:rPr lang="en-US" altLang="zh-CN" sz="3200">
                <a:solidFill>
                  <a:srgbClr val="FF00FF"/>
                </a:solidFill>
                <a:latin typeface="宋体" panose="02010600030101010101" pitchFamily="2" charset="-122"/>
              </a:rPr>
              <a:t>PLL</a:t>
            </a:r>
            <a:r>
              <a:rPr lang="zh-CN" altLang="en-US" sz="3200">
                <a:solidFill>
                  <a:srgbClr val="FF00FF"/>
                </a:solidFill>
                <a:latin typeface="宋体" panose="02010600030101010101" pitchFamily="2" charset="-122"/>
              </a:rPr>
              <a:t>，并在</a:t>
            </a:r>
            <a:r>
              <a:rPr lang="en-US" altLang="zh-CN" sz="3200">
                <a:solidFill>
                  <a:srgbClr val="FF00FF"/>
                </a:solidFill>
                <a:latin typeface="宋体" panose="02010600030101010101" pitchFamily="2" charset="-122"/>
              </a:rPr>
              <a:t>CPU</a:t>
            </a:r>
            <a:r>
              <a:rPr lang="zh-CN" altLang="en-US" sz="3200">
                <a:solidFill>
                  <a:srgbClr val="FF00FF"/>
                </a:solidFill>
                <a:latin typeface="宋体" panose="02010600030101010101" pitchFamily="2" charset="-122"/>
              </a:rPr>
              <a:t>重新恢复工作以前锁定好相位。</a:t>
            </a:r>
            <a:r>
              <a:rPr lang="zh-CN" altLang="en-US" sz="3200">
                <a:latin typeface="宋体" panose="02010600030101010101" pitchFamily="2" charset="-122"/>
              </a:rPr>
              <a:t> </a:t>
            </a:r>
          </a:p>
        </p:txBody>
      </p:sp>
      <p:sp>
        <p:nvSpPr>
          <p:cNvPr id="664580" name="Rectangle 4"/>
          <p:cNvSpPr>
            <a:spLocks noChangeArrowheads="1"/>
          </p:cNvSpPr>
          <p:nvPr/>
        </p:nvSpPr>
        <p:spPr bwMode="auto">
          <a:xfrm>
            <a:off x="762000" y="2133600"/>
            <a:ext cx="3165475" cy="6508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solidFill>
                  <a:schemeClr val="folHlink"/>
                </a:solidFill>
                <a:latin typeface="宋体" panose="02010600030101010101" pitchFamily="2" charset="-122"/>
              </a:rPr>
              <a:t>IDLE3</a:t>
            </a:r>
            <a:r>
              <a:rPr lang="zh-CN" altLang="en-US" sz="3600">
                <a:solidFill>
                  <a:schemeClr val="folHlink"/>
                </a:solidFill>
                <a:latin typeface="宋体" panose="02010600030101010101" pitchFamily="2" charset="-122"/>
              </a:rPr>
              <a:t>状态特点</a:t>
            </a:r>
          </a:p>
        </p:txBody>
      </p:sp>
      <p:sp>
        <p:nvSpPr>
          <p:cNvPr id="664581" name="Rectangle 5"/>
          <p:cNvSpPr>
            <a:spLocks noChangeArrowheads="1"/>
          </p:cNvSpPr>
          <p:nvPr/>
        </p:nvSpPr>
        <p:spPr bwMode="auto">
          <a:xfrm>
            <a:off x="609600" y="3124200"/>
            <a:ext cx="259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solidFill>
                  <a:schemeClr val="tx2"/>
                </a:solidFill>
                <a:latin typeface="宋体" panose="02010600030101010101" pitchFamily="2" charset="-122"/>
              </a:rPr>
              <a:t>结束</a:t>
            </a:r>
            <a:r>
              <a:rPr lang="en-US" altLang="zh-CN" sz="3600">
                <a:solidFill>
                  <a:schemeClr val="tx2"/>
                </a:solidFill>
                <a:latin typeface="宋体" panose="02010600030101010101" pitchFamily="2" charset="-122"/>
              </a:rPr>
              <a:t>IDLE3:</a:t>
            </a:r>
          </a:p>
        </p:txBody>
      </p:sp>
      <p:grpSp>
        <p:nvGrpSpPr>
          <p:cNvPr id="2" name="Group 6"/>
          <p:cNvGrpSpPr>
            <a:grpSpLocks/>
          </p:cNvGrpSpPr>
          <p:nvPr/>
        </p:nvGrpSpPr>
        <p:grpSpPr bwMode="auto">
          <a:xfrm>
            <a:off x="2987675" y="3352800"/>
            <a:ext cx="3717925" cy="1541463"/>
            <a:chOff x="2832" y="1776"/>
            <a:chExt cx="2256" cy="971"/>
          </a:xfrm>
        </p:grpSpPr>
        <p:sp>
          <p:nvSpPr>
            <p:cNvPr id="5133" name="Rectangle 7" descr="小棋盘"/>
            <p:cNvSpPr>
              <a:spLocks noChangeArrowheads="1"/>
            </p:cNvSpPr>
            <p:nvPr/>
          </p:nvSpPr>
          <p:spPr bwMode="auto">
            <a:xfrm>
              <a:off x="2832" y="1776"/>
              <a:ext cx="2256" cy="971"/>
            </a:xfrm>
            <a:prstGeom prst="rect">
              <a:avLst/>
            </a:prstGeom>
            <a:pattFill prst="smCheck">
              <a:fgClr>
                <a:schemeClr val="accent1"/>
              </a:fgClr>
              <a:bgClr>
                <a:srgbClr val="FFFFFF"/>
              </a:bgClr>
            </a:pattFill>
            <a:ln w="76200">
              <a:solidFill>
                <a:schemeClr val="accent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600">
                  <a:solidFill>
                    <a:srgbClr val="003300"/>
                  </a:solidFill>
                  <a:latin typeface="宋体" panose="02010600030101010101" pitchFamily="2" charset="-122"/>
                </a:rPr>
                <a:t>利用外部中断</a:t>
              </a:r>
            </a:p>
            <a:p>
              <a:pPr eaLnBrk="1" hangingPunct="1">
                <a:spcBef>
                  <a:spcPct val="50000"/>
                </a:spcBef>
              </a:pPr>
              <a:r>
                <a:rPr lang="zh-CN" altLang="en-US" sz="3600">
                  <a:solidFill>
                    <a:srgbClr val="003300"/>
                  </a:solidFill>
                  <a:latin typeface="宋体" panose="02010600030101010101" pitchFamily="2" charset="-122"/>
                </a:rPr>
                <a:t>（   、  、　）</a:t>
              </a:r>
              <a:r>
                <a:rPr lang="zh-CN" altLang="en-US" sz="3600">
                  <a:solidFill>
                    <a:schemeClr val="tx2"/>
                  </a:solidFill>
                  <a:latin typeface="宋体" panose="02010600030101010101" pitchFamily="2" charset="-122"/>
                </a:rPr>
                <a:t> </a:t>
              </a:r>
            </a:p>
          </p:txBody>
        </p:sp>
        <p:graphicFrame>
          <p:nvGraphicFramePr>
            <p:cNvPr id="5122" name="Object 8" descr="小棋盘"/>
            <p:cNvGraphicFramePr>
              <a:graphicFrameLocks noChangeAspect="1"/>
            </p:cNvGraphicFramePr>
            <p:nvPr/>
          </p:nvGraphicFramePr>
          <p:xfrm>
            <a:off x="3168" y="2331"/>
            <a:ext cx="480" cy="280"/>
          </p:xfrm>
          <a:graphic>
            <a:graphicData uri="http://schemas.openxmlformats.org/presentationml/2006/ole">
              <mc:AlternateContent xmlns:mc="http://schemas.openxmlformats.org/markup-compatibility/2006">
                <mc:Choice xmlns:v="urn:schemas-microsoft-com:vml" Requires="v">
                  <p:oleObj spid="_x0000_s5201" name="公式" r:id="rId3" imgW="342751" imgH="203112" progId="">
                    <p:embed/>
                  </p:oleObj>
                </mc:Choice>
                <mc:Fallback>
                  <p:oleObj name="公式" r:id="rId3" imgW="342751" imgH="203112" progId="">
                    <p:embed/>
                    <p:pic>
                      <p:nvPicPr>
                        <p:cNvPr id="0" name="Picture 54" descr="小棋盘"/>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8" y="2331"/>
                          <a:ext cx="480" cy="280"/>
                        </a:xfrm>
                        <a:prstGeom prst="rect">
                          <a:avLst/>
                        </a:prstGeom>
                        <a:blipFill dpi="0" rotWithShape="0">
                          <a:blip r:embed="rId5"/>
                          <a:srcRect/>
                          <a:tile tx="0" ty="0" sx="100000" sy="100000" flip="none" algn="tl"/>
                        </a:blipFill>
                      </p:spPr>
                    </p:pic>
                  </p:oleObj>
                </mc:Fallback>
              </mc:AlternateContent>
            </a:graphicData>
          </a:graphic>
        </p:graphicFrame>
        <p:graphicFrame>
          <p:nvGraphicFramePr>
            <p:cNvPr id="5123" name="Object 9" descr="小棋盘"/>
            <p:cNvGraphicFramePr>
              <a:graphicFrameLocks noChangeAspect="1"/>
            </p:cNvGraphicFramePr>
            <p:nvPr/>
          </p:nvGraphicFramePr>
          <p:xfrm>
            <a:off x="3792" y="2369"/>
            <a:ext cx="387" cy="247"/>
          </p:xfrm>
          <a:graphic>
            <a:graphicData uri="http://schemas.openxmlformats.org/presentationml/2006/ole">
              <mc:AlternateContent xmlns:mc="http://schemas.openxmlformats.org/markup-compatibility/2006">
                <mc:Choice xmlns:v="urn:schemas-microsoft-com:vml" Requires="v">
                  <p:oleObj spid="_x0000_s5202" name="公式" r:id="rId6" imgW="317225" imgH="203024" progId="">
                    <p:embed/>
                  </p:oleObj>
                </mc:Choice>
                <mc:Fallback>
                  <p:oleObj name="公式" r:id="rId6" imgW="317225" imgH="203024" progId="">
                    <p:embed/>
                    <p:pic>
                      <p:nvPicPr>
                        <p:cNvPr id="0" name="Picture 55" descr="小棋盘"/>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92" y="2369"/>
                          <a:ext cx="387" cy="247"/>
                        </a:xfrm>
                        <a:prstGeom prst="rect">
                          <a:avLst/>
                        </a:prstGeom>
                        <a:blipFill dpi="0" rotWithShape="0">
                          <a:blip r:embed="rId5"/>
                          <a:srcRect/>
                          <a:tile tx="0" ty="0" sx="100000" sy="100000" flip="none" algn="tl"/>
                        </a:blipFill>
                      </p:spPr>
                    </p:pic>
                  </p:oleObj>
                </mc:Fallback>
              </mc:AlternateContent>
            </a:graphicData>
          </a:graphic>
        </p:graphicFrame>
        <p:graphicFrame>
          <p:nvGraphicFramePr>
            <p:cNvPr id="5124" name="Object 10" descr="小棋盘"/>
            <p:cNvGraphicFramePr>
              <a:graphicFrameLocks noChangeAspect="1"/>
            </p:cNvGraphicFramePr>
            <p:nvPr/>
          </p:nvGraphicFramePr>
          <p:xfrm>
            <a:off x="4416" y="2352"/>
            <a:ext cx="303" cy="303"/>
          </p:xfrm>
          <a:graphic>
            <a:graphicData uri="http://schemas.openxmlformats.org/presentationml/2006/ole">
              <mc:AlternateContent xmlns:mc="http://schemas.openxmlformats.org/markup-compatibility/2006">
                <mc:Choice xmlns:v="urn:schemas-microsoft-com:vml" Requires="v">
                  <p:oleObj spid="_x0000_s5203" name="公式" r:id="rId8" imgW="203024" imgH="203024" progId="">
                    <p:embed/>
                  </p:oleObj>
                </mc:Choice>
                <mc:Fallback>
                  <p:oleObj name="公式" r:id="rId8" imgW="203024" imgH="203024" progId="">
                    <p:embed/>
                    <p:pic>
                      <p:nvPicPr>
                        <p:cNvPr id="0" name="Picture 56" descr="小棋盘"/>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16" y="2352"/>
                          <a:ext cx="303" cy="303"/>
                        </a:xfrm>
                        <a:prstGeom prst="rect">
                          <a:avLst/>
                        </a:prstGeom>
                        <a:blipFill dpi="0" rotWithShape="0">
                          <a:blip r:embed="rId5"/>
                          <a:srcRect/>
                          <a:tile tx="0" ty="0" sx="100000" sy="100000" flip="none" algn="tl"/>
                        </a:blipFill>
                      </p:spPr>
                    </p:pic>
                  </p:oleObj>
                </mc:Fallback>
              </mc:AlternateContent>
            </a:graphicData>
          </a:graphic>
        </p:graphicFrame>
      </p:grpSp>
      <p:sp>
        <p:nvSpPr>
          <p:cNvPr id="664587" name="AutoShape 11"/>
          <p:cNvSpPr>
            <a:spLocks noChangeArrowheads="1"/>
          </p:cNvSpPr>
          <p:nvPr/>
        </p:nvSpPr>
        <p:spPr bwMode="auto">
          <a:xfrm rot="2441674">
            <a:off x="2667000" y="3733800"/>
            <a:ext cx="846138" cy="1339850"/>
          </a:xfrm>
          <a:prstGeom prst="curvedRightArrow">
            <a:avLst>
              <a:gd name="adj1" fmla="val 31670"/>
              <a:gd name="adj2" fmla="val 63340"/>
              <a:gd name="adj3" fmla="val 68273"/>
            </a:avLst>
          </a:prstGeom>
          <a:solidFill>
            <a:schemeClr val="bg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64588" name="AutoShape 12" descr="小棋盘"/>
          <p:cNvSpPr>
            <a:spLocks noChangeArrowheads="1"/>
          </p:cNvSpPr>
          <p:nvPr/>
        </p:nvSpPr>
        <p:spPr bwMode="auto">
          <a:xfrm>
            <a:off x="6781800" y="1676400"/>
            <a:ext cx="2133600" cy="4057650"/>
          </a:xfrm>
          <a:prstGeom prst="wedgeRoundRectCallout">
            <a:avLst>
              <a:gd name="adj1" fmla="val -170611"/>
              <a:gd name="adj2" fmla="val -28796"/>
              <a:gd name="adj3" fmla="val 16667"/>
            </a:avLst>
          </a:prstGeom>
          <a:pattFill prst="smCheck">
            <a:fgClr>
              <a:schemeClr val="accent1"/>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2400">
                <a:latin typeface="宋体" panose="02010600030101010101" pitchFamily="2" charset="-122"/>
              </a:rPr>
              <a:t>PLL</a:t>
            </a:r>
            <a:r>
              <a:rPr lang="zh-CN" altLang="en-US" sz="2400">
                <a:latin typeface="宋体" panose="02010600030101010101" pitchFamily="2" charset="-122"/>
              </a:rPr>
              <a:t>完全停止工作，以降低功耗。此时，输入时钟信号继续运行，但由于它与内部电路已经隔断，不会造成什么功耗。</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64578"/>
                                        </p:tgtEl>
                                        <p:attrNameLst>
                                          <p:attrName>style.visibility</p:attrName>
                                        </p:attrNameLst>
                                      </p:cBhvr>
                                      <p:to>
                                        <p:strVal val="visible"/>
                                      </p:to>
                                    </p:set>
                                    <p:anim calcmode="lin" valueType="num">
                                      <p:cBhvr additive="base">
                                        <p:cTn id="7" dur="500" fill="hold"/>
                                        <p:tgtEl>
                                          <p:spTgt spid="664578"/>
                                        </p:tgtEl>
                                        <p:attrNameLst>
                                          <p:attrName>ppt_x</p:attrName>
                                        </p:attrNameLst>
                                      </p:cBhvr>
                                      <p:tavLst>
                                        <p:tav tm="0">
                                          <p:val>
                                            <p:strVal val="0-#ppt_w/2"/>
                                          </p:val>
                                        </p:tav>
                                        <p:tav tm="100000">
                                          <p:val>
                                            <p:strVal val="#ppt_x"/>
                                          </p:val>
                                        </p:tav>
                                      </p:tavLst>
                                    </p:anim>
                                    <p:anim calcmode="lin" valueType="num">
                                      <p:cBhvr additive="base">
                                        <p:cTn id="8" dur="500" fill="hold"/>
                                        <p:tgtEl>
                                          <p:spTgt spid="66457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64580"/>
                                        </p:tgtEl>
                                        <p:attrNameLst>
                                          <p:attrName>style.visibility</p:attrName>
                                        </p:attrNameLst>
                                      </p:cBhvr>
                                      <p:to>
                                        <p:strVal val="visible"/>
                                      </p:to>
                                    </p:set>
                                    <p:anim calcmode="lin" valueType="num">
                                      <p:cBhvr additive="base">
                                        <p:cTn id="12" dur="500" fill="hold"/>
                                        <p:tgtEl>
                                          <p:spTgt spid="664580"/>
                                        </p:tgtEl>
                                        <p:attrNameLst>
                                          <p:attrName>ppt_x</p:attrName>
                                        </p:attrNameLst>
                                      </p:cBhvr>
                                      <p:tavLst>
                                        <p:tav tm="0">
                                          <p:val>
                                            <p:strVal val="0-#ppt_w/2"/>
                                          </p:val>
                                        </p:tav>
                                        <p:tav tm="100000">
                                          <p:val>
                                            <p:strVal val="#ppt_x"/>
                                          </p:val>
                                        </p:tav>
                                      </p:tavLst>
                                    </p:anim>
                                    <p:anim calcmode="lin" valueType="num">
                                      <p:cBhvr additive="base">
                                        <p:cTn id="13" dur="500" fill="hold"/>
                                        <p:tgtEl>
                                          <p:spTgt spid="664580"/>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16" presetClass="entr" presetSubtype="26" fill="hold" grpId="0" nodeType="afterEffect">
                                  <p:stCondLst>
                                    <p:cond delay="0"/>
                                  </p:stCondLst>
                                  <p:childTnLst>
                                    <p:set>
                                      <p:cBhvr>
                                        <p:cTn id="16" dur="1" fill="hold">
                                          <p:stCondLst>
                                            <p:cond delay="0"/>
                                          </p:stCondLst>
                                        </p:cTn>
                                        <p:tgtEl>
                                          <p:spTgt spid="664581"/>
                                        </p:tgtEl>
                                        <p:attrNameLst>
                                          <p:attrName>style.visibility</p:attrName>
                                        </p:attrNameLst>
                                      </p:cBhvr>
                                      <p:to>
                                        <p:strVal val="visible"/>
                                      </p:to>
                                    </p:set>
                                    <p:animEffect transition="in" filter="barn(inHorizontal)">
                                      <p:cBhvr>
                                        <p:cTn id="17" dur="500"/>
                                        <p:tgtEl>
                                          <p:spTgt spid="664581"/>
                                        </p:tgtEl>
                                      </p:cBhvr>
                                    </p:animEffect>
                                  </p:childTnLst>
                                </p:cTn>
                              </p:par>
                            </p:childTnLst>
                          </p:cTn>
                        </p:par>
                        <p:par>
                          <p:cTn id="18" fill="hold" nodeType="afterGroup">
                            <p:stCondLst>
                              <p:cond delay="1500"/>
                            </p:stCondLst>
                            <p:childTnLst>
                              <p:par>
                                <p:cTn id="19" presetID="2" presetClass="entr" presetSubtype="2" fill="hold" grpId="0" nodeType="afterEffect">
                                  <p:stCondLst>
                                    <p:cond delay="0"/>
                                  </p:stCondLst>
                                  <p:childTnLst>
                                    <p:set>
                                      <p:cBhvr>
                                        <p:cTn id="20" dur="1" fill="hold">
                                          <p:stCondLst>
                                            <p:cond delay="0"/>
                                          </p:stCondLst>
                                        </p:cTn>
                                        <p:tgtEl>
                                          <p:spTgt spid="664588"/>
                                        </p:tgtEl>
                                        <p:attrNameLst>
                                          <p:attrName>style.visibility</p:attrName>
                                        </p:attrNameLst>
                                      </p:cBhvr>
                                      <p:to>
                                        <p:strVal val="visible"/>
                                      </p:to>
                                    </p:set>
                                    <p:anim calcmode="lin" valueType="num">
                                      <p:cBhvr additive="base">
                                        <p:cTn id="21" dur="500" fill="hold"/>
                                        <p:tgtEl>
                                          <p:spTgt spid="664588"/>
                                        </p:tgtEl>
                                        <p:attrNameLst>
                                          <p:attrName>ppt_x</p:attrName>
                                        </p:attrNameLst>
                                      </p:cBhvr>
                                      <p:tavLst>
                                        <p:tav tm="0">
                                          <p:val>
                                            <p:strVal val="1+#ppt_w/2"/>
                                          </p:val>
                                        </p:tav>
                                        <p:tav tm="100000">
                                          <p:val>
                                            <p:strVal val="#ppt_x"/>
                                          </p:val>
                                        </p:tav>
                                      </p:tavLst>
                                    </p:anim>
                                    <p:anim calcmode="lin" valueType="num">
                                      <p:cBhvr additive="base">
                                        <p:cTn id="22" dur="500" fill="hold"/>
                                        <p:tgtEl>
                                          <p:spTgt spid="664588"/>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2000"/>
                            </p:stCondLst>
                            <p:childTnLst>
                              <p:par>
                                <p:cTn id="24" presetID="12" presetClass="entr" presetSubtype="8"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slide(fromLeft)">
                                      <p:cBhvr>
                                        <p:cTn id="26" dur="500"/>
                                        <p:tgtEl>
                                          <p:spTgt spid="2"/>
                                        </p:tgtEl>
                                      </p:cBhvr>
                                    </p:animEffect>
                                  </p:childTnLst>
                                </p:cTn>
                              </p:par>
                            </p:childTnLst>
                          </p:cTn>
                        </p:par>
                        <p:par>
                          <p:cTn id="27" fill="hold" nodeType="afterGroup">
                            <p:stCondLst>
                              <p:cond delay="2500"/>
                            </p:stCondLst>
                            <p:childTnLst>
                              <p:par>
                                <p:cTn id="28" presetID="22" presetClass="entr" presetSubtype="1" fill="hold" grpId="0" nodeType="afterEffect">
                                  <p:stCondLst>
                                    <p:cond delay="0"/>
                                  </p:stCondLst>
                                  <p:childTnLst>
                                    <p:set>
                                      <p:cBhvr>
                                        <p:cTn id="29" dur="1" fill="hold">
                                          <p:stCondLst>
                                            <p:cond delay="0"/>
                                          </p:stCondLst>
                                        </p:cTn>
                                        <p:tgtEl>
                                          <p:spTgt spid="664587"/>
                                        </p:tgtEl>
                                        <p:attrNameLst>
                                          <p:attrName>style.visibility</p:attrName>
                                        </p:attrNameLst>
                                      </p:cBhvr>
                                      <p:to>
                                        <p:strVal val="visible"/>
                                      </p:to>
                                    </p:set>
                                    <p:animEffect transition="in" filter="wipe(up)">
                                      <p:cBhvr>
                                        <p:cTn id="30" dur="500"/>
                                        <p:tgtEl>
                                          <p:spTgt spid="664587"/>
                                        </p:tgtEl>
                                      </p:cBhvr>
                                    </p:animEffect>
                                  </p:childTnLst>
                                </p:cTn>
                              </p:par>
                            </p:childTnLst>
                          </p:cTn>
                        </p:par>
                        <p:par>
                          <p:cTn id="31" fill="hold" nodeType="afterGroup">
                            <p:stCondLst>
                              <p:cond delay="3000"/>
                            </p:stCondLst>
                            <p:childTnLst>
                              <p:par>
                                <p:cTn id="32" presetID="5" presetClass="entr" presetSubtype="10" fill="hold" grpId="0" nodeType="afterEffect">
                                  <p:stCondLst>
                                    <p:cond delay="0"/>
                                  </p:stCondLst>
                                  <p:childTnLst>
                                    <p:set>
                                      <p:cBhvr>
                                        <p:cTn id="33" dur="1" fill="hold">
                                          <p:stCondLst>
                                            <p:cond delay="0"/>
                                          </p:stCondLst>
                                        </p:cTn>
                                        <p:tgtEl>
                                          <p:spTgt spid="664579"/>
                                        </p:tgtEl>
                                        <p:attrNameLst>
                                          <p:attrName>style.visibility</p:attrName>
                                        </p:attrNameLst>
                                      </p:cBhvr>
                                      <p:to>
                                        <p:strVal val="visible"/>
                                      </p:to>
                                    </p:set>
                                    <p:animEffect transition="in" filter="checkerboard(across)">
                                      <p:cBhvr>
                                        <p:cTn id="34" dur="500"/>
                                        <p:tgtEl>
                                          <p:spTgt spid="664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4578" grpId="0" autoUpdateAnimBg="0"/>
      <p:bldP spid="664579" grpId="0" animBg="1" autoUpdateAnimBg="0"/>
      <p:bldP spid="664580" grpId="0" animBg="1" autoUpdateAnimBg="0"/>
      <p:bldP spid="664581" grpId="0" autoUpdateAnimBg="0"/>
      <p:bldP spid="664587" grpId="0" animBg="1"/>
      <p:bldP spid="664588" grpId="0" animBg="1"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02" name="Rectangle 2"/>
          <p:cNvSpPr>
            <a:spLocks noGrp="1" noChangeArrowheads="1"/>
          </p:cNvSpPr>
          <p:nvPr>
            <p:ph type="title"/>
          </p:nvPr>
        </p:nvSpPr>
        <p:spPr bwMode="auto">
          <a:xfrm>
            <a:off x="685800" y="10668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solidFill>
                  <a:srgbClr val="FF0000"/>
                </a:solidFill>
                <a:latin typeface="宋体" panose="02010600030101010101" pitchFamily="2" charset="-122"/>
              </a:rPr>
              <a:t>中断唤醒条件：</a:t>
            </a:r>
            <a:r>
              <a:rPr lang="zh-CN" altLang="en-US" sz="2800" b="1">
                <a:solidFill>
                  <a:srgbClr val="FF0000"/>
                </a:solidFill>
                <a:latin typeface="宋体" panose="02010600030101010101" pitchFamily="2" charset="-122"/>
              </a:rPr>
              <a:t>当</a:t>
            </a:r>
            <a:r>
              <a:rPr lang="en-US" altLang="zh-CN" sz="2800" b="1">
                <a:solidFill>
                  <a:srgbClr val="FF0000"/>
                </a:solidFill>
                <a:latin typeface="宋体" panose="02010600030101010101" pitchFamily="2" charset="-122"/>
              </a:rPr>
              <a:t>CLKOUT</a:t>
            </a:r>
            <a:r>
              <a:rPr lang="zh-CN" altLang="en-US" sz="2800" b="1">
                <a:solidFill>
                  <a:srgbClr val="FF0000"/>
                </a:solidFill>
                <a:latin typeface="宋体" panose="02010600030101010101" pitchFamily="2" charset="-122"/>
              </a:rPr>
              <a:t>频率为</a:t>
            </a:r>
            <a:r>
              <a:rPr lang="en-US" altLang="zh-CN" sz="2800" b="1">
                <a:solidFill>
                  <a:srgbClr val="FF0000"/>
                </a:solidFill>
                <a:latin typeface="宋体" panose="02010600030101010101" pitchFamily="2" charset="-122"/>
              </a:rPr>
              <a:t>40MHz</a:t>
            </a:r>
            <a:r>
              <a:rPr lang="zh-CN" altLang="en-US" sz="2800" b="1">
                <a:solidFill>
                  <a:srgbClr val="FF0000"/>
                </a:solidFill>
                <a:latin typeface="宋体" panose="02010600030101010101" pitchFamily="2" charset="-122"/>
              </a:rPr>
              <a:t>时</a:t>
            </a:r>
          </a:p>
        </p:txBody>
      </p:sp>
      <p:sp>
        <p:nvSpPr>
          <p:cNvPr id="164867" name="Rectangle 3" descr="小棋盘"/>
          <p:cNvSpPr>
            <a:spLocks noGrp="1" noChangeArrowheads="1"/>
          </p:cNvSpPr>
          <p:nvPr>
            <p:ph idx="1"/>
          </p:nvPr>
        </p:nvSpPr>
        <p:spPr bwMode="auto">
          <a:xfrm>
            <a:off x="539750" y="4419600"/>
            <a:ext cx="1517650" cy="990600"/>
          </a:xfrm>
          <a:pattFill prst="smCheck">
            <a:fgClr>
              <a:schemeClr val="accent1"/>
            </a:fgClr>
            <a:bgClr>
              <a:srgbClr val="FFFFFF"/>
            </a:bgClr>
          </a:pattFill>
          <a:ln w="57150">
            <a:solidFill>
              <a:schemeClr val="hlink"/>
            </a:solidFill>
            <a:miter lim="800000"/>
            <a:headEnd/>
            <a:tailEnd/>
          </a:ln>
        </p:spPr>
        <p:txBody>
          <a:bodyPr vert="horz" wrap="square" lIns="91440" tIns="45720" rIns="91440" bIns="45720" numCol="1" anchor="t" anchorCtr="0" compatLnSpc="1">
            <a:prstTxWarp prst="textNoShape">
              <a:avLst/>
            </a:prstTxWarp>
          </a:bodyPr>
          <a:lstStyle/>
          <a:p>
            <a:pPr algn="ctr" eaLnBrk="1" hangingPunct="1">
              <a:lnSpc>
                <a:spcPct val="90000"/>
              </a:lnSpc>
              <a:buFontTx/>
              <a:buNone/>
            </a:pPr>
            <a:r>
              <a:rPr lang="en-US" altLang="zh-CN" sz="2800" b="1">
                <a:solidFill>
                  <a:schemeClr val="folHlink"/>
                </a:solidFill>
              </a:rPr>
              <a:t>“</a:t>
            </a:r>
            <a:r>
              <a:rPr lang="zh-CN" altLang="en-US" sz="2800" b="1">
                <a:solidFill>
                  <a:schemeClr val="folHlink"/>
                </a:solidFill>
                <a:latin typeface="宋体" panose="02010600030101010101" pitchFamily="2" charset="-122"/>
              </a:rPr>
              <a:t>唤醒</a:t>
            </a:r>
            <a:r>
              <a:rPr lang="zh-CN" altLang="en-US" sz="2800" b="1">
                <a:solidFill>
                  <a:schemeClr val="folHlink"/>
                </a:solidFill>
              </a:rPr>
              <a:t>”</a:t>
            </a:r>
            <a:endParaRPr lang="zh-CN" altLang="en-US" sz="2800" b="1">
              <a:solidFill>
                <a:schemeClr val="folHlink"/>
              </a:solidFill>
              <a:latin typeface="宋体" panose="02010600030101010101" pitchFamily="2" charset="-122"/>
            </a:endParaRPr>
          </a:p>
          <a:p>
            <a:pPr algn="ctr" eaLnBrk="1" hangingPunct="1">
              <a:lnSpc>
                <a:spcPct val="90000"/>
              </a:lnSpc>
              <a:buFontTx/>
              <a:buNone/>
            </a:pPr>
            <a:r>
              <a:rPr lang="zh-CN" altLang="en-US" sz="2800" b="1">
                <a:solidFill>
                  <a:schemeClr val="folHlink"/>
                </a:solidFill>
                <a:latin typeface="宋体" panose="02010600030101010101" pitchFamily="2" charset="-122"/>
              </a:rPr>
              <a:t>过程</a:t>
            </a:r>
            <a:endParaRPr lang="zh-CN" altLang="en-US" sz="2800" b="1">
              <a:solidFill>
                <a:schemeClr val="folHlink"/>
              </a:solidFill>
            </a:endParaRPr>
          </a:p>
        </p:txBody>
      </p:sp>
      <p:sp>
        <p:nvSpPr>
          <p:cNvPr id="16486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96674183-CBB0-468B-B3D6-A8FEFAF1BB26}" type="slidenum">
              <a:rPr lang="en-US" altLang="zh-CN" sz="1400" b="0"/>
              <a:pPr eaLnBrk="1" hangingPunct="1"/>
              <a:t>153</a:t>
            </a:fld>
            <a:endParaRPr lang="en-US" altLang="zh-CN" sz="1400" b="0"/>
          </a:p>
        </p:txBody>
      </p:sp>
      <p:sp>
        <p:nvSpPr>
          <p:cNvPr id="665604" name="Rectangle 4" descr="小棋盘"/>
          <p:cNvSpPr>
            <a:spLocks noChangeArrowheads="1"/>
          </p:cNvSpPr>
          <p:nvPr/>
        </p:nvSpPr>
        <p:spPr bwMode="auto">
          <a:xfrm>
            <a:off x="1143000" y="1905000"/>
            <a:ext cx="6172200" cy="1522413"/>
          </a:xfrm>
          <a:prstGeom prst="rect">
            <a:avLst/>
          </a:prstGeom>
          <a:pattFill prst="smCheck">
            <a:fgClr>
              <a:srgbClr val="FFFF00"/>
            </a:fgClr>
            <a:bgClr>
              <a:srgbClr val="FFFFFF"/>
            </a:bgClr>
          </a:pattFill>
          <a:ln w="57150">
            <a:solidFill>
              <a:srgbClr val="339933"/>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solidFill>
                  <a:srgbClr val="FF00FF"/>
                </a:solidFill>
                <a:latin typeface="宋体" panose="02010600030101010101" pitchFamily="2" charset="-122"/>
              </a:rPr>
              <a:t>中断脉冲宽度大于</a:t>
            </a:r>
            <a:r>
              <a:rPr lang="en-US" altLang="zh-CN" sz="3600">
                <a:solidFill>
                  <a:srgbClr val="FF00FF"/>
                </a:solidFill>
                <a:latin typeface="宋体" panose="02010600030101010101" pitchFamily="2" charset="-122"/>
              </a:rPr>
              <a:t>10ns</a:t>
            </a:r>
          </a:p>
          <a:p>
            <a:pPr eaLnBrk="1" hangingPunct="1">
              <a:spcBef>
                <a:spcPct val="50000"/>
              </a:spcBef>
            </a:pPr>
            <a:r>
              <a:rPr lang="en-US" altLang="zh-CN" sz="3600">
                <a:solidFill>
                  <a:srgbClr val="FF00FF"/>
                </a:solidFill>
                <a:latin typeface="宋体" panose="02010600030101010101" pitchFamily="2" charset="-122"/>
              </a:rPr>
              <a:t>PLL</a:t>
            </a:r>
            <a:r>
              <a:rPr lang="zh-CN" altLang="en-US" sz="3600">
                <a:solidFill>
                  <a:srgbClr val="FF00FF"/>
                </a:solidFill>
                <a:latin typeface="宋体" panose="02010600030101010101" pitchFamily="2" charset="-122"/>
              </a:rPr>
              <a:t>减法计数时间大于</a:t>
            </a:r>
            <a:r>
              <a:rPr lang="en-US" altLang="zh-CN" sz="3600">
                <a:solidFill>
                  <a:srgbClr val="FF00FF"/>
                </a:solidFill>
                <a:latin typeface="宋体" panose="02010600030101010101" pitchFamily="2" charset="-122"/>
              </a:rPr>
              <a:t>50μs</a:t>
            </a:r>
          </a:p>
        </p:txBody>
      </p:sp>
      <p:sp>
        <p:nvSpPr>
          <p:cNvPr id="665605" name="Rectangle 5"/>
          <p:cNvSpPr>
            <a:spLocks noChangeArrowheads="1"/>
          </p:cNvSpPr>
          <p:nvPr/>
        </p:nvSpPr>
        <p:spPr bwMode="auto">
          <a:xfrm>
            <a:off x="3276600" y="3657600"/>
            <a:ext cx="5207000" cy="2646363"/>
          </a:xfrm>
          <a:prstGeom prst="rect">
            <a:avLst/>
          </a:prstGeom>
          <a:noFill/>
          <a:ln w="762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a:latin typeface="宋体" panose="02010600030101010101" pitchFamily="2" charset="-122"/>
              </a:rPr>
              <a:t>中断引脚变低电平</a:t>
            </a:r>
          </a:p>
          <a:p>
            <a:pPr eaLnBrk="1" hangingPunct="1">
              <a:spcBef>
                <a:spcPct val="20000"/>
              </a:spcBef>
              <a:buFontTx/>
              <a:buChar char="•"/>
            </a:pPr>
            <a:r>
              <a:rPr lang="en-US" altLang="zh-CN" sz="2800">
                <a:latin typeface="宋体" panose="02010600030101010101" pitchFamily="2" charset="-122"/>
              </a:rPr>
              <a:t>PLL</a:t>
            </a:r>
            <a:r>
              <a:rPr lang="zh-CN" altLang="en-US" sz="2800">
                <a:latin typeface="宋体" panose="02010600030101010101" pitchFamily="2" charset="-122"/>
              </a:rPr>
              <a:t>锁相</a:t>
            </a:r>
          </a:p>
          <a:p>
            <a:pPr eaLnBrk="1" hangingPunct="1">
              <a:spcBef>
                <a:spcPct val="20000"/>
              </a:spcBef>
              <a:buFontTx/>
              <a:buChar char="•"/>
            </a:pPr>
            <a:r>
              <a:rPr lang="zh-CN" altLang="en-US" sz="2800">
                <a:latin typeface="宋体" panose="02010600030101010101" pitchFamily="2" charset="-122"/>
              </a:rPr>
              <a:t>计数器对输入时钟减法计数到</a:t>
            </a:r>
            <a:r>
              <a:rPr lang="en-US" altLang="zh-CN" sz="2800">
                <a:latin typeface="宋体" panose="02010600030101010101" pitchFamily="2" charset="-122"/>
              </a:rPr>
              <a:t>0</a:t>
            </a:r>
          </a:p>
          <a:p>
            <a:pPr eaLnBrk="1" hangingPunct="1">
              <a:spcBef>
                <a:spcPct val="20000"/>
              </a:spcBef>
              <a:buFontTx/>
              <a:buChar char="•"/>
            </a:pPr>
            <a:r>
              <a:rPr lang="en-US" altLang="zh-CN" sz="2800">
                <a:latin typeface="宋体" panose="02010600030101010101" pitchFamily="2" charset="-122"/>
              </a:rPr>
              <a:t>PLL</a:t>
            </a:r>
            <a:r>
              <a:rPr lang="zh-CN" altLang="en-US" sz="2800">
                <a:latin typeface="宋体" panose="02010600030101010101" pitchFamily="2" charset="-122"/>
              </a:rPr>
              <a:t>输出加到</a:t>
            </a:r>
            <a:r>
              <a:rPr lang="en-US" altLang="zh-CN" sz="2800">
                <a:latin typeface="宋体" panose="02010600030101010101" pitchFamily="2" charset="-122"/>
              </a:rPr>
              <a:t>CPU</a:t>
            </a:r>
          </a:p>
          <a:p>
            <a:pPr eaLnBrk="1" hangingPunct="1">
              <a:spcBef>
                <a:spcPct val="20000"/>
              </a:spcBef>
              <a:buFontTx/>
              <a:buChar char="•"/>
            </a:pPr>
            <a:r>
              <a:rPr lang="en-US" altLang="zh-CN" sz="2800">
                <a:latin typeface="宋体" panose="02010600030101010101" pitchFamily="2" charset="-122"/>
              </a:rPr>
              <a:t>C54x</a:t>
            </a:r>
            <a:r>
              <a:rPr lang="zh-CN" altLang="en-US" sz="2800">
                <a:latin typeface="宋体" panose="02010600030101010101" pitchFamily="2" charset="-122"/>
              </a:rPr>
              <a:t>退出</a:t>
            </a:r>
            <a:r>
              <a:rPr lang="en-US" altLang="zh-CN" sz="2800">
                <a:latin typeface="宋体" panose="02010600030101010101" pitchFamily="2" charset="-122"/>
              </a:rPr>
              <a:t>IDLE3</a:t>
            </a:r>
          </a:p>
        </p:txBody>
      </p:sp>
      <p:sp>
        <p:nvSpPr>
          <p:cNvPr id="665606" name="Line 6"/>
          <p:cNvSpPr>
            <a:spLocks noChangeShapeType="1"/>
          </p:cNvSpPr>
          <p:nvPr/>
        </p:nvSpPr>
        <p:spPr bwMode="auto">
          <a:xfrm>
            <a:off x="2286000" y="4953000"/>
            <a:ext cx="685800" cy="0"/>
          </a:xfrm>
          <a:prstGeom prst="line">
            <a:avLst/>
          </a:prstGeom>
          <a:noFill/>
          <a:ln w="762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65602"/>
                                        </p:tgtEl>
                                        <p:attrNameLst>
                                          <p:attrName>style.visibility</p:attrName>
                                        </p:attrNameLst>
                                      </p:cBhvr>
                                      <p:to>
                                        <p:strVal val="visible"/>
                                      </p:to>
                                    </p:set>
                                    <p:animEffect transition="in" filter="blinds(horizontal)">
                                      <p:cBhvr>
                                        <p:cTn id="7" dur="500"/>
                                        <p:tgtEl>
                                          <p:spTgt spid="665602"/>
                                        </p:tgtEl>
                                      </p:cBhvr>
                                    </p:animEffect>
                                  </p:childTnLst>
                                </p:cTn>
                              </p:par>
                            </p:childTnLst>
                          </p:cTn>
                        </p:par>
                        <p:par>
                          <p:cTn id="8" fill="hold" nodeType="afterGroup">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665604"/>
                                        </p:tgtEl>
                                        <p:attrNameLst>
                                          <p:attrName>style.visibility</p:attrName>
                                        </p:attrNameLst>
                                      </p:cBhvr>
                                      <p:to>
                                        <p:strVal val="visible"/>
                                      </p:to>
                                    </p:set>
                                    <p:animEffect transition="in" filter="checkerboard(across)">
                                      <p:cBhvr>
                                        <p:cTn id="11" dur="500"/>
                                        <p:tgtEl>
                                          <p:spTgt spid="665604"/>
                                        </p:tgtEl>
                                      </p:cBhvr>
                                    </p:animEffect>
                                  </p:childTnLst>
                                </p:cTn>
                              </p:par>
                            </p:childTnLst>
                          </p:cTn>
                        </p:par>
                        <p:par>
                          <p:cTn id="12" fill="hold" nodeType="afterGroup">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665606"/>
                                        </p:tgtEl>
                                        <p:attrNameLst>
                                          <p:attrName>style.visibility</p:attrName>
                                        </p:attrNameLst>
                                      </p:cBhvr>
                                      <p:to>
                                        <p:strVal val="visible"/>
                                      </p:to>
                                    </p:set>
                                    <p:animEffect transition="in" filter="slide(fromLeft)">
                                      <p:cBhvr>
                                        <p:cTn id="15" dur="500"/>
                                        <p:tgtEl>
                                          <p:spTgt spid="665606"/>
                                        </p:tgtEl>
                                      </p:cBhvr>
                                    </p:animEffect>
                                  </p:childTnLst>
                                </p:cTn>
                              </p:par>
                            </p:childTnLst>
                          </p:cTn>
                        </p:par>
                        <p:par>
                          <p:cTn id="16" fill="hold" nodeType="afterGroup">
                            <p:stCondLst>
                              <p:cond delay="1500"/>
                            </p:stCondLst>
                            <p:childTnLst>
                              <p:par>
                                <p:cTn id="17" presetID="16" presetClass="entr" presetSubtype="37" fill="hold" grpId="0" nodeType="afterEffect">
                                  <p:stCondLst>
                                    <p:cond delay="0"/>
                                  </p:stCondLst>
                                  <p:childTnLst>
                                    <p:set>
                                      <p:cBhvr>
                                        <p:cTn id="18" dur="1" fill="hold">
                                          <p:stCondLst>
                                            <p:cond delay="0"/>
                                          </p:stCondLst>
                                        </p:cTn>
                                        <p:tgtEl>
                                          <p:spTgt spid="665605"/>
                                        </p:tgtEl>
                                        <p:attrNameLst>
                                          <p:attrName>style.visibility</p:attrName>
                                        </p:attrNameLst>
                                      </p:cBhvr>
                                      <p:to>
                                        <p:strVal val="visible"/>
                                      </p:to>
                                    </p:set>
                                    <p:animEffect transition="in" filter="barn(outVertical)">
                                      <p:cBhvr>
                                        <p:cTn id="19" dur="500"/>
                                        <p:tgtEl>
                                          <p:spTgt spid="665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02" grpId="0" autoUpdateAnimBg="0"/>
      <p:bldP spid="665604" grpId="0" animBg="1" autoUpdateAnimBg="0"/>
      <p:bldP spid="665605" grpId="0" animBg="1" autoUpdateAnimBg="0"/>
      <p:bldP spid="665606"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F402035B-4414-4F82-8881-295CF2F54A5F}" type="slidenum">
              <a:rPr lang="en-US" altLang="zh-CN" sz="1400" b="0"/>
              <a:pPr eaLnBrk="1" hangingPunct="1"/>
              <a:t>154</a:t>
            </a:fld>
            <a:endParaRPr lang="en-US" altLang="zh-CN" sz="1400" b="0"/>
          </a:p>
        </p:txBody>
      </p:sp>
      <p:graphicFrame>
        <p:nvGraphicFramePr>
          <p:cNvPr id="667650" name="Object 2"/>
          <p:cNvGraphicFramePr>
            <a:graphicFrameLocks noChangeAspect="1"/>
          </p:cNvGraphicFramePr>
          <p:nvPr/>
        </p:nvGraphicFramePr>
        <p:xfrm>
          <a:off x="533400" y="1752600"/>
          <a:ext cx="7985125" cy="3222625"/>
        </p:xfrm>
        <a:graphic>
          <a:graphicData uri="http://schemas.openxmlformats.org/presentationml/2006/ole">
            <mc:AlternateContent xmlns:mc="http://schemas.openxmlformats.org/markup-compatibility/2006">
              <mc:Choice xmlns:v="urn:schemas-microsoft-com:vml" Requires="v">
                <p:oleObj spid="_x0000_s6171" name="BMP 图像" r:id="rId3" imgW="3962953" imgH="980952" progId="PBrush">
                  <p:embed/>
                </p:oleObj>
              </mc:Choice>
              <mc:Fallback>
                <p:oleObj name="BMP 图像" r:id="rId3" imgW="3962953" imgH="980952" progId="PBrush">
                  <p:embed/>
                  <p:pic>
                    <p:nvPicPr>
                      <p:cNvPr id="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752600"/>
                        <a:ext cx="7985125"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tx2"/>
                            </a:solidFill>
                            <a:miter lim="800000"/>
                            <a:headEnd/>
                            <a:tailEnd/>
                          </a14:hiddenLine>
                        </a:ext>
                      </a:extLst>
                    </p:spPr>
                  </p:pic>
                </p:oleObj>
              </mc:Fallback>
            </mc:AlternateContent>
          </a:graphicData>
        </a:graphic>
      </p:graphicFrame>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42" fill="hold" nodeType="afterEffect">
                                  <p:stCondLst>
                                    <p:cond delay="0"/>
                                  </p:stCondLst>
                                  <p:childTnLst>
                                    <p:set>
                                      <p:cBhvr>
                                        <p:cTn id="6" dur="1" fill="hold">
                                          <p:stCondLst>
                                            <p:cond delay="0"/>
                                          </p:stCondLst>
                                        </p:cTn>
                                        <p:tgtEl>
                                          <p:spTgt spid="667650"/>
                                        </p:tgtEl>
                                        <p:attrNameLst>
                                          <p:attrName>style.visibility</p:attrName>
                                        </p:attrNameLst>
                                      </p:cBhvr>
                                      <p:to>
                                        <p:strVal val="visible"/>
                                      </p:to>
                                    </p:set>
                                    <p:animEffect transition="in" filter="barn(outHorizontal)">
                                      <p:cBhvr>
                                        <p:cTn id="7" dur="500"/>
                                        <p:tgtEl>
                                          <p:spTgt spid="66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D360D2C-2151-485F-9DAE-C5840AF8B482}" type="slidenum">
              <a:rPr lang="en-US" altLang="zh-CN" sz="1400" b="0"/>
              <a:pPr eaLnBrk="1" hangingPunct="1"/>
              <a:t>155</a:t>
            </a:fld>
            <a:endParaRPr lang="en-US" altLang="zh-CN" sz="1400" b="0"/>
          </a:p>
        </p:txBody>
      </p:sp>
      <p:sp>
        <p:nvSpPr>
          <p:cNvPr id="668674" name="Rectangle 2" descr="小棋盘"/>
          <p:cNvSpPr>
            <a:spLocks noChangeArrowheads="1"/>
          </p:cNvSpPr>
          <p:nvPr/>
        </p:nvSpPr>
        <p:spPr bwMode="auto">
          <a:xfrm>
            <a:off x="381000" y="1143000"/>
            <a:ext cx="1828800" cy="2298700"/>
          </a:xfrm>
          <a:prstGeom prst="rect">
            <a:avLst/>
          </a:prstGeom>
          <a:pattFill prst="smCheck">
            <a:fgClr>
              <a:srgbClr val="FFFF00"/>
            </a:fgClr>
            <a:bgClr>
              <a:schemeClr val="bg1"/>
            </a:bgClr>
          </a:pattFill>
          <a:ln w="9525">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a:solidFill>
                  <a:srgbClr val="FF0000"/>
                </a:solidFill>
                <a:latin typeface="宋体" panose="02010600030101010101" pitchFamily="2" charset="-122"/>
              </a:rPr>
              <a:t>复位</a:t>
            </a:r>
          </a:p>
          <a:p>
            <a:pPr algn="ctr" eaLnBrk="1" hangingPunct="1"/>
            <a:r>
              <a:rPr lang="zh-CN" altLang="en-US" sz="3600">
                <a:solidFill>
                  <a:srgbClr val="FF0000"/>
                </a:solidFill>
                <a:latin typeface="宋体" panose="02010600030101010101" pitchFamily="2" charset="-122"/>
              </a:rPr>
              <a:t>方法</a:t>
            </a:r>
          </a:p>
          <a:p>
            <a:pPr algn="ctr" eaLnBrk="1" hangingPunct="1"/>
            <a:r>
              <a:rPr lang="zh-CN" altLang="en-US" sz="3600">
                <a:solidFill>
                  <a:srgbClr val="FF0000"/>
                </a:solidFill>
              </a:rPr>
              <a:t>“</a:t>
            </a:r>
            <a:r>
              <a:rPr lang="zh-CN" altLang="en-US" sz="3600">
                <a:solidFill>
                  <a:srgbClr val="FF0000"/>
                </a:solidFill>
                <a:latin typeface="宋体" panose="02010600030101010101" pitchFamily="2" charset="-122"/>
              </a:rPr>
              <a:t>唤醒</a:t>
            </a:r>
            <a:r>
              <a:rPr lang="zh-CN" altLang="en-US" sz="3600">
                <a:solidFill>
                  <a:srgbClr val="FF0000"/>
                </a:solidFill>
              </a:rPr>
              <a:t>”</a:t>
            </a:r>
            <a:endParaRPr lang="zh-CN" altLang="en-US" sz="3600">
              <a:solidFill>
                <a:srgbClr val="FF0000"/>
              </a:solidFill>
              <a:latin typeface="宋体" panose="02010600030101010101" pitchFamily="2" charset="-122"/>
            </a:endParaRPr>
          </a:p>
          <a:p>
            <a:pPr algn="ctr" eaLnBrk="1" hangingPunct="1"/>
            <a:r>
              <a:rPr lang="en-US" altLang="zh-CN" sz="3600">
                <a:solidFill>
                  <a:srgbClr val="FF0000"/>
                </a:solidFill>
                <a:latin typeface="宋体" panose="02010600030101010101" pitchFamily="2" charset="-122"/>
              </a:rPr>
              <a:t>IDLE3</a:t>
            </a:r>
            <a:endParaRPr lang="en-US" altLang="zh-CN" sz="3600">
              <a:solidFill>
                <a:srgbClr val="FF0000"/>
              </a:solidFill>
            </a:endParaRPr>
          </a:p>
        </p:txBody>
      </p:sp>
      <p:sp>
        <p:nvSpPr>
          <p:cNvPr id="668675" name="Rectangle 3"/>
          <p:cNvSpPr>
            <a:spLocks noChangeArrowheads="1"/>
          </p:cNvSpPr>
          <p:nvPr/>
        </p:nvSpPr>
        <p:spPr bwMode="auto">
          <a:xfrm>
            <a:off x="2286000" y="1600200"/>
            <a:ext cx="6470650" cy="1200150"/>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latin typeface="宋体" panose="02010600030101010101" pitchFamily="2" charset="-122"/>
              </a:rPr>
              <a:t>不用减法计数器</a:t>
            </a:r>
          </a:p>
          <a:p>
            <a:pPr eaLnBrk="1" hangingPunct="1"/>
            <a:r>
              <a:rPr lang="en-US" altLang="zh-CN" sz="3600">
                <a:latin typeface="宋体" panose="02010600030101010101" pitchFamily="2" charset="-122"/>
              </a:rPr>
              <a:t>PLL</a:t>
            </a:r>
            <a:r>
              <a:rPr lang="zh-CN" altLang="en-US" sz="3600">
                <a:latin typeface="宋体" panose="02010600030101010101" pitchFamily="2" charset="-122"/>
              </a:rPr>
              <a:t>输出立即加到内部逻辑电路</a:t>
            </a:r>
          </a:p>
        </p:txBody>
      </p:sp>
      <p:sp>
        <p:nvSpPr>
          <p:cNvPr id="668676" name="Rectangle 4" descr="小棋盘"/>
          <p:cNvSpPr>
            <a:spLocks noChangeArrowheads="1"/>
          </p:cNvSpPr>
          <p:nvPr/>
        </p:nvSpPr>
        <p:spPr bwMode="auto">
          <a:xfrm>
            <a:off x="685800" y="4343400"/>
            <a:ext cx="1108075" cy="650875"/>
          </a:xfrm>
          <a:prstGeom prst="rect">
            <a:avLst/>
          </a:prstGeom>
          <a:pattFill prst="smCheck">
            <a:fgClr>
              <a:srgbClr val="FFFF00"/>
            </a:fgClr>
            <a:bgClr>
              <a:schemeClr val="bg1"/>
            </a:bgClr>
          </a:pattFill>
          <a:ln w="9525">
            <a:solidFill>
              <a:schemeClr val="folHlink"/>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chemeClr val="tx2"/>
                </a:solidFill>
                <a:latin typeface="宋体" panose="02010600030101010101" pitchFamily="2" charset="-122"/>
                <a:cs typeface="Arial" panose="020B0604020202020204" pitchFamily="34" charset="0"/>
              </a:rPr>
              <a:t>要求</a:t>
            </a:r>
          </a:p>
        </p:txBody>
      </p:sp>
      <p:grpSp>
        <p:nvGrpSpPr>
          <p:cNvPr id="7175" name="Group 5"/>
          <p:cNvGrpSpPr>
            <a:grpSpLocks/>
          </p:cNvGrpSpPr>
          <p:nvPr/>
        </p:nvGrpSpPr>
        <p:grpSpPr bwMode="auto">
          <a:xfrm>
            <a:off x="2195513" y="3933825"/>
            <a:ext cx="6281737" cy="1563688"/>
            <a:chOff x="1383" y="2478"/>
            <a:chExt cx="3957" cy="985"/>
          </a:xfrm>
        </p:grpSpPr>
        <p:sp>
          <p:nvSpPr>
            <p:cNvPr id="7176" name="Rectangle 6"/>
            <p:cNvSpPr>
              <a:spLocks noChangeArrowheads="1"/>
            </p:cNvSpPr>
            <p:nvPr/>
          </p:nvSpPr>
          <p:spPr bwMode="auto">
            <a:xfrm>
              <a:off x="1383" y="2478"/>
              <a:ext cx="3957" cy="98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3200">
                  <a:latin typeface="宋体" panose="02010600030101010101" pitchFamily="2" charset="-122"/>
                </a:rPr>
                <a:t>　　</a:t>
              </a:r>
              <a:r>
                <a:rPr lang="zh-CN" altLang="en-US" sz="3200">
                  <a:solidFill>
                    <a:srgbClr val="003300"/>
                  </a:solidFill>
                  <a:latin typeface="宋体" panose="02010600030101010101" pitchFamily="2" charset="-122"/>
                </a:rPr>
                <a:t>的低电平应大于</a:t>
              </a:r>
              <a:r>
                <a:rPr lang="en-US" altLang="zh-CN" sz="3200">
                  <a:solidFill>
                    <a:srgbClr val="003300"/>
                  </a:solidFill>
                  <a:latin typeface="宋体" panose="02010600030101010101" pitchFamily="2" charset="-122"/>
                </a:rPr>
                <a:t>50μs</a:t>
              </a:r>
              <a:r>
                <a:rPr lang="zh-CN" altLang="en-US" sz="3200">
                  <a:solidFill>
                    <a:srgbClr val="003300"/>
                  </a:solidFill>
                  <a:latin typeface="宋体" panose="02010600030101010101" pitchFamily="2" charset="-122"/>
                </a:rPr>
                <a:t>，以保证</a:t>
              </a:r>
              <a:r>
                <a:rPr lang="en-US" altLang="zh-CN" sz="3200">
                  <a:solidFill>
                    <a:srgbClr val="003300"/>
                  </a:solidFill>
                  <a:latin typeface="宋体" panose="02010600030101010101" pitchFamily="2" charset="-122"/>
                </a:rPr>
                <a:t>PLL</a:t>
              </a:r>
              <a:r>
                <a:rPr lang="zh-CN" altLang="en-US" sz="3200">
                  <a:solidFill>
                    <a:srgbClr val="003300"/>
                  </a:solidFill>
                  <a:latin typeface="宋体" panose="02010600030101010101" pitchFamily="2" charset="-122"/>
                </a:rPr>
                <a:t>有</a:t>
              </a:r>
              <a:r>
                <a:rPr lang="en-US" altLang="zh-CN" sz="3200">
                  <a:solidFill>
                    <a:srgbClr val="003300"/>
                  </a:solidFill>
                  <a:latin typeface="宋体" panose="02010600030101010101" pitchFamily="2" charset="-122"/>
                </a:rPr>
                <a:t>50μs</a:t>
              </a:r>
              <a:r>
                <a:rPr lang="zh-CN" altLang="en-US" sz="3200">
                  <a:solidFill>
                    <a:srgbClr val="003300"/>
                  </a:solidFill>
                  <a:latin typeface="宋体" panose="02010600030101010101" pitchFamily="2" charset="-122"/>
                </a:rPr>
                <a:t>的锁存时间，不致用不稳定的时钟启动工作。</a:t>
              </a:r>
              <a:endParaRPr lang="zh-CN" altLang="en-US" sz="3200">
                <a:solidFill>
                  <a:srgbClr val="003300"/>
                </a:solidFill>
              </a:endParaRPr>
            </a:p>
          </p:txBody>
        </p:sp>
        <p:graphicFrame>
          <p:nvGraphicFramePr>
            <p:cNvPr id="7170" name="Object 7"/>
            <p:cNvGraphicFramePr>
              <a:graphicFrameLocks noChangeAspect="1"/>
            </p:cNvGraphicFramePr>
            <p:nvPr/>
          </p:nvGraphicFramePr>
          <p:xfrm>
            <a:off x="1565" y="2478"/>
            <a:ext cx="397" cy="351"/>
          </p:xfrm>
          <a:graphic>
            <a:graphicData uri="http://schemas.openxmlformats.org/presentationml/2006/ole">
              <mc:AlternateContent xmlns:mc="http://schemas.openxmlformats.org/markup-compatibility/2006">
                <mc:Choice xmlns:v="urn:schemas-microsoft-com:vml" Requires="v">
                  <p:oleObj spid="_x0000_s7200" name="公式" r:id="rId3" imgW="203024" imgH="203024" progId="">
                    <p:embed/>
                  </p:oleObj>
                </mc:Choice>
                <mc:Fallback>
                  <p:oleObj name="公式" r:id="rId3" imgW="203024" imgH="203024" progId="">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5" y="2478"/>
                          <a:ext cx="397" cy="3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668674"/>
                                        </p:tgtEl>
                                        <p:attrNameLst>
                                          <p:attrName>style.visibility</p:attrName>
                                        </p:attrNameLst>
                                      </p:cBhvr>
                                      <p:to>
                                        <p:strVal val="visible"/>
                                      </p:to>
                                    </p:set>
                                    <p:animEffect transition="in" filter="blinds(vertical)">
                                      <p:cBhvr>
                                        <p:cTn id="7" dur="500"/>
                                        <p:tgtEl>
                                          <p:spTgt spid="668674"/>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668675"/>
                                        </p:tgtEl>
                                        <p:attrNameLst>
                                          <p:attrName>style.visibility</p:attrName>
                                        </p:attrNameLst>
                                      </p:cBhvr>
                                      <p:to>
                                        <p:strVal val="visible"/>
                                      </p:to>
                                    </p:set>
                                    <p:animEffect transition="in" filter="slide(fromLeft)">
                                      <p:cBhvr>
                                        <p:cTn id="11" dur="500"/>
                                        <p:tgtEl>
                                          <p:spTgt spid="668675"/>
                                        </p:tgtEl>
                                      </p:cBhvr>
                                    </p:animEffect>
                                  </p:childTnLst>
                                </p:cTn>
                              </p:par>
                            </p:childTnLst>
                          </p:cTn>
                        </p:par>
                        <p:par>
                          <p:cTn id="12" fill="hold" nodeType="afterGroup">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668676"/>
                                        </p:tgtEl>
                                        <p:attrNameLst>
                                          <p:attrName>style.visibility</p:attrName>
                                        </p:attrNameLst>
                                      </p:cBhvr>
                                      <p:to>
                                        <p:strVal val="visible"/>
                                      </p:to>
                                    </p:set>
                                    <p:anim calcmode="lin" valueType="num">
                                      <p:cBhvr additive="base">
                                        <p:cTn id="15" dur="500" fill="hold"/>
                                        <p:tgtEl>
                                          <p:spTgt spid="668676"/>
                                        </p:tgtEl>
                                        <p:attrNameLst>
                                          <p:attrName>ppt_x</p:attrName>
                                        </p:attrNameLst>
                                      </p:cBhvr>
                                      <p:tavLst>
                                        <p:tav tm="0">
                                          <p:val>
                                            <p:strVal val="0-#ppt_w/2"/>
                                          </p:val>
                                        </p:tav>
                                        <p:tav tm="100000">
                                          <p:val>
                                            <p:strVal val="#ppt_x"/>
                                          </p:val>
                                        </p:tav>
                                      </p:tavLst>
                                    </p:anim>
                                    <p:anim calcmode="lin" valueType="num">
                                      <p:cBhvr additive="base">
                                        <p:cTn id="16" dur="500" fill="hold"/>
                                        <p:tgtEl>
                                          <p:spTgt spid="6686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74" grpId="0" animBg="1" autoUpdateAnimBg="0"/>
      <p:bldP spid="668675" grpId="0" animBg="1" autoUpdateAnimBg="0"/>
      <p:bldP spid="668676" grpId="0" animBg="1" autoUpdateAnimBg="0"/>
    </p:bldLst>
  </p:timing>
</p:sld>
</file>

<file path=ppt/slides/slide1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bwMode="auto">
          <a:xfrm>
            <a:off x="2286000" y="1143000"/>
            <a:ext cx="44196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二、保持方式</a:t>
            </a:r>
            <a:r>
              <a:rPr lang="zh-CN" altLang="en-US" b="1"/>
              <a:t> </a:t>
            </a:r>
          </a:p>
        </p:txBody>
      </p:sp>
      <p:sp>
        <p:nvSpPr>
          <p:cNvPr id="8196" name="Rectangle 3"/>
          <p:cNvSpPr>
            <a:spLocks noGrp="1" noChangeArrowheads="1"/>
          </p:cNvSpPr>
          <p:nvPr>
            <p:ph idx="1"/>
          </p:nvPr>
        </p:nvSpPr>
        <p:spPr bwMode="auto">
          <a:xfrm>
            <a:off x="914400" y="1828800"/>
            <a:ext cx="4953000" cy="1295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latin typeface="宋体" panose="02010600030101010101" pitchFamily="2" charset="-122"/>
              </a:rPr>
              <a:t>何种情况使用保持方式</a:t>
            </a:r>
            <a:r>
              <a:rPr lang="zh-CN" altLang="en-US" b="1"/>
              <a:t> </a:t>
            </a:r>
          </a:p>
          <a:p>
            <a:pPr eaLnBrk="1" hangingPunct="1"/>
            <a:r>
              <a:rPr lang="zh-CN" altLang="en-US" b="1">
                <a:latin typeface="宋体" panose="02010600030101010101" pitchFamily="2" charset="-122"/>
              </a:rPr>
              <a:t>如何进入保持方式</a:t>
            </a:r>
            <a:endParaRPr lang="zh-CN" altLang="en-US" b="1"/>
          </a:p>
        </p:txBody>
      </p:sp>
      <p:sp>
        <p:nvSpPr>
          <p:cNvPr id="819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418FCCF-CDC0-4AC7-807D-0B1D2DDA98D0}" type="slidenum">
              <a:rPr lang="en-US" altLang="zh-CN" sz="1400" b="0"/>
              <a:pPr eaLnBrk="1" hangingPunct="1"/>
              <a:t>156</a:t>
            </a:fld>
            <a:endParaRPr lang="en-US" altLang="zh-CN" sz="1400" b="0"/>
          </a:p>
        </p:txBody>
      </p:sp>
      <p:graphicFrame>
        <p:nvGraphicFramePr>
          <p:cNvPr id="669700" name="Object 4"/>
          <p:cNvGraphicFramePr>
            <a:graphicFrameLocks noChangeAspect="1"/>
          </p:cNvGraphicFramePr>
          <p:nvPr/>
        </p:nvGraphicFramePr>
        <p:xfrm>
          <a:off x="609600" y="3124200"/>
          <a:ext cx="7848600" cy="3352800"/>
        </p:xfrm>
        <a:graphic>
          <a:graphicData uri="http://schemas.openxmlformats.org/presentationml/2006/ole">
            <mc:AlternateContent xmlns:mc="http://schemas.openxmlformats.org/markup-compatibility/2006">
              <mc:Choice xmlns:v="urn:schemas-microsoft-com:vml" Requires="v">
                <p:oleObj spid="_x0000_s8224" name="BMP 图像" r:id="rId3" imgW="3820058" imgH="2152951" progId="PBrush">
                  <p:embed/>
                </p:oleObj>
              </mc:Choice>
              <mc:Fallback>
                <p:oleObj name="BMP 图像" r:id="rId3" imgW="3820058" imgH="2152951" progId="PBrush">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124200"/>
                        <a:ext cx="7848600" cy="3352800"/>
                      </a:xfrm>
                      <a:prstGeom prst="rect">
                        <a:avLst/>
                      </a:prstGeom>
                      <a:noFill/>
                      <a:ln w="57150">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9701" name="AutoShape 5" descr="小棋盘"/>
          <p:cNvSpPr>
            <a:spLocks noChangeArrowheads="1"/>
          </p:cNvSpPr>
          <p:nvPr/>
        </p:nvSpPr>
        <p:spPr bwMode="auto">
          <a:xfrm>
            <a:off x="6324600" y="914400"/>
            <a:ext cx="2590800" cy="1981200"/>
          </a:xfrm>
          <a:prstGeom prst="wedgeRoundRectCallout">
            <a:avLst>
              <a:gd name="adj1" fmla="val -80514"/>
              <a:gd name="adj2" fmla="val 15065"/>
              <a:gd name="adj3" fmla="val 16667"/>
            </a:avLst>
          </a:prstGeom>
          <a:pattFill prst="smCheck">
            <a:fgClr>
              <a:schemeClr val="accent1"/>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FF"/>
                </a:solidFill>
                <a:latin typeface="宋体" panose="02010600030101010101" pitchFamily="2" charset="-122"/>
              </a:rPr>
              <a:t>允许外部设备控制处理器片外的程序、数据和</a:t>
            </a:r>
            <a:r>
              <a:rPr lang="en-US" altLang="zh-CN" sz="2400">
                <a:solidFill>
                  <a:srgbClr val="FF00FF"/>
                </a:solidFill>
                <a:latin typeface="宋体" panose="02010600030101010101" pitchFamily="2" charset="-122"/>
              </a:rPr>
              <a:t>I/O</a:t>
            </a:r>
            <a:r>
              <a:rPr lang="zh-CN" altLang="en-US" sz="2400">
                <a:solidFill>
                  <a:srgbClr val="FF00FF"/>
                </a:solidFill>
                <a:latin typeface="宋体" panose="02010600030101010101" pitchFamily="2" charset="-122"/>
              </a:rPr>
              <a:t>空间，以便进行</a:t>
            </a:r>
            <a:r>
              <a:rPr lang="en-US" altLang="zh-CN" sz="2400">
                <a:solidFill>
                  <a:srgbClr val="FF00FF"/>
                </a:solidFill>
                <a:latin typeface="宋体" panose="02010600030101010101" pitchFamily="2" charset="-122"/>
              </a:rPr>
              <a:t>DMA</a:t>
            </a:r>
            <a:r>
              <a:rPr lang="zh-CN" altLang="en-US" sz="2400">
                <a:solidFill>
                  <a:srgbClr val="FF00FF"/>
                </a:solidFill>
                <a:latin typeface="宋体" panose="02010600030101010101" pitchFamily="2" charset="-122"/>
              </a:rPr>
              <a:t>操作。</a:t>
            </a:r>
            <a:r>
              <a:rPr lang="zh-CN" altLang="en-US" sz="2400" b="0"/>
              <a:t> </a:t>
            </a:r>
          </a:p>
        </p:txBody>
      </p:sp>
      <p:sp>
        <p:nvSpPr>
          <p:cNvPr id="8199" name="Line 6"/>
          <p:cNvSpPr>
            <a:spLocks noChangeShapeType="1"/>
          </p:cNvSpPr>
          <p:nvPr/>
        </p:nvSpPr>
        <p:spPr bwMode="auto">
          <a:xfrm>
            <a:off x="2376488" y="3644900"/>
            <a:ext cx="1079500" cy="0"/>
          </a:xfrm>
          <a:prstGeom prst="line">
            <a:avLst/>
          </a:prstGeom>
          <a:noFill/>
          <a:ln w="28575">
            <a:solidFill>
              <a:srgbClr val="FF0000"/>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00" name="Line 7"/>
          <p:cNvSpPr>
            <a:spLocks noChangeShapeType="1"/>
          </p:cNvSpPr>
          <p:nvPr/>
        </p:nvSpPr>
        <p:spPr bwMode="auto">
          <a:xfrm>
            <a:off x="6011863" y="4005263"/>
            <a:ext cx="396875" cy="0"/>
          </a:xfrm>
          <a:prstGeom prst="line">
            <a:avLst/>
          </a:prstGeom>
          <a:noFill/>
          <a:ln w="28575">
            <a:solidFill>
              <a:srgbClr val="FF0000"/>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669698"/>
                                        </p:tgtEl>
                                        <p:attrNameLst>
                                          <p:attrName>style.visibility</p:attrName>
                                        </p:attrNameLst>
                                      </p:cBhvr>
                                      <p:to>
                                        <p:strVal val="visible"/>
                                      </p:to>
                                    </p:set>
                                    <p:anim calcmode="lin" valueType="num">
                                      <p:cBhvr>
                                        <p:cTn id="7" dur="1000" fill="hold"/>
                                        <p:tgtEl>
                                          <p:spTgt spid="669698"/>
                                        </p:tgtEl>
                                        <p:attrNameLst>
                                          <p:attrName>ppt_w</p:attrName>
                                        </p:attrNameLst>
                                      </p:cBhvr>
                                      <p:tavLst>
                                        <p:tav tm="0">
                                          <p:val>
                                            <p:fltVal val="0"/>
                                          </p:val>
                                        </p:tav>
                                        <p:tav tm="100000">
                                          <p:val>
                                            <p:strVal val="#ppt_w"/>
                                          </p:val>
                                        </p:tav>
                                      </p:tavLst>
                                    </p:anim>
                                    <p:anim calcmode="lin" valueType="num">
                                      <p:cBhvr>
                                        <p:cTn id="8" dur="1000" fill="hold"/>
                                        <p:tgtEl>
                                          <p:spTgt spid="669698"/>
                                        </p:tgtEl>
                                        <p:attrNameLst>
                                          <p:attrName>ppt_h</p:attrName>
                                        </p:attrNameLst>
                                      </p:cBhvr>
                                      <p:tavLst>
                                        <p:tav tm="0">
                                          <p:val>
                                            <p:fltVal val="0"/>
                                          </p:val>
                                        </p:tav>
                                        <p:tav tm="100000">
                                          <p:val>
                                            <p:strVal val="#ppt_h"/>
                                          </p:val>
                                        </p:tav>
                                      </p:tavLst>
                                    </p:anim>
                                    <p:anim calcmode="lin" valueType="num">
                                      <p:cBhvr>
                                        <p:cTn id="9" dur="1000" fill="hold"/>
                                        <p:tgtEl>
                                          <p:spTgt spid="66969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69698"/>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18" presetClass="entr" presetSubtype="12" fill="hold" nodeType="afterEffect">
                                  <p:stCondLst>
                                    <p:cond delay="0"/>
                                  </p:stCondLst>
                                  <p:childTnLst>
                                    <p:set>
                                      <p:cBhvr>
                                        <p:cTn id="13" dur="1" fill="hold">
                                          <p:stCondLst>
                                            <p:cond delay="0"/>
                                          </p:stCondLst>
                                        </p:cTn>
                                        <p:tgtEl>
                                          <p:spTgt spid="669700"/>
                                        </p:tgtEl>
                                        <p:attrNameLst>
                                          <p:attrName>style.visibility</p:attrName>
                                        </p:attrNameLst>
                                      </p:cBhvr>
                                      <p:to>
                                        <p:strVal val="visible"/>
                                      </p:to>
                                    </p:set>
                                    <p:animEffect transition="in" filter="strips(downLeft)">
                                      <p:cBhvr>
                                        <p:cTn id="14" dur="500"/>
                                        <p:tgtEl>
                                          <p:spTgt spid="669700"/>
                                        </p:tgtEl>
                                      </p:cBhvr>
                                    </p:animEffect>
                                  </p:childTnLst>
                                </p:cTn>
                              </p:par>
                            </p:childTnLst>
                          </p:cTn>
                        </p:par>
                        <p:par>
                          <p:cTn id="15" fill="hold" nodeType="afterGroup">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669701"/>
                                        </p:tgtEl>
                                        <p:attrNameLst>
                                          <p:attrName>style.visibility</p:attrName>
                                        </p:attrNameLst>
                                      </p:cBhvr>
                                      <p:to>
                                        <p:strVal val="visible"/>
                                      </p:to>
                                    </p:set>
                                    <p:anim calcmode="lin" valueType="num">
                                      <p:cBhvr additive="base">
                                        <p:cTn id="18" dur="500" fill="hold"/>
                                        <p:tgtEl>
                                          <p:spTgt spid="669701"/>
                                        </p:tgtEl>
                                        <p:attrNameLst>
                                          <p:attrName>ppt_x</p:attrName>
                                        </p:attrNameLst>
                                      </p:cBhvr>
                                      <p:tavLst>
                                        <p:tav tm="0">
                                          <p:val>
                                            <p:strVal val="1+#ppt_w/2"/>
                                          </p:val>
                                        </p:tav>
                                        <p:tav tm="100000">
                                          <p:val>
                                            <p:strVal val="#ppt_x"/>
                                          </p:val>
                                        </p:tav>
                                      </p:tavLst>
                                    </p:anim>
                                    <p:anim calcmode="lin" valueType="num">
                                      <p:cBhvr additive="base">
                                        <p:cTn id="19" dur="500" fill="hold"/>
                                        <p:tgtEl>
                                          <p:spTgt spid="6697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698" grpId="0" autoUpdateAnimBg="0"/>
      <p:bldP spid="669701" grpId="0" animBg="1" autoUpdateAnimBg="0"/>
    </p:bldLst>
  </p:timing>
</p:sld>
</file>

<file path=ppt/slides/slide1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bwMode="auto">
          <a:xfrm>
            <a:off x="685800" y="11430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rgbClr val="FF0000"/>
                </a:solidFill>
                <a:latin typeface="宋体" panose="02010600030101010101" pitchFamily="2" charset="-122"/>
              </a:rPr>
              <a:t>C54x</a:t>
            </a:r>
            <a:r>
              <a:rPr lang="zh-CN" altLang="en-US" b="1">
                <a:solidFill>
                  <a:srgbClr val="FF0000"/>
                </a:solidFill>
                <a:latin typeface="宋体" panose="02010600030101010101" pitchFamily="2" charset="-122"/>
              </a:rPr>
              <a:t>在保持状态的工作方式</a:t>
            </a:r>
            <a:r>
              <a:rPr lang="zh-CN" altLang="en-US" b="1"/>
              <a:t> </a:t>
            </a:r>
          </a:p>
        </p:txBody>
      </p:sp>
      <p:sp>
        <p:nvSpPr>
          <p:cNvPr id="165891" name="Rectangle 3" descr="小棋盘"/>
          <p:cNvSpPr>
            <a:spLocks noGrp="1" noChangeArrowheads="1"/>
          </p:cNvSpPr>
          <p:nvPr>
            <p:ph idx="1"/>
          </p:nvPr>
        </p:nvSpPr>
        <p:spPr bwMode="auto">
          <a:xfrm>
            <a:off x="1447800" y="2362200"/>
            <a:ext cx="3810000" cy="1295400"/>
          </a:xfrm>
          <a:pattFill prst="smCheck">
            <a:fgClr>
              <a:schemeClr val="accent1"/>
            </a:fgClr>
            <a:bgClr>
              <a:srgbClr val="FFFFFF"/>
            </a:bgClr>
          </a:pattFill>
          <a:ln>
            <a:solidFill>
              <a:schemeClr val="tx2"/>
            </a:solidFill>
            <a:miter lim="800000"/>
            <a:headEnd/>
            <a:tailEnd/>
          </a:ln>
        </p:spPr>
        <p:txBody>
          <a:bodyPr vert="horz" wrap="square" lIns="91440" tIns="45720" rIns="91440" bIns="45720" numCol="1" anchor="t" anchorCtr="0" compatLnSpc="1">
            <a:prstTxWarp prst="textNoShape">
              <a:avLst/>
            </a:prstTxWarp>
          </a:bodyPr>
          <a:lstStyle/>
          <a:p>
            <a:pPr eaLnBrk="1" hangingPunct="1">
              <a:buFontTx/>
              <a:buNone/>
            </a:pPr>
            <a:r>
              <a:rPr lang="en-US" altLang="zh-CN" sz="2800" b="1">
                <a:solidFill>
                  <a:schemeClr val="folHlink"/>
                </a:solidFill>
                <a:latin typeface="宋体" panose="02010600030101010101" pitchFamily="2" charset="-122"/>
              </a:rPr>
              <a:t>1</a:t>
            </a:r>
            <a:r>
              <a:rPr lang="zh-CN" altLang="en-US" sz="2800" b="1">
                <a:solidFill>
                  <a:schemeClr val="folHlink"/>
                </a:solidFill>
                <a:latin typeface="宋体" panose="02010600030101010101" pitchFamily="2" charset="-122"/>
              </a:rPr>
              <a:t>）正常保持方式</a:t>
            </a:r>
            <a:r>
              <a:rPr lang="zh-CN" altLang="en-US" sz="2800" b="1">
                <a:solidFill>
                  <a:schemeClr val="folHlink"/>
                </a:solidFill>
              </a:rPr>
              <a:t> </a:t>
            </a:r>
          </a:p>
          <a:p>
            <a:pPr eaLnBrk="1" hangingPunct="1">
              <a:buFontTx/>
              <a:buNone/>
            </a:pPr>
            <a:r>
              <a:rPr lang="en-US" altLang="zh-CN" sz="2800" b="1">
                <a:solidFill>
                  <a:schemeClr val="folHlink"/>
                </a:solidFill>
                <a:latin typeface="宋体" panose="02010600030101010101" pitchFamily="2" charset="-122"/>
              </a:rPr>
              <a:t>2</a:t>
            </a:r>
            <a:r>
              <a:rPr lang="zh-CN" altLang="en-US" sz="2800" b="1">
                <a:solidFill>
                  <a:schemeClr val="folHlink"/>
                </a:solidFill>
                <a:latin typeface="宋体" panose="02010600030101010101" pitchFamily="2" charset="-122"/>
              </a:rPr>
              <a:t>）并行</a:t>
            </a:r>
            <a:r>
              <a:rPr lang="en-US" altLang="zh-CN" sz="2800" b="1">
                <a:solidFill>
                  <a:schemeClr val="folHlink"/>
                </a:solidFill>
                <a:latin typeface="宋体" panose="02010600030101010101" pitchFamily="2" charset="-122"/>
              </a:rPr>
              <a:t>DMA</a:t>
            </a:r>
            <a:r>
              <a:rPr lang="zh-CN" altLang="en-US" sz="2800" b="1">
                <a:solidFill>
                  <a:schemeClr val="folHlink"/>
                </a:solidFill>
                <a:latin typeface="宋体" panose="02010600030101010101" pitchFamily="2" charset="-122"/>
              </a:rPr>
              <a:t>操作方式</a:t>
            </a:r>
            <a:endParaRPr lang="zh-CN" altLang="en-US" sz="2800" b="1">
              <a:solidFill>
                <a:schemeClr val="folHlink"/>
              </a:solidFill>
            </a:endParaRPr>
          </a:p>
        </p:txBody>
      </p:sp>
      <p:sp>
        <p:nvSpPr>
          <p:cNvPr id="16589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C186BF6-9C61-4B22-8D5F-2194CDF4C0E7}" type="slidenum">
              <a:rPr lang="en-US" altLang="zh-CN" sz="1400" b="0"/>
              <a:pPr eaLnBrk="1" hangingPunct="1"/>
              <a:t>157</a:t>
            </a:fld>
            <a:endParaRPr lang="en-US" altLang="zh-CN" sz="1400" b="0"/>
          </a:p>
        </p:txBody>
      </p:sp>
      <p:sp>
        <p:nvSpPr>
          <p:cNvPr id="670724" name="Rectangle 4" descr="小棋盘"/>
          <p:cNvSpPr>
            <a:spLocks noChangeArrowheads="1"/>
          </p:cNvSpPr>
          <p:nvPr/>
        </p:nvSpPr>
        <p:spPr bwMode="auto">
          <a:xfrm>
            <a:off x="1447800" y="4343400"/>
            <a:ext cx="4492625" cy="1220788"/>
          </a:xfrm>
          <a:prstGeom prst="rect">
            <a:avLst/>
          </a:prstGeom>
          <a:pattFill prst="smCheck">
            <a:fgClr>
              <a:schemeClr val="accent1"/>
            </a:fgClr>
            <a:bgClr>
              <a:srgbClr val="FFFFFF"/>
            </a:bgClr>
          </a:pattFill>
          <a:ln w="57150">
            <a:solidFill>
              <a:srgbClr val="339933"/>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a:solidFill>
                  <a:srgbClr val="FF6600"/>
                </a:solidFill>
                <a:latin typeface="宋体" panose="02010600030101010101" pitchFamily="2" charset="-122"/>
              </a:rPr>
              <a:t>保持状态的维持与确认</a:t>
            </a:r>
          </a:p>
          <a:p>
            <a:pPr eaLnBrk="1" hangingPunct="1">
              <a:spcBef>
                <a:spcPct val="20000"/>
              </a:spcBef>
            </a:pPr>
            <a:r>
              <a:rPr lang="zh-CN" altLang="en-US" sz="3200">
                <a:solidFill>
                  <a:srgbClr val="FF00FF"/>
                </a:solidFill>
                <a:latin typeface="宋体" panose="02010600030101010101" pitchFamily="2" charset="-122"/>
              </a:rPr>
              <a:t>保持状态的退出</a:t>
            </a:r>
            <a:r>
              <a:rPr lang="zh-CN" altLang="en-US" sz="3200">
                <a:latin typeface="宋体" panose="02010600030101010101" pitchFamily="2" charset="-122"/>
              </a:rPr>
              <a:t>  </a:t>
            </a:r>
          </a:p>
        </p:txBody>
      </p:sp>
      <p:sp>
        <p:nvSpPr>
          <p:cNvPr id="670725" name="AutoShape 5" descr="小棋盘"/>
          <p:cNvSpPr>
            <a:spLocks noChangeArrowheads="1"/>
          </p:cNvSpPr>
          <p:nvPr/>
        </p:nvSpPr>
        <p:spPr bwMode="auto">
          <a:xfrm>
            <a:off x="6324600" y="1981200"/>
            <a:ext cx="2590800" cy="3657600"/>
          </a:xfrm>
          <a:prstGeom prst="wedgeRoundRectCallout">
            <a:avLst>
              <a:gd name="adj1" fmla="val -83579"/>
              <a:gd name="adj2" fmla="val -23917"/>
              <a:gd name="adj3" fmla="val 16667"/>
            </a:avLst>
          </a:prstGeom>
          <a:pattFill prst="smCheck">
            <a:fgClr>
              <a:schemeClr val="accent1"/>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400">
                <a:latin typeface="宋体" panose="02010600030101010101" pitchFamily="2" charset="-122"/>
              </a:rPr>
              <a:t>ST1</a:t>
            </a:r>
            <a:r>
              <a:rPr lang="zh-CN" altLang="en-US" sz="2400">
                <a:latin typeface="宋体" panose="02010600030101010101" pitchFamily="2" charset="-122"/>
              </a:rPr>
              <a:t>的</a:t>
            </a:r>
            <a:r>
              <a:rPr lang="en-US" altLang="zh-CN" sz="2400">
                <a:latin typeface="宋体" panose="02010600030101010101" pitchFamily="2" charset="-122"/>
              </a:rPr>
              <a:t>HM</a:t>
            </a:r>
            <a:r>
              <a:rPr lang="zh-CN" altLang="en-US" sz="2400">
                <a:latin typeface="宋体" panose="02010600030101010101" pitchFamily="2" charset="-122"/>
              </a:rPr>
              <a:t>（保持方式）位决定。</a:t>
            </a:r>
          </a:p>
          <a:p>
            <a:pPr eaLnBrk="1" hangingPunct="1"/>
            <a:r>
              <a:rPr lang="en-US" altLang="zh-CN" sz="2400">
                <a:latin typeface="宋体" panose="02010600030101010101" pitchFamily="2" charset="-122"/>
              </a:rPr>
              <a:t>HM=1</a:t>
            </a:r>
            <a:r>
              <a:rPr lang="zh-CN" altLang="en-US" sz="2400">
                <a:latin typeface="宋体" panose="02010600030101010101" pitchFamily="2" charset="-122"/>
              </a:rPr>
              <a:t>，为正常保持方式。 </a:t>
            </a:r>
            <a:r>
              <a:rPr lang="en-US" altLang="zh-CN" sz="2400">
                <a:latin typeface="宋体" panose="02010600030101010101" pitchFamily="2" charset="-122"/>
              </a:rPr>
              <a:t>HM=0</a:t>
            </a:r>
            <a:r>
              <a:rPr lang="zh-CN" altLang="en-US" sz="2400">
                <a:latin typeface="宋体" panose="02010600030101010101" pitchFamily="2" charset="-122"/>
              </a:rPr>
              <a:t>为并行</a:t>
            </a:r>
            <a:r>
              <a:rPr lang="en-US" altLang="zh-CN" sz="2400">
                <a:latin typeface="宋体" panose="02010600030101010101" pitchFamily="2" charset="-122"/>
              </a:rPr>
              <a:t>DMA</a:t>
            </a:r>
            <a:r>
              <a:rPr lang="zh-CN" altLang="en-US" sz="2400">
                <a:latin typeface="宋体" panose="02010600030101010101" pitchFamily="2" charset="-122"/>
              </a:rPr>
              <a:t>操作方式。处理器可以通过片内存储器（</a:t>
            </a:r>
            <a:r>
              <a:rPr lang="en-US" altLang="zh-CN" sz="2400">
                <a:latin typeface="宋体" panose="02010600030101010101" pitchFamily="2" charset="-122"/>
              </a:rPr>
              <a:t>ROM</a:t>
            </a:r>
            <a:r>
              <a:rPr lang="zh-CN" altLang="en-US" sz="2400">
                <a:latin typeface="宋体" panose="02010600030101010101" pitchFamily="2" charset="-122"/>
              </a:rPr>
              <a:t>或</a:t>
            </a:r>
            <a:r>
              <a:rPr lang="en-US" altLang="zh-CN" sz="2400">
                <a:latin typeface="宋体" panose="02010600030101010101" pitchFamily="2" charset="-122"/>
              </a:rPr>
              <a:t>RAM</a:t>
            </a:r>
            <a:r>
              <a:rPr lang="zh-CN" altLang="en-US" sz="2400">
                <a:latin typeface="宋体" panose="02010600030101010101" pitchFamily="2" charset="-122"/>
              </a:rPr>
              <a:t>）继续执行程序。</a:t>
            </a:r>
            <a:r>
              <a:rPr lang="zh-CN" altLang="en-US" sz="2400" b="0">
                <a:latin typeface="宋体" panose="02010600030101010101" pitchFamily="2" charset="-122"/>
                <a:cs typeface="Arial" panose="020B0604020202020204" pitchFamily="34" charset="0"/>
              </a:rPr>
              <a:t> </a:t>
            </a:r>
            <a:r>
              <a:rPr lang="zh-CN" altLang="en-US" sz="2400" b="0">
                <a:latin typeface="宋体" panose="02010600030101010101" pitchFamily="2" charset="-122"/>
              </a:rPr>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70722"/>
                                        </p:tgtEl>
                                        <p:attrNameLst>
                                          <p:attrName>style.visibility</p:attrName>
                                        </p:attrNameLst>
                                      </p:cBhvr>
                                      <p:to>
                                        <p:strVal val="visible"/>
                                      </p:to>
                                    </p:set>
                                    <p:anim calcmode="lin" valueType="num">
                                      <p:cBhvr additive="base">
                                        <p:cTn id="7" dur="500" fill="hold"/>
                                        <p:tgtEl>
                                          <p:spTgt spid="670722"/>
                                        </p:tgtEl>
                                        <p:attrNameLst>
                                          <p:attrName>ppt_x</p:attrName>
                                        </p:attrNameLst>
                                      </p:cBhvr>
                                      <p:tavLst>
                                        <p:tav tm="0">
                                          <p:val>
                                            <p:strVal val="0-#ppt_w/2"/>
                                          </p:val>
                                        </p:tav>
                                        <p:tav tm="100000">
                                          <p:val>
                                            <p:strVal val="#ppt_x"/>
                                          </p:val>
                                        </p:tav>
                                      </p:tavLst>
                                    </p:anim>
                                    <p:anim calcmode="lin" valueType="num">
                                      <p:cBhvr additive="base">
                                        <p:cTn id="8" dur="500" fill="hold"/>
                                        <p:tgtEl>
                                          <p:spTgt spid="67072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6" presetClass="entr" presetSubtype="26" fill="hold" grpId="0" nodeType="afterEffect">
                                  <p:stCondLst>
                                    <p:cond delay="0"/>
                                  </p:stCondLst>
                                  <p:childTnLst>
                                    <p:set>
                                      <p:cBhvr>
                                        <p:cTn id="11" dur="1" fill="hold">
                                          <p:stCondLst>
                                            <p:cond delay="0"/>
                                          </p:stCondLst>
                                        </p:cTn>
                                        <p:tgtEl>
                                          <p:spTgt spid="670724"/>
                                        </p:tgtEl>
                                        <p:attrNameLst>
                                          <p:attrName>style.visibility</p:attrName>
                                        </p:attrNameLst>
                                      </p:cBhvr>
                                      <p:to>
                                        <p:strVal val="visible"/>
                                      </p:to>
                                    </p:set>
                                    <p:animEffect transition="in" filter="barn(inHorizontal)">
                                      <p:cBhvr>
                                        <p:cTn id="12" dur="500"/>
                                        <p:tgtEl>
                                          <p:spTgt spid="670724"/>
                                        </p:tgtEl>
                                      </p:cBhvr>
                                    </p:animEffect>
                                  </p:childTnLst>
                                </p:cTn>
                              </p:par>
                            </p:childTnLst>
                          </p:cTn>
                        </p:par>
                        <p:par>
                          <p:cTn id="13" fill="hold" nodeType="afterGroup">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670725"/>
                                        </p:tgtEl>
                                        <p:attrNameLst>
                                          <p:attrName>style.visibility</p:attrName>
                                        </p:attrNameLst>
                                      </p:cBhvr>
                                      <p:to>
                                        <p:strVal val="visible"/>
                                      </p:to>
                                    </p:set>
                                    <p:anim calcmode="lin" valueType="num">
                                      <p:cBhvr additive="base">
                                        <p:cTn id="16" dur="500" fill="hold"/>
                                        <p:tgtEl>
                                          <p:spTgt spid="670725"/>
                                        </p:tgtEl>
                                        <p:attrNameLst>
                                          <p:attrName>ppt_x</p:attrName>
                                        </p:attrNameLst>
                                      </p:cBhvr>
                                      <p:tavLst>
                                        <p:tav tm="0">
                                          <p:val>
                                            <p:strVal val="1+#ppt_w/2"/>
                                          </p:val>
                                        </p:tav>
                                        <p:tav tm="100000">
                                          <p:val>
                                            <p:strVal val="#ppt_x"/>
                                          </p:val>
                                        </p:tav>
                                      </p:tavLst>
                                    </p:anim>
                                    <p:anim calcmode="lin" valueType="num">
                                      <p:cBhvr additive="base">
                                        <p:cTn id="17" dur="500" fill="hold"/>
                                        <p:tgtEl>
                                          <p:spTgt spid="6707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22" grpId="0" autoUpdateAnimBg="0"/>
      <p:bldP spid="670724" grpId="0" animBg="1" autoUpdateAnimBg="0"/>
      <p:bldP spid="670725" grpId="0" animBg="1" autoUpdateAnimBg="0"/>
    </p:bldLst>
  </p:timing>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bwMode="auto">
          <a:xfrm>
            <a:off x="1981200" y="990600"/>
            <a:ext cx="5486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第九节  中断处理</a:t>
            </a:r>
            <a:r>
              <a:rPr lang="zh-CN" altLang="en-US" b="1"/>
              <a:t> </a:t>
            </a:r>
          </a:p>
        </p:txBody>
      </p:sp>
      <p:sp>
        <p:nvSpPr>
          <p:cNvPr id="16691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942EDFBA-1370-4EF0-9BA7-59AE41D9DB8F}" type="slidenum">
              <a:rPr lang="en-US" altLang="zh-CN" sz="1400" b="0"/>
              <a:pPr eaLnBrk="1" hangingPunct="1"/>
              <a:t>158</a:t>
            </a:fld>
            <a:endParaRPr lang="en-US" altLang="zh-CN" sz="1400" b="0"/>
          </a:p>
        </p:txBody>
      </p:sp>
      <p:sp>
        <p:nvSpPr>
          <p:cNvPr id="671747" name="Rectangle 3"/>
          <p:cNvSpPr>
            <a:spLocks noChangeArrowheads="1"/>
          </p:cNvSpPr>
          <p:nvPr/>
        </p:nvSpPr>
        <p:spPr bwMode="auto">
          <a:xfrm>
            <a:off x="6781800" y="4495800"/>
            <a:ext cx="1828800" cy="1685925"/>
          </a:xfrm>
          <a:prstGeom prst="rect">
            <a:avLst/>
          </a:prstGeom>
          <a:noFill/>
          <a:ln w="571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Char char="•"/>
            </a:pPr>
            <a:r>
              <a:rPr lang="zh-CN" altLang="en-US" sz="2800">
                <a:latin typeface="宋体" panose="02010600030101010101" pitchFamily="2" charset="-122"/>
              </a:rPr>
              <a:t>程序指令</a:t>
            </a:r>
            <a:r>
              <a:rPr lang="en-US" altLang="zh-CN" sz="2800">
                <a:latin typeface="宋体" panose="02010600030101010101" pitchFamily="2" charset="-122"/>
              </a:rPr>
              <a:t>INTR</a:t>
            </a:r>
            <a:r>
              <a:rPr lang="zh-CN" altLang="en-US" sz="2800">
                <a:latin typeface="宋体" panose="02010600030101010101" pitchFamily="2" charset="-122"/>
              </a:rPr>
              <a:t>　</a:t>
            </a:r>
            <a:r>
              <a:rPr lang="en-US" altLang="zh-CN" sz="2800">
                <a:latin typeface="宋体" panose="02010600030101010101" pitchFamily="2" charset="-122"/>
              </a:rPr>
              <a:t>TRAP</a:t>
            </a:r>
            <a:r>
              <a:rPr lang="zh-CN" altLang="en-US" sz="2800">
                <a:latin typeface="宋体" panose="02010600030101010101" pitchFamily="2" charset="-122"/>
              </a:rPr>
              <a:t>　</a:t>
            </a:r>
            <a:r>
              <a:rPr lang="en-US" altLang="zh-CN" sz="2800">
                <a:latin typeface="宋体" panose="02010600030101010101" pitchFamily="2" charset="-122"/>
              </a:rPr>
              <a:t>RESET </a:t>
            </a:r>
          </a:p>
        </p:txBody>
      </p:sp>
      <p:grpSp>
        <p:nvGrpSpPr>
          <p:cNvPr id="2" name="Group 4"/>
          <p:cNvGrpSpPr>
            <a:grpSpLocks/>
          </p:cNvGrpSpPr>
          <p:nvPr/>
        </p:nvGrpSpPr>
        <p:grpSpPr bwMode="auto">
          <a:xfrm>
            <a:off x="2916238" y="1989138"/>
            <a:ext cx="5638800" cy="2514600"/>
            <a:chOff x="1056" y="1344"/>
            <a:chExt cx="3552" cy="1584"/>
          </a:xfrm>
        </p:grpSpPr>
        <p:sp>
          <p:nvSpPr>
            <p:cNvPr id="166920" name="Rectangle 5" descr="小棋盘"/>
            <p:cNvSpPr>
              <a:spLocks noChangeArrowheads="1"/>
            </p:cNvSpPr>
            <p:nvPr/>
          </p:nvSpPr>
          <p:spPr bwMode="auto">
            <a:xfrm>
              <a:off x="1776" y="1344"/>
              <a:ext cx="1920" cy="410"/>
            </a:xfrm>
            <a:prstGeom prst="rect">
              <a:avLst/>
            </a:prstGeom>
            <a:pattFill prst="smCheck">
              <a:fgClr>
                <a:schemeClr val="accent1"/>
              </a:fgClr>
              <a:bgClr>
                <a:srgbClr val="FFFFFF"/>
              </a:bgClr>
            </a:pattFill>
            <a:ln w="9525">
              <a:solidFill>
                <a:schemeClr val="tx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solidFill>
                    <a:schemeClr val="tx2"/>
                  </a:solidFill>
                  <a:ea typeface="仿宋_GB2312" pitchFamily="49" charset="-122"/>
                </a:rPr>
                <a:t>1</a:t>
              </a:r>
              <a:r>
                <a:rPr lang="zh-CN" altLang="en-US" sz="3600">
                  <a:solidFill>
                    <a:schemeClr val="tx2"/>
                  </a:solidFill>
                  <a:ea typeface="仿宋_GB2312" pitchFamily="49" charset="-122"/>
                </a:rPr>
                <a:t>．中断来源</a:t>
              </a:r>
            </a:p>
          </p:txBody>
        </p:sp>
        <p:sp>
          <p:nvSpPr>
            <p:cNvPr id="166921" name="Rectangle 6" descr="大棋盘"/>
            <p:cNvSpPr>
              <a:spLocks noChangeArrowheads="1"/>
            </p:cNvSpPr>
            <p:nvPr/>
          </p:nvSpPr>
          <p:spPr bwMode="auto">
            <a:xfrm>
              <a:off x="3408" y="2160"/>
              <a:ext cx="1200" cy="371"/>
            </a:xfrm>
            <a:prstGeom prst="rect">
              <a:avLst/>
            </a:prstGeom>
            <a:pattFill prst="lgCheck">
              <a:fgClr>
                <a:schemeClr val="accent1"/>
              </a:fgClr>
              <a:bgClr>
                <a:srgbClr val="FFFFFF"/>
              </a:bgClr>
            </a:pattFill>
            <a:ln w="9525">
              <a:solidFill>
                <a:schemeClr val="accent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solidFill>
                    <a:schemeClr val="folHlink"/>
                  </a:solidFill>
                  <a:latin typeface="宋体" panose="02010600030101010101" pitchFamily="2" charset="-122"/>
                </a:rPr>
                <a:t>软件驱动</a:t>
              </a:r>
            </a:p>
          </p:txBody>
        </p:sp>
        <p:sp>
          <p:nvSpPr>
            <p:cNvPr id="166922" name="Rectangle 7" descr="小棋盘"/>
            <p:cNvSpPr>
              <a:spLocks noChangeArrowheads="1"/>
            </p:cNvSpPr>
            <p:nvPr/>
          </p:nvSpPr>
          <p:spPr bwMode="auto">
            <a:xfrm>
              <a:off x="1056" y="2160"/>
              <a:ext cx="1150" cy="371"/>
            </a:xfrm>
            <a:prstGeom prst="rect">
              <a:avLst/>
            </a:prstGeom>
            <a:pattFill prst="smCheck">
              <a:fgClr>
                <a:schemeClr val="accent1"/>
              </a:fgClr>
              <a:bgClr>
                <a:srgbClr val="FFFFFF"/>
              </a:bgClr>
            </a:pattFill>
            <a:ln w="9525">
              <a:solidFill>
                <a:schemeClr val="accent2"/>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solidFill>
                    <a:srgbClr val="FF0000"/>
                  </a:solidFill>
                  <a:latin typeface="宋体" panose="02010600030101010101" pitchFamily="2" charset="-122"/>
                </a:rPr>
                <a:t>硬件驱动</a:t>
              </a:r>
            </a:p>
          </p:txBody>
        </p:sp>
        <p:sp>
          <p:nvSpPr>
            <p:cNvPr id="166923" name="Line 8"/>
            <p:cNvSpPr>
              <a:spLocks noChangeShapeType="1"/>
            </p:cNvSpPr>
            <p:nvPr/>
          </p:nvSpPr>
          <p:spPr bwMode="auto">
            <a:xfrm>
              <a:off x="1632" y="1872"/>
              <a:ext cx="0" cy="288"/>
            </a:xfrm>
            <a:prstGeom prst="line">
              <a:avLst/>
            </a:prstGeom>
            <a:noFill/>
            <a:ln w="76200">
              <a:solidFill>
                <a:srgbClr val="339933"/>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6924" name="Line 9"/>
            <p:cNvSpPr>
              <a:spLocks noChangeShapeType="1"/>
            </p:cNvSpPr>
            <p:nvPr/>
          </p:nvSpPr>
          <p:spPr bwMode="auto">
            <a:xfrm>
              <a:off x="3936" y="1872"/>
              <a:ext cx="0" cy="288"/>
            </a:xfrm>
            <a:prstGeom prst="line">
              <a:avLst/>
            </a:prstGeom>
            <a:noFill/>
            <a:ln w="76200">
              <a:solidFill>
                <a:srgbClr val="339933"/>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6925" name="Line 10"/>
            <p:cNvSpPr>
              <a:spLocks noChangeShapeType="1"/>
            </p:cNvSpPr>
            <p:nvPr/>
          </p:nvSpPr>
          <p:spPr bwMode="auto">
            <a:xfrm>
              <a:off x="1632" y="1872"/>
              <a:ext cx="2304" cy="0"/>
            </a:xfrm>
            <a:prstGeom prst="line">
              <a:avLst/>
            </a:prstGeom>
            <a:noFill/>
            <a:ln w="76200">
              <a:solidFill>
                <a:srgbClr val="339933"/>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6926" name="Line 11"/>
            <p:cNvSpPr>
              <a:spLocks noChangeShapeType="1"/>
            </p:cNvSpPr>
            <p:nvPr/>
          </p:nvSpPr>
          <p:spPr bwMode="auto">
            <a:xfrm>
              <a:off x="2784" y="1776"/>
              <a:ext cx="0" cy="96"/>
            </a:xfrm>
            <a:prstGeom prst="line">
              <a:avLst/>
            </a:prstGeom>
            <a:noFill/>
            <a:ln w="76200">
              <a:solidFill>
                <a:srgbClr val="339933"/>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6927" name="Line 12"/>
            <p:cNvSpPr>
              <a:spLocks noChangeShapeType="1"/>
            </p:cNvSpPr>
            <p:nvPr/>
          </p:nvSpPr>
          <p:spPr bwMode="auto">
            <a:xfrm>
              <a:off x="1632" y="2544"/>
              <a:ext cx="0" cy="384"/>
            </a:xfrm>
            <a:prstGeom prst="line">
              <a:avLst/>
            </a:prstGeom>
            <a:noFill/>
            <a:ln w="762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6928" name="Line 13"/>
            <p:cNvSpPr>
              <a:spLocks noChangeShapeType="1"/>
            </p:cNvSpPr>
            <p:nvPr/>
          </p:nvSpPr>
          <p:spPr bwMode="auto">
            <a:xfrm>
              <a:off x="3984" y="2544"/>
              <a:ext cx="0" cy="384"/>
            </a:xfrm>
            <a:prstGeom prst="line">
              <a:avLst/>
            </a:prstGeom>
            <a:noFill/>
            <a:ln w="762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671758" name="Rectangle 14"/>
          <p:cNvSpPr>
            <a:spLocks noChangeArrowheads="1"/>
          </p:cNvSpPr>
          <p:nvPr/>
        </p:nvSpPr>
        <p:spPr bwMode="auto">
          <a:xfrm>
            <a:off x="457200" y="2057400"/>
            <a:ext cx="3124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FF0000"/>
                </a:solidFill>
                <a:latin typeface="宋体" panose="02010600030101010101" pitchFamily="2" charset="-122"/>
              </a:rPr>
              <a:t>一、中断类型</a:t>
            </a:r>
            <a:r>
              <a:rPr lang="zh-CN" altLang="en-US" sz="3600"/>
              <a:t> </a:t>
            </a:r>
          </a:p>
        </p:txBody>
      </p:sp>
      <p:sp>
        <p:nvSpPr>
          <p:cNvPr id="671759" name="Rectangle 15"/>
          <p:cNvSpPr>
            <a:spLocks noChangeArrowheads="1"/>
          </p:cNvSpPr>
          <p:nvPr/>
        </p:nvSpPr>
        <p:spPr bwMode="auto">
          <a:xfrm>
            <a:off x="2057400" y="4495800"/>
            <a:ext cx="3581400" cy="1881188"/>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Char char="•"/>
            </a:pPr>
            <a:r>
              <a:rPr lang="zh-CN" altLang="en-US" sz="2800">
                <a:latin typeface="宋体" panose="02010600030101010101" pitchFamily="2" charset="-122"/>
              </a:rPr>
              <a:t>受外部中断口信号触发的外部硬件中断</a:t>
            </a:r>
          </a:p>
          <a:p>
            <a:pPr eaLnBrk="1" hangingPunct="1">
              <a:lnSpc>
                <a:spcPct val="90000"/>
              </a:lnSpc>
              <a:spcBef>
                <a:spcPct val="50000"/>
              </a:spcBef>
              <a:buFontTx/>
              <a:buChar char="•"/>
            </a:pPr>
            <a:r>
              <a:rPr lang="zh-CN" altLang="en-US" sz="2800">
                <a:latin typeface="宋体" panose="02010600030101010101" pitchFamily="2" charset="-122"/>
              </a:rPr>
              <a:t>受片内外围电路信号触发的内部硬件中断</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71746"/>
                                        </p:tgtEl>
                                        <p:attrNameLst>
                                          <p:attrName>style.visibility</p:attrName>
                                        </p:attrNameLst>
                                      </p:cBhvr>
                                      <p:to>
                                        <p:strVal val="visible"/>
                                      </p:to>
                                    </p:set>
                                    <p:animEffect transition="in" filter="blinds(horizontal)">
                                      <p:cBhvr>
                                        <p:cTn id="7" dur="500"/>
                                        <p:tgtEl>
                                          <p:spTgt spid="671746"/>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71758"/>
                                        </p:tgtEl>
                                        <p:attrNameLst>
                                          <p:attrName>style.visibility</p:attrName>
                                        </p:attrNameLst>
                                      </p:cBhvr>
                                      <p:to>
                                        <p:strVal val="visible"/>
                                      </p:to>
                                    </p:set>
                                    <p:anim calcmode="lin" valueType="num">
                                      <p:cBhvr additive="base">
                                        <p:cTn id="11" dur="500" fill="hold"/>
                                        <p:tgtEl>
                                          <p:spTgt spid="671758"/>
                                        </p:tgtEl>
                                        <p:attrNameLst>
                                          <p:attrName>ppt_x</p:attrName>
                                        </p:attrNameLst>
                                      </p:cBhvr>
                                      <p:tavLst>
                                        <p:tav tm="0">
                                          <p:val>
                                            <p:strVal val="0-#ppt_w/2"/>
                                          </p:val>
                                        </p:tav>
                                        <p:tav tm="100000">
                                          <p:val>
                                            <p:strVal val="#ppt_x"/>
                                          </p:val>
                                        </p:tav>
                                      </p:tavLst>
                                    </p:anim>
                                    <p:anim calcmode="lin" valueType="num">
                                      <p:cBhvr additive="base">
                                        <p:cTn id="12" dur="500" fill="hold"/>
                                        <p:tgtEl>
                                          <p:spTgt spid="671758"/>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9"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par>
                          <p:cTn id="17" fill="hold" nodeType="afterGroup">
                            <p:stCondLst>
                              <p:cond delay="1500"/>
                            </p:stCondLst>
                            <p:childTnLst>
                              <p:par>
                                <p:cTn id="18" presetID="12" presetClass="entr" presetSubtype="1" fill="hold" grpId="0" nodeType="afterEffect">
                                  <p:stCondLst>
                                    <p:cond delay="0"/>
                                  </p:stCondLst>
                                  <p:childTnLst>
                                    <p:set>
                                      <p:cBhvr>
                                        <p:cTn id="19" dur="1" fill="hold">
                                          <p:stCondLst>
                                            <p:cond delay="0"/>
                                          </p:stCondLst>
                                        </p:cTn>
                                        <p:tgtEl>
                                          <p:spTgt spid="671759"/>
                                        </p:tgtEl>
                                        <p:attrNameLst>
                                          <p:attrName>style.visibility</p:attrName>
                                        </p:attrNameLst>
                                      </p:cBhvr>
                                      <p:to>
                                        <p:strVal val="visible"/>
                                      </p:to>
                                    </p:set>
                                    <p:animEffect transition="in" filter="slide(fromTop)">
                                      <p:cBhvr>
                                        <p:cTn id="20" dur="500"/>
                                        <p:tgtEl>
                                          <p:spTgt spid="671759"/>
                                        </p:tgtEl>
                                      </p:cBhvr>
                                    </p:animEffect>
                                  </p:childTnLst>
                                </p:cTn>
                              </p:par>
                            </p:childTnLst>
                          </p:cTn>
                        </p:par>
                        <p:par>
                          <p:cTn id="21" fill="hold" nodeType="afterGroup">
                            <p:stCondLst>
                              <p:cond delay="2000"/>
                            </p:stCondLst>
                            <p:childTnLst>
                              <p:par>
                                <p:cTn id="22" presetID="12" presetClass="entr" presetSubtype="1" fill="hold" grpId="0" nodeType="afterEffect">
                                  <p:stCondLst>
                                    <p:cond delay="0"/>
                                  </p:stCondLst>
                                  <p:childTnLst>
                                    <p:set>
                                      <p:cBhvr>
                                        <p:cTn id="23" dur="1" fill="hold">
                                          <p:stCondLst>
                                            <p:cond delay="0"/>
                                          </p:stCondLst>
                                        </p:cTn>
                                        <p:tgtEl>
                                          <p:spTgt spid="671747"/>
                                        </p:tgtEl>
                                        <p:attrNameLst>
                                          <p:attrName>style.visibility</p:attrName>
                                        </p:attrNameLst>
                                      </p:cBhvr>
                                      <p:to>
                                        <p:strVal val="visible"/>
                                      </p:to>
                                    </p:set>
                                    <p:animEffect transition="in" filter="slide(fromTop)">
                                      <p:cBhvr>
                                        <p:cTn id="24" dur="500"/>
                                        <p:tgtEl>
                                          <p:spTgt spid="671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1746" grpId="0" autoUpdateAnimBg="0"/>
      <p:bldP spid="671747" grpId="0" animBg="1" autoUpdateAnimBg="0"/>
      <p:bldP spid="671758" grpId="0" autoUpdateAnimBg="0"/>
      <p:bldP spid="671759" grpId="0" animBg="1" autoUpdateAnimBg="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4DC56874-F9F0-4A27-AEE9-1843B4243E70}" type="slidenum">
              <a:rPr lang="en-US" altLang="zh-CN" sz="1400" b="0"/>
              <a:pPr eaLnBrk="1" hangingPunct="1"/>
              <a:t>159</a:t>
            </a:fld>
            <a:endParaRPr lang="en-US" altLang="zh-CN" sz="1400" b="0"/>
          </a:p>
        </p:txBody>
      </p:sp>
      <p:sp>
        <p:nvSpPr>
          <p:cNvPr id="672770" name="Rectangle 2"/>
          <p:cNvSpPr>
            <a:spLocks noChangeArrowheads="1"/>
          </p:cNvSpPr>
          <p:nvPr/>
        </p:nvSpPr>
        <p:spPr bwMode="auto">
          <a:xfrm>
            <a:off x="1752600" y="1066800"/>
            <a:ext cx="5105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a:solidFill>
                  <a:srgbClr val="FF0000"/>
                </a:solidFill>
                <a:latin typeface="宋体" panose="02010600030101010101" pitchFamily="2" charset="-122"/>
              </a:rPr>
              <a:t>2</a:t>
            </a:r>
            <a:r>
              <a:rPr lang="zh-CN" altLang="en-US" sz="4400">
                <a:solidFill>
                  <a:srgbClr val="FF0000"/>
                </a:solidFill>
                <a:latin typeface="宋体" panose="02010600030101010101" pitchFamily="2" charset="-122"/>
              </a:rPr>
              <a:t>．中断分类</a:t>
            </a:r>
            <a:r>
              <a:rPr lang="zh-CN" altLang="en-US" sz="4400">
                <a:solidFill>
                  <a:schemeClr val="tx2"/>
                </a:solidFill>
              </a:rPr>
              <a:t> </a:t>
            </a:r>
          </a:p>
        </p:txBody>
      </p:sp>
      <p:grpSp>
        <p:nvGrpSpPr>
          <p:cNvPr id="2" name="Group 3"/>
          <p:cNvGrpSpPr>
            <a:grpSpLocks/>
          </p:cNvGrpSpPr>
          <p:nvPr/>
        </p:nvGrpSpPr>
        <p:grpSpPr bwMode="auto">
          <a:xfrm>
            <a:off x="914400" y="2057400"/>
            <a:ext cx="6950075" cy="1250950"/>
            <a:chOff x="624" y="1263"/>
            <a:chExt cx="4378" cy="788"/>
          </a:xfrm>
        </p:grpSpPr>
        <p:sp>
          <p:nvSpPr>
            <p:cNvPr id="167948" name="Line 4"/>
            <p:cNvSpPr>
              <a:spLocks noChangeShapeType="1"/>
            </p:cNvSpPr>
            <p:nvPr/>
          </p:nvSpPr>
          <p:spPr bwMode="auto">
            <a:xfrm>
              <a:off x="1344" y="1488"/>
              <a:ext cx="3024" cy="0"/>
            </a:xfrm>
            <a:prstGeom prst="line">
              <a:avLst/>
            </a:prstGeom>
            <a:noFill/>
            <a:ln w="762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7949" name="Rectangle 5" descr="5%"/>
            <p:cNvSpPr>
              <a:spLocks noChangeArrowheads="1"/>
            </p:cNvSpPr>
            <p:nvPr/>
          </p:nvSpPr>
          <p:spPr bwMode="auto">
            <a:xfrm>
              <a:off x="624" y="1680"/>
              <a:ext cx="1402" cy="371"/>
            </a:xfrm>
            <a:prstGeom prst="rect">
              <a:avLst/>
            </a:prstGeom>
            <a:pattFill prst="pct5">
              <a:fgClr>
                <a:schemeClr val="bg1"/>
              </a:fgClr>
              <a:bgClr>
                <a:srgbClr val="FFFFFF"/>
              </a:bgClr>
            </a:pattFill>
            <a:ln w="9525">
              <a:solidFill>
                <a:srgbClr val="339933"/>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a:solidFill>
                    <a:schemeClr val="folHlink"/>
                  </a:solidFill>
                  <a:latin typeface="宋体" panose="02010600030101010101" pitchFamily="2" charset="-122"/>
                </a:rPr>
                <a:t>可屏蔽中断</a:t>
              </a:r>
            </a:p>
          </p:txBody>
        </p:sp>
        <p:sp>
          <p:nvSpPr>
            <p:cNvPr id="167950" name="Rectangle 6" descr="5%"/>
            <p:cNvSpPr>
              <a:spLocks noChangeArrowheads="1"/>
            </p:cNvSpPr>
            <p:nvPr/>
          </p:nvSpPr>
          <p:spPr bwMode="auto">
            <a:xfrm>
              <a:off x="3600" y="1680"/>
              <a:ext cx="1402" cy="371"/>
            </a:xfrm>
            <a:prstGeom prst="rect">
              <a:avLst/>
            </a:prstGeom>
            <a:pattFill prst="pct5">
              <a:fgClr>
                <a:schemeClr val="bg1"/>
              </a:fgClr>
              <a:bgClr>
                <a:srgbClr val="FFFFFF"/>
              </a:bgClr>
            </a:pattFill>
            <a:ln w="9525">
              <a:solidFill>
                <a:srgbClr val="339933"/>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FF"/>
                  </a:solidFill>
                  <a:latin typeface="宋体" panose="02010600030101010101" pitchFamily="2" charset="-122"/>
                </a:rPr>
                <a:t>非屏蔽中断</a:t>
              </a:r>
            </a:p>
          </p:txBody>
        </p:sp>
        <p:sp>
          <p:nvSpPr>
            <p:cNvPr id="167951" name="Rectangle 7" descr="小棋盘"/>
            <p:cNvSpPr>
              <a:spLocks noChangeArrowheads="1"/>
            </p:cNvSpPr>
            <p:nvPr/>
          </p:nvSpPr>
          <p:spPr bwMode="auto">
            <a:xfrm>
              <a:off x="2448" y="1263"/>
              <a:ext cx="698" cy="410"/>
            </a:xfrm>
            <a:prstGeom prst="rect">
              <a:avLst/>
            </a:prstGeom>
            <a:pattFill prst="smCheck">
              <a:fgClr>
                <a:srgbClr val="FFFF00"/>
              </a:fgClr>
              <a:bgClr>
                <a:srgbClr val="FFFFFF"/>
              </a:bgClr>
            </a:pattFill>
            <a:ln w="9525">
              <a:solidFill>
                <a:schemeClr val="hlink"/>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chemeClr val="tx2"/>
                  </a:solidFill>
                  <a:latin typeface="宋体" panose="02010600030101010101" pitchFamily="2" charset="-122"/>
                </a:rPr>
                <a:t>中断</a:t>
              </a:r>
            </a:p>
          </p:txBody>
        </p:sp>
        <p:sp>
          <p:nvSpPr>
            <p:cNvPr id="167952" name="Line 8"/>
            <p:cNvSpPr>
              <a:spLocks noChangeShapeType="1"/>
            </p:cNvSpPr>
            <p:nvPr/>
          </p:nvSpPr>
          <p:spPr bwMode="auto">
            <a:xfrm>
              <a:off x="1344" y="1488"/>
              <a:ext cx="0" cy="192"/>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7953" name="Line 9"/>
            <p:cNvSpPr>
              <a:spLocks noChangeShapeType="1"/>
            </p:cNvSpPr>
            <p:nvPr/>
          </p:nvSpPr>
          <p:spPr bwMode="auto">
            <a:xfrm>
              <a:off x="4368" y="1488"/>
              <a:ext cx="0" cy="192"/>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672778" name="Rectangle 10"/>
          <p:cNvSpPr>
            <a:spLocks noChangeArrowheads="1"/>
          </p:cNvSpPr>
          <p:nvPr/>
        </p:nvSpPr>
        <p:spPr bwMode="auto">
          <a:xfrm>
            <a:off x="914400" y="4114800"/>
            <a:ext cx="2286000" cy="2051050"/>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latin typeface="宋体" panose="02010600030101010101" pitchFamily="2" charset="-122"/>
              </a:rPr>
              <a:t>可以用软件</a:t>
            </a:r>
          </a:p>
          <a:p>
            <a:pPr eaLnBrk="1" hangingPunct="1"/>
            <a:r>
              <a:rPr lang="zh-CN" altLang="en-US" sz="3200">
                <a:latin typeface="宋体" panose="02010600030101010101" pitchFamily="2" charset="-122"/>
              </a:rPr>
              <a:t>屏蔽或开放</a:t>
            </a:r>
            <a:r>
              <a:rPr lang="zh-CN" altLang="en-US" sz="3200">
                <a:latin typeface="宋体" panose="02010600030101010101" pitchFamily="2" charset="-122"/>
                <a:cs typeface="Arial" panose="020B0604020202020204" pitchFamily="34" charset="0"/>
              </a:rPr>
              <a:t>（</a:t>
            </a:r>
            <a:r>
              <a:rPr lang="en-US" altLang="zh-CN" sz="3200">
                <a:latin typeface="宋体" panose="02010600030101010101" pitchFamily="2" charset="-122"/>
                <a:cs typeface="Arial" panose="020B0604020202020204" pitchFamily="34" charset="0"/>
              </a:rPr>
              <a:t>SINT15</a:t>
            </a:r>
            <a:r>
              <a:rPr lang="zh-CN" altLang="en-US" sz="3200">
                <a:latin typeface="宋体" panose="02010600030101010101" pitchFamily="2" charset="-122"/>
                <a:cs typeface="Arial" panose="020B0604020202020204" pitchFamily="34" charset="0"/>
              </a:rPr>
              <a:t>～</a:t>
            </a:r>
            <a:r>
              <a:rPr lang="en-US" altLang="zh-CN" sz="3200">
                <a:latin typeface="宋体" panose="02010600030101010101" pitchFamily="2" charset="-122"/>
                <a:cs typeface="Arial" panose="020B0604020202020204" pitchFamily="34" charset="0"/>
              </a:rPr>
              <a:t>SINT0</a:t>
            </a:r>
            <a:r>
              <a:rPr lang="zh-CN" altLang="en-US" sz="3200">
                <a:latin typeface="宋体" panose="02010600030101010101" pitchFamily="2" charset="-122"/>
                <a:cs typeface="Arial" panose="020B0604020202020204" pitchFamily="34" charset="0"/>
              </a:rPr>
              <a:t>）</a:t>
            </a:r>
            <a:r>
              <a:rPr lang="zh-CN" altLang="en-US" sz="3200">
                <a:latin typeface="宋体" panose="02010600030101010101" pitchFamily="2" charset="-122"/>
              </a:rPr>
              <a:t> </a:t>
            </a:r>
            <a:r>
              <a:rPr lang="zh-CN" altLang="en-US" sz="3200"/>
              <a:t> </a:t>
            </a:r>
          </a:p>
        </p:txBody>
      </p:sp>
      <p:sp>
        <p:nvSpPr>
          <p:cNvPr id="672779" name="Line 11"/>
          <p:cNvSpPr>
            <a:spLocks noChangeShapeType="1"/>
          </p:cNvSpPr>
          <p:nvPr/>
        </p:nvSpPr>
        <p:spPr bwMode="auto">
          <a:xfrm>
            <a:off x="2057400" y="3352800"/>
            <a:ext cx="0" cy="762000"/>
          </a:xfrm>
          <a:prstGeom prst="line">
            <a:avLst/>
          </a:prstGeom>
          <a:noFill/>
          <a:ln w="762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72780" name="Line 12"/>
          <p:cNvSpPr>
            <a:spLocks noChangeShapeType="1"/>
          </p:cNvSpPr>
          <p:nvPr/>
        </p:nvSpPr>
        <p:spPr bwMode="auto">
          <a:xfrm>
            <a:off x="6858000" y="3352800"/>
            <a:ext cx="0" cy="685800"/>
          </a:xfrm>
          <a:prstGeom prst="line">
            <a:avLst/>
          </a:prstGeom>
          <a:noFill/>
          <a:ln w="762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67944" name="Group 13"/>
          <p:cNvGrpSpPr>
            <a:grpSpLocks/>
          </p:cNvGrpSpPr>
          <p:nvPr/>
        </p:nvGrpSpPr>
        <p:grpSpPr bwMode="auto">
          <a:xfrm>
            <a:off x="5562600" y="4038600"/>
            <a:ext cx="3113088" cy="2051050"/>
            <a:chOff x="3504" y="2544"/>
            <a:chExt cx="1961" cy="1292"/>
          </a:xfrm>
        </p:grpSpPr>
        <p:sp>
          <p:nvSpPr>
            <p:cNvPr id="167945" name="Rectangle 14"/>
            <p:cNvSpPr>
              <a:spLocks noChangeArrowheads="1"/>
            </p:cNvSpPr>
            <p:nvPr/>
          </p:nvSpPr>
          <p:spPr bwMode="auto">
            <a:xfrm>
              <a:off x="3504" y="2544"/>
              <a:ext cx="1961" cy="1292"/>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latin typeface="宋体" panose="02010600030101010101" pitchFamily="2" charset="-122"/>
                </a:rPr>
                <a:t>C54x</a:t>
              </a:r>
              <a:r>
                <a:rPr lang="zh-CN" altLang="en-US" sz="3200">
                  <a:latin typeface="宋体" panose="02010600030101010101" pitchFamily="2" charset="-122"/>
                </a:rPr>
                <a:t>总是响应所有软件中断，两个外部硬件中断</a:t>
              </a:r>
              <a:r>
                <a:rPr lang="en-US" altLang="zh-CN" sz="3200">
                  <a:latin typeface="宋体" panose="02010600030101010101" pitchFamily="2" charset="-122"/>
                </a:rPr>
                <a:t>RS</a:t>
              </a:r>
              <a:r>
                <a:rPr lang="zh-CN" altLang="en-US" sz="3200">
                  <a:latin typeface="宋体" panose="02010600030101010101" pitchFamily="2" charset="-122"/>
                </a:rPr>
                <a:t>、</a:t>
              </a:r>
              <a:r>
                <a:rPr lang="en-US" altLang="zh-CN" sz="3200">
                  <a:latin typeface="宋体" panose="02010600030101010101" pitchFamily="2" charset="-122"/>
                </a:rPr>
                <a:t>NMI</a:t>
              </a:r>
              <a:r>
                <a:rPr lang="zh-CN" altLang="en-US" sz="3200">
                  <a:latin typeface="宋体" panose="02010600030101010101" pitchFamily="2" charset="-122"/>
                </a:rPr>
                <a:t>。</a:t>
              </a:r>
            </a:p>
          </p:txBody>
        </p:sp>
        <p:sp>
          <p:nvSpPr>
            <p:cNvPr id="167946" name="Line 15"/>
            <p:cNvSpPr>
              <a:spLocks noChangeShapeType="1"/>
            </p:cNvSpPr>
            <p:nvPr/>
          </p:nvSpPr>
          <p:spPr bwMode="auto">
            <a:xfrm>
              <a:off x="3560" y="3566"/>
              <a:ext cx="26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7947" name="Line 16"/>
            <p:cNvSpPr>
              <a:spLocks noChangeShapeType="1"/>
            </p:cNvSpPr>
            <p:nvPr/>
          </p:nvSpPr>
          <p:spPr bwMode="auto">
            <a:xfrm>
              <a:off x="4059" y="3566"/>
              <a:ext cx="371"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72770"/>
                                        </p:tgtEl>
                                        <p:attrNameLst>
                                          <p:attrName>style.visibility</p:attrName>
                                        </p:attrNameLst>
                                      </p:cBhvr>
                                      <p:to>
                                        <p:strVal val="visible"/>
                                      </p:to>
                                    </p:set>
                                    <p:anim calcmode="lin" valueType="num">
                                      <p:cBhvr additive="base">
                                        <p:cTn id="7" dur="500" fill="hold"/>
                                        <p:tgtEl>
                                          <p:spTgt spid="672770"/>
                                        </p:tgtEl>
                                        <p:attrNameLst>
                                          <p:attrName>ppt_x</p:attrName>
                                        </p:attrNameLst>
                                      </p:cBhvr>
                                      <p:tavLst>
                                        <p:tav tm="0">
                                          <p:val>
                                            <p:strVal val="0-#ppt_w/2"/>
                                          </p:val>
                                        </p:tav>
                                        <p:tav tm="100000">
                                          <p:val>
                                            <p:strVal val="#ppt_x"/>
                                          </p:val>
                                        </p:tav>
                                      </p:tavLst>
                                    </p:anim>
                                    <p:anim calcmode="lin" valueType="num">
                                      <p:cBhvr additive="base">
                                        <p:cTn id="8" dur="500" fill="hold"/>
                                        <p:tgtEl>
                                          <p:spTgt spid="67277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1"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Top)">
                                      <p:cBhvr>
                                        <p:cTn id="12" dur="500"/>
                                        <p:tgtEl>
                                          <p:spTgt spid="2"/>
                                        </p:tgtEl>
                                      </p:cBhvr>
                                    </p:animEffect>
                                  </p:childTnLst>
                                </p:cTn>
                              </p:par>
                            </p:childTnLst>
                          </p:cTn>
                        </p:par>
                        <p:par>
                          <p:cTn id="13" fill="hold" nodeType="afterGroup">
                            <p:stCondLst>
                              <p:cond delay="1000"/>
                            </p:stCondLst>
                            <p:childTnLst>
                              <p:par>
                                <p:cTn id="14" presetID="12" presetClass="entr" presetSubtype="1" fill="hold" grpId="0" nodeType="afterEffect">
                                  <p:stCondLst>
                                    <p:cond delay="0"/>
                                  </p:stCondLst>
                                  <p:childTnLst>
                                    <p:set>
                                      <p:cBhvr>
                                        <p:cTn id="15" dur="1" fill="hold">
                                          <p:stCondLst>
                                            <p:cond delay="0"/>
                                          </p:stCondLst>
                                        </p:cTn>
                                        <p:tgtEl>
                                          <p:spTgt spid="672779"/>
                                        </p:tgtEl>
                                        <p:attrNameLst>
                                          <p:attrName>style.visibility</p:attrName>
                                        </p:attrNameLst>
                                      </p:cBhvr>
                                      <p:to>
                                        <p:strVal val="visible"/>
                                      </p:to>
                                    </p:set>
                                    <p:animEffect transition="in" filter="slide(fromTop)">
                                      <p:cBhvr>
                                        <p:cTn id="16" dur="500"/>
                                        <p:tgtEl>
                                          <p:spTgt spid="672779"/>
                                        </p:tgtEl>
                                      </p:cBhvr>
                                    </p:animEffect>
                                  </p:childTnLst>
                                </p:cTn>
                              </p:par>
                            </p:childTnLst>
                          </p:cTn>
                        </p:par>
                        <p:par>
                          <p:cTn id="17" fill="hold" nodeType="afterGroup">
                            <p:stCondLst>
                              <p:cond delay="1500"/>
                            </p:stCondLst>
                            <p:childTnLst>
                              <p:par>
                                <p:cTn id="18" presetID="12" presetClass="entr" presetSubtype="1" fill="hold" grpId="0" nodeType="afterEffect">
                                  <p:stCondLst>
                                    <p:cond delay="0"/>
                                  </p:stCondLst>
                                  <p:childTnLst>
                                    <p:set>
                                      <p:cBhvr>
                                        <p:cTn id="19" dur="1" fill="hold">
                                          <p:stCondLst>
                                            <p:cond delay="0"/>
                                          </p:stCondLst>
                                        </p:cTn>
                                        <p:tgtEl>
                                          <p:spTgt spid="672780"/>
                                        </p:tgtEl>
                                        <p:attrNameLst>
                                          <p:attrName>style.visibility</p:attrName>
                                        </p:attrNameLst>
                                      </p:cBhvr>
                                      <p:to>
                                        <p:strVal val="visible"/>
                                      </p:to>
                                    </p:set>
                                    <p:animEffect transition="in" filter="slide(fromTop)">
                                      <p:cBhvr>
                                        <p:cTn id="20" dur="500"/>
                                        <p:tgtEl>
                                          <p:spTgt spid="672780"/>
                                        </p:tgtEl>
                                      </p:cBhvr>
                                    </p:animEffect>
                                  </p:childTnLst>
                                </p:cTn>
                              </p:par>
                            </p:childTnLst>
                          </p:cTn>
                        </p:par>
                        <p:par>
                          <p:cTn id="21" fill="hold" nodeType="afterGroup">
                            <p:stCondLst>
                              <p:cond delay="2000"/>
                            </p:stCondLst>
                            <p:childTnLst>
                              <p:par>
                                <p:cTn id="22" presetID="12" presetClass="entr" presetSubtype="1" fill="hold" grpId="0" nodeType="afterEffect">
                                  <p:stCondLst>
                                    <p:cond delay="0"/>
                                  </p:stCondLst>
                                  <p:childTnLst>
                                    <p:set>
                                      <p:cBhvr>
                                        <p:cTn id="23" dur="1" fill="hold">
                                          <p:stCondLst>
                                            <p:cond delay="0"/>
                                          </p:stCondLst>
                                        </p:cTn>
                                        <p:tgtEl>
                                          <p:spTgt spid="672778"/>
                                        </p:tgtEl>
                                        <p:attrNameLst>
                                          <p:attrName>style.visibility</p:attrName>
                                        </p:attrNameLst>
                                      </p:cBhvr>
                                      <p:to>
                                        <p:strVal val="visible"/>
                                      </p:to>
                                    </p:set>
                                    <p:animEffect transition="in" filter="slide(fromTop)">
                                      <p:cBhvr>
                                        <p:cTn id="24" dur="500"/>
                                        <p:tgtEl>
                                          <p:spTgt spid="672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770" grpId="0" autoUpdateAnimBg="0"/>
      <p:bldP spid="672778" grpId="0" animBg="1" autoUpdateAnimBg="0"/>
      <p:bldP spid="672779" grpId="0" animBg="1"/>
      <p:bldP spid="672780" grpId="0" animBg="1"/>
    </p:bldLst>
  </p:timing>
</p:sld>
</file>

<file path=ppt/slides/slide1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3794" name="Rectangle 2"/>
          <p:cNvSpPr>
            <a:spLocks noGrp="1" noChangeArrowheads="1"/>
          </p:cNvSpPr>
          <p:nvPr>
            <p:ph type="title"/>
          </p:nvPr>
        </p:nvSpPr>
        <p:spPr bwMode="auto">
          <a:xfrm>
            <a:off x="539750" y="1052513"/>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二、中断标志寄存器（</a:t>
            </a:r>
            <a:r>
              <a:rPr lang="en-US" altLang="zh-CN" b="1">
                <a:solidFill>
                  <a:srgbClr val="FF0000"/>
                </a:solidFill>
                <a:latin typeface="宋体" panose="02010600030101010101" pitchFamily="2" charset="-122"/>
              </a:rPr>
              <a:t>IFR</a:t>
            </a:r>
            <a:r>
              <a:rPr lang="zh-CN" altLang="en-US" b="1">
                <a:solidFill>
                  <a:srgbClr val="FF0000"/>
                </a:solidFill>
                <a:latin typeface="宋体" panose="02010600030101010101" pitchFamily="2" charset="-122"/>
              </a:rPr>
              <a:t>）和中断屏蔽寄存器（</a:t>
            </a:r>
            <a:r>
              <a:rPr lang="en-US" altLang="zh-CN" b="1">
                <a:solidFill>
                  <a:srgbClr val="FF0000"/>
                </a:solidFill>
                <a:latin typeface="宋体" panose="02010600030101010101" pitchFamily="2" charset="-122"/>
              </a:rPr>
              <a:t>IMR</a:t>
            </a:r>
            <a:r>
              <a:rPr lang="zh-CN" altLang="en-US" b="1">
                <a:solidFill>
                  <a:srgbClr val="FF0000"/>
                </a:solidFill>
                <a:latin typeface="宋体" panose="02010600030101010101" pitchFamily="2" charset="-122"/>
              </a:rPr>
              <a:t>）</a:t>
            </a:r>
            <a:r>
              <a:rPr lang="zh-CN" altLang="en-US"/>
              <a:t> </a:t>
            </a:r>
          </a:p>
        </p:txBody>
      </p:sp>
      <p:sp>
        <p:nvSpPr>
          <p:cNvPr id="922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B0B657E4-45D7-457F-A172-CDDB63A43364}" type="slidenum">
              <a:rPr lang="en-US" altLang="zh-CN" sz="1400" b="0"/>
              <a:pPr eaLnBrk="1" hangingPunct="1"/>
              <a:t>160</a:t>
            </a:fld>
            <a:endParaRPr lang="en-US" altLang="zh-CN" sz="1400" b="0"/>
          </a:p>
        </p:txBody>
      </p:sp>
      <p:graphicFrame>
        <p:nvGraphicFramePr>
          <p:cNvPr id="673796" name="Object 4"/>
          <p:cNvGraphicFramePr>
            <a:graphicFrameLocks noChangeAspect="1"/>
          </p:cNvGraphicFramePr>
          <p:nvPr/>
        </p:nvGraphicFramePr>
        <p:xfrm>
          <a:off x="395288" y="3141663"/>
          <a:ext cx="8382000" cy="762000"/>
        </p:xfrm>
        <a:graphic>
          <a:graphicData uri="http://schemas.openxmlformats.org/presentationml/2006/ole">
            <mc:AlternateContent xmlns:mc="http://schemas.openxmlformats.org/markup-compatibility/2006">
              <mc:Choice xmlns:v="urn:schemas-microsoft-com:vml" Requires="v">
                <p:oleObj spid="_x0000_s9249" name="BMP 图像" r:id="rId3" imgW="5125165" imgH="628571" progId="PBrush">
                  <p:embed/>
                </p:oleObj>
              </mc:Choice>
              <mc:Fallback>
                <p:oleObj name="BMP 图像" r:id="rId3" imgW="5125165" imgH="628571" progId="PBrush">
                  <p:embed/>
                  <p:pic>
                    <p:nvPicPr>
                      <p:cNvPr id="0" name="Picture 24"/>
                      <p:cNvPicPr>
                        <a:picLocks noChangeAspect="1" noChangeArrowheads="1"/>
                      </p:cNvPicPr>
                      <p:nvPr/>
                    </p:nvPicPr>
                    <p:blipFill>
                      <a:blip r:embed="rId4">
                        <a:extLst>
                          <a:ext uri="{28A0092B-C50C-407E-A947-70E740481C1C}">
                            <a14:useLocalDpi xmlns:a14="http://schemas.microsoft.com/office/drawing/2010/main" val="0"/>
                          </a:ext>
                        </a:extLst>
                      </a:blip>
                      <a:srcRect r="1852" b="24529"/>
                      <a:stretch>
                        <a:fillRect/>
                      </a:stretch>
                    </p:blipFill>
                    <p:spPr bwMode="auto">
                      <a:xfrm>
                        <a:off x="395288" y="3141663"/>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chemeClr val="folHlink"/>
                            </a:solidFill>
                            <a:miter lim="800000"/>
                            <a:headEnd/>
                            <a:tailEnd/>
                          </a14:hiddenLine>
                        </a:ext>
                      </a:extLst>
                    </p:spPr>
                  </p:pic>
                </p:oleObj>
              </mc:Fallback>
            </mc:AlternateContent>
          </a:graphicData>
        </a:graphic>
      </p:graphicFrame>
      <p:sp>
        <p:nvSpPr>
          <p:cNvPr id="673798" name="Rectangle 6"/>
          <p:cNvSpPr>
            <a:spLocks noChangeArrowheads="1"/>
          </p:cNvSpPr>
          <p:nvPr/>
        </p:nvSpPr>
        <p:spPr bwMode="auto">
          <a:xfrm>
            <a:off x="609600" y="2362200"/>
            <a:ext cx="6724650" cy="568325"/>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zh-CN" altLang="en-US" sz="3200">
                <a:solidFill>
                  <a:srgbClr val="FF00FF"/>
                </a:solidFill>
                <a:latin typeface="宋体" panose="02010600030101010101" pitchFamily="2" charset="-122"/>
              </a:rPr>
              <a:t>中断标志寄存器：功能、设置、清除</a:t>
            </a:r>
          </a:p>
        </p:txBody>
      </p:sp>
      <p:sp>
        <p:nvSpPr>
          <p:cNvPr id="673799" name="Rectangle 7" descr="小棋盘"/>
          <p:cNvSpPr>
            <a:spLocks noChangeArrowheads="1"/>
          </p:cNvSpPr>
          <p:nvPr/>
        </p:nvSpPr>
        <p:spPr bwMode="auto">
          <a:xfrm>
            <a:off x="7620000" y="2133600"/>
            <a:ext cx="1143000" cy="955675"/>
          </a:xfrm>
          <a:prstGeom prst="rect">
            <a:avLst/>
          </a:prstGeom>
          <a:pattFill prst="smCheck">
            <a:fgClr>
              <a:schemeClr val="accent1"/>
            </a:fgClr>
            <a:bgClr>
              <a:srgbClr val="FFFFFF"/>
            </a:bgClr>
          </a:pattFill>
          <a:ln w="9525">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latin typeface="宋体" panose="02010600030101010101" pitchFamily="2" charset="-122"/>
              </a:rPr>
              <a:t>IFR=1</a:t>
            </a:r>
            <a:r>
              <a:rPr lang="zh-CN" altLang="en-US" sz="2800">
                <a:latin typeface="宋体" panose="02010600030101010101" pitchFamily="2" charset="-122"/>
              </a:rPr>
              <a:t>中断</a:t>
            </a:r>
          </a:p>
        </p:txBody>
      </p:sp>
      <p:sp>
        <p:nvSpPr>
          <p:cNvPr id="673941" name="Rectangle 149"/>
          <p:cNvSpPr>
            <a:spLocks noChangeArrowheads="1"/>
          </p:cNvSpPr>
          <p:nvPr/>
        </p:nvSpPr>
        <p:spPr bwMode="auto">
          <a:xfrm>
            <a:off x="539750" y="4437063"/>
            <a:ext cx="6858000" cy="609600"/>
          </a:xfrm>
          <a:prstGeom prst="rect">
            <a:avLst/>
          </a:prstGeom>
          <a:noFill/>
          <a:ln w="571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a:solidFill>
                  <a:schemeClr val="tx2"/>
                </a:solidFill>
                <a:latin typeface="宋体" panose="02010600030101010101" pitchFamily="2" charset="-122"/>
              </a:rPr>
              <a:t>中断屏蔽寄存器：功能、设置、开放</a:t>
            </a:r>
            <a:endParaRPr lang="zh-CN" altLang="en-US" sz="3200">
              <a:solidFill>
                <a:schemeClr val="tx2"/>
              </a:solidFill>
            </a:endParaRPr>
          </a:p>
        </p:txBody>
      </p:sp>
      <p:sp>
        <p:nvSpPr>
          <p:cNvPr id="673943" name="Rectangle 151" descr="小棋盘"/>
          <p:cNvSpPr>
            <a:spLocks noChangeArrowheads="1"/>
          </p:cNvSpPr>
          <p:nvPr/>
        </p:nvSpPr>
        <p:spPr bwMode="auto">
          <a:xfrm>
            <a:off x="7596188" y="4076700"/>
            <a:ext cx="1143000" cy="1382713"/>
          </a:xfrm>
          <a:prstGeom prst="rect">
            <a:avLst/>
          </a:prstGeom>
          <a:pattFill prst="smCheck">
            <a:fgClr>
              <a:schemeClr val="accent1"/>
            </a:fgClr>
            <a:bgClr>
              <a:srgbClr val="FFFFFF"/>
            </a:bgClr>
          </a:pattFill>
          <a:ln w="9525">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latin typeface="宋体" panose="02010600030101010101" pitchFamily="2" charset="-122"/>
              </a:rPr>
              <a:t>IMR=1</a:t>
            </a:r>
            <a:r>
              <a:rPr lang="zh-CN" altLang="en-US" sz="2800">
                <a:latin typeface="宋体" panose="02010600030101010101" pitchFamily="2" charset="-122"/>
              </a:rPr>
              <a:t>开放中断</a:t>
            </a:r>
          </a:p>
        </p:txBody>
      </p:sp>
      <p:pic>
        <p:nvPicPr>
          <p:cNvPr id="9225" name="Picture 15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5638800"/>
            <a:ext cx="8458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73794"/>
                                        </p:tgtEl>
                                        <p:attrNameLst>
                                          <p:attrName>style.visibility</p:attrName>
                                        </p:attrNameLst>
                                      </p:cBhvr>
                                      <p:to>
                                        <p:strVal val="visible"/>
                                      </p:to>
                                    </p:set>
                                    <p:anim calcmode="lin" valueType="num">
                                      <p:cBhvr additive="base">
                                        <p:cTn id="7" dur="500" fill="hold"/>
                                        <p:tgtEl>
                                          <p:spTgt spid="673794"/>
                                        </p:tgtEl>
                                        <p:attrNameLst>
                                          <p:attrName>ppt_x</p:attrName>
                                        </p:attrNameLst>
                                      </p:cBhvr>
                                      <p:tavLst>
                                        <p:tav tm="0">
                                          <p:val>
                                            <p:strVal val="0-#ppt_w/2"/>
                                          </p:val>
                                        </p:tav>
                                        <p:tav tm="100000">
                                          <p:val>
                                            <p:strVal val="#ppt_x"/>
                                          </p:val>
                                        </p:tav>
                                      </p:tavLst>
                                    </p:anim>
                                    <p:anim calcmode="lin" valueType="num">
                                      <p:cBhvr additive="base">
                                        <p:cTn id="8" dur="500" fill="hold"/>
                                        <p:tgtEl>
                                          <p:spTgt spid="67379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673798"/>
                                        </p:tgtEl>
                                        <p:attrNameLst>
                                          <p:attrName>style.visibility</p:attrName>
                                        </p:attrNameLst>
                                      </p:cBhvr>
                                      <p:to>
                                        <p:strVal val="visible"/>
                                      </p:to>
                                    </p:set>
                                    <p:animEffect transition="in" filter="blinds(horizontal)">
                                      <p:cBhvr>
                                        <p:cTn id="12" dur="500"/>
                                        <p:tgtEl>
                                          <p:spTgt spid="673798"/>
                                        </p:tgtEl>
                                      </p:cBhvr>
                                    </p:animEffect>
                                  </p:childTnLst>
                                </p:cTn>
                              </p:par>
                            </p:childTnLst>
                          </p:cTn>
                        </p:par>
                        <p:par>
                          <p:cTn id="13" fill="hold" nodeType="afterGroup">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673799"/>
                                        </p:tgtEl>
                                        <p:attrNameLst>
                                          <p:attrName>style.visibility</p:attrName>
                                        </p:attrNameLst>
                                      </p:cBhvr>
                                      <p:to>
                                        <p:strVal val="visible"/>
                                      </p:to>
                                    </p:set>
                                    <p:animEffect transition="in" filter="slide(fromLeft)">
                                      <p:cBhvr>
                                        <p:cTn id="16" dur="500"/>
                                        <p:tgtEl>
                                          <p:spTgt spid="673799"/>
                                        </p:tgtEl>
                                      </p:cBhvr>
                                    </p:animEffect>
                                  </p:childTnLst>
                                </p:cTn>
                              </p:par>
                            </p:childTnLst>
                          </p:cTn>
                        </p:par>
                        <p:par>
                          <p:cTn id="17" fill="hold" nodeType="afterGroup">
                            <p:stCondLst>
                              <p:cond delay="1500"/>
                            </p:stCondLst>
                            <p:childTnLst>
                              <p:par>
                                <p:cTn id="18" presetID="3" presetClass="entr" presetSubtype="10" fill="hold" nodeType="afterEffect">
                                  <p:stCondLst>
                                    <p:cond delay="0"/>
                                  </p:stCondLst>
                                  <p:childTnLst>
                                    <p:set>
                                      <p:cBhvr>
                                        <p:cTn id="19" dur="1" fill="hold">
                                          <p:stCondLst>
                                            <p:cond delay="0"/>
                                          </p:stCondLst>
                                        </p:cTn>
                                        <p:tgtEl>
                                          <p:spTgt spid="673796"/>
                                        </p:tgtEl>
                                        <p:attrNameLst>
                                          <p:attrName>style.visibility</p:attrName>
                                        </p:attrNameLst>
                                      </p:cBhvr>
                                      <p:to>
                                        <p:strVal val="visible"/>
                                      </p:to>
                                    </p:set>
                                    <p:animEffect transition="in" filter="blinds(horizontal)">
                                      <p:cBhvr>
                                        <p:cTn id="20" dur="500"/>
                                        <p:tgtEl>
                                          <p:spTgt spid="673796"/>
                                        </p:tgtEl>
                                      </p:cBhvr>
                                    </p:animEffect>
                                  </p:childTnLst>
                                </p:cTn>
                              </p:par>
                            </p:childTnLst>
                          </p:cTn>
                        </p:par>
                        <p:par>
                          <p:cTn id="21" fill="hold" nodeType="afterGroup">
                            <p:stCondLst>
                              <p:cond delay="2000"/>
                            </p:stCondLst>
                            <p:childTnLst>
                              <p:par>
                                <p:cTn id="22" presetID="12" presetClass="entr" presetSubtype="8" fill="hold" grpId="0" nodeType="afterEffect">
                                  <p:stCondLst>
                                    <p:cond delay="0"/>
                                  </p:stCondLst>
                                  <p:childTnLst>
                                    <p:set>
                                      <p:cBhvr>
                                        <p:cTn id="23" dur="1" fill="hold">
                                          <p:stCondLst>
                                            <p:cond delay="0"/>
                                          </p:stCondLst>
                                        </p:cTn>
                                        <p:tgtEl>
                                          <p:spTgt spid="673943"/>
                                        </p:tgtEl>
                                        <p:attrNameLst>
                                          <p:attrName>style.visibility</p:attrName>
                                        </p:attrNameLst>
                                      </p:cBhvr>
                                      <p:to>
                                        <p:strVal val="visible"/>
                                      </p:to>
                                    </p:set>
                                    <p:animEffect transition="in" filter="slide(fromLeft)">
                                      <p:cBhvr>
                                        <p:cTn id="24" dur="500"/>
                                        <p:tgtEl>
                                          <p:spTgt spid="673943"/>
                                        </p:tgtEl>
                                      </p:cBhvr>
                                    </p:animEffect>
                                  </p:childTnLst>
                                </p:cTn>
                              </p:par>
                            </p:childTnLst>
                          </p:cTn>
                        </p:par>
                        <p:par>
                          <p:cTn id="25" fill="hold" nodeType="afterGroup">
                            <p:stCondLst>
                              <p:cond delay="2500"/>
                            </p:stCondLst>
                            <p:childTnLst>
                              <p:par>
                                <p:cTn id="26" presetID="16" presetClass="entr" presetSubtype="37" fill="hold" grpId="0" nodeType="afterEffect">
                                  <p:stCondLst>
                                    <p:cond delay="0"/>
                                  </p:stCondLst>
                                  <p:childTnLst>
                                    <p:set>
                                      <p:cBhvr>
                                        <p:cTn id="27" dur="1" fill="hold">
                                          <p:stCondLst>
                                            <p:cond delay="0"/>
                                          </p:stCondLst>
                                        </p:cTn>
                                        <p:tgtEl>
                                          <p:spTgt spid="673941"/>
                                        </p:tgtEl>
                                        <p:attrNameLst>
                                          <p:attrName>style.visibility</p:attrName>
                                        </p:attrNameLst>
                                      </p:cBhvr>
                                      <p:to>
                                        <p:strVal val="visible"/>
                                      </p:to>
                                    </p:set>
                                    <p:animEffect transition="in" filter="barn(outVertical)">
                                      <p:cBhvr>
                                        <p:cTn id="28" dur="500"/>
                                        <p:tgtEl>
                                          <p:spTgt spid="673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4" grpId="0" autoUpdateAnimBg="0"/>
      <p:bldP spid="673798" grpId="0" animBg="1" autoUpdateAnimBg="0"/>
      <p:bldP spid="673799" grpId="0" animBg="1" autoUpdateAnimBg="0"/>
      <p:bldP spid="673941" grpId="0" animBg="1" autoUpdateAnimBg="0"/>
      <p:bldP spid="673943" grpId="0" animBg="1" autoUpdateAnimBg="0"/>
    </p:bldLst>
  </p:timing>
</p:sld>
</file>

<file path=ppt/slides/slide1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bwMode="auto">
          <a:xfrm>
            <a:off x="1752600" y="1219200"/>
            <a:ext cx="55626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三、中断处理过程</a:t>
            </a:r>
            <a:endParaRPr lang="zh-CN" altLang="en-US" b="1">
              <a:solidFill>
                <a:srgbClr val="FF0000"/>
              </a:solidFill>
            </a:endParaRPr>
          </a:p>
        </p:txBody>
      </p:sp>
      <p:sp>
        <p:nvSpPr>
          <p:cNvPr id="168963" name="Rectangle 3"/>
          <p:cNvSpPr>
            <a:spLocks noGrp="1" noChangeArrowheads="1"/>
          </p:cNvSpPr>
          <p:nvPr>
            <p:ph idx="1"/>
          </p:nvPr>
        </p:nvSpPr>
        <p:spPr bwMode="auto">
          <a:xfrm>
            <a:off x="1981200" y="2133600"/>
            <a:ext cx="4876800" cy="1905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FontTx/>
              <a:buNone/>
            </a:pPr>
            <a:r>
              <a:rPr lang="zh-CN" altLang="en-US" b="1">
                <a:solidFill>
                  <a:srgbClr val="FF00FF"/>
                </a:solidFill>
                <a:latin typeface="宋体" panose="02010600030101010101" pitchFamily="2" charset="-122"/>
              </a:rPr>
              <a:t>（</a:t>
            </a:r>
            <a:r>
              <a:rPr lang="en-US" altLang="zh-CN" b="1">
                <a:solidFill>
                  <a:srgbClr val="FF00FF"/>
                </a:solidFill>
                <a:latin typeface="宋体" panose="02010600030101010101" pitchFamily="2" charset="-122"/>
              </a:rPr>
              <a:t>1</a:t>
            </a:r>
            <a:r>
              <a:rPr lang="zh-CN" altLang="en-US" b="1">
                <a:solidFill>
                  <a:srgbClr val="FF00FF"/>
                </a:solidFill>
                <a:latin typeface="宋体" panose="02010600030101010101" pitchFamily="2" charset="-122"/>
              </a:rPr>
              <a:t>）接受中断请求</a:t>
            </a:r>
          </a:p>
          <a:p>
            <a:pPr marL="0" indent="0" eaLnBrk="1" hangingPunct="1">
              <a:buFontTx/>
              <a:buNone/>
            </a:pPr>
            <a:r>
              <a:rPr lang="zh-CN" altLang="en-US" b="1">
                <a:solidFill>
                  <a:srgbClr val="FF00FF"/>
                </a:solidFill>
                <a:latin typeface="宋体" panose="02010600030101010101" pitchFamily="2" charset="-122"/>
              </a:rPr>
              <a:t>（</a:t>
            </a:r>
            <a:r>
              <a:rPr lang="en-US" altLang="zh-CN" b="1">
                <a:solidFill>
                  <a:srgbClr val="FF00FF"/>
                </a:solidFill>
                <a:latin typeface="宋体" panose="02010600030101010101" pitchFamily="2" charset="-122"/>
              </a:rPr>
              <a:t>2</a:t>
            </a:r>
            <a:r>
              <a:rPr lang="zh-CN" altLang="en-US" b="1">
                <a:solidFill>
                  <a:srgbClr val="FF00FF"/>
                </a:solidFill>
                <a:latin typeface="宋体" panose="02010600030101010101" pitchFamily="2" charset="-122"/>
              </a:rPr>
              <a:t>）响应中断 </a:t>
            </a:r>
          </a:p>
          <a:p>
            <a:pPr marL="0" indent="0" eaLnBrk="1" hangingPunct="1">
              <a:buFontTx/>
              <a:buNone/>
            </a:pPr>
            <a:r>
              <a:rPr lang="zh-CN" altLang="en-US" b="1">
                <a:solidFill>
                  <a:srgbClr val="FF00FF"/>
                </a:solidFill>
                <a:latin typeface="宋体" panose="02010600030101010101" pitchFamily="2" charset="-122"/>
              </a:rPr>
              <a:t>（</a:t>
            </a:r>
            <a:r>
              <a:rPr lang="en-US" altLang="zh-CN" b="1">
                <a:solidFill>
                  <a:srgbClr val="FF00FF"/>
                </a:solidFill>
                <a:latin typeface="宋体" panose="02010600030101010101" pitchFamily="2" charset="-122"/>
              </a:rPr>
              <a:t>3</a:t>
            </a:r>
            <a:r>
              <a:rPr lang="zh-CN" altLang="en-US" b="1">
                <a:solidFill>
                  <a:srgbClr val="FF00FF"/>
                </a:solidFill>
                <a:latin typeface="宋体" panose="02010600030101010101" pitchFamily="2" charset="-122"/>
              </a:rPr>
              <a:t>）执行中断服务程序</a:t>
            </a:r>
            <a:endParaRPr lang="zh-CN" altLang="en-US" b="1">
              <a:solidFill>
                <a:srgbClr val="FF00FF"/>
              </a:solidFill>
              <a:latin typeface="宋体" panose="02010600030101010101" pitchFamily="2" charset="-122"/>
              <a:cs typeface="Arial" panose="020B0604020202020204" pitchFamily="34" charset="0"/>
            </a:endParaRPr>
          </a:p>
        </p:txBody>
      </p:sp>
      <p:sp>
        <p:nvSpPr>
          <p:cNvPr id="16896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76AEAE3-5D1D-4DA7-9918-D84D392C8707}" type="slidenum">
              <a:rPr lang="en-US" altLang="zh-CN" sz="1400" b="0"/>
              <a:pPr eaLnBrk="1" hangingPunct="1"/>
              <a:t>161</a:t>
            </a:fld>
            <a:endParaRPr lang="en-US" altLang="zh-CN" sz="1400" b="0"/>
          </a:p>
        </p:txBody>
      </p:sp>
      <p:sp>
        <p:nvSpPr>
          <p:cNvPr id="674820" name="Rectangle 4"/>
          <p:cNvSpPr>
            <a:spLocks noChangeArrowheads="1"/>
          </p:cNvSpPr>
          <p:nvPr/>
        </p:nvSpPr>
        <p:spPr bwMode="auto">
          <a:xfrm>
            <a:off x="1447800" y="4038600"/>
            <a:ext cx="63309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400">
                <a:solidFill>
                  <a:srgbClr val="FF0000"/>
                </a:solidFill>
                <a:latin typeface="宋体" panose="02010600030101010101" pitchFamily="2" charset="-122"/>
              </a:rPr>
              <a:t>四、实现中断的相关问题</a:t>
            </a:r>
          </a:p>
        </p:txBody>
      </p:sp>
      <p:sp>
        <p:nvSpPr>
          <p:cNvPr id="674821" name="Rectangle 5"/>
          <p:cNvSpPr>
            <a:spLocks noChangeArrowheads="1"/>
          </p:cNvSpPr>
          <p:nvPr/>
        </p:nvSpPr>
        <p:spPr bwMode="auto">
          <a:xfrm>
            <a:off x="1905000" y="5181600"/>
            <a:ext cx="56197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zh-CN" altLang="en-US" sz="3600">
                <a:solidFill>
                  <a:srgbClr val="FF00FF"/>
                </a:solidFill>
                <a:latin typeface="宋体" panose="02010600030101010101" pitchFamily="2" charset="-122"/>
              </a:rPr>
              <a:t>（</a:t>
            </a:r>
            <a:r>
              <a:rPr lang="en-US" altLang="zh-CN" sz="3600">
                <a:solidFill>
                  <a:srgbClr val="FF00FF"/>
                </a:solidFill>
                <a:latin typeface="宋体" panose="02010600030101010101" pitchFamily="2" charset="-122"/>
              </a:rPr>
              <a:t>1</a:t>
            </a:r>
            <a:r>
              <a:rPr lang="zh-CN" altLang="en-US" sz="3600">
                <a:solidFill>
                  <a:srgbClr val="FF00FF"/>
                </a:solidFill>
                <a:latin typeface="宋体" panose="02010600030101010101" pitchFamily="2" charset="-122"/>
              </a:rPr>
              <a:t>）中断向量地址的计算</a:t>
            </a:r>
            <a:r>
              <a:rPr lang="zh-CN" altLang="en-US" sz="2800">
                <a:latin typeface="宋体" panose="02010600030101010101" pitchFamily="2" charset="-122"/>
                <a:cs typeface="Arial" panose="020B0604020202020204" pitchFamily="34" charset="0"/>
              </a:rPr>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74818"/>
                                        </p:tgtEl>
                                        <p:attrNameLst>
                                          <p:attrName>style.visibility</p:attrName>
                                        </p:attrNameLst>
                                      </p:cBhvr>
                                      <p:to>
                                        <p:strVal val="visible"/>
                                      </p:to>
                                    </p:set>
                                    <p:anim calcmode="lin" valueType="num">
                                      <p:cBhvr additive="base">
                                        <p:cTn id="7" dur="500" fill="hold"/>
                                        <p:tgtEl>
                                          <p:spTgt spid="674818"/>
                                        </p:tgtEl>
                                        <p:attrNameLst>
                                          <p:attrName>ppt_x</p:attrName>
                                        </p:attrNameLst>
                                      </p:cBhvr>
                                      <p:tavLst>
                                        <p:tav tm="0">
                                          <p:val>
                                            <p:strVal val="0-#ppt_w/2"/>
                                          </p:val>
                                        </p:tav>
                                        <p:tav tm="100000">
                                          <p:val>
                                            <p:strVal val="#ppt_x"/>
                                          </p:val>
                                        </p:tav>
                                      </p:tavLst>
                                    </p:anim>
                                    <p:anim calcmode="lin" valueType="num">
                                      <p:cBhvr additive="base">
                                        <p:cTn id="8" dur="500" fill="hold"/>
                                        <p:tgtEl>
                                          <p:spTgt spid="67481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74820"/>
                                        </p:tgtEl>
                                        <p:attrNameLst>
                                          <p:attrName>style.visibility</p:attrName>
                                        </p:attrNameLst>
                                      </p:cBhvr>
                                      <p:to>
                                        <p:strVal val="visible"/>
                                      </p:to>
                                    </p:set>
                                    <p:anim calcmode="lin" valueType="num">
                                      <p:cBhvr additive="base">
                                        <p:cTn id="12" dur="500" fill="hold"/>
                                        <p:tgtEl>
                                          <p:spTgt spid="674820"/>
                                        </p:tgtEl>
                                        <p:attrNameLst>
                                          <p:attrName>ppt_x</p:attrName>
                                        </p:attrNameLst>
                                      </p:cBhvr>
                                      <p:tavLst>
                                        <p:tav tm="0">
                                          <p:val>
                                            <p:strVal val="0-#ppt_w/2"/>
                                          </p:val>
                                        </p:tav>
                                        <p:tav tm="100000">
                                          <p:val>
                                            <p:strVal val="#ppt_x"/>
                                          </p:val>
                                        </p:tav>
                                      </p:tavLst>
                                    </p:anim>
                                    <p:anim calcmode="lin" valueType="num">
                                      <p:cBhvr additive="base">
                                        <p:cTn id="13" dur="500" fill="hold"/>
                                        <p:tgtEl>
                                          <p:spTgt spid="674820"/>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14" presetClass="entr" presetSubtype="10" fill="hold" grpId="0" nodeType="afterEffect">
                                  <p:stCondLst>
                                    <p:cond delay="0"/>
                                  </p:stCondLst>
                                  <p:childTnLst>
                                    <p:set>
                                      <p:cBhvr>
                                        <p:cTn id="16" dur="1" fill="hold">
                                          <p:stCondLst>
                                            <p:cond delay="0"/>
                                          </p:stCondLst>
                                        </p:cTn>
                                        <p:tgtEl>
                                          <p:spTgt spid="674821"/>
                                        </p:tgtEl>
                                        <p:attrNameLst>
                                          <p:attrName>style.visibility</p:attrName>
                                        </p:attrNameLst>
                                      </p:cBhvr>
                                      <p:to>
                                        <p:strVal val="visible"/>
                                      </p:to>
                                    </p:set>
                                    <p:animEffect transition="in" filter="randombar(horizontal)">
                                      <p:cBhvr>
                                        <p:cTn id="17" dur="500"/>
                                        <p:tgtEl>
                                          <p:spTgt spid="674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18" grpId="0" autoUpdateAnimBg="0"/>
      <p:bldP spid="674820" grpId="0" autoUpdateAnimBg="0"/>
      <p:bldP spid="674821" grpId="0"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42" name="Rectangle 2"/>
          <p:cNvSpPr>
            <a:spLocks noGrp="1" noChangeArrowheads="1"/>
          </p:cNvSpPr>
          <p:nvPr>
            <p:ph type="title"/>
          </p:nvPr>
        </p:nvSpPr>
        <p:spPr bwMode="auto">
          <a:xfrm>
            <a:off x="1524000" y="1295400"/>
            <a:ext cx="6248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中断向量地址计算举例</a:t>
            </a:r>
            <a:endParaRPr lang="zh-CN" altLang="en-US" b="1">
              <a:solidFill>
                <a:srgbClr val="FF0000"/>
              </a:solidFill>
              <a:latin typeface="Arial" panose="020B0604020202020204" pitchFamily="34" charset="0"/>
              <a:cs typeface="Arial" panose="020B0604020202020204" pitchFamily="34" charset="0"/>
            </a:endParaRPr>
          </a:p>
        </p:txBody>
      </p:sp>
      <p:sp>
        <p:nvSpPr>
          <p:cNvPr id="169987" name="Rectangle 3"/>
          <p:cNvSpPr>
            <a:spLocks noGrp="1" noChangeArrowheads="1"/>
          </p:cNvSpPr>
          <p:nvPr>
            <p:ph idx="1"/>
          </p:nvPr>
        </p:nvSpPr>
        <p:spPr bwMode="auto">
          <a:xfrm>
            <a:off x="533400" y="2286000"/>
            <a:ext cx="8001000" cy="2971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eaLnBrk="1" hangingPunct="1">
              <a:buFontTx/>
              <a:buNone/>
            </a:pPr>
            <a:r>
              <a:rPr lang="zh-CN" altLang="en-US" b="1">
                <a:latin typeface="宋体" panose="02010600030101010101" pitchFamily="2" charset="-122"/>
              </a:rPr>
              <a:t>复位后的初始地址计算</a:t>
            </a:r>
            <a:endParaRPr lang="zh-CN" altLang="en-US" b="1">
              <a:latin typeface="Arial" panose="020B0604020202020204" pitchFamily="34" charset="0"/>
              <a:cs typeface="Arial" panose="020B0604020202020204" pitchFamily="34" charset="0"/>
            </a:endParaRPr>
          </a:p>
          <a:p>
            <a:pPr marL="0" indent="0" eaLnBrk="1" hangingPunct="1">
              <a:buFontTx/>
              <a:buNone/>
            </a:pPr>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）取</a:t>
            </a:r>
            <a:r>
              <a:rPr lang="en-US" altLang="zh-CN" b="1">
                <a:latin typeface="宋体" panose="02010600030101010101" pitchFamily="2" charset="-122"/>
              </a:rPr>
              <a:t>IPTR</a:t>
            </a:r>
            <a:r>
              <a:rPr lang="zh-CN" altLang="en-US" b="1">
                <a:latin typeface="宋体" panose="02010600030101010101" pitchFamily="2" charset="-122"/>
              </a:rPr>
              <a:t>的值</a:t>
            </a:r>
            <a:r>
              <a:rPr lang="zh-CN" altLang="en-US" b="1">
                <a:solidFill>
                  <a:srgbClr val="FF0000"/>
                </a:solidFill>
              </a:rPr>
              <a:t>（</a:t>
            </a:r>
            <a:r>
              <a:rPr lang="en-US" altLang="zh-CN" b="1">
                <a:solidFill>
                  <a:srgbClr val="FF0000"/>
                </a:solidFill>
              </a:rPr>
              <a:t>PMST</a:t>
            </a:r>
            <a:r>
              <a:rPr lang="zh-CN" altLang="en-US" b="1">
                <a:solidFill>
                  <a:srgbClr val="FF0000"/>
                </a:solidFill>
              </a:rPr>
              <a:t>）</a:t>
            </a:r>
            <a:r>
              <a:rPr lang="zh-CN" altLang="en-US" b="1">
                <a:latin typeface="宋体" panose="02010600030101010101" pitchFamily="2" charset="-122"/>
              </a:rPr>
              <a:t> </a:t>
            </a:r>
          </a:p>
          <a:p>
            <a:pPr marL="0" indent="0" eaLnBrk="1" hangingPunct="1">
              <a:buFontTx/>
              <a:buNone/>
            </a:pPr>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）查表</a:t>
            </a:r>
            <a:r>
              <a:rPr lang="en-US" altLang="zh-CN" b="1">
                <a:latin typeface="宋体" panose="02010600030101010101" pitchFamily="2" charset="-122"/>
              </a:rPr>
              <a:t>2</a:t>
            </a:r>
            <a:r>
              <a:rPr lang="zh-CN" altLang="en-US" b="1">
                <a:latin typeface="宋体" panose="02010600030101010101" pitchFamily="2" charset="-122"/>
              </a:rPr>
              <a:t>－</a:t>
            </a:r>
            <a:r>
              <a:rPr lang="en-US" altLang="zh-CN" b="1">
                <a:latin typeface="宋体" panose="02010600030101010101" pitchFamily="2" charset="-122"/>
              </a:rPr>
              <a:t>25</a:t>
            </a:r>
            <a:r>
              <a:rPr lang="zh-CN" altLang="en-US" b="1">
                <a:latin typeface="宋体" panose="02010600030101010101" pitchFamily="2" charset="-122"/>
              </a:rPr>
              <a:t>得中断向量序号</a:t>
            </a:r>
          </a:p>
          <a:p>
            <a:pPr marL="0" indent="0" eaLnBrk="1" hangingPunct="1">
              <a:buFontTx/>
              <a:buNone/>
            </a:pPr>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）将十六进制的中断向量序号左移</a:t>
            </a:r>
            <a:r>
              <a:rPr lang="en-US" altLang="zh-CN" b="1">
                <a:latin typeface="宋体" panose="02010600030101010101" pitchFamily="2" charset="-122"/>
              </a:rPr>
              <a:t>2</a:t>
            </a:r>
            <a:r>
              <a:rPr lang="zh-CN" altLang="en-US" b="1">
                <a:latin typeface="宋体" panose="02010600030101010101" pitchFamily="2" charset="-122"/>
              </a:rPr>
              <a:t>位 </a:t>
            </a:r>
          </a:p>
          <a:p>
            <a:pPr marL="0" indent="0" eaLnBrk="1" hangingPunct="1">
              <a:buFontTx/>
              <a:buNone/>
            </a:pPr>
            <a:r>
              <a:rPr lang="zh-CN" altLang="en-US" b="1">
                <a:latin typeface="宋体" panose="02010600030101010101" pitchFamily="2" charset="-122"/>
              </a:rPr>
              <a:t>（</a:t>
            </a:r>
            <a:r>
              <a:rPr lang="en-US" altLang="zh-CN" b="1">
                <a:latin typeface="宋体" panose="02010600030101010101" pitchFamily="2" charset="-122"/>
              </a:rPr>
              <a:t>4</a:t>
            </a:r>
            <a:r>
              <a:rPr lang="zh-CN" altLang="en-US" b="1">
                <a:latin typeface="宋体" panose="02010600030101010101" pitchFamily="2" charset="-122"/>
              </a:rPr>
              <a:t>）将（</a:t>
            </a:r>
            <a:r>
              <a:rPr lang="en-US" altLang="zh-CN" b="1">
                <a:latin typeface="宋体" panose="02010600030101010101" pitchFamily="2" charset="-122"/>
              </a:rPr>
              <a:t>1</a:t>
            </a:r>
            <a:r>
              <a:rPr lang="zh-CN" altLang="en-US" b="1">
                <a:latin typeface="宋体" panose="02010600030101010101" pitchFamily="2" charset="-122"/>
              </a:rPr>
              <a:t>）与（</a:t>
            </a:r>
            <a:r>
              <a:rPr lang="en-US" altLang="zh-CN" b="1">
                <a:latin typeface="宋体" panose="02010600030101010101" pitchFamily="2" charset="-122"/>
              </a:rPr>
              <a:t>3</a:t>
            </a:r>
            <a:r>
              <a:rPr lang="zh-CN" altLang="en-US" b="1">
                <a:latin typeface="宋体" panose="02010600030101010101" pitchFamily="2" charset="-122"/>
              </a:rPr>
              <a:t>）相加得中断向量地址</a:t>
            </a:r>
          </a:p>
        </p:txBody>
      </p:sp>
      <p:sp>
        <p:nvSpPr>
          <p:cNvPr id="16998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8531F33-801C-43A0-BBCC-09DFE0C2CF7D}" type="slidenum">
              <a:rPr lang="en-US" altLang="zh-CN" sz="1400" b="0"/>
              <a:pPr eaLnBrk="1" hangingPunct="1"/>
              <a:t>162</a:t>
            </a:fld>
            <a:endParaRPr lang="en-US" altLang="zh-CN" sz="1400" b="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75842"/>
                                        </p:tgtEl>
                                        <p:attrNameLst>
                                          <p:attrName>style.visibility</p:attrName>
                                        </p:attrNameLst>
                                      </p:cBhvr>
                                      <p:to>
                                        <p:strVal val="visible"/>
                                      </p:to>
                                    </p:set>
                                    <p:anim calcmode="lin" valueType="num">
                                      <p:cBhvr additive="base">
                                        <p:cTn id="7" dur="500" fill="hold"/>
                                        <p:tgtEl>
                                          <p:spTgt spid="675842"/>
                                        </p:tgtEl>
                                        <p:attrNameLst>
                                          <p:attrName>ppt_x</p:attrName>
                                        </p:attrNameLst>
                                      </p:cBhvr>
                                      <p:tavLst>
                                        <p:tav tm="0">
                                          <p:val>
                                            <p:strVal val="0-#ppt_w/2"/>
                                          </p:val>
                                        </p:tav>
                                        <p:tav tm="100000">
                                          <p:val>
                                            <p:strVal val="#ppt_x"/>
                                          </p:val>
                                        </p:tav>
                                      </p:tavLst>
                                    </p:anim>
                                    <p:anim calcmode="lin" valueType="num">
                                      <p:cBhvr additive="base">
                                        <p:cTn id="8" dur="500" fill="hold"/>
                                        <p:tgtEl>
                                          <p:spTgt spid="6758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42" grpId="0" autoUpdateAnimBg="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BFBBCAB-5964-48A4-9B09-DE52F1054584}" type="slidenum">
              <a:rPr lang="en-US" altLang="zh-CN" sz="1400" b="0"/>
              <a:pPr eaLnBrk="1" hangingPunct="1"/>
              <a:t>163</a:t>
            </a:fld>
            <a:endParaRPr lang="en-US" altLang="zh-CN" sz="1400" b="0"/>
          </a:p>
        </p:txBody>
      </p:sp>
      <p:sp>
        <p:nvSpPr>
          <p:cNvPr id="171011" name="Text Box 56"/>
          <p:cNvSpPr txBox="1">
            <a:spLocks noChangeArrowheads="1"/>
          </p:cNvSpPr>
          <p:nvPr/>
        </p:nvSpPr>
        <p:spPr bwMode="auto">
          <a:xfrm>
            <a:off x="5411788" y="4657725"/>
            <a:ext cx="360362" cy="52863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a:t>
            </a:r>
          </a:p>
        </p:txBody>
      </p:sp>
      <p:sp>
        <p:nvSpPr>
          <p:cNvPr id="171012" name="Line 3" descr="小棋盘"/>
          <p:cNvSpPr>
            <a:spLocks noChangeShapeType="1"/>
          </p:cNvSpPr>
          <p:nvPr/>
        </p:nvSpPr>
        <p:spPr bwMode="auto">
          <a:xfrm>
            <a:off x="7092950" y="1798638"/>
            <a:ext cx="0" cy="1371600"/>
          </a:xfrm>
          <a:prstGeom prst="line">
            <a:avLst/>
          </a:prstGeom>
          <a:noFill/>
          <a:ln w="3810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71013" name="Group 4"/>
          <p:cNvGrpSpPr>
            <a:grpSpLocks/>
          </p:cNvGrpSpPr>
          <p:nvPr/>
        </p:nvGrpSpPr>
        <p:grpSpPr bwMode="auto">
          <a:xfrm>
            <a:off x="5908675" y="1077913"/>
            <a:ext cx="2362200" cy="711200"/>
            <a:chOff x="3408" y="816"/>
            <a:chExt cx="1488" cy="448"/>
          </a:xfrm>
        </p:grpSpPr>
        <p:sp>
          <p:nvSpPr>
            <p:cNvPr id="171039" name="Rectangle 5" descr="小棋盘"/>
            <p:cNvSpPr>
              <a:spLocks noChangeArrowheads="1"/>
            </p:cNvSpPr>
            <p:nvPr/>
          </p:nvSpPr>
          <p:spPr bwMode="auto">
            <a:xfrm>
              <a:off x="3408" y="816"/>
              <a:ext cx="1488" cy="448"/>
            </a:xfrm>
            <a:prstGeom prst="rect">
              <a:avLst/>
            </a:prstGeom>
            <a:pattFill prst="smCheck">
              <a:fgClr>
                <a:schemeClr val="accent1"/>
              </a:fgClr>
              <a:bgClr>
                <a:schemeClr val="bg1"/>
              </a:bgClr>
            </a:pattFill>
            <a:ln w="9525">
              <a:solidFill>
                <a:schemeClr val="fo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a:solidFill>
                    <a:schemeClr val="tx2"/>
                  </a:solidFill>
                  <a:latin typeface="宋体" panose="02010600030101010101" pitchFamily="2" charset="-122"/>
                </a:rPr>
                <a:t>INT0=10H</a:t>
              </a:r>
            </a:p>
          </p:txBody>
        </p:sp>
        <p:sp>
          <p:nvSpPr>
            <p:cNvPr id="171040" name="Line 6" descr="小棋盘"/>
            <p:cNvSpPr>
              <a:spLocks noChangeShapeType="1"/>
            </p:cNvSpPr>
            <p:nvPr/>
          </p:nvSpPr>
          <p:spPr bwMode="auto">
            <a:xfrm>
              <a:off x="3504" y="912"/>
              <a:ext cx="576"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676871" name="Rectangle 7" descr="小棋盘"/>
          <p:cNvSpPr>
            <a:spLocks noChangeArrowheads="1"/>
          </p:cNvSpPr>
          <p:nvPr/>
        </p:nvSpPr>
        <p:spPr bwMode="auto">
          <a:xfrm>
            <a:off x="5508625" y="2159000"/>
            <a:ext cx="3081338" cy="711200"/>
          </a:xfrm>
          <a:prstGeom prst="rect">
            <a:avLst/>
          </a:prstGeom>
          <a:pattFill prst="smCheck">
            <a:fgClr>
              <a:schemeClr val="accent1"/>
            </a:fgClr>
            <a:bgClr>
              <a:schemeClr val="bg1"/>
            </a:bgClr>
          </a:pattFill>
          <a:ln w="9525">
            <a:solidFill>
              <a:schemeClr val="fo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000">
                <a:solidFill>
                  <a:schemeClr val="tx2"/>
                </a:solidFill>
                <a:latin typeface="宋体" panose="02010600030101010101" pitchFamily="2" charset="-122"/>
              </a:rPr>
              <a:t>左移</a:t>
            </a:r>
            <a:r>
              <a:rPr lang="en-US" altLang="zh-CN" sz="4000">
                <a:solidFill>
                  <a:schemeClr val="tx2"/>
                </a:solidFill>
                <a:latin typeface="宋体" panose="02010600030101010101" pitchFamily="2" charset="-122"/>
              </a:rPr>
              <a:t>2</a:t>
            </a:r>
            <a:r>
              <a:rPr lang="zh-CN" altLang="en-US" sz="4000">
                <a:solidFill>
                  <a:schemeClr val="tx2"/>
                </a:solidFill>
                <a:latin typeface="宋体" panose="02010600030101010101" pitchFamily="2" charset="-122"/>
              </a:rPr>
              <a:t>位</a:t>
            </a:r>
            <a:r>
              <a:rPr lang="en-US" altLang="zh-CN" sz="4000">
                <a:solidFill>
                  <a:schemeClr val="tx2"/>
                </a:solidFill>
                <a:latin typeface="宋体" panose="02010600030101010101" pitchFamily="2" charset="-122"/>
              </a:rPr>
              <a:t>=40H</a:t>
            </a:r>
          </a:p>
        </p:txBody>
      </p:sp>
      <p:sp>
        <p:nvSpPr>
          <p:cNvPr id="171015" name="Text Box 8"/>
          <p:cNvSpPr txBox="1">
            <a:spLocks noChangeArrowheads="1"/>
          </p:cNvSpPr>
          <p:nvPr/>
        </p:nvSpPr>
        <p:spPr bwMode="auto">
          <a:xfrm>
            <a:off x="1931988" y="3213100"/>
            <a:ext cx="3095625" cy="528638"/>
          </a:xfrm>
          <a:prstGeom prst="rect">
            <a:avLst/>
          </a:prstGeom>
          <a:solidFill>
            <a:srgbClr val="00FFFF"/>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solidFill>
                  <a:srgbClr val="FF0000"/>
                </a:solidFill>
              </a:rPr>
              <a:t>IPTR=0 0000 0001</a:t>
            </a:r>
          </a:p>
        </p:txBody>
      </p:sp>
      <p:sp>
        <p:nvSpPr>
          <p:cNvPr id="171016" name="Line 17"/>
          <p:cNvSpPr>
            <a:spLocks noChangeShapeType="1"/>
          </p:cNvSpPr>
          <p:nvPr/>
        </p:nvSpPr>
        <p:spPr bwMode="auto">
          <a:xfrm flipV="1">
            <a:off x="1547813" y="3933825"/>
            <a:ext cx="287337" cy="652463"/>
          </a:xfrm>
          <a:prstGeom prst="line">
            <a:avLst/>
          </a:prstGeom>
          <a:noFill/>
          <a:ln w="28575">
            <a:solidFill>
              <a:srgbClr val="FF00FF"/>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1017" name="Line 19"/>
          <p:cNvSpPr>
            <a:spLocks noChangeShapeType="1"/>
          </p:cNvSpPr>
          <p:nvPr/>
        </p:nvSpPr>
        <p:spPr bwMode="auto">
          <a:xfrm flipH="1" flipV="1">
            <a:off x="5148263" y="3860800"/>
            <a:ext cx="503237" cy="720725"/>
          </a:xfrm>
          <a:prstGeom prst="line">
            <a:avLst/>
          </a:prstGeom>
          <a:noFill/>
          <a:ln w="28575">
            <a:solidFill>
              <a:srgbClr val="FF00FF"/>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1018" name="Text Box 9"/>
          <p:cNvSpPr txBox="1">
            <a:spLocks noChangeArrowheads="1"/>
          </p:cNvSpPr>
          <p:nvPr/>
        </p:nvSpPr>
        <p:spPr bwMode="auto">
          <a:xfrm>
            <a:off x="1438275" y="4657725"/>
            <a:ext cx="1944688" cy="52863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0   0   0   0 </a:t>
            </a:r>
          </a:p>
        </p:txBody>
      </p:sp>
      <p:sp>
        <p:nvSpPr>
          <p:cNvPr id="171019" name="Text Box 10"/>
          <p:cNvSpPr txBox="1">
            <a:spLocks noChangeArrowheads="1"/>
          </p:cNvSpPr>
          <p:nvPr/>
        </p:nvSpPr>
        <p:spPr bwMode="auto">
          <a:xfrm>
            <a:off x="3527425" y="4657725"/>
            <a:ext cx="1727200" cy="52863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0   0   0  0</a:t>
            </a:r>
          </a:p>
        </p:txBody>
      </p:sp>
      <p:sp>
        <p:nvSpPr>
          <p:cNvPr id="171020" name="Text Box 12"/>
          <p:cNvSpPr txBox="1">
            <a:spLocks noChangeArrowheads="1"/>
          </p:cNvSpPr>
          <p:nvPr/>
        </p:nvSpPr>
        <p:spPr bwMode="auto">
          <a:xfrm>
            <a:off x="5411788" y="5378450"/>
            <a:ext cx="3603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7</a:t>
            </a:r>
          </a:p>
        </p:txBody>
      </p:sp>
      <p:sp>
        <p:nvSpPr>
          <p:cNvPr id="171021" name="Text Box 13"/>
          <p:cNvSpPr txBox="1">
            <a:spLocks noChangeArrowheads="1"/>
          </p:cNvSpPr>
          <p:nvPr/>
        </p:nvSpPr>
        <p:spPr bwMode="auto">
          <a:xfrm>
            <a:off x="1438275" y="5376863"/>
            <a:ext cx="1944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15 14 13 12 </a:t>
            </a:r>
          </a:p>
        </p:txBody>
      </p:sp>
      <p:sp>
        <p:nvSpPr>
          <p:cNvPr id="171022" name="Text Box 14"/>
          <p:cNvSpPr txBox="1">
            <a:spLocks noChangeArrowheads="1"/>
          </p:cNvSpPr>
          <p:nvPr/>
        </p:nvSpPr>
        <p:spPr bwMode="auto">
          <a:xfrm>
            <a:off x="3527425" y="5376863"/>
            <a:ext cx="17287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11 10  9  8</a:t>
            </a:r>
          </a:p>
        </p:txBody>
      </p:sp>
      <p:sp>
        <p:nvSpPr>
          <p:cNvPr id="171023" name="Text Box 15"/>
          <p:cNvSpPr txBox="1">
            <a:spLocks noChangeArrowheads="1"/>
          </p:cNvSpPr>
          <p:nvPr/>
        </p:nvSpPr>
        <p:spPr bwMode="auto">
          <a:xfrm>
            <a:off x="7054850" y="5376863"/>
            <a:ext cx="14398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3  2  1  0</a:t>
            </a:r>
          </a:p>
        </p:txBody>
      </p:sp>
      <p:sp>
        <p:nvSpPr>
          <p:cNvPr id="171024" name="Text Box 16"/>
          <p:cNvSpPr txBox="1">
            <a:spLocks noChangeArrowheads="1"/>
          </p:cNvSpPr>
          <p:nvPr/>
        </p:nvSpPr>
        <p:spPr bwMode="auto">
          <a:xfrm>
            <a:off x="7054850" y="4657725"/>
            <a:ext cx="1439863" cy="52863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0  0  0  0</a:t>
            </a:r>
          </a:p>
        </p:txBody>
      </p:sp>
      <p:sp>
        <p:nvSpPr>
          <p:cNvPr id="171025" name="Line 20"/>
          <p:cNvSpPr>
            <a:spLocks noChangeShapeType="1"/>
          </p:cNvSpPr>
          <p:nvPr/>
        </p:nvSpPr>
        <p:spPr bwMode="auto">
          <a:xfrm>
            <a:off x="5759450" y="4657725"/>
            <a:ext cx="0" cy="122396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1026" name="Text Box 21"/>
          <p:cNvSpPr txBox="1">
            <a:spLocks noChangeArrowheads="1"/>
          </p:cNvSpPr>
          <p:nvPr/>
        </p:nvSpPr>
        <p:spPr bwMode="auto">
          <a:xfrm>
            <a:off x="179388" y="6026150"/>
            <a:ext cx="129698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800"/>
              <a:t>Address</a:t>
            </a:r>
          </a:p>
        </p:txBody>
      </p:sp>
      <p:sp>
        <p:nvSpPr>
          <p:cNvPr id="171027" name="Text Box 22"/>
          <p:cNvSpPr txBox="1">
            <a:spLocks noChangeArrowheads="1"/>
          </p:cNvSpPr>
          <p:nvPr/>
        </p:nvSpPr>
        <p:spPr bwMode="auto">
          <a:xfrm>
            <a:off x="179388" y="4738688"/>
            <a:ext cx="10795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800"/>
              <a:t>Vector</a:t>
            </a:r>
          </a:p>
        </p:txBody>
      </p:sp>
      <p:sp>
        <p:nvSpPr>
          <p:cNvPr id="171028" name="Text Box 23"/>
          <p:cNvSpPr txBox="1">
            <a:spLocks noChangeArrowheads="1"/>
          </p:cNvSpPr>
          <p:nvPr/>
        </p:nvSpPr>
        <p:spPr bwMode="auto">
          <a:xfrm>
            <a:off x="395288" y="5449888"/>
            <a:ext cx="79216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800"/>
              <a:t>Bit</a:t>
            </a:r>
          </a:p>
        </p:txBody>
      </p:sp>
      <p:sp>
        <p:nvSpPr>
          <p:cNvPr id="171029" name="Text Box 24"/>
          <p:cNvSpPr txBox="1">
            <a:spLocks noChangeArrowheads="1"/>
          </p:cNvSpPr>
          <p:nvPr/>
        </p:nvSpPr>
        <p:spPr bwMode="auto">
          <a:xfrm>
            <a:off x="2195513" y="6026150"/>
            <a:ext cx="2889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0</a:t>
            </a:r>
          </a:p>
        </p:txBody>
      </p:sp>
      <p:sp>
        <p:nvSpPr>
          <p:cNvPr id="171030" name="Text Box 25"/>
          <p:cNvSpPr txBox="1">
            <a:spLocks noChangeArrowheads="1"/>
          </p:cNvSpPr>
          <p:nvPr/>
        </p:nvSpPr>
        <p:spPr bwMode="auto">
          <a:xfrm>
            <a:off x="4284663" y="5986463"/>
            <a:ext cx="2889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0</a:t>
            </a:r>
          </a:p>
        </p:txBody>
      </p:sp>
      <p:sp>
        <p:nvSpPr>
          <p:cNvPr id="171031" name="Text Box 26"/>
          <p:cNvSpPr txBox="1">
            <a:spLocks noChangeArrowheads="1"/>
          </p:cNvSpPr>
          <p:nvPr/>
        </p:nvSpPr>
        <p:spPr bwMode="auto">
          <a:xfrm>
            <a:off x="5975350" y="6026150"/>
            <a:ext cx="2889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C</a:t>
            </a:r>
          </a:p>
        </p:txBody>
      </p:sp>
      <p:sp>
        <p:nvSpPr>
          <p:cNvPr id="171032" name="Text Box 27"/>
          <p:cNvSpPr txBox="1">
            <a:spLocks noChangeArrowheads="1"/>
          </p:cNvSpPr>
          <p:nvPr/>
        </p:nvSpPr>
        <p:spPr bwMode="auto">
          <a:xfrm>
            <a:off x="7704138" y="6026150"/>
            <a:ext cx="2889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t>0</a:t>
            </a:r>
          </a:p>
        </p:txBody>
      </p:sp>
      <p:sp>
        <p:nvSpPr>
          <p:cNvPr id="171033" name="Text Box 28"/>
          <p:cNvSpPr txBox="1">
            <a:spLocks noChangeArrowheads="1"/>
          </p:cNvSpPr>
          <p:nvPr/>
        </p:nvSpPr>
        <p:spPr bwMode="auto">
          <a:xfrm>
            <a:off x="5756275" y="3182938"/>
            <a:ext cx="2592388" cy="528637"/>
          </a:xfrm>
          <a:prstGeom prst="rect">
            <a:avLst/>
          </a:prstGeom>
          <a:solidFill>
            <a:srgbClr val="FFFF99"/>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solidFill>
                  <a:schemeClr val="folHlink"/>
                </a:solidFill>
              </a:rPr>
              <a:t>INT=40h(INT0)</a:t>
            </a:r>
          </a:p>
        </p:txBody>
      </p:sp>
      <p:sp>
        <p:nvSpPr>
          <p:cNvPr id="171034" name="Line 29"/>
          <p:cNvSpPr>
            <a:spLocks noChangeShapeType="1"/>
          </p:cNvSpPr>
          <p:nvPr/>
        </p:nvSpPr>
        <p:spPr bwMode="auto">
          <a:xfrm flipH="1" flipV="1">
            <a:off x="5724525" y="3860800"/>
            <a:ext cx="0" cy="725488"/>
          </a:xfrm>
          <a:prstGeom prst="line">
            <a:avLst/>
          </a:prstGeom>
          <a:noFill/>
          <a:ln w="28575">
            <a:solidFill>
              <a:schemeClr val="bg2"/>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1035" name="Line 30"/>
          <p:cNvSpPr>
            <a:spLocks noChangeShapeType="1"/>
          </p:cNvSpPr>
          <p:nvPr/>
        </p:nvSpPr>
        <p:spPr bwMode="auto">
          <a:xfrm flipH="1" flipV="1">
            <a:off x="8388350" y="3789363"/>
            <a:ext cx="0" cy="796925"/>
          </a:xfrm>
          <a:prstGeom prst="line">
            <a:avLst/>
          </a:prstGeom>
          <a:noFill/>
          <a:ln w="28575">
            <a:solidFill>
              <a:schemeClr val="bg2"/>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1036" name="Text Box 55"/>
          <p:cNvSpPr txBox="1">
            <a:spLocks noChangeArrowheads="1"/>
          </p:cNvSpPr>
          <p:nvPr/>
        </p:nvSpPr>
        <p:spPr bwMode="auto">
          <a:xfrm>
            <a:off x="5756275" y="5378450"/>
            <a:ext cx="1152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6  5  4</a:t>
            </a:r>
          </a:p>
        </p:txBody>
      </p:sp>
      <p:sp>
        <p:nvSpPr>
          <p:cNvPr id="171037" name="Text Box 57"/>
          <p:cNvSpPr txBox="1">
            <a:spLocks noChangeArrowheads="1"/>
          </p:cNvSpPr>
          <p:nvPr/>
        </p:nvSpPr>
        <p:spPr bwMode="auto">
          <a:xfrm>
            <a:off x="5724525" y="4657725"/>
            <a:ext cx="1152525" cy="52863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1  0  0</a:t>
            </a:r>
          </a:p>
        </p:txBody>
      </p:sp>
      <p:sp>
        <p:nvSpPr>
          <p:cNvPr id="676925" name="Rectangle 61" descr="小棋盘"/>
          <p:cNvSpPr>
            <a:spLocks noChangeArrowheads="1"/>
          </p:cNvSpPr>
          <p:nvPr/>
        </p:nvSpPr>
        <p:spPr bwMode="auto">
          <a:xfrm>
            <a:off x="468313" y="1412875"/>
            <a:ext cx="4391025" cy="711200"/>
          </a:xfrm>
          <a:prstGeom prst="rect">
            <a:avLst/>
          </a:prstGeom>
          <a:pattFill prst="smCheck">
            <a:fgClr>
              <a:schemeClr val="accent1"/>
            </a:fgClr>
            <a:bgClr>
              <a:schemeClr val="bg1"/>
            </a:bgClr>
          </a:pattFill>
          <a:ln w="9525">
            <a:solidFill>
              <a:schemeClr val="hlink"/>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000">
                <a:solidFill>
                  <a:srgbClr val="FF00FF"/>
                </a:solidFill>
                <a:latin typeface="宋体" panose="02010600030101010101" pitchFamily="2" charset="-122"/>
              </a:rPr>
              <a:t>中断地址计算举例</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676871"/>
                                        </p:tgtEl>
                                        <p:attrNameLst>
                                          <p:attrName>style.visibility</p:attrName>
                                        </p:attrNameLst>
                                      </p:cBhvr>
                                      <p:to>
                                        <p:strVal val="visible"/>
                                      </p:to>
                                    </p:set>
                                    <p:animEffect transition="in" filter="slide(fromLeft)">
                                      <p:cBhvr>
                                        <p:cTn id="7" dur="500"/>
                                        <p:tgtEl>
                                          <p:spTgt spid="676871"/>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676925"/>
                                        </p:tgtEl>
                                        <p:attrNameLst>
                                          <p:attrName>style.visibility</p:attrName>
                                        </p:attrNameLst>
                                      </p:cBhvr>
                                      <p:to>
                                        <p:strVal val="visible"/>
                                      </p:to>
                                    </p:set>
                                    <p:animEffect transition="in" filter="slide(fromLeft)">
                                      <p:cBhvr>
                                        <p:cTn id="11" dur="500"/>
                                        <p:tgtEl>
                                          <p:spTgt spid="676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71" grpId="0" animBg="1" autoUpdateAnimBg="0"/>
      <p:bldP spid="676925" grpId="0" animBg="1"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034" name="Rectangle 2"/>
          <p:cNvSpPr>
            <a:spLocks noGrp="1" noChangeArrowheads="1"/>
          </p:cNvSpPr>
          <p:nvPr>
            <p:ph idx="1"/>
          </p:nvPr>
        </p:nvSpPr>
        <p:spPr bwMode="auto">
          <a:xfrm>
            <a:off x="381000" y="838200"/>
            <a:ext cx="8382000" cy="2971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eaLnBrk="1" hangingPunct="1">
              <a:buFontTx/>
              <a:buNone/>
            </a:pPr>
            <a:r>
              <a:rPr lang="en-US" altLang="zh-CN" b="1">
                <a:solidFill>
                  <a:srgbClr val="FF6600"/>
                </a:solidFill>
                <a:latin typeface="宋体" panose="02010600030101010101" pitchFamily="2" charset="-122"/>
              </a:rPr>
              <a:t>IPTR=1 1 1 1 1 1 1 1 1</a:t>
            </a:r>
            <a:endParaRPr lang="en-US" altLang="zh-CN" b="1">
              <a:solidFill>
                <a:srgbClr val="FF6600"/>
              </a:solidFill>
              <a:latin typeface="Arial" panose="020B0604020202020204" pitchFamily="34" charset="0"/>
              <a:cs typeface="Arial" panose="020B0604020202020204" pitchFamily="34" charset="0"/>
            </a:endParaRPr>
          </a:p>
          <a:p>
            <a:pPr marL="0" indent="0" algn="just" eaLnBrk="1" hangingPunct="1">
              <a:buFontTx/>
              <a:buNone/>
            </a:pPr>
            <a:r>
              <a:rPr lang="en-US" altLang="zh-CN" b="1">
                <a:latin typeface="宋体" panose="02010600030101010101" pitchFamily="2" charset="-122"/>
              </a:rPr>
              <a:t>+  K=                  0 0 </a:t>
            </a:r>
            <a:r>
              <a:rPr lang="en-US" altLang="zh-CN" b="1">
                <a:solidFill>
                  <a:schemeClr val="tx2"/>
                </a:solidFill>
                <a:latin typeface="宋体" panose="02010600030101010101" pitchFamily="2" charset="-122"/>
              </a:rPr>
              <a:t>0  0 0 0 0</a:t>
            </a:r>
          </a:p>
          <a:p>
            <a:pPr marL="0" indent="0" algn="just" eaLnBrk="1" hangingPunct="1">
              <a:buFontTx/>
              <a:buNone/>
            </a:pPr>
            <a:r>
              <a:rPr lang="zh-CN" altLang="en-US" b="1">
                <a:latin typeface="宋体" panose="02010600030101010101" pitchFamily="2" charset="-122"/>
              </a:rPr>
              <a:t>　   </a:t>
            </a:r>
            <a:r>
              <a:rPr lang="en-US" altLang="zh-CN" b="1" u="sng">
                <a:solidFill>
                  <a:srgbClr val="FF6600"/>
                </a:solidFill>
                <a:latin typeface="宋体" panose="02010600030101010101" pitchFamily="2" charset="-122"/>
              </a:rPr>
              <a:t>1 1 1 1</a:t>
            </a:r>
            <a:r>
              <a:rPr lang="en-US" altLang="zh-CN" b="1">
                <a:solidFill>
                  <a:srgbClr val="FF6600"/>
                </a:solidFill>
                <a:latin typeface="宋体" panose="02010600030101010101" pitchFamily="2" charset="-122"/>
              </a:rPr>
              <a:t> </a:t>
            </a:r>
            <a:r>
              <a:rPr lang="en-US" altLang="zh-CN" b="1" u="sng">
                <a:solidFill>
                  <a:srgbClr val="FF6600"/>
                </a:solidFill>
                <a:latin typeface="宋体" panose="02010600030101010101" pitchFamily="2" charset="-122"/>
              </a:rPr>
              <a:t>1 1 1 1</a:t>
            </a:r>
            <a:r>
              <a:rPr lang="en-US" altLang="zh-CN" b="1">
                <a:solidFill>
                  <a:srgbClr val="FF6600"/>
                </a:solidFill>
                <a:latin typeface="宋体" panose="02010600030101010101" pitchFamily="2" charset="-122"/>
              </a:rPr>
              <a:t> </a:t>
            </a:r>
            <a:r>
              <a:rPr lang="en-US" altLang="zh-CN" b="1" u="sng">
                <a:solidFill>
                  <a:srgbClr val="FF6600"/>
                </a:solidFill>
                <a:latin typeface="宋体" panose="02010600030101010101" pitchFamily="2" charset="-122"/>
              </a:rPr>
              <a:t>1</a:t>
            </a:r>
            <a:r>
              <a:rPr lang="en-US" altLang="zh-CN" b="1" u="sng">
                <a:latin typeface="宋体" panose="02010600030101010101" pitchFamily="2" charset="-122"/>
              </a:rPr>
              <a:t> </a:t>
            </a:r>
            <a:r>
              <a:rPr lang="en-US" altLang="zh-CN" b="1" u="sng">
                <a:solidFill>
                  <a:srgbClr val="FF00FF"/>
                </a:solidFill>
                <a:latin typeface="宋体" panose="02010600030101010101" pitchFamily="2" charset="-122"/>
              </a:rPr>
              <a:t>0 0 0</a:t>
            </a:r>
            <a:r>
              <a:rPr lang="en-US" altLang="zh-CN" b="1">
                <a:solidFill>
                  <a:srgbClr val="FF00FF"/>
                </a:solidFill>
                <a:latin typeface="宋体" panose="02010600030101010101" pitchFamily="2" charset="-122"/>
              </a:rPr>
              <a:t> </a:t>
            </a:r>
            <a:r>
              <a:rPr lang="en-US" altLang="zh-CN" b="1" u="sng">
                <a:solidFill>
                  <a:srgbClr val="FF00FF"/>
                </a:solidFill>
                <a:latin typeface="宋体" panose="02010600030101010101" pitchFamily="2" charset="-122"/>
              </a:rPr>
              <a:t> 0 0 0 0</a:t>
            </a:r>
            <a:endParaRPr lang="en-US" altLang="zh-CN" b="1">
              <a:solidFill>
                <a:srgbClr val="FF00FF"/>
              </a:solidFill>
              <a:latin typeface="Arial" panose="020B0604020202020204" pitchFamily="34" charset="0"/>
              <a:cs typeface="Arial" panose="020B0604020202020204" pitchFamily="34" charset="0"/>
            </a:endParaRPr>
          </a:p>
          <a:p>
            <a:pPr marL="0" indent="0" algn="just" eaLnBrk="1" hangingPunct="1">
              <a:buFontTx/>
              <a:buNone/>
            </a:pPr>
            <a:r>
              <a:rPr lang="zh-CN" altLang="en-US" b="1">
                <a:latin typeface="宋体" panose="02010600030101010101" pitchFamily="2" charset="-122"/>
              </a:rPr>
              <a:t>　　　</a:t>
            </a:r>
            <a:r>
              <a:rPr lang="en-US" altLang="zh-CN" b="1">
                <a:solidFill>
                  <a:srgbClr val="FF0000"/>
                </a:solidFill>
                <a:latin typeface="宋体" panose="02010600030101010101" pitchFamily="2" charset="-122"/>
              </a:rPr>
              <a:t>F       F        8        0  h</a:t>
            </a:r>
            <a:endParaRPr lang="en-US" altLang="zh-CN" b="1">
              <a:solidFill>
                <a:srgbClr val="FF0000"/>
              </a:solidFill>
              <a:latin typeface="Arial" panose="020B0604020202020204" pitchFamily="34" charset="0"/>
              <a:cs typeface="Arial" panose="020B0604020202020204" pitchFamily="34" charset="0"/>
            </a:endParaRPr>
          </a:p>
          <a:p>
            <a:pPr marL="0" indent="0" algn="just" eaLnBrk="1" hangingPunct="1">
              <a:buFontTx/>
              <a:buNone/>
            </a:pPr>
            <a:r>
              <a:rPr lang="zh-CN" altLang="en-US" b="1">
                <a:solidFill>
                  <a:schemeClr val="tx2"/>
                </a:solidFill>
                <a:latin typeface="宋体" panose="02010600030101010101" pitchFamily="2" charset="-122"/>
              </a:rPr>
              <a:t>故硬件复位后的开始地址为</a:t>
            </a:r>
            <a:r>
              <a:rPr lang="en-US" altLang="zh-CN" b="1">
                <a:solidFill>
                  <a:schemeClr val="tx2"/>
                </a:solidFill>
                <a:latin typeface="宋体" panose="02010600030101010101" pitchFamily="2" charset="-122"/>
              </a:rPr>
              <a:t>0FF80h</a:t>
            </a:r>
            <a:r>
              <a:rPr lang="zh-CN" altLang="en-US" b="1">
                <a:solidFill>
                  <a:schemeClr val="tx2"/>
                </a:solidFill>
                <a:latin typeface="宋体" panose="02010600030101010101" pitchFamily="2" charset="-122"/>
              </a:rPr>
              <a:t>。</a:t>
            </a:r>
            <a:endParaRPr lang="zh-CN" altLang="en-US" b="1">
              <a:solidFill>
                <a:schemeClr val="tx2"/>
              </a:solidFill>
            </a:endParaRPr>
          </a:p>
        </p:txBody>
      </p:sp>
      <p:sp>
        <p:nvSpPr>
          <p:cNvPr id="17203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262F22E0-C3CF-46BB-ACC5-CC8851CABF7A}" type="slidenum">
              <a:rPr lang="en-US" altLang="zh-CN" sz="1400" b="0"/>
              <a:pPr eaLnBrk="1" hangingPunct="1"/>
              <a:t>164</a:t>
            </a:fld>
            <a:endParaRPr lang="en-US" altLang="zh-CN" sz="1400" b="0"/>
          </a:p>
        </p:txBody>
      </p:sp>
      <p:sp>
        <p:nvSpPr>
          <p:cNvPr id="677891" name="Rectangle 3"/>
          <p:cNvSpPr>
            <a:spLocks noChangeArrowheads="1"/>
          </p:cNvSpPr>
          <p:nvPr/>
        </p:nvSpPr>
        <p:spPr bwMode="auto">
          <a:xfrm>
            <a:off x="381000" y="3886200"/>
            <a:ext cx="8382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en-US" altLang="zh-CN" sz="3200">
                <a:solidFill>
                  <a:schemeClr val="folHlink"/>
                </a:solidFill>
                <a:latin typeface="宋体" panose="02010600030101010101" pitchFamily="2" charset="-122"/>
              </a:rPr>
              <a:t>IPTR=0 0 0 0 0 0 0 0 1</a:t>
            </a:r>
            <a:r>
              <a:rPr lang="en-US" altLang="zh-CN" sz="3200">
                <a:latin typeface="宋体" panose="02010600030101010101" pitchFamily="2" charset="-122"/>
              </a:rPr>
              <a:t> </a:t>
            </a:r>
          </a:p>
          <a:p>
            <a:pPr algn="just" eaLnBrk="1" hangingPunct="1">
              <a:spcBef>
                <a:spcPct val="20000"/>
              </a:spcBef>
            </a:pPr>
            <a:r>
              <a:rPr lang="en-US" altLang="zh-CN" sz="3200">
                <a:latin typeface="宋体" panose="02010600030101010101" pitchFamily="2" charset="-122"/>
              </a:rPr>
              <a:t>+    K=                0 0 </a:t>
            </a:r>
            <a:r>
              <a:rPr lang="en-US" altLang="zh-CN" sz="3200">
                <a:solidFill>
                  <a:schemeClr val="tx2"/>
                </a:solidFill>
                <a:latin typeface="宋体" panose="02010600030101010101" pitchFamily="2" charset="-122"/>
              </a:rPr>
              <a:t>0  0 0 0 0</a:t>
            </a:r>
          </a:p>
          <a:p>
            <a:pPr algn="just" eaLnBrk="1" hangingPunct="1">
              <a:spcBef>
                <a:spcPct val="20000"/>
              </a:spcBef>
            </a:pPr>
            <a:r>
              <a:rPr lang="en-US" altLang="zh-CN" sz="3200">
                <a:latin typeface="宋体" panose="02010600030101010101" pitchFamily="2" charset="-122"/>
              </a:rPr>
              <a:t>   </a:t>
            </a:r>
            <a:r>
              <a:rPr lang="zh-CN" altLang="en-US" sz="3200">
                <a:solidFill>
                  <a:schemeClr val="folHlink"/>
                </a:solidFill>
                <a:latin typeface="宋体" panose="02010600030101010101" pitchFamily="2" charset="-122"/>
              </a:rPr>
              <a:t>　</a:t>
            </a:r>
            <a:r>
              <a:rPr lang="en-US" altLang="zh-CN" sz="3200" u="sng">
                <a:solidFill>
                  <a:schemeClr val="folHlink"/>
                </a:solidFill>
                <a:latin typeface="宋体" panose="02010600030101010101" pitchFamily="2" charset="-122"/>
              </a:rPr>
              <a:t>0 0 0 0</a:t>
            </a:r>
            <a:r>
              <a:rPr lang="en-US" altLang="zh-CN" sz="3200">
                <a:solidFill>
                  <a:schemeClr val="folHlink"/>
                </a:solidFill>
                <a:latin typeface="宋体" panose="02010600030101010101" pitchFamily="2" charset="-122"/>
              </a:rPr>
              <a:t> </a:t>
            </a:r>
            <a:r>
              <a:rPr lang="en-US" altLang="zh-CN" sz="3200" u="sng">
                <a:solidFill>
                  <a:schemeClr val="folHlink"/>
                </a:solidFill>
                <a:latin typeface="宋体" panose="02010600030101010101" pitchFamily="2" charset="-122"/>
              </a:rPr>
              <a:t>0 0 0 0</a:t>
            </a:r>
            <a:r>
              <a:rPr lang="en-US" altLang="zh-CN" sz="3200">
                <a:solidFill>
                  <a:schemeClr val="folHlink"/>
                </a:solidFill>
                <a:latin typeface="宋体" panose="02010600030101010101" pitchFamily="2" charset="-122"/>
              </a:rPr>
              <a:t> </a:t>
            </a:r>
            <a:r>
              <a:rPr lang="en-US" altLang="zh-CN" sz="3200" u="sng">
                <a:solidFill>
                  <a:schemeClr val="folHlink"/>
                </a:solidFill>
                <a:latin typeface="宋体" panose="02010600030101010101" pitchFamily="2" charset="-122"/>
              </a:rPr>
              <a:t>1</a:t>
            </a:r>
            <a:r>
              <a:rPr lang="en-US" altLang="zh-CN" sz="3200" u="sng">
                <a:latin typeface="宋体" panose="02010600030101010101" pitchFamily="2" charset="-122"/>
              </a:rPr>
              <a:t> </a:t>
            </a:r>
            <a:r>
              <a:rPr lang="en-US" altLang="zh-CN" sz="3200" u="sng">
                <a:solidFill>
                  <a:srgbClr val="FF00FF"/>
                </a:solidFill>
                <a:latin typeface="宋体" panose="02010600030101010101" pitchFamily="2" charset="-122"/>
              </a:rPr>
              <a:t>0 0 0</a:t>
            </a:r>
            <a:r>
              <a:rPr lang="en-US" altLang="zh-CN" sz="3200">
                <a:solidFill>
                  <a:srgbClr val="FF00FF"/>
                </a:solidFill>
                <a:latin typeface="宋体" panose="02010600030101010101" pitchFamily="2" charset="-122"/>
              </a:rPr>
              <a:t> </a:t>
            </a:r>
            <a:r>
              <a:rPr lang="en-US" altLang="zh-CN" sz="3200" u="sng">
                <a:solidFill>
                  <a:srgbClr val="FF00FF"/>
                </a:solidFill>
                <a:latin typeface="宋体" panose="02010600030101010101" pitchFamily="2" charset="-122"/>
              </a:rPr>
              <a:t> 0 0 0 0</a:t>
            </a:r>
            <a:endParaRPr lang="en-US" altLang="zh-CN" sz="3200">
              <a:solidFill>
                <a:srgbClr val="FF00FF"/>
              </a:solidFill>
              <a:latin typeface="Arial" panose="020B0604020202020204" pitchFamily="34" charset="0"/>
              <a:cs typeface="Arial" panose="020B0604020202020204" pitchFamily="34" charset="0"/>
            </a:endParaRPr>
          </a:p>
          <a:p>
            <a:pPr algn="just" eaLnBrk="1" hangingPunct="1">
              <a:spcBef>
                <a:spcPct val="20000"/>
              </a:spcBef>
            </a:pPr>
            <a:r>
              <a:rPr lang="zh-CN" altLang="en-US" sz="3200">
                <a:latin typeface="宋体" panose="02010600030101010101" pitchFamily="2" charset="-122"/>
              </a:rPr>
              <a:t>　　　</a:t>
            </a:r>
            <a:r>
              <a:rPr lang="en-US" altLang="zh-CN" sz="3200">
                <a:solidFill>
                  <a:schemeClr val="folHlink"/>
                </a:solidFill>
                <a:latin typeface="宋体" panose="02010600030101010101" pitchFamily="2" charset="-122"/>
              </a:rPr>
              <a:t>0       0        8        0  h</a:t>
            </a:r>
            <a:endParaRPr lang="en-US" altLang="zh-CN" sz="3200">
              <a:solidFill>
                <a:schemeClr val="folHlink"/>
              </a:solidFill>
              <a:latin typeface="Arial" panose="020B0604020202020204" pitchFamily="34" charset="0"/>
              <a:cs typeface="Arial" panose="020B0604020202020204" pitchFamily="34" charset="0"/>
            </a:endParaRPr>
          </a:p>
          <a:p>
            <a:pPr algn="just" eaLnBrk="1" hangingPunct="1">
              <a:spcBef>
                <a:spcPct val="20000"/>
              </a:spcBef>
            </a:pPr>
            <a:r>
              <a:rPr lang="zh-CN" altLang="en-US" sz="3200">
                <a:solidFill>
                  <a:schemeClr val="tx2"/>
                </a:solidFill>
                <a:latin typeface="宋体" panose="02010600030101010101" pitchFamily="2" charset="-122"/>
              </a:rPr>
              <a:t>此时中断向量被移到从</a:t>
            </a:r>
            <a:r>
              <a:rPr lang="en-US" altLang="zh-CN" sz="3200">
                <a:solidFill>
                  <a:schemeClr val="tx2"/>
                </a:solidFill>
                <a:latin typeface="宋体" panose="02010600030101010101" pitchFamily="2" charset="-122"/>
              </a:rPr>
              <a:t>00080h</a:t>
            </a:r>
            <a:r>
              <a:rPr lang="zh-CN" altLang="en-US" sz="3200">
                <a:solidFill>
                  <a:schemeClr val="tx2"/>
                </a:solidFill>
                <a:latin typeface="宋体" panose="02010600030101010101" pitchFamily="2" charset="-122"/>
              </a:rPr>
              <a:t>单元开始处</a:t>
            </a:r>
            <a:r>
              <a:rPr lang="zh-CN" altLang="en-US" sz="3200">
                <a:latin typeface="宋体" panose="02010600030101010101" pitchFamily="2" charset="-122"/>
              </a:rPr>
              <a:t>。</a:t>
            </a:r>
            <a:endParaRPr lang="zh-CN" altLang="en-US" sz="3200"/>
          </a:p>
        </p:txBody>
      </p:sp>
      <p:grpSp>
        <p:nvGrpSpPr>
          <p:cNvPr id="172037" name="Group 4"/>
          <p:cNvGrpSpPr>
            <a:grpSpLocks/>
          </p:cNvGrpSpPr>
          <p:nvPr/>
        </p:nvGrpSpPr>
        <p:grpSpPr bwMode="auto">
          <a:xfrm>
            <a:off x="5651500" y="692150"/>
            <a:ext cx="2438400" cy="711200"/>
            <a:chOff x="3552" y="432"/>
            <a:chExt cx="1632" cy="448"/>
          </a:xfrm>
        </p:grpSpPr>
        <p:sp>
          <p:nvSpPr>
            <p:cNvPr id="172038" name="Rectangle 5" descr="小棋盘"/>
            <p:cNvSpPr>
              <a:spLocks noChangeArrowheads="1"/>
            </p:cNvSpPr>
            <p:nvPr/>
          </p:nvSpPr>
          <p:spPr bwMode="auto">
            <a:xfrm>
              <a:off x="3552" y="432"/>
              <a:ext cx="1632" cy="448"/>
            </a:xfrm>
            <a:prstGeom prst="rect">
              <a:avLst/>
            </a:prstGeom>
            <a:pattFill prst="smCheck">
              <a:fgClr>
                <a:schemeClr val="accent1"/>
              </a:fgClr>
              <a:bgClr>
                <a:srgbClr val="FFFFFF"/>
              </a:bgClr>
            </a:pattFill>
            <a:ln w="9525">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000">
                  <a:solidFill>
                    <a:srgbClr val="FF0000"/>
                  </a:solidFill>
                  <a:latin typeface="宋体" panose="02010600030101010101" pitchFamily="2" charset="-122"/>
                </a:rPr>
                <a:t>复位</a:t>
              </a:r>
              <a:r>
                <a:rPr lang="en-US" altLang="zh-CN" sz="4000">
                  <a:solidFill>
                    <a:srgbClr val="FF0000"/>
                  </a:solidFill>
                  <a:latin typeface="宋体" panose="02010600030101010101" pitchFamily="2" charset="-122"/>
                </a:rPr>
                <a:t>RS=0</a:t>
              </a:r>
              <a:r>
                <a:rPr lang="en-US" altLang="zh-CN" sz="4000">
                  <a:latin typeface="宋体" panose="02010600030101010101" pitchFamily="2" charset="-122"/>
                </a:rPr>
                <a:t> </a:t>
              </a:r>
            </a:p>
          </p:txBody>
        </p:sp>
        <p:sp>
          <p:nvSpPr>
            <p:cNvPr id="172039" name="Line 6"/>
            <p:cNvSpPr>
              <a:spLocks noChangeShapeType="1"/>
            </p:cNvSpPr>
            <p:nvPr/>
          </p:nvSpPr>
          <p:spPr bwMode="auto">
            <a:xfrm>
              <a:off x="4272" y="528"/>
              <a:ext cx="288" cy="0"/>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77891"/>
                                        </p:tgtEl>
                                        <p:attrNameLst>
                                          <p:attrName>style.visibility</p:attrName>
                                        </p:attrNameLst>
                                      </p:cBhvr>
                                      <p:to>
                                        <p:strVal val="visible"/>
                                      </p:to>
                                    </p:set>
                                    <p:anim calcmode="lin" valueType="num">
                                      <p:cBhvr additive="base">
                                        <p:cTn id="7" dur="500" fill="hold"/>
                                        <p:tgtEl>
                                          <p:spTgt spid="677891"/>
                                        </p:tgtEl>
                                        <p:attrNameLst>
                                          <p:attrName>ppt_x</p:attrName>
                                        </p:attrNameLst>
                                      </p:cBhvr>
                                      <p:tavLst>
                                        <p:tav tm="0">
                                          <p:val>
                                            <p:strVal val="0-#ppt_w/2"/>
                                          </p:val>
                                        </p:tav>
                                        <p:tav tm="100000">
                                          <p:val>
                                            <p:strVal val="#ppt_x"/>
                                          </p:val>
                                        </p:tav>
                                      </p:tavLst>
                                    </p:anim>
                                    <p:anim calcmode="lin" valueType="num">
                                      <p:cBhvr additive="base">
                                        <p:cTn id="8" dur="500" fill="hold"/>
                                        <p:tgtEl>
                                          <p:spTgt spid="6778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1" grpId="0"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8914" name="Rectangle 2"/>
          <p:cNvSpPr>
            <a:spLocks noGrp="1" noChangeArrowheads="1"/>
          </p:cNvSpPr>
          <p:nvPr>
            <p:ph type="title"/>
          </p:nvPr>
        </p:nvSpPr>
        <p:spPr bwMode="auto">
          <a:xfrm>
            <a:off x="457200" y="914400"/>
            <a:ext cx="68580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2</a:t>
            </a:r>
            <a:r>
              <a:rPr lang="zh-CN" altLang="en-US" b="1">
                <a:solidFill>
                  <a:srgbClr val="FF0000"/>
                </a:solidFill>
                <a:latin typeface="宋体" panose="02010600030101010101" pitchFamily="2" charset="-122"/>
              </a:rPr>
              <a:t>）外部中断响应的时间</a:t>
            </a:r>
            <a:r>
              <a:rPr lang="zh-CN" altLang="en-US" b="1">
                <a:latin typeface="宋体" panose="02010600030101010101" pitchFamily="2" charset="-122"/>
              </a:rPr>
              <a:t> </a:t>
            </a:r>
          </a:p>
        </p:txBody>
      </p:sp>
      <p:sp>
        <p:nvSpPr>
          <p:cNvPr id="173059" name="Rectangle 3"/>
          <p:cNvSpPr>
            <a:spLocks noGrp="1" noChangeArrowheads="1"/>
          </p:cNvSpPr>
          <p:nvPr>
            <p:ph idx="1"/>
          </p:nvPr>
        </p:nvSpPr>
        <p:spPr bwMode="auto">
          <a:xfrm>
            <a:off x="609600" y="1828800"/>
            <a:ext cx="7772400" cy="2362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eaLnBrk="1" hangingPunct="1">
              <a:buFontTx/>
              <a:buNone/>
            </a:pPr>
            <a:r>
              <a:rPr lang="zh-CN" altLang="en-US" b="1">
                <a:latin typeface="宋体" panose="02010600030101010101" pitchFamily="2" charset="-122"/>
              </a:rPr>
              <a:t>响应的时间＝采样时间＋查询时间</a:t>
            </a:r>
          </a:p>
          <a:p>
            <a:pPr marL="0" indent="0" algn="just" eaLnBrk="1" hangingPunct="1">
              <a:buFontTx/>
              <a:buNone/>
            </a:pPr>
            <a:r>
              <a:rPr lang="zh-CN" altLang="en-US" b="1">
                <a:latin typeface="宋体" panose="02010600030101010101" pitchFamily="2" charset="-122"/>
              </a:rPr>
              <a:t>　　　　　＝</a:t>
            </a:r>
            <a:r>
              <a:rPr lang="en-US" altLang="zh-CN" b="1">
                <a:latin typeface="宋体" panose="02010600030101010101" pitchFamily="2" charset="-122"/>
              </a:rPr>
              <a:t>1</a:t>
            </a:r>
            <a:r>
              <a:rPr lang="zh-CN" altLang="en-US" b="1">
                <a:latin typeface="宋体" panose="02010600030101010101" pitchFamily="2" charset="-122"/>
              </a:rPr>
              <a:t>＋</a:t>
            </a:r>
            <a:r>
              <a:rPr lang="en-US" altLang="zh-CN" b="1">
                <a:latin typeface="宋体" panose="02010600030101010101" pitchFamily="2" charset="-122"/>
              </a:rPr>
              <a:t>2≥3</a:t>
            </a:r>
            <a:r>
              <a:rPr lang="zh-CN" altLang="en-US" b="1">
                <a:latin typeface="宋体" panose="02010600030101010101" pitchFamily="2" charset="-122"/>
              </a:rPr>
              <a:t>个完整的机器周期</a:t>
            </a:r>
            <a:endParaRPr lang="zh-CN" altLang="en-US" b="1">
              <a:latin typeface="Arial" panose="020B0604020202020204" pitchFamily="34" charset="0"/>
              <a:cs typeface="Arial" panose="020B0604020202020204" pitchFamily="34" charset="0"/>
            </a:endParaRPr>
          </a:p>
          <a:p>
            <a:pPr marL="0" indent="0" algn="just" eaLnBrk="1" hangingPunct="1">
              <a:buFontTx/>
              <a:buNone/>
            </a:pPr>
            <a:r>
              <a:rPr lang="zh-CN" altLang="en-US" b="1">
                <a:latin typeface="宋体" panose="02010600030101010101" pitchFamily="2" charset="-122"/>
              </a:rPr>
              <a:t>外部中断的时间基本上在</a:t>
            </a:r>
            <a:r>
              <a:rPr lang="en-US" altLang="zh-CN" b="1">
                <a:latin typeface="宋体" panose="02010600030101010101" pitchFamily="2" charset="-122"/>
              </a:rPr>
              <a:t>3</a:t>
            </a:r>
            <a:r>
              <a:rPr lang="zh-CN" altLang="en-US" b="1">
                <a:latin typeface="宋体" panose="02010600030101010101" pitchFamily="2" charset="-122"/>
              </a:rPr>
              <a:t>～</a:t>
            </a:r>
            <a:r>
              <a:rPr lang="en-US" altLang="zh-CN" b="1">
                <a:latin typeface="宋体" panose="02010600030101010101" pitchFamily="2" charset="-122"/>
              </a:rPr>
              <a:t>8</a:t>
            </a:r>
            <a:r>
              <a:rPr lang="zh-CN" altLang="en-US" b="1">
                <a:latin typeface="宋体" panose="02010600030101010101" pitchFamily="2" charset="-122"/>
              </a:rPr>
              <a:t>个机器周期之间。</a:t>
            </a:r>
            <a:endParaRPr lang="zh-CN" altLang="en-US" b="1"/>
          </a:p>
        </p:txBody>
      </p:sp>
      <p:sp>
        <p:nvSpPr>
          <p:cNvPr id="17306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E7FD1AA-244C-4B5F-9A34-96374DD58618}" type="slidenum">
              <a:rPr lang="en-US" altLang="zh-CN" sz="1400" b="0"/>
              <a:pPr eaLnBrk="1" hangingPunct="1"/>
              <a:t>165</a:t>
            </a:fld>
            <a:endParaRPr lang="en-US" altLang="zh-CN" sz="1400" b="0"/>
          </a:p>
        </p:txBody>
      </p:sp>
      <p:sp>
        <p:nvSpPr>
          <p:cNvPr id="678916" name="Rectangle 4"/>
          <p:cNvSpPr>
            <a:spLocks noChangeArrowheads="1"/>
          </p:cNvSpPr>
          <p:nvPr/>
        </p:nvSpPr>
        <p:spPr bwMode="auto">
          <a:xfrm>
            <a:off x="533400" y="4114800"/>
            <a:ext cx="6051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4400">
                <a:solidFill>
                  <a:srgbClr val="FF0000"/>
                </a:solidFill>
                <a:latin typeface="宋体" panose="02010600030101010101" pitchFamily="2" charset="-122"/>
              </a:rPr>
              <a:t>（</a:t>
            </a:r>
            <a:r>
              <a:rPr lang="en-US" altLang="zh-CN" sz="4400">
                <a:solidFill>
                  <a:srgbClr val="FF0000"/>
                </a:solidFill>
                <a:latin typeface="宋体" panose="02010600030101010101" pitchFamily="2" charset="-122"/>
              </a:rPr>
              <a:t>3</a:t>
            </a:r>
            <a:r>
              <a:rPr lang="zh-CN" altLang="en-US" sz="4400">
                <a:solidFill>
                  <a:srgbClr val="FF0000"/>
                </a:solidFill>
                <a:latin typeface="宋体" panose="02010600030101010101" pitchFamily="2" charset="-122"/>
              </a:rPr>
              <a:t>）外部中断触发方式</a:t>
            </a:r>
            <a:endParaRPr lang="zh-CN" altLang="en-US" sz="3200">
              <a:solidFill>
                <a:srgbClr val="FF0000"/>
              </a:solidFill>
              <a:latin typeface="宋体" panose="02010600030101010101" pitchFamily="2" charset="-122"/>
            </a:endParaRPr>
          </a:p>
        </p:txBody>
      </p:sp>
      <p:sp>
        <p:nvSpPr>
          <p:cNvPr id="678917" name="Rectangle 5"/>
          <p:cNvSpPr>
            <a:spLocks noChangeArrowheads="1"/>
          </p:cNvSpPr>
          <p:nvPr/>
        </p:nvSpPr>
        <p:spPr bwMode="auto">
          <a:xfrm>
            <a:off x="3505200" y="5105400"/>
            <a:ext cx="2209800" cy="120015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chemeClr val="tx2"/>
                </a:solidFill>
                <a:latin typeface="宋体" panose="02010600030101010101" pitchFamily="2" charset="-122"/>
              </a:rPr>
              <a:t>电平触发</a:t>
            </a:r>
          </a:p>
          <a:p>
            <a:pPr eaLnBrk="1" hangingPunct="1"/>
            <a:r>
              <a:rPr lang="zh-CN" altLang="en-US" sz="3600">
                <a:solidFill>
                  <a:srgbClr val="FF00FF"/>
                </a:solidFill>
                <a:latin typeface="宋体" panose="02010600030101010101" pitchFamily="2" charset="-122"/>
              </a:rPr>
              <a:t>边沿触发</a:t>
            </a:r>
            <a:r>
              <a:rPr lang="zh-CN" altLang="en-US" sz="3600">
                <a:solidFill>
                  <a:schemeClr val="tx2"/>
                </a:solidFill>
              </a:rPr>
              <a:t> </a:t>
            </a:r>
          </a:p>
        </p:txBody>
      </p:sp>
      <p:sp>
        <p:nvSpPr>
          <p:cNvPr id="678918" name="AutoShape 6" descr="小棋盘"/>
          <p:cNvSpPr>
            <a:spLocks noChangeArrowheads="1"/>
          </p:cNvSpPr>
          <p:nvPr/>
        </p:nvSpPr>
        <p:spPr bwMode="auto">
          <a:xfrm>
            <a:off x="7848600" y="1295400"/>
            <a:ext cx="914400" cy="1295400"/>
          </a:xfrm>
          <a:prstGeom prst="wedgeRoundRectCallout">
            <a:avLst>
              <a:gd name="adj1" fmla="val -102778"/>
              <a:gd name="adj2" fmla="val 11889"/>
              <a:gd name="adj3" fmla="val 16667"/>
            </a:avLst>
          </a:prstGeom>
          <a:pattFill prst="smCheck">
            <a:fgClr>
              <a:schemeClr val="accent1"/>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r>
              <a:rPr lang="zh-CN" altLang="en-US" sz="2400">
                <a:solidFill>
                  <a:schemeClr val="folHlink"/>
                </a:solidFill>
                <a:latin typeface="宋体" panose="02010600030101010101" pitchFamily="2" charset="-122"/>
              </a:rPr>
              <a:t>采样</a:t>
            </a:r>
          </a:p>
          <a:p>
            <a:r>
              <a:rPr lang="zh-CN" altLang="en-US" sz="2400">
                <a:solidFill>
                  <a:schemeClr val="folHlink"/>
                </a:solidFill>
                <a:latin typeface="宋体" panose="02010600030101010101" pitchFamily="2" charset="-122"/>
              </a:rPr>
              <a:t>查询</a:t>
            </a:r>
          </a:p>
          <a:p>
            <a:r>
              <a:rPr lang="zh-CN" altLang="en-US" sz="2400">
                <a:solidFill>
                  <a:schemeClr val="folHlink"/>
                </a:solidFill>
                <a:latin typeface="宋体" panose="02010600030101010101" pitchFamily="2" charset="-122"/>
              </a:rPr>
              <a:t>转移</a:t>
            </a:r>
          </a:p>
        </p:txBody>
      </p:sp>
      <p:sp>
        <p:nvSpPr>
          <p:cNvPr id="678919" name="AutoShape 7" descr="小棋盘"/>
          <p:cNvSpPr>
            <a:spLocks noChangeArrowheads="1"/>
          </p:cNvSpPr>
          <p:nvPr/>
        </p:nvSpPr>
        <p:spPr bwMode="auto">
          <a:xfrm>
            <a:off x="6553200" y="3733800"/>
            <a:ext cx="2438400" cy="2743200"/>
          </a:xfrm>
          <a:prstGeom prst="wedgeRoundRectCallout">
            <a:avLst>
              <a:gd name="adj1" fmla="val -77620"/>
              <a:gd name="adj2" fmla="val 9722"/>
              <a:gd name="adj3" fmla="val 16667"/>
            </a:avLst>
          </a:prstGeom>
          <a:pattFill prst="smCheck">
            <a:fgClr>
              <a:schemeClr val="accent1"/>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r>
              <a:rPr lang="en-US" altLang="zh-CN" sz="2400" dirty="0">
                <a:latin typeface="宋体" panose="02010600030101010101" pitchFamily="2" charset="-122"/>
              </a:rPr>
              <a:t>CPU</a:t>
            </a:r>
            <a:r>
              <a:rPr lang="zh-CN" altLang="en-US" sz="2400" dirty="0">
                <a:latin typeface="宋体" panose="02010600030101010101" pitchFamily="2" charset="-122"/>
              </a:rPr>
              <a:t>硬件依信号电平响应中断申请，但该信号应在中断服务程序返回前拆除，以免造成重复中断。</a:t>
            </a:r>
          </a:p>
        </p:txBody>
      </p:sp>
      <p:sp>
        <p:nvSpPr>
          <p:cNvPr id="678920" name="AutoShape 8" descr="小棋盘"/>
          <p:cNvSpPr>
            <a:spLocks noChangeArrowheads="1"/>
          </p:cNvSpPr>
          <p:nvPr/>
        </p:nvSpPr>
        <p:spPr bwMode="auto">
          <a:xfrm>
            <a:off x="228600" y="4953000"/>
            <a:ext cx="2895600" cy="1676400"/>
          </a:xfrm>
          <a:prstGeom prst="wedgeRoundRectCallout">
            <a:avLst>
              <a:gd name="adj1" fmla="val 64037"/>
              <a:gd name="adj2" fmla="val 15907"/>
              <a:gd name="adj3" fmla="val 16667"/>
            </a:avLst>
          </a:prstGeom>
          <a:pattFill prst="smCheck">
            <a:fgClr>
              <a:schemeClr val="accent1"/>
            </a:fgClr>
            <a:bgClr>
              <a:srgbClr val="FFFFFF"/>
            </a:bgClr>
          </a:pattFill>
          <a:ln w="9525">
            <a:solidFill>
              <a:schemeClr val="tx2"/>
            </a:solidFill>
            <a:miter lim="800000"/>
            <a:headEnd/>
            <a:tailEnd/>
          </a:ln>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r>
              <a:rPr lang="zh-CN" altLang="en-US" sz="2400">
                <a:solidFill>
                  <a:srgbClr val="FF00FF"/>
                </a:solidFill>
                <a:latin typeface="宋体" panose="02010600030101010101" pitchFamily="2" charset="-122"/>
              </a:rPr>
              <a:t>外部中断输入线上的负跳变首先被</a:t>
            </a:r>
            <a:r>
              <a:rPr lang="en-US" altLang="zh-CN" sz="2400">
                <a:solidFill>
                  <a:srgbClr val="FF00FF"/>
                </a:solidFill>
                <a:latin typeface="宋体" panose="02010600030101010101" pitchFamily="2" charset="-122"/>
              </a:rPr>
              <a:t>CPU</a:t>
            </a:r>
            <a:r>
              <a:rPr lang="zh-CN" altLang="en-US" sz="2400">
                <a:solidFill>
                  <a:srgbClr val="FF00FF"/>
                </a:solidFill>
                <a:latin typeface="宋体" panose="02010600030101010101" pitchFamily="2" charset="-122"/>
              </a:rPr>
              <a:t>的外部中断申请触发器锁存。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78914"/>
                                        </p:tgtEl>
                                        <p:attrNameLst>
                                          <p:attrName>style.visibility</p:attrName>
                                        </p:attrNameLst>
                                      </p:cBhvr>
                                      <p:to>
                                        <p:strVal val="visible"/>
                                      </p:to>
                                    </p:set>
                                    <p:anim calcmode="lin" valueType="num">
                                      <p:cBhvr additive="base">
                                        <p:cTn id="7" dur="500" fill="hold"/>
                                        <p:tgtEl>
                                          <p:spTgt spid="678914"/>
                                        </p:tgtEl>
                                        <p:attrNameLst>
                                          <p:attrName>ppt_x</p:attrName>
                                        </p:attrNameLst>
                                      </p:cBhvr>
                                      <p:tavLst>
                                        <p:tav tm="0">
                                          <p:val>
                                            <p:strVal val="0-#ppt_w/2"/>
                                          </p:val>
                                        </p:tav>
                                        <p:tav tm="100000">
                                          <p:val>
                                            <p:strVal val="#ppt_x"/>
                                          </p:val>
                                        </p:tav>
                                      </p:tavLst>
                                    </p:anim>
                                    <p:anim calcmode="lin" valueType="num">
                                      <p:cBhvr additive="base">
                                        <p:cTn id="8" dur="500" fill="hold"/>
                                        <p:tgtEl>
                                          <p:spTgt spid="67891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678916"/>
                                        </p:tgtEl>
                                        <p:attrNameLst>
                                          <p:attrName>style.visibility</p:attrName>
                                        </p:attrNameLst>
                                      </p:cBhvr>
                                      <p:to>
                                        <p:strVal val="visible"/>
                                      </p:to>
                                    </p:set>
                                    <p:animEffect transition="in" filter="slide(fromBottom)">
                                      <p:cBhvr>
                                        <p:cTn id="12" dur="500"/>
                                        <p:tgtEl>
                                          <p:spTgt spid="678916"/>
                                        </p:tgtEl>
                                      </p:cBhvr>
                                    </p:animEffect>
                                  </p:childTnLst>
                                </p:cTn>
                              </p:par>
                            </p:childTnLst>
                          </p:cTn>
                        </p:par>
                        <p:par>
                          <p:cTn id="13" fill="hold" nodeType="afterGroup">
                            <p:stCondLst>
                              <p:cond delay="1000"/>
                            </p:stCondLst>
                            <p:childTnLst>
                              <p:par>
                                <p:cTn id="14" presetID="3" presetClass="entr" presetSubtype="10" fill="hold" grpId="0" nodeType="afterEffect">
                                  <p:stCondLst>
                                    <p:cond delay="0"/>
                                  </p:stCondLst>
                                  <p:childTnLst>
                                    <p:set>
                                      <p:cBhvr>
                                        <p:cTn id="15" dur="1" fill="hold">
                                          <p:stCondLst>
                                            <p:cond delay="0"/>
                                          </p:stCondLst>
                                        </p:cTn>
                                        <p:tgtEl>
                                          <p:spTgt spid="678917"/>
                                        </p:tgtEl>
                                        <p:attrNameLst>
                                          <p:attrName>style.visibility</p:attrName>
                                        </p:attrNameLst>
                                      </p:cBhvr>
                                      <p:to>
                                        <p:strVal val="visible"/>
                                      </p:to>
                                    </p:set>
                                    <p:animEffect transition="in" filter="blinds(horizontal)">
                                      <p:cBhvr>
                                        <p:cTn id="16" dur="500"/>
                                        <p:tgtEl>
                                          <p:spTgt spid="678917"/>
                                        </p:tgtEl>
                                      </p:cBhvr>
                                    </p:animEffect>
                                  </p:childTnLst>
                                </p:cTn>
                              </p:par>
                            </p:childTnLst>
                          </p:cTn>
                        </p:par>
                        <p:par>
                          <p:cTn id="17" fill="hold" nodeType="afterGroup">
                            <p:stCondLst>
                              <p:cond delay="1500"/>
                            </p:stCondLst>
                            <p:childTnLst>
                              <p:par>
                                <p:cTn id="18" presetID="2" presetClass="entr" presetSubtype="2" fill="hold" grpId="0" nodeType="afterEffect">
                                  <p:stCondLst>
                                    <p:cond delay="0"/>
                                  </p:stCondLst>
                                  <p:childTnLst>
                                    <p:set>
                                      <p:cBhvr>
                                        <p:cTn id="19" dur="1" fill="hold">
                                          <p:stCondLst>
                                            <p:cond delay="0"/>
                                          </p:stCondLst>
                                        </p:cTn>
                                        <p:tgtEl>
                                          <p:spTgt spid="678918"/>
                                        </p:tgtEl>
                                        <p:attrNameLst>
                                          <p:attrName>style.visibility</p:attrName>
                                        </p:attrNameLst>
                                      </p:cBhvr>
                                      <p:to>
                                        <p:strVal val="visible"/>
                                      </p:to>
                                    </p:set>
                                    <p:anim calcmode="lin" valueType="num">
                                      <p:cBhvr additive="base">
                                        <p:cTn id="20" dur="500" fill="hold"/>
                                        <p:tgtEl>
                                          <p:spTgt spid="678918"/>
                                        </p:tgtEl>
                                        <p:attrNameLst>
                                          <p:attrName>ppt_x</p:attrName>
                                        </p:attrNameLst>
                                      </p:cBhvr>
                                      <p:tavLst>
                                        <p:tav tm="0">
                                          <p:val>
                                            <p:strVal val="1+#ppt_w/2"/>
                                          </p:val>
                                        </p:tav>
                                        <p:tav tm="100000">
                                          <p:val>
                                            <p:strVal val="#ppt_x"/>
                                          </p:val>
                                        </p:tav>
                                      </p:tavLst>
                                    </p:anim>
                                    <p:anim calcmode="lin" valueType="num">
                                      <p:cBhvr additive="base">
                                        <p:cTn id="21" dur="500" fill="hold"/>
                                        <p:tgtEl>
                                          <p:spTgt spid="678918"/>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2000"/>
                            </p:stCondLst>
                            <p:childTnLst>
                              <p:par>
                                <p:cTn id="23" presetID="2" presetClass="entr" presetSubtype="2" fill="hold" grpId="0" nodeType="afterEffect">
                                  <p:stCondLst>
                                    <p:cond delay="0"/>
                                  </p:stCondLst>
                                  <p:childTnLst>
                                    <p:set>
                                      <p:cBhvr>
                                        <p:cTn id="24" dur="1" fill="hold">
                                          <p:stCondLst>
                                            <p:cond delay="0"/>
                                          </p:stCondLst>
                                        </p:cTn>
                                        <p:tgtEl>
                                          <p:spTgt spid="678920"/>
                                        </p:tgtEl>
                                        <p:attrNameLst>
                                          <p:attrName>style.visibility</p:attrName>
                                        </p:attrNameLst>
                                      </p:cBhvr>
                                      <p:to>
                                        <p:strVal val="visible"/>
                                      </p:to>
                                    </p:set>
                                    <p:anim calcmode="lin" valueType="num">
                                      <p:cBhvr additive="base">
                                        <p:cTn id="25" dur="500" fill="hold"/>
                                        <p:tgtEl>
                                          <p:spTgt spid="678920"/>
                                        </p:tgtEl>
                                        <p:attrNameLst>
                                          <p:attrName>ppt_x</p:attrName>
                                        </p:attrNameLst>
                                      </p:cBhvr>
                                      <p:tavLst>
                                        <p:tav tm="0">
                                          <p:val>
                                            <p:strVal val="1+#ppt_w/2"/>
                                          </p:val>
                                        </p:tav>
                                        <p:tav tm="100000">
                                          <p:val>
                                            <p:strVal val="#ppt_x"/>
                                          </p:val>
                                        </p:tav>
                                      </p:tavLst>
                                    </p:anim>
                                    <p:anim calcmode="lin" valueType="num">
                                      <p:cBhvr additive="base">
                                        <p:cTn id="26" dur="500" fill="hold"/>
                                        <p:tgtEl>
                                          <p:spTgt spid="678920"/>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2500"/>
                            </p:stCondLst>
                            <p:childTnLst>
                              <p:par>
                                <p:cTn id="28" presetID="2" presetClass="entr" presetSubtype="2" fill="hold" grpId="0" nodeType="afterEffect">
                                  <p:stCondLst>
                                    <p:cond delay="0"/>
                                  </p:stCondLst>
                                  <p:childTnLst>
                                    <p:set>
                                      <p:cBhvr>
                                        <p:cTn id="29" dur="1" fill="hold">
                                          <p:stCondLst>
                                            <p:cond delay="0"/>
                                          </p:stCondLst>
                                        </p:cTn>
                                        <p:tgtEl>
                                          <p:spTgt spid="678919"/>
                                        </p:tgtEl>
                                        <p:attrNameLst>
                                          <p:attrName>style.visibility</p:attrName>
                                        </p:attrNameLst>
                                      </p:cBhvr>
                                      <p:to>
                                        <p:strVal val="visible"/>
                                      </p:to>
                                    </p:set>
                                    <p:anim calcmode="lin" valueType="num">
                                      <p:cBhvr additive="base">
                                        <p:cTn id="30" dur="500" fill="hold"/>
                                        <p:tgtEl>
                                          <p:spTgt spid="678919"/>
                                        </p:tgtEl>
                                        <p:attrNameLst>
                                          <p:attrName>ppt_x</p:attrName>
                                        </p:attrNameLst>
                                      </p:cBhvr>
                                      <p:tavLst>
                                        <p:tav tm="0">
                                          <p:val>
                                            <p:strVal val="1+#ppt_w/2"/>
                                          </p:val>
                                        </p:tav>
                                        <p:tav tm="100000">
                                          <p:val>
                                            <p:strVal val="#ppt_x"/>
                                          </p:val>
                                        </p:tav>
                                      </p:tavLst>
                                    </p:anim>
                                    <p:anim calcmode="lin" valueType="num">
                                      <p:cBhvr additive="base">
                                        <p:cTn id="31" dur="500" fill="hold"/>
                                        <p:tgtEl>
                                          <p:spTgt spid="6789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14" grpId="0" autoUpdateAnimBg="0"/>
      <p:bldP spid="678916" grpId="0" autoUpdateAnimBg="0"/>
      <p:bldP spid="678917" grpId="0" animBg="1" autoUpdateAnimBg="0"/>
      <p:bldP spid="678918" grpId="0" animBg="1" autoUpdateAnimBg="0"/>
      <p:bldP spid="678919" grpId="0" animBg="1" autoUpdateAnimBg="0"/>
      <p:bldP spid="678920" grpId="0" animBg="1" autoUpdateAnimBg="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9E9FB41C-9968-4059-B9E2-37031536579B}" type="slidenum">
              <a:rPr lang="en-US" altLang="zh-CN" sz="1400" b="0"/>
              <a:pPr eaLnBrk="1" hangingPunct="1"/>
              <a:t>166</a:t>
            </a:fld>
            <a:endParaRPr lang="en-US" altLang="zh-CN" sz="1400" b="0"/>
          </a:p>
        </p:txBody>
      </p:sp>
      <p:sp>
        <p:nvSpPr>
          <p:cNvPr id="679938" name="Rectangle 2"/>
          <p:cNvSpPr>
            <a:spLocks noChangeArrowheads="1"/>
          </p:cNvSpPr>
          <p:nvPr/>
        </p:nvSpPr>
        <p:spPr bwMode="auto">
          <a:xfrm>
            <a:off x="1752600" y="1066800"/>
            <a:ext cx="5486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4400">
                <a:solidFill>
                  <a:srgbClr val="FF0000"/>
                </a:solidFill>
                <a:latin typeface="宋体" panose="02010600030101010101" pitchFamily="2" charset="-122"/>
              </a:rPr>
              <a:t>第十节  自举加载</a:t>
            </a:r>
            <a:r>
              <a:rPr lang="zh-CN" altLang="en-US" sz="4400" b="0">
                <a:solidFill>
                  <a:srgbClr val="FF0000"/>
                </a:solidFill>
              </a:rPr>
              <a:t> </a:t>
            </a:r>
          </a:p>
        </p:txBody>
      </p:sp>
      <p:sp>
        <p:nvSpPr>
          <p:cNvPr id="174084" name="Rectangle 3" descr="大棋盘"/>
          <p:cNvSpPr>
            <a:spLocks noChangeArrowheads="1"/>
          </p:cNvSpPr>
          <p:nvPr/>
        </p:nvSpPr>
        <p:spPr bwMode="auto">
          <a:xfrm>
            <a:off x="685800" y="2209800"/>
            <a:ext cx="1016000" cy="598488"/>
          </a:xfrm>
          <a:prstGeom prst="rect">
            <a:avLst/>
          </a:prstGeom>
          <a:pattFill prst="lgCheck">
            <a:fgClr>
              <a:srgbClr val="FFFF00"/>
            </a:fgClr>
            <a:bgClr>
              <a:srgbClr val="FFFFFF"/>
            </a:bgClr>
          </a:pattFill>
          <a:ln w="19050">
            <a:solidFill>
              <a:srgbClr val="FF00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chemeClr val="tx2"/>
                </a:solidFill>
                <a:latin typeface="宋体" panose="02010600030101010101" pitchFamily="2" charset="-122"/>
              </a:rPr>
              <a:t>任务</a:t>
            </a:r>
          </a:p>
        </p:txBody>
      </p:sp>
      <p:sp>
        <p:nvSpPr>
          <p:cNvPr id="174085" name="Rectangle 4" descr="小棋盘"/>
          <p:cNvSpPr>
            <a:spLocks noChangeArrowheads="1"/>
          </p:cNvSpPr>
          <p:nvPr/>
        </p:nvSpPr>
        <p:spPr bwMode="auto">
          <a:xfrm>
            <a:off x="2819400" y="1981200"/>
            <a:ext cx="4648200" cy="1076325"/>
          </a:xfrm>
          <a:prstGeom prst="rect">
            <a:avLst/>
          </a:prstGeom>
          <a:pattFill prst="smCheck">
            <a:fgClr>
              <a:srgbClr val="FFFF00"/>
            </a:fgClr>
            <a:bgClr>
              <a:srgbClr val="FFFFFF"/>
            </a:bgClr>
          </a:patt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FF"/>
                </a:solidFill>
                <a:latin typeface="宋体" panose="02010600030101010101" pitchFamily="2" charset="-122"/>
              </a:rPr>
              <a:t>完成上电时从外部加载并执行用户的程序代码</a:t>
            </a:r>
          </a:p>
        </p:txBody>
      </p:sp>
      <p:sp>
        <p:nvSpPr>
          <p:cNvPr id="174086" name="Rectangle 5" descr="小棋盘"/>
          <p:cNvSpPr>
            <a:spLocks noChangeArrowheads="1"/>
          </p:cNvSpPr>
          <p:nvPr/>
        </p:nvSpPr>
        <p:spPr bwMode="auto">
          <a:xfrm>
            <a:off x="539750" y="3200400"/>
            <a:ext cx="1439863" cy="1076325"/>
          </a:xfrm>
          <a:prstGeom prst="rect">
            <a:avLst/>
          </a:prstGeom>
          <a:pattFill prst="smCheck">
            <a:fgClr>
              <a:schemeClr val="accent1"/>
            </a:fgClr>
            <a:bgClr>
              <a:srgbClr val="FFFFFF"/>
            </a:bgClr>
          </a:pattFill>
          <a:ln w="9525">
            <a:solidFill>
              <a:schemeClr val="accent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FF"/>
                </a:solidFill>
                <a:latin typeface="宋体" panose="02010600030101010101" pitchFamily="2" charset="-122"/>
              </a:rPr>
              <a:t>加载</a:t>
            </a:r>
          </a:p>
          <a:p>
            <a:pPr eaLnBrk="1" hangingPunct="1"/>
            <a:r>
              <a:rPr lang="zh-CN" altLang="en-US" sz="3200">
                <a:solidFill>
                  <a:srgbClr val="FF00FF"/>
                </a:solidFill>
                <a:latin typeface="宋体" panose="02010600030101010101" pitchFamily="2" charset="-122"/>
              </a:rPr>
              <a:t>途径：</a:t>
            </a:r>
          </a:p>
        </p:txBody>
      </p:sp>
      <p:sp>
        <p:nvSpPr>
          <p:cNvPr id="174087" name="Rectangle 6"/>
          <p:cNvSpPr>
            <a:spLocks noChangeArrowheads="1"/>
          </p:cNvSpPr>
          <p:nvPr/>
        </p:nvSpPr>
        <p:spPr bwMode="auto">
          <a:xfrm>
            <a:off x="2362200" y="3124200"/>
            <a:ext cx="6280150"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a:solidFill>
                  <a:schemeClr val="tx2"/>
                </a:solidFill>
                <a:latin typeface="宋体" panose="02010600030101010101" pitchFamily="2" charset="-122"/>
              </a:rPr>
              <a:t>从一个外部</a:t>
            </a:r>
            <a:r>
              <a:rPr lang="en-US" altLang="zh-CN" sz="3200">
                <a:solidFill>
                  <a:schemeClr val="tx2"/>
                </a:solidFill>
                <a:latin typeface="宋体" panose="02010600030101010101" pitchFamily="2" charset="-122"/>
              </a:rPr>
              <a:t>8</a:t>
            </a:r>
            <a:r>
              <a:rPr lang="zh-CN" altLang="en-US" sz="3200">
                <a:solidFill>
                  <a:schemeClr val="tx2"/>
                </a:solidFill>
                <a:latin typeface="宋体" panose="02010600030101010101" pitchFamily="2" charset="-122"/>
              </a:rPr>
              <a:t>位或</a:t>
            </a:r>
            <a:r>
              <a:rPr lang="en-US" altLang="zh-CN" sz="3200">
                <a:solidFill>
                  <a:schemeClr val="tx2"/>
                </a:solidFill>
                <a:latin typeface="宋体" panose="02010600030101010101" pitchFamily="2" charset="-122"/>
              </a:rPr>
              <a:t>16</a:t>
            </a:r>
            <a:r>
              <a:rPr lang="zh-CN" altLang="en-US" sz="3200">
                <a:solidFill>
                  <a:schemeClr val="tx2"/>
                </a:solidFill>
                <a:latin typeface="宋体" panose="02010600030101010101" pitchFamily="2" charset="-122"/>
              </a:rPr>
              <a:t>位</a:t>
            </a:r>
            <a:r>
              <a:rPr lang="en-US" altLang="zh-CN" sz="3200">
                <a:solidFill>
                  <a:schemeClr val="tx2"/>
                </a:solidFill>
                <a:latin typeface="宋体" panose="02010600030101010101" pitchFamily="2" charset="-122"/>
              </a:rPr>
              <a:t>EPROM</a:t>
            </a:r>
            <a:r>
              <a:rPr lang="zh-CN" altLang="en-US" sz="3200">
                <a:solidFill>
                  <a:schemeClr val="tx2"/>
                </a:solidFill>
                <a:latin typeface="宋体" panose="02010600030101010101" pitchFamily="2" charset="-122"/>
              </a:rPr>
              <a:t>加载；</a:t>
            </a:r>
          </a:p>
          <a:p>
            <a:pPr eaLnBrk="1" hangingPunct="1">
              <a:spcBef>
                <a:spcPct val="20000"/>
              </a:spcBef>
            </a:pPr>
            <a:r>
              <a:rPr lang="zh-CN" altLang="en-US" sz="3200">
                <a:solidFill>
                  <a:schemeClr val="folHlink"/>
                </a:solidFill>
                <a:latin typeface="宋体" panose="02010600030101010101" pitchFamily="2" charset="-122"/>
              </a:rPr>
              <a:t>由主处理器通过以下途经加载：</a:t>
            </a:r>
          </a:p>
        </p:txBody>
      </p:sp>
      <p:sp>
        <p:nvSpPr>
          <p:cNvPr id="174088" name="Rectangle 7"/>
          <p:cNvSpPr>
            <a:spLocks noChangeArrowheads="1"/>
          </p:cNvSpPr>
          <p:nvPr/>
        </p:nvSpPr>
        <p:spPr bwMode="auto">
          <a:xfrm>
            <a:off x="2895600" y="4419600"/>
            <a:ext cx="5421313"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30000"/>
              </a:spcBef>
            </a:pPr>
            <a:r>
              <a:rPr lang="en-US" altLang="zh-CN" sz="3200">
                <a:solidFill>
                  <a:srgbClr val="FF00FF"/>
                </a:solidFill>
                <a:latin typeface="宋体" panose="02010600030101010101" pitchFamily="2" charset="-122"/>
              </a:rPr>
              <a:t>HPI</a:t>
            </a:r>
            <a:r>
              <a:rPr lang="zh-CN" altLang="en-US" sz="3200">
                <a:solidFill>
                  <a:srgbClr val="FF00FF"/>
                </a:solidFill>
                <a:latin typeface="宋体" panose="02010600030101010101" pitchFamily="2" charset="-122"/>
              </a:rPr>
              <a:t>总线</a:t>
            </a:r>
          </a:p>
          <a:p>
            <a:pPr eaLnBrk="1" hangingPunct="1">
              <a:lnSpc>
                <a:spcPct val="80000"/>
              </a:lnSpc>
              <a:spcBef>
                <a:spcPct val="30000"/>
              </a:spcBef>
            </a:pPr>
            <a:r>
              <a:rPr lang="en-US" altLang="zh-CN" sz="3200">
                <a:solidFill>
                  <a:srgbClr val="FF00FF"/>
                </a:solidFill>
                <a:latin typeface="宋体" panose="02010600030101010101" pitchFamily="2" charset="-122"/>
              </a:rPr>
              <a:t>8</a:t>
            </a:r>
            <a:r>
              <a:rPr lang="zh-CN" altLang="en-US" sz="3200">
                <a:solidFill>
                  <a:srgbClr val="FF00FF"/>
                </a:solidFill>
                <a:latin typeface="宋体" panose="02010600030101010101" pitchFamily="2" charset="-122"/>
              </a:rPr>
              <a:t>位或</a:t>
            </a:r>
            <a:r>
              <a:rPr lang="en-US" altLang="zh-CN" sz="3200">
                <a:solidFill>
                  <a:srgbClr val="FF00FF"/>
                </a:solidFill>
                <a:latin typeface="宋体" panose="02010600030101010101" pitchFamily="2" charset="-122"/>
              </a:rPr>
              <a:t>16</a:t>
            </a:r>
            <a:r>
              <a:rPr lang="zh-CN" altLang="en-US" sz="3200">
                <a:solidFill>
                  <a:srgbClr val="FF00FF"/>
                </a:solidFill>
                <a:latin typeface="宋体" panose="02010600030101010101" pitchFamily="2" charset="-122"/>
              </a:rPr>
              <a:t>位并行</a:t>
            </a:r>
            <a:r>
              <a:rPr lang="en-US" altLang="zh-CN" sz="3200">
                <a:solidFill>
                  <a:srgbClr val="FF00FF"/>
                </a:solidFill>
                <a:latin typeface="宋体" panose="02010600030101010101" pitchFamily="2" charset="-122"/>
              </a:rPr>
              <a:t>I/O</a:t>
            </a:r>
          </a:p>
          <a:p>
            <a:pPr eaLnBrk="1" hangingPunct="1">
              <a:lnSpc>
                <a:spcPct val="80000"/>
              </a:lnSpc>
              <a:spcBef>
                <a:spcPct val="30000"/>
              </a:spcBef>
            </a:pPr>
            <a:r>
              <a:rPr lang="zh-CN" altLang="en-US" sz="3200">
                <a:solidFill>
                  <a:srgbClr val="FF00FF"/>
                </a:solidFill>
                <a:latin typeface="宋体" panose="02010600030101010101" pitchFamily="2" charset="-122"/>
              </a:rPr>
              <a:t>任何一个串行口</a:t>
            </a:r>
          </a:p>
          <a:p>
            <a:pPr eaLnBrk="1" hangingPunct="1">
              <a:lnSpc>
                <a:spcPct val="80000"/>
              </a:lnSpc>
              <a:spcBef>
                <a:spcPct val="30000"/>
              </a:spcBef>
            </a:pPr>
            <a:r>
              <a:rPr lang="zh-CN" altLang="en-US" sz="3200">
                <a:solidFill>
                  <a:srgbClr val="FF00FF"/>
                </a:solidFill>
                <a:latin typeface="宋体" panose="02010600030101010101" pitchFamily="2" charset="-122"/>
              </a:rPr>
              <a:t>从用户定义的地址热自举</a:t>
            </a:r>
          </a:p>
        </p:txBody>
      </p:sp>
      <p:sp>
        <p:nvSpPr>
          <p:cNvPr id="174089" name="AutoShape 8"/>
          <p:cNvSpPr>
            <a:spLocks/>
          </p:cNvSpPr>
          <p:nvPr/>
        </p:nvSpPr>
        <p:spPr bwMode="auto">
          <a:xfrm>
            <a:off x="2057400" y="3276600"/>
            <a:ext cx="228600" cy="838200"/>
          </a:xfrm>
          <a:prstGeom prst="leftBrace">
            <a:avLst>
              <a:gd name="adj1" fmla="val 30556"/>
              <a:gd name="adj2"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79938"/>
                                        </p:tgtEl>
                                        <p:attrNameLst>
                                          <p:attrName>style.visibility</p:attrName>
                                        </p:attrNameLst>
                                      </p:cBhvr>
                                      <p:to>
                                        <p:strVal val="visible"/>
                                      </p:to>
                                    </p:set>
                                    <p:animEffect transition="in" filter="blinds(horizontal)">
                                      <p:cBhvr>
                                        <p:cTn id="7" dur="500"/>
                                        <p:tgtEl>
                                          <p:spTgt spid="679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9938" grpId="0" autoUpdateAnimBg="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162B189D-F32C-4DC3-8B83-2254564D1724}" type="slidenum">
              <a:rPr lang="en-US" altLang="zh-CN" sz="1400" b="0"/>
              <a:pPr eaLnBrk="1" hangingPunct="1"/>
              <a:t>167</a:t>
            </a:fld>
            <a:endParaRPr lang="en-US" altLang="zh-CN" sz="1400" b="0"/>
          </a:p>
        </p:txBody>
      </p:sp>
      <p:sp>
        <p:nvSpPr>
          <p:cNvPr id="175107" name="Rectangle 2"/>
          <p:cNvSpPr>
            <a:spLocks noChangeArrowheads="1"/>
          </p:cNvSpPr>
          <p:nvPr/>
        </p:nvSpPr>
        <p:spPr bwMode="auto">
          <a:xfrm>
            <a:off x="2362200" y="1066800"/>
            <a:ext cx="4044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0">
                <a:solidFill>
                  <a:schemeClr val="tx2"/>
                </a:solidFill>
                <a:latin typeface="宋体" panose="02010600030101010101" pitchFamily="2" charset="-122"/>
              </a:rPr>
              <a:t> </a:t>
            </a:r>
            <a:r>
              <a:rPr lang="zh-CN" altLang="en-US" sz="3200">
                <a:solidFill>
                  <a:srgbClr val="FF0000"/>
                </a:solidFill>
                <a:latin typeface="宋体" panose="02010600030101010101" pitchFamily="2" charset="-122"/>
              </a:rPr>
              <a:t>一、程序执行的起点</a:t>
            </a:r>
          </a:p>
        </p:txBody>
      </p:sp>
      <p:sp>
        <p:nvSpPr>
          <p:cNvPr id="175108" name="Rectangle 3"/>
          <p:cNvSpPr>
            <a:spLocks noChangeArrowheads="1"/>
          </p:cNvSpPr>
          <p:nvPr/>
        </p:nvSpPr>
        <p:spPr bwMode="auto">
          <a:xfrm>
            <a:off x="1066800" y="1905000"/>
            <a:ext cx="1849438" cy="588963"/>
          </a:xfrm>
          <a:prstGeom prst="rect">
            <a:avLst/>
          </a:prstGeom>
          <a:solidFill>
            <a:schemeClr val="hlink"/>
          </a:solidFill>
          <a:ln w="9525">
            <a:solidFill>
              <a:srgbClr val="00CC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00"/>
                </a:solidFill>
                <a:latin typeface="宋体" panose="02010600030101010101" pitchFamily="2" charset="-122"/>
              </a:rPr>
              <a:t>片外</a:t>
            </a:r>
            <a:r>
              <a:rPr lang="en-US" altLang="zh-CN" sz="3200">
                <a:solidFill>
                  <a:srgbClr val="FF0000"/>
                </a:solidFill>
                <a:latin typeface="宋体" panose="02010600030101010101" pitchFamily="2" charset="-122"/>
              </a:rPr>
              <a:t>ROM</a:t>
            </a:r>
          </a:p>
        </p:txBody>
      </p:sp>
      <p:sp>
        <p:nvSpPr>
          <p:cNvPr id="175109" name="Rectangle 4"/>
          <p:cNvSpPr>
            <a:spLocks noChangeArrowheads="1"/>
          </p:cNvSpPr>
          <p:nvPr/>
        </p:nvSpPr>
        <p:spPr bwMode="auto">
          <a:xfrm>
            <a:off x="2971800" y="1905000"/>
            <a:ext cx="47244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zh-CN" altLang="en-US" sz="3200">
                <a:latin typeface="宋体" panose="02010600030101010101" pitchFamily="2" charset="-122"/>
              </a:rPr>
              <a:t>从外部程序存储器</a:t>
            </a:r>
            <a:r>
              <a:rPr lang="en-US" altLang="zh-CN" sz="3200">
                <a:latin typeface="宋体" panose="02010600030101010101" pitchFamily="2" charset="-122"/>
              </a:rPr>
              <a:t>0FF80h</a:t>
            </a:r>
            <a:r>
              <a:rPr lang="zh-CN" altLang="en-US" sz="3200">
                <a:latin typeface="宋体" panose="02010600030101010101" pitchFamily="2" charset="-122"/>
              </a:rPr>
              <a:t>起执行用户程序；</a:t>
            </a:r>
          </a:p>
        </p:txBody>
      </p:sp>
      <p:sp>
        <p:nvSpPr>
          <p:cNvPr id="175110" name="Rectangle 5"/>
          <p:cNvSpPr>
            <a:spLocks noChangeArrowheads="1"/>
          </p:cNvSpPr>
          <p:nvPr/>
        </p:nvSpPr>
        <p:spPr bwMode="auto">
          <a:xfrm>
            <a:off x="1403350" y="2565400"/>
            <a:ext cx="1184275" cy="588963"/>
          </a:xfrm>
          <a:prstGeom prst="rect">
            <a:avLst/>
          </a:prstGeom>
          <a:solidFill>
            <a:schemeClr val="bg2"/>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006600"/>
                </a:solidFill>
                <a:latin typeface="宋体" panose="02010600030101010101" pitchFamily="2" charset="-122"/>
              </a:rPr>
              <a:t>条件</a:t>
            </a:r>
          </a:p>
        </p:txBody>
      </p:sp>
      <p:sp>
        <p:nvSpPr>
          <p:cNvPr id="175111" name="Rectangle 6" descr="小棋盘"/>
          <p:cNvSpPr>
            <a:spLocks noChangeArrowheads="1"/>
          </p:cNvSpPr>
          <p:nvPr/>
        </p:nvSpPr>
        <p:spPr bwMode="auto">
          <a:xfrm>
            <a:off x="152400" y="1676400"/>
            <a:ext cx="620713" cy="3532188"/>
          </a:xfrm>
          <a:prstGeom prst="rect">
            <a:avLst/>
          </a:prstGeom>
          <a:pattFill prst="smCheck">
            <a:fgClr>
              <a:srgbClr val="FFFF00"/>
            </a:fgClr>
            <a:bgClr>
              <a:srgbClr val="FFFFFF"/>
            </a:bgClr>
          </a:pattFill>
          <a:ln w="28575">
            <a:solidFill>
              <a:srgbClr val="00CC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FF"/>
                </a:solidFill>
                <a:latin typeface="宋体" panose="02010600030101010101" pitchFamily="2" charset="-122"/>
              </a:rPr>
              <a:t>在</a:t>
            </a:r>
          </a:p>
          <a:p>
            <a:pPr eaLnBrk="1" hangingPunct="1"/>
            <a:r>
              <a:rPr lang="zh-CN" altLang="en-US" sz="3200">
                <a:solidFill>
                  <a:srgbClr val="FF00FF"/>
                </a:solidFill>
                <a:latin typeface="宋体" panose="02010600030101010101" pitchFamily="2" charset="-122"/>
              </a:rPr>
              <a:t>硬</a:t>
            </a:r>
          </a:p>
          <a:p>
            <a:pPr eaLnBrk="1" hangingPunct="1"/>
            <a:r>
              <a:rPr lang="zh-CN" altLang="en-US" sz="3200">
                <a:solidFill>
                  <a:srgbClr val="FF00FF"/>
                </a:solidFill>
                <a:latin typeface="宋体" panose="02010600030101010101" pitchFamily="2" charset="-122"/>
              </a:rPr>
              <a:t>件</a:t>
            </a:r>
          </a:p>
          <a:p>
            <a:pPr eaLnBrk="1" hangingPunct="1"/>
            <a:r>
              <a:rPr lang="zh-CN" altLang="en-US" sz="3200">
                <a:solidFill>
                  <a:srgbClr val="FF00FF"/>
                </a:solidFill>
                <a:latin typeface="宋体" panose="02010600030101010101" pitchFamily="2" charset="-122"/>
              </a:rPr>
              <a:t>复</a:t>
            </a:r>
          </a:p>
          <a:p>
            <a:pPr eaLnBrk="1" hangingPunct="1"/>
            <a:r>
              <a:rPr lang="zh-CN" altLang="en-US" sz="3200">
                <a:solidFill>
                  <a:srgbClr val="FF00FF"/>
                </a:solidFill>
                <a:latin typeface="宋体" panose="02010600030101010101" pitchFamily="2" charset="-122"/>
              </a:rPr>
              <a:t>位</a:t>
            </a:r>
          </a:p>
          <a:p>
            <a:pPr eaLnBrk="1" hangingPunct="1"/>
            <a:r>
              <a:rPr lang="zh-CN" altLang="en-US" sz="3200">
                <a:solidFill>
                  <a:srgbClr val="FF00FF"/>
                </a:solidFill>
                <a:latin typeface="宋体" panose="02010600030101010101" pitchFamily="2" charset="-122"/>
              </a:rPr>
              <a:t>期</a:t>
            </a:r>
          </a:p>
          <a:p>
            <a:pPr eaLnBrk="1" hangingPunct="1"/>
            <a:r>
              <a:rPr lang="zh-CN" altLang="en-US" sz="3200">
                <a:solidFill>
                  <a:srgbClr val="FF00FF"/>
                </a:solidFill>
                <a:latin typeface="宋体" panose="02010600030101010101" pitchFamily="2" charset="-122"/>
              </a:rPr>
              <a:t>间</a:t>
            </a:r>
          </a:p>
        </p:txBody>
      </p:sp>
      <p:sp>
        <p:nvSpPr>
          <p:cNvPr id="175112" name="Rectangle 7"/>
          <p:cNvSpPr>
            <a:spLocks noChangeArrowheads="1"/>
          </p:cNvSpPr>
          <p:nvPr/>
        </p:nvSpPr>
        <p:spPr bwMode="auto">
          <a:xfrm>
            <a:off x="2971800" y="3810000"/>
            <a:ext cx="5703888"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10000"/>
              </a:spcBef>
            </a:pPr>
            <a:r>
              <a:rPr lang="zh-CN" altLang="en-US" sz="3200">
                <a:latin typeface="宋体" panose="02010600030101010101" pitchFamily="2" charset="-122"/>
              </a:rPr>
              <a:t>检查</a:t>
            </a:r>
            <a:r>
              <a:rPr lang="en-US" altLang="zh-CN" sz="3200">
                <a:latin typeface="宋体" panose="02010600030101010101" pitchFamily="2" charset="-122"/>
              </a:rPr>
              <a:t>INT2</a:t>
            </a:r>
            <a:r>
              <a:rPr lang="zh-CN" altLang="en-US" sz="3200">
                <a:latin typeface="宋体" panose="02010600030101010101" pitchFamily="2" charset="-122"/>
              </a:rPr>
              <a:t>，从外部</a:t>
            </a:r>
            <a:r>
              <a:rPr lang="en-US" altLang="zh-CN" sz="3200">
                <a:latin typeface="宋体" panose="02010600030101010101" pitchFamily="2" charset="-122"/>
              </a:rPr>
              <a:t>ROM</a:t>
            </a:r>
            <a:r>
              <a:rPr lang="zh-CN" altLang="en-US" sz="3200">
                <a:latin typeface="宋体" panose="02010600030101010101" pitchFamily="2" charset="-122"/>
              </a:rPr>
              <a:t>的</a:t>
            </a:r>
            <a:r>
              <a:rPr lang="en-US" altLang="zh-CN" sz="3200">
                <a:latin typeface="宋体" panose="02010600030101010101" pitchFamily="2" charset="-122"/>
              </a:rPr>
              <a:t>0FFFFh</a:t>
            </a:r>
            <a:r>
              <a:rPr lang="zh-CN" altLang="en-US" sz="3200">
                <a:latin typeface="宋体" panose="02010600030101010101" pitchFamily="2" charset="-122"/>
              </a:rPr>
              <a:t>指定的方式自举加载执行程序</a:t>
            </a:r>
          </a:p>
        </p:txBody>
      </p:sp>
      <p:sp>
        <p:nvSpPr>
          <p:cNvPr id="175113" name="Rectangle 8"/>
          <p:cNvSpPr>
            <a:spLocks noChangeArrowheads="1"/>
          </p:cNvSpPr>
          <p:nvPr/>
        </p:nvSpPr>
        <p:spPr bwMode="auto">
          <a:xfrm>
            <a:off x="1063625" y="3886200"/>
            <a:ext cx="1852613" cy="588963"/>
          </a:xfrm>
          <a:prstGeom prst="rect">
            <a:avLst/>
          </a:prstGeom>
          <a:solidFill>
            <a:schemeClr val="hlink"/>
          </a:solidFill>
          <a:ln w="9525">
            <a:solidFill>
              <a:srgbClr val="00CC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solidFill>
                  <a:srgbClr val="FF0000"/>
                </a:solidFill>
                <a:latin typeface="宋体" panose="02010600030101010101" pitchFamily="2" charset="-122"/>
              </a:rPr>
              <a:t>片内</a:t>
            </a:r>
            <a:r>
              <a:rPr lang="en-US" altLang="zh-CN" sz="3200">
                <a:solidFill>
                  <a:srgbClr val="FF0000"/>
                </a:solidFill>
                <a:latin typeface="宋体" panose="02010600030101010101" pitchFamily="2" charset="-122"/>
              </a:rPr>
              <a:t>ROM</a:t>
            </a:r>
          </a:p>
        </p:txBody>
      </p:sp>
      <p:sp>
        <p:nvSpPr>
          <p:cNvPr id="175114" name="Rectangle 9"/>
          <p:cNvSpPr>
            <a:spLocks noChangeArrowheads="1"/>
          </p:cNvSpPr>
          <p:nvPr/>
        </p:nvSpPr>
        <p:spPr bwMode="auto">
          <a:xfrm>
            <a:off x="1295400" y="4495800"/>
            <a:ext cx="1331913" cy="588963"/>
          </a:xfrm>
          <a:prstGeom prst="rect">
            <a:avLst/>
          </a:prstGeom>
          <a:solidFill>
            <a:schemeClr val="bg2"/>
          </a:solid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006600"/>
                </a:solidFill>
                <a:latin typeface="宋体" panose="02010600030101010101" pitchFamily="2" charset="-122"/>
              </a:rPr>
              <a:t>条件</a:t>
            </a:r>
          </a:p>
        </p:txBody>
      </p:sp>
      <p:grpSp>
        <p:nvGrpSpPr>
          <p:cNvPr id="175115" name="Group 12"/>
          <p:cNvGrpSpPr>
            <a:grpSpLocks/>
          </p:cNvGrpSpPr>
          <p:nvPr/>
        </p:nvGrpSpPr>
        <p:grpSpPr bwMode="auto">
          <a:xfrm>
            <a:off x="2895600" y="2667000"/>
            <a:ext cx="4857750" cy="579438"/>
            <a:chOff x="1824" y="1680"/>
            <a:chExt cx="3060" cy="365"/>
          </a:xfrm>
        </p:grpSpPr>
        <p:sp>
          <p:nvSpPr>
            <p:cNvPr id="175120" name="Rectangle 13"/>
            <p:cNvSpPr>
              <a:spLocks noChangeArrowheads="1"/>
            </p:cNvSpPr>
            <p:nvPr/>
          </p:nvSpPr>
          <p:spPr bwMode="auto">
            <a:xfrm>
              <a:off x="1824" y="1680"/>
              <a:ext cx="30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FF00FF"/>
                  </a:solidFill>
                  <a:latin typeface="宋体" panose="02010600030101010101" pitchFamily="2" charset="-122"/>
                </a:rPr>
                <a:t>C54x</a:t>
              </a:r>
              <a:r>
                <a:rPr lang="zh-CN" altLang="en-US" sz="3200">
                  <a:solidFill>
                    <a:srgbClr val="FF00FF"/>
                  </a:solidFill>
                  <a:latin typeface="宋体" panose="02010600030101010101" pitchFamily="2" charset="-122"/>
                </a:rPr>
                <a:t>的</a:t>
              </a:r>
              <a:r>
                <a:rPr lang="en-US" altLang="zh-CN" sz="3200">
                  <a:solidFill>
                    <a:srgbClr val="FF00FF"/>
                  </a:solidFill>
                  <a:latin typeface="宋体" panose="02010600030101010101" pitchFamily="2" charset="-122"/>
                </a:rPr>
                <a:t>MP/MC</a:t>
              </a:r>
              <a:r>
                <a:rPr lang="zh-CN" altLang="en-US" sz="3200">
                  <a:solidFill>
                    <a:srgbClr val="FF00FF"/>
                  </a:solidFill>
                  <a:latin typeface="宋体" panose="02010600030101010101" pitchFamily="2" charset="-122"/>
                </a:rPr>
                <a:t>引脚为高电平</a:t>
              </a:r>
            </a:p>
          </p:txBody>
        </p:sp>
        <p:sp>
          <p:nvSpPr>
            <p:cNvPr id="175121" name="Line 14"/>
            <p:cNvSpPr>
              <a:spLocks noChangeShapeType="1"/>
            </p:cNvSpPr>
            <p:nvPr/>
          </p:nvSpPr>
          <p:spPr bwMode="auto">
            <a:xfrm>
              <a:off x="3072" y="1776"/>
              <a:ext cx="240"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75116" name="Group 15"/>
          <p:cNvGrpSpPr>
            <a:grpSpLocks/>
          </p:cNvGrpSpPr>
          <p:nvPr/>
        </p:nvGrpSpPr>
        <p:grpSpPr bwMode="auto">
          <a:xfrm>
            <a:off x="2971800" y="4495800"/>
            <a:ext cx="3638550" cy="579438"/>
            <a:chOff x="1920" y="2832"/>
            <a:chExt cx="2292" cy="365"/>
          </a:xfrm>
        </p:grpSpPr>
        <p:sp>
          <p:nvSpPr>
            <p:cNvPr id="175118" name="Rectangle 16"/>
            <p:cNvSpPr>
              <a:spLocks noChangeArrowheads="1"/>
            </p:cNvSpPr>
            <p:nvPr/>
          </p:nvSpPr>
          <p:spPr bwMode="auto">
            <a:xfrm>
              <a:off x="1920" y="2832"/>
              <a:ext cx="229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FF00FF"/>
                  </a:solidFill>
                  <a:latin typeface="宋体" panose="02010600030101010101" pitchFamily="2" charset="-122"/>
                </a:rPr>
                <a:t>MP/MC</a:t>
              </a:r>
              <a:r>
                <a:rPr lang="zh-CN" altLang="en-US" sz="3200">
                  <a:solidFill>
                    <a:srgbClr val="FF00FF"/>
                  </a:solidFill>
                  <a:latin typeface="宋体" panose="02010600030101010101" pitchFamily="2" charset="-122"/>
                </a:rPr>
                <a:t>引脚为低电平</a:t>
              </a:r>
            </a:p>
          </p:txBody>
        </p:sp>
        <p:sp>
          <p:nvSpPr>
            <p:cNvPr id="175119" name="Line 17"/>
            <p:cNvSpPr>
              <a:spLocks noChangeShapeType="1"/>
            </p:cNvSpPr>
            <p:nvPr/>
          </p:nvSpPr>
          <p:spPr bwMode="auto">
            <a:xfrm>
              <a:off x="2400" y="2928"/>
              <a:ext cx="240"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75117" name="Line 18"/>
          <p:cNvSpPr>
            <a:spLocks noChangeShapeType="1"/>
          </p:cNvSpPr>
          <p:nvPr/>
        </p:nvSpPr>
        <p:spPr bwMode="auto">
          <a:xfrm>
            <a:off x="3887924" y="3814665"/>
            <a:ext cx="8382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A4479D3-EC6C-4F4C-9EF6-49EF940851AB}" type="slidenum">
              <a:rPr lang="en-US" altLang="zh-CN" sz="1400" b="0"/>
              <a:pPr eaLnBrk="1" hangingPunct="1"/>
              <a:t>168</a:t>
            </a:fld>
            <a:endParaRPr lang="en-US" altLang="zh-CN" sz="1400" b="0"/>
          </a:p>
        </p:txBody>
      </p:sp>
      <p:sp>
        <p:nvSpPr>
          <p:cNvPr id="176131" name="Rectangle 3" descr="小棋盘"/>
          <p:cNvSpPr>
            <a:spLocks noChangeArrowheads="1"/>
          </p:cNvSpPr>
          <p:nvPr/>
        </p:nvSpPr>
        <p:spPr bwMode="auto">
          <a:xfrm>
            <a:off x="2362200" y="990600"/>
            <a:ext cx="4664075" cy="588963"/>
          </a:xfrm>
          <a:prstGeom prst="rect">
            <a:avLst/>
          </a:prstGeom>
          <a:pattFill prst="smCheck">
            <a:fgClr>
              <a:schemeClr val="accent1"/>
            </a:fgClr>
            <a:bgClr>
              <a:srgbClr val="FFFFFF"/>
            </a:bgClr>
          </a:pattFill>
          <a:ln w="9525">
            <a:solidFill>
              <a:srgbClr val="00CC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00"/>
                </a:solidFill>
                <a:latin typeface="宋体" panose="02010600030101010101" pitchFamily="2" charset="-122"/>
              </a:rPr>
              <a:t>自举加载方式的选择过程</a:t>
            </a:r>
          </a:p>
        </p:txBody>
      </p:sp>
      <p:grpSp>
        <p:nvGrpSpPr>
          <p:cNvPr id="176132" name="Group 12"/>
          <p:cNvGrpSpPr>
            <a:grpSpLocks/>
          </p:cNvGrpSpPr>
          <p:nvPr/>
        </p:nvGrpSpPr>
        <p:grpSpPr bwMode="auto">
          <a:xfrm>
            <a:off x="3138488" y="2278063"/>
            <a:ext cx="2160587" cy="1614487"/>
            <a:chOff x="1927" y="2740"/>
            <a:chExt cx="1361" cy="1017"/>
          </a:xfrm>
        </p:grpSpPr>
        <p:sp>
          <p:nvSpPr>
            <p:cNvPr id="176169" name="Text Box 6"/>
            <p:cNvSpPr txBox="1">
              <a:spLocks noChangeArrowheads="1"/>
            </p:cNvSpPr>
            <p:nvPr/>
          </p:nvSpPr>
          <p:spPr bwMode="auto">
            <a:xfrm>
              <a:off x="1927" y="2740"/>
              <a:ext cx="1361" cy="256"/>
            </a:xfrm>
            <a:prstGeom prst="rect">
              <a:avLst/>
            </a:prstGeom>
            <a:solidFill>
              <a:srgbClr val="FF6600"/>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solidFill>
                    <a:srgbClr val="00FFFF"/>
                  </a:solidFill>
                </a:rPr>
                <a:t>INTM=1</a:t>
              </a:r>
            </a:p>
          </p:txBody>
        </p:sp>
        <p:sp>
          <p:nvSpPr>
            <p:cNvPr id="176170" name="Text Box 7"/>
            <p:cNvSpPr txBox="1">
              <a:spLocks noChangeArrowheads="1"/>
            </p:cNvSpPr>
            <p:nvPr/>
          </p:nvSpPr>
          <p:spPr bwMode="auto">
            <a:xfrm>
              <a:off x="1927" y="3249"/>
              <a:ext cx="1361" cy="256"/>
            </a:xfrm>
            <a:prstGeom prst="rect">
              <a:avLst/>
            </a:prstGeom>
            <a:solidFill>
              <a:schemeClr va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solidFill>
                    <a:srgbClr val="FF0000"/>
                  </a:solidFill>
                </a:rPr>
                <a:t>SWWSR=7FFFh</a:t>
              </a:r>
            </a:p>
          </p:txBody>
        </p:sp>
        <p:sp>
          <p:nvSpPr>
            <p:cNvPr id="176171" name="Text Box 8"/>
            <p:cNvSpPr txBox="1">
              <a:spLocks noChangeArrowheads="1"/>
            </p:cNvSpPr>
            <p:nvPr/>
          </p:nvSpPr>
          <p:spPr bwMode="auto">
            <a:xfrm>
              <a:off x="1927" y="3501"/>
              <a:ext cx="1361" cy="256"/>
            </a:xfrm>
            <a:prstGeom prst="rect">
              <a:avLst/>
            </a:prstGeom>
            <a:solidFill>
              <a:srgbClr val="CCFFFF"/>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solidFill>
                    <a:schemeClr val="tx2"/>
                  </a:solidFill>
                </a:rPr>
                <a:t>BSCR=0FFFFh</a:t>
              </a:r>
            </a:p>
          </p:txBody>
        </p:sp>
        <p:sp>
          <p:nvSpPr>
            <p:cNvPr id="176172" name="Text Box 9"/>
            <p:cNvSpPr txBox="1">
              <a:spLocks noChangeArrowheads="1"/>
            </p:cNvSpPr>
            <p:nvPr/>
          </p:nvSpPr>
          <p:spPr bwMode="auto">
            <a:xfrm>
              <a:off x="1927" y="2996"/>
              <a:ext cx="1361" cy="256"/>
            </a:xfrm>
            <a:prstGeom prst="rect">
              <a:avLst/>
            </a:prstGeom>
            <a:solidFill>
              <a:schemeClr val="fo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solidFill>
                    <a:schemeClr val="bg1"/>
                  </a:solidFill>
                </a:rPr>
                <a:t>OVLY=1</a:t>
              </a:r>
            </a:p>
          </p:txBody>
        </p:sp>
      </p:grpSp>
      <p:sp>
        <p:nvSpPr>
          <p:cNvPr id="176133" name="Text Box 11"/>
          <p:cNvSpPr txBox="1">
            <a:spLocks noChangeArrowheads="1"/>
          </p:cNvSpPr>
          <p:nvPr/>
        </p:nvSpPr>
        <p:spPr bwMode="auto">
          <a:xfrm>
            <a:off x="6091238" y="3938588"/>
            <a:ext cx="2305050" cy="10160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660066"/>
                </a:solidFill>
              </a:rPr>
              <a:t>从地址为</a:t>
            </a:r>
            <a:r>
              <a:rPr lang="en-US" altLang="zh-CN">
                <a:solidFill>
                  <a:srgbClr val="660066"/>
                </a:solidFill>
              </a:rPr>
              <a:t>0FFFFh</a:t>
            </a:r>
            <a:r>
              <a:rPr lang="zh-CN" altLang="en-US">
                <a:solidFill>
                  <a:srgbClr val="660066"/>
                </a:solidFill>
              </a:rPr>
              <a:t>的</a:t>
            </a:r>
            <a:r>
              <a:rPr lang="en-US" altLang="zh-CN">
                <a:solidFill>
                  <a:srgbClr val="660066"/>
                </a:solidFill>
              </a:rPr>
              <a:t>I/O</a:t>
            </a:r>
            <a:r>
              <a:rPr lang="zh-CN" altLang="en-US">
                <a:solidFill>
                  <a:srgbClr val="660066"/>
                </a:solidFill>
              </a:rPr>
              <a:t>读入自举程序选择字节</a:t>
            </a:r>
            <a:r>
              <a:rPr lang="en-US" altLang="zh-CN">
                <a:solidFill>
                  <a:srgbClr val="660066"/>
                </a:solidFill>
              </a:rPr>
              <a:t>(BRS)</a:t>
            </a:r>
          </a:p>
        </p:txBody>
      </p:sp>
      <p:sp>
        <p:nvSpPr>
          <p:cNvPr id="176134" name="AutoShape 10"/>
          <p:cNvSpPr>
            <a:spLocks noChangeArrowheads="1"/>
          </p:cNvSpPr>
          <p:nvPr/>
        </p:nvSpPr>
        <p:spPr bwMode="auto">
          <a:xfrm>
            <a:off x="547688" y="2709863"/>
            <a:ext cx="1943100" cy="792162"/>
          </a:xfrm>
          <a:prstGeom prst="diamond">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6135" name="Text Box 13"/>
          <p:cNvSpPr txBox="1">
            <a:spLocks noChangeArrowheads="1"/>
          </p:cNvSpPr>
          <p:nvPr/>
        </p:nvSpPr>
        <p:spPr bwMode="auto">
          <a:xfrm>
            <a:off x="804863" y="2901950"/>
            <a:ext cx="1535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MP/MC=0?</a:t>
            </a:r>
          </a:p>
        </p:txBody>
      </p:sp>
      <p:sp>
        <p:nvSpPr>
          <p:cNvPr id="176136" name="Line 16"/>
          <p:cNvSpPr>
            <a:spLocks noChangeShapeType="1"/>
          </p:cNvSpPr>
          <p:nvPr/>
        </p:nvSpPr>
        <p:spPr bwMode="auto">
          <a:xfrm>
            <a:off x="2490788" y="3094038"/>
            <a:ext cx="6477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6137" name="Line 17"/>
          <p:cNvSpPr>
            <a:spLocks noChangeShapeType="1"/>
          </p:cNvSpPr>
          <p:nvPr/>
        </p:nvSpPr>
        <p:spPr bwMode="auto">
          <a:xfrm>
            <a:off x="1524000" y="3502025"/>
            <a:ext cx="0" cy="4318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6138" name="Line 18"/>
          <p:cNvSpPr>
            <a:spLocks noChangeShapeType="1"/>
          </p:cNvSpPr>
          <p:nvPr/>
        </p:nvSpPr>
        <p:spPr bwMode="auto">
          <a:xfrm>
            <a:off x="1524000" y="2293938"/>
            <a:ext cx="0" cy="4318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6139" name="AutoShape 19"/>
          <p:cNvSpPr>
            <a:spLocks noChangeArrowheads="1"/>
          </p:cNvSpPr>
          <p:nvPr/>
        </p:nvSpPr>
        <p:spPr bwMode="auto">
          <a:xfrm>
            <a:off x="5948363" y="2692400"/>
            <a:ext cx="2590800" cy="792163"/>
          </a:xfrm>
          <a:prstGeom prst="diamond">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6140" name="Text Box 20"/>
          <p:cNvSpPr txBox="1">
            <a:spLocks noChangeArrowheads="1"/>
          </p:cNvSpPr>
          <p:nvPr/>
        </p:nvSpPr>
        <p:spPr bwMode="auto">
          <a:xfrm>
            <a:off x="6299200" y="2900363"/>
            <a:ext cx="2097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锁存</a:t>
            </a:r>
            <a:r>
              <a:rPr lang="en-US" altLang="zh-CN"/>
              <a:t>INT2</a:t>
            </a:r>
            <a:r>
              <a:rPr lang="zh-CN" altLang="en-US"/>
              <a:t>信号？</a:t>
            </a:r>
          </a:p>
        </p:txBody>
      </p:sp>
      <p:sp>
        <p:nvSpPr>
          <p:cNvPr id="176141" name="Line 21"/>
          <p:cNvSpPr>
            <a:spLocks noChangeShapeType="1"/>
          </p:cNvSpPr>
          <p:nvPr/>
        </p:nvSpPr>
        <p:spPr bwMode="auto">
          <a:xfrm>
            <a:off x="7243763" y="3502025"/>
            <a:ext cx="0" cy="4318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6142" name="Line 22"/>
          <p:cNvSpPr>
            <a:spLocks noChangeShapeType="1"/>
          </p:cNvSpPr>
          <p:nvPr/>
        </p:nvSpPr>
        <p:spPr bwMode="auto">
          <a:xfrm>
            <a:off x="5299075" y="3086100"/>
            <a:ext cx="6477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6143" name="Text Box 23"/>
          <p:cNvSpPr txBox="1">
            <a:spLocks noChangeArrowheads="1"/>
          </p:cNvSpPr>
          <p:nvPr/>
        </p:nvSpPr>
        <p:spPr bwMode="auto">
          <a:xfrm>
            <a:off x="506413" y="3970338"/>
            <a:ext cx="1985962" cy="10160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660066"/>
                </a:solidFill>
              </a:rPr>
              <a:t>从外部程序存储器</a:t>
            </a:r>
            <a:r>
              <a:rPr lang="en-US" altLang="zh-CN">
                <a:solidFill>
                  <a:srgbClr val="660066"/>
                </a:solidFill>
              </a:rPr>
              <a:t>0FF80h</a:t>
            </a:r>
            <a:r>
              <a:rPr lang="zh-CN" altLang="en-US">
                <a:solidFill>
                  <a:srgbClr val="660066"/>
                </a:solidFill>
              </a:rPr>
              <a:t>起执行用户程序</a:t>
            </a:r>
          </a:p>
        </p:txBody>
      </p:sp>
      <p:sp>
        <p:nvSpPr>
          <p:cNvPr id="176144" name="Line 24"/>
          <p:cNvSpPr>
            <a:spLocks noChangeShapeType="1"/>
          </p:cNvSpPr>
          <p:nvPr/>
        </p:nvSpPr>
        <p:spPr bwMode="auto">
          <a:xfrm>
            <a:off x="8539163" y="3070225"/>
            <a:ext cx="2889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6145" name="Line 25"/>
          <p:cNvSpPr>
            <a:spLocks noChangeShapeType="1"/>
          </p:cNvSpPr>
          <p:nvPr/>
        </p:nvSpPr>
        <p:spPr bwMode="auto">
          <a:xfrm>
            <a:off x="8828088" y="3070225"/>
            <a:ext cx="0" cy="21590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6146" name="Text Box 26"/>
          <p:cNvSpPr txBox="1">
            <a:spLocks noChangeArrowheads="1"/>
          </p:cNvSpPr>
          <p:nvPr/>
        </p:nvSpPr>
        <p:spPr bwMode="auto">
          <a:xfrm>
            <a:off x="1050925" y="1773238"/>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复位</a:t>
            </a:r>
          </a:p>
        </p:txBody>
      </p:sp>
      <p:sp>
        <p:nvSpPr>
          <p:cNvPr id="176147" name="Text Box 27"/>
          <p:cNvSpPr txBox="1">
            <a:spLocks noChangeArrowheads="1"/>
          </p:cNvSpPr>
          <p:nvPr/>
        </p:nvSpPr>
        <p:spPr bwMode="auto">
          <a:xfrm>
            <a:off x="2419350" y="2636838"/>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是</a:t>
            </a:r>
          </a:p>
        </p:txBody>
      </p:sp>
      <p:sp>
        <p:nvSpPr>
          <p:cNvPr id="176148" name="Text Box 28"/>
          <p:cNvSpPr txBox="1">
            <a:spLocks noChangeArrowheads="1"/>
          </p:cNvSpPr>
          <p:nvPr/>
        </p:nvSpPr>
        <p:spPr bwMode="auto">
          <a:xfrm>
            <a:off x="1627188" y="3502025"/>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否</a:t>
            </a:r>
          </a:p>
        </p:txBody>
      </p:sp>
      <p:sp>
        <p:nvSpPr>
          <p:cNvPr id="176149" name="Text Box 29"/>
          <p:cNvSpPr txBox="1">
            <a:spLocks noChangeArrowheads="1"/>
          </p:cNvSpPr>
          <p:nvPr/>
        </p:nvSpPr>
        <p:spPr bwMode="auto">
          <a:xfrm>
            <a:off x="5108575" y="2636838"/>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30</a:t>
            </a:r>
            <a:r>
              <a:rPr lang="zh-CN" altLang="en-US"/>
              <a:t>个周期</a:t>
            </a:r>
          </a:p>
        </p:txBody>
      </p:sp>
      <p:sp>
        <p:nvSpPr>
          <p:cNvPr id="176150" name="Text Box 30"/>
          <p:cNvSpPr txBox="1">
            <a:spLocks noChangeArrowheads="1"/>
          </p:cNvSpPr>
          <p:nvPr/>
        </p:nvSpPr>
        <p:spPr bwMode="auto">
          <a:xfrm>
            <a:off x="8251825" y="2636838"/>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是</a:t>
            </a:r>
          </a:p>
        </p:txBody>
      </p:sp>
      <p:sp>
        <p:nvSpPr>
          <p:cNvPr id="176151" name="Text Box 31"/>
          <p:cNvSpPr txBox="1">
            <a:spLocks noChangeArrowheads="1"/>
          </p:cNvSpPr>
          <p:nvPr/>
        </p:nvSpPr>
        <p:spPr bwMode="auto">
          <a:xfrm>
            <a:off x="7315200" y="3502025"/>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否</a:t>
            </a:r>
          </a:p>
        </p:txBody>
      </p:sp>
      <p:sp>
        <p:nvSpPr>
          <p:cNvPr id="176152" name="Text Box 32"/>
          <p:cNvSpPr txBox="1">
            <a:spLocks noChangeArrowheads="1"/>
          </p:cNvSpPr>
          <p:nvPr/>
        </p:nvSpPr>
        <p:spPr bwMode="auto">
          <a:xfrm>
            <a:off x="7388225" y="5518150"/>
            <a:ext cx="1620838" cy="590550"/>
          </a:xfrm>
          <a:prstGeom prst="rect">
            <a:avLst/>
          </a:prstGeom>
          <a:solidFill>
            <a:schemeClr val="fo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600">
                <a:solidFill>
                  <a:schemeClr val="bg1"/>
                </a:solidFill>
              </a:rPr>
              <a:t>从</a:t>
            </a:r>
            <a:r>
              <a:rPr lang="en-US" altLang="zh-CN" sz="1600">
                <a:solidFill>
                  <a:schemeClr val="bg1"/>
                </a:solidFill>
              </a:rPr>
              <a:t>HPI</a:t>
            </a:r>
            <a:r>
              <a:rPr lang="zh-CN" altLang="en-US" sz="1600">
                <a:solidFill>
                  <a:schemeClr val="bg1"/>
                </a:solidFill>
              </a:rPr>
              <a:t>～</a:t>
            </a:r>
            <a:r>
              <a:rPr lang="en-US" altLang="zh-CN" sz="1600">
                <a:solidFill>
                  <a:schemeClr val="bg1"/>
                </a:solidFill>
              </a:rPr>
              <a:t>RAM</a:t>
            </a:r>
            <a:r>
              <a:rPr lang="zh-CN" altLang="en-US" sz="1600">
                <a:solidFill>
                  <a:schemeClr val="bg1"/>
                </a:solidFill>
              </a:rPr>
              <a:t>自举加载方式</a:t>
            </a:r>
          </a:p>
        </p:txBody>
      </p:sp>
      <p:sp>
        <p:nvSpPr>
          <p:cNvPr id="176153" name="Text Box 33"/>
          <p:cNvSpPr txBox="1">
            <a:spLocks noChangeArrowheads="1"/>
          </p:cNvSpPr>
          <p:nvPr/>
        </p:nvSpPr>
        <p:spPr bwMode="auto">
          <a:xfrm>
            <a:off x="5459413" y="5518150"/>
            <a:ext cx="1801812" cy="406400"/>
          </a:xfrm>
          <a:prstGeom prst="rect">
            <a:avLst/>
          </a:prstGeom>
          <a:solidFill>
            <a:schemeClr val="bg2"/>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FF0000"/>
                </a:solidFill>
              </a:rPr>
              <a:t>并行自举方式</a:t>
            </a:r>
          </a:p>
        </p:txBody>
      </p:sp>
      <p:sp>
        <p:nvSpPr>
          <p:cNvPr id="176154" name="Text Box 34"/>
          <p:cNvSpPr txBox="1">
            <a:spLocks noChangeArrowheads="1"/>
          </p:cNvSpPr>
          <p:nvPr/>
        </p:nvSpPr>
        <p:spPr bwMode="auto">
          <a:xfrm>
            <a:off x="3698875" y="5518150"/>
            <a:ext cx="1658938" cy="406400"/>
          </a:xfrm>
          <a:prstGeom prst="rect">
            <a:avLst/>
          </a:prstGeom>
          <a:solidFill>
            <a:srgbClr val="FFFF99"/>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solidFill>
                  <a:srgbClr val="660066"/>
                </a:solidFill>
              </a:rPr>
              <a:t>I/O</a:t>
            </a:r>
            <a:r>
              <a:rPr lang="zh-CN" altLang="en-US">
                <a:solidFill>
                  <a:srgbClr val="660066"/>
                </a:solidFill>
              </a:rPr>
              <a:t>自举方式</a:t>
            </a:r>
          </a:p>
        </p:txBody>
      </p:sp>
      <p:sp>
        <p:nvSpPr>
          <p:cNvPr id="176155" name="Text Box 35"/>
          <p:cNvSpPr txBox="1">
            <a:spLocks noChangeArrowheads="1"/>
          </p:cNvSpPr>
          <p:nvPr/>
        </p:nvSpPr>
        <p:spPr bwMode="auto">
          <a:xfrm>
            <a:off x="1771650" y="5518150"/>
            <a:ext cx="1801813" cy="406400"/>
          </a:xfrm>
          <a:prstGeom prst="rect">
            <a:avLst/>
          </a:prstGeom>
          <a:solidFill>
            <a:srgbClr val="FF00FF"/>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chemeClr val="bg1"/>
                </a:solidFill>
              </a:rPr>
              <a:t>串行自举方式</a:t>
            </a:r>
          </a:p>
        </p:txBody>
      </p:sp>
      <p:sp>
        <p:nvSpPr>
          <p:cNvPr id="176156" name="Text Box 36"/>
          <p:cNvSpPr txBox="1">
            <a:spLocks noChangeArrowheads="1"/>
          </p:cNvSpPr>
          <p:nvPr/>
        </p:nvSpPr>
        <p:spPr bwMode="auto">
          <a:xfrm>
            <a:off x="95250" y="5518150"/>
            <a:ext cx="1549400"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chemeClr val="folHlink"/>
                </a:solidFill>
              </a:rPr>
              <a:t>热自举方式</a:t>
            </a:r>
          </a:p>
        </p:txBody>
      </p:sp>
      <p:sp>
        <p:nvSpPr>
          <p:cNvPr id="176157" name="Line 37"/>
          <p:cNvSpPr>
            <a:spLocks noChangeShapeType="1"/>
          </p:cNvSpPr>
          <p:nvPr/>
        </p:nvSpPr>
        <p:spPr bwMode="auto">
          <a:xfrm>
            <a:off x="906463" y="5229225"/>
            <a:ext cx="63373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6158" name="Line 38"/>
          <p:cNvSpPr>
            <a:spLocks noChangeShapeType="1"/>
          </p:cNvSpPr>
          <p:nvPr/>
        </p:nvSpPr>
        <p:spPr bwMode="auto">
          <a:xfrm>
            <a:off x="906463" y="5229225"/>
            <a:ext cx="0" cy="28892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6159" name="Line 39"/>
          <p:cNvSpPr>
            <a:spLocks noChangeShapeType="1"/>
          </p:cNvSpPr>
          <p:nvPr/>
        </p:nvSpPr>
        <p:spPr bwMode="auto">
          <a:xfrm>
            <a:off x="2706688" y="5229225"/>
            <a:ext cx="0" cy="28892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6160" name="Line 40"/>
          <p:cNvSpPr>
            <a:spLocks noChangeShapeType="1"/>
          </p:cNvSpPr>
          <p:nvPr/>
        </p:nvSpPr>
        <p:spPr bwMode="auto">
          <a:xfrm>
            <a:off x="4579938" y="5229225"/>
            <a:ext cx="0" cy="28892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6161" name="Line 41"/>
          <p:cNvSpPr>
            <a:spLocks noChangeShapeType="1"/>
          </p:cNvSpPr>
          <p:nvPr/>
        </p:nvSpPr>
        <p:spPr bwMode="auto">
          <a:xfrm>
            <a:off x="6380163" y="5229225"/>
            <a:ext cx="0" cy="28892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6162" name="Line 42"/>
          <p:cNvSpPr>
            <a:spLocks noChangeShapeType="1"/>
          </p:cNvSpPr>
          <p:nvPr/>
        </p:nvSpPr>
        <p:spPr bwMode="auto">
          <a:xfrm>
            <a:off x="7243763" y="4938713"/>
            <a:ext cx="0" cy="28892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6163" name="Line 43"/>
          <p:cNvSpPr>
            <a:spLocks noChangeShapeType="1"/>
          </p:cNvSpPr>
          <p:nvPr/>
        </p:nvSpPr>
        <p:spPr bwMode="auto">
          <a:xfrm>
            <a:off x="8180388" y="5229225"/>
            <a:ext cx="6477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6164" name="Line 44"/>
          <p:cNvSpPr>
            <a:spLocks noChangeShapeType="1"/>
          </p:cNvSpPr>
          <p:nvPr/>
        </p:nvSpPr>
        <p:spPr bwMode="auto">
          <a:xfrm>
            <a:off x="8196263" y="5229225"/>
            <a:ext cx="0" cy="28892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6165" name="Line 5"/>
          <p:cNvSpPr>
            <a:spLocks noChangeShapeType="1"/>
          </p:cNvSpPr>
          <p:nvPr/>
        </p:nvSpPr>
        <p:spPr bwMode="auto">
          <a:xfrm>
            <a:off x="1411288" y="2925763"/>
            <a:ext cx="36036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6166" name="Line 45"/>
          <p:cNvSpPr>
            <a:spLocks noChangeShapeType="1"/>
          </p:cNvSpPr>
          <p:nvPr/>
        </p:nvSpPr>
        <p:spPr bwMode="auto">
          <a:xfrm>
            <a:off x="6948488" y="2924175"/>
            <a:ext cx="36036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6167" name="Text Box 46"/>
          <p:cNvSpPr txBox="1">
            <a:spLocks noChangeArrowheads="1"/>
          </p:cNvSpPr>
          <p:nvPr/>
        </p:nvSpPr>
        <p:spPr bwMode="auto">
          <a:xfrm>
            <a:off x="1943100" y="2384425"/>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0</a:t>
            </a:r>
          </a:p>
        </p:txBody>
      </p:sp>
      <p:sp>
        <p:nvSpPr>
          <p:cNvPr id="176168" name="Text Box 47"/>
          <p:cNvSpPr txBox="1">
            <a:spLocks noChangeArrowheads="1"/>
          </p:cNvSpPr>
          <p:nvPr/>
        </p:nvSpPr>
        <p:spPr bwMode="auto">
          <a:xfrm>
            <a:off x="719138" y="3500438"/>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t>1</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732ABB2-C85D-4FF4-B3F8-6DE959130C03}" type="slidenum">
              <a:rPr lang="en-US" altLang="zh-CN" sz="1400" b="0"/>
              <a:pPr eaLnBrk="1" hangingPunct="1"/>
              <a:t>169</a:t>
            </a:fld>
            <a:endParaRPr lang="en-US" altLang="zh-CN" sz="1400" b="0"/>
          </a:p>
        </p:txBody>
      </p:sp>
      <p:sp>
        <p:nvSpPr>
          <p:cNvPr id="177155" name="Rectangle 2"/>
          <p:cNvSpPr>
            <a:spLocks noChangeArrowheads="1"/>
          </p:cNvSpPr>
          <p:nvPr/>
        </p:nvSpPr>
        <p:spPr bwMode="auto">
          <a:xfrm>
            <a:off x="2362200" y="1066800"/>
            <a:ext cx="4248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0">
                <a:solidFill>
                  <a:schemeClr val="tx2"/>
                </a:solidFill>
                <a:latin typeface="宋体" panose="02010600030101010101" pitchFamily="2" charset="-122"/>
              </a:rPr>
              <a:t> </a:t>
            </a:r>
            <a:r>
              <a:rPr lang="zh-CN" altLang="en-US" sz="3200">
                <a:solidFill>
                  <a:srgbClr val="FF0000"/>
                </a:solidFill>
                <a:latin typeface="宋体" panose="02010600030101010101" pitchFamily="2" charset="-122"/>
              </a:rPr>
              <a:t>二、片内</a:t>
            </a:r>
            <a:r>
              <a:rPr lang="en-US" altLang="zh-CN" sz="3200">
                <a:solidFill>
                  <a:srgbClr val="FF0000"/>
                </a:solidFill>
                <a:latin typeface="宋体" panose="02010600030101010101" pitchFamily="2" charset="-122"/>
              </a:rPr>
              <a:t>ROM</a:t>
            </a:r>
            <a:r>
              <a:rPr lang="zh-CN" altLang="en-US" sz="3200">
                <a:solidFill>
                  <a:srgbClr val="FF0000"/>
                </a:solidFill>
                <a:latin typeface="宋体" panose="02010600030101010101" pitchFamily="2" charset="-122"/>
              </a:rPr>
              <a:t>加载程序</a:t>
            </a:r>
          </a:p>
        </p:txBody>
      </p:sp>
      <p:sp>
        <p:nvSpPr>
          <p:cNvPr id="177156" name="Rectangle 3"/>
          <p:cNvSpPr>
            <a:spLocks noChangeArrowheads="1"/>
          </p:cNvSpPr>
          <p:nvPr/>
        </p:nvSpPr>
        <p:spPr bwMode="auto">
          <a:xfrm>
            <a:off x="1143000" y="2362200"/>
            <a:ext cx="7543800" cy="406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30000"/>
              </a:spcBef>
            </a:pPr>
            <a:r>
              <a:rPr lang="en-US" altLang="zh-CN" sz="2800">
                <a:latin typeface="宋体" panose="02010600030101010101" pitchFamily="2" charset="-122"/>
              </a:rPr>
              <a:t>①INTM=1</a:t>
            </a:r>
            <a:r>
              <a:rPr lang="zh-CN" altLang="en-US" sz="2800">
                <a:latin typeface="宋体" panose="02010600030101010101" pitchFamily="2" charset="-122"/>
              </a:rPr>
              <a:t>，禁止所有的中断。</a:t>
            </a:r>
            <a:endParaRPr lang="zh-CN" altLang="en-US" sz="2800"/>
          </a:p>
          <a:p>
            <a:pPr eaLnBrk="1" hangingPunct="1">
              <a:lnSpc>
                <a:spcPct val="90000"/>
              </a:lnSpc>
              <a:spcBef>
                <a:spcPct val="30000"/>
              </a:spcBef>
            </a:pPr>
            <a:r>
              <a:rPr lang="zh-CN" altLang="en-US" sz="2800">
                <a:latin typeface="宋体" panose="02010600030101010101" pitchFamily="2" charset="-122"/>
              </a:rPr>
              <a:t>②</a:t>
            </a:r>
            <a:r>
              <a:rPr lang="en-US" altLang="zh-CN" sz="2800">
                <a:latin typeface="宋体" panose="02010600030101010101" pitchFamily="2" charset="-122"/>
              </a:rPr>
              <a:t>OVLY=1</a:t>
            </a:r>
            <a:r>
              <a:rPr lang="zh-CN" altLang="en-US" sz="2800">
                <a:latin typeface="宋体" panose="02010600030101010101" pitchFamily="2" charset="-122"/>
              </a:rPr>
              <a:t>，将片内双寻址</a:t>
            </a:r>
            <a:r>
              <a:rPr lang="en-US" altLang="zh-CN" sz="2800">
                <a:latin typeface="宋体" panose="02010600030101010101" pitchFamily="2" charset="-122"/>
              </a:rPr>
              <a:t>RAM</a:t>
            </a:r>
            <a:r>
              <a:rPr lang="zh-CN" altLang="en-US" sz="2800">
                <a:latin typeface="宋体" panose="02010600030101010101" pitchFamily="2" charset="-122"/>
              </a:rPr>
              <a:t>和单寻址</a:t>
            </a:r>
            <a:r>
              <a:rPr lang="en-US" altLang="zh-CN" sz="2800">
                <a:latin typeface="宋体" panose="02010600030101010101" pitchFamily="2" charset="-122"/>
              </a:rPr>
              <a:t>RAM</a:t>
            </a:r>
            <a:r>
              <a:rPr lang="zh-CN" altLang="en-US" sz="2800">
                <a:latin typeface="宋体" panose="02010600030101010101" pitchFamily="2" charset="-122"/>
              </a:rPr>
              <a:t>映   </a:t>
            </a:r>
          </a:p>
          <a:p>
            <a:pPr eaLnBrk="1" hangingPunct="1">
              <a:lnSpc>
                <a:spcPct val="90000"/>
              </a:lnSpc>
              <a:spcBef>
                <a:spcPct val="30000"/>
              </a:spcBef>
            </a:pPr>
            <a:r>
              <a:rPr lang="zh-CN" altLang="en-US" sz="2800">
                <a:latin typeface="宋体" panose="02010600030101010101" pitchFamily="2" charset="-122"/>
              </a:rPr>
              <a:t>          象到程序</a:t>
            </a:r>
            <a:r>
              <a:rPr lang="en-US" altLang="zh-CN" sz="2800">
                <a:latin typeface="宋体" panose="02010600030101010101" pitchFamily="2" charset="-122"/>
              </a:rPr>
              <a:t>/</a:t>
            </a:r>
            <a:r>
              <a:rPr lang="zh-CN" altLang="en-US" sz="2800">
                <a:latin typeface="宋体" panose="02010600030101010101" pitchFamily="2" charset="-122"/>
              </a:rPr>
              <a:t>数据空间。</a:t>
            </a:r>
            <a:endParaRPr lang="zh-CN" altLang="en-US" sz="2800"/>
          </a:p>
          <a:p>
            <a:pPr eaLnBrk="1" hangingPunct="1">
              <a:lnSpc>
                <a:spcPct val="90000"/>
              </a:lnSpc>
              <a:spcBef>
                <a:spcPct val="30000"/>
              </a:spcBef>
            </a:pPr>
            <a:r>
              <a:rPr lang="zh-CN" altLang="en-US" sz="2800">
                <a:latin typeface="宋体" panose="02010600030101010101" pitchFamily="2" charset="-122"/>
              </a:rPr>
              <a:t>③</a:t>
            </a:r>
            <a:r>
              <a:rPr lang="en-US" altLang="zh-CN" sz="2800">
                <a:latin typeface="宋体" panose="02010600030101010101" pitchFamily="2" charset="-122"/>
              </a:rPr>
              <a:t>SWWSR=7FFFh</a:t>
            </a:r>
            <a:r>
              <a:rPr lang="zh-CN" altLang="en-US" sz="2800">
                <a:latin typeface="宋体" panose="02010600030101010101" pitchFamily="2" charset="-122"/>
              </a:rPr>
              <a:t>，所有程序和数据空间都插入  </a:t>
            </a:r>
          </a:p>
          <a:p>
            <a:pPr eaLnBrk="1" hangingPunct="1">
              <a:lnSpc>
                <a:spcPct val="90000"/>
              </a:lnSpc>
              <a:spcBef>
                <a:spcPct val="30000"/>
              </a:spcBef>
            </a:pPr>
            <a:r>
              <a:rPr lang="zh-CN" altLang="en-US" sz="2800">
                <a:latin typeface="宋体" panose="02010600030101010101" pitchFamily="2" charset="-122"/>
              </a:rPr>
              <a:t>          </a:t>
            </a:r>
            <a:r>
              <a:rPr lang="en-US" altLang="zh-CN" sz="2800">
                <a:latin typeface="宋体" panose="02010600030101010101" pitchFamily="2" charset="-122"/>
              </a:rPr>
              <a:t>7</a:t>
            </a:r>
            <a:r>
              <a:rPr lang="zh-CN" altLang="en-US" sz="2800">
                <a:latin typeface="宋体" panose="02010600030101010101" pitchFamily="2" charset="-122"/>
              </a:rPr>
              <a:t>个等待状态。</a:t>
            </a:r>
            <a:endParaRPr lang="zh-CN" altLang="en-US" sz="2800"/>
          </a:p>
          <a:p>
            <a:pPr eaLnBrk="1" hangingPunct="1">
              <a:lnSpc>
                <a:spcPct val="90000"/>
              </a:lnSpc>
              <a:spcBef>
                <a:spcPct val="30000"/>
              </a:spcBef>
            </a:pPr>
            <a:r>
              <a:rPr lang="zh-CN" altLang="en-US" sz="2800">
                <a:latin typeface="宋体" panose="02010600030101010101" pitchFamily="2" charset="-122"/>
              </a:rPr>
              <a:t>④</a:t>
            </a:r>
            <a:r>
              <a:rPr lang="en-US" altLang="zh-CN" sz="2800">
                <a:latin typeface="宋体" panose="02010600030101010101" pitchFamily="2" charset="-122"/>
              </a:rPr>
              <a:t>BSCR=0FFFFh</a:t>
            </a:r>
            <a:r>
              <a:rPr lang="zh-CN" altLang="en-US" sz="2800">
                <a:latin typeface="宋体" panose="02010600030101010101" pitchFamily="2" charset="-122"/>
              </a:rPr>
              <a:t>，设定外部存储区分区为</a:t>
            </a:r>
            <a:r>
              <a:rPr lang="en-US" altLang="zh-CN" sz="2800">
                <a:latin typeface="宋体" panose="02010600030101010101" pitchFamily="2" charset="-122"/>
              </a:rPr>
              <a:t>4K</a:t>
            </a:r>
            <a:r>
              <a:rPr lang="zh-CN" altLang="en-US" sz="2800">
                <a:latin typeface="宋体" panose="02010600030101010101" pitchFamily="2" charset="-122"/>
              </a:rPr>
              <a:t>字，  </a:t>
            </a:r>
          </a:p>
          <a:p>
            <a:pPr eaLnBrk="1" hangingPunct="1">
              <a:lnSpc>
                <a:spcPct val="90000"/>
              </a:lnSpc>
              <a:spcBef>
                <a:spcPct val="30000"/>
              </a:spcBef>
            </a:pPr>
            <a:r>
              <a:rPr lang="zh-CN" altLang="en-US" sz="2800">
                <a:latin typeface="宋体" panose="02010600030101010101" pitchFamily="2" charset="-122"/>
              </a:rPr>
              <a:t>          当程序和数据空间切换时，插入一 </a:t>
            </a:r>
          </a:p>
          <a:p>
            <a:pPr eaLnBrk="1" hangingPunct="1">
              <a:lnSpc>
                <a:spcPct val="90000"/>
              </a:lnSpc>
              <a:spcBef>
                <a:spcPct val="30000"/>
              </a:spcBef>
            </a:pPr>
            <a:r>
              <a:rPr lang="zh-CN" altLang="en-US" sz="2800">
                <a:latin typeface="宋体" panose="02010600030101010101" pitchFamily="2" charset="-122"/>
              </a:rPr>
              <a:t>          个等待周期。</a:t>
            </a:r>
          </a:p>
        </p:txBody>
      </p:sp>
      <p:sp>
        <p:nvSpPr>
          <p:cNvPr id="177157" name="Rectangle 4" descr="小棋盘"/>
          <p:cNvSpPr>
            <a:spLocks noChangeArrowheads="1"/>
          </p:cNvSpPr>
          <p:nvPr/>
        </p:nvSpPr>
        <p:spPr bwMode="auto">
          <a:xfrm>
            <a:off x="2667000" y="1752600"/>
            <a:ext cx="4105275" cy="528638"/>
          </a:xfrm>
          <a:prstGeom prst="rect">
            <a:avLst/>
          </a:prstGeom>
          <a:pattFill prst="smCheck">
            <a:fgClr>
              <a:schemeClr val="accent1"/>
            </a:fgClr>
            <a:bgClr>
              <a:srgbClr val="FFFFFF"/>
            </a:bgClr>
          </a:pattFill>
          <a:ln w="9525">
            <a:solidFill>
              <a:srgbClr val="00CC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6600"/>
                </a:solidFill>
                <a:latin typeface="宋体" panose="02010600030101010101" pitchFamily="2" charset="-122"/>
              </a:rPr>
              <a:t>(1) </a:t>
            </a:r>
            <a:r>
              <a:rPr lang="zh-CN" altLang="en-US" sz="2800">
                <a:solidFill>
                  <a:srgbClr val="006600"/>
                </a:solidFill>
                <a:latin typeface="宋体" panose="02010600030101010101" pitchFamily="2" charset="-122"/>
              </a:rPr>
              <a:t>自举加载前的初始化</a:t>
            </a:r>
          </a:p>
        </p:txBody>
      </p:sp>
      <p:sp>
        <p:nvSpPr>
          <p:cNvPr id="177158" name="Rectangle 5" descr="小棋盘"/>
          <p:cNvSpPr>
            <a:spLocks noChangeArrowheads="1"/>
          </p:cNvSpPr>
          <p:nvPr/>
        </p:nvSpPr>
        <p:spPr bwMode="auto">
          <a:xfrm>
            <a:off x="304800" y="2590800"/>
            <a:ext cx="550863" cy="3517900"/>
          </a:xfrm>
          <a:prstGeom prst="rect">
            <a:avLst/>
          </a:prstGeom>
          <a:pattFill prst="smCheck">
            <a:fgClr>
              <a:srgbClr val="FFFF00"/>
            </a:fgClr>
            <a:bgClr>
              <a:schemeClr val="bg1"/>
            </a:bgClr>
          </a:pattFill>
          <a:ln w="9525">
            <a:solidFill>
              <a:srgbClr val="CC33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chemeClr val="tx2"/>
                </a:solidFill>
                <a:latin typeface="宋体" panose="02010600030101010101" pitchFamily="2" charset="-122"/>
              </a:rPr>
              <a:t>初</a:t>
            </a:r>
          </a:p>
          <a:p>
            <a:pPr eaLnBrk="1" hangingPunct="1"/>
            <a:r>
              <a:rPr lang="zh-CN" altLang="en-US" sz="2800">
                <a:solidFill>
                  <a:schemeClr val="tx2"/>
                </a:solidFill>
                <a:latin typeface="宋体" panose="02010600030101010101" pitchFamily="2" charset="-122"/>
              </a:rPr>
              <a:t>始</a:t>
            </a:r>
          </a:p>
          <a:p>
            <a:pPr eaLnBrk="1" hangingPunct="1"/>
            <a:r>
              <a:rPr lang="zh-CN" altLang="en-US" sz="2800">
                <a:solidFill>
                  <a:schemeClr val="tx2"/>
                </a:solidFill>
                <a:latin typeface="宋体" panose="02010600030101010101" pitchFamily="2" charset="-122"/>
              </a:rPr>
              <a:t>化</a:t>
            </a:r>
          </a:p>
          <a:p>
            <a:pPr eaLnBrk="1" hangingPunct="1"/>
            <a:r>
              <a:rPr lang="zh-CN" altLang="en-US" sz="2800">
                <a:solidFill>
                  <a:schemeClr val="tx2"/>
                </a:solidFill>
                <a:latin typeface="宋体" panose="02010600030101010101" pitchFamily="2" charset="-122"/>
              </a:rPr>
              <a:t>的</a:t>
            </a:r>
          </a:p>
          <a:p>
            <a:pPr eaLnBrk="1" hangingPunct="1"/>
            <a:r>
              <a:rPr lang="zh-CN" altLang="en-US" sz="2800">
                <a:solidFill>
                  <a:schemeClr val="tx2"/>
                </a:solidFill>
                <a:latin typeface="宋体" panose="02010600030101010101" pitchFamily="2" charset="-122"/>
              </a:rPr>
              <a:t>内</a:t>
            </a:r>
          </a:p>
          <a:p>
            <a:pPr eaLnBrk="1" hangingPunct="1"/>
            <a:r>
              <a:rPr lang="zh-CN" altLang="en-US" sz="2800">
                <a:solidFill>
                  <a:schemeClr val="tx2"/>
                </a:solidFill>
                <a:latin typeface="宋体" panose="02010600030101010101" pitchFamily="2" charset="-122"/>
              </a:rPr>
              <a:t>容</a:t>
            </a:r>
          </a:p>
          <a:p>
            <a:pPr eaLnBrk="1" hangingPunct="1"/>
            <a:r>
              <a:rPr lang="zh-CN" altLang="en-US" sz="2800">
                <a:solidFill>
                  <a:schemeClr val="tx2"/>
                </a:solidFill>
                <a:latin typeface="宋体" panose="02010600030101010101" pitchFamily="2" charset="-122"/>
              </a:rPr>
              <a:t>包</a:t>
            </a:r>
          </a:p>
          <a:p>
            <a:pPr eaLnBrk="1" hangingPunct="1"/>
            <a:r>
              <a:rPr lang="zh-CN" altLang="en-US" sz="2800">
                <a:solidFill>
                  <a:schemeClr val="tx2"/>
                </a:solidFill>
                <a:latin typeface="宋体" panose="02010600030101010101" pitchFamily="2" charset="-122"/>
              </a:rPr>
              <a:t>括</a:t>
            </a:r>
          </a:p>
        </p:txBody>
      </p:sp>
      <p:sp>
        <p:nvSpPr>
          <p:cNvPr id="177159" name="Rectangle 6" descr="10%"/>
          <p:cNvSpPr>
            <a:spLocks noChangeArrowheads="1"/>
          </p:cNvSpPr>
          <p:nvPr/>
        </p:nvSpPr>
        <p:spPr bwMode="auto">
          <a:xfrm>
            <a:off x="457200" y="1752600"/>
            <a:ext cx="1616075" cy="528638"/>
          </a:xfrm>
          <a:prstGeom prst="rect">
            <a:avLst/>
          </a:prstGeom>
          <a:pattFill prst="pct10">
            <a:fgClr>
              <a:schemeClr val="bg1"/>
            </a:fgClr>
            <a:bgClr>
              <a:srgbClr val="FFFFFF"/>
            </a:bgClr>
          </a:pattFill>
          <a:ln w="9525">
            <a:solidFill>
              <a:srgbClr val="00CC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FF0000"/>
                </a:solidFill>
                <a:latin typeface="宋体" panose="02010600030101010101" pitchFamily="2" charset="-122"/>
              </a:rPr>
              <a:t>1.</a:t>
            </a:r>
            <a:r>
              <a:rPr lang="zh-CN" altLang="en-US" sz="2800">
                <a:solidFill>
                  <a:srgbClr val="FF0000"/>
                </a:solidFill>
                <a:latin typeface="宋体" panose="02010600030101010101" pitchFamily="2" charset="-122"/>
              </a:rPr>
              <a:t>初始化</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0E0536E-5FB6-40BA-BE88-15019FB7259B}" type="slidenum">
              <a:rPr lang="en-US" altLang="zh-CN" sz="1400" b="0"/>
              <a:pPr eaLnBrk="1" hangingPunct="1"/>
              <a:t>170</a:t>
            </a:fld>
            <a:endParaRPr lang="en-US" altLang="zh-CN" sz="1400" b="0"/>
          </a:p>
        </p:txBody>
      </p:sp>
      <p:grpSp>
        <p:nvGrpSpPr>
          <p:cNvPr id="178179" name="Group 10"/>
          <p:cNvGrpSpPr>
            <a:grpSpLocks/>
          </p:cNvGrpSpPr>
          <p:nvPr/>
        </p:nvGrpSpPr>
        <p:grpSpPr bwMode="auto">
          <a:xfrm>
            <a:off x="3276600" y="1125538"/>
            <a:ext cx="2735263" cy="528637"/>
            <a:chOff x="2112" y="720"/>
            <a:chExt cx="1354" cy="333"/>
          </a:xfrm>
        </p:grpSpPr>
        <p:sp>
          <p:nvSpPr>
            <p:cNvPr id="178189" name="Rectangle 11" descr="小棋盘"/>
            <p:cNvSpPr>
              <a:spLocks noChangeArrowheads="1"/>
            </p:cNvSpPr>
            <p:nvPr/>
          </p:nvSpPr>
          <p:spPr bwMode="auto">
            <a:xfrm>
              <a:off x="2112" y="720"/>
              <a:ext cx="1354" cy="333"/>
            </a:xfrm>
            <a:prstGeom prst="rect">
              <a:avLst/>
            </a:prstGeom>
            <a:pattFill prst="smCheck">
              <a:fgClr>
                <a:schemeClr val="accent1"/>
              </a:fgClr>
              <a:bgClr>
                <a:schemeClr val="bg1"/>
              </a:bgClr>
            </a:pattFill>
            <a:ln w="9525">
              <a:solidFill>
                <a:srgbClr val="00CC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6600"/>
                  </a:solidFill>
                  <a:latin typeface="宋体" panose="02010600030101010101" pitchFamily="2" charset="-122"/>
                </a:rPr>
                <a:t>(2)</a:t>
              </a:r>
              <a:r>
                <a:rPr lang="zh-CN" altLang="en-US" sz="2800">
                  <a:solidFill>
                    <a:srgbClr val="006600"/>
                  </a:solidFill>
                  <a:latin typeface="宋体" panose="02010600030101010101" pitchFamily="2" charset="-122"/>
                </a:rPr>
                <a:t>检查  </a:t>
              </a:r>
              <a:r>
                <a:rPr lang="en-US" altLang="zh-CN" sz="2800">
                  <a:solidFill>
                    <a:srgbClr val="006600"/>
                  </a:solidFill>
                  <a:latin typeface="宋体" panose="02010600030101010101" pitchFamily="2" charset="-122"/>
                </a:rPr>
                <a:t>INT2</a:t>
              </a:r>
            </a:p>
          </p:txBody>
        </p:sp>
        <p:sp>
          <p:nvSpPr>
            <p:cNvPr id="178190" name="Line 12" descr="小棋盘"/>
            <p:cNvSpPr>
              <a:spLocks noChangeShapeType="1"/>
            </p:cNvSpPr>
            <p:nvPr/>
          </p:nvSpPr>
          <p:spPr bwMode="auto">
            <a:xfrm>
              <a:off x="2976" y="768"/>
              <a:ext cx="432" cy="0"/>
            </a:xfrm>
            <a:prstGeom prst="line">
              <a:avLst/>
            </a:prstGeom>
            <a:noFill/>
            <a:ln w="28575">
              <a:solidFill>
                <a:srgbClr val="00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78180" name="Rectangle 2"/>
          <p:cNvSpPr>
            <a:spLocks noChangeArrowheads="1"/>
          </p:cNvSpPr>
          <p:nvPr/>
        </p:nvSpPr>
        <p:spPr bwMode="auto">
          <a:xfrm>
            <a:off x="1447800" y="1828800"/>
            <a:ext cx="70104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FF"/>
                </a:solidFill>
                <a:latin typeface="宋体" panose="02010600030101010101" pitchFamily="2" charset="-122"/>
              </a:rPr>
              <a:t>决定是否从主机接口（</a:t>
            </a:r>
            <a:r>
              <a:rPr lang="en-US" altLang="zh-CN" sz="3200">
                <a:solidFill>
                  <a:srgbClr val="FF00FF"/>
                </a:solidFill>
                <a:latin typeface="宋体" panose="02010600030101010101" pitchFamily="2" charset="-122"/>
              </a:rPr>
              <a:t>HPI</a:t>
            </a:r>
            <a:r>
              <a:rPr lang="zh-CN" altLang="en-US" sz="3200">
                <a:solidFill>
                  <a:srgbClr val="FF00FF"/>
                </a:solidFill>
                <a:latin typeface="宋体" panose="02010600030101010101" pitchFamily="2" charset="-122"/>
              </a:rPr>
              <a:t>）加载。</a:t>
            </a:r>
          </a:p>
          <a:p>
            <a:pPr eaLnBrk="1" hangingPunct="1"/>
            <a:r>
              <a:rPr lang="zh-CN" altLang="en-US" sz="3200">
                <a:solidFill>
                  <a:srgbClr val="FF00FF"/>
                </a:solidFill>
                <a:latin typeface="宋体" panose="02010600030101010101" pitchFamily="2" charset="-122"/>
              </a:rPr>
              <a:t>如果没有锁存</a:t>
            </a:r>
            <a:r>
              <a:rPr lang="en-US" altLang="zh-CN" sz="3200">
                <a:solidFill>
                  <a:srgbClr val="FF00FF"/>
                </a:solidFill>
                <a:latin typeface="宋体" panose="02010600030101010101" pitchFamily="2" charset="-122"/>
              </a:rPr>
              <a:t>INT2</a:t>
            </a:r>
            <a:r>
              <a:rPr lang="zh-CN" altLang="en-US" sz="3200">
                <a:solidFill>
                  <a:srgbClr val="FF00FF"/>
                </a:solidFill>
                <a:latin typeface="宋体" panose="02010600030101010101" pitchFamily="2" charset="-122"/>
              </a:rPr>
              <a:t>信号，说明不是从</a:t>
            </a:r>
            <a:r>
              <a:rPr lang="en-US" altLang="zh-CN" sz="3200">
                <a:solidFill>
                  <a:srgbClr val="FF00FF"/>
                </a:solidFill>
                <a:latin typeface="宋体" panose="02010600030101010101" pitchFamily="2" charset="-122"/>
              </a:rPr>
              <a:t>HPI</a:t>
            </a:r>
            <a:r>
              <a:rPr lang="zh-CN" altLang="en-US" sz="3200">
                <a:solidFill>
                  <a:srgbClr val="FF00FF"/>
                </a:solidFill>
                <a:latin typeface="宋体" panose="02010600030101010101" pitchFamily="2" charset="-122"/>
              </a:rPr>
              <a:t>加载；否则从</a:t>
            </a:r>
            <a:r>
              <a:rPr lang="en-US" altLang="zh-CN" sz="3200">
                <a:solidFill>
                  <a:srgbClr val="FF00FF"/>
                </a:solidFill>
                <a:latin typeface="宋体" panose="02010600030101010101" pitchFamily="2" charset="-122"/>
              </a:rPr>
              <a:t>HPI</a:t>
            </a:r>
            <a:r>
              <a:rPr lang="zh-CN" altLang="en-US" sz="3200">
                <a:solidFill>
                  <a:srgbClr val="FF00FF"/>
                </a:solidFill>
                <a:latin typeface="宋体" panose="02010600030101010101" pitchFamily="2" charset="-122"/>
              </a:rPr>
              <a:t>～</a:t>
            </a:r>
            <a:r>
              <a:rPr lang="en-US" altLang="zh-CN" sz="3200">
                <a:solidFill>
                  <a:srgbClr val="FF00FF"/>
                </a:solidFill>
                <a:latin typeface="宋体" panose="02010600030101010101" pitchFamily="2" charset="-122"/>
              </a:rPr>
              <a:t>RAM</a:t>
            </a:r>
            <a:r>
              <a:rPr lang="zh-CN" altLang="en-US" sz="3200">
                <a:solidFill>
                  <a:srgbClr val="FF00FF"/>
                </a:solidFill>
                <a:latin typeface="宋体" panose="02010600030101010101" pitchFamily="2" charset="-122"/>
              </a:rPr>
              <a:t>自举加载</a:t>
            </a:r>
          </a:p>
        </p:txBody>
      </p:sp>
      <p:grpSp>
        <p:nvGrpSpPr>
          <p:cNvPr id="178181" name="Group 4"/>
          <p:cNvGrpSpPr>
            <a:grpSpLocks/>
          </p:cNvGrpSpPr>
          <p:nvPr/>
        </p:nvGrpSpPr>
        <p:grpSpPr bwMode="auto">
          <a:xfrm>
            <a:off x="3048000" y="3581400"/>
            <a:ext cx="2860675" cy="528638"/>
            <a:chOff x="1920" y="2256"/>
            <a:chExt cx="1802" cy="333"/>
          </a:xfrm>
        </p:grpSpPr>
        <p:sp>
          <p:nvSpPr>
            <p:cNvPr id="178187" name="Rectangle 5" descr="小棋盘"/>
            <p:cNvSpPr>
              <a:spLocks noChangeArrowheads="1"/>
            </p:cNvSpPr>
            <p:nvPr/>
          </p:nvSpPr>
          <p:spPr bwMode="auto">
            <a:xfrm>
              <a:off x="1920" y="2256"/>
              <a:ext cx="1802" cy="333"/>
            </a:xfrm>
            <a:prstGeom prst="rect">
              <a:avLst/>
            </a:prstGeom>
            <a:pattFill prst="smCheck">
              <a:fgClr>
                <a:schemeClr val="accent1"/>
              </a:fgClr>
              <a:bgClr>
                <a:schemeClr val="bg1"/>
              </a:bgClr>
            </a:pattFill>
            <a:ln w="9525">
              <a:solidFill>
                <a:srgbClr val="00CC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6600"/>
                  </a:solidFill>
                  <a:latin typeface="宋体" panose="02010600030101010101" pitchFamily="2" charset="-122"/>
                </a:rPr>
                <a:t>(3)</a:t>
              </a:r>
              <a:r>
                <a:rPr lang="zh-CN" altLang="en-US" sz="2800">
                  <a:solidFill>
                    <a:srgbClr val="006600"/>
                  </a:solidFill>
                  <a:latin typeface="宋体" panose="02010600030101010101" pitchFamily="2" charset="-122"/>
                </a:rPr>
                <a:t>置</a:t>
              </a:r>
              <a:r>
                <a:rPr lang="en-US" altLang="zh-CN" sz="2800">
                  <a:solidFill>
                    <a:srgbClr val="006600"/>
                  </a:solidFill>
                  <a:latin typeface="宋体" panose="02010600030101010101" pitchFamily="2" charset="-122"/>
                </a:rPr>
                <a:t>IS</a:t>
              </a:r>
              <a:r>
                <a:rPr lang="zh-CN" altLang="en-US" sz="2800">
                  <a:solidFill>
                    <a:srgbClr val="006600"/>
                  </a:solidFill>
                  <a:latin typeface="宋体" panose="02010600030101010101" pitchFamily="2" charset="-122"/>
                </a:rPr>
                <a:t>为低电平</a:t>
              </a:r>
            </a:p>
          </p:txBody>
        </p:sp>
        <p:sp>
          <p:nvSpPr>
            <p:cNvPr id="178188" name="Line 6" descr="小棋盘"/>
            <p:cNvSpPr>
              <a:spLocks noChangeShapeType="1"/>
            </p:cNvSpPr>
            <p:nvPr/>
          </p:nvSpPr>
          <p:spPr bwMode="auto">
            <a:xfrm>
              <a:off x="2592" y="2304"/>
              <a:ext cx="204" cy="0"/>
            </a:xfrm>
            <a:prstGeom prst="line">
              <a:avLst/>
            </a:prstGeom>
            <a:noFill/>
            <a:ln w="28575">
              <a:solidFill>
                <a:srgbClr val="0066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78182" name="Rectangle 7" descr="小棋盘"/>
          <p:cNvSpPr>
            <a:spLocks noChangeArrowheads="1"/>
          </p:cNvSpPr>
          <p:nvPr/>
        </p:nvSpPr>
        <p:spPr bwMode="auto">
          <a:xfrm>
            <a:off x="395288" y="4581525"/>
            <a:ext cx="609600" cy="1085850"/>
          </a:xfrm>
          <a:prstGeom prst="rect">
            <a:avLst/>
          </a:prstGeom>
          <a:pattFill prst="smCheck">
            <a:fgClr>
              <a:srgbClr val="FFFF00"/>
            </a:fgClr>
            <a:bgClr>
              <a:srgbClr val="FFFFFF"/>
            </a:bgClr>
          </a:pattFill>
          <a:ln w="19050">
            <a:solidFill>
              <a:srgbClr val="CC33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00"/>
                </a:solidFill>
                <a:latin typeface="宋体" panose="02010600030101010101" pitchFamily="2" charset="-122"/>
              </a:rPr>
              <a:t>目</a:t>
            </a:r>
          </a:p>
          <a:p>
            <a:pPr eaLnBrk="1" hangingPunct="1"/>
            <a:r>
              <a:rPr lang="zh-CN" altLang="en-US" sz="3200">
                <a:solidFill>
                  <a:srgbClr val="FF0000"/>
                </a:solidFill>
                <a:latin typeface="宋体" panose="02010600030101010101" pitchFamily="2" charset="-122"/>
              </a:rPr>
              <a:t>的</a:t>
            </a:r>
          </a:p>
        </p:txBody>
      </p:sp>
      <p:sp>
        <p:nvSpPr>
          <p:cNvPr id="684040" name="Rectangle 8"/>
          <p:cNvSpPr>
            <a:spLocks noChangeArrowheads="1"/>
          </p:cNvSpPr>
          <p:nvPr/>
        </p:nvSpPr>
        <p:spPr bwMode="auto">
          <a:xfrm>
            <a:off x="1295400" y="4419600"/>
            <a:ext cx="6813550" cy="1066800"/>
          </a:xfrm>
          <a:prstGeom prst="rect">
            <a:avLst/>
          </a:prstGeom>
          <a:noFill/>
          <a:ln w="9525">
            <a:noFill/>
            <a:miter lim="800000"/>
            <a:headEnd/>
            <a:tailEnd/>
          </a:ln>
          <a:effectLst/>
        </p:spPr>
        <p:txBody>
          <a:bodyPr>
            <a:spAutoFit/>
          </a:bodyPr>
          <a:lstStyle/>
          <a:p>
            <a:pPr>
              <a:defRPr/>
            </a:pPr>
            <a:r>
              <a:rPr lang="zh-CN" altLang="en-US" sz="3200">
                <a:solidFill>
                  <a:schemeClr val="folHlink"/>
                </a:solidFill>
                <a:effectLst>
                  <a:outerShdw blurRad="38100" dist="38100" dir="2700000" algn="tl">
                    <a:srgbClr val="C0C0C0"/>
                  </a:outerShdw>
                </a:effectLst>
                <a:latin typeface="宋体" pitchFamily="2" charset="-122"/>
              </a:rPr>
              <a:t>从地址为</a:t>
            </a:r>
            <a:r>
              <a:rPr lang="en-US" altLang="zh-CN" sz="3200">
                <a:solidFill>
                  <a:schemeClr val="folHlink"/>
                </a:solidFill>
                <a:effectLst>
                  <a:outerShdw blurRad="38100" dist="38100" dir="2700000" algn="tl">
                    <a:srgbClr val="C0C0C0"/>
                  </a:outerShdw>
                </a:effectLst>
                <a:latin typeface="宋体" pitchFamily="2" charset="-122"/>
              </a:rPr>
              <a:t>0FFFFh</a:t>
            </a:r>
            <a:r>
              <a:rPr lang="zh-CN" altLang="en-US" sz="3200">
                <a:solidFill>
                  <a:schemeClr val="folHlink"/>
                </a:solidFill>
                <a:effectLst>
                  <a:outerShdw blurRad="38100" dist="38100" dir="2700000" algn="tl">
                    <a:srgbClr val="C0C0C0"/>
                  </a:outerShdw>
                </a:effectLst>
                <a:latin typeface="宋体" pitchFamily="2" charset="-122"/>
              </a:rPr>
              <a:t>的</a:t>
            </a:r>
            <a:r>
              <a:rPr lang="en-US" altLang="zh-CN" sz="3200">
                <a:solidFill>
                  <a:schemeClr val="folHlink"/>
                </a:solidFill>
                <a:effectLst>
                  <a:outerShdw blurRad="38100" dist="38100" dir="2700000" algn="tl">
                    <a:srgbClr val="C0C0C0"/>
                  </a:outerShdw>
                </a:effectLst>
                <a:latin typeface="宋体" pitchFamily="2" charset="-122"/>
              </a:rPr>
              <a:t>I/O</a:t>
            </a:r>
            <a:r>
              <a:rPr lang="zh-CN" altLang="en-US" sz="3200">
                <a:solidFill>
                  <a:schemeClr val="folHlink"/>
                </a:solidFill>
                <a:effectLst>
                  <a:outerShdw blurRad="38100" dist="38100" dir="2700000" algn="tl">
                    <a:srgbClr val="C0C0C0"/>
                  </a:outerShdw>
                </a:effectLst>
                <a:latin typeface="宋体" pitchFamily="2" charset="-122"/>
              </a:rPr>
              <a:t>读入自举程序选择字节（</a:t>
            </a:r>
            <a:r>
              <a:rPr lang="en-US" altLang="zh-CN" sz="3200">
                <a:solidFill>
                  <a:schemeClr val="folHlink"/>
                </a:solidFill>
                <a:effectLst>
                  <a:outerShdw blurRad="38100" dist="38100" dir="2700000" algn="tl">
                    <a:srgbClr val="C0C0C0"/>
                  </a:outerShdw>
                </a:effectLst>
                <a:latin typeface="宋体" pitchFamily="2" charset="-122"/>
              </a:rPr>
              <a:t>BRS</a:t>
            </a:r>
            <a:r>
              <a:rPr lang="zh-CN" altLang="en-US" sz="3200">
                <a:solidFill>
                  <a:schemeClr val="folHlink"/>
                </a:solidFill>
                <a:effectLst>
                  <a:outerShdw blurRad="38100" dist="38100" dir="2700000" algn="tl">
                    <a:srgbClr val="C0C0C0"/>
                  </a:outerShdw>
                </a:effectLst>
                <a:latin typeface="宋体" pitchFamily="2" charset="-122"/>
              </a:rPr>
              <a:t>）。</a:t>
            </a:r>
          </a:p>
        </p:txBody>
      </p:sp>
      <p:sp>
        <p:nvSpPr>
          <p:cNvPr id="178184" name="Rectangle 9"/>
          <p:cNvSpPr>
            <a:spLocks noChangeArrowheads="1"/>
          </p:cNvSpPr>
          <p:nvPr/>
        </p:nvSpPr>
        <p:spPr bwMode="auto">
          <a:xfrm>
            <a:off x="1371600" y="5638800"/>
            <a:ext cx="6715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a:solidFill>
                  <a:schemeClr val="tx2"/>
                </a:solidFill>
                <a:latin typeface="宋体" panose="02010600030101010101" pitchFamily="2" charset="-122"/>
              </a:rPr>
              <a:t>BRS</a:t>
            </a:r>
            <a:r>
              <a:rPr lang="zh-CN" altLang="en-US" sz="3200">
                <a:solidFill>
                  <a:schemeClr val="tx2"/>
                </a:solidFill>
                <a:latin typeface="宋体" panose="02010600030101010101" pitchFamily="2" charset="-122"/>
              </a:rPr>
              <a:t>的低</a:t>
            </a:r>
            <a:r>
              <a:rPr lang="en-US" altLang="zh-CN" sz="3200">
                <a:solidFill>
                  <a:schemeClr val="tx2"/>
                </a:solidFill>
                <a:latin typeface="宋体" panose="02010600030101010101" pitchFamily="2" charset="-122"/>
              </a:rPr>
              <a:t>8</a:t>
            </a:r>
            <a:r>
              <a:rPr lang="zh-CN" altLang="en-US" sz="3200">
                <a:solidFill>
                  <a:schemeClr val="tx2"/>
                </a:solidFill>
                <a:latin typeface="宋体" panose="02010600030101010101" pitchFamily="2" charset="-122"/>
              </a:rPr>
              <a:t>位决定了自举加载的方式。</a:t>
            </a:r>
          </a:p>
        </p:txBody>
      </p:sp>
      <p:sp>
        <p:nvSpPr>
          <p:cNvPr id="178185" name="Rectangle 13" descr="小棋盘"/>
          <p:cNvSpPr>
            <a:spLocks noChangeArrowheads="1"/>
          </p:cNvSpPr>
          <p:nvPr/>
        </p:nvSpPr>
        <p:spPr bwMode="auto">
          <a:xfrm>
            <a:off x="395288" y="2060575"/>
            <a:ext cx="609600" cy="1085850"/>
          </a:xfrm>
          <a:prstGeom prst="rect">
            <a:avLst/>
          </a:prstGeom>
          <a:pattFill prst="smCheck">
            <a:fgClr>
              <a:srgbClr val="FFFF00"/>
            </a:fgClr>
            <a:bgClr>
              <a:srgbClr val="FFFFFF"/>
            </a:bgClr>
          </a:pattFill>
          <a:ln w="19050">
            <a:solidFill>
              <a:srgbClr val="CC33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FF0000"/>
                </a:solidFill>
                <a:latin typeface="宋体" panose="02010600030101010101" pitchFamily="2" charset="-122"/>
              </a:rPr>
              <a:t>目</a:t>
            </a:r>
          </a:p>
          <a:p>
            <a:pPr eaLnBrk="1" hangingPunct="1"/>
            <a:r>
              <a:rPr lang="zh-CN" altLang="en-US" sz="3200">
                <a:solidFill>
                  <a:srgbClr val="FF0000"/>
                </a:solidFill>
                <a:latin typeface="宋体" panose="02010600030101010101" pitchFamily="2" charset="-122"/>
              </a:rPr>
              <a:t>的</a:t>
            </a:r>
          </a:p>
        </p:txBody>
      </p:sp>
      <p:sp>
        <p:nvSpPr>
          <p:cNvPr id="178186" name="Line 14"/>
          <p:cNvSpPr>
            <a:spLocks noChangeShapeType="1"/>
          </p:cNvSpPr>
          <p:nvPr/>
        </p:nvSpPr>
        <p:spPr bwMode="auto">
          <a:xfrm>
            <a:off x="4067175" y="2420938"/>
            <a:ext cx="720725" cy="0"/>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A33A907B-8257-48CA-92B7-8D946033893B}" type="slidenum">
              <a:rPr lang="en-US" altLang="zh-CN" sz="1400" b="0"/>
              <a:pPr eaLnBrk="1" hangingPunct="1"/>
              <a:t>171</a:t>
            </a:fld>
            <a:endParaRPr lang="en-US" altLang="zh-CN" sz="1400" b="0"/>
          </a:p>
        </p:txBody>
      </p:sp>
      <p:graphicFrame>
        <p:nvGraphicFramePr>
          <p:cNvPr id="685154" name="Group 98"/>
          <p:cNvGraphicFramePr>
            <a:graphicFrameLocks noGrp="1"/>
          </p:cNvGraphicFramePr>
          <p:nvPr/>
        </p:nvGraphicFramePr>
        <p:xfrm>
          <a:off x="395288" y="1395413"/>
          <a:ext cx="8496300" cy="5288238"/>
        </p:xfrm>
        <a:graphic>
          <a:graphicData uri="http://schemas.openxmlformats.org/drawingml/2006/table">
            <a:tbl>
              <a:tblPr/>
              <a:tblGrid>
                <a:gridCol w="3241675">
                  <a:extLst>
                    <a:ext uri="{9D8B030D-6E8A-4147-A177-3AD203B41FA5}">
                      <a16:colId xmlns:a16="http://schemas.microsoft.com/office/drawing/2014/main" val="20000"/>
                    </a:ext>
                  </a:extLst>
                </a:gridCol>
                <a:gridCol w="5254625">
                  <a:extLst>
                    <a:ext uri="{9D8B030D-6E8A-4147-A177-3AD203B41FA5}">
                      <a16:colId xmlns:a16="http://schemas.microsoft.com/office/drawing/2014/main" val="20001"/>
                    </a:ext>
                  </a:extLst>
                </a:gridCol>
              </a:tblGrid>
              <a:tr h="1066736">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7    6    5    4    3    2    1    0</a:t>
                      </a:r>
                    </a:p>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x    x    x    x    0    1</a:t>
                      </a:r>
                    </a:p>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x    x    x    x    1    0</a:t>
                      </a:r>
                    </a:p>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x    x    x    x    1    1</a:t>
                      </a:r>
                    </a:p>
                  </a:txBody>
                  <a:tcPr marT="45717" marB="45717"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自举加载方式</a:t>
                      </a:r>
                    </a:p>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8</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位并行</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EPROM</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方式</a:t>
                      </a:r>
                    </a:p>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16</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位并行</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EPROM</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方式</a:t>
                      </a:r>
                    </a:p>
                    <a:p>
                      <a:pPr marL="0" marR="0" lvl="0" indent="0" algn="l" defTabSz="914400" rtl="0" eaLnBrk="1" fontAlgn="base" latinLnBrk="0" hangingPunct="1">
                        <a:lnSpc>
                          <a:spcPct val="8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热自举方式</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260">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x    x    1    0    0    0</a:t>
                      </a:r>
                    </a:p>
                  </a:txBody>
                  <a:tcPr marT="45717" marB="45717"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8</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位并行</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I/O</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方式</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77193">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x    x    1    1    0    0</a:t>
                      </a:r>
                    </a:p>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0    0    0    0    0    0</a:t>
                      </a:r>
                    </a:p>
                    <a:p>
                      <a:pPr marL="0" marR="0" lvl="0" indent="0" algn="l" defTabSz="914400" rtl="0" eaLnBrk="1" fontAlgn="base" latinLnBrk="0" hangingPunct="1">
                        <a:lnSpc>
                          <a:spcPct val="7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7" marB="45717"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16</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位并行</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I/O</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方式</a:t>
                      </a:r>
                    </a:p>
                    <a:p>
                      <a:pPr marL="0" marR="0" lvl="0" indent="0" algn="l" defTabSz="914400" rtl="0" eaLnBrk="1" fontAlgn="base" latinLnBrk="0" hangingPunct="1">
                        <a:lnSpc>
                          <a:spcPct val="7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串行自举方式，</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DSP</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配置成</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8</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位</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(FSX/CLKX</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为输出</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8607">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0    0    0    1    0    0</a:t>
                      </a:r>
                    </a:p>
                  </a:txBody>
                  <a:tcPr marT="45717" marB="45717"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串行自举方式，</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DSP</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配置成</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16</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位</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(FSX/CLKX</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为输出</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62952">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0    1    0    0    0    0</a:t>
                      </a:r>
                    </a:p>
                    <a:p>
                      <a:pPr marL="0" marR="0" lvl="0" indent="0" algn="l" defTabSz="914400" rtl="0" eaLnBrk="1" fontAlgn="base" latinLnBrk="0" hangingPunct="1">
                        <a:lnSpc>
                          <a:spcPct val="7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0    1    0    1    0    0</a:t>
                      </a:r>
                    </a:p>
                    <a:p>
                      <a:pPr marL="0" marR="0" lvl="0" indent="0" algn="l" defTabSz="914400" rtl="0" eaLnBrk="1" fontAlgn="base" latinLnBrk="0" hangingPunct="1">
                        <a:lnSpc>
                          <a:spcPct val="70000"/>
                        </a:lnSpc>
                        <a:spcBef>
                          <a:spcPct val="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1    0    0    0    0    0</a:t>
                      </a:r>
                    </a:p>
                  </a:txBody>
                  <a:tcPr marT="45717" marB="45717"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串行自举方式，</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DSP</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配置成</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8</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位</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(FSX/CLKX</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为输入</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p>
                      <a:pPr marL="0" marR="0" lvl="0" indent="0" algn="l" defTabSz="914400" rtl="0" eaLnBrk="1" fontAlgn="base" latinLnBrk="0" hangingPunct="1">
                        <a:lnSpc>
                          <a:spcPct val="7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串行自举方式，</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DSP</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配置成</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16</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位</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(FSX/CLKX</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为输入</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p>
                      <a:pPr marL="0" marR="0" lvl="0" indent="0" algn="l" defTabSz="914400" rtl="0" eaLnBrk="1" fontAlgn="base" latinLnBrk="0" hangingPunct="1">
                        <a:lnSpc>
                          <a:spcPct val="7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串行自举方式，</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TDM</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配置成</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8</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位</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(FSX/CLKX</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为输出</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8607">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1    0    0    1    0    0</a:t>
                      </a:r>
                    </a:p>
                  </a:txBody>
                  <a:tcPr marT="45717" marB="45717"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串行自举方式，</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TDM</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配置成</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16</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位</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(FSX/CLKX</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为输出</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8607">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x    x    1    1    0    1    0    0</a:t>
                      </a:r>
                    </a:p>
                  </a:txBody>
                  <a:tcPr marT="45717" marB="45717"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串行自举方式，</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TDM</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配置成</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16</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位</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(FSX/CLKX</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为输入</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79229" name="Text Box 96"/>
          <p:cNvSpPr txBox="1">
            <a:spLocks noChangeArrowheads="1"/>
          </p:cNvSpPr>
          <p:nvPr/>
        </p:nvSpPr>
        <p:spPr bwMode="auto">
          <a:xfrm>
            <a:off x="2627313" y="1052513"/>
            <a:ext cx="4824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0000"/>
                </a:solidFill>
              </a:rPr>
              <a:t>表</a:t>
            </a:r>
            <a:r>
              <a:rPr lang="en-US" altLang="zh-CN">
                <a:solidFill>
                  <a:srgbClr val="FF0000"/>
                </a:solidFill>
              </a:rPr>
              <a:t>2-26</a:t>
            </a:r>
            <a:r>
              <a:rPr lang="zh-CN" altLang="en-US">
                <a:solidFill>
                  <a:srgbClr val="FF0000"/>
                </a:solidFill>
              </a:rPr>
              <a:t>自举程序选择字</a:t>
            </a:r>
            <a:r>
              <a:rPr lang="en-US" altLang="zh-CN">
                <a:solidFill>
                  <a:srgbClr val="FF0000"/>
                </a:solidFill>
              </a:rPr>
              <a:t>(BRS)</a:t>
            </a:r>
            <a:r>
              <a:rPr lang="zh-CN" altLang="en-US">
                <a:solidFill>
                  <a:srgbClr val="FF0000"/>
                </a:solidFill>
              </a:rPr>
              <a:t>字节</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98F921CA-3AB7-49D0-816F-8D5F53021194}" type="slidenum">
              <a:rPr lang="en-US" altLang="zh-CN" sz="1400" b="0"/>
              <a:pPr eaLnBrk="1" hangingPunct="1"/>
              <a:t>172</a:t>
            </a:fld>
            <a:endParaRPr lang="en-US" altLang="zh-CN" sz="1400" b="0"/>
          </a:p>
        </p:txBody>
      </p:sp>
      <p:sp>
        <p:nvSpPr>
          <p:cNvPr id="686082" name="Rectangle 2" descr="10%"/>
          <p:cNvSpPr>
            <a:spLocks noChangeArrowheads="1"/>
          </p:cNvSpPr>
          <p:nvPr/>
        </p:nvSpPr>
        <p:spPr bwMode="auto">
          <a:xfrm>
            <a:off x="1258888" y="981075"/>
            <a:ext cx="6076950" cy="579438"/>
          </a:xfrm>
          <a:prstGeom prst="rect">
            <a:avLst/>
          </a:prstGeom>
          <a:pattFill prst="pct10">
            <a:fgClr>
              <a:schemeClr val="bg1"/>
            </a:fgClr>
            <a:bgClr>
              <a:srgbClr val="FFFFFF"/>
            </a:bgClr>
          </a:pattFill>
          <a:ln w="9525">
            <a:noFill/>
            <a:miter lim="800000"/>
            <a:headEnd/>
            <a:tailEnd/>
          </a:ln>
          <a:effectLst/>
        </p:spPr>
        <p:txBody>
          <a:bodyPr wrap="none">
            <a:spAutoFit/>
          </a:bodyPr>
          <a:lstStyle/>
          <a:p>
            <a:pPr>
              <a:defRPr/>
            </a:pPr>
            <a:r>
              <a:rPr lang="en-US" altLang="zh-CN" sz="3200">
                <a:solidFill>
                  <a:srgbClr val="FF0000"/>
                </a:solidFill>
                <a:latin typeface="宋体" pitchFamily="2" charset="-122"/>
              </a:rPr>
              <a:t>2.</a:t>
            </a:r>
            <a:r>
              <a:rPr lang="zh-CN" altLang="en-US" sz="3200">
                <a:solidFill>
                  <a:srgbClr val="FF0000"/>
                </a:solidFill>
                <a:effectLst>
                  <a:outerShdw blurRad="38100" dist="38100" dir="2700000" algn="tl">
                    <a:srgbClr val="C0C0C0"/>
                  </a:outerShdw>
                </a:effectLst>
                <a:latin typeface="宋体" pitchFamily="2" charset="-122"/>
              </a:rPr>
              <a:t>自举程序选择字节（</a:t>
            </a:r>
            <a:r>
              <a:rPr lang="en-US" altLang="zh-CN" sz="3200">
                <a:solidFill>
                  <a:srgbClr val="FF0000"/>
                </a:solidFill>
                <a:effectLst>
                  <a:outerShdw blurRad="38100" dist="38100" dir="2700000" algn="tl">
                    <a:srgbClr val="C0C0C0"/>
                  </a:outerShdw>
                </a:effectLst>
                <a:latin typeface="宋体" pitchFamily="2" charset="-122"/>
              </a:rPr>
              <a:t>BRS</a:t>
            </a:r>
            <a:r>
              <a:rPr lang="zh-CN" altLang="en-US" sz="3200">
                <a:solidFill>
                  <a:srgbClr val="FF0000"/>
                </a:solidFill>
                <a:effectLst>
                  <a:outerShdw blurRad="38100" dist="38100" dir="2700000" algn="tl">
                    <a:srgbClr val="C0C0C0"/>
                  </a:outerShdw>
                </a:effectLst>
                <a:latin typeface="宋体" pitchFamily="2" charset="-122"/>
              </a:rPr>
              <a:t>）加载</a:t>
            </a:r>
          </a:p>
        </p:txBody>
      </p:sp>
      <p:sp>
        <p:nvSpPr>
          <p:cNvPr id="180228" name="Rectangle 3"/>
          <p:cNvSpPr>
            <a:spLocks noChangeArrowheads="1"/>
          </p:cNvSpPr>
          <p:nvPr/>
        </p:nvSpPr>
        <p:spPr bwMode="auto">
          <a:xfrm>
            <a:off x="152400" y="2209800"/>
            <a:ext cx="8839200" cy="269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90513"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5000"/>
              </a:spcBef>
            </a:pPr>
            <a:r>
              <a:rPr lang="zh-CN" altLang="en-US" sz="2800">
                <a:latin typeface="宋体" panose="02010600030101010101" pitchFamily="2" charset="-122"/>
              </a:rPr>
              <a:t>如图是最常见的一种自举加载方式。</a:t>
            </a:r>
          </a:p>
          <a:p>
            <a:pPr eaLnBrk="1" hangingPunct="1">
              <a:lnSpc>
                <a:spcPct val="80000"/>
              </a:lnSpc>
              <a:spcBef>
                <a:spcPct val="25000"/>
              </a:spcBef>
            </a:pPr>
            <a:r>
              <a:rPr lang="zh-CN" altLang="en-US" sz="2800">
                <a:solidFill>
                  <a:schemeClr val="folHlink"/>
                </a:solidFill>
                <a:latin typeface="宋体" panose="02010600030101010101" pitchFamily="2" charset="-122"/>
              </a:rPr>
              <a:t>要加载的程序代码存放在字宽为</a:t>
            </a:r>
            <a:r>
              <a:rPr lang="en-US" altLang="zh-CN" sz="2800">
                <a:solidFill>
                  <a:schemeClr val="folHlink"/>
                </a:solidFill>
                <a:latin typeface="宋体" panose="02010600030101010101" pitchFamily="2" charset="-122"/>
              </a:rPr>
              <a:t>8</a:t>
            </a:r>
            <a:r>
              <a:rPr lang="zh-CN" altLang="en-US" sz="2800">
                <a:solidFill>
                  <a:schemeClr val="folHlink"/>
                </a:solidFill>
                <a:latin typeface="宋体" panose="02010600030101010101" pitchFamily="2" charset="-122"/>
              </a:rPr>
              <a:t>位或</a:t>
            </a:r>
            <a:r>
              <a:rPr lang="en-US" altLang="zh-CN" sz="2800">
                <a:solidFill>
                  <a:schemeClr val="folHlink"/>
                </a:solidFill>
                <a:latin typeface="宋体" panose="02010600030101010101" pitchFamily="2" charset="-122"/>
              </a:rPr>
              <a:t>16</a:t>
            </a:r>
            <a:r>
              <a:rPr lang="zh-CN" altLang="en-US" sz="2800">
                <a:solidFill>
                  <a:schemeClr val="folHlink"/>
                </a:solidFill>
                <a:latin typeface="宋体" panose="02010600030101010101" pitchFamily="2" charset="-122"/>
              </a:rPr>
              <a:t>位的</a:t>
            </a:r>
            <a:r>
              <a:rPr lang="en-US" altLang="zh-CN">
                <a:solidFill>
                  <a:schemeClr val="folHlink"/>
                </a:solidFill>
                <a:latin typeface="宋体" panose="02010600030101010101" pitchFamily="2" charset="-122"/>
              </a:rPr>
              <a:t>EPROM</a:t>
            </a:r>
            <a:r>
              <a:rPr lang="zh-CN" altLang="en-US" sz="2800">
                <a:solidFill>
                  <a:schemeClr val="folHlink"/>
                </a:solidFill>
                <a:latin typeface="宋体" panose="02010600030101010101" pitchFamily="2" charset="-122"/>
              </a:rPr>
              <a:t>中。</a:t>
            </a:r>
          </a:p>
          <a:p>
            <a:pPr eaLnBrk="1" hangingPunct="1">
              <a:lnSpc>
                <a:spcPct val="80000"/>
              </a:lnSpc>
              <a:spcBef>
                <a:spcPct val="25000"/>
              </a:spcBef>
            </a:pPr>
            <a:r>
              <a:rPr lang="zh-CN" altLang="en-US" sz="2800">
                <a:solidFill>
                  <a:schemeClr val="tx2"/>
                </a:solidFill>
                <a:latin typeface="宋体" panose="02010600030101010101" pitchFamily="2" charset="-122"/>
              </a:rPr>
              <a:t>加载时，将这些程序代码从数据存储器传送到程序存储器。自举加载器程序从</a:t>
            </a:r>
            <a:r>
              <a:rPr lang="en-US" altLang="zh-CN" sz="2800">
                <a:solidFill>
                  <a:schemeClr val="tx2"/>
                </a:solidFill>
                <a:latin typeface="宋体" panose="02010600030101010101" pitchFamily="2" charset="-122"/>
              </a:rPr>
              <a:t>0FFFFh</a:t>
            </a:r>
            <a:r>
              <a:rPr lang="zh-CN" altLang="en-US" sz="2800">
                <a:solidFill>
                  <a:schemeClr val="tx2"/>
                </a:solidFill>
                <a:latin typeface="宋体" panose="02010600030101010101" pitchFamily="2" charset="-122"/>
              </a:rPr>
              <a:t>口读入的自举程序选择（</a:t>
            </a:r>
            <a:r>
              <a:rPr lang="en-US" altLang="zh-CN" sz="2800">
                <a:solidFill>
                  <a:schemeClr val="tx2"/>
                </a:solidFill>
                <a:latin typeface="宋体" panose="02010600030101010101" pitchFamily="2" charset="-122"/>
              </a:rPr>
              <a:t>BRS</a:t>
            </a:r>
            <a:r>
              <a:rPr lang="zh-CN" altLang="en-US" sz="2800">
                <a:solidFill>
                  <a:schemeClr val="tx2"/>
                </a:solidFill>
                <a:latin typeface="宋体" panose="02010600030101010101" pitchFamily="2" charset="-122"/>
              </a:rPr>
              <a:t>）字的</a:t>
            </a:r>
            <a:r>
              <a:rPr lang="en-US" altLang="zh-CN" sz="2800">
                <a:solidFill>
                  <a:schemeClr val="tx2"/>
                </a:solidFill>
                <a:latin typeface="宋体" panose="02010600030101010101" pitchFamily="2" charset="-122"/>
              </a:rPr>
              <a:t>SRC</a:t>
            </a:r>
            <a:r>
              <a:rPr lang="zh-CN" altLang="en-US" sz="2800">
                <a:solidFill>
                  <a:schemeClr val="tx2"/>
                </a:solidFill>
                <a:latin typeface="宋体" panose="02010600030101010101" pitchFamily="2" charset="-122"/>
              </a:rPr>
              <a:t>域（源地址域位于</a:t>
            </a:r>
            <a:r>
              <a:rPr lang="en-US" altLang="zh-CN" sz="2800">
                <a:solidFill>
                  <a:schemeClr val="tx2"/>
                </a:solidFill>
                <a:latin typeface="宋体" panose="02010600030101010101" pitchFamily="2" charset="-122"/>
              </a:rPr>
              <a:t>BRS</a:t>
            </a:r>
            <a:r>
              <a:rPr lang="zh-CN" altLang="en-US" sz="2800">
                <a:solidFill>
                  <a:schemeClr val="tx2"/>
                </a:solidFill>
                <a:latin typeface="宋体" panose="02010600030101010101" pitchFamily="2" charset="-122"/>
              </a:rPr>
              <a:t>的</a:t>
            </a:r>
            <a:r>
              <a:rPr lang="en-US" altLang="zh-CN" sz="2800">
                <a:solidFill>
                  <a:schemeClr val="tx2"/>
                </a:solidFill>
                <a:latin typeface="宋体" panose="02010600030101010101" pitchFamily="2" charset="-122"/>
              </a:rPr>
              <a:t>7</a:t>
            </a:r>
            <a:r>
              <a:rPr lang="zh-CN" altLang="en-US" sz="2800">
                <a:solidFill>
                  <a:schemeClr val="tx2"/>
                </a:solidFill>
                <a:latin typeface="宋体" panose="02010600030101010101" pitchFamily="2" charset="-122"/>
              </a:rPr>
              <a:t>～</a:t>
            </a:r>
            <a:r>
              <a:rPr lang="en-US" altLang="zh-CN" sz="2800">
                <a:solidFill>
                  <a:schemeClr val="tx2"/>
                </a:solidFill>
                <a:latin typeface="宋体" panose="02010600030101010101" pitchFamily="2" charset="-122"/>
              </a:rPr>
              <a:t>2</a:t>
            </a:r>
            <a:r>
              <a:rPr lang="zh-CN" altLang="en-US" sz="2800">
                <a:solidFill>
                  <a:schemeClr val="tx2"/>
                </a:solidFill>
                <a:latin typeface="宋体" panose="02010600030101010101" pitchFamily="2" charset="-122"/>
              </a:rPr>
              <a:t>位），该域规定了源地址的</a:t>
            </a:r>
            <a:r>
              <a:rPr lang="en-US" altLang="zh-CN" sz="2800">
                <a:solidFill>
                  <a:schemeClr val="tx2"/>
                </a:solidFill>
                <a:latin typeface="宋体" panose="02010600030101010101" pitchFamily="2" charset="-122"/>
              </a:rPr>
              <a:t>6</a:t>
            </a:r>
            <a:r>
              <a:rPr lang="zh-CN" altLang="en-US" sz="2800">
                <a:solidFill>
                  <a:schemeClr val="tx2"/>
                </a:solidFill>
                <a:latin typeface="宋体" panose="02010600030101010101" pitchFamily="2" charset="-122"/>
              </a:rPr>
              <a:t>个最高有效位，由此构成</a:t>
            </a:r>
            <a:r>
              <a:rPr lang="en-US" altLang="zh-CN" sz="2800">
                <a:solidFill>
                  <a:schemeClr val="tx2"/>
                </a:solidFill>
                <a:latin typeface="宋体" panose="02010600030101010101" pitchFamily="2" charset="-122"/>
              </a:rPr>
              <a:t>EPROM</a:t>
            </a:r>
            <a:r>
              <a:rPr lang="zh-CN" altLang="en-US" sz="2800">
                <a:solidFill>
                  <a:schemeClr val="tx2"/>
                </a:solidFill>
                <a:latin typeface="宋体" panose="02010600030101010101" pitchFamily="2" charset="-122"/>
              </a:rPr>
              <a:t>的</a:t>
            </a:r>
            <a:r>
              <a:rPr lang="en-US" altLang="zh-CN" sz="2800">
                <a:solidFill>
                  <a:schemeClr val="tx2"/>
                </a:solidFill>
                <a:latin typeface="宋体" panose="02010600030101010101" pitchFamily="2" charset="-122"/>
              </a:rPr>
              <a:t>16</a:t>
            </a:r>
            <a:r>
              <a:rPr lang="zh-CN" altLang="en-US" sz="2800">
                <a:solidFill>
                  <a:schemeClr val="tx2"/>
                </a:solidFill>
                <a:latin typeface="宋体" panose="02010600030101010101" pitchFamily="2" charset="-122"/>
              </a:rPr>
              <a:t>位地址：</a:t>
            </a:r>
          </a:p>
        </p:txBody>
      </p:sp>
      <p:sp>
        <p:nvSpPr>
          <p:cNvPr id="180229" name="Rectangle 4" descr="小棋盘"/>
          <p:cNvSpPr>
            <a:spLocks noChangeArrowheads="1"/>
          </p:cNvSpPr>
          <p:nvPr/>
        </p:nvSpPr>
        <p:spPr bwMode="auto">
          <a:xfrm>
            <a:off x="1066800" y="1600200"/>
            <a:ext cx="6416675" cy="528638"/>
          </a:xfrm>
          <a:prstGeom prst="rect">
            <a:avLst/>
          </a:prstGeom>
          <a:pattFill prst="smCheck">
            <a:fgClr>
              <a:schemeClr val="accent1"/>
            </a:fgClr>
            <a:bgClr>
              <a:srgbClr val="FFFFFF"/>
            </a:bgClr>
          </a:pattFill>
          <a:ln w="9525">
            <a:solidFill>
              <a:srgbClr val="00CC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6600"/>
                </a:solidFill>
                <a:latin typeface="宋体" panose="02010600030101010101" pitchFamily="2" charset="-122"/>
              </a:rPr>
              <a:t>(1)</a:t>
            </a:r>
            <a:r>
              <a:rPr lang="zh-CN" altLang="en-US" sz="2800">
                <a:solidFill>
                  <a:srgbClr val="006600"/>
                </a:solidFill>
                <a:latin typeface="宋体" panose="02010600030101010101" pitchFamily="2" charset="-122"/>
              </a:rPr>
              <a:t>从</a:t>
            </a:r>
            <a:r>
              <a:rPr lang="en-US" altLang="zh-CN" sz="2800">
                <a:solidFill>
                  <a:srgbClr val="006600"/>
                </a:solidFill>
                <a:latin typeface="宋体" panose="02010600030101010101" pitchFamily="2" charset="-122"/>
              </a:rPr>
              <a:t>EPROM</a:t>
            </a:r>
            <a:r>
              <a:rPr lang="zh-CN" altLang="en-US" sz="2800">
                <a:solidFill>
                  <a:srgbClr val="006600"/>
                </a:solidFill>
                <a:latin typeface="宋体" panose="02010600030101010101" pitchFamily="2" charset="-122"/>
              </a:rPr>
              <a:t>（</a:t>
            </a:r>
            <a:r>
              <a:rPr lang="en-US" altLang="zh-CN" sz="2800">
                <a:solidFill>
                  <a:srgbClr val="006600"/>
                </a:solidFill>
                <a:latin typeface="宋体" panose="02010600030101010101" pitchFamily="2" charset="-122"/>
              </a:rPr>
              <a:t>8</a:t>
            </a:r>
            <a:r>
              <a:rPr lang="zh-CN" altLang="en-US" sz="2800">
                <a:solidFill>
                  <a:srgbClr val="006600"/>
                </a:solidFill>
                <a:latin typeface="宋体" panose="02010600030101010101" pitchFamily="2" charset="-122"/>
              </a:rPr>
              <a:t>位或</a:t>
            </a:r>
            <a:r>
              <a:rPr lang="en-US" altLang="zh-CN" sz="2800">
                <a:solidFill>
                  <a:srgbClr val="006600"/>
                </a:solidFill>
                <a:latin typeface="宋体" panose="02010600030101010101" pitchFamily="2" charset="-122"/>
              </a:rPr>
              <a:t>16</a:t>
            </a:r>
            <a:r>
              <a:rPr lang="zh-CN" altLang="en-US" sz="2800">
                <a:solidFill>
                  <a:srgbClr val="006600"/>
                </a:solidFill>
                <a:latin typeface="宋体" panose="02010600030101010101" pitchFamily="2" charset="-122"/>
              </a:rPr>
              <a:t>位）并行自举加载</a:t>
            </a:r>
          </a:p>
        </p:txBody>
      </p:sp>
      <p:sp>
        <p:nvSpPr>
          <p:cNvPr id="180230" name="Text Box 7"/>
          <p:cNvSpPr txBox="1">
            <a:spLocks noChangeArrowheads="1"/>
          </p:cNvSpPr>
          <p:nvPr/>
        </p:nvSpPr>
        <p:spPr bwMode="auto">
          <a:xfrm>
            <a:off x="979488" y="5662613"/>
            <a:ext cx="4535487" cy="528637"/>
          </a:xfrm>
          <a:prstGeom prst="rect">
            <a:avLst/>
          </a:prstGeom>
          <a:solidFill>
            <a:schemeClr val="hlink"/>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            </a:t>
            </a:r>
            <a:r>
              <a:rPr lang="en-US" altLang="zh-CN" sz="2800">
                <a:solidFill>
                  <a:srgbClr val="FF00FF"/>
                </a:solidFill>
              </a:rPr>
              <a:t>SRC</a:t>
            </a:r>
          </a:p>
        </p:txBody>
      </p:sp>
      <p:sp>
        <p:nvSpPr>
          <p:cNvPr id="180231" name="Text Box 8"/>
          <p:cNvSpPr txBox="1">
            <a:spLocks noChangeArrowheads="1"/>
          </p:cNvSpPr>
          <p:nvPr/>
        </p:nvSpPr>
        <p:spPr bwMode="auto">
          <a:xfrm>
            <a:off x="5514975" y="5662613"/>
            <a:ext cx="1296988" cy="528637"/>
          </a:xfrm>
          <a:prstGeom prst="rect">
            <a:avLst/>
          </a:prstGeom>
          <a:solidFill>
            <a:srgbClr val="FF6600"/>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0   0   0</a:t>
            </a:r>
          </a:p>
        </p:txBody>
      </p:sp>
      <p:sp>
        <p:nvSpPr>
          <p:cNvPr id="180232" name="Text Box 10"/>
          <p:cNvSpPr txBox="1">
            <a:spLocks noChangeArrowheads="1"/>
          </p:cNvSpPr>
          <p:nvPr/>
        </p:nvSpPr>
        <p:spPr bwMode="auto">
          <a:xfrm>
            <a:off x="942975" y="4797425"/>
            <a:ext cx="8137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15   14   13   12   11   10   9   8   7   6   5   4   3   2   1  0</a:t>
            </a:r>
          </a:p>
        </p:txBody>
      </p:sp>
      <p:sp>
        <p:nvSpPr>
          <p:cNvPr id="180233" name="Text Box 13"/>
          <p:cNvSpPr txBox="1">
            <a:spLocks noChangeArrowheads="1"/>
          </p:cNvSpPr>
          <p:nvPr/>
        </p:nvSpPr>
        <p:spPr bwMode="auto">
          <a:xfrm>
            <a:off x="8180388" y="5662613"/>
            <a:ext cx="431800" cy="52863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0</a:t>
            </a:r>
          </a:p>
        </p:txBody>
      </p:sp>
      <p:sp>
        <p:nvSpPr>
          <p:cNvPr id="180234" name="Text Box 16"/>
          <p:cNvSpPr txBox="1">
            <a:spLocks noChangeArrowheads="1"/>
          </p:cNvSpPr>
          <p:nvPr/>
        </p:nvSpPr>
        <p:spPr bwMode="auto">
          <a:xfrm>
            <a:off x="430213" y="4797425"/>
            <a:ext cx="7921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Bit</a:t>
            </a:r>
          </a:p>
        </p:txBody>
      </p:sp>
      <p:sp>
        <p:nvSpPr>
          <p:cNvPr id="180235" name="Text Box 18"/>
          <p:cNvSpPr txBox="1">
            <a:spLocks noChangeArrowheads="1"/>
          </p:cNvSpPr>
          <p:nvPr/>
        </p:nvSpPr>
        <p:spPr bwMode="auto">
          <a:xfrm>
            <a:off x="6811963" y="5662613"/>
            <a:ext cx="1368425" cy="528637"/>
          </a:xfrm>
          <a:prstGeom prst="rect">
            <a:avLst/>
          </a:prstGeom>
          <a:solidFill>
            <a:srgbClr val="FFFF99"/>
          </a:solidFill>
          <a:ln w="9525">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 0   0   0</a:t>
            </a:r>
          </a:p>
        </p:txBody>
      </p:sp>
      <p:sp>
        <p:nvSpPr>
          <p:cNvPr id="180236" name="Text Box 19"/>
          <p:cNvSpPr txBox="1">
            <a:spLocks noChangeArrowheads="1"/>
          </p:cNvSpPr>
          <p:nvPr/>
        </p:nvSpPr>
        <p:spPr bwMode="auto">
          <a:xfrm>
            <a:off x="4651375" y="5662613"/>
            <a:ext cx="863600" cy="52863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0   0</a:t>
            </a:r>
          </a:p>
        </p:txBody>
      </p:sp>
      <p:sp>
        <p:nvSpPr>
          <p:cNvPr id="180237" name="Text Box 20"/>
          <p:cNvSpPr txBox="1">
            <a:spLocks noChangeArrowheads="1"/>
          </p:cNvSpPr>
          <p:nvPr/>
        </p:nvSpPr>
        <p:spPr bwMode="auto">
          <a:xfrm>
            <a:off x="971550" y="6165850"/>
            <a:ext cx="799306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EPROM</a:t>
            </a:r>
            <a:r>
              <a:rPr lang="zh-CN" altLang="en-US" sz="2800"/>
              <a:t>的地址</a:t>
            </a:r>
            <a:r>
              <a:rPr lang="en-US" altLang="zh-CN" sz="2800"/>
              <a:t>=(BRS</a:t>
            </a:r>
            <a:r>
              <a:rPr lang="zh-CN" altLang="en-US" sz="2800"/>
              <a:t>中的高</a:t>
            </a:r>
            <a:r>
              <a:rPr lang="en-US" altLang="zh-CN" sz="2800"/>
              <a:t>6</a:t>
            </a:r>
            <a:r>
              <a:rPr lang="zh-CN" altLang="en-US" sz="2800"/>
              <a:t>位</a:t>
            </a:r>
            <a:r>
              <a:rPr lang="en-US" altLang="zh-CN" sz="2800"/>
              <a:t>)+10</a:t>
            </a:r>
            <a:r>
              <a:rPr lang="zh-CN" altLang="en-US" sz="2800"/>
              <a:t>个最低位</a:t>
            </a:r>
            <a:r>
              <a:rPr lang="en-US" altLang="zh-CN" sz="2800"/>
              <a:t>(</a:t>
            </a:r>
            <a:r>
              <a:rPr lang="zh-CN" altLang="en-US" sz="2800"/>
              <a:t>全</a:t>
            </a:r>
            <a:r>
              <a:rPr lang="en-US" altLang="zh-CN" sz="2800"/>
              <a:t>0)</a:t>
            </a:r>
          </a:p>
        </p:txBody>
      </p:sp>
      <p:sp>
        <p:nvSpPr>
          <p:cNvPr id="180238" name="Text Box 23"/>
          <p:cNvSpPr txBox="1">
            <a:spLocks noChangeArrowheads="1"/>
          </p:cNvSpPr>
          <p:nvPr/>
        </p:nvSpPr>
        <p:spPr bwMode="auto">
          <a:xfrm>
            <a:off x="8612188" y="5662613"/>
            <a:ext cx="360362" cy="528637"/>
          </a:xfrm>
          <a:prstGeom prst="rect">
            <a:avLst/>
          </a:prstGeom>
          <a:solidFill>
            <a:schemeClr val="accent2"/>
          </a:solidFill>
          <a:ln w="9525">
            <a:solidFill>
              <a:schemeClr val="bg2"/>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0</a:t>
            </a:r>
          </a:p>
        </p:txBody>
      </p:sp>
      <p:sp>
        <p:nvSpPr>
          <p:cNvPr id="180239" name="Text Box 26"/>
          <p:cNvSpPr txBox="1">
            <a:spLocks noChangeArrowheads="1"/>
          </p:cNvSpPr>
          <p:nvPr/>
        </p:nvSpPr>
        <p:spPr bwMode="auto">
          <a:xfrm>
            <a:off x="927100" y="5229225"/>
            <a:ext cx="4645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 </a:t>
            </a:r>
            <a:r>
              <a:rPr lang="en-US" altLang="zh-CN" sz="2800">
                <a:solidFill>
                  <a:srgbClr val="FF0000"/>
                </a:solidFill>
              </a:rPr>
              <a:t>7     6     5     4     3     2</a:t>
            </a:r>
            <a:r>
              <a:rPr lang="en-US" altLang="zh-CN" sz="2800"/>
              <a:t>    1   0</a:t>
            </a:r>
          </a:p>
        </p:txBody>
      </p:sp>
      <p:sp>
        <p:nvSpPr>
          <p:cNvPr id="180240" name="Text Box 27"/>
          <p:cNvSpPr txBox="1">
            <a:spLocks noChangeArrowheads="1"/>
          </p:cNvSpPr>
          <p:nvPr/>
        </p:nvSpPr>
        <p:spPr bwMode="auto">
          <a:xfrm>
            <a:off x="179388" y="5229225"/>
            <a:ext cx="7921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solidFill>
                  <a:srgbClr val="FF0000"/>
                </a:solidFill>
              </a:rPr>
              <a:t>BRS</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D1ACF758-D722-4810-8932-DCA9EBF0C2CA}" type="slidenum">
              <a:rPr lang="en-US" altLang="zh-CN" sz="1400" b="0"/>
              <a:pPr eaLnBrk="1" hangingPunct="1"/>
              <a:t>173</a:t>
            </a:fld>
            <a:endParaRPr lang="en-US" altLang="zh-CN" sz="1400" b="0"/>
          </a:p>
        </p:txBody>
      </p:sp>
      <p:sp>
        <p:nvSpPr>
          <p:cNvPr id="181251" name="Rectangle 2"/>
          <p:cNvSpPr>
            <a:spLocks noChangeArrowheads="1"/>
          </p:cNvSpPr>
          <p:nvPr/>
        </p:nvSpPr>
        <p:spPr bwMode="auto">
          <a:xfrm>
            <a:off x="609600" y="2971800"/>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746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400" b="0">
                <a:latin typeface="宋体" panose="02010600030101010101" pitchFamily="2" charset="-122"/>
              </a:rPr>
              <a:t> </a:t>
            </a:r>
            <a:endParaRPr lang="en-US" altLang="zh-CN" sz="2400" b="0"/>
          </a:p>
        </p:txBody>
      </p:sp>
      <p:sp>
        <p:nvSpPr>
          <p:cNvPr id="181252" name="Rectangle 3"/>
          <p:cNvSpPr>
            <a:spLocks noChangeArrowheads="1"/>
          </p:cNvSpPr>
          <p:nvPr/>
        </p:nvSpPr>
        <p:spPr bwMode="auto">
          <a:xfrm>
            <a:off x="250825" y="981075"/>
            <a:ext cx="8534400"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a:latin typeface="宋体" panose="02010600030101010101" pitchFamily="2" charset="-122"/>
              </a:rPr>
              <a:t>自举加载器程序依据</a:t>
            </a:r>
            <a:r>
              <a:rPr lang="en-US" altLang="zh-CN" sz="2800">
                <a:latin typeface="宋体" panose="02010600030101010101" pitchFamily="2" charset="-122"/>
              </a:rPr>
              <a:t>EPROM</a:t>
            </a:r>
            <a:r>
              <a:rPr lang="zh-CN" altLang="en-US" sz="2800">
                <a:latin typeface="宋体" panose="02010600030101010101" pitchFamily="2" charset="-122"/>
              </a:rPr>
              <a:t>的源地址就可以从</a:t>
            </a:r>
            <a:r>
              <a:rPr lang="en-US" altLang="zh-CN" sz="2800">
                <a:latin typeface="宋体" panose="02010600030101010101" pitchFamily="2" charset="-122"/>
              </a:rPr>
              <a:t>EPROM</a:t>
            </a:r>
            <a:r>
              <a:rPr lang="zh-CN" altLang="en-US" sz="2800">
                <a:latin typeface="宋体" panose="02010600030101010101" pitchFamily="2" charset="-122"/>
              </a:rPr>
              <a:t>中读取自举表。</a:t>
            </a:r>
            <a:r>
              <a:rPr lang="en-US" altLang="zh-CN" sz="2800">
                <a:latin typeface="宋体" panose="02010600030101010101" pitchFamily="2" charset="-122"/>
              </a:rPr>
              <a:t>EPROM</a:t>
            </a:r>
            <a:r>
              <a:rPr lang="zh-CN" altLang="en-US" sz="2800">
                <a:latin typeface="宋体" panose="02010600030101010101" pitchFamily="2" charset="-122"/>
              </a:rPr>
              <a:t>中的自举表包含的信息如表</a:t>
            </a:r>
            <a:r>
              <a:rPr lang="en-US" altLang="zh-CN" sz="2800">
                <a:latin typeface="宋体" panose="02010600030101010101" pitchFamily="2" charset="-122"/>
              </a:rPr>
              <a:t>2-27</a:t>
            </a:r>
            <a:r>
              <a:rPr lang="zh-CN" altLang="en-US" sz="2800">
                <a:latin typeface="宋体" panose="02010600030101010101" pitchFamily="2" charset="-122"/>
              </a:rPr>
              <a:t>所示：</a:t>
            </a:r>
            <a:endParaRPr lang="zh-CN" altLang="en-US" sz="2800">
              <a:latin typeface="Tahoma" panose="020B0604030504040204" pitchFamily="34" charset="0"/>
            </a:endParaRPr>
          </a:p>
          <a:p>
            <a:pPr eaLnBrk="1" hangingPunct="1">
              <a:spcBef>
                <a:spcPct val="50000"/>
              </a:spcBef>
            </a:pPr>
            <a:r>
              <a:rPr lang="zh-CN" altLang="en-US" sz="2800">
                <a:latin typeface="宋体" panose="02010600030101010101" pitchFamily="2" charset="-122"/>
              </a:rPr>
              <a:t> 自举加载器将</a:t>
            </a:r>
            <a:r>
              <a:rPr lang="en-US" altLang="zh-CN" sz="2800">
                <a:latin typeface="宋体" panose="02010600030101010101" pitchFamily="2" charset="-122"/>
              </a:rPr>
              <a:t>EPROM</a:t>
            </a:r>
            <a:r>
              <a:rPr lang="zh-CN" altLang="en-US" sz="2800">
                <a:latin typeface="宋体" panose="02010600030101010101" pitchFamily="2" charset="-122"/>
              </a:rPr>
              <a:t>中的程序代码全部传送到程序存储器之后，立即分支转移到目的地址，并开始执行程序代码。采用成本较低的</a:t>
            </a:r>
            <a:r>
              <a:rPr lang="en-US" altLang="zh-CN" sz="2800">
                <a:latin typeface="宋体" panose="02010600030101010101" pitchFamily="2" charset="-122"/>
              </a:rPr>
              <a:t>EPROM</a:t>
            </a:r>
            <a:r>
              <a:rPr lang="zh-CN" altLang="en-US" sz="2800">
                <a:latin typeface="宋体" panose="02010600030101010101" pitchFamily="2" charset="-122"/>
              </a:rPr>
              <a:t>自举加载，可以降低系统的成本、体积和功耗。</a:t>
            </a:r>
          </a:p>
        </p:txBody>
      </p:sp>
      <p:grpSp>
        <p:nvGrpSpPr>
          <p:cNvPr id="181253" name="Group 24"/>
          <p:cNvGrpSpPr>
            <a:grpSpLocks/>
          </p:cNvGrpSpPr>
          <p:nvPr/>
        </p:nvGrpSpPr>
        <p:grpSpPr bwMode="auto">
          <a:xfrm>
            <a:off x="827088" y="4298950"/>
            <a:ext cx="7129462" cy="2495550"/>
            <a:chOff x="158" y="2614"/>
            <a:chExt cx="4491" cy="1572"/>
          </a:xfrm>
        </p:grpSpPr>
        <p:sp>
          <p:nvSpPr>
            <p:cNvPr id="181254" name="Rectangle 15"/>
            <p:cNvSpPr>
              <a:spLocks noChangeArrowheads="1"/>
            </p:cNvSpPr>
            <p:nvPr/>
          </p:nvSpPr>
          <p:spPr bwMode="auto">
            <a:xfrm>
              <a:off x="3061" y="2614"/>
              <a:ext cx="1089" cy="1134"/>
            </a:xfrm>
            <a:prstGeom prst="rect">
              <a:avLst/>
            </a:prstGeom>
            <a:solidFill>
              <a:schemeClr val="fo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1255" name="Rectangle 12"/>
            <p:cNvSpPr>
              <a:spLocks noChangeArrowheads="1"/>
            </p:cNvSpPr>
            <p:nvPr/>
          </p:nvSpPr>
          <p:spPr bwMode="auto">
            <a:xfrm>
              <a:off x="158" y="2614"/>
              <a:ext cx="2087" cy="1542"/>
            </a:xfrm>
            <a:prstGeom prst="rect">
              <a:avLst/>
            </a:prstGeom>
            <a:solidFill>
              <a:schemeClr va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1256" name="Rectangle 7"/>
            <p:cNvSpPr>
              <a:spLocks noChangeArrowheads="1"/>
            </p:cNvSpPr>
            <p:nvPr/>
          </p:nvSpPr>
          <p:spPr bwMode="auto">
            <a:xfrm>
              <a:off x="315" y="2840"/>
              <a:ext cx="725" cy="817"/>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1257" name="Text Box 5"/>
            <p:cNvSpPr txBox="1">
              <a:spLocks noChangeArrowheads="1"/>
            </p:cNvSpPr>
            <p:nvPr/>
          </p:nvSpPr>
          <p:spPr bwMode="auto">
            <a:xfrm>
              <a:off x="431" y="2931"/>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RAM</a:t>
              </a:r>
            </a:p>
          </p:txBody>
        </p:sp>
        <p:sp>
          <p:nvSpPr>
            <p:cNvPr id="181258" name="Text Box 6"/>
            <p:cNvSpPr txBox="1">
              <a:spLocks noChangeArrowheads="1"/>
            </p:cNvSpPr>
            <p:nvPr/>
          </p:nvSpPr>
          <p:spPr bwMode="auto">
            <a:xfrm>
              <a:off x="385" y="3339"/>
              <a:ext cx="590" cy="256"/>
            </a:xfrm>
            <a:prstGeom prst="rect">
              <a:avLst/>
            </a:prstGeom>
            <a:solidFill>
              <a:srgbClr val="CC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CODE</a:t>
              </a:r>
            </a:p>
          </p:txBody>
        </p:sp>
        <p:sp>
          <p:nvSpPr>
            <p:cNvPr id="181259" name="Rectangle 8"/>
            <p:cNvSpPr>
              <a:spLocks noChangeArrowheads="1"/>
            </p:cNvSpPr>
            <p:nvPr/>
          </p:nvSpPr>
          <p:spPr bwMode="auto">
            <a:xfrm>
              <a:off x="1358" y="2840"/>
              <a:ext cx="725" cy="817"/>
            </a:xfrm>
            <a:prstGeom prst="rect">
              <a:avLst/>
            </a:prstGeom>
            <a:solidFill>
              <a:srgbClr val="FFFF99"/>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1260" name="Text Box 9"/>
            <p:cNvSpPr txBox="1">
              <a:spLocks noChangeArrowheads="1"/>
            </p:cNvSpPr>
            <p:nvPr/>
          </p:nvSpPr>
          <p:spPr bwMode="auto">
            <a:xfrm>
              <a:off x="1474" y="2931"/>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ROM</a:t>
              </a:r>
            </a:p>
          </p:txBody>
        </p:sp>
        <p:sp>
          <p:nvSpPr>
            <p:cNvPr id="181261" name="Text Box 10"/>
            <p:cNvSpPr txBox="1">
              <a:spLocks noChangeArrowheads="1"/>
            </p:cNvSpPr>
            <p:nvPr/>
          </p:nvSpPr>
          <p:spPr bwMode="auto">
            <a:xfrm>
              <a:off x="1428" y="3339"/>
              <a:ext cx="590" cy="256"/>
            </a:xfrm>
            <a:prstGeom prst="rect">
              <a:avLst/>
            </a:prstGeom>
            <a:solidFill>
              <a:srgbClr val="00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BOOT</a:t>
              </a:r>
            </a:p>
          </p:txBody>
        </p:sp>
        <p:sp>
          <p:nvSpPr>
            <p:cNvPr id="181262" name="Text Box 11"/>
            <p:cNvSpPr txBox="1">
              <a:spLocks noChangeArrowheads="1"/>
            </p:cNvSpPr>
            <p:nvPr/>
          </p:nvSpPr>
          <p:spPr bwMode="auto">
            <a:xfrm>
              <a:off x="793" y="3702"/>
              <a:ext cx="8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solidFill>
                    <a:srgbClr val="FF0000"/>
                  </a:solidFill>
                </a:rPr>
                <a:t>C54x</a:t>
              </a:r>
            </a:p>
          </p:txBody>
        </p:sp>
        <p:sp>
          <p:nvSpPr>
            <p:cNvPr id="181263" name="Text Box 13"/>
            <p:cNvSpPr txBox="1">
              <a:spLocks noChangeArrowheads="1"/>
            </p:cNvSpPr>
            <p:nvPr/>
          </p:nvSpPr>
          <p:spPr bwMode="auto">
            <a:xfrm>
              <a:off x="3198" y="2750"/>
              <a:ext cx="81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solidFill>
                    <a:schemeClr val="bg1"/>
                  </a:solidFill>
                </a:rPr>
                <a:t>EPROM</a:t>
              </a:r>
            </a:p>
            <a:p>
              <a:pPr algn="ctr" eaLnBrk="1" hangingPunct="1">
                <a:lnSpc>
                  <a:spcPct val="80000"/>
                </a:lnSpc>
              </a:pPr>
              <a:r>
                <a:rPr lang="en-US" altLang="zh-CN">
                  <a:solidFill>
                    <a:schemeClr val="bg1"/>
                  </a:solidFill>
                </a:rPr>
                <a:t>8k×8</a:t>
              </a:r>
            </a:p>
          </p:txBody>
        </p:sp>
        <p:sp>
          <p:nvSpPr>
            <p:cNvPr id="181264" name="Text Box 14"/>
            <p:cNvSpPr txBox="1">
              <a:spLocks noChangeArrowheads="1"/>
            </p:cNvSpPr>
            <p:nvPr/>
          </p:nvSpPr>
          <p:spPr bwMode="auto">
            <a:xfrm>
              <a:off x="3308" y="3294"/>
              <a:ext cx="590" cy="390"/>
            </a:xfrm>
            <a:prstGeom prst="rect">
              <a:avLst/>
            </a:prstGeom>
            <a:solidFill>
              <a:schemeClr val="tx2"/>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solidFill>
                    <a:srgbClr val="CCFFFF"/>
                  </a:solidFill>
                </a:rPr>
                <a:t>USER</a:t>
              </a:r>
            </a:p>
            <a:p>
              <a:pPr eaLnBrk="1" hangingPunct="1">
                <a:lnSpc>
                  <a:spcPct val="85000"/>
                </a:lnSpc>
              </a:pPr>
              <a:r>
                <a:rPr lang="en-US" altLang="zh-CN">
                  <a:solidFill>
                    <a:srgbClr val="CCFFFF"/>
                  </a:solidFill>
                </a:rPr>
                <a:t>CODE</a:t>
              </a:r>
            </a:p>
          </p:txBody>
        </p:sp>
        <p:sp>
          <p:nvSpPr>
            <p:cNvPr id="181265" name="Line 16"/>
            <p:cNvSpPr>
              <a:spLocks noChangeShapeType="1"/>
            </p:cNvSpPr>
            <p:nvPr/>
          </p:nvSpPr>
          <p:spPr bwMode="auto">
            <a:xfrm>
              <a:off x="2245" y="3203"/>
              <a:ext cx="816" cy="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1266" name="Line 17"/>
            <p:cNvSpPr>
              <a:spLocks noChangeShapeType="1"/>
            </p:cNvSpPr>
            <p:nvPr/>
          </p:nvSpPr>
          <p:spPr bwMode="auto">
            <a:xfrm flipV="1">
              <a:off x="2245" y="3929"/>
              <a:ext cx="2404" cy="0"/>
            </a:xfrm>
            <a:prstGeom prst="line">
              <a:avLst/>
            </a:prstGeom>
            <a:noFill/>
            <a:ln w="5715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1267" name="Line 18"/>
            <p:cNvSpPr>
              <a:spLocks noChangeShapeType="1"/>
            </p:cNvSpPr>
            <p:nvPr/>
          </p:nvSpPr>
          <p:spPr bwMode="auto">
            <a:xfrm>
              <a:off x="4150" y="3203"/>
              <a:ext cx="499" cy="0"/>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1268" name="Line 19"/>
            <p:cNvSpPr>
              <a:spLocks noChangeShapeType="1"/>
            </p:cNvSpPr>
            <p:nvPr/>
          </p:nvSpPr>
          <p:spPr bwMode="auto">
            <a:xfrm>
              <a:off x="4649" y="3193"/>
              <a:ext cx="0" cy="726"/>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1269" name="Line 20"/>
            <p:cNvSpPr>
              <a:spLocks noChangeShapeType="1"/>
            </p:cNvSpPr>
            <p:nvPr/>
          </p:nvSpPr>
          <p:spPr bwMode="auto">
            <a:xfrm flipH="1">
              <a:off x="2562" y="3133"/>
              <a:ext cx="136" cy="13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1270" name="Line 21"/>
            <p:cNvSpPr>
              <a:spLocks noChangeShapeType="1"/>
            </p:cNvSpPr>
            <p:nvPr/>
          </p:nvSpPr>
          <p:spPr bwMode="auto">
            <a:xfrm flipH="1">
              <a:off x="2567" y="3858"/>
              <a:ext cx="136" cy="13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1271" name="Text Box 22"/>
            <p:cNvSpPr txBox="1">
              <a:spLocks noChangeArrowheads="1"/>
            </p:cNvSpPr>
            <p:nvPr/>
          </p:nvSpPr>
          <p:spPr bwMode="auto">
            <a:xfrm>
              <a:off x="2517" y="3294"/>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A</a:t>
              </a:r>
            </a:p>
          </p:txBody>
        </p:sp>
        <p:sp>
          <p:nvSpPr>
            <p:cNvPr id="181272" name="Text Box 23"/>
            <p:cNvSpPr txBox="1">
              <a:spLocks noChangeArrowheads="1"/>
            </p:cNvSpPr>
            <p:nvPr/>
          </p:nvSpPr>
          <p:spPr bwMode="auto">
            <a:xfrm>
              <a:off x="2562" y="3974"/>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8</a:t>
              </a:r>
            </a:p>
          </p:txBody>
        </p:sp>
      </p:gr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870DD626-9E35-4A4F-B773-B5DF0F91C33D}" type="slidenum">
              <a:rPr lang="en-US" altLang="zh-CN" sz="1400" b="0"/>
              <a:pPr eaLnBrk="1" hangingPunct="1"/>
              <a:t>174</a:t>
            </a:fld>
            <a:endParaRPr lang="en-US" altLang="zh-CN" sz="1400" b="0"/>
          </a:p>
        </p:txBody>
      </p:sp>
      <p:sp>
        <p:nvSpPr>
          <p:cNvPr id="182275" name="Rectangle 66"/>
          <p:cNvSpPr>
            <a:spLocks noChangeArrowheads="1"/>
          </p:cNvSpPr>
          <p:nvPr/>
        </p:nvSpPr>
        <p:spPr bwMode="auto">
          <a:xfrm>
            <a:off x="1547813" y="987425"/>
            <a:ext cx="6051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00FF"/>
                </a:solidFill>
                <a:latin typeface="宋体" panose="02010600030101010101" pitchFamily="2" charset="-122"/>
              </a:rPr>
              <a:t>表</a:t>
            </a:r>
            <a:r>
              <a:rPr lang="en-US" altLang="zh-CN" sz="2800">
                <a:solidFill>
                  <a:srgbClr val="FF00FF"/>
                </a:solidFill>
                <a:latin typeface="宋体" panose="02010600030101010101" pitchFamily="2" charset="-122"/>
              </a:rPr>
              <a:t>2-27  EPROM</a:t>
            </a:r>
            <a:r>
              <a:rPr lang="zh-CN" altLang="en-US" sz="2800">
                <a:solidFill>
                  <a:srgbClr val="FF00FF"/>
                </a:solidFill>
                <a:latin typeface="宋体" panose="02010600030101010101" pitchFamily="2" charset="-122"/>
              </a:rPr>
              <a:t>中的自举表包含的信息</a:t>
            </a:r>
          </a:p>
        </p:txBody>
      </p:sp>
      <p:graphicFrame>
        <p:nvGraphicFramePr>
          <p:cNvPr id="688256" name="Group 128"/>
          <p:cNvGraphicFramePr>
            <a:graphicFrameLocks noGrp="1"/>
          </p:cNvGraphicFramePr>
          <p:nvPr/>
        </p:nvGraphicFramePr>
        <p:xfrm>
          <a:off x="303213" y="1517650"/>
          <a:ext cx="8496300" cy="5181600"/>
        </p:xfrm>
        <a:graphic>
          <a:graphicData uri="http://schemas.openxmlformats.org/drawingml/2006/table">
            <a:tbl>
              <a:tblPr/>
              <a:tblGrid>
                <a:gridCol w="4994275">
                  <a:extLst>
                    <a:ext uri="{9D8B030D-6E8A-4147-A177-3AD203B41FA5}">
                      <a16:colId xmlns:a16="http://schemas.microsoft.com/office/drawing/2014/main" val="20000"/>
                    </a:ext>
                  </a:extLst>
                </a:gridCol>
                <a:gridCol w="3502025">
                  <a:extLst>
                    <a:ext uri="{9D8B030D-6E8A-4147-A177-3AD203B41FA5}">
                      <a16:colId xmlns:a16="http://schemas.microsoft.com/office/drawing/2014/main" val="20001"/>
                    </a:ext>
                  </a:extLst>
                </a:gridCol>
              </a:tblGrid>
              <a:tr h="406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itchFamily="18" charset="0"/>
                          <a:ea typeface="宋体" pitchFamily="2" charset="-122"/>
                        </a:rPr>
                        <a:t>8</a:t>
                      </a:r>
                      <a:r>
                        <a:rPr kumimoji="1" lang="zh-CN" altLang="en-US" sz="2800" b="1" i="0" u="none" strike="noStrike" cap="none" normalizeH="0" baseline="0">
                          <a:ln>
                            <a:noFill/>
                          </a:ln>
                          <a:solidFill>
                            <a:schemeClr val="tx1"/>
                          </a:solidFill>
                          <a:effectLst/>
                          <a:latin typeface="Times New Roman" pitchFamily="18" charset="0"/>
                          <a:ea typeface="宋体" pitchFamily="2" charset="-122"/>
                        </a:rPr>
                        <a:t>位方式</a:t>
                      </a:r>
                      <a:endParaRPr kumimoji="1" lang="zh-CN" altLang="en-US"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itchFamily="18" charset="0"/>
                          <a:ea typeface="宋体" pitchFamily="2" charset="-122"/>
                        </a:rPr>
                        <a:t>16</a:t>
                      </a:r>
                      <a:r>
                        <a:rPr kumimoji="1" lang="zh-CN" altLang="en-US" sz="2800" b="1" i="0" u="none" strike="noStrike" cap="none" normalizeH="0" baseline="0">
                          <a:ln>
                            <a:noFill/>
                          </a:ln>
                          <a:solidFill>
                            <a:schemeClr val="tx1"/>
                          </a:solidFill>
                          <a:effectLst/>
                          <a:latin typeface="Times New Roman" pitchFamily="18" charset="0"/>
                          <a:ea typeface="宋体" pitchFamily="2" charset="-122"/>
                        </a:rPr>
                        <a:t>位方式</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目的地址（高字节）</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目的地址</a:t>
                      </a:r>
                      <a:endParaRPr kumimoji="1" lang="zh-CN" altLang="en-US"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目的地址（低字节）</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程序代码长度</a:t>
                      </a:r>
                      <a:r>
                        <a:rPr kumimoji="1" lang="en-US" altLang="zh-CN" sz="2800" b="1" i="0" u="none" strike="noStrike" cap="none" normalizeH="0" baseline="0">
                          <a:ln>
                            <a:noFill/>
                          </a:ln>
                          <a:solidFill>
                            <a:schemeClr val="tx1"/>
                          </a:solidFill>
                          <a:effectLst/>
                          <a:latin typeface="Times New Roman" pitchFamily="18" charset="0"/>
                          <a:ea typeface="宋体" pitchFamily="2" charset="-122"/>
                        </a:rPr>
                        <a:t>=N-1</a:t>
                      </a:r>
                      <a:r>
                        <a:rPr kumimoji="1" lang="zh-CN" altLang="en-US" sz="2800" b="1" i="0" u="none" strike="noStrike" cap="none" normalizeH="0" baseline="0">
                          <a:ln>
                            <a:noFill/>
                          </a:ln>
                          <a:solidFill>
                            <a:schemeClr val="tx1"/>
                          </a:solidFill>
                          <a:effectLst/>
                          <a:latin typeface="Times New Roman" pitchFamily="18" charset="0"/>
                          <a:ea typeface="宋体" pitchFamily="2" charset="-122"/>
                        </a:rPr>
                        <a:t>（高字节）</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程序代码长度</a:t>
                      </a:r>
                      <a:r>
                        <a:rPr kumimoji="1" lang="en-US" altLang="zh-CN" sz="2800" b="1" i="0" u="none" strike="noStrike" cap="none" normalizeH="0" baseline="0">
                          <a:ln>
                            <a:noFill/>
                          </a:ln>
                          <a:solidFill>
                            <a:schemeClr val="tx1"/>
                          </a:solidFill>
                          <a:effectLst/>
                          <a:latin typeface="Times New Roman" pitchFamily="18" charset="0"/>
                          <a:ea typeface="宋体" pitchFamily="2" charset="-122"/>
                        </a:rPr>
                        <a:t>=N-1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程序代码长度</a:t>
                      </a:r>
                      <a:r>
                        <a:rPr kumimoji="1" lang="en-US" altLang="zh-CN" sz="2800" b="1" i="0" u="none" strike="noStrike" cap="none" normalizeH="0" baseline="0">
                          <a:ln>
                            <a:noFill/>
                          </a:ln>
                          <a:solidFill>
                            <a:schemeClr val="tx1"/>
                          </a:solidFill>
                          <a:effectLst/>
                          <a:latin typeface="Times New Roman" pitchFamily="18" charset="0"/>
                          <a:ea typeface="宋体" pitchFamily="2" charset="-122"/>
                        </a:rPr>
                        <a:t>=N-1</a:t>
                      </a:r>
                      <a:r>
                        <a:rPr kumimoji="1" lang="zh-CN" altLang="en-US" sz="2800" b="1" i="0" u="none" strike="noStrike" cap="none" normalizeH="0" baseline="0">
                          <a:ln>
                            <a:noFill/>
                          </a:ln>
                          <a:solidFill>
                            <a:schemeClr val="tx1"/>
                          </a:solidFill>
                          <a:effectLst/>
                          <a:latin typeface="Times New Roman" pitchFamily="18" charset="0"/>
                          <a:ea typeface="宋体" pitchFamily="2" charset="-122"/>
                        </a:rPr>
                        <a:t>（低字节）</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程序代码字</a:t>
                      </a:r>
                      <a:r>
                        <a:rPr kumimoji="1" lang="en-US" altLang="zh-CN" sz="2800" b="1" i="0" u="none" strike="noStrike" cap="none" normalizeH="0" baseline="0">
                          <a:ln>
                            <a:noFill/>
                          </a:ln>
                          <a:solidFill>
                            <a:schemeClr val="tx1"/>
                          </a:solidFill>
                          <a:effectLst/>
                          <a:latin typeface="Times New Roman" pitchFamily="18" charset="0"/>
                          <a:ea typeface="宋体" pitchFamily="2" charset="-122"/>
                        </a:rPr>
                        <a:t>1</a:t>
                      </a:r>
                      <a:r>
                        <a:rPr kumimoji="1" lang="zh-CN" altLang="en-US" sz="2800" b="1" i="0" u="none" strike="noStrike" cap="none" normalizeH="0" baseline="0">
                          <a:ln>
                            <a:noFill/>
                          </a:ln>
                          <a:solidFill>
                            <a:schemeClr val="tx1"/>
                          </a:solidFill>
                          <a:effectLst/>
                          <a:latin typeface="Times New Roman" pitchFamily="18" charset="0"/>
                          <a:ea typeface="宋体" pitchFamily="2" charset="-122"/>
                        </a:rPr>
                        <a:t>（高字节）</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程序代码字</a:t>
                      </a:r>
                      <a:r>
                        <a:rPr kumimoji="1" lang="en-US" altLang="zh-CN" sz="2800" b="1" i="0" u="none" strike="noStrike" cap="none" normalizeH="0" baseline="0">
                          <a:ln>
                            <a:noFill/>
                          </a:ln>
                          <a:solidFill>
                            <a:schemeClr val="tx1"/>
                          </a:solidFill>
                          <a:effectLst/>
                          <a:latin typeface="Times New Roman" pitchFamily="18" charset="0"/>
                          <a:ea typeface="宋体" pitchFamily="2" charset="-122"/>
                        </a:rPr>
                        <a:t>1</a:t>
                      </a:r>
                      <a:endParaRPr kumimoji="1" lang="en-US" altLang="zh-CN"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程序代码字</a:t>
                      </a:r>
                      <a:r>
                        <a:rPr kumimoji="1" lang="en-US" altLang="zh-CN" sz="2800" b="1" i="0" u="none" strike="noStrike" cap="none" normalizeH="0" baseline="0">
                          <a:ln>
                            <a:noFill/>
                          </a:ln>
                          <a:solidFill>
                            <a:schemeClr val="tx1"/>
                          </a:solidFill>
                          <a:effectLst/>
                          <a:latin typeface="Times New Roman" pitchFamily="18" charset="0"/>
                          <a:ea typeface="宋体" pitchFamily="2" charset="-122"/>
                        </a:rPr>
                        <a:t>1</a:t>
                      </a:r>
                      <a:r>
                        <a:rPr kumimoji="1" lang="zh-CN" altLang="en-US" sz="2800" b="1" i="0" u="none" strike="noStrike" cap="none" normalizeH="0" baseline="0">
                          <a:ln>
                            <a:noFill/>
                          </a:ln>
                          <a:solidFill>
                            <a:schemeClr val="tx1"/>
                          </a:solidFill>
                          <a:effectLst/>
                          <a:latin typeface="Times New Roman" pitchFamily="18" charset="0"/>
                          <a:ea typeface="宋体" pitchFamily="2" charset="-122"/>
                        </a:rPr>
                        <a:t>（低字节）</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itchFamily="18" charset="0"/>
                          <a:ea typeface="宋体" pitchFamily="2" charset="-122"/>
                        </a:rPr>
                        <a:t>…</a:t>
                      </a:r>
                      <a:endParaRPr kumimoji="1" lang="en-US" altLang="zh-CN"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itchFamily="18" charset="0"/>
                          <a:ea typeface="宋体" pitchFamily="2" charset="-122"/>
                        </a:rPr>
                        <a:t>…</a:t>
                      </a:r>
                      <a:endParaRPr kumimoji="1" lang="en-US" altLang="zh-CN"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程序代码字</a:t>
                      </a:r>
                      <a:r>
                        <a:rPr kumimoji="1" lang="en-US" altLang="zh-CN" sz="2800" b="1" i="0" u="none" strike="noStrike" cap="none" normalizeH="0" baseline="0">
                          <a:ln>
                            <a:noFill/>
                          </a:ln>
                          <a:solidFill>
                            <a:schemeClr val="tx1"/>
                          </a:solidFill>
                          <a:effectLst/>
                          <a:latin typeface="Times New Roman" pitchFamily="18" charset="0"/>
                          <a:ea typeface="宋体" pitchFamily="2" charset="-122"/>
                        </a:rPr>
                        <a:t>N</a:t>
                      </a:r>
                      <a:r>
                        <a:rPr kumimoji="1" lang="zh-CN" altLang="en-US" sz="2800" b="1" i="0" u="none" strike="noStrike" cap="none" normalizeH="0" baseline="0">
                          <a:ln>
                            <a:noFill/>
                          </a:ln>
                          <a:solidFill>
                            <a:schemeClr val="tx1"/>
                          </a:solidFill>
                          <a:effectLst/>
                          <a:latin typeface="Times New Roman" pitchFamily="18" charset="0"/>
                          <a:ea typeface="宋体" pitchFamily="2" charset="-122"/>
                        </a:rPr>
                        <a:t>（高字节）</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程序代码字</a:t>
                      </a:r>
                      <a:r>
                        <a:rPr kumimoji="1" lang="en-US" altLang="zh-CN" sz="2800" b="1" i="0" u="none" strike="noStrike" cap="none" normalizeH="0" baseline="0">
                          <a:ln>
                            <a:noFill/>
                          </a:ln>
                          <a:solidFill>
                            <a:schemeClr val="tx1"/>
                          </a:solidFill>
                          <a:effectLst/>
                          <a:latin typeface="Times New Roman" pitchFamily="18" charset="0"/>
                          <a:ea typeface="宋体" pitchFamily="2" charset="-122"/>
                        </a:rPr>
                        <a:t>N</a:t>
                      </a:r>
                      <a:endParaRPr kumimoji="1" lang="en-US" altLang="zh-CN"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pitchFamily="2" charset="-122"/>
                        </a:rPr>
                        <a:t>程序代码字</a:t>
                      </a:r>
                      <a:r>
                        <a:rPr kumimoji="1" lang="en-US" altLang="zh-CN" sz="2800" b="1" i="0" u="none" strike="noStrike" cap="none" normalizeH="0" baseline="0">
                          <a:ln>
                            <a:noFill/>
                          </a:ln>
                          <a:solidFill>
                            <a:schemeClr val="tx1"/>
                          </a:solidFill>
                          <a:effectLst/>
                          <a:latin typeface="Times New Roman" pitchFamily="18" charset="0"/>
                          <a:ea typeface="宋体" pitchFamily="2" charset="-122"/>
                        </a:rPr>
                        <a:t>N</a:t>
                      </a:r>
                      <a:r>
                        <a:rPr kumimoji="1" lang="zh-CN" altLang="en-US" sz="2800" b="1" i="0" u="none" strike="noStrike" cap="none" normalizeH="0" baseline="0">
                          <a:ln>
                            <a:noFill/>
                          </a:ln>
                          <a:solidFill>
                            <a:schemeClr val="tx1"/>
                          </a:solidFill>
                          <a:effectLst/>
                          <a:latin typeface="Times New Roman" pitchFamily="18" charset="0"/>
                          <a:ea typeface="宋体" pitchFamily="2" charset="-122"/>
                        </a:rPr>
                        <a:t>（低字节）</a:t>
                      </a:r>
                      <a:endParaRPr kumimoji="1" lang="zh-CN" altLang="en-US"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A24A4748-A02B-408A-824E-49C1F015D8F6}" type="slidenum">
              <a:rPr lang="en-US" altLang="zh-CN" sz="1400" b="0"/>
              <a:pPr eaLnBrk="1" hangingPunct="1"/>
              <a:t>175</a:t>
            </a:fld>
            <a:endParaRPr lang="en-US" altLang="zh-CN" sz="1400" b="0"/>
          </a:p>
        </p:txBody>
      </p:sp>
      <p:sp>
        <p:nvSpPr>
          <p:cNvPr id="183299" name="Rectangle 2" descr="小棋盘"/>
          <p:cNvSpPr>
            <a:spLocks noChangeArrowheads="1"/>
          </p:cNvSpPr>
          <p:nvPr/>
        </p:nvSpPr>
        <p:spPr bwMode="auto">
          <a:xfrm>
            <a:off x="3200400" y="1066800"/>
            <a:ext cx="1793875" cy="528638"/>
          </a:xfrm>
          <a:prstGeom prst="rect">
            <a:avLst/>
          </a:prstGeom>
          <a:pattFill prst="smCheck">
            <a:fgClr>
              <a:srgbClr val="FFFF00"/>
            </a:fgClr>
            <a:bgClr>
              <a:srgbClr val="FFFFFF"/>
            </a:bgClr>
          </a:pattFill>
          <a:ln w="9525">
            <a:solidFill>
              <a:srgbClr val="CC3300"/>
            </a:solidFill>
            <a:miter lim="800000"/>
            <a:headEnd/>
            <a:tailEnd/>
          </a:ln>
        </p:spPr>
        <p:txBody>
          <a:bodyPr wrap="none">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6600"/>
                </a:solidFill>
                <a:latin typeface="宋体" panose="02010600030101010101" pitchFamily="2" charset="-122"/>
              </a:rPr>
              <a:t>(2)</a:t>
            </a:r>
            <a:r>
              <a:rPr lang="zh-CN" altLang="en-US" sz="2800">
                <a:solidFill>
                  <a:srgbClr val="006600"/>
                </a:solidFill>
                <a:latin typeface="宋体" panose="02010600030101010101" pitchFamily="2" charset="-122"/>
              </a:rPr>
              <a:t>热自举</a:t>
            </a:r>
          </a:p>
        </p:txBody>
      </p:sp>
      <p:sp>
        <p:nvSpPr>
          <p:cNvPr id="183300" name="Rectangle 3"/>
          <p:cNvSpPr>
            <a:spLocks noChangeArrowheads="1"/>
          </p:cNvSpPr>
          <p:nvPr/>
        </p:nvSpPr>
        <p:spPr bwMode="auto">
          <a:xfrm>
            <a:off x="304800" y="1676400"/>
            <a:ext cx="8534400" cy="239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30000"/>
              </a:spcBef>
            </a:pPr>
            <a:r>
              <a:rPr lang="zh-CN" altLang="en-US" sz="2800">
                <a:solidFill>
                  <a:srgbClr val="FF00FF"/>
                </a:solidFill>
                <a:latin typeface="宋体" panose="02010600030101010101" pitchFamily="2" charset="-122"/>
              </a:rPr>
              <a:t>热自举方式是在</a:t>
            </a:r>
            <a:r>
              <a:rPr lang="en-US" altLang="zh-CN" sz="2800">
                <a:solidFill>
                  <a:srgbClr val="FF00FF"/>
                </a:solidFill>
                <a:latin typeface="宋体" panose="02010600030101010101" pitchFamily="2" charset="-122"/>
              </a:rPr>
              <a:t>RESET</a:t>
            </a:r>
            <a:r>
              <a:rPr lang="zh-CN" altLang="en-US" sz="2800">
                <a:solidFill>
                  <a:srgbClr val="FF00FF"/>
                </a:solidFill>
                <a:latin typeface="宋体" panose="02010600030101010101" pitchFamily="2" charset="-122"/>
              </a:rPr>
              <a:t>信号临近释放时，按照用户定义的地址，改变</a:t>
            </a:r>
            <a:r>
              <a:rPr lang="en-US" altLang="zh-CN" sz="2800">
                <a:solidFill>
                  <a:srgbClr val="FF00FF"/>
                </a:solidFill>
                <a:latin typeface="宋体" panose="02010600030101010101" pitchFamily="2" charset="-122"/>
              </a:rPr>
              <a:t>C54x</a:t>
            </a:r>
            <a:r>
              <a:rPr lang="zh-CN" altLang="en-US" sz="2800">
                <a:solidFill>
                  <a:srgbClr val="FF00FF"/>
                </a:solidFill>
                <a:latin typeface="宋体" panose="02010600030101010101" pitchFamily="2" charset="-122"/>
              </a:rPr>
              <a:t>的程序执行方向。</a:t>
            </a:r>
          </a:p>
          <a:p>
            <a:pPr eaLnBrk="1" hangingPunct="1">
              <a:lnSpc>
                <a:spcPct val="80000"/>
              </a:lnSpc>
              <a:spcBef>
                <a:spcPct val="30000"/>
              </a:spcBef>
            </a:pPr>
            <a:r>
              <a:rPr lang="zh-CN" altLang="en-US" sz="2800">
                <a:latin typeface="宋体" panose="02010600030101010101" pitchFamily="2" charset="-122"/>
              </a:rPr>
              <a:t>热自举方式并不传送自举表，而是指示</a:t>
            </a:r>
            <a:r>
              <a:rPr lang="en-US" altLang="zh-CN" sz="2800">
                <a:latin typeface="宋体" panose="02010600030101010101" pitchFamily="2" charset="-122"/>
              </a:rPr>
              <a:t>C54x</a:t>
            </a:r>
            <a:r>
              <a:rPr lang="zh-CN" altLang="en-US" sz="2800">
                <a:latin typeface="宋体" panose="02010600030101010101" pitchFamily="2" charset="-122"/>
              </a:rPr>
              <a:t>按照自举加载器程序读入的</a:t>
            </a:r>
            <a:r>
              <a:rPr lang="en-US" altLang="zh-CN" sz="2800">
                <a:latin typeface="宋体" panose="02010600030101010101" pitchFamily="2" charset="-122"/>
              </a:rPr>
              <a:t>BRS</a:t>
            </a:r>
            <a:r>
              <a:rPr lang="zh-CN" altLang="en-US" sz="2800">
                <a:latin typeface="宋体" panose="02010600030101010101" pitchFamily="2" charset="-122"/>
              </a:rPr>
              <a:t>中所规定的地址开始执行。</a:t>
            </a:r>
          </a:p>
          <a:p>
            <a:pPr eaLnBrk="1" hangingPunct="1">
              <a:lnSpc>
                <a:spcPct val="80000"/>
              </a:lnSpc>
              <a:spcBef>
                <a:spcPct val="30000"/>
              </a:spcBef>
            </a:pPr>
            <a:r>
              <a:rPr lang="zh-CN" altLang="en-US" sz="2800">
                <a:solidFill>
                  <a:schemeClr val="tx2"/>
                </a:solidFill>
                <a:latin typeface="宋体" panose="02010600030101010101" pitchFamily="2" charset="-122"/>
              </a:rPr>
              <a:t>热自举时，</a:t>
            </a:r>
            <a:r>
              <a:rPr lang="en-US" altLang="zh-CN" sz="2800">
                <a:solidFill>
                  <a:schemeClr val="tx2"/>
                </a:solidFill>
                <a:latin typeface="宋体" panose="02010600030101010101" pitchFamily="2" charset="-122"/>
              </a:rPr>
              <a:t>C54x</a:t>
            </a:r>
            <a:r>
              <a:rPr lang="zh-CN" altLang="en-US" sz="2800">
                <a:solidFill>
                  <a:schemeClr val="tx2"/>
                </a:solidFill>
                <a:latin typeface="宋体" panose="02010600030101010101" pitchFamily="2" charset="-122"/>
              </a:rPr>
              <a:t>程序计数器</a:t>
            </a:r>
            <a:r>
              <a:rPr lang="en-US" altLang="zh-CN" sz="2800">
                <a:solidFill>
                  <a:schemeClr val="tx2"/>
                </a:solidFill>
                <a:latin typeface="宋体" panose="02010600030101010101" pitchFamily="2" charset="-122"/>
              </a:rPr>
              <a:t>PC</a:t>
            </a:r>
            <a:r>
              <a:rPr lang="zh-CN" altLang="en-US" sz="2800">
                <a:solidFill>
                  <a:schemeClr val="tx2"/>
                </a:solidFill>
                <a:latin typeface="宋体" panose="02010600030101010101" pitchFamily="2" charset="-122"/>
              </a:rPr>
              <a:t>等于</a:t>
            </a:r>
            <a:r>
              <a:rPr lang="en-US" altLang="zh-CN" sz="2800">
                <a:solidFill>
                  <a:schemeClr val="tx2"/>
                </a:solidFill>
                <a:latin typeface="宋体" panose="02010600030101010101" pitchFamily="2" charset="-122"/>
              </a:rPr>
              <a:t>BRS</a:t>
            </a:r>
            <a:r>
              <a:rPr lang="zh-CN" altLang="en-US" sz="2800">
                <a:solidFill>
                  <a:schemeClr val="tx2"/>
                </a:solidFill>
                <a:latin typeface="宋体" panose="02010600030101010101" pitchFamily="2" charset="-122"/>
              </a:rPr>
              <a:t>中的</a:t>
            </a:r>
            <a:r>
              <a:rPr lang="en-US" altLang="zh-CN" sz="2800">
                <a:solidFill>
                  <a:schemeClr val="tx2"/>
                </a:solidFill>
                <a:latin typeface="宋体" panose="02010600030101010101" pitchFamily="2" charset="-122"/>
              </a:rPr>
              <a:t>7</a:t>
            </a:r>
            <a:r>
              <a:rPr lang="zh-CN" altLang="en-US" sz="2800">
                <a:solidFill>
                  <a:schemeClr val="tx2"/>
                </a:solidFill>
                <a:latin typeface="宋体" panose="02010600030101010101" pitchFamily="2" charset="-122"/>
              </a:rPr>
              <a:t>～</a:t>
            </a:r>
            <a:r>
              <a:rPr lang="en-US" altLang="zh-CN" sz="2800">
                <a:solidFill>
                  <a:schemeClr val="tx2"/>
                </a:solidFill>
                <a:latin typeface="宋体" panose="02010600030101010101" pitchFamily="2" charset="-122"/>
              </a:rPr>
              <a:t>2</a:t>
            </a:r>
            <a:r>
              <a:rPr lang="zh-CN" altLang="en-US" sz="2800">
                <a:solidFill>
                  <a:schemeClr val="tx2"/>
                </a:solidFill>
                <a:latin typeface="宋体" panose="02010600030101010101" pitchFamily="2" charset="-122"/>
              </a:rPr>
              <a:t>位，再加上低</a:t>
            </a:r>
            <a:r>
              <a:rPr lang="en-US" altLang="zh-CN" sz="2800">
                <a:solidFill>
                  <a:schemeClr val="tx2"/>
                </a:solidFill>
                <a:latin typeface="宋体" panose="02010600030101010101" pitchFamily="2" charset="-122"/>
              </a:rPr>
              <a:t>10</a:t>
            </a:r>
            <a:r>
              <a:rPr lang="zh-CN" altLang="en-US" sz="2800">
                <a:solidFill>
                  <a:schemeClr val="tx2"/>
                </a:solidFill>
                <a:latin typeface="宋体" panose="02010600030101010101" pitchFamily="2" charset="-122"/>
              </a:rPr>
              <a:t>位（全</a:t>
            </a:r>
            <a:r>
              <a:rPr lang="en-US" altLang="zh-CN" sz="2800">
                <a:solidFill>
                  <a:schemeClr val="tx2"/>
                </a:solidFill>
                <a:latin typeface="宋体" panose="02010600030101010101" pitchFamily="2" charset="-122"/>
              </a:rPr>
              <a:t>0</a:t>
            </a:r>
            <a:r>
              <a:rPr lang="zh-CN" altLang="en-US" sz="2800">
                <a:solidFill>
                  <a:schemeClr val="tx2"/>
                </a:solidFill>
                <a:latin typeface="宋体" panose="02010600030101010101" pitchFamily="2" charset="-122"/>
              </a:rPr>
              <a:t>）。</a:t>
            </a:r>
            <a:endParaRPr lang="zh-CN" altLang="en-US" sz="2800">
              <a:solidFill>
                <a:schemeClr val="tx2"/>
              </a:solidFill>
            </a:endParaRPr>
          </a:p>
        </p:txBody>
      </p:sp>
      <p:grpSp>
        <p:nvGrpSpPr>
          <p:cNvPr id="183301" name="Group 38"/>
          <p:cNvGrpSpPr>
            <a:grpSpLocks/>
          </p:cNvGrpSpPr>
          <p:nvPr/>
        </p:nvGrpSpPr>
        <p:grpSpPr bwMode="auto">
          <a:xfrm>
            <a:off x="827088" y="4076700"/>
            <a:ext cx="7705725" cy="2670175"/>
            <a:chOff x="521" y="2568"/>
            <a:chExt cx="4854" cy="1682"/>
          </a:xfrm>
        </p:grpSpPr>
        <p:sp>
          <p:nvSpPr>
            <p:cNvPr id="183302" name="Rectangle 7"/>
            <p:cNvSpPr>
              <a:spLocks noChangeArrowheads="1"/>
            </p:cNvSpPr>
            <p:nvPr/>
          </p:nvSpPr>
          <p:spPr bwMode="auto">
            <a:xfrm>
              <a:off x="521" y="2568"/>
              <a:ext cx="2087" cy="1682"/>
            </a:xfrm>
            <a:prstGeom prst="rect">
              <a:avLst/>
            </a:prstGeom>
            <a:solidFill>
              <a:schemeClr va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3303" name="Rectangle 8"/>
            <p:cNvSpPr>
              <a:spLocks noChangeArrowheads="1"/>
            </p:cNvSpPr>
            <p:nvPr/>
          </p:nvSpPr>
          <p:spPr bwMode="auto">
            <a:xfrm>
              <a:off x="678" y="2614"/>
              <a:ext cx="725" cy="817"/>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3304" name="Text Box 9"/>
            <p:cNvSpPr txBox="1">
              <a:spLocks noChangeArrowheads="1"/>
            </p:cNvSpPr>
            <p:nvPr/>
          </p:nvSpPr>
          <p:spPr bwMode="auto">
            <a:xfrm>
              <a:off x="794" y="2705"/>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RAM</a:t>
              </a:r>
            </a:p>
          </p:txBody>
        </p:sp>
        <p:sp>
          <p:nvSpPr>
            <p:cNvPr id="183305" name="Text Box 10"/>
            <p:cNvSpPr txBox="1">
              <a:spLocks noChangeArrowheads="1"/>
            </p:cNvSpPr>
            <p:nvPr/>
          </p:nvSpPr>
          <p:spPr bwMode="auto">
            <a:xfrm>
              <a:off x="748" y="3113"/>
              <a:ext cx="590" cy="256"/>
            </a:xfrm>
            <a:prstGeom prst="rect">
              <a:avLst/>
            </a:prstGeom>
            <a:solidFill>
              <a:srgbClr val="CC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CODE</a:t>
              </a:r>
            </a:p>
          </p:txBody>
        </p:sp>
        <p:sp>
          <p:nvSpPr>
            <p:cNvPr id="183306" name="Rectangle 11"/>
            <p:cNvSpPr>
              <a:spLocks noChangeArrowheads="1"/>
            </p:cNvSpPr>
            <p:nvPr/>
          </p:nvSpPr>
          <p:spPr bwMode="auto">
            <a:xfrm>
              <a:off x="1721" y="2614"/>
              <a:ext cx="725" cy="817"/>
            </a:xfrm>
            <a:prstGeom prst="rect">
              <a:avLst/>
            </a:prstGeom>
            <a:solidFill>
              <a:srgbClr val="FFFF99"/>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3307" name="Text Box 12"/>
            <p:cNvSpPr txBox="1">
              <a:spLocks noChangeArrowheads="1"/>
            </p:cNvSpPr>
            <p:nvPr/>
          </p:nvSpPr>
          <p:spPr bwMode="auto">
            <a:xfrm>
              <a:off x="1837" y="2705"/>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ROM</a:t>
              </a:r>
            </a:p>
          </p:txBody>
        </p:sp>
        <p:sp>
          <p:nvSpPr>
            <p:cNvPr id="183308" name="Text Box 13"/>
            <p:cNvSpPr txBox="1">
              <a:spLocks noChangeArrowheads="1"/>
            </p:cNvSpPr>
            <p:nvPr/>
          </p:nvSpPr>
          <p:spPr bwMode="auto">
            <a:xfrm>
              <a:off x="1791" y="3113"/>
              <a:ext cx="590" cy="256"/>
            </a:xfrm>
            <a:prstGeom prst="rect">
              <a:avLst/>
            </a:prstGeom>
            <a:solidFill>
              <a:srgbClr val="00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BOOT</a:t>
              </a:r>
            </a:p>
          </p:txBody>
        </p:sp>
        <p:sp>
          <p:nvSpPr>
            <p:cNvPr id="183309" name="Text Box 14"/>
            <p:cNvSpPr txBox="1">
              <a:spLocks noChangeArrowheads="1"/>
            </p:cNvSpPr>
            <p:nvPr/>
          </p:nvSpPr>
          <p:spPr bwMode="auto">
            <a:xfrm>
              <a:off x="1156" y="3421"/>
              <a:ext cx="8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solidFill>
                    <a:srgbClr val="FF0000"/>
                  </a:solidFill>
                </a:rPr>
                <a:t>C54x</a:t>
              </a:r>
            </a:p>
          </p:txBody>
        </p:sp>
        <p:sp>
          <p:nvSpPr>
            <p:cNvPr id="183310" name="Text Box 16"/>
            <p:cNvSpPr txBox="1">
              <a:spLocks noChangeArrowheads="1"/>
            </p:cNvSpPr>
            <p:nvPr/>
          </p:nvSpPr>
          <p:spPr bwMode="auto">
            <a:xfrm>
              <a:off x="3560" y="3158"/>
              <a:ext cx="772" cy="227"/>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t>xxxxxxxx</a:t>
              </a:r>
            </a:p>
          </p:txBody>
        </p:sp>
        <p:sp>
          <p:nvSpPr>
            <p:cNvPr id="183311" name="Line 17"/>
            <p:cNvSpPr>
              <a:spLocks noChangeShapeType="1"/>
            </p:cNvSpPr>
            <p:nvPr/>
          </p:nvSpPr>
          <p:spPr bwMode="auto">
            <a:xfrm flipV="1">
              <a:off x="2608" y="3294"/>
              <a:ext cx="952" cy="3"/>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3312" name="Line 18"/>
            <p:cNvSpPr>
              <a:spLocks noChangeShapeType="1"/>
            </p:cNvSpPr>
            <p:nvPr/>
          </p:nvSpPr>
          <p:spPr bwMode="auto">
            <a:xfrm flipV="1">
              <a:off x="2608" y="4020"/>
              <a:ext cx="1361" cy="3"/>
            </a:xfrm>
            <a:prstGeom prst="line">
              <a:avLst/>
            </a:prstGeom>
            <a:noFill/>
            <a:ln w="5715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313" name="Line 20"/>
            <p:cNvSpPr>
              <a:spLocks noChangeShapeType="1"/>
            </p:cNvSpPr>
            <p:nvPr/>
          </p:nvSpPr>
          <p:spPr bwMode="auto">
            <a:xfrm>
              <a:off x="3969" y="3385"/>
              <a:ext cx="0" cy="635"/>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314" name="Text Box 23"/>
            <p:cNvSpPr txBox="1">
              <a:spLocks noChangeArrowheads="1"/>
            </p:cNvSpPr>
            <p:nvPr/>
          </p:nvSpPr>
          <p:spPr bwMode="auto">
            <a:xfrm>
              <a:off x="2608" y="3067"/>
              <a:ext cx="9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I/O Addr</a:t>
              </a:r>
            </a:p>
          </p:txBody>
        </p:sp>
        <p:sp>
          <p:nvSpPr>
            <p:cNvPr id="183315" name="Text Box 25"/>
            <p:cNvSpPr txBox="1">
              <a:spLocks noChangeArrowheads="1"/>
            </p:cNvSpPr>
            <p:nvPr/>
          </p:nvSpPr>
          <p:spPr bwMode="auto">
            <a:xfrm>
              <a:off x="2608" y="3339"/>
              <a:ext cx="9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0FFFFh</a:t>
              </a:r>
            </a:p>
          </p:txBody>
        </p:sp>
        <p:sp>
          <p:nvSpPr>
            <p:cNvPr id="183316" name="Text Box 26"/>
            <p:cNvSpPr txBox="1">
              <a:spLocks noChangeArrowheads="1"/>
            </p:cNvSpPr>
            <p:nvPr/>
          </p:nvSpPr>
          <p:spPr bwMode="auto">
            <a:xfrm>
              <a:off x="4332" y="3158"/>
              <a:ext cx="680" cy="227"/>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t>ADDR</a:t>
              </a:r>
            </a:p>
          </p:txBody>
        </p:sp>
        <p:sp>
          <p:nvSpPr>
            <p:cNvPr id="183317" name="Text Box 27"/>
            <p:cNvSpPr txBox="1">
              <a:spLocks noChangeArrowheads="1"/>
            </p:cNvSpPr>
            <p:nvPr/>
          </p:nvSpPr>
          <p:spPr bwMode="auto">
            <a:xfrm>
              <a:off x="5012" y="3158"/>
              <a:ext cx="363" cy="227"/>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t>1 1</a:t>
              </a:r>
            </a:p>
          </p:txBody>
        </p:sp>
        <p:sp>
          <p:nvSpPr>
            <p:cNvPr id="183318" name="Text Box 28"/>
            <p:cNvSpPr txBox="1">
              <a:spLocks noChangeArrowheads="1"/>
            </p:cNvSpPr>
            <p:nvPr/>
          </p:nvSpPr>
          <p:spPr bwMode="auto">
            <a:xfrm>
              <a:off x="3560" y="2886"/>
              <a:ext cx="77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t>15          8</a:t>
              </a:r>
            </a:p>
          </p:txBody>
        </p:sp>
        <p:sp>
          <p:nvSpPr>
            <p:cNvPr id="183319" name="Text Box 29"/>
            <p:cNvSpPr txBox="1">
              <a:spLocks noChangeArrowheads="1"/>
            </p:cNvSpPr>
            <p:nvPr/>
          </p:nvSpPr>
          <p:spPr bwMode="auto">
            <a:xfrm>
              <a:off x="4352" y="2886"/>
              <a:ext cx="63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t>7        2</a:t>
              </a:r>
            </a:p>
          </p:txBody>
        </p:sp>
        <p:sp>
          <p:nvSpPr>
            <p:cNvPr id="183320" name="Text Box 30"/>
            <p:cNvSpPr txBox="1">
              <a:spLocks noChangeArrowheads="1"/>
            </p:cNvSpPr>
            <p:nvPr/>
          </p:nvSpPr>
          <p:spPr bwMode="auto">
            <a:xfrm>
              <a:off x="5012" y="2886"/>
              <a:ext cx="34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t>1 0</a:t>
              </a:r>
            </a:p>
          </p:txBody>
        </p:sp>
        <p:sp>
          <p:nvSpPr>
            <p:cNvPr id="183321" name="Text Box 31"/>
            <p:cNvSpPr txBox="1">
              <a:spLocks noChangeArrowheads="1"/>
            </p:cNvSpPr>
            <p:nvPr/>
          </p:nvSpPr>
          <p:spPr bwMode="auto">
            <a:xfrm>
              <a:off x="612" y="3929"/>
              <a:ext cx="339"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t>PC</a:t>
              </a:r>
            </a:p>
          </p:txBody>
        </p:sp>
        <p:sp>
          <p:nvSpPr>
            <p:cNvPr id="183322" name="Text Box 32"/>
            <p:cNvSpPr txBox="1">
              <a:spLocks noChangeArrowheads="1"/>
            </p:cNvSpPr>
            <p:nvPr/>
          </p:nvSpPr>
          <p:spPr bwMode="auto">
            <a:xfrm>
              <a:off x="884" y="3929"/>
              <a:ext cx="680" cy="227"/>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t>ADDR</a:t>
              </a:r>
            </a:p>
          </p:txBody>
        </p:sp>
        <p:sp>
          <p:nvSpPr>
            <p:cNvPr id="183323" name="Text Box 33"/>
            <p:cNvSpPr txBox="1">
              <a:spLocks noChangeArrowheads="1"/>
            </p:cNvSpPr>
            <p:nvPr/>
          </p:nvSpPr>
          <p:spPr bwMode="auto">
            <a:xfrm>
              <a:off x="1565" y="3929"/>
              <a:ext cx="952" cy="227"/>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t>0000000000</a:t>
              </a:r>
            </a:p>
          </p:txBody>
        </p:sp>
        <p:sp>
          <p:nvSpPr>
            <p:cNvPr id="183324" name="Text Box 34"/>
            <p:cNvSpPr txBox="1">
              <a:spLocks noChangeArrowheads="1"/>
            </p:cNvSpPr>
            <p:nvPr/>
          </p:nvSpPr>
          <p:spPr bwMode="auto">
            <a:xfrm>
              <a:off x="884" y="3702"/>
              <a:ext cx="61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t>15</a:t>
              </a:r>
              <a:r>
                <a:rPr lang="zh-CN" altLang="en-US"/>
                <a:t>～</a:t>
              </a:r>
              <a:r>
                <a:rPr lang="en-US" altLang="zh-CN"/>
                <a:t>10</a:t>
              </a:r>
            </a:p>
          </p:txBody>
        </p:sp>
        <p:sp>
          <p:nvSpPr>
            <p:cNvPr id="183325" name="Text Box 35"/>
            <p:cNvSpPr txBox="1">
              <a:spLocks noChangeArrowheads="1"/>
            </p:cNvSpPr>
            <p:nvPr/>
          </p:nvSpPr>
          <p:spPr bwMode="auto">
            <a:xfrm>
              <a:off x="1569" y="3702"/>
              <a:ext cx="99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t>9                0 </a:t>
              </a:r>
            </a:p>
          </p:txBody>
        </p:sp>
      </p:gr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CFF36849-9054-4401-A320-9D3366226CA8}" type="slidenum">
              <a:rPr lang="en-US" altLang="zh-CN" sz="1400" b="0"/>
              <a:pPr eaLnBrk="1" hangingPunct="1"/>
              <a:t>176</a:t>
            </a:fld>
            <a:endParaRPr lang="en-US" altLang="zh-CN" sz="1400" b="0"/>
          </a:p>
        </p:txBody>
      </p:sp>
      <p:graphicFrame>
        <p:nvGraphicFramePr>
          <p:cNvPr id="10242" name="Rectangle 3"/>
          <p:cNvGraphicFramePr>
            <a:graphicFrameLocks/>
          </p:cNvGraphicFramePr>
          <p:nvPr/>
        </p:nvGraphicFramePr>
        <p:xfrm>
          <a:off x="1331913" y="1196975"/>
          <a:ext cx="6096000" cy="4013200"/>
        </p:xfrm>
        <a:graphic>
          <a:graphicData uri="http://schemas.openxmlformats.org/presentationml/2006/ole">
            <mc:AlternateContent xmlns:mc="http://schemas.openxmlformats.org/markup-compatibility/2006">
              <mc:Choice xmlns:v="urn:schemas-microsoft-com:vml" Requires="v">
                <p:oleObj spid="_x0000_s10298" name="公式" r:id="rId3" imgW="0" imgH="0" progId="">
                  <p:embed/>
                </p:oleObj>
              </mc:Choice>
              <mc:Fallback>
                <p:oleObj name="公式" r:id="rId3" imgW="0" imgH="0" progId="">
                  <p:embed/>
                  <p:pic>
                    <p:nvPicPr>
                      <p:cNvPr id="0" name="AutoShape 49"/>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331913" y="1196975"/>
                        <a:ext cx="6096000" cy="401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4" name="Rectangle 4" descr="小棋盘"/>
          <p:cNvSpPr>
            <a:spLocks noChangeArrowheads="1"/>
          </p:cNvSpPr>
          <p:nvPr/>
        </p:nvSpPr>
        <p:spPr bwMode="auto">
          <a:xfrm>
            <a:off x="3048000" y="1066800"/>
            <a:ext cx="3200400" cy="528638"/>
          </a:xfrm>
          <a:prstGeom prst="rect">
            <a:avLst/>
          </a:prstGeom>
          <a:pattFill prst="smCheck">
            <a:fgClr>
              <a:srgbClr val="FFFF00"/>
            </a:fgClr>
            <a:bgClr>
              <a:srgbClr val="FFFFFF"/>
            </a:bgClr>
          </a:pattFill>
          <a:ln w="9525">
            <a:solidFill>
              <a:srgbClr val="CC33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6600"/>
                </a:solidFill>
                <a:latin typeface="宋体" panose="02010600030101010101" pitchFamily="2" charset="-122"/>
              </a:rPr>
              <a:t>(3)</a:t>
            </a:r>
            <a:r>
              <a:rPr lang="zh-CN" altLang="en-US" sz="2800">
                <a:solidFill>
                  <a:srgbClr val="006600"/>
                </a:solidFill>
                <a:latin typeface="宋体" panose="02010600030101010101" pitchFamily="2" charset="-122"/>
              </a:rPr>
              <a:t>从</a:t>
            </a:r>
            <a:r>
              <a:rPr lang="en-US" altLang="zh-CN" sz="2800">
                <a:solidFill>
                  <a:srgbClr val="006600"/>
                </a:solidFill>
                <a:latin typeface="宋体" panose="02010600030101010101" pitchFamily="2" charset="-122"/>
              </a:rPr>
              <a:t>HPI</a:t>
            </a:r>
            <a:r>
              <a:rPr lang="zh-CN" altLang="en-US" sz="2800">
                <a:solidFill>
                  <a:srgbClr val="006600"/>
                </a:solidFill>
                <a:latin typeface="宋体" panose="02010600030101010101" pitchFamily="2" charset="-122"/>
              </a:rPr>
              <a:t>自举加载</a:t>
            </a:r>
          </a:p>
        </p:txBody>
      </p:sp>
      <p:grpSp>
        <p:nvGrpSpPr>
          <p:cNvPr id="10245" name="Group 39"/>
          <p:cNvGrpSpPr>
            <a:grpSpLocks/>
          </p:cNvGrpSpPr>
          <p:nvPr/>
        </p:nvGrpSpPr>
        <p:grpSpPr bwMode="auto">
          <a:xfrm>
            <a:off x="179388" y="1628775"/>
            <a:ext cx="8785225" cy="3027363"/>
            <a:chOff x="113" y="1026"/>
            <a:chExt cx="5534" cy="1907"/>
          </a:xfrm>
        </p:grpSpPr>
        <p:sp>
          <p:nvSpPr>
            <p:cNvPr id="10268" name="Rectangle 6"/>
            <p:cNvSpPr>
              <a:spLocks noChangeArrowheads="1"/>
            </p:cNvSpPr>
            <p:nvPr/>
          </p:nvSpPr>
          <p:spPr bwMode="auto">
            <a:xfrm>
              <a:off x="113" y="1026"/>
              <a:ext cx="5534" cy="1489"/>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indent="3841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en-US" altLang="zh-CN" sz="2800">
                  <a:latin typeface="宋体" panose="02010600030101010101" pitchFamily="2" charset="-122"/>
                </a:rPr>
                <a:t>HPI</a:t>
              </a:r>
              <a:r>
                <a:rPr lang="zh-CN" altLang="en-US" sz="2800">
                  <a:latin typeface="宋体" panose="02010600030101010101" pitchFamily="2" charset="-122"/>
                </a:rPr>
                <a:t>是一个将主处理器与</a:t>
              </a:r>
              <a:r>
                <a:rPr lang="en-US" altLang="zh-CN" sz="2800">
                  <a:latin typeface="宋体" panose="02010600030101010101" pitchFamily="2" charset="-122"/>
                </a:rPr>
                <a:t>C54x</a:t>
              </a:r>
              <a:r>
                <a:rPr lang="zh-CN" altLang="en-US" sz="2800">
                  <a:latin typeface="宋体" panose="02010600030101010101" pitchFamily="2" charset="-122"/>
                </a:rPr>
                <a:t>连接在一起的</a:t>
              </a:r>
              <a:r>
                <a:rPr lang="en-US" altLang="zh-CN" sz="2800">
                  <a:latin typeface="宋体" panose="02010600030101010101" pitchFamily="2" charset="-122"/>
                </a:rPr>
                <a:t>8</a:t>
              </a:r>
              <a:r>
                <a:rPr lang="zh-CN" altLang="en-US" sz="2800">
                  <a:latin typeface="宋体" panose="02010600030101010101" pitchFamily="2" charset="-122"/>
                </a:rPr>
                <a:t>位并行口。主处理器和</a:t>
              </a:r>
              <a:r>
                <a:rPr lang="en-US" altLang="zh-CN" sz="2800">
                  <a:latin typeface="宋体" panose="02010600030101010101" pitchFamily="2" charset="-122"/>
                </a:rPr>
                <a:t>C54x</a:t>
              </a:r>
              <a:r>
                <a:rPr lang="zh-CN" altLang="en-US" sz="2800">
                  <a:latin typeface="宋体" panose="02010600030101010101" pitchFamily="2" charset="-122"/>
                </a:rPr>
                <a:t>通过共享的片内存储器交换信息。</a:t>
              </a:r>
            </a:p>
            <a:p>
              <a:pPr eaLnBrk="1" hangingPunct="1">
                <a:lnSpc>
                  <a:spcPct val="80000"/>
                </a:lnSpc>
                <a:spcBef>
                  <a:spcPct val="50000"/>
                </a:spcBef>
              </a:pPr>
              <a:r>
                <a:rPr lang="zh-CN" altLang="en-US" sz="2800">
                  <a:solidFill>
                    <a:schemeClr val="tx2"/>
                  </a:solidFill>
                  <a:latin typeface="宋体" panose="02010600030101010101" pitchFamily="2" charset="-122"/>
                </a:rPr>
                <a:t>当选择</a:t>
              </a:r>
              <a:r>
                <a:rPr lang="en-US" altLang="zh-CN" sz="2800">
                  <a:solidFill>
                    <a:schemeClr val="tx2"/>
                  </a:solidFill>
                  <a:latin typeface="宋体" panose="02010600030101010101" pitchFamily="2" charset="-122"/>
                </a:rPr>
                <a:t>HPI</a:t>
              </a:r>
              <a:r>
                <a:rPr lang="zh-CN" altLang="en-US" sz="2800">
                  <a:solidFill>
                    <a:schemeClr val="tx2"/>
                  </a:solidFill>
                  <a:latin typeface="宋体" panose="02010600030101010101" pitchFamily="2" charset="-122"/>
                </a:rPr>
                <a:t>自举加载方式时，应将</a:t>
              </a:r>
              <a:r>
                <a:rPr lang="en-US" altLang="zh-CN" sz="2800">
                  <a:solidFill>
                    <a:schemeClr val="tx2"/>
                  </a:solidFill>
                  <a:latin typeface="宋体" panose="02010600030101010101" pitchFamily="2" charset="-122"/>
                </a:rPr>
                <a:t>HINT</a:t>
              </a:r>
              <a:r>
                <a:rPr lang="zh-CN" altLang="en-US" sz="2800">
                  <a:solidFill>
                    <a:schemeClr val="tx2"/>
                  </a:solidFill>
                  <a:latin typeface="宋体" panose="02010600030101010101" pitchFamily="2" charset="-122"/>
                </a:rPr>
                <a:t>和</a:t>
              </a:r>
              <a:r>
                <a:rPr lang="en-US" altLang="zh-CN" sz="2800">
                  <a:solidFill>
                    <a:schemeClr val="tx2"/>
                  </a:solidFill>
                  <a:latin typeface="宋体" panose="02010600030101010101" pitchFamily="2" charset="-122"/>
                </a:rPr>
                <a:t>INT2</a:t>
              </a:r>
              <a:r>
                <a:rPr lang="zh-CN" altLang="en-US" sz="2800">
                  <a:solidFill>
                    <a:schemeClr val="tx2"/>
                  </a:solidFill>
                  <a:latin typeface="宋体" panose="02010600030101010101" pitchFamily="2" charset="-122"/>
                </a:rPr>
                <a:t>引脚连在一起。当</a:t>
              </a:r>
              <a:r>
                <a:rPr lang="en-US" altLang="zh-CN" sz="2800">
                  <a:solidFill>
                    <a:schemeClr val="tx2"/>
                  </a:solidFill>
                  <a:latin typeface="宋体" panose="02010600030101010101" pitchFamily="2" charset="-122"/>
                </a:rPr>
                <a:t>HINT</a:t>
              </a:r>
              <a:r>
                <a:rPr lang="zh-CN" altLang="en-US" sz="2800">
                  <a:solidFill>
                    <a:schemeClr val="tx2"/>
                  </a:solidFill>
                  <a:latin typeface="宋体" panose="02010600030101010101" pitchFamily="2" charset="-122"/>
                </a:rPr>
                <a:t>为低电平时，</a:t>
              </a:r>
              <a:r>
                <a:rPr lang="en-US" altLang="zh-CN" sz="2800">
                  <a:solidFill>
                    <a:schemeClr val="tx2"/>
                  </a:solidFill>
                  <a:latin typeface="宋体" panose="02010600030101010101" pitchFamily="2" charset="-122"/>
                </a:rPr>
                <a:t>C54x</a:t>
              </a:r>
              <a:r>
                <a:rPr lang="zh-CN" altLang="en-US" sz="2800">
                  <a:solidFill>
                    <a:schemeClr val="tx2"/>
                  </a:solidFill>
                  <a:latin typeface="宋体" panose="02010600030101010101" pitchFamily="2" charset="-122"/>
                </a:rPr>
                <a:t>的中断标志寄存器</a:t>
              </a:r>
              <a:r>
                <a:rPr lang="en-US" altLang="zh-CN" sz="2800">
                  <a:solidFill>
                    <a:schemeClr val="tx2"/>
                  </a:solidFill>
                  <a:latin typeface="宋体" panose="02010600030101010101" pitchFamily="2" charset="-122"/>
                </a:rPr>
                <a:t>IFR</a:t>
              </a:r>
              <a:r>
                <a:rPr lang="zh-CN" altLang="en-US" sz="2800">
                  <a:solidFill>
                    <a:schemeClr val="tx2"/>
                  </a:solidFill>
                  <a:latin typeface="宋体" panose="02010600030101010101" pitchFamily="2" charset="-122"/>
                </a:rPr>
                <a:t>的相应位（</a:t>
              </a:r>
              <a:r>
                <a:rPr lang="en-US" altLang="zh-CN" sz="2800">
                  <a:solidFill>
                    <a:schemeClr val="tx2"/>
                  </a:solidFill>
                  <a:latin typeface="宋体" panose="02010600030101010101" pitchFamily="2" charset="-122"/>
                </a:rPr>
                <a:t>bit2</a:t>
              </a:r>
              <a:r>
                <a:rPr lang="zh-CN" altLang="en-US" sz="2800">
                  <a:solidFill>
                    <a:schemeClr val="tx2"/>
                  </a:solidFill>
                  <a:latin typeface="宋体" panose="02010600030101010101" pitchFamily="2" charset="-122"/>
                </a:rPr>
                <a:t>）置位。</a:t>
              </a:r>
              <a:r>
                <a:rPr lang="en-US" altLang="zh-CN" sz="2800">
                  <a:solidFill>
                    <a:schemeClr val="tx2"/>
                  </a:solidFill>
                  <a:latin typeface="宋体" panose="02010600030101010101" pitchFamily="2" charset="-122"/>
                </a:rPr>
                <a:t>INT2</a:t>
              </a:r>
              <a:r>
                <a:rPr lang="zh-CN" altLang="en-US" sz="2800">
                  <a:solidFill>
                    <a:schemeClr val="tx2"/>
                  </a:solidFill>
                  <a:latin typeface="宋体" panose="02010600030101010101" pitchFamily="2" charset="-122"/>
                </a:rPr>
                <a:t>发出后，自举加载程序等待</a:t>
              </a:r>
              <a:r>
                <a:rPr lang="en-US" altLang="zh-CN" sz="2800">
                  <a:solidFill>
                    <a:schemeClr val="tx2"/>
                  </a:solidFill>
                  <a:latin typeface="宋体" panose="02010600030101010101" pitchFamily="2" charset="-122"/>
                </a:rPr>
                <a:t>20</a:t>
              </a:r>
              <a:r>
                <a:rPr lang="zh-CN" altLang="en-US" sz="2800">
                  <a:solidFill>
                    <a:schemeClr val="tx2"/>
                  </a:solidFill>
                  <a:latin typeface="宋体" panose="02010600030101010101" pitchFamily="2" charset="-122"/>
                </a:rPr>
                <a:t>个机器周期后读出</a:t>
              </a:r>
              <a:r>
                <a:rPr lang="en-US" altLang="zh-CN" sz="2800">
                  <a:solidFill>
                    <a:schemeClr val="tx2"/>
                  </a:solidFill>
                  <a:latin typeface="宋体" panose="02010600030101010101" pitchFamily="2" charset="-122"/>
                </a:rPr>
                <a:t>IFR</a:t>
              </a:r>
              <a:r>
                <a:rPr lang="zh-CN" altLang="en-US" sz="2800">
                  <a:solidFill>
                    <a:schemeClr val="tx2"/>
                  </a:solidFill>
                  <a:latin typeface="宋体" panose="02010600030101010101" pitchFamily="2" charset="-122"/>
                </a:rPr>
                <a:t>的</a:t>
              </a:r>
              <a:r>
                <a:rPr lang="en-US" altLang="zh-CN" sz="2800">
                  <a:solidFill>
                    <a:schemeClr val="tx2"/>
                  </a:solidFill>
                  <a:latin typeface="宋体" panose="02010600030101010101" pitchFamily="2" charset="-122"/>
                </a:rPr>
                <a:t>bit2</a:t>
              </a:r>
              <a:r>
                <a:rPr lang="zh-CN" altLang="en-US" sz="2800">
                  <a:solidFill>
                    <a:schemeClr val="tx2"/>
                  </a:solidFill>
                  <a:latin typeface="宋体" panose="02010600030101010101" pitchFamily="2" charset="-122"/>
                </a:rPr>
                <a:t>。</a:t>
              </a:r>
            </a:p>
          </p:txBody>
        </p:sp>
        <p:sp>
          <p:nvSpPr>
            <p:cNvPr id="10269" name="Line 7"/>
            <p:cNvSpPr>
              <a:spLocks noChangeShapeType="1"/>
            </p:cNvSpPr>
            <p:nvPr/>
          </p:nvSpPr>
          <p:spPr bwMode="auto">
            <a:xfrm>
              <a:off x="3651" y="1616"/>
              <a:ext cx="399"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70" name="Line 8"/>
            <p:cNvSpPr>
              <a:spLocks noChangeShapeType="1"/>
            </p:cNvSpPr>
            <p:nvPr/>
          </p:nvSpPr>
          <p:spPr bwMode="auto">
            <a:xfrm>
              <a:off x="4332" y="1616"/>
              <a:ext cx="399"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71" name="Line 9"/>
            <p:cNvSpPr>
              <a:spLocks noChangeShapeType="1"/>
            </p:cNvSpPr>
            <p:nvPr/>
          </p:nvSpPr>
          <p:spPr bwMode="auto">
            <a:xfrm>
              <a:off x="1307" y="1843"/>
              <a:ext cx="399"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72" name="Line 10"/>
            <p:cNvSpPr>
              <a:spLocks noChangeShapeType="1"/>
            </p:cNvSpPr>
            <p:nvPr/>
          </p:nvSpPr>
          <p:spPr bwMode="auto">
            <a:xfrm>
              <a:off x="3016" y="2050"/>
              <a:ext cx="398"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73" name="Line 27"/>
            <p:cNvSpPr>
              <a:spLocks noChangeShapeType="1"/>
            </p:cNvSpPr>
            <p:nvPr/>
          </p:nvSpPr>
          <p:spPr bwMode="auto">
            <a:xfrm flipH="1">
              <a:off x="2925" y="2797"/>
              <a:ext cx="136" cy="13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74" name="Line 35"/>
            <p:cNvSpPr>
              <a:spLocks noChangeShapeType="1"/>
            </p:cNvSpPr>
            <p:nvPr/>
          </p:nvSpPr>
          <p:spPr bwMode="auto">
            <a:xfrm>
              <a:off x="2602" y="2862"/>
              <a:ext cx="1497" cy="0"/>
            </a:xfrm>
            <a:prstGeom prst="line">
              <a:avLst/>
            </a:prstGeom>
            <a:noFill/>
            <a:ln w="5715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246" name="Group 40"/>
          <p:cNvGrpSpPr>
            <a:grpSpLocks/>
          </p:cNvGrpSpPr>
          <p:nvPr/>
        </p:nvGrpSpPr>
        <p:grpSpPr bwMode="auto">
          <a:xfrm>
            <a:off x="827088" y="4221163"/>
            <a:ext cx="7416800" cy="2447925"/>
            <a:chOff x="521" y="2659"/>
            <a:chExt cx="4672" cy="1542"/>
          </a:xfrm>
        </p:grpSpPr>
        <p:sp>
          <p:nvSpPr>
            <p:cNvPr id="10247" name="Rectangle 12"/>
            <p:cNvSpPr>
              <a:spLocks noChangeArrowheads="1"/>
            </p:cNvSpPr>
            <p:nvPr/>
          </p:nvSpPr>
          <p:spPr bwMode="auto">
            <a:xfrm>
              <a:off x="4104" y="2706"/>
              <a:ext cx="1089" cy="1134"/>
            </a:xfrm>
            <a:prstGeom prst="rect">
              <a:avLst/>
            </a:prstGeom>
            <a:solidFill>
              <a:schemeClr val="fo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248" name="Rectangle 13"/>
            <p:cNvSpPr>
              <a:spLocks noChangeArrowheads="1"/>
            </p:cNvSpPr>
            <p:nvPr/>
          </p:nvSpPr>
          <p:spPr bwMode="auto">
            <a:xfrm>
              <a:off x="521" y="2659"/>
              <a:ext cx="2087" cy="1542"/>
            </a:xfrm>
            <a:prstGeom prst="rect">
              <a:avLst/>
            </a:prstGeom>
            <a:solidFill>
              <a:schemeClr va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249" name="Rectangle 14"/>
            <p:cNvSpPr>
              <a:spLocks noChangeArrowheads="1"/>
            </p:cNvSpPr>
            <p:nvPr/>
          </p:nvSpPr>
          <p:spPr bwMode="auto">
            <a:xfrm>
              <a:off x="678" y="2885"/>
              <a:ext cx="725" cy="817"/>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250" name="Text Box 15"/>
            <p:cNvSpPr txBox="1">
              <a:spLocks noChangeArrowheads="1"/>
            </p:cNvSpPr>
            <p:nvPr/>
          </p:nvSpPr>
          <p:spPr bwMode="auto">
            <a:xfrm>
              <a:off x="794" y="2976"/>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RAM</a:t>
              </a:r>
            </a:p>
          </p:txBody>
        </p:sp>
        <p:sp>
          <p:nvSpPr>
            <p:cNvPr id="10251" name="Text Box 16"/>
            <p:cNvSpPr txBox="1">
              <a:spLocks noChangeArrowheads="1"/>
            </p:cNvSpPr>
            <p:nvPr/>
          </p:nvSpPr>
          <p:spPr bwMode="auto">
            <a:xfrm>
              <a:off x="748" y="3384"/>
              <a:ext cx="590" cy="256"/>
            </a:xfrm>
            <a:prstGeom prst="rect">
              <a:avLst/>
            </a:prstGeom>
            <a:solidFill>
              <a:srgbClr val="CC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CODE</a:t>
              </a:r>
            </a:p>
          </p:txBody>
        </p:sp>
        <p:sp>
          <p:nvSpPr>
            <p:cNvPr id="10252" name="Rectangle 17"/>
            <p:cNvSpPr>
              <a:spLocks noChangeArrowheads="1"/>
            </p:cNvSpPr>
            <p:nvPr/>
          </p:nvSpPr>
          <p:spPr bwMode="auto">
            <a:xfrm>
              <a:off x="1721" y="2885"/>
              <a:ext cx="725" cy="817"/>
            </a:xfrm>
            <a:prstGeom prst="rect">
              <a:avLst/>
            </a:prstGeom>
            <a:solidFill>
              <a:srgbClr val="FFFF99"/>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253" name="Text Box 18"/>
            <p:cNvSpPr txBox="1">
              <a:spLocks noChangeArrowheads="1"/>
            </p:cNvSpPr>
            <p:nvPr/>
          </p:nvSpPr>
          <p:spPr bwMode="auto">
            <a:xfrm>
              <a:off x="1837" y="2976"/>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ROM</a:t>
              </a:r>
            </a:p>
          </p:txBody>
        </p:sp>
        <p:sp>
          <p:nvSpPr>
            <p:cNvPr id="10254" name="Text Box 19"/>
            <p:cNvSpPr txBox="1">
              <a:spLocks noChangeArrowheads="1"/>
            </p:cNvSpPr>
            <p:nvPr/>
          </p:nvSpPr>
          <p:spPr bwMode="auto">
            <a:xfrm>
              <a:off x="1791" y="3384"/>
              <a:ext cx="590" cy="256"/>
            </a:xfrm>
            <a:prstGeom prst="rect">
              <a:avLst/>
            </a:prstGeom>
            <a:solidFill>
              <a:srgbClr val="00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BOOT</a:t>
              </a:r>
            </a:p>
          </p:txBody>
        </p:sp>
        <p:sp>
          <p:nvSpPr>
            <p:cNvPr id="10255" name="Text Box 20"/>
            <p:cNvSpPr txBox="1">
              <a:spLocks noChangeArrowheads="1"/>
            </p:cNvSpPr>
            <p:nvPr/>
          </p:nvSpPr>
          <p:spPr bwMode="auto">
            <a:xfrm>
              <a:off x="1156" y="3747"/>
              <a:ext cx="8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solidFill>
                    <a:srgbClr val="FF0000"/>
                  </a:solidFill>
                </a:rPr>
                <a:t>C54x</a:t>
              </a:r>
            </a:p>
          </p:txBody>
        </p:sp>
        <p:sp>
          <p:nvSpPr>
            <p:cNvPr id="10256" name="Text Box 21"/>
            <p:cNvSpPr txBox="1">
              <a:spLocks noChangeArrowheads="1"/>
            </p:cNvSpPr>
            <p:nvPr/>
          </p:nvSpPr>
          <p:spPr bwMode="auto">
            <a:xfrm>
              <a:off x="4241" y="2842"/>
              <a:ext cx="8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solidFill>
                    <a:schemeClr val="bg1"/>
                  </a:solidFill>
                </a:rPr>
                <a:t>HOST</a:t>
              </a:r>
            </a:p>
          </p:txBody>
        </p:sp>
        <p:sp>
          <p:nvSpPr>
            <p:cNvPr id="10257" name="Text Box 22"/>
            <p:cNvSpPr txBox="1">
              <a:spLocks noChangeArrowheads="1"/>
            </p:cNvSpPr>
            <p:nvPr/>
          </p:nvSpPr>
          <p:spPr bwMode="auto">
            <a:xfrm>
              <a:off x="4351" y="3386"/>
              <a:ext cx="590" cy="390"/>
            </a:xfrm>
            <a:prstGeom prst="rect">
              <a:avLst/>
            </a:prstGeom>
            <a:solidFill>
              <a:schemeClr val="tx2"/>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solidFill>
                    <a:srgbClr val="CCFFFF"/>
                  </a:solidFill>
                </a:rPr>
                <a:t>USER</a:t>
              </a:r>
            </a:p>
            <a:p>
              <a:pPr eaLnBrk="1" hangingPunct="1">
                <a:lnSpc>
                  <a:spcPct val="85000"/>
                </a:lnSpc>
              </a:pPr>
              <a:r>
                <a:rPr lang="en-US" altLang="zh-CN">
                  <a:solidFill>
                    <a:srgbClr val="CCFFFF"/>
                  </a:solidFill>
                </a:rPr>
                <a:t>CODE</a:t>
              </a:r>
            </a:p>
          </p:txBody>
        </p:sp>
        <p:sp>
          <p:nvSpPr>
            <p:cNvPr id="10258" name="Line 26"/>
            <p:cNvSpPr>
              <a:spLocks noChangeShapeType="1"/>
            </p:cNvSpPr>
            <p:nvPr/>
          </p:nvSpPr>
          <p:spPr bwMode="auto">
            <a:xfrm>
              <a:off x="3061" y="3386"/>
              <a:ext cx="0" cy="454"/>
            </a:xfrm>
            <a:prstGeom prst="line">
              <a:avLst/>
            </a:prstGeom>
            <a:noFill/>
            <a:ln w="31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59" name="Text Box 29"/>
            <p:cNvSpPr txBox="1">
              <a:spLocks noChangeArrowheads="1"/>
            </p:cNvSpPr>
            <p:nvPr/>
          </p:nvSpPr>
          <p:spPr bwMode="auto">
            <a:xfrm>
              <a:off x="2880" y="2958"/>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8</a:t>
              </a:r>
            </a:p>
          </p:txBody>
        </p:sp>
        <p:sp>
          <p:nvSpPr>
            <p:cNvPr id="10260" name="Text Box 30"/>
            <p:cNvSpPr txBox="1">
              <a:spLocks noChangeArrowheads="1"/>
            </p:cNvSpPr>
            <p:nvPr/>
          </p:nvSpPr>
          <p:spPr bwMode="auto">
            <a:xfrm>
              <a:off x="2699" y="3885"/>
              <a:ext cx="49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INT2</a:t>
              </a:r>
            </a:p>
          </p:txBody>
        </p:sp>
        <p:sp>
          <p:nvSpPr>
            <p:cNvPr id="10261" name="Line 31"/>
            <p:cNvSpPr>
              <a:spLocks noChangeShapeType="1"/>
            </p:cNvSpPr>
            <p:nvPr/>
          </p:nvSpPr>
          <p:spPr bwMode="auto">
            <a:xfrm>
              <a:off x="2562" y="3386"/>
              <a:ext cx="1543" cy="0"/>
            </a:xfrm>
            <a:prstGeom prst="line">
              <a:avLst/>
            </a:prstGeom>
            <a:noFill/>
            <a:ln w="5715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2" name="Line 32"/>
            <p:cNvSpPr>
              <a:spLocks noChangeShapeType="1"/>
            </p:cNvSpPr>
            <p:nvPr/>
          </p:nvSpPr>
          <p:spPr bwMode="auto">
            <a:xfrm flipH="1">
              <a:off x="2879" y="3316"/>
              <a:ext cx="136" cy="13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63" name="Text Box 33"/>
            <p:cNvSpPr txBox="1">
              <a:spLocks noChangeArrowheads="1"/>
            </p:cNvSpPr>
            <p:nvPr/>
          </p:nvSpPr>
          <p:spPr bwMode="auto">
            <a:xfrm>
              <a:off x="2834" y="3477"/>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8</a:t>
              </a:r>
            </a:p>
          </p:txBody>
        </p:sp>
        <p:sp>
          <p:nvSpPr>
            <p:cNvPr id="10264" name="Text Box 34"/>
            <p:cNvSpPr txBox="1">
              <a:spLocks noChangeArrowheads="1"/>
            </p:cNvSpPr>
            <p:nvPr/>
          </p:nvSpPr>
          <p:spPr bwMode="auto">
            <a:xfrm>
              <a:off x="3152" y="3477"/>
              <a:ext cx="59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HINT</a:t>
              </a:r>
            </a:p>
          </p:txBody>
        </p:sp>
        <p:sp>
          <p:nvSpPr>
            <p:cNvPr id="10265" name="Line 36"/>
            <p:cNvSpPr>
              <a:spLocks noChangeShapeType="1"/>
            </p:cNvSpPr>
            <p:nvPr/>
          </p:nvSpPr>
          <p:spPr bwMode="auto">
            <a:xfrm flipH="1">
              <a:off x="2598" y="3840"/>
              <a:ext cx="453"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6" name="Line 37"/>
            <p:cNvSpPr>
              <a:spLocks noChangeShapeType="1"/>
            </p:cNvSpPr>
            <p:nvPr/>
          </p:nvSpPr>
          <p:spPr bwMode="auto">
            <a:xfrm>
              <a:off x="2744" y="3885"/>
              <a:ext cx="363"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67" name="Line 38"/>
            <p:cNvSpPr>
              <a:spLocks noChangeShapeType="1"/>
            </p:cNvSpPr>
            <p:nvPr/>
          </p:nvSpPr>
          <p:spPr bwMode="auto">
            <a:xfrm>
              <a:off x="3248" y="3477"/>
              <a:ext cx="363"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01E200C-4B47-4294-987B-D4044798A8E8}" type="slidenum">
              <a:rPr lang="en-US" altLang="zh-CN" sz="1400" b="0"/>
              <a:pPr eaLnBrk="1" hangingPunct="1"/>
              <a:t>177</a:t>
            </a:fld>
            <a:endParaRPr lang="en-US" altLang="zh-CN" sz="1400" b="0"/>
          </a:p>
        </p:txBody>
      </p:sp>
      <p:sp>
        <p:nvSpPr>
          <p:cNvPr id="184323" name="Rectangle 2"/>
          <p:cNvSpPr>
            <a:spLocks noChangeArrowheads="1"/>
          </p:cNvSpPr>
          <p:nvPr/>
        </p:nvSpPr>
        <p:spPr bwMode="auto">
          <a:xfrm>
            <a:off x="323850" y="1295400"/>
            <a:ext cx="8640763" cy="447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76250"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latin typeface="宋体" panose="02010600030101010101" pitchFamily="2" charset="-122"/>
              </a:rPr>
              <a:t>若此位置位，表示</a:t>
            </a:r>
            <a:r>
              <a:rPr lang="en-US" altLang="zh-CN" sz="3200">
                <a:latin typeface="宋体" panose="02010600030101010101" pitchFamily="2" charset="-122"/>
              </a:rPr>
              <a:t>INT2</a:t>
            </a:r>
            <a:r>
              <a:rPr lang="zh-CN" altLang="en-US" sz="3200">
                <a:latin typeface="宋体" panose="02010600030101010101" pitchFamily="2" charset="-122"/>
              </a:rPr>
              <a:t>被识别，自举加载程序就转移到片内</a:t>
            </a:r>
            <a:r>
              <a:rPr lang="en-US" altLang="zh-CN" sz="3200">
                <a:latin typeface="宋体" panose="02010600030101010101" pitchFamily="2" charset="-122"/>
              </a:rPr>
              <a:t>HPI RAM</a:t>
            </a:r>
            <a:r>
              <a:rPr lang="zh-CN" altLang="en-US" sz="3200">
                <a:latin typeface="宋体" panose="02010600030101010101" pitchFamily="2" charset="-122"/>
              </a:rPr>
              <a:t>的起始地址，即程序空间的</a:t>
            </a:r>
            <a:r>
              <a:rPr lang="en-US" altLang="zh-CN" sz="3200">
                <a:latin typeface="宋体" panose="02010600030101010101" pitchFamily="2" charset="-122"/>
              </a:rPr>
              <a:t>1000h</a:t>
            </a:r>
            <a:r>
              <a:rPr lang="zh-CN" altLang="en-US" sz="3200">
                <a:latin typeface="宋体" panose="02010600030101010101" pitchFamily="2" charset="-122"/>
              </a:rPr>
              <a:t>，并从这个地址起执行程序。</a:t>
            </a:r>
          </a:p>
          <a:p>
            <a:pPr eaLnBrk="1" hangingPunct="1">
              <a:spcBef>
                <a:spcPct val="50000"/>
              </a:spcBef>
            </a:pPr>
            <a:r>
              <a:rPr lang="zh-CN" altLang="en-US" sz="3200">
                <a:latin typeface="宋体" panose="02010600030101010101" pitchFamily="2" charset="-122"/>
              </a:rPr>
              <a:t>如果</a:t>
            </a:r>
            <a:r>
              <a:rPr lang="en-US" altLang="zh-CN" sz="3200">
                <a:latin typeface="宋体" panose="02010600030101010101" pitchFamily="2" charset="-122"/>
              </a:rPr>
              <a:t>IFR</a:t>
            </a:r>
            <a:r>
              <a:rPr lang="zh-CN" altLang="en-US" sz="3200">
                <a:latin typeface="宋体" panose="02010600030101010101" pitchFamily="2" charset="-122"/>
              </a:rPr>
              <a:t>的</a:t>
            </a:r>
            <a:r>
              <a:rPr lang="en-US" altLang="zh-CN" sz="3200">
                <a:latin typeface="宋体" panose="02010600030101010101" pitchFamily="2" charset="-122"/>
              </a:rPr>
              <a:t>bit2</a:t>
            </a:r>
            <a:r>
              <a:rPr lang="zh-CN" altLang="en-US" sz="3200">
                <a:latin typeface="宋体" panose="02010600030101010101" pitchFamily="2" charset="-122"/>
              </a:rPr>
              <a:t>未置位，则自举程序就跳过</a:t>
            </a:r>
            <a:r>
              <a:rPr lang="en-US" altLang="zh-CN" sz="3200">
                <a:latin typeface="宋体" panose="02010600030101010101" pitchFamily="2" charset="-122"/>
              </a:rPr>
              <a:t>HPI</a:t>
            </a:r>
            <a:r>
              <a:rPr lang="zh-CN" altLang="en-US" sz="3200">
                <a:latin typeface="宋体" panose="02010600030101010101" pitchFamily="2" charset="-122"/>
              </a:rPr>
              <a:t>自举方式，并从</a:t>
            </a:r>
            <a:r>
              <a:rPr lang="en-US" altLang="zh-CN" sz="3200">
                <a:latin typeface="宋体" panose="02010600030101010101" pitchFamily="2" charset="-122"/>
              </a:rPr>
              <a:t>0FFFFh I/O</a:t>
            </a:r>
            <a:r>
              <a:rPr lang="zh-CN" altLang="en-US" sz="3200">
                <a:latin typeface="宋体" panose="02010600030101010101" pitchFamily="2" charset="-122"/>
              </a:rPr>
              <a:t>口读入</a:t>
            </a:r>
            <a:r>
              <a:rPr lang="en-US" altLang="zh-CN" sz="3200">
                <a:latin typeface="宋体" panose="02010600030101010101" pitchFamily="2" charset="-122"/>
              </a:rPr>
              <a:t>BRS</a:t>
            </a:r>
            <a:r>
              <a:rPr lang="zh-CN" altLang="en-US" sz="3200">
                <a:latin typeface="宋体" panose="02010600030101010101" pitchFamily="2" charset="-122"/>
              </a:rPr>
              <a:t>字，利用这个字的低</a:t>
            </a:r>
            <a:r>
              <a:rPr lang="en-US" altLang="zh-CN" sz="3200">
                <a:latin typeface="宋体" panose="02010600030101010101" pitchFamily="2" charset="-122"/>
              </a:rPr>
              <a:t>8</a:t>
            </a:r>
            <a:r>
              <a:rPr lang="zh-CN" altLang="en-US" sz="3200">
                <a:latin typeface="宋体" panose="02010600030101010101" pitchFamily="2" charset="-122"/>
              </a:rPr>
              <a:t>位再判断所要求的其它自举加载方式。</a:t>
            </a:r>
            <a:endParaRPr lang="zh-CN" altLang="en-US" sz="3200"/>
          </a:p>
          <a:p>
            <a:pPr eaLnBrk="1" hangingPunct="1">
              <a:spcBef>
                <a:spcPct val="50000"/>
              </a:spcBef>
            </a:pPr>
            <a:r>
              <a:rPr lang="zh-CN" altLang="en-US" sz="3200">
                <a:latin typeface="宋体" panose="02010600030101010101" pitchFamily="2" charset="-122"/>
              </a:rPr>
              <a:t>利用</a:t>
            </a:r>
            <a:r>
              <a:rPr lang="en-US" altLang="zh-CN" sz="3200">
                <a:latin typeface="宋体" panose="02010600030101010101" pitchFamily="2" charset="-122"/>
              </a:rPr>
              <a:t>HPI</a:t>
            </a:r>
            <a:r>
              <a:rPr lang="zh-CN" altLang="en-US" sz="3200">
                <a:latin typeface="宋体" panose="02010600030101010101" pitchFamily="2" charset="-122"/>
              </a:rPr>
              <a:t>自举加载也是常用的一种自举方式。</a:t>
            </a:r>
          </a:p>
        </p:txBody>
      </p:sp>
      <p:sp>
        <p:nvSpPr>
          <p:cNvPr id="184324" name="Line 3"/>
          <p:cNvSpPr>
            <a:spLocks noChangeShapeType="1"/>
          </p:cNvSpPr>
          <p:nvPr/>
        </p:nvSpPr>
        <p:spPr bwMode="auto">
          <a:xfrm>
            <a:off x="4211638" y="1412875"/>
            <a:ext cx="720725"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693949D0-165D-4943-A54D-F5209E9B816F}" type="slidenum">
              <a:rPr lang="en-US" altLang="zh-CN" sz="1400" b="0"/>
              <a:pPr eaLnBrk="1" hangingPunct="1"/>
              <a:t>178</a:t>
            </a:fld>
            <a:endParaRPr lang="en-US" altLang="zh-CN" sz="1400" b="0"/>
          </a:p>
        </p:txBody>
      </p:sp>
      <p:sp>
        <p:nvSpPr>
          <p:cNvPr id="11268" name="Rectangle 2" descr="小棋盘"/>
          <p:cNvSpPr>
            <a:spLocks noChangeArrowheads="1"/>
          </p:cNvSpPr>
          <p:nvPr/>
        </p:nvSpPr>
        <p:spPr bwMode="auto">
          <a:xfrm>
            <a:off x="3048000" y="1066800"/>
            <a:ext cx="3276600" cy="528638"/>
          </a:xfrm>
          <a:prstGeom prst="rect">
            <a:avLst/>
          </a:prstGeom>
          <a:pattFill prst="smCheck">
            <a:fgClr>
              <a:srgbClr val="FFFF00"/>
            </a:fgClr>
            <a:bgClr>
              <a:srgbClr val="FFFFFF"/>
            </a:bgClr>
          </a:pattFill>
          <a:ln w="9525">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6600"/>
                </a:solidFill>
                <a:latin typeface="宋体" panose="02010600030101010101" pitchFamily="2" charset="-122"/>
              </a:rPr>
              <a:t>(4)</a:t>
            </a:r>
            <a:r>
              <a:rPr lang="zh-CN" altLang="en-US" sz="2800">
                <a:solidFill>
                  <a:srgbClr val="006600"/>
                </a:solidFill>
                <a:latin typeface="宋体" panose="02010600030101010101" pitchFamily="2" charset="-122"/>
              </a:rPr>
              <a:t>从</a:t>
            </a:r>
            <a:r>
              <a:rPr lang="en-US" altLang="zh-CN" sz="2800">
                <a:solidFill>
                  <a:srgbClr val="006600"/>
                </a:solidFill>
                <a:latin typeface="宋体" panose="02010600030101010101" pitchFamily="2" charset="-122"/>
              </a:rPr>
              <a:t>I/O</a:t>
            </a:r>
            <a:r>
              <a:rPr lang="zh-CN" altLang="en-US" sz="2800">
                <a:solidFill>
                  <a:srgbClr val="006600"/>
                </a:solidFill>
                <a:latin typeface="宋体" panose="02010600030101010101" pitchFamily="2" charset="-122"/>
              </a:rPr>
              <a:t>自举加载</a:t>
            </a:r>
          </a:p>
        </p:txBody>
      </p:sp>
      <p:sp>
        <p:nvSpPr>
          <p:cNvPr id="11269" name="Rectangle 3"/>
          <p:cNvSpPr>
            <a:spLocks noChangeArrowheads="1"/>
          </p:cNvSpPr>
          <p:nvPr/>
        </p:nvSpPr>
        <p:spPr bwMode="auto">
          <a:xfrm>
            <a:off x="381000" y="1676400"/>
            <a:ext cx="8305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90513"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a:solidFill>
                  <a:schemeClr val="tx2"/>
                </a:solidFill>
                <a:latin typeface="宋体" panose="02010600030101010101" pitchFamily="2" charset="-122"/>
              </a:rPr>
              <a:t>I/O</a:t>
            </a:r>
            <a:r>
              <a:rPr lang="zh-CN" altLang="en-US" sz="3200">
                <a:solidFill>
                  <a:schemeClr val="tx2"/>
                </a:solidFill>
                <a:latin typeface="宋体" panose="02010600030101010101" pitchFamily="2" charset="-122"/>
              </a:rPr>
              <a:t>自举加载方式指从</a:t>
            </a:r>
            <a:r>
              <a:rPr lang="en-US" altLang="zh-CN" sz="3200">
                <a:solidFill>
                  <a:schemeClr val="tx2"/>
                </a:solidFill>
                <a:latin typeface="宋体" panose="02010600030101010101" pitchFamily="2" charset="-122"/>
              </a:rPr>
              <a:t>I/O</a:t>
            </a:r>
            <a:r>
              <a:rPr lang="zh-CN" altLang="en-US" sz="3200">
                <a:solidFill>
                  <a:schemeClr val="tx2"/>
                </a:solidFill>
                <a:latin typeface="宋体" panose="02010600030101010101" pitchFamily="2" charset="-122"/>
              </a:rPr>
              <a:t>的</a:t>
            </a:r>
            <a:r>
              <a:rPr lang="en-US" altLang="zh-CN" sz="3200">
                <a:solidFill>
                  <a:schemeClr val="tx2"/>
                </a:solidFill>
                <a:latin typeface="宋体" panose="02010600030101010101" pitchFamily="2" charset="-122"/>
              </a:rPr>
              <a:t>0h</a:t>
            </a:r>
            <a:r>
              <a:rPr lang="zh-CN" altLang="en-US" sz="3200">
                <a:solidFill>
                  <a:schemeClr val="tx2"/>
                </a:solidFill>
                <a:latin typeface="宋体" panose="02010600030101010101" pitchFamily="2" charset="-122"/>
              </a:rPr>
              <a:t>口异步传送程序代码到内部</a:t>
            </a:r>
            <a:r>
              <a:rPr lang="en-US" altLang="zh-CN" sz="3200">
                <a:solidFill>
                  <a:schemeClr val="tx2"/>
                </a:solidFill>
                <a:latin typeface="宋体" panose="02010600030101010101" pitchFamily="2" charset="-122"/>
              </a:rPr>
              <a:t>/</a:t>
            </a:r>
            <a:r>
              <a:rPr lang="zh-CN" altLang="en-US" sz="3200">
                <a:solidFill>
                  <a:schemeClr val="tx2"/>
                </a:solidFill>
                <a:latin typeface="宋体" panose="02010600030101010101" pitchFamily="2" charset="-122"/>
              </a:rPr>
              <a:t>外部程序存储器。</a:t>
            </a:r>
            <a:endParaRPr lang="zh-CN" altLang="en-US" sz="3200" b="0">
              <a:solidFill>
                <a:schemeClr val="tx2"/>
              </a:solidFill>
              <a:latin typeface="宋体" panose="02010600030101010101" pitchFamily="2" charset="-122"/>
            </a:endParaRPr>
          </a:p>
        </p:txBody>
      </p:sp>
      <p:graphicFrame>
        <p:nvGraphicFramePr>
          <p:cNvPr id="11266" name="Object 5"/>
          <p:cNvGraphicFramePr>
            <a:graphicFrameLocks noChangeAspect="1"/>
          </p:cNvGraphicFramePr>
          <p:nvPr/>
        </p:nvGraphicFramePr>
        <p:xfrm>
          <a:off x="2195513" y="4652963"/>
          <a:ext cx="4800600" cy="1989137"/>
        </p:xfrm>
        <a:graphic>
          <a:graphicData uri="http://schemas.openxmlformats.org/presentationml/2006/ole">
            <mc:AlternateContent xmlns:mc="http://schemas.openxmlformats.org/markup-compatibility/2006">
              <mc:Choice xmlns:v="urn:schemas-microsoft-com:vml" Requires="v">
                <p:oleObj spid="_x0000_s11313" name="BMP 图像" r:id="rId3" imgW="3561905" imgH="1476190" progId="PBrush">
                  <p:embed/>
                </p:oleObj>
              </mc:Choice>
              <mc:Fallback>
                <p:oleObj name="BMP 图像" r:id="rId3" imgW="3561905" imgH="1476190" progId="PBrush">
                  <p:embed/>
                  <p:pic>
                    <p:nvPicPr>
                      <p:cNvPr id="0" name="Picture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4652963"/>
                        <a:ext cx="4800600"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3300"/>
                            </a:solidFill>
                            <a:miter lim="800000"/>
                            <a:headEnd/>
                            <a:tailEnd/>
                          </a14:hiddenLine>
                        </a:ext>
                      </a:extLst>
                    </p:spPr>
                  </p:pic>
                </p:oleObj>
              </mc:Fallback>
            </mc:AlternateContent>
          </a:graphicData>
        </a:graphic>
      </p:graphicFrame>
      <p:grpSp>
        <p:nvGrpSpPr>
          <p:cNvPr id="11270" name="Group 30"/>
          <p:cNvGrpSpPr>
            <a:grpSpLocks/>
          </p:cNvGrpSpPr>
          <p:nvPr/>
        </p:nvGrpSpPr>
        <p:grpSpPr bwMode="auto">
          <a:xfrm>
            <a:off x="684213" y="2781300"/>
            <a:ext cx="7416800" cy="1800225"/>
            <a:chOff x="431" y="2205"/>
            <a:chExt cx="4672" cy="1134"/>
          </a:xfrm>
        </p:grpSpPr>
        <p:sp>
          <p:nvSpPr>
            <p:cNvPr id="11271" name="Rectangle 7"/>
            <p:cNvSpPr>
              <a:spLocks noChangeArrowheads="1"/>
            </p:cNvSpPr>
            <p:nvPr/>
          </p:nvSpPr>
          <p:spPr bwMode="auto">
            <a:xfrm>
              <a:off x="4014" y="2284"/>
              <a:ext cx="1089" cy="1010"/>
            </a:xfrm>
            <a:prstGeom prst="rect">
              <a:avLst/>
            </a:prstGeom>
            <a:solidFill>
              <a:schemeClr val="fo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272" name="Rectangle 8"/>
            <p:cNvSpPr>
              <a:spLocks noChangeArrowheads="1"/>
            </p:cNvSpPr>
            <p:nvPr/>
          </p:nvSpPr>
          <p:spPr bwMode="auto">
            <a:xfrm>
              <a:off x="431" y="2251"/>
              <a:ext cx="2087" cy="1088"/>
            </a:xfrm>
            <a:prstGeom prst="rect">
              <a:avLst/>
            </a:prstGeom>
            <a:solidFill>
              <a:schemeClr va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273" name="Rectangle 9"/>
            <p:cNvSpPr>
              <a:spLocks noChangeArrowheads="1"/>
            </p:cNvSpPr>
            <p:nvPr/>
          </p:nvSpPr>
          <p:spPr bwMode="auto">
            <a:xfrm>
              <a:off x="588" y="2410"/>
              <a:ext cx="725" cy="577"/>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274" name="Text Box 10"/>
            <p:cNvSpPr txBox="1">
              <a:spLocks noChangeArrowheads="1"/>
            </p:cNvSpPr>
            <p:nvPr/>
          </p:nvSpPr>
          <p:spPr bwMode="auto">
            <a:xfrm>
              <a:off x="704" y="2432"/>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RAM</a:t>
              </a:r>
            </a:p>
          </p:txBody>
        </p:sp>
        <p:sp>
          <p:nvSpPr>
            <p:cNvPr id="11275" name="Text Box 11"/>
            <p:cNvSpPr txBox="1">
              <a:spLocks noChangeArrowheads="1"/>
            </p:cNvSpPr>
            <p:nvPr/>
          </p:nvSpPr>
          <p:spPr bwMode="auto">
            <a:xfrm>
              <a:off x="658" y="2666"/>
              <a:ext cx="590" cy="256"/>
            </a:xfrm>
            <a:prstGeom prst="rect">
              <a:avLst/>
            </a:prstGeom>
            <a:solidFill>
              <a:srgbClr val="CC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CODE</a:t>
              </a:r>
            </a:p>
          </p:txBody>
        </p:sp>
        <p:sp>
          <p:nvSpPr>
            <p:cNvPr id="11276" name="Rectangle 12"/>
            <p:cNvSpPr>
              <a:spLocks noChangeArrowheads="1"/>
            </p:cNvSpPr>
            <p:nvPr/>
          </p:nvSpPr>
          <p:spPr bwMode="auto">
            <a:xfrm>
              <a:off x="1631" y="2410"/>
              <a:ext cx="725" cy="577"/>
            </a:xfrm>
            <a:prstGeom prst="rect">
              <a:avLst/>
            </a:prstGeom>
            <a:solidFill>
              <a:srgbClr val="FFFF99"/>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277" name="Text Box 13"/>
            <p:cNvSpPr txBox="1">
              <a:spLocks noChangeArrowheads="1"/>
            </p:cNvSpPr>
            <p:nvPr/>
          </p:nvSpPr>
          <p:spPr bwMode="auto">
            <a:xfrm>
              <a:off x="1747" y="2432"/>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ROM</a:t>
              </a:r>
            </a:p>
          </p:txBody>
        </p:sp>
        <p:sp>
          <p:nvSpPr>
            <p:cNvPr id="11278" name="Text Box 14"/>
            <p:cNvSpPr txBox="1">
              <a:spLocks noChangeArrowheads="1"/>
            </p:cNvSpPr>
            <p:nvPr/>
          </p:nvSpPr>
          <p:spPr bwMode="auto">
            <a:xfrm>
              <a:off x="1701" y="2666"/>
              <a:ext cx="590" cy="256"/>
            </a:xfrm>
            <a:prstGeom prst="rect">
              <a:avLst/>
            </a:prstGeom>
            <a:solidFill>
              <a:srgbClr val="00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BOOT</a:t>
              </a:r>
            </a:p>
          </p:txBody>
        </p:sp>
        <p:sp>
          <p:nvSpPr>
            <p:cNvPr id="11279" name="Text Box 15"/>
            <p:cNvSpPr txBox="1">
              <a:spLocks noChangeArrowheads="1"/>
            </p:cNvSpPr>
            <p:nvPr/>
          </p:nvSpPr>
          <p:spPr bwMode="auto">
            <a:xfrm>
              <a:off x="1066" y="2922"/>
              <a:ext cx="8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solidFill>
                    <a:srgbClr val="FF0000"/>
                  </a:solidFill>
                </a:rPr>
                <a:t>C54x</a:t>
              </a:r>
            </a:p>
          </p:txBody>
        </p:sp>
        <p:sp>
          <p:nvSpPr>
            <p:cNvPr id="11280" name="Text Box 16"/>
            <p:cNvSpPr txBox="1">
              <a:spLocks noChangeArrowheads="1"/>
            </p:cNvSpPr>
            <p:nvPr/>
          </p:nvSpPr>
          <p:spPr bwMode="auto">
            <a:xfrm>
              <a:off x="4151" y="2443"/>
              <a:ext cx="8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solidFill>
                    <a:schemeClr val="bg1"/>
                  </a:solidFill>
                </a:rPr>
                <a:t>HOST</a:t>
              </a:r>
            </a:p>
          </p:txBody>
        </p:sp>
        <p:sp>
          <p:nvSpPr>
            <p:cNvPr id="11281" name="Text Box 17"/>
            <p:cNvSpPr txBox="1">
              <a:spLocks noChangeArrowheads="1"/>
            </p:cNvSpPr>
            <p:nvPr/>
          </p:nvSpPr>
          <p:spPr bwMode="auto">
            <a:xfrm>
              <a:off x="4261" y="2768"/>
              <a:ext cx="590" cy="390"/>
            </a:xfrm>
            <a:prstGeom prst="rect">
              <a:avLst/>
            </a:prstGeom>
            <a:solidFill>
              <a:schemeClr val="tx2"/>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solidFill>
                    <a:srgbClr val="CCFFFF"/>
                  </a:solidFill>
                </a:rPr>
                <a:t>USER</a:t>
              </a:r>
            </a:p>
            <a:p>
              <a:pPr eaLnBrk="1" hangingPunct="1">
                <a:lnSpc>
                  <a:spcPct val="85000"/>
                </a:lnSpc>
              </a:pPr>
              <a:r>
                <a:rPr lang="en-US" altLang="zh-CN">
                  <a:solidFill>
                    <a:srgbClr val="CCFFFF"/>
                  </a:solidFill>
                </a:rPr>
                <a:t>CODE</a:t>
              </a:r>
            </a:p>
          </p:txBody>
        </p:sp>
        <p:sp>
          <p:nvSpPr>
            <p:cNvPr id="11282" name="Text Box 19"/>
            <p:cNvSpPr txBox="1">
              <a:spLocks noChangeArrowheads="1"/>
            </p:cNvSpPr>
            <p:nvPr/>
          </p:nvSpPr>
          <p:spPr bwMode="auto">
            <a:xfrm>
              <a:off x="2880" y="2205"/>
              <a:ext cx="6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8</a:t>
              </a:r>
              <a:r>
                <a:rPr lang="zh-CN" altLang="en-US"/>
                <a:t>或</a:t>
              </a:r>
              <a:r>
                <a:rPr lang="en-US" altLang="zh-CN"/>
                <a:t>16</a:t>
              </a:r>
            </a:p>
          </p:txBody>
        </p:sp>
        <p:sp>
          <p:nvSpPr>
            <p:cNvPr id="11283" name="Line 21"/>
            <p:cNvSpPr>
              <a:spLocks noChangeShapeType="1"/>
            </p:cNvSpPr>
            <p:nvPr/>
          </p:nvSpPr>
          <p:spPr bwMode="auto">
            <a:xfrm>
              <a:off x="2472" y="2410"/>
              <a:ext cx="1543" cy="0"/>
            </a:xfrm>
            <a:prstGeom prst="line">
              <a:avLst/>
            </a:prstGeom>
            <a:noFill/>
            <a:ln w="5715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4" name="Line 22"/>
            <p:cNvSpPr>
              <a:spLocks noChangeShapeType="1"/>
            </p:cNvSpPr>
            <p:nvPr/>
          </p:nvSpPr>
          <p:spPr bwMode="auto">
            <a:xfrm flipH="1">
              <a:off x="2789" y="2361"/>
              <a:ext cx="136" cy="9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5" name="Text Box 23"/>
            <p:cNvSpPr txBox="1">
              <a:spLocks noChangeArrowheads="1"/>
            </p:cNvSpPr>
            <p:nvPr/>
          </p:nvSpPr>
          <p:spPr bwMode="auto">
            <a:xfrm>
              <a:off x="2971" y="2946"/>
              <a:ext cx="59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XF</a:t>
              </a:r>
            </a:p>
          </p:txBody>
        </p:sp>
        <p:sp>
          <p:nvSpPr>
            <p:cNvPr id="11286" name="Text Box 24"/>
            <p:cNvSpPr txBox="1">
              <a:spLocks noChangeArrowheads="1"/>
            </p:cNvSpPr>
            <p:nvPr/>
          </p:nvSpPr>
          <p:spPr bwMode="auto">
            <a:xfrm>
              <a:off x="2925" y="2670"/>
              <a:ext cx="59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BIO</a:t>
              </a:r>
            </a:p>
          </p:txBody>
        </p:sp>
        <p:sp>
          <p:nvSpPr>
            <p:cNvPr id="11287" name="Line 27"/>
            <p:cNvSpPr>
              <a:spLocks noChangeShapeType="1"/>
            </p:cNvSpPr>
            <p:nvPr/>
          </p:nvSpPr>
          <p:spPr bwMode="auto">
            <a:xfrm>
              <a:off x="3021" y="2670"/>
              <a:ext cx="363"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8" name="Line 28"/>
            <p:cNvSpPr>
              <a:spLocks noChangeShapeType="1"/>
            </p:cNvSpPr>
            <p:nvPr/>
          </p:nvSpPr>
          <p:spPr bwMode="auto">
            <a:xfrm>
              <a:off x="2517" y="2855"/>
              <a:ext cx="1497" cy="0"/>
            </a:xfrm>
            <a:prstGeom prst="line">
              <a:avLst/>
            </a:prstGeom>
            <a:noFill/>
            <a:ln w="952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9" name="Line 29"/>
            <p:cNvSpPr>
              <a:spLocks noChangeShapeType="1"/>
            </p:cNvSpPr>
            <p:nvPr/>
          </p:nvSpPr>
          <p:spPr bwMode="auto">
            <a:xfrm>
              <a:off x="2517" y="3127"/>
              <a:ext cx="1497"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5505859C-389A-42C0-B62A-1060265F2198}" type="slidenum">
              <a:rPr lang="en-US" altLang="zh-CN" sz="1400" b="0"/>
              <a:pPr eaLnBrk="1" hangingPunct="1"/>
              <a:t>179</a:t>
            </a:fld>
            <a:endParaRPr lang="en-US" altLang="zh-CN" sz="1400" b="0"/>
          </a:p>
        </p:txBody>
      </p:sp>
      <p:grpSp>
        <p:nvGrpSpPr>
          <p:cNvPr id="185347" name="Group 2"/>
          <p:cNvGrpSpPr>
            <a:grpSpLocks/>
          </p:cNvGrpSpPr>
          <p:nvPr/>
        </p:nvGrpSpPr>
        <p:grpSpPr bwMode="auto">
          <a:xfrm>
            <a:off x="381000" y="1143000"/>
            <a:ext cx="8382000" cy="5356225"/>
            <a:chOff x="240" y="720"/>
            <a:chExt cx="5280" cy="3374"/>
          </a:xfrm>
        </p:grpSpPr>
        <p:sp>
          <p:nvSpPr>
            <p:cNvPr id="185348" name="Rectangle 3"/>
            <p:cNvSpPr>
              <a:spLocks noChangeArrowheads="1"/>
            </p:cNvSpPr>
            <p:nvPr/>
          </p:nvSpPr>
          <p:spPr bwMode="auto">
            <a:xfrm>
              <a:off x="240" y="720"/>
              <a:ext cx="5280" cy="3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30000"/>
                </a:spcBef>
              </a:pPr>
              <a:r>
                <a:rPr lang="en-US" altLang="zh-CN" sz="3200">
                  <a:latin typeface="宋体" panose="02010600030101010101" pitchFamily="2" charset="-122"/>
                </a:rPr>
                <a:t>I/O</a:t>
              </a:r>
              <a:r>
                <a:rPr lang="zh-CN" altLang="en-US" sz="3200">
                  <a:latin typeface="宋体" panose="02010600030101010101" pitchFamily="2" charset="-122"/>
                </a:rPr>
                <a:t>自举加载的每个字的字长可以是</a:t>
              </a:r>
              <a:r>
                <a:rPr lang="en-US" altLang="zh-CN" sz="3200">
                  <a:latin typeface="宋体" panose="02010600030101010101" pitchFamily="2" charset="-122"/>
                </a:rPr>
                <a:t>16</a:t>
              </a:r>
              <a:r>
                <a:rPr lang="zh-CN" altLang="en-US" sz="3200">
                  <a:latin typeface="宋体" panose="02010600030101010101" pitchFamily="2" charset="-122"/>
                </a:rPr>
                <a:t>位或者</a:t>
              </a:r>
              <a:r>
                <a:rPr lang="en-US" altLang="zh-CN" sz="3200">
                  <a:latin typeface="宋体" panose="02010600030101010101" pitchFamily="2" charset="-122"/>
                </a:rPr>
                <a:t>8</a:t>
              </a:r>
              <a:r>
                <a:rPr lang="zh-CN" altLang="en-US" sz="3200">
                  <a:latin typeface="宋体" panose="02010600030101010101" pitchFamily="2" charset="-122"/>
                </a:rPr>
                <a:t>位。</a:t>
              </a:r>
            </a:p>
            <a:p>
              <a:pPr eaLnBrk="1" hangingPunct="1">
                <a:lnSpc>
                  <a:spcPct val="85000"/>
                </a:lnSpc>
                <a:spcBef>
                  <a:spcPct val="30000"/>
                </a:spcBef>
              </a:pPr>
              <a:r>
                <a:rPr lang="en-US" altLang="zh-CN" sz="3200">
                  <a:latin typeface="宋体" panose="02010600030101010101" pitchFamily="2" charset="-122"/>
                </a:rPr>
                <a:t>C54x</a:t>
              </a:r>
              <a:r>
                <a:rPr lang="zh-CN" altLang="en-US" sz="3200">
                  <a:latin typeface="宋体" panose="02010600030101010101" pitchFamily="2" charset="-122"/>
                </a:rPr>
                <a:t>利用</a:t>
              </a:r>
              <a:r>
                <a:rPr lang="en-US" altLang="zh-CN" sz="3200">
                  <a:latin typeface="宋体" panose="02010600030101010101" pitchFamily="2" charset="-122"/>
                </a:rPr>
                <a:t>BIO</a:t>
              </a:r>
              <a:r>
                <a:rPr lang="zh-CN" altLang="en-US" sz="3200">
                  <a:latin typeface="宋体" panose="02010600030101010101" pitchFamily="2" charset="-122"/>
                </a:rPr>
                <a:t>和</a:t>
              </a:r>
              <a:r>
                <a:rPr lang="en-US" altLang="zh-CN" sz="3200">
                  <a:latin typeface="宋体" panose="02010600030101010101" pitchFamily="2" charset="-122"/>
                </a:rPr>
                <a:t>XF</a:t>
              </a:r>
              <a:r>
                <a:rPr lang="zh-CN" altLang="en-US" sz="3200">
                  <a:latin typeface="宋体" panose="02010600030101010101" pitchFamily="2" charset="-122"/>
                </a:rPr>
                <a:t>两根握手线与外部器件进行通信。</a:t>
              </a:r>
            </a:p>
            <a:p>
              <a:pPr eaLnBrk="1" hangingPunct="1">
                <a:lnSpc>
                  <a:spcPct val="85000"/>
                </a:lnSpc>
                <a:spcBef>
                  <a:spcPct val="30000"/>
                </a:spcBef>
              </a:pPr>
              <a:r>
                <a:rPr lang="zh-CN" altLang="en-US" sz="3200">
                  <a:solidFill>
                    <a:schemeClr val="tx2"/>
                  </a:solidFill>
                  <a:latin typeface="宋体" panose="02010600030101010101" pitchFamily="2" charset="-122"/>
                </a:rPr>
                <a:t>当主机开始传送一次数据时，先将</a:t>
              </a:r>
              <a:r>
                <a:rPr lang="en-US" altLang="zh-CN" sz="3200">
                  <a:solidFill>
                    <a:schemeClr val="tx2"/>
                  </a:solidFill>
                  <a:latin typeface="宋体" panose="02010600030101010101" pitchFamily="2" charset="-122"/>
                </a:rPr>
                <a:t>BIO</a:t>
              </a:r>
              <a:r>
                <a:rPr lang="zh-CN" altLang="en-US" sz="3200">
                  <a:solidFill>
                    <a:schemeClr val="tx2"/>
                  </a:solidFill>
                  <a:latin typeface="宋体" panose="02010600030101010101" pitchFamily="2" charset="-122"/>
                </a:rPr>
                <a:t>驱动为低电平。</a:t>
              </a:r>
              <a:r>
                <a:rPr lang="en-US" altLang="zh-CN" sz="3200">
                  <a:solidFill>
                    <a:schemeClr val="tx2"/>
                  </a:solidFill>
                  <a:latin typeface="宋体" panose="02010600030101010101" pitchFamily="2" charset="-122"/>
                </a:rPr>
                <a:t>C54x</a:t>
              </a:r>
              <a:r>
                <a:rPr lang="zh-CN" altLang="en-US" sz="3200">
                  <a:solidFill>
                    <a:schemeClr val="tx2"/>
                  </a:solidFill>
                  <a:latin typeface="宋体" panose="02010600030101010101" pitchFamily="2" charset="-122"/>
                </a:rPr>
                <a:t>检测到</a:t>
              </a:r>
              <a:r>
                <a:rPr lang="en-US" altLang="zh-CN" sz="3200">
                  <a:solidFill>
                    <a:schemeClr val="tx2"/>
                  </a:solidFill>
                  <a:latin typeface="宋体" panose="02010600030101010101" pitchFamily="2" charset="-122"/>
                </a:rPr>
                <a:t>BIO</a:t>
              </a:r>
              <a:r>
                <a:rPr lang="zh-CN" altLang="en-US" sz="3200">
                  <a:solidFill>
                    <a:schemeClr val="tx2"/>
                  </a:solidFill>
                  <a:latin typeface="宋体" panose="02010600030101010101" pitchFamily="2" charset="-122"/>
                </a:rPr>
                <a:t>引脚为低电平后，便从</a:t>
              </a:r>
              <a:r>
                <a:rPr lang="en-US" altLang="zh-CN" sz="3200">
                  <a:solidFill>
                    <a:schemeClr val="tx2"/>
                  </a:solidFill>
                  <a:latin typeface="宋体" panose="02010600030101010101" pitchFamily="2" charset="-122"/>
                </a:rPr>
                <a:t>I/O</a:t>
              </a:r>
              <a:r>
                <a:rPr lang="zh-CN" altLang="en-US" sz="3200">
                  <a:solidFill>
                    <a:schemeClr val="tx2"/>
                  </a:solidFill>
                  <a:latin typeface="宋体" panose="02010600030101010101" pitchFamily="2" charset="-122"/>
                </a:rPr>
                <a:t>的</a:t>
              </a:r>
              <a:r>
                <a:rPr lang="en-US" altLang="zh-CN" sz="3200">
                  <a:solidFill>
                    <a:schemeClr val="tx2"/>
                  </a:solidFill>
                  <a:latin typeface="宋体" panose="02010600030101010101" pitchFamily="2" charset="-122"/>
                </a:rPr>
                <a:t>0h</a:t>
              </a:r>
              <a:r>
                <a:rPr lang="zh-CN" altLang="en-US" sz="3200">
                  <a:solidFill>
                    <a:schemeClr val="tx2"/>
                  </a:solidFill>
                  <a:latin typeface="宋体" panose="02010600030101010101" pitchFamily="2" charset="-122"/>
                </a:rPr>
                <a:t>口输入数据，并将</a:t>
              </a:r>
              <a:r>
                <a:rPr lang="en-US" altLang="zh-CN" sz="3200">
                  <a:solidFill>
                    <a:schemeClr val="tx2"/>
                  </a:solidFill>
                  <a:latin typeface="宋体" panose="02010600030101010101" pitchFamily="2" charset="-122"/>
                </a:rPr>
                <a:t>XF</a:t>
              </a:r>
              <a:r>
                <a:rPr lang="zh-CN" altLang="en-US" sz="3200">
                  <a:solidFill>
                    <a:schemeClr val="tx2"/>
                  </a:solidFill>
                  <a:latin typeface="宋体" panose="02010600030101010101" pitchFamily="2" charset="-122"/>
                </a:rPr>
                <a:t>引脚置为高电平，向主机表示数据已经收到，且已将输入数据传送到目的地址，然后等待</a:t>
              </a:r>
              <a:r>
                <a:rPr lang="en-US" altLang="zh-CN" sz="3200">
                  <a:solidFill>
                    <a:schemeClr val="tx2"/>
                  </a:solidFill>
                  <a:latin typeface="宋体" panose="02010600030101010101" pitchFamily="2" charset="-122"/>
                </a:rPr>
                <a:t>BIO</a:t>
              </a:r>
              <a:r>
                <a:rPr lang="zh-CN" altLang="en-US" sz="3200">
                  <a:solidFill>
                    <a:schemeClr val="tx2"/>
                  </a:solidFill>
                  <a:latin typeface="宋体" panose="02010600030101010101" pitchFamily="2" charset="-122"/>
                </a:rPr>
                <a:t>引脚变成高电平后，再将</a:t>
              </a:r>
              <a:r>
                <a:rPr lang="en-US" altLang="zh-CN" sz="3200">
                  <a:solidFill>
                    <a:schemeClr val="tx2"/>
                  </a:solidFill>
                  <a:latin typeface="宋体" panose="02010600030101010101" pitchFamily="2" charset="-122"/>
                </a:rPr>
                <a:t>XF</a:t>
              </a:r>
              <a:r>
                <a:rPr lang="zh-CN" altLang="en-US" sz="3200">
                  <a:solidFill>
                    <a:schemeClr val="tx2"/>
                  </a:solidFill>
                  <a:latin typeface="宋体" panose="02010600030101010101" pitchFamily="2" charset="-122"/>
                </a:rPr>
                <a:t>引脚置成低电平。主机查询</a:t>
              </a:r>
              <a:r>
                <a:rPr lang="en-US" altLang="zh-CN" sz="3200">
                  <a:solidFill>
                    <a:schemeClr val="tx2"/>
                  </a:solidFill>
                  <a:latin typeface="宋体" panose="02010600030101010101" pitchFamily="2" charset="-122"/>
                </a:rPr>
                <a:t>XF</a:t>
              </a:r>
              <a:r>
                <a:rPr lang="zh-CN" altLang="en-US" sz="3200">
                  <a:solidFill>
                    <a:schemeClr val="tx2"/>
                  </a:solidFill>
                  <a:latin typeface="宋体" panose="02010600030101010101" pitchFamily="2" charset="-122"/>
                </a:rPr>
                <a:t>线，若为低电平，就向</a:t>
              </a:r>
              <a:r>
                <a:rPr lang="en-US" altLang="zh-CN" sz="3200">
                  <a:solidFill>
                    <a:schemeClr val="tx2"/>
                  </a:solidFill>
                  <a:latin typeface="宋体" panose="02010600030101010101" pitchFamily="2" charset="-122"/>
                </a:rPr>
                <a:t>C54x</a:t>
              </a:r>
              <a:r>
                <a:rPr lang="zh-CN" altLang="en-US" sz="3200">
                  <a:solidFill>
                    <a:schemeClr val="tx2"/>
                  </a:solidFill>
                  <a:latin typeface="宋体" panose="02010600030101010101" pitchFamily="2" charset="-122"/>
                </a:rPr>
                <a:t>传送下一个数据。</a:t>
              </a:r>
            </a:p>
          </p:txBody>
        </p:sp>
        <p:sp>
          <p:nvSpPr>
            <p:cNvPr id="185349" name="Line 4"/>
            <p:cNvSpPr>
              <a:spLocks noChangeShapeType="1"/>
            </p:cNvSpPr>
            <p:nvPr/>
          </p:nvSpPr>
          <p:spPr bwMode="auto">
            <a:xfrm>
              <a:off x="4416" y="1968"/>
              <a:ext cx="336" cy="0"/>
            </a:xfrm>
            <a:prstGeom prst="line">
              <a:avLst/>
            </a:prstGeom>
            <a:noFill/>
            <a:ln w="28575">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5350" name="Line 5"/>
            <p:cNvSpPr>
              <a:spLocks noChangeShapeType="1"/>
            </p:cNvSpPr>
            <p:nvPr/>
          </p:nvSpPr>
          <p:spPr bwMode="auto">
            <a:xfrm>
              <a:off x="2880" y="2256"/>
              <a:ext cx="336" cy="0"/>
            </a:xfrm>
            <a:prstGeom prst="line">
              <a:avLst/>
            </a:prstGeom>
            <a:noFill/>
            <a:ln w="28575">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5351" name="Line 6"/>
            <p:cNvSpPr>
              <a:spLocks noChangeShapeType="1"/>
            </p:cNvSpPr>
            <p:nvPr/>
          </p:nvSpPr>
          <p:spPr bwMode="auto">
            <a:xfrm>
              <a:off x="3936" y="3024"/>
              <a:ext cx="336" cy="0"/>
            </a:xfrm>
            <a:prstGeom prst="line">
              <a:avLst/>
            </a:prstGeom>
            <a:noFill/>
            <a:ln w="28575">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5352" name="Line 7"/>
            <p:cNvSpPr>
              <a:spLocks noChangeShapeType="1"/>
            </p:cNvSpPr>
            <p:nvPr/>
          </p:nvSpPr>
          <p:spPr bwMode="auto">
            <a:xfrm>
              <a:off x="1584" y="1392"/>
              <a:ext cx="384"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373BE56B-945F-481C-9900-29DE6FA0E009}" type="slidenum">
              <a:rPr lang="en-US" altLang="zh-CN" sz="1400" b="0"/>
              <a:pPr eaLnBrk="1" hangingPunct="1"/>
              <a:t>180</a:t>
            </a:fld>
            <a:endParaRPr lang="en-US" altLang="zh-CN" sz="1400" b="0"/>
          </a:p>
        </p:txBody>
      </p:sp>
      <p:sp>
        <p:nvSpPr>
          <p:cNvPr id="186371" name="Rectangle 2"/>
          <p:cNvSpPr>
            <a:spLocks noChangeArrowheads="1"/>
          </p:cNvSpPr>
          <p:nvPr/>
        </p:nvSpPr>
        <p:spPr bwMode="auto">
          <a:xfrm>
            <a:off x="381000" y="1371600"/>
            <a:ext cx="8458200" cy="457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35000"/>
              </a:spcBef>
            </a:pPr>
            <a:r>
              <a:rPr lang="zh-CN" altLang="en-US" sz="3200">
                <a:latin typeface="宋体" panose="02010600030101010101" pitchFamily="2" charset="-122"/>
              </a:rPr>
              <a:t>当采用</a:t>
            </a:r>
            <a:r>
              <a:rPr lang="en-US" altLang="zh-CN" sz="3200">
                <a:latin typeface="宋体" panose="02010600030101010101" pitchFamily="2" charset="-122"/>
              </a:rPr>
              <a:t>8</a:t>
            </a:r>
            <a:r>
              <a:rPr lang="zh-CN" altLang="en-US" sz="3200">
                <a:latin typeface="宋体" panose="02010600030101010101" pitchFamily="2" charset="-122"/>
              </a:rPr>
              <a:t>位方式时，就从</a:t>
            </a:r>
            <a:r>
              <a:rPr lang="en-US" altLang="zh-CN" sz="3200">
                <a:latin typeface="宋体" panose="02010600030101010101" pitchFamily="2" charset="-122"/>
              </a:rPr>
              <a:t>I/O</a:t>
            </a:r>
            <a:r>
              <a:rPr lang="zh-CN" altLang="en-US" sz="3200">
                <a:latin typeface="宋体" panose="02010600030101010101" pitchFamily="2" charset="-122"/>
              </a:rPr>
              <a:t>的</a:t>
            </a:r>
            <a:r>
              <a:rPr lang="en-US" altLang="zh-CN" sz="3200">
                <a:latin typeface="宋体" panose="02010600030101010101" pitchFamily="2" charset="-122"/>
              </a:rPr>
              <a:t>0h</a:t>
            </a:r>
            <a:r>
              <a:rPr lang="zh-CN" altLang="en-US" sz="3200">
                <a:latin typeface="宋体" panose="02010600030101010101" pitchFamily="2" charset="-122"/>
              </a:rPr>
              <a:t>口读入低</a:t>
            </a:r>
            <a:r>
              <a:rPr lang="en-US" altLang="zh-CN" sz="3200">
                <a:latin typeface="宋体" panose="02010600030101010101" pitchFamily="2" charset="-122"/>
              </a:rPr>
              <a:t>8</a:t>
            </a:r>
            <a:r>
              <a:rPr lang="zh-CN" altLang="en-US" sz="3200">
                <a:latin typeface="宋体" panose="02010600030101010101" pitchFamily="2" charset="-122"/>
              </a:rPr>
              <a:t>位数据，忽略不管数据总线上的高</a:t>
            </a:r>
            <a:r>
              <a:rPr lang="en-US" altLang="zh-CN" sz="3200">
                <a:latin typeface="宋体" panose="02010600030101010101" pitchFamily="2" charset="-122"/>
              </a:rPr>
              <a:t>8</a:t>
            </a:r>
            <a:r>
              <a:rPr lang="zh-CN" altLang="en-US" sz="3200">
                <a:latin typeface="宋体" panose="02010600030101010101" pitchFamily="2" charset="-122"/>
              </a:rPr>
              <a:t>位数据。</a:t>
            </a:r>
            <a:r>
              <a:rPr lang="en-US" altLang="zh-CN" sz="3200">
                <a:latin typeface="宋体" panose="02010600030101010101" pitchFamily="2" charset="-122"/>
              </a:rPr>
              <a:t>C54x</a:t>
            </a:r>
            <a:r>
              <a:rPr lang="zh-CN" altLang="en-US" sz="3200">
                <a:latin typeface="宋体" panose="02010600030101010101" pitchFamily="2" charset="-122"/>
              </a:rPr>
              <a:t>按高字节在前，低字节在后，连续读出</a:t>
            </a:r>
            <a:r>
              <a:rPr lang="en-US" altLang="zh-CN" sz="3200">
                <a:latin typeface="宋体" panose="02010600030101010101" pitchFamily="2" charset="-122"/>
              </a:rPr>
              <a:t>2</a:t>
            </a:r>
            <a:r>
              <a:rPr lang="zh-CN" altLang="en-US" sz="3200">
                <a:latin typeface="宋体" panose="02010600030101010101" pitchFamily="2" charset="-122"/>
              </a:rPr>
              <a:t>个</a:t>
            </a:r>
            <a:r>
              <a:rPr lang="en-US" altLang="zh-CN" sz="3200">
                <a:latin typeface="宋体" panose="02010600030101010101" pitchFamily="2" charset="-122"/>
              </a:rPr>
              <a:t>8</a:t>
            </a:r>
            <a:r>
              <a:rPr lang="zh-CN" altLang="en-US" sz="3200">
                <a:latin typeface="宋体" panose="02010600030101010101" pitchFamily="2" charset="-122"/>
              </a:rPr>
              <a:t>位字节，形成一个</a:t>
            </a:r>
            <a:r>
              <a:rPr lang="en-US" altLang="zh-CN" sz="3200">
                <a:latin typeface="宋体" panose="02010600030101010101" pitchFamily="2" charset="-122"/>
              </a:rPr>
              <a:t>16</a:t>
            </a:r>
            <a:r>
              <a:rPr lang="zh-CN" altLang="en-US" sz="3200">
                <a:latin typeface="宋体" panose="02010600030101010101" pitchFamily="2" charset="-122"/>
              </a:rPr>
              <a:t>位字。</a:t>
            </a:r>
          </a:p>
          <a:p>
            <a:pPr eaLnBrk="1" hangingPunct="1">
              <a:lnSpc>
                <a:spcPct val="85000"/>
              </a:lnSpc>
              <a:spcBef>
                <a:spcPct val="35000"/>
              </a:spcBef>
            </a:pPr>
            <a:r>
              <a:rPr lang="en-US" altLang="zh-CN" sz="3200">
                <a:solidFill>
                  <a:srgbClr val="FF00FF"/>
                </a:solidFill>
                <a:latin typeface="宋体" panose="02010600030101010101" pitchFamily="2" charset="-122"/>
              </a:rPr>
              <a:t>C54x</a:t>
            </a:r>
            <a:r>
              <a:rPr lang="zh-CN" altLang="en-US" sz="3200">
                <a:solidFill>
                  <a:srgbClr val="FF00FF"/>
                </a:solidFill>
                <a:latin typeface="宋体" panose="02010600030101010101" pitchFamily="2" charset="-122"/>
              </a:rPr>
              <a:t>接收到的头两个</a:t>
            </a:r>
            <a:r>
              <a:rPr lang="en-US" altLang="zh-CN" sz="3200">
                <a:solidFill>
                  <a:srgbClr val="FF00FF"/>
                </a:solidFill>
                <a:latin typeface="宋体" panose="02010600030101010101" pitchFamily="2" charset="-122"/>
              </a:rPr>
              <a:t>16</a:t>
            </a:r>
            <a:r>
              <a:rPr lang="zh-CN" altLang="en-US" sz="3200">
                <a:solidFill>
                  <a:srgbClr val="FF00FF"/>
                </a:solidFill>
                <a:latin typeface="宋体" panose="02010600030101010101" pitchFamily="2" charset="-122"/>
              </a:rPr>
              <a:t>位字，必定是目的地址和程序代码长度。</a:t>
            </a:r>
          </a:p>
          <a:p>
            <a:pPr eaLnBrk="1" hangingPunct="1">
              <a:lnSpc>
                <a:spcPct val="85000"/>
              </a:lnSpc>
              <a:spcBef>
                <a:spcPct val="35000"/>
              </a:spcBef>
            </a:pPr>
            <a:r>
              <a:rPr lang="en-US" altLang="zh-CN" sz="3200">
                <a:solidFill>
                  <a:srgbClr val="FF00FF"/>
                </a:solidFill>
                <a:latin typeface="宋体" panose="02010600030101010101" pitchFamily="2" charset="-122"/>
              </a:rPr>
              <a:t>C54x</a:t>
            </a:r>
            <a:r>
              <a:rPr lang="zh-CN" altLang="en-US" sz="3200">
                <a:solidFill>
                  <a:srgbClr val="FF00FF"/>
                </a:solidFill>
                <a:latin typeface="宋体" panose="02010600030101010101" pitchFamily="2" charset="-122"/>
              </a:rPr>
              <a:t>每收到一个程序代码，就将其传送到目的地址所指的程序存储器。全部程序代码传送完毕后，自举加载程序就转到目的地址，开始执行程序代码。</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fld id="{E7850485-CA52-4020-85C7-7D0C35E39881}" type="slidenum">
              <a:rPr lang="en-US" altLang="zh-CN" sz="1400" b="0"/>
              <a:pPr eaLnBrk="1" hangingPunct="1"/>
              <a:t>181</a:t>
            </a:fld>
            <a:endParaRPr lang="en-US" altLang="zh-CN" sz="1400" b="0"/>
          </a:p>
        </p:txBody>
      </p:sp>
      <p:sp>
        <p:nvSpPr>
          <p:cNvPr id="187395" name="Rectangle 2" descr="小棋盘"/>
          <p:cNvSpPr>
            <a:spLocks noChangeArrowheads="1"/>
          </p:cNvSpPr>
          <p:nvPr/>
        </p:nvSpPr>
        <p:spPr bwMode="auto">
          <a:xfrm>
            <a:off x="2843213" y="981075"/>
            <a:ext cx="3657600" cy="528638"/>
          </a:xfrm>
          <a:prstGeom prst="rect">
            <a:avLst/>
          </a:prstGeom>
          <a:pattFill prst="smCheck">
            <a:fgClr>
              <a:srgbClr val="FFFF00"/>
            </a:fgClr>
            <a:bgClr>
              <a:srgbClr val="FFFFFF"/>
            </a:bgClr>
          </a:pattFill>
          <a:ln w="9525">
            <a:solidFill>
              <a:srgbClr val="FF00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6600"/>
                </a:solidFill>
                <a:latin typeface="宋体" panose="02010600030101010101" pitchFamily="2" charset="-122"/>
              </a:rPr>
              <a:t>(5)</a:t>
            </a:r>
            <a:r>
              <a:rPr lang="zh-CN" altLang="en-US" sz="2800">
                <a:solidFill>
                  <a:srgbClr val="006600"/>
                </a:solidFill>
                <a:latin typeface="宋体" panose="02010600030101010101" pitchFamily="2" charset="-122"/>
              </a:rPr>
              <a:t>从串行口自举加载</a:t>
            </a:r>
          </a:p>
        </p:txBody>
      </p:sp>
      <p:sp>
        <p:nvSpPr>
          <p:cNvPr id="187396" name="Rectangle 3"/>
          <p:cNvSpPr>
            <a:spLocks noChangeArrowheads="1"/>
          </p:cNvSpPr>
          <p:nvPr/>
        </p:nvSpPr>
        <p:spPr bwMode="auto">
          <a:xfrm>
            <a:off x="323850" y="1484313"/>
            <a:ext cx="8458200" cy="324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10000"/>
              </a:spcBef>
            </a:pPr>
            <a:r>
              <a:rPr lang="zh-CN" altLang="en-US" sz="2800">
                <a:solidFill>
                  <a:schemeClr val="tx2"/>
                </a:solidFill>
                <a:latin typeface="宋体" panose="02010600030101010101" pitchFamily="2" charset="-122"/>
              </a:rPr>
              <a:t>从串行口自举加载指</a:t>
            </a:r>
            <a:r>
              <a:rPr lang="en-US" altLang="zh-CN" sz="2800">
                <a:solidFill>
                  <a:schemeClr val="tx2"/>
                </a:solidFill>
                <a:latin typeface="宋体" panose="02010600030101010101" pitchFamily="2" charset="-122"/>
              </a:rPr>
              <a:t>C54x</a:t>
            </a:r>
            <a:r>
              <a:rPr lang="zh-CN" altLang="en-US" sz="2800">
                <a:solidFill>
                  <a:schemeClr val="tx2"/>
                </a:solidFill>
                <a:latin typeface="宋体" panose="02010600030101010101" pitchFamily="2" charset="-122"/>
              </a:rPr>
              <a:t>从串行口传送程序代码至程序存储器，并执行程序。</a:t>
            </a:r>
          </a:p>
          <a:p>
            <a:pPr eaLnBrk="1" hangingPunct="1">
              <a:lnSpc>
                <a:spcPct val="80000"/>
              </a:lnSpc>
              <a:spcBef>
                <a:spcPct val="10000"/>
              </a:spcBef>
            </a:pPr>
            <a:r>
              <a:rPr lang="zh-CN" altLang="en-US" sz="2800">
                <a:latin typeface="宋体" panose="02010600030101010101" pitchFamily="2" charset="-122"/>
              </a:rPr>
              <a:t>从串行口自举加载，需要自举程序选择字</a:t>
            </a:r>
            <a:r>
              <a:rPr lang="en-US" altLang="zh-CN" sz="2800">
                <a:latin typeface="宋体" panose="02010600030101010101" pitchFamily="2" charset="-122"/>
              </a:rPr>
              <a:t>BRS</a:t>
            </a:r>
            <a:r>
              <a:rPr lang="zh-CN" altLang="en-US" sz="2800">
                <a:latin typeface="宋体" panose="02010600030101010101" pitchFamily="2" charset="-122"/>
              </a:rPr>
              <a:t>提供更多的信息，以确定是按字还是按字节传送、串行口的类型、以及</a:t>
            </a:r>
            <a:r>
              <a:rPr lang="en-US" altLang="zh-CN" sz="2800">
                <a:latin typeface="宋体" panose="02010600030101010101" pitchFamily="2" charset="-122"/>
              </a:rPr>
              <a:t>FSX/CLKX</a:t>
            </a:r>
            <a:r>
              <a:rPr lang="zh-CN" altLang="en-US" sz="2800">
                <a:latin typeface="宋体" panose="02010600030101010101" pitchFamily="2" charset="-122"/>
              </a:rPr>
              <a:t>信号是输出还是输入等等。</a:t>
            </a:r>
          </a:p>
          <a:p>
            <a:pPr eaLnBrk="1" hangingPunct="1">
              <a:lnSpc>
                <a:spcPct val="80000"/>
              </a:lnSpc>
              <a:spcBef>
                <a:spcPct val="10000"/>
              </a:spcBef>
            </a:pPr>
            <a:r>
              <a:rPr lang="zh-CN" altLang="en-US" sz="2800">
                <a:solidFill>
                  <a:srgbClr val="FF00FF"/>
                </a:solidFill>
                <a:latin typeface="宋体" panose="02010600030101010101" pitchFamily="2" charset="-122"/>
              </a:rPr>
              <a:t>在串行传送数据时，头两个字分别是目的地址和程序代码长度。</a:t>
            </a:r>
            <a:r>
              <a:rPr lang="en-US" altLang="zh-CN" sz="2800">
                <a:solidFill>
                  <a:srgbClr val="FF00FF"/>
                </a:solidFill>
                <a:latin typeface="宋体" panose="02010600030101010101" pitchFamily="2" charset="-122"/>
              </a:rPr>
              <a:t>C54x</a:t>
            </a:r>
            <a:r>
              <a:rPr lang="zh-CN" altLang="en-US" sz="2800">
                <a:solidFill>
                  <a:srgbClr val="FF00FF"/>
                </a:solidFill>
                <a:latin typeface="宋体" panose="02010600030101010101" pitchFamily="2" charset="-122"/>
              </a:rPr>
              <a:t>每接收到一个程序代码后，立即传送至程序存储器，即目的地址，直到全部程序代码传送完毕，再转到目的地址执行程序。</a:t>
            </a:r>
          </a:p>
        </p:txBody>
      </p:sp>
      <p:grpSp>
        <p:nvGrpSpPr>
          <p:cNvPr id="187397" name="Group 27"/>
          <p:cNvGrpSpPr>
            <a:grpSpLocks/>
          </p:cNvGrpSpPr>
          <p:nvPr/>
        </p:nvGrpSpPr>
        <p:grpSpPr bwMode="auto">
          <a:xfrm>
            <a:off x="827088" y="4719638"/>
            <a:ext cx="7480300" cy="2058987"/>
            <a:chOff x="521" y="2778"/>
            <a:chExt cx="4712" cy="1297"/>
          </a:xfrm>
        </p:grpSpPr>
        <p:sp>
          <p:nvSpPr>
            <p:cNvPr id="187398" name="Rectangle 6"/>
            <p:cNvSpPr>
              <a:spLocks noChangeArrowheads="1"/>
            </p:cNvSpPr>
            <p:nvPr/>
          </p:nvSpPr>
          <p:spPr bwMode="auto">
            <a:xfrm>
              <a:off x="4144" y="2825"/>
              <a:ext cx="1089" cy="1195"/>
            </a:xfrm>
            <a:prstGeom prst="rect">
              <a:avLst/>
            </a:prstGeom>
            <a:solidFill>
              <a:schemeClr val="fo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7399" name="Rectangle 7"/>
            <p:cNvSpPr>
              <a:spLocks noChangeArrowheads="1"/>
            </p:cNvSpPr>
            <p:nvPr/>
          </p:nvSpPr>
          <p:spPr bwMode="auto">
            <a:xfrm>
              <a:off x="521" y="2778"/>
              <a:ext cx="2087" cy="1287"/>
            </a:xfrm>
            <a:prstGeom prst="rect">
              <a:avLst/>
            </a:prstGeom>
            <a:solidFill>
              <a:schemeClr val="hlink"/>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7400" name="Rectangle 8"/>
            <p:cNvSpPr>
              <a:spLocks noChangeArrowheads="1"/>
            </p:cNvSpPr>
            <p:nvPr/>
          </p:nvSpPr>
          <p:spPr bwMode="auto">
            <a:xfrm>
              <a:off x="687" y="2840"/>
              <a:ext cx="725" cy="635"/>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7401" name="Text Box 9"/>
            <p:cNvSpPr txBox="1">
              <a:spLocks noChangeArrowheads="1"/>
            </p:cNvSpPr>
            <p:nvPr/>
          </p:nvSpPr>
          <p:spPr bwMode="auto">
            <a:xfrm>
              <a:off x="794" y="2931"/>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RAM</a:t>
              </a:r>
            </a:p>
          </p:txBody>
        </p:sp>
        <p:sp>
          <p:nvSpPr>
            <p:cNvPr id="187402" name="Text Box 10"/>
            <p:cNvSpPr txBox="1">
              <a:spLocks noChangeArrowheads="1"/>
            </p:cNvSpPr>
            <p:nvPr/>
          </p:nvSpPr>
          <p:spPr bwMode="auto">
            <a:xfrm>
              <a:off x="748" y="3169"/>
              <a:ext cx="590" cy="256"/>
            </a:xfrm>
            <a:prstGeom prst="rect">
              <a:avLst/>
            </a:prstGeom>
            <a:solidFill>
              <a:srgbClr val="CC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CODE</a:t>
              </a:r>
            </a:p>
          </p:txBody>
        </p:sp>
        <p:sp>
          <p:nvSpPr>
            <p:cNvPr id="187403" name="Rectangle 11"/>
            <p:cNvSpPr>
              <a:spLocks noChangeArrowheads="1"/>
            </p:cNvSpPr>
            <p:nvPr/>
          </p:nvSpPr>
          <p:spPr bwMode="auto">
            <a:xfrm>
              <a:off x="1721" y="2840"/>
              <a:ext cx="725" cy="635"/>
            </a:xfrm>
            <a:prstGeom prst="rect">
              <a:avLst/>
            </a:prstGeom>
            <a:solidFill>
              <a:srgbClr val="FFFF99"/>
            </a:solidFill>
            <a:ln w="9525">
              <a:solidFill>
                <a:schemeClr val="tx1"/>
              </a:solidFill>
              <a:miter lim="800000"/>
              <a:headEnd/>
              <a:tailEnd/>
            </a:ln>
          </p:spPr>
          <p:txBody>
            <a:bodyPr wrap="none"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7404" name="Text Box 12"/>
            <p:cNvSpPr txBox="1">
              <a:spLocks noChangeArrowheads="1"/>
            </p:cNvSpPr>
            <p:nvPr/>
          </p:nvSpPr>
          <p:spPr bwMode="auto">
            <a:xfrm>
              <a:off x="1837" y="2931"/>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ROM</a:t>
              </a:r>
            </a:p>
          </p:txBody>
        </p:sp>
        <p:sp>
          <p:nvSpPr>
            <p:cNvPr id="187405" name="Text Box 13"/>
            <p:cNvSpPr txBox="1">
              <a:spLocks noChangeArrowheads="1"/>
            </p:cNvSpPr>
            <p:nvPr/>
          </p:nvSpPr>
          <p:spPr bwMode="auto">
            <a:xfrm>
              <a:off x="1791" y="3169"/>
              <a:ext cx="590" cy="256"/>
            </a:xfrm>
            <a:prstGeom prst="rect">
              <a:avLst/>
            </a:prstGeom>
            <a:solidFill>
              <a:srgbClr val="00FFFF"/>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BOOT</a:t>
              </a:r>
            </a:p>
          </p:txBody>
        </p:sp>
        <p:sp>
          <p:nvSpPr>
            <p:cNvPr id="187406" name="Text Box 14"/>
            <p:cNvSpPr txBox="1">
              <a:spLocks noChangeArrowheads="1"/>
            </p:cNvSpPr>
            <p:nvPr/>
          </p:nvSpPr>
          <p:spPr bwMode="auto">
            <a:xfrm>
              <a:off x="1156" y="3748"/>
              <a:ext cx="8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a:solidFill>
                    <a:srgbClr val="FF0000"/>
                  </a:solidFill>
                </a:rPr>
                <a:t>C54x</a:t>
              </a:r>
            </a:p>
          </p:txBody>
        </p:sp>
        <p:sp>
          <p:nvSpPr>
            <p:cNvPr id="187407" name="Text Box 15"/>
            <p:cNvSpPr txBox="1">
              <a:spLocks noChangeArrowheads="1"/>
            </p:cNvSpPr>
            <p:nvPr/>
          </p:nvSpPr>
          <p:spPr bwMode="auto">
            <a:xfrm>
              <a:off x="4241" y="3067"/>
              <a:ext cx="8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solidFill>
                    <a:schemeClr val="bg1"/>
                  </a:solidFill>
                </a:rPr>
                <a:t>HOST</a:t>
              </a:r>
            </a:p>
          </p:txBody>
        </p:sp>
        <p:sp>
          <p:nvSpPr>
            <p:cNvPr id="187408" name="Text Box 16"/>
            <p:cNvSpPr txBox="1">
              <a:spLocks noChangeArrowheads="1"/>
            </p:cNvSpPr>
            <p:nvPr/>
          </p:nvSpPr>
          <p:spPr bwMode="auto">
            <a:xfrm>
              <a:off x="4332" y="3430"/>
              <a:ext cx="590" cy="390"/>
            </a:xfrm>
            <a:prstGeom prst="rect">
              <a:avLst/>
            </a:prstGeom>
            <a:solidFill>
              <a:schemeClr val="tx2"/>
            </a:solidFill>
            <a:ln w="9525">
              <a:solidFill>
                <a:srgbClr val="FF6600"/>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a:solidFill>
                    <a:srgbClr val="CCFFFF"/>
                  </a:solidFill>
                </a:rPr>
                <a:t>USER</a:t>
              </a:r>
            </a:p>
            <a:p>
              <a:pPr eaLnBrk="1" hangingPunct="1">
                <a:lnSpc>
                  <a:spcPct val="85000"/>
                </a:lnSpc>
              </a:pPr>
              <a:r>
                <a:rPr lang="en-US" altLang="zh-CN">
                  <a:solidFill>
                    <a:srgbClr val="CCFFFF"/>
                  </a:solidFill>
                </a:rPr>
                <a:t>CODE</a:t>
              </a:r>
            </a:p>
          </p:txBody>
        </p:sp>
        <p:sp>
          <p:nvSpPr>
            <p:cNvPr id="187409" name="Text Box 18"/>
            <p:cNvSpPr txBox="1">
              <a:spLocks noChangeArrowheads="1"/>
            </p:cNvSpPr>
            <p:nvPr/>
          </p:nvSpPr>
          <p:spPr bwMode="auto">
            <a:xfrm>
              <a:off x="3198" y="3290"/>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t>3</a:t>
              </a:r>
            </a:p>
          </p:txBody>
        </p:sp>
        <p:sp>
          <p:nvSpPr>
            <p:cNvPr id="187410" name="Line 20"/>
            <p:cNvSpPr>
              <a:spLocks noChangeShapeType="1"/>
            </p:cNvSpPr>
            <p:nvPr/>
          </p:nvSpPr>
          <p:spPr bwMode="auto">
            <a:xfrm>
              <a:off x="2602" y="3638"/>
              <a:ext cx="1543" cy="0"/>
            </a:xfrm>
            <a:prstGeom prst="line">
              <a:avLst/>
            </a:prstGeom>
            <a:noFill/>
            <a:ln w="5715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7411" name="Line 21"/>
            <p:cNvSpPr>
              <a:spLocks noChangeShapeType="1"/>
            </p:cNvSpPr>
            <p:nvPr/>
          </p:nvSpPr>
          <p:spPr bwMode="auto">
            <a:xfrm flipH="1">
              <a:off x="3198" y="3562"/>
              <a:ext cx="136" cy="13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7412" name="Text Box 22"/>
            <p:cNvSpPr txBox="1">
              <a:spLocks noChangeArrowheads="1"/>
            </p:cNvSpPr>
            <p:nvPr/>
          </p:nvSpPr>
          <p:spPr bwMode="auto">
            <a:xfrm>
              <a:off x="1701" y="3521"/>
              <a:ext cx="861" cy="218"/>
            </a:xfrm>
            <a:prstGeom prst="rect">
              <a:avLst/>
            </a:prstGeom>
            <a:solidFill>
              <a:srgbClr val="FF00FF"/>
            </a:solidFill>
            <a:ln w="9525">
              <a:solidFill>
                <a:srgbClr val="FF00FF"/>
              </a:solidFill>
              <a:miter lim="800000"/>
              <a:headEnd/>
              <a:tailEnd/>
            </a:ln>
          </p:spPr>
          <p:txBody>
            <a:bodyPr>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a:solidFill>
                    <a:schemeClr val="bg1"/>
                  </a:solidFill>
                </a:rPr>
                <a:t>SP</a:t>
              </a:r>
              <a:r>
                <a:rPr lang="zh-CN" altLang="en-US">
                  <a:solidFill>
                    <a:schemeClr val="bg1"/>
                  </a:solidFill>
                </a:rPr>
                <a:t>或</a:t>
              </a:r>
              <a:r>
                <a:rPr lang="en-US" altLang="zh-CN">
                  <a:solidFill>
                    <a:schemeClr val="bg1"/>
                  </a:solidFill>
                </a:rPr>
                <a:t>TDM</a:t>
              </a:r>
            </a:p>
          </p:txBody>
        </p:sp>
      </p:grpSp>
    </p:spTree>
  </p:cSld>
  <p:clrMapOvr>
    <a:masterClrMapping/>
  </p:clrMapOvr>
</p:sld>
</file>

<file path=ppt/theme/theme1.xml><?xml version="1.0" encoding="utf-8"?>
<a:theme xmlns:a="http://schemas.openxmlformats.org/drawingml/2006/main" name="cjyppt052">
  <a:themeElements>
    <a:clrScheme name="">
      <a:dk1>
        <a:srgbClr val="0000CC"/>
      </a:dk1>
      <a:lt1>
        <a:srgbClr val="FFFFFF"/>
      </a:lt1>
      <a:dk2>
        <a:srgbClr val="008000"/>
      </a:dk2>
      <a:lt2>
        <a:srgbClr val="00FF00"/>
      </a:lt2>
      <a:accent1>
        <a:srgbClr val="FFFF00"/>
      </a:accent1>
      <a:accent2>
        <a:srgbClr val="FF99FF"/>
      </a:accent2>
      <a:accent3>
        <a:srgbClr val="FFFFFF"/>
      </a:accent3>
      <a:accent4>
        <a:srgbClr val="0000AE"/>
      </a:accent4>
      <a:accent5>
        <a:srgbClr val="FFFFAA"/>
      </a:accent5>
      <a:accent6>
        <a:srgbClr val="E78AE7"/>
      </a:accent6>
      <a:hlink>
        <a:srgbClr val="66FF33"/>
      </a:hlink>
      <a:folHlink>
        <a:srgbClr val="9900CC"/>
      </a:folHlink>
    </a:clrScheme>
    <a:fontScheme name="cjyppt052">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0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0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cjyp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jyp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jyp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jyp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jyp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jyp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jyp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12508</TotalTime>
  <Words>15467</Words>
  <Application>Microsoft Office PowerPoint</Application>
  <PresentationFormat>全屏显示(4:3)</PresentationFormat>
  <Paragraphs>3548</Paragraphs>
  <Slides>181</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2</vt:i4>
      </vt:variant>
      <vt:variant>
        <vt:lpstr>幻灯片标题</vt:lpstr>
      </vt:variant>
      <vt:variant>
        <vt:i4>181</vt:i4>
      </vt:variant>
    </vt:vector>
  </HeadingPairs>
  <TitlesOfParts>
    <vt:vector size="188" baseType="lpstr">
      <vt:lpstr>宋体</vt:lpstr>
      <vt:lpstr>Arial</vt:lpstr>
      <vt:lpstr>Tahoma</vt:lpstr>
      <vt:lpstr>Times New Roman</vt:lpstr>
      <vt:lpstr>cjyppt052</vt:lpstr>
      <vt:lpstr>公式</vt:lpstr>
      <vt:lpstr>BMP 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算术逻辑运算单元 </vt:lpstr>
      <vt:lpstr>PowerPoint 演示文稿</vt:lpstr>
      <vt:lpstr>PowerPoint 演示文稿</vt:lpstr>
      <vt:lpstr>PowerPoint 演示文稿</vt:lpstr>
      <vt:lpstr>PowerPoint 演示文稿</vt:lpstr>
      <vt:lpstr>PowerPoint 演示文稿</vt:lpstr>
      <vt:lpstr>PowerPoint 演示文稿</vt:lpstr>
      <vt:lpstr>2. 累加器A和B</vt:lpstr>
      <vt:lpstr>PowerPoint 演示文稿</vt:lpstr>
      <vt:lpstr>PowerPoint 演示文稿</vt:lpstr>
      <vt:lpstr>PowerPoint 演示文稿</vt:lpstr>
      <vt:lpstr>3．桶形移位器的功能  </vt:lpstr>
      <vt:lpstr>PowerPoint 演示文稿</vt:lpstr>
      <vt:lpstr>PowerPoint 演示文稿</vt:lpstr>
      <vt:lpstr>PowerPoint 演示文稿</vt:lpstr>
      <vt:lpstr>4．乘法器/加法器 </vt:lpstr>
      <vt:lpstr>PowerPoint 演示文稿</vt:lpstr>
      <vt:lpstr>PowerPoint 演示文稿</vt:lpstr>
      <vt:lpstr>PowerPoint 演示文稿</vt:lpstr>
      <vt:lpstr>PowerPoint 演示文稿</vt:lpstr>
      <vt:lpstr>5．比较、选择和存储单元 </vt:lpstr>
      <vt:lpstr>PowerPoint 演示文稿</vt:lpstr>
      <vt:lpstr>6．指数编码器</vt:lpstr>
      <vt:lpstr>PowerPoint 演示文稿</vt:lpstr>
      <vt:lpstr>7．CPU状态和控制寄存器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内部总线结构</vt:lpstr>
      <vt:lpstr>PowerPoint 演示文稿</vt:lpstr>
      <vt:lpstr>PowerPoint 演示文稿</vt:lpstr>
      <vt:lpstr>PowerPoint 演示文稿</vt:lpstr>
      <vt:lpstr>第四节  C54x芯片的存储器结构</vt:lpstr>
      <vt:lpstr>PowerPoint 演示文稿</vt:lpstr>
      <vt:lpstr>二、哈佛结构存储空间分配 </vt:lpstr>
      <vt:lpstr>PowerPoint 演示文稿</vt:lpstr>
      <vt:lpstr>1．存储器空间的划分与交叉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3．数据存储器 </vt:lpstr>
      <vt:lpstr>PowerPoint 演示文稿</vt:lpstr>
      <vt:lpstr>PowerPoint 演示文稿</vt:lpstr>
      <vt:lpstr>RAM分块目的</vt:lpstr>
      <vt:lpstr>PowerPoint 演示文稿</vt:lpstr>
      <vt:lpstr>DARAM前1K数据存储器的配置 </vt:lpstr>
      <vt:lpstr>4．存储器映像寄存器 </vt:lpstr>
      <vt:lpstr>PowerPoint 演示文稿</vt:lpstr>
      <vt:lpstr>PowerPoint 演示文稿</vt:lpstr>
      <vt:lpstr>PowerPoint 演示文稿</vt:lpstr>
      <vt:lpstr>PowerPoint 演示文稿</vt:lpstr>
      <vt:lpstr>二、定时器 </vt:lpstr>
      <vt:lpstr>PowerPoint 演示文稿</vt:lpstr>
      <vt:lpstr>PowerPoint 演示文稿</vt:lpstr>
      <vt:lpstr>PowerPoint 演示文稿</vt:lpstr>
      <vt:lpstr>PowerPoint 演示文稿</vt:lpstr>
      <vt:lpstr>PowerPoint 演示文稿</vt:lpstr>
      <vt:lpstr>编程举例 </vt:lpstr>
      <vt:lpstr>三、时钟发生器 </vt:lpstr>
      <vt:lpstr>时钟频率 </vt:lpstr>
      <vt:lpstr>PowerPoint 演示文稿</vt:lpstr>
      <vt:lpstr>PowerPoint 演示文稿</vt:lpstr>
      <vt:lpstr>软件编程时钟方式 </vt:lpstr>
      <vt:lpstr>PowerPoint 演示文稿</vt:lpstr>
      <vt:lpstr>PowerPoint 演示文稿</vt:lpstr>
      <vt:lpstr>锁定定时器 </vt:lpstr>
      <vt:lpstr>PowerPoint 演示文稿</vt:lpstr>
      <vt:lpstr>设计举例 </vt:lpstr>
      <vt:lpstr>四、复位电路 </vt:lpstr>
      <vt:lpstr>PowerPoint 演示文稿</vt:lpstr>
      <vt:lpstr>五、主机接口 </vt:lpstr>
      <vt:lpstr>PowerPoint 演示文稿</vt:lpstr>
      <vt:lpstr>PowerPoint 演示文稿</vt:lpstr>
      <vt:lpstr>PowerPoint 演示文稿</vt:lpstr>
      <vt:lpstr>HPI两种工作方式 </vt:lpstr>
      <vt:lpstr>PowerPoint 演示文稿</vt:lpstr>
      <vt:lpstr>HPI与主机的连接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第六节  串行口 </vt:lpstr>
      <vt:lpstr>PowerPoint 演示文稿</vt:lpstr>
      <vt:lpstr>一、标准串口SP </vt:lpstr>
      <vt:lpstr>1.串行口组成 </vt:lpstr>
      <vt:lpstr>标准串口SP特点 </vt:lpstr>
      <vt:lpstr>串行口连接方法 </vt:lpstr>
      <vt:lpstr>PowerPoint 演示文稿</vt:lpstr>
      <vt:lpstr>PowerPoint 演示文稿</vt:lpstr>
      <vt:lpstr>2．串行口控制寄存器 </vt:lpstr>
      <vt:lpstr>PowerPoint 演示文稿</vt:lpstr>
      <vt:lpstr>PowerPoint 演示文稿</vt:lpstr>
      <vt:lpstr>3. 标准串口SP的使用 </vt:lpstr>
      <vt:lpstr>二、缓冲串行口（BSP） </vt:lpstr>
      <vt:lpstr>1．缓冲串行口的组成 </vt:lpstr>
      <vt:lpstr>2．缓冲串行口的工作模式 </vt:lpstr>
      <vt:lpstr>3．自动缓冲单元ABU</vt:lpstr>
      <vt:lpstr>PowerPoint 演示文稿</vt:lpstr>
      <vt:lpstr>循环寻址原理 </vt:lpstr>
      <vt:lpstr>PowerPoint 演示文稿</vt:lpstr>
      <vt:lpstr>PowerPoint 演示文稿</vt:lpstr>
      <vt:lpstr>三、时分多路串行口（TDM） </vt:lpstr>
      <vt:lpstr>PowerPoint 演示文稿</vt:lpstr>
      <vt:lpstr>PowerPoint 演示文稿</vt:lpstr>
      <vt:lpstr>第七节  外设接口 </vt:lpstr>
      <vt:lpstr>PowerPoint 演示文稿</vt:lpstr>
      <vt:lpstr>PowerPoint 演示文稿</vt:lpstr>
      <vt:lpstr>2．外部总线操作的优先级别 </vt:lpstr>
      <vt:lpstr>3．外部接口时序图 </vt:lpstr>
      <vt:lpstr>PowerPoint 演示文稿</vt:lpstr>
      <vt:lpstr>PowerPoint 演示文稿</vt:lpstr>
      <vt:lpstr>二、外设接口的速度配合</vt:lpstr>
      <vt:lpstr>插入等待状态数与外部器件的存取时间的关系</vt:lpstr>
      <vt:lpstr>2．软件等待状态发生器 </vt:lpstr>
      <vt:lpstr>等待应用举例 </vt:lpstr>
      <vt:lpstr>PowerPoint 演示文稿</vt:lpstr>
      <vt:lpstr>PowerPoint 演示文稿</vt:lpstr>
      <vt:lpstr>3.利用软件等待实现 接口的速度配合</vt:lpstr>
      <vt:lpstr>PowerPoint 演示文稿</vt:lpstr>
      <vt:lpstr>PowerPoint 演示文稿</vt:lpstr>
      <vt:lpstr>4．利用硬件等待实现接口的速度配合 </vt:lpstr>
      <vt:lpstr>PowerPoint 演示文稿</vt:lpstr>
      <vt:lpstr>PowerPoint 演示文稿</vt:lpstr>
      <vt:lpstr>三、分区转换逻辑 </vt:lpstr>
      <vt:lpstr>外部存储器的分区 </vt:lpstr>
      <vt:lpstr>PowerPoint 演示文稿</vt:lpstr>
      <vt:lpstr>PowerPoint 演示文稿</vt:lpstr>
      <vt:lpstr>PowerPoint 演示文稿</vt:lpstr>
      <vt:lpstr>3．“唤醒”IDLE3省电方式</vt:lpstr>
      <vt:lpstr>PowerPoint 演示文稿</vt:lpstr>
      <vt:lpstr>中断唤醒条件：当CLKOUT频率为40MHz时</vt:lpstr>
      <vt:lpstr>PowerPoint 演示文稿</vt:lpstr>
      <vt:lpstr>PowerPoint 演示文稿</vt:lpstr>
      <vt:lpstr>二、保持方式 </vt:lpstr>
      <vt:lpstr>C54x在保持状态的工作方式 </vt:lpstr>
      <vt:lpstr>第九节  中断处理 </vt:lpstr>
      <vt:lpstr>PowerPoint 演示文稿</vt:lpstr>
      <vt:lpstr>二、中断标志寄存器（IFR）和中断屏蔽寄存器（IMR） </vt:lpstr>
      <vt:lpstr>三、中断处理过程</vt:lpstr>
      <vt:lpstr>中断向量地址计算举例</vt:lpstr>
      <vt:lpstr>PowerPoint 演示文稿</vt:lpstr>
      <vt:lpstr>PowerPoint 演示文稿</vt:lpstr>
      <vt:lpstr>（2）外部中断响应的时间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sc-cdut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chenjy</dc:creator>
  <cp:lastModifiedBy>Z</cp:lastModifiedBy>
  <cp:revision>261</cp:revision>
  <dcterms:created xsi:type="dcterms:W3CDTF">2005-02-26T02:40:41Z</dcterms:created>
  <dcterms:modified xsi:type="dcterms:W3CDTF">2022-03-09T08:43:40Z</dcterms:modified>
</cp:coreProperties>
</file>