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22"/>
  </p:notesMasterIdLst>
  <p:sldIdLst>
    <p:sldId id="545" r:id="rId2"/>
    <p:sldId id="546" r:id="rId3"/>
    <p:sldId id="547" r:id="rId4"/>
    <p:sldId id="548" r:id="rId5"/>
    <p:sldId id="549" r:id="rId6"/>
    <p:sldId id="550" r:id="rId7"/>
    <p:sldId id="551" r:id="rId8"/>
    <p:sldId id="552" r:id="rId9"/>
    <p:sldId id="553" r:id="rId10"/>
    <p:sldId id="702" r:id="rId11"/>
    <p:sldId id="554" r:id="rId12"/>
    <p:sldId id="555" r:id="rId13"/>
    <p:sldId id="556" r:id="rId14"/>
    <p:sldId id="557" r:id="rId15"/>
    <p:sldId id="558" r:id="rId16"/>
    <p:sldId id="559" r:id="rId17"/>
    <p:sldId id="560" r:id="rId18"/>
    <p:sldId id="561" r:id="rId19"/>
    <p:sldId id="562" r:id="rId20"/>
    <p:sldId id="563" r:id="rId21"/>
    <p:sldId id="564" r:id="rId22"/>
    <p:sldId id="565" r:id="rId23"/>
    <p:sldId id="566" r:id="rId24"/>
    <p:sldId id="567" r:id="rId25"/>
    <p:sldId id="568" r:id="rId26"/>
    <p:sldId id="569" r:id="rId27"/>
    <p:sldId id="570" r:id="rId28"/>
    <p:sldId id="571" r:id="rId29"/>
    <p:sldId id="572" r:id="rId30"/>
    <p:sldId id="573" r:id="rId31"/>
    <p:sldId id="574" r:id="rId32"/>
    <p:sldId id="575" r:id="rId33"/>
    <p:sldId id="576" r:id="rId34"/>
    <p:sldId id="577" r:id="rId35"/>
    <p:sldId id="578" r:id="rId36"/>
    <p:sldId id="579" r:id="rId37"/>
    <p:sldId id="580" r:id="rId38"/>
    <p:sldId id="581" r:id="rId39"/>
    <p:sldId id="582" r:id="rId40"/>
    <p:sldId id="583" r:id="rId41"/>
    <p:sldId id="584" r:id="rId42"/>
    <p:sldId id="585" r:id="rId43"/>
    <p:sldId id="586" r:id="rId44"/>
    <p:sldId id="587" r:id="rId45"/>
    <p:sldId id="667" r:id="rId46"/>
    <p:sldId id="588" r:id="rId47"/>
    <p:sldId id="589" r:id="rId48"/>
    <p:sldId id="590" r:id="rId49"/>
    <p:sldId id="591" r:id="rId50"/>
    <p:sldId id="592" r:id="rId51"/>
    <p:sldId id="593" r:id="rId52"/>
    <p:sldId id="594" r:id="rId53"/>
    <p:sldId id="595" r:id="rId54"/>
    <p:sldId id="596" r:id="rId55"/>
    <p:sldId id="597" r:id="rId56"/>
    <p:sldId id="598" r:id="rId57"/>
    <p:sldId id="599" r:id="rId58"/>
    <p:sldId id="600" r:id="rId59"/>
    <p:sldId id="601" r:id="rId60"/>
    <p:sldId id="602" r:id="rId61"/>
    <p:sldId id="603" r:id="rId62"/>
    <p:sldId id="604" r:id="rId63"/>
    <p:sldId id="605" r:id="rId64"/>
    <p:sldId id="606" r:id="rId65"/>
    <p:sldId id="607" r:id="rId66"/>
    <p:sldId id="613" r:id="rId67"/>
    <p:sldId id="614" r:id="rId68"/>
    <p:sldId id="615" r:id="rId69"/>
    <p:sldId id="616" r:id="rId70"/>
    <p:sldId id="617" r:id="rId71"/>
    <p:sldId id="618" r:id="rId72"/>
    <p:sldId id="619" r:id="rId73"/>
    <p:sldId id="620" r:id="rId74"/>
    <p:sldId id="621" r:id="rId75"/>
    <p:sldId id="622" r:id="rId76"/>
    <p:sldId id="623" r:id="rId77"/>
    <p:sldId id="624" r:id="rId78"/>
    <p:sldId id="625" r:id="rId79"/>
    <p:sldId id="626" r:id="rId80"/>
    <p:sldId id="627" r:id="rId81"/>
    <p:sldId id="628" r:id="rId82"/>
    <p:sldId id="629" r:id="rId83"/>
    <p:sldId id="630" r:id="rId84"/>
    <p:sldId id="631" r:id="rId85"/>
    <p:sldId id="632" r:id="rId86"/>
    <p:sldId id="633" r:id="rId87"/>
    <p:sldId id="634" r:id="rId88"/>
    <p:sldId id="635" r:id="rId89"/>
    <p:sldId id="701" r:id="rId90"/>
    <p:sldId id="636" r:id="rId91"/>
    <p:sldId id="637" r:id="rId92"/>
    <p:sldId id="638" r:id="rId93"/>
    <p:sldId id="639" r:id="rId94"/>
    <p:sldId id="640" r:id="rId95"/>
    <p:sldId id="641" r:id="rId96"/>
    <p:sldId id="642" r:id="rId97"/>
    <p:sldId id="643" r:id="rId98"/>
    <p:sldId id="644" r:id="rId99"/>
    <p:sldId id="645" r:id="rId100"/>
    <p:sldId id="646" r:id="rId101"/>
    <p:sldId id="647" r:id="rId102"/>
    <p:sldId id="648" r:id="rId103"/>
    <p:sldId id="649" r:id="rId104"/>
    <p:sldId id="650" r:id="rId105"/>
    <p:sldId id="651" r:id="rId106"/>
    <p:sldId id="652" r:id="rId107"/>
    <p:sldId id="653" r:id="rId108"/>
    <p:sldId id="654" r:id="rId109"/>
    <p:sldId id="655" r:id="rId110"/>
    <p:sldId id="656" r:id="rId111"/>
    <p:sldId id="657" r:id="rId112"/>
    <p:sldId id="658" r:id="rId113"/>
    <p:sldId id="659" r:id="rId114"/>
    <p:sldId id="660" r:id="rId115"/>
    <p:sldId id="661" r:id="rId116"/>
    <p:sldId id="662" r:id="rId117"/>
    <p:sldId id="663" r:id="rId118"/>
    <p:sldId id="664" r:id="rId119"/>
    <p:sldId id="665" r:id="rId120"/>
    <p:sldId id="666" r:id="rId121"/>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FF00FF"/>
    <a:srgbClr val="FF0000"/>
    <a:srgbClr val="00FFFF"/>
    <a:srgbClr val="000000"/>
    <a:srgbClr val="FF6600"/>
    <a:srgbClr val="FFFF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30" autoAdjust="0"/>
    <p:restoredTop sz="95697" autoAdjust="0"/>
  </p:normalViewPr>
  <p:slideViewPr>
    <p:cSldViewPr>
      <p:cViewPr varScale="1">
        <p:scale>
          <a:sx n="59" d="100"/>
          <a:sy n="59" d="100"/>
        </p:scale>
        <p:origin x="48" y="32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847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1"/>
            </a:lvl1pPr>
          </a:lstStyle>
          <a:p>
            <a:pPr>
              <a:defRPr/>
            </a:pPr>
            <a:endParaRPr lang="en-US" altLang="zh-CN"/>
          </a:p>
        </p:txBody>
      </p:sp>
      <p:sp>
        <p:nvSpPr>
          <p:cNvPr id="1064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1"/>
            </a:lvl1pPr>
          </a:lstStyle>
          <a:p>
            <a:pPr>
              <a:defRPr/>
            </a:pPr>
            <a:endParaRPr lang="en-US" altLang="zh-CN"/>
          </a:p>
        </p:txBody>
      </p:sp>
      <p:sp>
        <p:nvSpPr>
          <p:cNvPr id="1239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5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065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1"/>
            </a:lvl1pPr>
          </a:lstStyle>
          <a:p>
            <a:pPr>
              <a:defRPr/>
            </a:pPr>
            <a:endParaRPr lang="en-US" altLang="zh-CN"/>
          </a:p>
        </p:txBody>
      </p:sp>
      <p:sp>
        <p:nvSpPr>
          <p:cNvPr id="1065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1"/>
            </a:lvl1pPr>
          </a:lstStyle>
          <a:p>
            <a:fld id="{EE0A1546-0AB7-4D97-9FCA-8F9D89DB8E52}" type="slidenum">
              <a:rPr lang="en-US" altLang="zh-CN"/>
              <a:pPr/>
              <a:t>‹#›</a:t>
            </a:fld>
            <a:endParaRPr lang="en-US" altLang="zh-CN"/>
          </a:p>
        </p:txBody>
      </p:sp>
    </p:spTree>
    <p:extLst>
      <p:ext uri="{BB962C8B-B14F-4D97-AF65-F5344CB8AC3E}">
        <p14:creationId xmlns:p14="http://schemas.microsoft.com/office/powerpoint/2010/main" val="10309793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BDCAD5AD-D530-4174-B601-5CA972644EB4}" type="slidenum">
              <a:rPr lang="en-US" altLang="zh-CN"/>
              <a:pPr/>
              <a:t>‹#›</a:t>
            </a:fld>
            <a:endParaRPr lang="en-US" altLang="zh-CN"/>
          </a:p>
        </p:txBody>
      </p:sp>
    </p:spTree>
    <p:extLst>
      <p:ext uri="{BB962C8B-B14F-4D97-AF65-F5344CB8AC3E}">
        <p14:creationId xmlns:p14="http://schemas.microsoft.com/office/powerpoint/2010/main" val="2368810506"/>
      </p:ext>
    </p:extLst>
  </p:cSld>
  <p:clrMapOvr>
    <a:masterClrMapping/>
  </p:clrMapOvr>
  <p:transition spd="med">
    <p:pull dir="l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308F9F67-5B89-4059-822D-A322FE5CA3F5}" type="slidenum">
              <a:rPr lang="en-US" altLang="zh-CN"/>
              <a:pPr/>
              <a:t>‹#›</a:t>
            </a:fld>
            <a:endParaRPr lang="en-US" altLang="zh-CN"/>
          </a:p>
        </p:txBody>
      </p:sp>
    </p:spTree>
    <p:extLst>
      <p:ext uri="{BB962C8B-B14F-4D97-AF65-F5344CB8AC3E}">
        <p14:creationId xmlns:p14="http://schemas.microsoft.com/office/powerpoint/2010/main" val="2566334723"/>
      </p:ext>
    </p:extLst>
  </p:cSld>
  <p:clrMapOvr>
    <a:masterClrMapping/>
  </p:clrMapOvr>
  <p:transition spd="med">
    <p:pull dir="l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B641251A-32CA-4912-8A82-AE911C17D1B6}" type="slidenum">
              <a:rPr lang="en-US" altLang="zh-CN"/>
              <a:pPr/>
              <a:t>‹#›</a:t>
            </a:fld>
            <a:endParaRPr lang="en-US" altLang="zh-CN"/>
          </a:p>
        </p:txBody>
      </p:sp>
    </p:spTree>
    <p:extLst>
      <p:ext uri="{BB962C8B-B14F-4D97-AF65-F5344CB8AC3E}">
        <p14:creationId xmlns:p14="http://schemas.microsoft.com/office/powerpoint/2010/main" val="3110290722"/>
      </p:ext>
    </p:extLst>
  </p:cSld>
  <p:clrMapOvr>
    <a:masterClrMapping/>
  </p:clrMapOvr>
  <p:transition spd="med">
    <p:pull dir="l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fld id="{4411A88C-EACC-4C13-B240-0D29975C876B}" type="slidenum">
              <a:rPr lang="en-US" altLang="zh-CN"/>
              <a:pPr/>
              <a:t>‹#›</a:t>
            </a:fld>
            <a:endParaRPr lang="en-US" altLang="zh-CN"/>
          </a:p>
        </p:txBody>
      </p:sp>
    </p:spTree>
    <p:extLst>
      <p:ext uri="{BB962C8B-B14F-4D97-AF65-F5344CB8AC3E}">
        <p14:creationId xmlns:p14="http://schemas.microsoft.com/office/powerpoint/2010/main" val="1314224278"/>
      </p:ext>
    </p:extLst>
  </p:cSld>
  <p:clrMapOvr>
    <a:masterClrMapping/>
  </p:clrMapOvr>
  <p:transition spd="med">
    <p:pull dir="l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
          <p:cNvSpPr>
            <a:spLocks noGrp="1" noChangeArrowheads="1"/>
          </p:cNvSpPr>
          <p:nvPr>
            <p:ph type="sldNum" sz="quarter" idx="12"/>
          </p:nvPr>
        </p:nvSpPr>
        <p:spPr>
          <a:ln/>
        </p:spPr>
        <p:txBody>
          <a:bodyPr/>
          <a:lstStyle>
            <a:lvl1pPr>
              <a:defRPr/>
            </a:lvl1pPr>
          </a:lstStyle>
          <a:p>
            <a:fld id="{7B4C7BE9-D365-42B7-B609-34B5793C1A4D}" type="slidenum">
              <a:rPr lang="en-US" altLang="zh-CN"/>
              <a:pPr/>
              <a:t>‹#›</a:t>
            </a:fld>
            <a:endParaRPr lang="en-US" altLang="zh-CN"/>
          </a:p>
        </p:txBody>
      </p:sp>
    </p:spTree>
    <p:extLst>
      <p:ext uri="{BB962C8B-B14F-4D97-AF65-F5344CB8AC3E}">
        <p14:creationId xmlns:p14="http://schemas.microsoft.com/office/powerpoint/2010/main" val="3017181279"/>
      </p:ext>
    </p:extLst>
  </p:cSld>
  <p:clrMapOvr>
    <a:masterClrMapping/>
  </p:clrMapOvr>
  <p:transition spd="med">
    <p:pull dir="l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2"/>
          </p:nvPr>
        </p:nvSpPr>
        <p:spPr>
          <a:ln/>
        </p:spPr>
        <p:txBody>
          <a:bodyPr/>
          <a:lstStyle>
            <a:lvl1pPr>
              <a:defRPr/>
            </a:lvl1pPr>
          </a:lstStyle>
          <a:p>
            <a:fld id="{E4553542-C759-4BD9-B808-2E68F5BFDA9E}" type="slidenum">
              <a:rPr lang="en-US" altLang="zh-CN"/>
              <a:pPr/>
              <a:t>‹#›</a:t>
            </a:fld>
            <a:endParaRPr lang="en-US" altLang="zh-CN"/>
          </a:p>
        </p:txBody>
      </p:sp>
    </p:spTree>
    <p:extLst>
      <p:ext uri="{BB962C8B-B14F-4D97-AF65-F5344CB8AC3E}">
        <p14:creationId xmlns:p14="http://schemas.microsoft.com/office/powerpoint/2010/main" val="1100001257"/>
      </p:ext>
    </p:extLst>
  </p:cSld>
  <p:clrMapOvr>
    <a:masterClrMapping/>
  </p:clrMapOvr>
  <p:transition spd="med">
    <p:pull dir="l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
          <p:cNvSpPr>
            <a:spLocks noGrp="1" noChangeArrowheads="1"/>
          </p:cNvSpPr>
          <p:nvPr>
            <p:ph type="sldNum" sz="quarter" idx="12"/>
          </p:nvPr>
        </p:nvSpPr>
        <p:spPr>
          <a:ln/>
        </p:spPr>
        <p:txBody>
          <a:bodyPr/>
          <a:lstStyle>
            <a:lvl1pPr>
              <a:defRPr/>
            </a:lvl1pPr>
          </a:lstStyle>
          <a:p>
            <a:fld id="{DF011E87-8675-4605-8E3A-B4F3DD5CACEF}" type="slidenum">
              <a:rPr lang="en-US" altLang="zh-CN"/>
              <a:pPr/>
              <a:t>‹#›</a:t>
            </a:fld>
            <a:endParaRPr lang="en-US" altLang="zh-CN"/>
          </a:p>
        </p:txBody>
      </p:sp>
    </p:spTree>
    <p:extLst>
      <p:ext uri="{BB962C8B-B14F-4D97-AF65-F5344CB8AC3E}">
        <p14:creationId xmlns:p14="http://schemas.microsoft.com/office/powerpoint/2010/main" val="1806387437"/>
      </p:ext>
    </p:extLst>
  </p:cSld>
  <p:clrMapOvr>
    <a:masterClrMapping/>
  </p:clrMapOvr>
  <p:transition spd="med">
    <p:pull dir="l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fld id="{0887E8C4-7C41-448E-81D4-D80AA8C1DDFB}" type="slidenum">
              <a:rPr lang="en-US" altLang="zh-CN"/>
              <a:pPr/>
              <a:t>‹#›</a:t>
            </a:fld>
            <a:endParaRPr lang="en-US" altLang="zh-CN"/>
          </a:p>
        </p:txBody>
      </p:sp>
    </p:spTree>
    <p:extLst>
      <p:ext uri="{BB962C8B-B14F-4D97-AF65-F5344CB8AC3E}">
        <p14:creationId xmlns:p14="http://schemas.microsoft.com/office/powerpoint/2010/main" val="534253846"/>
      </p:ext>
    </p:extLst>
  </p:cSld>
  <p:clrMapOvr>
    <a:masterClrMapping/>
  </p:clrMapOvr>
  <p:transition spd="med">
    <p:pull dir="l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fld id="{C32D6652-1501-47E9-902A-DC2A93CB08AA}" type="slidenum">
              <a:rPr lang="en-US" altLang="zh-CN"/>
              <a:pPr/>
              <a:t>‹#›</a:t>
            </a:fld>
            <a:endParaRPr lang="en-US" altLang="zh-CN"/>
          </a:p>
        </p:txBody>
      </p:sp>
    </p:spTree>
    <p:extLst>
      <p:ext uri="{BB962C8B-B14F-4D97-AF65-F5344CB8AC3E}">
        <p14:creationId xmlns:p14="http://schemas.microsoft.com/office/powerpoint/2010/main" val="4228209185"/>
      </p:ext>
    </p:extLst>
  </p:cSld>
  <p:clrMapOvr>
    <a:masterClrMapping/>
  </p:clrMapOvr>
  <p:transition spd="med">
    <p:pull dir="l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7900D3F6-97B3-412D-AB02-41E6DB078F29}" type="slidenum">
              <a:rPr lang="en-US" altLang="zh-CN"/>
              <a:pPr/>
              <a:t>‹#›</a:t>
            </a:fld>
            <a:endParaRPr lang="en-US" altLang="zh-CN"/>
          </a:p>
        </p:txBody>
      </p:sp>
    </p:spTree>
    <p:extLst>
      <p:ext uri="{BB962C8B-B14F-4D97-AF65-F5344CB8AC3E}">
        <p14:creationId xmlns:p14="http://schemas.microsoft.com/office/powerpoint/2010/main" val="1200496981"/>
      </p:ext>
    </p:extLst>
  </p:cSld>
  <p:clrMapOvr>
    <a:masterClrMapping/>
  </p:clrMapOvr>
  <p:transition spd="med">
    <p:pull dir="l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fld id="{2DDC7C5A-367C-4355-8F2D-D71C9DF00C06}" type="slidenum">
              <a:rPr lang="en-US" altLang="zh-CN"/>
              <a:pPr/>
              <a:t>‹#›</a:t>
            </a:fld>
            <a:endParaRPr lang="en-US" altLang="zh-CN"/>
          </a:p>
        </p:txBody>
      </p:sp>
    </p:spTree>
    <p:extLst>
      <p:ext uri="{BB962C8B-B14F-4D97-AF65-F5344CB8AC3E}">
        <p14:creationId xmlns:p14="http://schemas.microsoft.com/office/powerpoint/2010/main" val="1298302332"/>
      </p:ext>
    </p:extLst>
  </p:cSld>
  <p:clrMapOvr>
    <a:masterClrMapping/>
  </p:clrMapOvr>
  <p:transition spd="med">
    <p:pull dir="l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2"/>
          </p:nvPr>
        </p:nvSpPr>
        <p:spPr>
          <a:ln/>
        </p:spPr>
        <p:txBody>
          <a:bodyPr/>
          <a:lstStyle>
            <a:lvl1pPr>
              <a:defRPr/>
            </a:lvl1pPr>
          </a:lstStyle>
          <a:p>
            <a:fld id="{3DBDB610-9B72-46C3-BD81-3E3BA232AFC7}" type="slidenum">
              <a:rPr lang="en-US" altLang="zh-CN"/>
              <a:pPr/>
              <a:t>‹#›</a:t>
            </a:fld>
            <a:endParaRPr lang="en-US" altLang="zh-CN"/>
          </a:p>
        </p:txBody>
      </p:sp>
    </p:spTree>
    <p:extLst>
      <p:ext uri="{BB962C8B-B14F-4D97-AF65-F5344CB8AC3E}">
        <p14:creationId xmlns:p14="http://schemas.microsoft.com/office/powerpoint/2010/main" val="4080054543"/>
      </p:ext>
    </p:extLst>
  </p:cSld>
  <p:clrMapOvr>
    <a:masterClrMapping/>
  </p:clrMapOvr>
  <p:transition spd="med">
    <p:pull dir="l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dt" sz="half" idx="2"/>
          </p:nvPr>
        </p:nvSpPr>
        <p:spPr bwMode="auto">
          <a:xfrm>
            <a:off x="228600" y="6172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10595" name="Rectangle 3"/>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10596" name="Rectangle 4"/>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0C7BAC2B-4FAA-470B-AB4D-A4EF74701B73}" type="slidenum">
              <a:rPr lang="en-US" altLang="zh-CN"/>
              <a:pPr/>
              <a:t>‹#›</a:t>
            </a:fld>
            <a:endParaRPr lang="en-US" altLang="zh-CN"/>
          </a:p>
        </p:txBody>
      </p:sp>
      <p:pic>
        <p:nvPicPr>
          <p:cNvPr id="3" name="图片 2">
            <a:extLst>
              <a:ext uri="{FF2B5EF4-FFF2-40B4-BE49-F238E27FC236}">
                <a16:creationId xmlns:a16="http://schemas.microsoft.com/office/drawing/2014/main" id="{8F90C777-3EE9-4BB4-A3F1-9709235604D0}"/>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27384"/>
            <a:ext cx="9144000" cy="825661"/>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1" r:id="rId2"/>
    <p:sldLayoutId id="2147483660" r:id="rId3"/>
    <p:sldLayoutId id="2147483659" r:id="rId4"/>
    <p:sldLayoutId id="2147483658" r:id="rId5"/>
    <p:sldLayoutId id="2147483657" r:id="rId6"/>
    <p:sldLayoutId id="2147483656" r:id="rId7"/>
    <p:sldLayoutId id="2147483655" r:id="rId8"/>
    <p:sldLayoutId id="2147483654" r:id="rId9"/>
    <p:sldLayoutId id="2147483653" r:id="rId10"/>
    <p:sldLayoutId id="2147483652" r:id="rId11"/>
    <p:sldLayoutId id="2147483651" r:id="rId12"/>
  </p:sldLayoutIdLst>
  <p:transition spd="med">
    <p:pull dir="lu"/>
  </p:transition>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4.png"/><Relationship Id="rId4" Type="http://schemas.openxmlformats.org/officeDocument/2006/relationships/image" Target="../media/image5.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4.png"/><Relationship Id="rId4" Type="http://schemas.openxmlformats.org/officeDocument/2006/relationships/image" Target="../media/image6.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8.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9.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0.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5.wmf"/></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7.wmf"/><Relationship Id="rId5" Type="http://schemas.openxmlformats.org/officeDocument/2006/relationships/oleObject" Target="../embeddings/oleObject11.bin"/><Relationship Id="rId4" Type="http://schemas.openxmlformats.org/officeDocument/2006/relationships/image" Target="../media/image16.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20.wmf"/><Relationship Id="rId5" Type="http://schemas.openxmlformats.org/officeDocument/2006/relationships/oleObject" Target="../embeddings/oleObject15.bin"/><Relationship Id="rId4" Type="http://schemas.openxmlformats.org/officeDocument/2006/relationships/image" Target="../media/image19.wmf"/></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image" Target="../media/image21.wm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23.w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28.png"/><Relationship Id="rId4" Type="http://schemas.openxmlformats.org/officeDocument/2006/relationships/image" Target="../media/image27.wm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29.wmf"/></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08E95EA-7100-4760-8A80-7B76157DBD5D}" type="slidenum">
              <a:rPr lang="en-US" altLang="zh-CN" sz="1400"/>
              <a:pPr eaLnBrk="1" hangingPunct="1"/>
              <a:t>1</a:t>
            </a:fld>
            <a:endParaRPr lang="en-US" altLang="zh-CN" sz="1400"/>
          </a:p>
        </p:txBody>
      </p:sp>
      <p:sp>
        <p:nvSpPr>
          <p:cNvPr id="782338" name="Rectangle 2"/>
          <p:cNvSpPr>
            <a:spLocks noChangeArrowheads="1"/>
          </p:cNvSpPr>
          <p:nvPr/>
        </p:nvSpPr>
        <p:spPr bwMode="auto">
          <a:xfrm>
            <a:off x="3275856" y="5445224"/>
            <a:ext cx="26564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chemeClr val="tx2"/>
                </a:solidFill>
              </a:rPr>
              <a:t>机电工程学院</a:t>
            </a:r>
          </a:p>
        </p:txBody>
      </p:sp>
      <p:sp>
        <p:nvSpPr>
          <p:cNvPr id="16391" name="AutoShape 6">
            <a:hlinkClick r:id="" action="ppaction://hlinkshowjump?jump=nextslide" highlightClick="1"/>
          </p:cNvPr>
          <p:cNvSpPr>
            <a:spLocks noChangeArrowheads="1"/>
          </p:cNvSpPr>
          <p:nvPr/>
        </p:nvSpPr>
        <p:spPr bwMode="auto">
          <a:xfrm>
            <a:off x="4267200" y="6324600"/>
            <a:ext cx="381000" cy="304800"/>
          </a:xfrm>
          <a:prstGeom prst="actionButtonForwardNex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 name="Rectangle 3">
            <a:extLst>
              <a:ext uri="{FF2B5EF4-FFF2-40B4-BE49-F238E27FC236}">
                <a16:creationId xmlns:a16="http://schemas.microsoft.com/office/drawing/2014/main" id="{280F8283-B561-407B-9A0D-C1620B5C0DB3}"/>
              </a:ext>
            </a:extLst>
          </p:cNvPr>
          <p:cNvSpPr>
            <a:spLocks noChangeArrowheads="1"/>
          </p:cNvSpPr>
          <p:nvPr/>
        </p:nvSpPr>
        <p:spPr bwMode="auto">
          <a:xfrm>
            <a:off x="1143000" y="1851025"/>
            <a:ext cx="73167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Times New Roman" panose="02020603050405020304" pitchFamily="18" charset="0"/>
                <a:ea typeface="宋体" panose="02010600030101010101" pitchFamily="2" charset="-122"/>
              </a:defRPr>
            </a:lvl1pPr>
            <a:lvl2pPr marL="742950" indent="-285750">
              <a:defRPr kumimoji="1" sz="2000" b="1">
                <a:solidFill>
                  <a:schemeClr val="tx1"/>
                </a:solidFill>
                <a:latin typeface="Times New Roman" panose="02020603050405020304" pitchFamily="18" charset="0"/>
                <a:ea typeface="宋体" panose="02010600030101010101" pitchFamily="2" charset="-122"/>
              </a:defRPr>
            </a:lvl2pPr>
            <a:lvl3pPr marL="1143000" indent="-228600">
              <a:defRPr kumimoji="1" sz="2000" b="1">
                <a:solidFill>
                  <a:schemeClr val="tx1"/>
                </a:solidFill>
                <a:latin typeface="Times New Roman" panose="02020603050405020304" pitchFamily="18" charset="0"/>
                <a:ea typeface="宋体" panose="02010600030101010101" pitchFamily="2" charset="-122"/>
              </a:defRPr>
            </a:lvl3pPr>
            <a:lvl4pPr marL="1600200" indent="-228600">
              <a:defRPr kumimoji="1" sz="2000" b="1">
                <a:solidFill>
                  <a:schemeClr val="tx1"/>
                </a:solidFill>
                <a:latin typeface="Times New Roman" panose="02020603050405020304" pitchFamily="18" charset="0"/>
                <a:ea typeface="宋体" panose="02010600030101010101" pitchFamily="2" charset="-122"/>
              </a:defRPr>
            </a:lvl4pPr>
            <a:lvl5pPr marL="2057400" indent="-228600">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400" dirty="0">
                <a:solidFill>
                  <a:srgbClr val="FF0000"/>
                </a:solidFill>
              </a:rPr>
              <a:t>数字信号处理硬件设计技术</a:t>
            </a:r>
            <a:r>
              <a:rPr lang="zh-CN" altLang="en-US" sz="2400" b="0"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82338"/>
                                        </p:tgtEl>
                                        <p:attrNameLst>
                                          <p:attrName>style.visibility</p:attrName>
                                        </p:attrNameLst>
                                      </p:cBhvr>
                                      <p:to>
                                        <p:strVal val="visible"/>
                                      </p:to>
                                    </p:set>
                                    <p:animEffect transition="in" filter="slide(fromTop)">
                                      <p:cBhvr>
                                        <p:cTn id="7" dur="500"/>
                                        <p:tgtEl>
                                          <p:spTgt spid="782338"/>
                                        </p:tgtEl>
                                      </p:cBhvr>
                                    </p:animEffect>
                                  </p:childTnLst>
                                </p:cTn>
                              </p:par>
                            </p:childTnLst>
                          </p:cTn>
                        </p:par>
                        <p:par>
                          <p:cTn id="8" fill="hold">
                            <p:stCondLst>
                              <p:cond delay="500"/>
                            </p:stCondLst>
                            <p:childTnLst>
                              <p:par>
                                <p:cTn id="9" presetID="12" presetClass="entr" presetSubtype="1" fill="hold" grpId="0" nodeType="afterEffect">
                                  <p:stCondLst>
                                    <p:cond delay="0"/>
                                  </p:stCondLst>
                                  <p:iterate type="lt">
                                    <p:tmPct val="0"/>
                                  </p:iterate>
                                  <p:childTnLst>
                                    <p:set>
                                      <p:cBhvr>
                                        <p:cTn id="10" dur="1" fill="hold">
                                          <p:stCondLst>
                                            <p:cond delay="0"/>
                                          </p:stCondLst>
                                        </p:cTn>
                                        <p:tgtEl>
                                          <p:spTgt spid="7"/>
                                        </p:tgtEl>
                                        <p:attrNameLst>
                                          <p:attrName>style.visibility</p:attrName>
                                        </p:attrNameLst>
                                      </p:cBhvr>
                                      <p:to>
                                        <p:strVal val="visible"/>
                                      </p:to>
                                    </p:set>
                                    <p:animEffect transition="in" filter="slide(fromTo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38"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FF116BB-BDF1-40CA-BD76-87659D08D623}" type="slidenum">
              <a:rPr lang="en-US" altLang="zh-CN" sz="1400"/>
              <a:pPr eaLnBrk="1" hangingPunct="1"/>
              <a:t>2</a:t>
            </a:fld>
            <a:endParaRPr lang="en-US" altLang="zh-CN" sz="1400"/>
          </a:p>
        </p:txBody>
      </p:sp>
      <p:sp>
        <p:nvSpPr>
          <p:cNvPr id="783362" name="Rectangle 2"/>
          <p:cNvSpPr>
            <a:spLocks noChangeArrowheads="1"/>
          </p:cNvSpPr>
          <p:nvPr/>
        </p:nvSpPr>
        <p:spPr bwMode="auto">
          <a:xfrm>
            <a:off x="1219200" y="1371600"/>
            <a:ext cx="67675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400" b="1">
                <a:solidFill>
                  <a:srgbClr val="FF0000"/>
                </a:solidFill>
              </a:rPr>
              <a:t>第五章  汇编语言编程举例 </a:t>
            </a:r>
          </a:p>
        </p:txBody>
      </p:sp>
      <p:sp>
        <p:nvSpPr>
          <p:cNvPr id="783363" name="Rectangle 3" descr="小棋盘"/>
          <p:cNvSpPr>
            <a:spLocks noChangeArrowheads="1"/>
          </p:cNvSpPr>
          <p:nvPr/>
        </p:nvSpPr>
        <p:spPr bwMode="auto">
          <a:xfrm>
            <a:off x="914400" y="2362200"/>
            <a:ext cx="7543800" cy="2919413"/>
          </a:xfrm>
          <a:prstGeom prst="rect">
            <a:avLst/>
          </a:prstGeom>
          <a:pattFill prst="smCheck">
            <a:fgClr>
              <a:schemeClr val="accent1"/>
            </a:fgClr>
            <a:bgClr>
              <a:srgbClr val="FFFFFF"/>
            </a:bgClr>
          </a:pattFill>
          <a:ln w="2857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en-US" sz="3600" b="1">
                <a:solidFill>
                  <a:srgbClr val="339933"/>
                </a:solidFill>
                <a:latin typeface="宋体" panose="02010600030101010101" pitchFamily="2" charset="-122"/>
              </a:rPr>
              <a:t>第一节　汇编语言编程的基本方法 </a:t>
            </a:r>
          </a:p>
          <a:p>
            <a:pPr eaLnBrk="1" hangingPunct="1">
              <a:lnSpc>
                <a:spcPct val="90000"/>
              </a:lnSpc>
              <a:spcBef>
                <a:spcPct val="50000"/>
              </a:spcBef>
            </a:pPr>
            <a:r>
              <a:rPr lang="zh-CN" altLang="en-US" sz="3600" b="1">
                <a:solidFill>
                  <a:srgbClr val="339933"/>
                </a:solidFill>
                <a:latin typeface="宋体" panose="02010600030101010101" pitchFamily="2" charset="-122"/>
              </a:rPr>
              <a:t>第二节  </a:t>
            </a:r>
            <a:r>
              <a:rPr lang="en-US" altLang="zh-CN" sz="3600" b="1">
                <a:solidFill>
                  <a:srgbClr val="339933"/>
                </a:solidFill>
                <a:latin typeface="宋体" panose="02010600030101010101" pitchFamily="2" charset="-122"/>
              </a:rPr>
              <a:t>DSP</a:t>
            </a:r>
            <a:r>
              <a:rPr lang="zh-CN" altLang="en-US" sz="3600" b="1">
                <a:solidFill>
                  <a:srgbClr val="339933"/>
                </a:solidFill>
                <a:latin typeface="宋体" panose="02010600030101010101" pitchFamily="2" charset="-122"/>
              </a:rPr>
              <a:t>的浮点运算方法 </a:t>
            </a:r>
          </a:p>
          <a:p>
            <a:pPr eaLnBrk="1" hangingPunct="1">
              <a:lnSpc>
                <a:spcPct val="90000"/>
              </a:lnSpc>
              <a:spcBef>
                <a:spcPct val="50000"/>
              </a:spcBef>
            </a:pPr>
            <a:r>
              <a:rPr lang="zh-CN" altLang="en-US" sz="3600" b="1">
                <a:solidFill>
                  <a:srgbClr val="339933"/>
                </a:solidFill>
                <a:latin typeface="宋体" panose="02010600030101010101" pitchFamily="2" charset="-122"/>
              </a:rPr>
              <a:t>第三节  </a:t>
            </a:r>
            <a:r>
              <a:rPr lang="en-US" altLang="zh-CN" sz="3600" b="1">
                <a:solidFill>
                  <a:srgbClr val="008000"/>
                </a:solidFill>
                <a:latin typeface="宋体" panose="02010600030101010101" pitchFamily="2" charset="-122"/>
              </a:rPr>
              <a:t>DSP</a:t>
            </a:r>
            <a:r>
              <a:rPr lang="zh-CN" altLang="en-US" sz="3600" b="1">
                <a:solidFill>
                  <a:srgbClr val="008000"/>
                </a:solidFill>
                <a:latin typeface="宋体" panose="02010600030101010101" pitchFamily="2" charset="-122"/>
              </a:rPr>
              <a:t>在信号发生器上的应用 </a:t>
            </a:r>
          </a:p>
          <a:p>
            <a:pPr eaLnBrk="1" hangingPunct="1">
              <a:lnSpc>
                <a:spcPct val="90000"/>
              </a:lnSpc>
              <a:spcBef>
                <a:spcPct val="50000"/>
              </a:spcBef>
            </a:pPr>
            <a:r>
              <a:rPr lang="zh-CN" altLang="en-US" sz="3600" b="1">
                <a:solidFill>
                  <a:srgbClr val="008000"/>
                </a:solidFill>
                <a:latin typeface="宋体" panose="02010600030101010101" pitchFamily="2" charset="-122"/>
              </a:rPr>
              <a:t>第四节  用</a:t>
            </a:r>
            <a:r>
              <a:rPr lang="en-US" altLang="zh-CN" sz="3600" b="1">
                <a:solidFill>
                  <a:srgbClr val="008000"/>
                </a:solidFill>
                <a:latin typeface="宋体" panose="02010600030101010101" pitchFamily="2" charset="-122"/>
              </a:rPr>
              <a:t>DSP</a:t>
            </a:r>
            <a:r>
              <a:rPr lang="zh-CN" altLang="en-US" sz="3600" b="1">
                <a:solidFill>
                  <a:srgbClr val="008000"/>
                </a:solidFill>
                <a:latin typeface="宋体" panose="02010600030101010101" pitchFamily="2" charset="-122"/>
              </a:rPr>
              <a:t>实现</a:t>
            </a:r>
            <a:r>
              <a:rPr lang="en-US" altLang="zh-CN" sz="3600" b="1">
                <a:solidFill>
                  <a:srgbClr val="008000"/>
                </a:solidFill>
                <a:latin typeface="宋体" panose="02010600030101010101" pitchFamily="2" charset="-122"/>
              </a:rPr>
              <a:t>FIR</a:t>
            </a:r>
            <a:r>
              <a:rPr lang="zh-CN" altLang="en-US" sz="3600" b="1">
                <a:solidFill>
                  <a:srgbClr val="008000"/>
                </a:solidFill>
                <a:latin typeface="宋体" panose="02010600030101010101" pitchFamily="2" charset="-122"/>
              </a:rPr>
              <a:t>滤波器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83362"/>
                                        </p:tgtEl>
                                        <p:attrNameLst>
                                          <p:attrName>style.visibility</p:attrName>
                                        </p:attrNameLst>
                                      </p:cBhvr>
                                      <p:to>
                                        <p:strVal val="visible"/>
                                      </p:to>
                                    </p:set>
                                    <p:animEffect transition="in" filter="slide(fromTop)">
                                      <p:cBhvr>
                                        <p:cTn id="7" dur="500"/>
                                        <p:tgtEl>
                                          <p:spTgt spid="783362"/>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83363"/>
                                        </p:tgtEl>
                                        <p:attrNameLst>
                                          <p:attrName>style.visibility</p:attrName>
                                        </p:attrNameLst>
                                      </p:cBhvr>
                                      <p:to>
                                        <p:strVal val="visible"/>
                                      </p:to>
                                    </p:set>
                                    <p:animEffect transition="in" filter="slide(fromBottom)">
                                      <p:cBhvr>
                                        <p:cTn id="11" dur="500"/>
                                        <p:tgtEl>
                                          <p:spTgt spid="783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362" grpId="0"/>
      <p:bldP spid="78336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CF198BE-D659-4ACE-BFDB-BBA546C969D2}" type="slidenum">
              <a:rPr lang="en-US" altLang="zh-CN" sz="1400"/>
              <a:pPr eaLnBrk="1" hangingPunct="1"/>
              <a:t>3</a:t>
            </a:fld>
            <a:endParaRPr lang="en-US" altLang="zh-CN" sz="1400"/>
          </a:p>
        </p:txBody>
      </p:sp>
      <p:sp>
        <p:nvSpPr>
          <p:cNvPr id="784386" name="Rectangle 2" descr="小棋盘"/>
          <p:cNvSpPr>
            <a:spLocks noChangeArrowheads="1"/>
          </p:cNvSpPr>
          <p:nvPr/>
        </p:nvSpPr>
        <p:spPr bwMode="auto">
          <a:xfrm>
            <a:off x="762000" y="1247775"/>
            <a:ext cx="7626350" cy="650875"/>
          </a:xfrm>
          <a:prstGeom prst="rect">
            <a:avLst/>
          </a:prstGeom>
          <a:pattFill prst="smCheck">
            <a:fgClr>
              <a:schemeClr val="accent1"/>
            </a:fgClr>
            <a:bgClr>
              <a:schemeClr val="bg1"/>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b="1">
                <a:solidFill>
                  <a:srgbClr val="FF0000"/>
                </a:solidFill>
              </a:rPr>
              <a:t>第一节  汇编语言编程的基本方法</a:t>
            </a:r>
            <a:r>
              <a:rPr lang="zh-CN" altLang="en-US" sz="3600" b="1">
                <a:solidFill>
                  <a:schemeClr val="tx2"/>
                </a:solidFill>
              </a:rPr>
              <a:t> </a:t>
            </a:r>
          </a:p>
        </p:txBody>
      </p:sp>
      <p:sp>
        <p:nvSpPr>
          <p:cNvPr id="784387" name="Rectangle 3" descr="小棋盘"/>
          <p:cNvSpPr>
            <a:spLocks noChangeArrowheads="1"/>
          </p:cNvSpPr>
          <p:nvPr/>
        </p:nvSpPr>
        <p:spPr bwMode="auto">
          <a:xfrm>
            <a:off x="2743200" y="2057400"/>
            <a:ext cx="32004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1</a:t>
            </a:r>
            <a:r>
              <a:rPr lang="zh-CN" altLang="en-US" sz="3200" b="1">
                <a:solidFill>
                  <a:srgbClr val="FF0000"/>
                </a:solidFill>
                <a:latin typeface="宋体" panose="02010600030101010101" pitchFamily="2" charset="-122"/>
                <a:ea typeface="仿宋_GB2312" pitchFamily="49" charset="-122"/>
              </a:rPr>
              <a:t>．堆栈的使用</a:t>
            </a:r>
            <a:r>
              <a:rPr lang="zh-CN" altLang="en-US" sz="2800" b="1">
                <a:solidFill>
                  <a:srgbClr val="FF0000"/>
                </a:solidFill>
                <a:latin typeface="宋体" panose="02010600030101010101" pitchFamily="2" charset="-122"/>
                <a:ea typeface="仿宋_GB2312" pitchFamily="49" charset="-122"/>
              </a:rPr>
              <a:t> </a:t>
            </a:r>
          </a:p>
        </p:txBody>
      </p:sp>
      <p:sp>
        <p:nvSpPr>
          <p:cNvPr id="784388" name="Rectangle 4"/>
          <p:cNvSpPr>
            <a:spLocks noChangeArrowheads="1"/>
          </p:cNvSpPr>
          <p:nvPr/>
        </p:nvSpPr>
        <p:spPr bwMode="auto">
          <a:xfrm>
            <a:off x="971550" y="3048000"/>
            <a:ext cx="7921625"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t>1.</a:t>
            </a:r>
            <a:r>
              <a:rPr lang="zh-CN" altLang="en-US" sz="3200" b="1"/>
              <a:t>压入数据时，堆栈从高地址向低地址增长。</a:t>
            </a:r>
          </a:p>
          <a:p>
            <a:pPr eaLnBrk="1" hangingPunct="1"/>
            <a:r>
              <a:rPr lang="en-US" altLang="zh-CN" sz="3200" b="1"/>
              <a:t>2.</a:t>
            </a:r>
            <a:r>
              <a:rPr lang="zh-CN" altLang="en-US" sz="3200" b="1"/>
              <a:t>压栈时指针先减，</a:t>
            </a:r>
            <a:r>
              <a:rPr lang="en-US" altLang="zh-CN" sz="3200" b="1"/>
              <a:t>SP-1</a:t>
            </a:r>
            <a:r>
              <a:rPr lang="zh-CN" altLang="en-US" sz="3200" b="1"/>
              <a:t>，再压入数据；</a:t>
            </a:r>
          </a:p>
          <a:p>
            <a:pPr eaLnBrk="1" hangingPunct="1"/>
            <a:r>
              <a:rPr lang="en-US" altLang="zh-CN" sz="3200" b="1"/>
              <a:t>3.</a:t>
            </a:r>
            <a:r>
              <a:rPr lang="zh-CN" altLang="en-US" sz="3200" b="1"/>
              <a:t>出栈时，先弹出数据后，再</a:t>
            </a:r>
            <a:r>
              <a:rPr lang="en-US" altLang="zh-CN" sz="3200" b="1"/>
              <a:t>SP+1</a:t>
            </a:r>
            <a:r>
              <a:rPr lang="zh-CN" altLang="en-US" sz="3200" b="1"/>
              <a:t>。</a:t>
            </a:r>
          </a:p>
          <a:p>
            <a:pPr eaLnBrk="1" hangingPunct="1"/>
            <a:r>
              <a:rPr lang="en-US" altLang="zh-CN" sz="3200" b="1"/>
              <a:t>4.</a:t>
            </a:r>
            <a:r>
              <a:rPr lang="zh-CN" altLang="en-US" sz="3200" b="1"/>
              <a:t>如要用堆栈，必须先设置，后使用。</a:t>
            </a:r>
            <a:r>
              <a:rPr lang="zh-CN" altLang="en-US" sz="2800" b="1"/>
              <a:t> </a:t>
            </a:r>
          </a:p>
        </p:txBody>
      </p:sp>
      <p:sp>
        <p:nvSpPr>
          <p:cNvPr id="784389" name="Rectangle 5" descr="小棋盘"/>
          <p:cNvSpPr>
            <a:spLocks noChangeArrowheads="1"/>
          </p:cNvSpPr>
          <p:nvPr/>
        </p:nvSpPr>
        <p:spPr bwMode="auto">
          <a:xfrm>
            <a:off x="323850" y="3500438"/>
            <a:ext cx="609600" cy="95567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要</a:t>
            </a:r>
          </a:p>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点</a:t>
            </a:r>
            <a:endParaRPr lang="zh-CN" altLang="en-US" sz="2800" b="1">
              <a:solidFill>
                <a:srgbClr val="FF0000"/>
              </a:solidFill>
              <a:latin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84386"/>
                                        </p:tgtEl>
                                        <p:attrNameLst>
                                          <p:attrName>style.visibility</p:attrName>
                                        </p:attrNameLst>
                                      </p:cBhvr>
                                      <p:to>
                                        <p:strVal val="visible"/>
                                      </p:to>
                                    </p:set>
                                    <p:animEffect transition="in" filter="slide(fromTop)">
                                      <p:cBhvr>
                                        <p:cTn id="7" dur="500"/>
                                        <p:tgtEl>
                                          <p:spTgt spid="784386"/>
                                        </p:tgtEl>
                                      </p:cBhvr>
                                    </p:animEffect>
                                  </p:childTnLst>
                                </p:cTn>
                              </p:par>
                            </p:childTnLst>
                          </p:cTn>
                        </p:par>
                        <p:par>
                          <p:cTn id="8" fill="hold" nodeType="afterGroup">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784387"/>
                                        </p:tgtEl>
                                        <p:attrNameLst>
                                          <p:attrName>style.visibility</p:attrName>
                                        </p:attrNameLst>
                                      </p:cBhvr>
                                      <p:to>
                                        <p:strVal val="visible"/>
                                      </p:to>
                                    </p:set>
                                    <p:animEffect transition="in" filter="slide(fromTop)">
                                      <p:cBhvr>
                                        <p:cTn id="11" dur="500"/>
                                        <p:tgtEl>
                                          <p:spTgt spid="784387"/>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784389"/>
                                        </p:tgtEl>
                                        <p:attrNameLst>
                                          <p:attrName>style.visibility</p:attrName>
                                        </p:attrNameLst>
                                      </p:cBhvr>
                                      <p:to>
                                        <p:strVal val="visible"/>
                                      </p:to>
                                    </p:set>
                                    <p:animEffect transition="in" filter="slide(fromBottom)">
                                      <p:cBhvr>
                                        <p:cTn id="15" dur="500"/>
                                        <p:tgtEl>
                                          <p:spTgt spid="784389"/>
                                        </p:tgtEl>
                                      </p:cBhvr>
                                    </p:animEffect>
                                  </p:childTnLst>
                                </p:cTn>
                              </p:par>
                            </p:childTnLst>
                          </p:cTn>
                        </p:par>
                        <p:par>
                          <p:cTn id="16" fill="hold" nodeType="afterGroup">
                            <p:stCondLst>
                              <p:cond delay="1500"/>
                            </p:stCondLst>
                            <p:childTnLst>
                              <p:par>
                                <p:cTn id="17" presetID="23" presetClass="entr" presetSubtype="16" fill="hold" grpId="0" nodeType="afterEffect">
                                  <p:stCondLst>
                                    <p:cond delay="0"/>
                                  </p:stCondLst>
                                  <p:childTnLst>
                                    <p:set>
                                      <p:cBhvr>
                                        <p:cTn id="18" dur="1" fill="hold">
                                          <p:stCondLst>
                                            <p:cond delay="0"/>
                                          </p:stCondLst>
                                        </p:cTn>
                                        <p:tgtEl>
                                          <p:spTgt spid="784388"/>
                                        </p:tgtEl>
                                        <p:attrNameLst>
                                          <p:attrName>style.visibility</p:attrName>
                                        </p:attrNameLst>
                                      </p:cBhvr>
                                      <p:to>
                                        <p:strVal val="visible"/>
                                      </p:to>
                                    </p:set>
                                    <p:anim calcmode="lin" valueType="num">
                                      <p:cBhvr>
                                        <p:cTn id="19" dur="500" fill="hold"/>
                                        <p:tgtEl>
                                          <p:spTgt spid="784388"/>
                                        </p:tgtEl>
                                        <p:attrNameLst>
                                          <p:attrName>ppt_w</p:attrName>
                                        </p:attrNameLst>
                                      </p:cBhvr>
                                      <p:tavLst>
                                        <p:tav tm="0">
                                          <p:val>
                                            <p:fltVal val="0"/>
                                          </p:val>
                                        </p:tav>
                                        <p:tav tm="100000">
                                          <p:val>
                                            <p:strVal val="#ppt_w"/>
                                          </p:val>
                                        </p:tav>
                                      </p:tavLst>
                                    </p:anim>
                                    <p:anim calcmode="lin" valueType="num">
                                      <p:cBhvr>
                                        <p:cTn id="20" dur="500" fill="hold"/>
                                        <p:tgtEl>
                                          <p:spTgt spid="78438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386" grpId="0" animBg="1"/>
      <p:bldP spid="784387" grpId="0" animBg="1"/>
      <p:bldP spid="784388" grpId="0"/>
      <p:bldP spid="78438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BB9B3FA-0B4E-4DEE-AB08-79CABD6E84BC}" type="slidenum">
              <a:rPr lang="en-US" altLang="zh-CN" sz="1400"/>
              <a:pPr eaLnBrk="1" hangingPunct="1"/>
              <a:t>4</a:t>
            </a:fld>
            <a:endParaRPr lang="en-US" altLang="zh-CN" sz="1400"/>
          </a:p>
        </p:txBody>
      </p:sp>
      <p:sp>
        <p:nvSpPr>
          <p:cNvPr id="785410" name="Rectangle 2"/>
          <p:cNvSpPr>
            <a:spLocks noChangeArrowheads="1"/>
          </p:cNvSpPr>
          <p:nvPr/>
        </p:nvSpPr>
        <p:spPr bwMode="auto">
          <a:xfrm>
            <a:off x="206375" y="1052513"/>
            <a:ext cx="876300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828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5-1</a:t>
            </a:r>
            <a:r>
              <a:rPr lang="en-US" altLang="zh-CN" sz="2800" b="1">
                <a:latin typeface="宋体" panose="02010600030101010101" pitchFamily="2" charset="-122"/>
              </a:rPr>
              <a:t>  </a:t>
            </a:r>
            <a:r>
              <a:rPr lang="zh-CN" altLang="en-US" sz="2800" b="1">
                <a:latin typeface="宋体" panose="02010600030101010101" pitchFamily="2" charset="-122"/>
              </a:rPr>
              <a:t>设计一存储空间为</a:t>
            </a:r>
            <a:r>
              <a:rPr lang="en-US" altLang="zh-CN" sz="2800" b="1">
                <a:latin typeface="宋体" panose="02010600030101010101" pitchFamily="2" charset="-122"/>
              </a:rPr>
              <a:t>100</a:t>
            </a:r>
            <a:r>
              <a:rPr lang="zh-CN" altLang="en-US" sz="2800" b="1">
                <a:latin typeface="宋体" panose="02010600030101010101" pitchFamily="2" charset="-122"/>
              </a:rPr>
              <a:t>个单元的堆栈。</a:t>
            </a:r>
            <a:endParaRPr lang="zh-CN" altLang="en-US" sz="2800" b="1"/>
          </a:p>
          <a:p>
            <a:pPr algn="just"/>
            <a:r>
              <a:rPr lang="en-US" altLang="zh-CN" sz="2800" b="1">
                <a:latin typeface="宋体" panose="02010600030101010101" pitchFamily="2" charset="-122"/>
              </a:rPr>
              <a:t>size </a:t>
            </a:r>
            <a:r>
              <a:rPr lang="zh-CN" altLang="en-US" sz="2800" b="1">
                <a:latin typeface="宋体" panose="02010600030101010101" pitchFamily="2" charset="-122"/>
              </a:rPr>
              <a:t>　</a:t>
            </a:r>
            <a:r>
              <a:rPr lang="en-US" altLang="zh-CN" sz="2800" b="1">
                <a:latin typeface="宋体" panose="02010600030101010101" pitchFamily="2" charset="-122"/>
              </a:rPr>
              <a:t>.set 100           </a:t>
            </a:r>
            <a:r>
              <a:rPr lang="zh-CN" altLang="en-US" sz="2800" b="1">
                <a:latin typeface="宋体" panose="02010600030101010101" pitchFamily="2" charset="-122"/>
              </a:rPr>
              <a:t>；设置堆栈空间的</a:t>
            </a:r>
          </a:p>
          <a:p>
            <a:pPr algn="just"/>
            <a:r>
              <a:rPr lang="zh-CN" altLang="en-US" sz="2800" b="1">
                <a:latin typeface="宋体" panose="02010600030101010101" pitchFamily="2" charset="-122"/>
              </a:rPr>
              <a:t>                          ；大小为</a:t>
            </a:r>
            <a:r>
              <a:rPr lang="en-US" altLang="zh-CN" sz="2800" b="1">
                <a:latin typeface="宋体" panose="02010600030101010101" pitchFamily="2" charset="-122"/>
              </a:rPr>
              <a:t>100</a:t>
            </a:r>
            <a:endParaRPr lang="en-US" altLang="zh-CN" sz="2800" b="1"/>
          </a:p>
          <a:p>
            <a:pPr algn="just"/>
            <a:r>
              <a:rPr lang="en-US" altLang="zh-CN" sz="2800" b="1">
                <a:solidFill>
                  <a:srgbClr val="FF00FF"/>
                </a:solidFill>
                <a:latin typeface="宋体" panose="02010600030101010101" pitchFamily="2" charset="-122"/>
              </a:rPr>
              <a:t>stack  .usect  </a:t>
            </a:r>
            <a:r>
              <a:rPr lang="en-US" altLang="zh-CN" sz="2800" b="1">
                <a:solidFill>
                  <a:srgbClr val="FF00FF"/>
                </a:solidFill>
              </a:rPr>
              <a:t>“</a:t>
            </a:r>
            <a:r>
              <a:rPr lang="en-US" altLang="zh-CN" sz="2800" b="1">
                <a:solidFill>
                  <a:srgbClr val="FF00FF"/>
                </a:solidFill>
                <a:latin typeface="宋体" panose="02010600030101010101" pitchFamily="2" charset="-122"/>
              </a:rPr>
              <a:t>STK</a:t>
            </a:r>
            <a:r>
              <a:rPr lang="en-US" altLang="zh-CN" sz="2800" b="1">
                <a:solidFill>
                  <a:srgbClr val="FF00FF"/>
                </a:solidFill>
              </a:rPr>
              <a:t>”</a:t>
            </a:r>
            <a:r>
              <a:rPr lang="en-US" altLang="zh-CN" sz="2800" b="1">
                <a:solidFill>
                  <a:srgbClr val="FF00FF"/>
                </a:solidFill>
                <a:latin typeface="宋体" panose="02010600030101010101" pitchFamily="2" charset="-122"/>
              </a:rPr>
              <a:t>,size</a:t>
            </a:r>
            <a:r>
              <a:rPr lang="en-US" altLang="zh-CN" sz="2800" b="1">
                <a:latin typeface="宋体" panose="02010600030101010101" pitchFamily="2" charset="-122"/>
              </a:rPr>
              <a:t> </a:t>
            </a:r>
            <a:r>
              <a:rPr lang="zh-CN" altLang="en-US" sz="2800" b="1">
                <a:latin typeface="宋体" panose="02010600030101010101" pitchFamily="2" charset="-122"/>
              </a:rPr>
              <a:t>；设置堆栈段的首地址</a:t>
            </a:r>
          </a:p>
          <a:p>
            <a:pPr algn="just"/>
            <a:r>
              <a:rPr lang="zh-CN" altLang="en-US" sz="2800" b="1">
                <a:latin typeface="宋体" panose="02010600030101010101" pitchFamily="2" charset="-122"/>
              </a:rPr>
              <a:t>                          ；和堆栈空间</a:t>
            </a:r>
            <a:endParaRPr lang="zh-CN" altLang="en-US" sz="2800" b="1"/>
          </a:p>
          <a:p>
            <a:pPr algn="just"/>
            <a:r>
              <a:rPr lang="zh-CN" altLang="en-US" sz="2800" b="1">
                <a:latin typeface="宋体" panose="02010600030101010101" pitchFamily="2" charset="-122"/>
              </a:rPr>
              <a:t>　　　 </a:t>
            </a:r>
            <a:r>
              <a:rPr lang="en-US" altLang="zh-CN" sz="2800" b="1">
                <a:solidFill>
                  <a:srgbClr val="FF6600"/>
                </a:solidFill>
                <a:latin typeface="宋体" panose="02010600030101010101" pitchFamily="2" charset="-122"/>
              </a:rPr>
              <a:t>STM #stack+size,SP</a:t>
            </a:r>
            <a:r>
              <a:rPr lang="en-US" altLang="zh-CN" sz="2800" b="1">
                <a:latin typeface="宋体" panose="02010600030101010101" pitchFamily="2" charset="-122"/>
              </a:rPr>
              <a:t> </a:t>
            </a:r>
            <a:r>
              <a:rPr lang="zh-CN" altLang="en-US" sz="2800" b="1">
                <a:latin typeface="宋体" panose="02010600030101010101" pitchFamily="2" charset="-122"/>
              </a:rPr>
              <a:t>；将栈底地址指针送</a:t>
            </a:r>
          </a:p>
          <a:p>
            <a:pPr algn="just"/>
            <a:r>
              <a:rPr lang="zh-CN" altLang="en-US" sz="2800" b="1">
                <a:latin typeface="宋体" panose="02010600030101010101" pitchFamily="2" charset="-122"/>
              </a:rPr>
              <a:t>                          ； </a:t>
            </a:r>
            <a:r>
              <a:rPr lang="en-US" altLang="zh-CN" sz="2800" b="1">
                <a:latin typeface="宋体" panose="02010600030101010101" pitchFamily="2" charset="-122"/>
              </a:rPr>
              <a:t>SP</a:t>
            </a:r>
            <a:r>
              <a:rPr lang="zh-CN" altLang="en-US" sz="2800" b="1">
                <a:latin typeface="宋体" panose="02010600030101010101" pitchFamily="2" charset="-122"/>
              </a:rPr>
              <a:t>，对其初始化</a:t>
            </a:r>
          </a:p>
        </p:txBody>
      </p:sp>
      <p:grpSp>
        <p:nvGrpSpPr>
          <p:cNvPr id="19460" name="Group 32"/>
          <p:cNvGrpSpPr>
            <a:grpSpLocks/>
          </p:cNvGrpSpPr>
          <p:nvPr/>
        </p:nvGrpSpPr>
        <p:grpSpPr bwMode="auto">
          <a:xfrm>
            <a:off x="2987675" y="4221163"/>
            <a:ext cx="2243138" cy="2371725"/>
            <a:chOff x="4059" y="2659"/>
            <a:chExt cx="1413" cy="1494"/>
          </a:xfrm>
        </p:grpSpPr>
        <p:sp>
          <p:nvSpPr>
            <p:cNvPr id="19473" name="Rectangle 5"/>
            <p:cNvSpPr>
              <a:spLocks noChangeArrowheads="1"/>
            </p:cNvSpPr>
            <p:nvPr/>
          </p:nvSpPr>
          <p:spPr bwMode="auto">
            <a:xfrm>
              <a:off x="4059" y="3406"/>
              <a:ext cx="1413"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2000" b="1">
                  <a:solidFill>
                    <a:srgbClr val="FF00FF"/>
                  </a:solidFill>
                </a:rPr>
                <a:t>最后用的单元</a:t>
              </a:r>
            </a:p>
          </p:txBody>
        </p:sp>
        <p:sp>
          <p:nvSpPr>
            <p:cNvPr id="19474" name="Rectangle 6"/>
            <p:cNvSpPr>
              <a:spLocks noChangeArrowheads="1"/>
            </p:cNvSpPr>
            <p:nvPr/>
          </p:nvSpPr>
          <p:spPr bwMode="auto">
            <a:xfrm>
              <a:off x="4059" y="2908"/>
              <a:ext cx="1413"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000" b="1"/>
                <a:t>…</a:t>
              </a:r>
            </a:p>
          </p:txBody>
        </p:sp>
        <p:sp>
          <p:nvSpPr>
            <p:cNvPr id="19475" name="Rectangle 7"/>
            <p:cNvSpPr>
              <a:spLocks noChangeArrowheads="1"/>
            </p:cNvSpPr>
            <p:nvPr/>
          </p:nvSpPr>
          <p:spPr bwMode="auto">
            <a:xfrm>
              <a:off x="4059" y="3904"/>
              <a:ext cx="1413"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000" b="1"/>
                <a:t>…</a:t>
              </a:r>
            </a:p>
          </p:txBody>
        </p:sp>
        <p:sp>
          <p:nvSpPr>
            <p:cNvPr id="19476" name="Rectangle 8"/>
            <p:cNvSpPr>
              <a:spLocks noChangeArrowheads="1"/>
            </p:cNvSpPr>
            <p:nvPr/>
          </p:nvSpPr>
          <p:spPr bwMode="auto">
            <a:xfrm>
              <a:off x="4059" y="3655"/>
              <a:ext cx="1413"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2000" b="1">
                  <a:solidFill>
                    <a:srgbClr val="FF6600"/>
                  </a:solidFill>
                </a:rPr>
                <a:t>已用栈区</a:t>
              </a:r>
            </a:p>
          </p:txBody>
        </p:sp>
        <p:sp>
          <p:nvSpPr>
            <p:cNvPr id="19477" name="Rectangle 9"/>
            <p:cNvSpPr>
              <a:spLocks noChangeArrowheads="1"/>
            </p:cNvSpPr>
            <p:nvPr/>
          </p:nvSpPr>
          <p:spPr bwMode="auto">
            <a:xfrm>
              <a:off x="4059" y="3157"/>
              <a:ext cx="1413"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2000" b="1">
                  <a:solidFill>
                    <a:schemeClr val="tx2"/>
                  </a:solidFill>
                </a:rPr>
                <a:t>可用栈区</a:t>
              </a:r>
            </a:p>
          </p:txBody>
        </p:sp>
        <p:sp>
          <p:nvSpPr>
            <p:cNvPr id="19478" name="Rectangle 10"/>
            <p:cNvSpPr>
              <a:spLocks noChangeArrowheads="1"/>
            </p:cNvSpPr>
            <p:nvPr/>
          </p:nvSpPr>
          <p:spPr bwMode="auto">
            <a:xfrm>
              <a:off x="4059" y="2659"/>
              <a:ext cx="1413"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endParaRPr lang="zh-CN" altLang="zh-CN" sz="2000">
                <a:solidFill>
                  <a:schemeClr val="tx2"/>
                </a:solidFill>
              </a:endParaRPr>
            </a:p>
          </p:txBody>
        </p:sp>
        <p:sp>
          <p:nvSpPr>
            <p:cNvPr id="19479" name="Line 11"/>
            <p:cNvSpPr>
              <a:spLocks noChangeShapeType="1"/>
            </p:cNvSpPr>
            <p:nvPr/>
          </p:nvSpPr>
          <p:spPr bwMode="auto">
            <a:xfrm>
              <a:off x="4059" y="2659"/>
              <a:ext cx="1413"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0" name="Line 12"/>
            <p:cNvSpPr>
              <a:spLocks noChangeShapeType="1"/>
            </p:cNvSpPr>
            <p:nvPr/>
          </p:nvSpPr>
          <p:spPr bwMode="auto">
            <a:xfrm>
              <a:off x="4059" y="3157"/>
              <a:ext cx="14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1" name="Line 13"/>
            <p:cNvSpPr>
              <a:spLocks noChangeShapeType="1"/>
            </p:cNvSpPr>
            <p:nvPr/>
          </p:nvSpPr>
          <p:spPr bwMode="auto">
            <a:xfrm>
              <a:off x="4059" y="3655"/>
              <a:ext cx="14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2" name="Line 14"/>
            <p:cNvSpPr>
              <a:spLocks noChangeShapeType="1"/>
            </p:cNvSpPr>
            <p:nvPr/>
          </p:nvSpPr>
          <p:spPr bwMode="auto">
            <a:xfrm>
              <a:off x="4059" y="3904"/>
              <a:ext cx="14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3" name="Line 15"/>
            <p:cNvSpPr>
              <a:spLocks noChangeShapeType="1"/>
            </p:cNvSpPr>
            <p:nvPr/>
          </p:nvSpPr>
          <p:spPr bwMode="auto">
            <a:xfrm>
              <a:off x="4059" y="4153"/>
              <a:ext cx="1413"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4" name="Line 16"/>
            <p:cNvSpPr>
              <a:spLocks noChangeShapeType="1"/>
            </p:cNvSpPr>
            <p:nvPr/>
          </p:nvSpPr>
          <p:spPr bwMode="auto">
            <a:xfrm>
              <a:off x="4059" y="2659"/>
              <a:ext cx="0" cy="1494"/>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5" name="Line 17"/>
            <p:cNvSpPr>
              <a:spLocks noChangeShapeType="1"/>
            </p:cNvSpPr>
            <p:nvPr/>
          </p:nvSpPr>
          <p:spPr bwMode="auto">
            <a:xfrm>
              <a:off x="5472" y="2659"/>
              <a:ext cx="0" cy="1494"/>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6" name="Line 18"/>
            <p:cNvSpPr>
              <a:spLocks noChangeShapeType="1"/>
            </p:cNvSpPr>
            <p:nvPr/>
          </p:nvSpPr>
          <p:spPr bwMode="auto">
            <a:xfrm>
              <a:off x="4059" y="2908"/>
              <a:ext cx="14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87" name="Line 19"/>
            <p:cNvSpPr>
              <a:spLocks noChangeShapeType="1"/>
            </p:cNvSpPr>
            <p:nvPr/>
          </p:nvSpPr>
          <p:spPr bwMode="auto">
            <a:xfrm>
              <a:off x="4059" y="3406"/>
              <a:ext cx="14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9461" name="Text Box 25"/>
          <p:cNvSpPr txBox="1">
            <a:spLocks noChangeArrowheads="1"/>
          </p:cNvSpPr>
          <p:nvPr/>
        </p:nvSpPr>
        <p:spPr bwMode="auto">
          <a:xfrm>
            <a:off x="3419475" y="3789363"/>
            <a:ext cx="1512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t>数据存储器</a:t>
            </a:r>
          </a:p>
        </p:txBody>
      </p:sp>
      <p:sp>
        <p:nvSpPr>
          <p:cNvPr id="19462" name="Text Box 26"/>
          <p:cNvSpPr txBox="1">
            <a:spLocks noChangeArrowheads="1"/>
          </p:cNvSpPr>
          <p:nvPr/>
        </p:nvSpPr>
        <p:spPr bwMode="auto">
          <a:xfrm>
            <a:off x="2554288" y="4221163"/>
            <a:ext cx="360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0</a:t>
            </a:r>
          </a:p>
        </p:txBody>
      </p:sp>
      <p:sp>
        <p:nvSpPr>
          <p:cNvPr id="19463" name="Text Box 27"/>
          <p:cNvSpPr txBox="1">
            <a:spLocks noChangeArrowheads="1"/>
          </p:cNvSpPr>
          <p:nvPr/>
        </p:nvSpPr>
        <p:spPr bwMode="auto">
          <a:xfrm>
            <a:off x="2266950" y="4652963"/>
            <a:ext cx="792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t>栈顶</a:t>
            </a:r>
          </a:p>
        </p:txBody>
      </p:sp>
      <p:sp>
        <p:nvSpPr>
          <p:cNvPr id="19464" name="Text Box 28"/>
          <p:cNvSpPr txBox="1">
            <a:spLocks noChangeArrowheads="1"/>
          </p:cNvSpPr>
          <p:nvPr/>
        </p:nvSpPr>
        <p:spPr bwMode="auto">
          <a:xfrm>
            <a:off x="2227263" y="5373688"/>
            <a:ext cx="792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SP→</a:t>
            </a:r>
          </a:p>
        </p:txBody>
      </p:sp>
      <p:sp>
        <p:nvSpPr>
          <p:cNvPr id="19465" name="Text Box 29"/>
          <p:cNvSpPr txBox="1">
            <a:spLocks noChangeArrowheads="1"/>
          </p:cNvSpPr>
          <p:nvPr/>
        </p:nvSpPr>
        <p:spPr bwMode="auto">
          <a:xfrm>
            <a:off x="2266950" y="5805488"/>
            <a:ext cx="792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t>栈底</a:t>
            </a:r>
          </a:p>
        </p:txBody>
      </p:sp>
      <p:sp>
        <p:nvSpPr>
          <p:cNvPr id="19466" name="Text Box 30"/>
          <p:cNvSpPr txBox="1">
            <a:spLocks noChangeArrowheads="1"/>
          </p:cNvSpPr>
          <p:nvPr/>
        </p:nvSpPr>
        <p:spPr bwMode="auto">
          <a:xfrm>
            <a:off x="2122488" y="6237288"/>
            <a:ext cx="9350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65535</a:t>
            </a:r>
          </a:p>
        </p:txBody>
      </p:sp>
      <p:sp>
        <p:nvSpPr>
          <p:cNvPr id="19467" name="Text Box 31"/>
          <p:cNvSpPr txBox="1">
            <a:spLocks noChangeArrowheads="1"/>
          </p:cNvSpPr>
          <p:nvPr/>
        </p:nvSpPr>
        <p:spPr bwMode="auto">
          <a:xfrm>
            <a:off x="468313" y="4581525"/>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6600"/>
                </a:solidFill>
              </a:rPr>
              <a:t>stack </a:t>
            </a:r>
            <a:r>
              <a:rPr lang="en-US" altLang="zh-CN" b="1">
                <a:solidFill>
                  <a:srgbClr val="FF6600"/>
                </a:solidFill>
              </a:rPr>
              <a:t>→</a:t>
            </a:r>
          </a:p>
        </p:txBody>
      </p:sp>
      <p:sp>
        <p:nvSpPr>
          <p:cNvPr id="19468" name="AutoShape 34"/>
          <p:cNvSpPr>
            <a:spLocks/>
          </p:cNvSpPr>
          <p:nvPr/>
        </p:nvSpPr>
        <p:spPr bwMode="auto">
          <a:xfrm>
            <a:off x="5364163" y="4654550"/>
            <a:ext cx="215900" cy="1511300"/>
          </a:xfrm>
          <a:prstGeom prst="rightBrace">
            <a:avLst>
              <a:gd name="adj1" fmla="val 58333"/>
              <a:gd name="adj2" fmla="val 50000"/>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p>
        </p:txBody>
      </p:sp>
      <p:sp>
        <p:nvSpPr>
          <p:cNvPr id="19469" name="Text Box 35"/>
          <p:cNvSpPr txBox="1">
            <a:spLocks noChangeArrowheads="1"/>
          </p:cNvSpPr>
          <p:nvPr/>
        </p:nvSpPr>
        <p:spPr bwMode="auto">
          <a:xfrm>
            <a:off x="5722938" y="5157788"/>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rPr>
              <a:t>STK</a:t>
            </a:r>
          </a:p>
        </p:txBody>
      </p:sp>
      <p:sp>
        <p:nvSpPr>
          <p:cNvPr id="19470" name="Text Box 37"/>
          <p:cNvSpPr txBox="1">
            <a:spLocks noChangeArrowheads="1"/>
          </p:cNvSpPr>
          <p:nvPr/>
        </p:nvSpPr>
        <p:spPr bwMode="auto">
          <a:xfrm>
            <a:off x="323850" y="5157788"/>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6600"/>
                </a:solidFill>
              </a:rPr>
              <a:t>size=100</a:t>
            </a:r>
          </a:p>
        </p:txBody>
      </p:sp>
      <p:sp>
        <p:nvSpPr>
          <p:cNvPr id="19471" name="AutoShape 38"/>
          <p:cNvSpPr>
            <a:spLocks/>
          </p:cNvSpPr>
          <p:nvPr/>
        </p:nvSpPr>
        <p:spPr bwMode="auto">
          <a:xfrm rot="10800000">
            <a:off x="1763713" y="4652963"/>
            <a:ext cx="287337" cy="1439862"/>
          </a:xfrm>
          <a:prstGeom prst="rightBrace">
            <a:avLst>
              <a:gd name="adj1" fmla="val 41759"/>
              <a:gd name="adj2" fmla="val 50000"/>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p>
        </p:txBody>
      </p:sp>
      <p:sp>
        <p:nvSpPr>
          <p:cNvPr id="19472" name="Rectangle 39"/>
          <p:cNvSpPr>
            <a:spLocks noChangeArrowheads="1"/>
          </p:cNvSpPr>
          <p:nvPr/>
        </p:nvSpPr>
        <p:spPr bwMode="auto">
          <a:xfrm>
            <a:off x="611188" y="57340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6600"/>
                </a:solidFill>
                <a:latin typeface="宋体" panose="02010600030101010101" pitchFamily="2" charset="-122"/>
              </a:rPr>
              <a:t>SP</a:t>
            </a:r>
            <a:r>
              <a:rPr lang="en-US" altLang="zh-CN" b="1">
                <a:solidFill>
                  <a:srgbClr val="FF66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85410"/>
                                        </p:tgtEl>
                                        <p:attrNameLst>
                                          <p:attrName>style.visibility</p:attrName>
                                        </p:attrNameLst>
                                      </p:cBhvr>
                                      <p:to>
                                        <p:strVal val="visible"/>
                                      </p:to>
                                    </p:set>
                                    <p:animEffect transition="in" filter="blinds(horizontal)">
                                      <p:cBhvr>
                                        <p:cTn id="7" dur="500"/>
                                        <p:tgtEl>
                                          <p:spTgt spid="785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1919D77-66E4-47B4-B5D0-A5FCA360893E}" type="slidenum">
              <a:rPr lang="en-US" altLang="zh-CN" sz="1400"/>
              <a:pPr eaLnBrk="1" hangingPunct="1"/>
              <a:t>5</a:t>
            </a:fld>
            <a:endParaRPr lang="en-US" altLang="zh-CN" sz="1400"/>
          </a:p>
        </p:txBody>
      </p:sp>
      <p:sp>
        <p:nvSpPr>
          <p:cNvPr id="786434" name="Rectangle 2"/>
          <p:cNvSpPr>
            <a:spLocks noChangeArrowheads="1"/>
          </p:cNvSpPr>
          <p:nvPr/>
        </p:nvSpPr>
        <p:spPr bwMode="auto">
          <a:xfrm>
            <a:off x="468313" y="1700213"/>
            <a:ext cx="8305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b="1">
                <a:ea typeface="黑体" panose="02010609060101010101" pitchFamily="49" charset="-122"/>
              </a:rPr>
              <a:t>例</a:t>
            </a:r>
            <a:r>
              <a:rPr lang="en-US" altLang="zh-CN" b="1">
                <a:ea typeface="黑体" panose="02010609060101010101" pitchFamily="49" charset="-122"/>
              </a:rPr>
              <a:t>5-2</a:t>
            </a:r>
            <a:r>
              <a:rPr lang="en-US" altLang="zh-CN" b="1">
                <a:latin typeface="宋体" panose="02010600030101010101" pitchFamily="2" charset="-122"/>
              </a:rPr>
              <a:t>  </a:t>
            </a:r>
            <a:r>
              <a:rPr lang="zh-CN" altLang="en-US" b="1">
                <a:latin typeface="宋体" panose="02010600030101010101" pitchFamily="2" charset="-122"/>
              </a:rPr>
              <a:t>编写求解加、减法的程序，计算</a:t>
            </a:r>
            <a:r>
              <a:rPr lang="en-US" altLang="zh-CN" b="1">
                <a:latin typeface="宋体" panose="02010600030101010101" pitchFamily="2" charset="-122"/>
              </a:rPr>
              <a:t>z=x+y-w</a:t>
            </a:r>
            <a:r>
              <a:rPr lang="zh-CN" altLang="en-US" b="1">
                <a:latin typeface="宋体" panose="02010600030101010101" pitchFamily="2" charset="-122"/>
              </a:rPr>
              <a:t>。</a:t>
            </a:r>
            <a:endParaRPr lang="zh-CN" altLang="en-US" b="1"/>
          </a:p>
          <a:p>
            <a:pPr algn="just" eaLnBrk="1" hangingPunct="1"/>
            <a:r>
              <a:rPr lang="en-US" altLang="zh-CN" b="1">
                <a:latin typeface="宋体" panose="02010600030101010101" pitchFamily="2" charset="-122"/>
              </a:rPr>
              <a:t>SUM1</a:t>
            </a:r>
            <a:r>
              <a:rPr lang="zh-CN" altLang="en-US" b="1">
                <a:latin typeface="宋体" panose="02010600030101010101" pitchFamily="2" charset="-122"/>
              </a:rPr>
              <a:t>：</a:t>
            </a:r>
            <a:r>
              <a:rPr lang="en-US" altLang="zh-CN" b="1">
                <a:latin typeface="宋体" panose="02010600030101010101" pitchFamily="2" charset="-122"/>
              </a:rPr>
              <a:t>LD     @x,A   </a:t>
            </a:r>
            <a:r>
              <a:rPr lang="zh-CN" altLang="en-US" b="1">
                <a:latin typeface="宋体" panose="02010600030101010101" pitchFamily="2" charset="-122"/>
              </a:rPr>
              <a:t>；将</a:t>
            </a:r>
            <a:r>
              <a:rPr lang="en-US" altLang="zh-CN" b="1">
                <a:latin typeface="宋体" panose="02010600030101010101" pitchFamily="2" charset="-122"/>
              </a:rPr>
              <a:t>x</a:t>
            </a:r>
            <a:r>
              <a:rPr lang="zh-CN" altLang="en-US" b="1">
                <a:latin typeface="宋体" panose="02010600030101010101" pitchFamily="2" charset="-122"/>
              </a:rPr>
              <a:t>地址的内容送</a:t>
            </a:r>
            <a:r>
              <a:rPr lang="en-US" altLang="zh-CN" b="1">
                <a:latin typeface="宋体" panose="02010600030101010101" pitchFamily="2" charset="-122"/>
              </a:rPr>
              <a:t>A</a:t>
            </a:r>
            <a:endParaRPr lang="en-US" altLang="zh-CN" b="1"/>
          </a:p>
          <a:p>
            <a:pPr algn="just" eaLnBrk="1" hangingPunct="1"/>
            <a:r>
              <a:rPr lang="en-US" altLang="zh-CN" b="1">
                <a:latin typeface="宋体" panose="02010600030101010101" pitchFamily="2" charset="-122"/>
              </a:rPr>
              <a:t>      </a:t>
            </a:r>
            <a:r>
              <a:rPr lang="en-US" altLang="zh-CN" b="1">
                <a:solidFill>
                  <a:schemeClr val="tx2"/>
                </a:solidFill>
                <a:latin typeface="宋体" panose="02010600030101010101" pitchFamily="2" charset="-122"/>
              </a:rPr>
              <a:t>ADD    @y,A</a:t>
            </a:r>
            <a:r>
              <a:rPr lang="en-US" altLang="zh-CN" b="1">
                <a:latin typeface="宋体" panose="02010600030101010101" pitchFamily="2" charset="-122"/>
              </a:rPr>
              <a:t>   </a:t>
            </a:r>
            <a:r>
              <a:rPr lang="zh-CN" altLang="en-US" b="1">
                <a:latin typeface="宋体" panose="02010600030101010101" pitchFamily="2" charset="-122"/>
              </a:rPr>
              <a:t>；将</a:t>
            </a:r>
            <a:r>
              <a:rPr lang="en-US" altLang="zh-CN" b="1">
                <a:latin typeface="宋体" panose="02010600030101010101" pitchFamily="2" charset="-122"/>
              </a:rPr>
              <a:t>y</a:t>
            </a:r>
            <a:r>
              <a:rPr lang="zh-CN" altLang="en-US" b="1">
                <a:latin typeface="宋体" panose="02010600030101010101" pitchFamily="2" charset="-122"/>
              </a:rPr>
              <a:t>地址的内容与</a:t>
            </a:r>
            <a:r>
              <a:rPr lang="en-US" altLang="zh-CN" b="1">
                <a:latin typeface="宋体" panose="02010600030101010101" pitchFamily="2" charset="-122"/>
              </a:rPr>
              <a:t>A</a:t>
            </a:r>
            <a:r>
              <a:rPr lang="zh-CN" altLang="en-US" b="1">
                <a:latin typeface="宋体" panose="02010600030101010101" pitchFamily="2" charset="-122"/>
              </a:rPr>
              <a:t>中</a:t>
            </a:r>
            <a:r>
              <a:rPr lang="en-US" altLang="zh-CN" b="1">
                <a:latin typeface="宋体" panose="02010600030101010101" pitchFamily="2" charset="-122"/>
              </a:rPr>
              <a:t>x</a:t>
            </a:r>
            <a:r>
              <a:rPr lang="zh-CN" altLang="en-US" b="1">
                <a:latin typeface="宋体" panose="02010600030101010101" pitchFamily="2" charset="-122"/>
              </a:rPr>
              <a:t>值相加</a:t>
            </a:r>
            <a:endParaRPr lang="zh-CN" altLang="en-US" b="1"/>
          </a:p>
          <a:p>
            <a:pPr algn="just" eaLnBrk="1" hangingPunct="1"/>
            <a:r>
              <a:rPr lang="zh-CN" altLang="en-US" b="1">
                <a:latin typeface="宋体" panose="02010600030101010101" pitchFamily="2" charset="-122"/>
              </a:rPr>
              <a:t>      </a:t>
            </a:r>
            <a:r>
              <a:rPr lang="en-US" altLang="zh-CN" b="1">
                <a:solidFill>
                  <a:srgbClr val="008000"/>
                </a:solidFill>
                <a:latin typeface="宋体" panose="02010600030101010101" pitchFamily="2" charset="-122"/>
              </a:rPr>
              <a:t>SUB    @w,A</a:t>
            </a:r>
            <a:r>
              <a:rPr lang="en-US" altLang="zh-CN" b="1">
                <a:latin typeface="宋体" panose="02010600030101010101" pitchFamily="2" charset="-122"/>
              </a:rPr>
              <a:t>   </a:t>
            </a:r>
            <a:r>
              <a:rPr lang="zh-CN" altLang="en-US" b="1">
                <a:latin typeface="宋体" panose="02010600030101010101" pitchFamily="2" charset="-122"/>
              </a:rPr>
              <a:t>；将</a:t>
            </a:r>
            <a:r>
              <a:rPr lang="en-US" altLang="zh-CN" b="1">
                <a:latin typeface="宋体" panose="02010600030101010101" pitchFamily="2" charset="-122"/>
              </a:rPr>
              <a:t>A</a:t>
            </a:r>
            <a:r>
              <a:rPr lang="zh-CN" altLang="en-US" b="1">
                <a:latin typeface="宋体" panose="02010600030101010101" pitchFamily="2" charset="-122"/>
              </a:rPr>
              <a:t>中的内容与</a:t>
            </a:r>
            <a:r>
              <a:rPr lang="en-US" altLang="zh-CN" b="1">
                <a:latin typeface="宋体" panose="02010600030101010101" pitchFamily="2" charset="-122"/>
              </a:rPr>
              <a:t>w</a:t>
            </a:r>
            <a:r>
              <a:rPr lang="zh-CN" altLang="en-US" b="1">
                <a:latin typeface="宋体" panose="02010600030101010101" pitchFamily="2" charset="-122"/>
              </a:rPr>
              <a:t>相减，得</a:t>
            </a:r>
            <a:r>
              <a:rPr lang="en-US" altLang="zh-CN" b="1">
                <a:latin typeface="宋体" panose="02010600030101010101" pitchFamily="2" charset="-122"/>
              </a:rPr>
              <a:t>z</a:t>
            </a:r>
            <a:endParaRPr lang="en-US" altLang="zh-CN" b="1"/>
          </a:p>
          <a:p>
            <a:pPr algn="just" eaLnBrk="1" hangingPunct="1"/>
            <a:r>
              <a:rPr lang="en-US" altLang="zh-CN" b="1">
                <a:latin typeface="宋体" panose="02010600030101010101" pitchFamily="2" charset="-122"/>
              </a:rPr>
              <a:t>      STL    A,@z   </a:t>
            </a:r>
            <a:r>
              <a:rPr lang="zh-CN" altLang="en-US" b="1">
                <a:latin typeface="宋体" panose="02010600030101010101" pitchFamily="2" charset="-122"/>
              </a:rPr>
              <a:t>；将</a:t>
            </a:r>
            <a:r>
              <a:rPr lang="en-US" altLang="zh-CN" b="1">
                <a:latin typeface="宋体" panose="02010600030101010101" pitchFamily="2" charset="-122"/>
              </a:rPr>
              <a:t>A</a:t>
            </a:r>
            <a:r>
              <a:rPr lang="zh-CN" altLang="en-US" b="1">
                <a:latin typeface="宋体" panose="02010600030101010101" pitchFamily="2" charset="-122"/>
              </a:rPr>
              <a:t>的的计算值存入</a:t>
            </a:r>
            <a:r>
              <a:rPr lang="en-US" altLang="zh-CN" b="1">
                <a:latin typeface="宋体" panose="02010600030101010101" pitchFamily="2" charset="-122"/>
              </a:rPr>
              <a:t>z</a:t>
            </a:r>
            <a:r>
              <a:rPr lang="zh-CN" altLang="en-US" b="1">
                <a:latin typeface="宋体" panose="02010600030101010101" pitchFamily="2" charset="-122"/>
              </a:rPr>
              <a:t>地址中</a:t>
            </a:r>
            <a:endParaRPr lang="zh-CN" altLang="en-US" b="1"/>
          </a:p>
          <a:p>
            <a:pPr algn="just" eaLnBrk="1" hangingPunct="1"/>
            <a:r>
              <a:rPr lang="zh-CN" altLang="en-US" b="1">
                <a:ea typeface="黑体" panose="02010609060101010101" pitchFamily="49" charset="-122"/>
              </a:rPr>
              <a:t>例</a:t>
            </a:r>
            <a:r>
              <a:rPr lang="en-US" altLang="zh-CN" b="1">
                <a:ea typeface="黑体" panose="02010609060101010101" pitchFamily="49" charset="-122"/>
              </a:rPr>
              <a:t>5-3 </a:t>
            </a:r>
            <a:r>
              <a:rPr lang="en-US" altLang="zh-CN" b="1">
                <a:latin typeface="宋体" panose="02010600030101010101" pitchFamily="2" charset="-122"/>
              </a:rPr>
              <a:t> </a:t>
            </a:r>
            <a:r>
              <a:rPr lang="zh-CN" altLang="en-US" b="1">
                <a:latin typeface="宋体" panose="02010600030101010101" pitchFamily="2" charset="-122"/>
              </a:rPr>
              <a:t>写求解直线方程的程序，计算</a:t>
            </a:r>
            <a:r>
              <a:rPr lang="en-US" altLang="zh-CN" b="1">
                <a:latin typeface="宋体" panose="02010600030101010101" pitchFamily="2" charset="-122"/>
              </a:rPr>
              <a:t>y=mx+b</a:t>
            </a:r>
            <a:r>
              <a:rPr lang="zh-CN" altLang="en-US" b="1">
                <a:latin typeface="宋体" panose="02010600030101010101" pitchFamily="2" charset="-122"/>
              </a:rPr>
              <a:t>。           </a:t>
            </a:r>
            <a:endParaRPr lang="zh-CN" altLang="en-US" b="1"/>
          </a:p>
          <a:p>
            <a:pPr algn="just" eaLnBrk="1" hangingPunct="1"/>
            <a:r>
              <a:rPr lang="en-US" altLang="zh-CN" b="1">
                <a:latin typeface="宋体" panose="02010600030101010101" pitchFamily="2" charset="-122"/>
              </a:rPr>
              <a:t>SUM2</a:t>
            </a:r>
            <a:r>
              <a:rPr lang="zh-CN" altLang="en-US" b="1">
                <a:latin typeface="宋体" panose="02010600030101010101" pitchFamily="2" charset="-122"/>
              </a:rPr>
              <a:t>：</a:t>
            </a:r>
            <a:r>
              <a:rPr lang="en-US" altLang="zh-CN" b="1">
                <a:latin typeface="宋体" panose="02010600030101010101" pitchFamily="2" charset="-122"/>
              </a:rPr>
              <a:t>LD     @m,T   </a:t>
            </a:r>
            <a:r>
              <a:rPr lang="zh-CN" altLang="en-US" b="1">
                <a:latin typeface="宋体" panose="02010600030101010101" pitchFamily="2" charset="-122"/>
              </a:rPr>
              <a:t>；将</a:t>
            </a:r>
            <a:r>
              <a:rPr lang="en-US" altLang="zh-CN" b="1">
                <a:latin typeface="宋体" panose="02010600030101010101" pitchFamily="2" charset="-122"/>
              </a:rPr>
              <a:t>m</a:t>
            </a:r>
            <a:r>
              <a:rPr lang="zh-CN" altLang="en-US" b="1">
                <a:latin typeface="宋体" panose="02010600030101010101" pitchFamily="2" charset="-122"/>
              </a:rPr>
              <a:t>地址的内容送</a:t>
            </a:r>
            <a:r>
              <a:rPr lang="en-US" altLang="zh-CN" b="1">
                <a:latin typeface="宋体" panose="02010600030101010101" pitchFamily="2" charset="-122"/>
              </a:rPr>
              <a:t>T</a:t>
            </a:r>
            <a:endParaRPr lang="en-US" altLang="zh-CN" b="1"/>
          </a:p>
          <a:p>
            <a:pPr algn="just" eaLnBrk="1" hangingPunct="1"/>
            <a:r>
              <a:rPr lang="en-US" altLang="zh-CN" b="1">
                <a:latin typeface="宋体" panose="02010600030101010101" pitchFamily="2" charset="-122"/>
              </a:rPr>
              <a:t>      </a:t>
            </a:r>
            <a:r>
              <a:rPr lang="en-US" altLang="zh-CN" b="1">
                <a:solidFill>
                  <a:schemeClr val="tx2"/>
                </a:solidFill>
                <a:latin typeface="宋体" panose="02010600030101010101" pitchFamily="2" charset="-122"/>
              </a:rPr>
              <a:t>MPY    @x,A</a:t>
            </a:r>
            <a:r>
              <a:rPr lang="en-US" altLang="zh-CN" b="1">
                <a:latin typeface="宋体" panose="02010600030101010101" pitchFamily="2" charset="-122"/>
              </a:rPr>
              <a:t>   </a:t>
            </a:r>
            <a:r>
              <a:rPr lang="zh-CN" altLang="en-US" b="1">
                <a:latin typeface="宋体" panose="02010600030101010101" pitchFamily="2" charset="-122"/>
              </a:rPr>
              <a:t>；将</a:t>
            </a:r>
            <a:r>
              <a:rPr lang="en-US" altLang="zh-CN" b="1">
                <a:latin typeface="宋体" panose="02010600030101010101" pitchFamily="2" charset="-122"/>
              </a:rPr>
              <a:t>x</a:t>
            </a:r>
            <a:r>
              <a:rPr lang="zh-CN" altLang="en-US" b="1">
                <a:latin typeface="宋体" panose="02010600030101010101" pitchFamily="2" charset="-122"/>
              </a:rPr>
              <a:t>地址的内容与</a:t>
            </a:r>
            <a:r>
              <a:rPr lang="en-US" altLang="zh-CN" b="1">
                <a:latin typeface="宋体" panose="02010600030101010101" pitchFamily="2" charset="-122"/>
              </a:rPr>
              <a:t>T</a:t>
            </a:r>
            <a:r>
              <a:rPr lang="zh-CN" altLang="en-US" b="1">
                <a:latin typeface="宋体" panose="02010600030101010101" pitchFamily="2" charset="-122"/>
              </a:rPr>
              <a:t>中的</a:t>
            </a:r>
            <a:r>
              <a:rPr lang="en-US" altLang="zh-CN" b="1">
                <a:latin typeface="宋体" panose="02010600030101010101" pitchFamily="2" charset="-122"/>
              </a:rPr>
              <a:t>m</a:t>
            </a:r>
            <a:r>
              <a:rPr lang="zh-CN" altLang="en-US" b="1">
                <a:latin typeface="宋体" panose="02010600030101010101" pitchFamily="2" charset="-122"/>
              </a:rPr>
              <a:t>相乘， </a:t>
            </a:r>
          </a:p>
          <a:p>
            <a:pPr algn="just" eaLnBrk="1" hangingPunct="1"/>
            <a:r>
              <a:rPr lang="zh-CN" altLang="en-US" b="1">
                <a:latin typeface="宋体" panose="02010600030101010101" pitchFamily="2" charset="-122"/>
              </a:rPr>
              <a:t>                    ；结果送</a:t>
            </a:r>
            <a:r>
              <a:rPr lang="en-US" altLang="zh-CN" b="1">
                <a:latin typeface="宋体" panose="02010600030101010101" pitchFamily="2" charset="-122"/>
              </a:rPr>
              <a:t>A</a:t>
            </a:r>
            <a:endParaRPr lang="en-US" altLang="zh-CN" b="1"/>
          </a:p>
          <a:p>
            <a:pPr algn="just" eaLnBrk="1" hangingPunct="1"/>
            <a:r>
              <a:rPr lang="en-US" altLang="zh-CN" b="1">
                <a:latin typeface="宋体" panose="02010600030101010101" pitchFamily="2" charset="-122"/>
              </a:rPr>
              <a:t>      </a:t>
            </a:r>
            <a:r>
              <a:rPr lang="en-US" altLang="zh-CN" b="1">
                <a:solidFill>
                  <a:srgbClr val="339933"/>
                </a:solidFill>
                <a:latin typeface="宋体" panose="02010600030101010101" pitchFamily="2" charset="-122"/>
              </a:rPr>
              <a:t>ADD    @b,A</a:t>
            </a:r>
            <a:r>
              <a:rPr lang="en-US" altLang="zh-CN" b="1">
                <a:latin typeface="宋体" panose="02010600030101010101" pitchFamily="2" charset="-122"/>
              </a:rPr>
              <a:t>   </a:t>
            </a:r>
            <a:r>
              <a:rPr lang="zh-CN" altLang="en-US" b="1">
                <a:latin typeface="宋体" panose="02010600030101010101" pitchFamily="2" charset="-122"/>
              </a:rPr>
              <a:t>；将</a:t>
            </a:r>
            <a:r>
              <a:rPr lang="en-US" altLang="zh-CN" b="1">
                <a:latin typeface="宋体" panose="02010600030101010101" pitchFamily="2" charset="-122"/>
              </a:rPr>
              <a:t>A</a:t>
            </a:r>
            <a:r>
              <a:rPr lang="zh-CN" altLang="en-US" b="1">
                <a:latin typeface="宋体" panose="02010600030101010101" pitchFamily="2" charset="-122"/>
              </a:rPr>
              <a:t>中的</a:t>
            </a:r>
            <a:r>
              <a:rPr lang="en-US" altLang="zh-CN" b="1">
                <a:latin typeface="宋体" panose="02010600030101010101" pitchFamily="2" charset="-122"/>
              </a:rPr>
              <a:t>mx</a:t>
            </a:r>
            <a:r>
              <a:rPr lang="zh-CN" altLang="en-US" b="1">
                <a:latin typeface="宋体" panose="02010600030101010101" pitchFamily="2" charset="-122"/>
              </a:rPr>
              <a:t>与</a:t>
            </a:r>
            <a:r>
              <a:rPr lang="en-US" altLang="zh-CN" b="1">
                <a:latin typeface="宋体" panose="02010600030101010101" pitchFamily="2" charset="-122"/>
              </a:rPr>
              <a:t>b</a:t>
            </a:r>
            <a:r>
              <a:rPr lang="zh-CN" altLang="en-US" b="1">
                <a:latin typeface="宋体" panose="02010600030101010101" pitchFamily="2" charset="-122"/>
              </a:rPr>
              <a:t>地址的内容相加， </a:t>
            </a:r>
          </a:p>
          <a:p>
            <a:pPr algn="just" eaLnBrk="1" hangingPunct="1"/>
            <a:r>
              <a:rPr lang="zh-CN" altLang="en-US" b="1">
                <a:latin typeface="宋体" panose="02010600030101010101" pitchFamily="2" charset="-122"/>
              </a:rPr>
              <a:t>                    ；结果送</a:t>
            </a:r>
            <a:r>
              <a:rPr lang="en-US" altLang="zh-CN" b="1">
                <a:latin typeface="宋体" panose="02010600030101010101" pitchFamily="2" charset="-122"/>
              </a:rPr>
              <a:t>A</a:t>
            </a:r>
            <a:endParaRPr lang="en-US" altLang="zh-CN" b="1"/>
          </a:p>
          <a:p>
            <a:pPr algn="just" eaLnBrk="1" hangingPunct="1"/>
            <a:r>
              <a:rPr lang="en-US" altLang="zh-CN" b="1">
                <a:latin typeface="宋体" panose="02010600030101010101" pitchFamily="2" charset="-122"/>
              </a:rPr>
              <a:t>      STH    A,@y   </a:t>
            </a:r>
            <a:r>
              <a:rPr lang="zh-CN" altLang="en-US" b="1">
                <a:latin typeface="宋体" panose="02010600030101010101" pitchFamily="2" charset="-122"/>
              </a:rPr>
              <a:t>；将</a:t>
            </a:r>
            <a:r>
              <a:rPr lang="en-US" altLang="zh-CN" b="1">
                <a:latin typeface="宋体" panose="02010600030101010101" pitchFamily="2" charset="-122"/>
              </a:rPr>
              <a:t>A</a:t>
            </a:r>
            <a:r>
              <a:rPr lang="zh-CN" altLang="en-US" b="1">
                <a:latin typeface="宋体" panose="02010600030101010101" pitchFamily="2" charset="-122"/>
              </a:rPr>
              <a:t>的的计算结果存入</a:t>
            </a:r>
            <a:r>
              <a:rPr lang="en-US" altLang="zh-CN" b="1">
                <a:latin typeface="宋体" panose="02010600030101010101" pitchFamily="2" charset="-122"/>
              </a:rPr>
              <a:t>y</a:t>
            </a:r>
            <a:r>
              <a:rPr lang="zh-CN" altLang="en-US" b="1">
                <a:latin typeface="宋体" panose="02010600030101010101" pitchFamily="2" charset="-122"/>
              </a:rPr>
              <a:t>地址中</a:t>
            </a:r>
          </a:p>
          <a:p>
            <a:pPr algn="just" eaLnBrk="1" hangingPunct="1"/>
            <a:r>
              <a:rPr lang="zh-CN" altLang="en-US" b="1">
                <a:latin typeface="宋体" panose="02010600030101010101" pitchFamily="2" charset="-122"/>
              </a:rPr>
              <a:t>      </a:t>
            </a:r>
            <a:r>
              <a:rPr lang="en-US" altLang="zh-CN" b="1">
                <a:latin typeface="宋体" panose="02010600030101010101" pitchFamily="2" charset="-122"/>
              </a:rPr>
              <a:t>STL    A,@y+1 </a:t>
            </a:r>
            <a:r>
              <a:rPr lang="zh-CN" altLang="en-US" b="1">
                <a:latin typeface="宋体" panose="02010600030101010101" pitchFamily="2" charset="-122"/>
              </a:rPr>
              <a:t>；将</a:t>
            </a:r>
            <a:r>
              <a:rPr lang="en-US" altLang="zh-CN" b="1">
                <a:latin typeface="宋体" panose="02010600030101010101" pitchFamily="2" charset="-122"/>
              </a:rPr>
              <a:t>A</a:t>
            </a:r>
            <a:r>
              <a:rPr lang="zh-CN" altLang="en-US" b="1">
                <a:latin typeface="宋体" panose="02010600030101010101" pitchFamily="2" charset="-122"/>
              </a:rPr>
              <a:t>的的计算结果存入</a:t>
            </a:r>
            <a:r>
              <a:rPr lang="en-US" altLang="zh-CN" b="1">
                <a:latin typeface="宋体" panose="02010600030101010101" pitchFamily="2" charset="-122"/>
              </a:rPr>
              <a:t>y+1</a:t>
            </a:r>
            <a:r>
              <a:rPr lang="zh-CN" altLang="en-US" b="1">
                <a:latin typeface="宋体" panose="02010600030101010101" pitchFamily="2" charset="-122"/>
              </a:rPr>
              <a:t>地址中</a:t>
            </a:r>
          </a:p>
        </p:txBody>
      </p:sp>
      <p:sp>
        <p:nvSpPr>
          <p:cNvPr id="786435" name="Rectangle 3" descr="小棋盘"/>
          <p:cNvSpPr>
            <a:spLocks noChangeArrowheads="1"/>
          </p:cNvSpPr>
          <p:nvPr/>
        </p:nvSpPr>
        <p:spPr bwMode="auto">
          <a:xfrm>
            <a:off x="2057400" y="1143000"/>
            <a:ext cx="52578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2</a:t>
            </a:r>
            <a:r>
              <a:rPr lang="zh-CN" altLang="en-US" sz="3200" b="1">
                <a:solidFill>
                  <a:srgbClr val="FF0000"/>
                </a:solidFill>
                <a:latin typeface="宋体" panose="02010600030101010101" pitchFamily="2" charset="-122"/>
                <a:ea typeface="仿宋_GB2312" pitchFamily="49" charset="-122"/>
              </a:rPr>
              <a:t>． 加、减法和乘法运算</a:t>
            </a:r>
            <a:r>
              <a:rPr lang="zh-CN" altLang="en-US" sz="2800" b="1">
                <a:solidFill>
                  <a:srgbClr val="FF0000"/>
                </a:solidFill>
                <a:latin typeface="宋体" panose="02010600030101010101" pitchFamily="2" charset="-122"/>
                <a:ea typeface="仿宋_GB2312" pitchFamily="49" charset="-122"/>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86435"/>
                                        </p:tgtEl>
                                        <p:attrNameLst>
                                          <p:attrName>style.visibility</p:attrName>
                                        </p:attrNameLst>
                                      </p:cBhvr>
                                      <p:to>
                                        <p:strVal val="visible"/>
                                      </p:to>
                                    </p:set>
                                    <p:animEffect transition="in" filter="slide(fromTop)">
                                      <p:cBhvr>
                                        <p:cTn id="7" dur="500"/>
                                        <p:tgtEl>
                                          <p:spTgt spid="786435"/>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86434"/>
                                        </p:tgtEl>
                                        <p:attrNameLst>
                                          <p:attrName>style.visibility</p:attrName>
                                        </p:attrNameLst>
                                      </p:cBhvr>
                                      <p:to>
                                        <p:strVal val="visible"/>
                                      </p:to>
                                    </p:set>
                                    <p:animEffect transition="in" filter="blinds(horizontal)">
                                      <p:cBhvr>
                                        <p:cTn id="11" dur="500"/>
                                        <p:tgtEl>
                                          <p:spTgt spid="786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6434" grpId="0"/>
      <p:bldP spid="78643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D18EA41-58CC-4C3E-9B85-4DAE76F9998E}" type="slidenum">
              <a:rPr lang="en-US" altLang="zh-CN" sz="1400"/>
              <a:pPr eaLnBrk="1" hangingPunct="1"/>
              <a:t>6</a:t>
            </a:fld>
            <a:endParaRPr lang="en-US" altLang="zh-CN" sz="1400"/>
          </a:p>
        </p:txBody>
      </p:sp>
      <p:sp>
        <p:nvSpPr>
          <p:cNvPr id="787458" name="Rectangle 2"/>
          <p:cNvSpPr>
            <a:spLocks noChangeArrowheads="1"/>
          </p:cNvSpPr>
          <p:nvPr/>
        </p:nvSpPr>
        <p:spPr bwMode="auto">
          <a:xfrm>
            <a:off x="2057400" y="2667000"/>
            <a:ext cx="6546850" cy="30257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3200" b="1">
                <a:solidFill>
                  <a:schemeClr val="tx2"/>
                </a:solidFill>
                <a:latin typeface="宋体" panose="02010600030101010101" pitchFamily="2" charset="-122"/>
              </a:rPr>
              <a:t>传送速度比加载和存储指令要快；</a:t>
            </a:r>
          </a:p>
          <a:p>
            <a:pPr algn="just" eaLnBrk="1" hangingPunct="1"/>
            <a:r>
              <a:rPr lang="zh-CN" altLang="en-US" sz="3200" b="1">
                <a:solidFill>
                  <a:schemeClr val="folHlink"/>
                </a:solidFill>
                <a:latin typeface="宋体" panose="02010600030101010101" pitchFamily="2" charset="-122"/>
              </a:rPr>
              <a:t>传送数据不需要通过累加器；</a:t>
            </a:r>
          </a:p>
          <a:p>
            <a:pPr algn="just" eaLnBrk="1" hangingPunct="1"/>
            <a:r>
              <a:rPr lang="zh-CN" altLang="en-US" sz="3200" b="1">
                <a:solidFill>
                  <a:srgbClr val="FF6600"/>
                </a:solidFill>
                <a:latin typeface="宋体" panose="02010600030101010101" pitchFamily="2" charset="-122"/>
              </a:rPr>
              <a:t>可以寻址程序存储器；</a:t>
            </a:r>
          </a:p>
          <a:p>
            <a:pPr algn="just" eaLnBrk="1" hangingPunct="1"/>
            <a:r>
              <a:rPr lang="zh-CN" altLang="en-US" sz="3200" b="1">
                <a:solidFill>
                  <a:srgbClr val="FF00FF"/>
                </a:solidFill>
                <a:latin typeface="宋体" panose="02010600030101010101" pitchFamily="2" charset="-122"/>
              </a:rPr>
              <a:t>与</a:t>
            </a:r>
            <a:r>
              <a:rPr lang="en-US" altLang="zh-CN" sz="3200" b="1">
                <a:solidFill>
                  <a:srgbClr val="FF00FF"/>
                </a:solidFill>
                <a:latin typeface="宋体" panose="02010600030101010101" pitchFamily="2" charset="-122"/>
              </a:rPr>
              <a:t>RPT</a:t>
            </a:r>
            <a:r>
              <a:rPr lang="zh-CN" altLang="en-US" sz="3200" b="1">
                <a:solidFill>
                  <a:srgbClr val="FF00FF"/>
                </a:solidFill>
                <a:latin typeface="宋体" panose="02010600030101010101" pitchFamily="2" charset="-122"/>
              </a:rPr>
              <a:t>指令相结合</a:t>
            </a:r>
            <a:r>
              <a:rPr lang="zh-CN" altLang="en-US" sz="3200" b="1">
                <a:latin typeface="宋体" panose="02010600030101010101" pitchFamily="2" charset="-122"/>
              </a:rPr>
              <a:t>（重复时，这些指令都变成单周期指令），可以实现数据块传送。</a:t>
            </a:r>
          </a:p>
        </p:txBody>
      </p:sp>
      <p:sp>
        <p:nvSpPr>
          <p:cNvPr id="787459" name="Rectangle 3" descr="小棋盘"/>
          <p:cNvSpPr>
            <a:spLocks noChangeArrowheads="1"/>
          </p:cNvSpPr>
          <p:nvPr/>
        </p:nvSpPr>
        <p:spPr bwMode="auto">
          <a:xfrm>
            <a:off x="2771775" y="1268413"/>
            <a:ext cx="35814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800" b="1">
                <a:solidFill>
                  <a:srgbClr val="FF0000"/>
                </a:solidFill>
                <a:latin typeface="宋体" panose="02010600030101010101" pitchFamily="2" charset="-122"/>
                <a:ea typeface="仿宋_GB2312" pitchFamily="49" charset="-122"/>
              </a:rPr>
              <a:t> </a:t>
            </a:r>
            <a:r>
              <a:rPr lang="en-US" altLang="zh-CN" sz="3200" b="1">
                <a:solidFill>
                  <a:srgbClr val="FF0000"/>
                </a:solidFill>
                <a:latin typeface="宋体" panose="02010600030101010101" pitchFamily="2" charset="-122"/>
                <a:ea typeface="仿宋_GB2312" pitchFamily="49" charset="-122"/>
              </a:rPr>
              <a:t>3</a:t>
            </a:r>
            <a:r>
              <a:rPr lang="zh-CN" altLang="en-US" sz="3200" b="1">
                <a:solidFill>
                  <a:srgbClr val="FF0000"/>
                </a:solidFill>
                <a:latin typeface="宋体" panose="02010600030101010101" pitchFamily="2" charset="-122"/>
                <a:ea typeface="仿宋_GB2312" pitchFamily="49" charset="-122"/>
              </a:rPr>
              <a:t>． 数据块传送</a:t>
            </a:r>
            <a:r>
              <a:rPr lang="zh-CN" altLang="en-US" sz="2800" b="1">
                <a:solidFill>
                  <a:srgbClr val="FF0000"/>
                </a:solidFill>
                <a:latin typeface="宋体" panose="02010600030101010101" pitchFamily="2" charset="-122"/>
                <a:ea typeface="仿宋_GB2312" pitchFamily="49" charset="-122"/>
              </a:rPr>
              <a:t> </a:t>
            </a:r>
          </a:p>
        </p:txBody>
      </p:sp>
      <p:sp>
        <p:nvSpPr>
          <p:cNvPr id="787460" name="Rectangle 4" descr="小棋盘"/>
          <p:cNvSpPr>
            <a:spLocks noChangeArrowheads="1"/>
          </p:cNvSpPr>
          <p:nvPr/>
        </p:nvSpPr>
        <p:spPr bwMode="auto">
          <a:xfrm>
            <a:off x="685800" y="3048000"/>
            <a:ext cx="646113" cy="1074738"/>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b="1">
                <a:solidFill>
                  <a:srgbClr val="FF0000"/>
                </a:solidFill>
                <a:latin typeface="宋体" panose="02010600030101010101" pitchFamily="2" charset="-122"/>
                <a:ea typeface="仿宋_GB2312" pitchFamily="49" charset="-122"/>
              </a:rPr>
              <a:t>特</a:t>
            </a:r>
          </a:p>
          <a:p>
            <a:pPr algn="just" eaLnBrk="1" hangingPunct="1">
              <a:lnSpc>
                <a:spcPct val="90000"/>
              </a:lnSpc>
              <a:spcBef>
                <a:spcPct val="20000"/>
              </a:spcBef>
            </a:pPr>
            <a:r>
              <a:rPr lang="zh-CN" altLang="en-US" sz="3200" b="1">
                <a:solidFill>
                  <a:srgbClr val="FF0000"/>
                </a:solidFill>
                <a:latin typeface="宋体" panose="02010600030101010101" pitchFamily="2" charset="-122"/>
                <a:ea typeface="仿宋_GB2312" pitchFamily="49" charset="-122"/>
              </a:rPr>
              <a:t>点</a:t>
            </a:r>
            <a:endParaRPr lang="zh-CN" altLang="en-US" sz="3200" b="1">
              <a:solidFill>
                <a:srgbClr val="FF0000"/>
              </a:solidFill>
              <a:latin typeface="宋体" panose="02010600030101010101" pitchFamily="2" charset="-122"/>
              <a:cs typeface="Times New Roman" panose="02020603050405020304" pitchFamily="18" charset="0"/>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87459"/>
                                        </p:tgtEl>
                                        <p:attrNameLst>
                                          <p:attrName>style.visibility</p:attrName>
                                        </p:attrNameLst>
                                      </p:cBhvr>
                                      <p:to>
                                        <p:strVal val="visible"/>
                                      </p:to>
                                    </p:set>
                                    <p:animEffect transition="in" filter="slide(fromTop)">
                                      <p:cBhvr>
                                        <p:cTn id="7" dur="500"/>
                                        <p:tgtEl>
                                          <p:spTgt spid="787459"/>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787460"/>
                                        </p:tgtEl>
                                        <p:attrNameLst>
                                          <p:attrName>style.visibility</p:attrName>
                                        </p:attrNameLst>
                                      </p:cBhvr>
                                      <p:to>
                                        <p:strVal val="visible"/>
                                      </p:to>
                                    </p:set>
                                    <p:animEffect transition="in" filter="slide(fromLeft)">
                                      <p:cBhvr>
                                        <p:cTn id="11" dur="500"/>
                                        <p:tgtEl>
                                          <p:spTgt spid="787460"/>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787458"/>
                                        </p:tgtEl>
                                        <p:attrNameLst>
                                          <p:attrName>style.visibility</p:attrName>
                                        </p:attrNameLst>
                                      </p:cBhvr>
                                      <p:to>
                                        <p:strVal val="visible"/>
                                      </p:to>
                                    </p:set>
                                    <p:animEffect transition="in" filter="blinds(horizontal)">
                                      <p:cBhvr>
                                        <p:cTn id="15" dur="500"/>
                                        <p:tgtEl>
                                          <p:spTgt spid="787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58" grpId="0" animBg="1"/>
      <p:bldP spid="787459" grpId="0" animBg="1"/>
      <p:bldP spid="78746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1544D34-E02E-4CE9-BFB3-9F1AB886C5FF}" type="slidenum">
              <a:rPr lang="en-US" altLang="zh-CN" sz="1400"/>
              <a:pPr eaLnBrk="1" hangingPunct="1"/>
              <a:t>7</a:t>
            </a:fld>
            <a:endParaRPr lang="en-US" altLang="zh-CN" sz="1400"/>
          </a:p>
        </p:txBody>
      </p:sp>
      <p:sp>
        <p:nvSpPr>
          <p:cNvPr id="788482" name="Rectangle 2"/>
          <p:cNvSpPr>
            <a:spLocks noChangeArrowheads="1"/>
          </p:cNvSpPr>
          <p:nvPr/>
        </p:nvSpPr>
        <p:spPr bwMode="auto">
          <a:xfrm>
            <a:off x="179388" y="990600"/>
            <a:ext cx="8659812"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dirty="0">
                <a:solidFill>
                  <a:srgbClr val="FF0000"/>
                </a:solidFill>
                <a:latin typeface="宋体" panose="02010600030101010101" pitchFamily="2" charset="-122"/>
              </a:rPr>
              <a:t>（</a:t>
            </a:r>
            <a:r>
              <a:rPr lang="en-US" altLang="zh-CN" sz="2800" b="1" dirty="0">
                <a:solidFill>
                  <a:srgbClr val="FF0000"/>
                </a:solidFill>
                <a:latin typeface="宋体" panose="02010600030101010101" pitchFamily="2" charset="-122"/>
              </a:rPr>
              <a:t>1</a:t>
            </a:r>
            <a:r>
              <a:rPr lang="zh-CN" altLang="en-US" sz="2800" b="1" dirty="0">
                <a:solidFill>
                  <a:srgbClr val="FF0000"/>
                </a:solidFill>
                <a:latin typeface="宋体" panose="02010600030101010101" pitchFamily="2" charset="-122"/>
              </a:rPr>
              <a:t>）数据存储器←→数据存储器</a:t>
            </a:r>
            <a:r>
              <a:rPr lang="zh-CN" altLang="en-US" sz="2800" b="1" dirty="0">
                <a:latin typeface="宋体" panose="02010600030101010101" pitchFamily="2" charset="-122"/>
              </a:rPr>
              <a:t>  这类指令有：</a:t>
            </a:r>
            <a:endParaRPr lang="zh-CN" altLang="en-US" sz="2800" b="1" dirty="0"/>
          </a:p>
          <a:p>
            <a:pPr algn="just"/>
            <a:r>
              <a:rPr lang="en-US" altLang="zh-CN" sz="2800" b="1" dirty="0">
                <a:latin typeface="宋体" panose="02010600030101010101" pitchFamily="2" charset="-122"/>
              </a:rPr>
              <a:t>MVDK   </a:t>
            </a:r>
            <a:r>
              <a:rPr lang="en-US" altLang="zh-CN" sz="2800" b="1" dirty="0" err="1">
                <a:latin typeface="宋体" panose="02010600030101010101" pitchFamily="2" charset="-122"/>
              </a:rPr>
              <a:t>Smem,dmad</a:t>
            </a:r>
            <a:r>
              <a:rPr lang="en-US" altLang="zh-CN" sz="2800" b="1" dirty="0">
                <a:latin typeface="宋体" panose="02010600030101010101" pitchFamily="2" charset="-122"/>
              </a:rPr>
              <a:t>      </a:t>
            </a:r>
            <a:r>
              <a:rPr lang="zh-CN" altLang="en-US" sz="2800" b="1" dirty="0">
                <a:latin typeface="宋体" panose="02010600030101010101" pitchFamily="2" charset="-122"/>
              </a:rPr>
              <a:t>指令的字数</a:t>
            </a:r>
            <a:r>
              <a:rPr lang="en-US" altLang="zh-CN" sz="2800" b="1" dirty="0">
                <a:latin typeface="宋体" panose="02010600030101010101" pitchFamily="2" charset="-122"/>
              </a:rPr>
              <a:t>/</a:t>
            </a:r>
            <a:r>
              <a:rPr lang="zh-CN" altLang="en-US" sz="2800" b="1" dirty="0">
                <a:latin typeface="宋体" panose="02010600030101010101" pitchFamily="2" charset="-122"/>
              </a:rPr>
              <a:t>执行周期  </a:t>
            </a:r>
            <a:r>
              <a:rPr lang="en-US" altLang="zh-CN" sz="2800" b="1" dirty="0">
                <a:latin typeface="宋体" panose="02010600030101010101" pitchFamily="2" charset="-122"/>
              </a:rPr>
              <a:t>2/2</a:t>
            </a:r>
            <a:endParaRPr lang="en-US" altLang="zh-CN" sz="2800" b="1" dirty="0"/>
          </a:p>
          <a:p>
            <a:pPr algn="just"/>
            <a:r>
              <a:rPr lang="en-US" altLang="zh-CN" sz="2800" b="1" dirty="0">
                <a:latin typeface="宋体" panose="02010600030101010101" pitchFamily="2" charset="-122"/>
              </a:rPr>
              <a:t>MVKD   </a:t>
            </a:r>
            <a:r>
              <a:rPr lang="en-US" altLang="zh-CN" sz="2800" b="1" dirty="0" err="1">
                <a:latin typeface="宋体" panose="02010600030101010101" pitchFamily="2" charset="-122"/>
              </a:rPr>
              <a:t>dmad,Smem</a:t>
            </a:r>
            <a:r>
              <a:rPr lang="zh-CN" altLang="en-US" sz="2800" b="1" dirty="0">
                <a:latin typeface="宋体" panose="02010600030101010101" pitchFamily="2" charset="-122"/>
              </a:rPr>
              <a:t>　　；</a:t>
            </a:r>
            <a:r>
              <a:rPr lang="en-US" altLang="zh-CN" sz="2800" b="1" dirty="0" err="1">
                <a:latin typeface="宋体" panose="02010600030101010101" pitchFamily="2" charset="-122"/>
              </a:rPr>
              <a:t>Smem</a:t>
            </a:r>
            <a:r>
              <a:rPr lang="en-US" altLang="zh-CN" sz="2800" b="1" dirty="0">
                <a:latin typeface="宋体" panose="02010600030101010101" pitchFamily="2" charset="-122"/>
              </a:rPr>
              <a:t>=</a:t>
            </a:r>
            <a:r>
              <a:rPr lang="en-US" altLang="zh-CN" sz="2800" b="1" dirty="0" err="1">
                <a:latin typeface="宋体" panose="02010600030101010101" pitchFamily="2" charset="-122"/>
              </a:rPr>
              <a:t>dmad</a:t>
            </a:r>
            <a:r>
              <a:rPr lang="en-US" altLang="zh-CN" sz="2800" b="1" dirty="0">
                <a:latin typeface="宋体" panose="02010600030101010101" pitchFamily="2" charset="-122"/>
              </a:rPr>
              <a:t> </a:t>
            </a:r>
            <a:r>
              <a:rPr lang="zh-CN" altLang="en-US" sz="2800" b="1" dirty="0">
                <a:latin typeface="宋体" panose="02010600030101010101" pitchFamily="2" charset="-122"/>
              </a:rPr>
              <a:t>　　　 　　</a:t>
            </a:r>
            <a:r>
              <a:rPr lang="en-US" altLang="zh-CN" sz="2800" b="1" dirty="0">
                <a:latin typeface="宋体" panose="02010600030101010101" pitchFamily="2" charset="-122"/>
              </a:rPr>
              <a:t>2/2</a:t>
            </a:r>
            <a:endParaRPr lang="en-US" altLang="zh-CN" sz="2800" b="1" dirty="0"/>
          </a:p>
          <a:p>
            <a:pPr algn="just"/>
            <a:r>
              <a:rPr lang="en-US" altLang="zh-CN" sz="2800" b="1" dirty="0">
                <a:latin typeface="宋体" panose="02010600030101010101" pitchFamily="2" charset="-122"/>
              </a:rPr>
              <a:t>MVDD   </a:t>
            </a:r>
            <a:r>
              <a:rPr lang="en-US" altLang="zh-CN" sz="2800" b="1" dirty="0" err="1">
                <a:latin typeface="宋体" panose="02010600030101010101" pitchFamily="2" charset="-122"/>
              </a:rPr>
              <a:t>Xmem,Ymem</a:t>
            </a:r>
            <a:r>
              <a:rPr lang="en-US" altLang="zh-CN" sz="2800" b="1" dirty="0">
                <a:latin typeface="宋体" panose="02010600030101010101" pitchFamily="2" charset="-122"/>
              </a:rPr>
              <a:t> </a:t>
            </a:r>
            <a:r>
              <a:rPr lang="zh-CN" altLang="en-US" sz="2800" b="1" dirty="0">
                <a:latin typeface="宋体" panose="02010600030101010101" pitchFamily="2" charset="-122"/>
              </a:rPr>
              <a:t>　 ；</a:t>
            </a:r>
            <a:r>
              <a:rPr lang="en-US" altLang="zh-CN" sz="2800" b="1" dirty="0" err="1">
                <a:latin typeface="宋体" panose="02010600030101010101" pitchFamily="2" charset="-122"/>
              </a:rPr>
              <a:t>Ymem</a:t>
            </a:r>
            <a:r>
              <a:rPr lang="en-US" altLang="zh-CN" sz="2800" b="1" dirty="0">
                <a:latin typeface="宋体" panose="02010600030101010101" pitchFamily="2" charset="-122"/>
              </a:rPr>
              <a:t>=</a:t>
            </a:r>
            <a:r>
              <a:rPr lang="en-US" altLang="zh-CN" sz="2800" b="1" dirty="0" err="1">
                <a:latin typeface="宋体" panose="02010600030101010101" pitchFamily="2" charset="-122"/>
              </a:rPr>
              <a:t>Xmem</a:t>
            </a:r>
            <a:r>
              <a:rPr lang="en-US" altLang="zh-CN" sz="2800" b="1" dirty="0">
                <a:latin typeface="宋体" panose="02010600030101010101" pitchFamily="2" charset="-122"/>
              </a:rPr>
              <a:t>            1/1</a:t>
            </a:r>
            <a:endParaRPr lang="en-US" altLang="zh-CN" sz="2800" b="1" dirty="0"/>
          </a:p>
          <a:p>
            <a:pPr algn="just"/>
            <a:r>
              <a:rPr lang="zh-CN" altLang="en-US" sz="2800" b="1" dirty="0">
                <a:solidFill>
                  <a:srgbClr val="FF0000"/>
                </a:solidFill>
                <a:latin typeface="宋体" panose="02010600030101010101" pitchFamily="2" charset="-122"/>
              </a:rPr>
              <a:t>（</a:t>
            </a:r>
            <a:r>
              <a:rPr lang="en-US" altLang="zh-CN" sz="2800" b="1" dirty="0">
                <a:solidFill>
                  <a:srgbClr val="FF0000"/>
                </a:solidFill>
                <a:latin typeface="宋体" panose="02010600030101010101" pitchFamily="2" charset="-122"/>
              </a:rPr>
              <a:t>2</a:t>
            </a:r>
            <a:r>
              <a:rPr lang="zh-CN" altLang="en-US" sz="2800" b="1" dirty="0">
                <a:solidFill>
                  <a:srgbClr val="FF0000"/>
                </a:solidFill>
                <a:latin typeface="宋体" panose="02010600030101010101" pitchFamily="2" charset="-122"/>
              </a:rPr>
              <a:t>）程序存储器←→数据存储器</a:t>
            </a:r>
            <a:r>
              <a:rPr lang="zh-CN" altLang="en-US" sz="2800" b="1" dirty="0">
                <a:latin typeface="宋体" panose="02010600030101010101" pitchFamily="2" charset="-122"/>
              </a:rPr>
              <a:t>  这类指令有：</a:t>
            </a:r>
            <a:endParaRPr lang="zh-CN" altLang="en-US" sz="2800" b="1" dirty="0"/>
          </a:p>
          <a:p>
            <a:pPr algn="just"/>
            <a:r>
              <a:rPr lang="en-US" altLang="zh-CN" sz="2800" b="1" dirty="0">
                <a:latin typeface="宋体" panose="02010600030101010101" pitchFamily="2" charset="-122"/>
              </a:rPr>
              <a:t>MVPD   </a:t>
            </a:r>
            <a:r>
              <a:rPr lang="en-US" altLang="zh-CN" sz="2800" b="1" dirty="0" err="1">
                <a:latin typeface="宋体" panose="02010600030101010101" pitchFamily="2" charset="-122"/>
              </a:rPr>
              <a:t>pmad,Smem</a:t>
            </a:r>
            <a:r>
              <a:rPr lang="en-US" altLang="zh-CN" sz="2800" b="1" dirty="0">
                <a:latin typeface="宋体" panose="02010600030101010101" pitchFamily="2" charset="-122"/>
              </a:rPr>
              <a:t>    </a:t>
            </a:r>
            <a:r>
              <a:rPr lang="zh-CN" altLang="en-US" sz="2800" b="1" dirty="0">
                <a:latin typeface="宋体" panose="02010600030101010101" pitchFamily="2" charset="-122"/>
              </a:rPr>
              <a:t>；</a:t>
            </a:r>
            <a:r>
              <a:rPr lang="en-US" altLang="zh-CN" sz="2800" b="1" dirty="0" err="1">
                <a:latin typeface="宋体" panose="02010600030101010101" pitchFamily="2" charset="-122"/>
              </a:rPr>
              <a:t>Smem</a:t>
            </a:r>
            <a:r>
              <a:rPr lang="en-US" altLang="zh-CN" sz="2800" b="1" dirty="0">
                <a:latin typeface="宋体" panose="02010600030101010101" pitchFamily="2" charset="-122"/>
              </a:rPr>
              <a:t>=</a:t>
            </a:r>
            <a:r>
              <a:rPr lang="en-US" altLang="zh-CN" sz="2800" b="1" dirty="0" err="1">
                <a:latin typeface="宋体" panose="02010600030101010101" pitchFamily="2" charset="-122"/>
              </a:rPr>
              <a:t>pmad</a:t>
            </a:r>
            <a:r>
              <a:rPr lang="en-US" altLang="zh-CN" sz="2800" b="1" dirty="0">
                <a:latin typeface="宋体" panose="02010600030101010101" pitchFamily="2" charset="-122"/>
              </a:rPr>
              <a:t>            2/3</a:t>
            </a:r>
            <a:endParaRPr lang="en-US" altLang="zh-CN" sz="2800" b="1" dirty="0"/>
          </a:p>
          <a:p>
            <a:pPr algn="just"/>
            <a:r>
              <a:rPr lang="en-US" altLang="zh-CN" sz="2800" b="1" dirty="0">
                <a:latin typeface="宋体" panose="02010600030101010101" pitchFamily="2" charset="-122"/>
              </a:rPr>
              <a:t>MVDP   </a:t>
            </a:r>
            <a:r>
              <a:rPr lang="en-US" altLang="zh-CN" sz="2800" b="1" dirty="0" err="1">
                <a:latin typeface="宋体" panose="02010600030101010101" pitchFamily="2" charset="-122"/>
              </a:rPr>
              <a:t>Smem,pmad</a:t>
            </a:r>
            <a:r>
              <a:rPr lang="en-US" altLang="zh-CN" sz="2800" b="1" dirty="0">
                <a:latin typeface="宋体" panose="02010600030101010101" pitchFamily="2" charset="-122"/>
              </a:rPr>
              <a:t>    </a:t>
            </a:r>
            <a:r>
              <a:rPr lang="zh-CN" altLang="en-US" sz="2800" b="1" dirty="0">
                <a:latin typeface="宋体" panose="02010600030101010101" pitchFamily="2" charset="-122"/>
              </a:rPr>
              <a:t>；</a:t>
            </a:r>
            <a:r>
              <a:rPr lang="en-US" altLang="zh-CN" sz="2800" b="1" dirty="0" err="1">
                <a:latin typeface="宋体" panose="02010600030101010101" pitchFamily="2" charset="-122"/>
              </a:rPr>
              <a:t>pmad</a:t>
            </a:r>
            <a:r>
              <a:rPr lang="en-US" altLang="zh-CN" sz="2800" b="1" dirty="0">
                <a:latin typeface="宋体" panose="02010600030101010101" pitchFamily="2" charset="-122"/>
              </a:rPr>
              <a:t>=</a:t>
            </a:r>
            <a:r>
              <a:rPr lang="en-US" altLang="zh-CN" sz="2800" b="1" dirty="0" err="1">
                <a:latin typeface="宋体" panose="02010600030101010101" pitchFamily="2" charset="-122"/>
              </a:rPr>
              <a:t>Smem</a:t>
            </a:r>
            <a:r>
              <a:rPr lang="en-US" altLang="zh-CN" sz="2800" b="1" dirty="0">
                <a:latin typeface="宋体" panose="02010600030101010101" pitchFamily="2" charset="-122"/>
              </a:rPr>
              <a:t>            2/4</a:t>
            </a:r>
          </a:p>
          <a:p>
            <a:pPr algn="just"/>
            <a:endParaRPr lang="en-US" altLang="zh-CN" sz="2800" b="1" dirty="0">
              <a:latin typeface="宋体" panose="02010600030101010101" pitchFamily="2" charset="-122"/>
            </a:endParaRPr>
          </a:p>
          <a:p>
            <a:pPr algn="just"/>
            <a:r>
              <a:rPr lang="en-US" altLang="zh-CN" sz="2800" b="1" dirty="0" err="1">
                <a:latin typeface="宋体" panose="02010600030101010101" pitchFamily="2" charset="-122"/>
              </a:rPr>
              <a:t>pmad</a:t>
            </a:r>
            <a:r>
              <a:rPr lang="zh-CN" altLang="en-US" sz="2800" b="1" dirty="0">
                <a:latin typeface="宋体" panose="02010600030101010101" pitchFamily="2" charset="-122"/>
              </a:rPr>
              <a:t>为</a:t>
            </a:r>
            <a:r>
              <a:rPr lang="en-US" altLang="zh-CN" sz="2800" b="1" dirty="0">
                <a:latin typeface="宋体" panose="02010600030101010101" pitchFamily="2" charset="-122"/>
              </a:rPr>
              <a:t>16</a:t>
            </a:r>
            <a:r>
              <a:rPr lang="zh-CN" altLang="en-US" sz="2800" b="1" dirty="0">
                <a:latin typeface="宋体" panose="02010600030101010101" pitchFamily="2" charset="-122"/>
              </a:rPr>
              <a:t>位立即数程序存储器地址；</a:t>
            </a:r>
          </a:p>
          <a:p>
            <a:pPr algn="just"/>
            <a:r>
              <a:rPr lang="en-US" altLang="zh-CN" sz="2800" b="1" dirty="0" err="1">
                <a:latin typeface="宋体" panose="02010600030101010101" pitchFamily="2" charset="-122"/>
              </a:rPr>
              <a:t>dmad</a:t>
            </a:r>
            <a:r>
              <a:rPr lang="zh-CN" altLang="en-US" sz="2800" b="1" dirty="0">
                <a:latin typeface="宋体" panose="02010600030101010101" pitchFamily="2" charset="-122"/>
              </a:rPr>
              <a:t>为</a:t>
            </a:r>
            <a:r>
              <a:rPr lang="en-US" altLang="zh-CN" sz="2800" b="1" dirty="0">
                <a:latin typeface="宋体" panose="02010600030101010101" pitchFamily="2" charset="-122"/>
              </a:rPr>
              <a:t>16</a:t>
            </a:r>
            <a:r>
              <a:rPr lang="zh-CN" altLang="en-US" sz="2800" b="1" dirty="0">
                <a:latin typeface="宋体" panose="02010600030101010101" pitchFamily="2" charset="-122"/>
              </a:rPr>
              <a:t>位立即数数据存储器地址；</a:t>
            </a:r>
          </a:p>
          <a:p>
            <a:pPr algn="just"/>
            <a:r>
              <a:rPr lang="en-US" altLang="zh-CN" sz="2800" b="1" dirty="0" err="1">
                <a:latin typeface="宋体" panose="02010600030101010101" pitchFamily="2" charset="-122"/>
              </a:rPr>
              <a:t>Smem</a:t>
            </a:r>
            <a:r>
              <a:rPr lang="zh-CN" altLang="en-US" sz="2800" b="1" dirty="0">
                <a:latin typeface="宋体" panose="02010600030101010101" pitchFamily="2" charset="-122"/>
              </a:rPr>
              <a:t>为数据存储器地址；</a:t>
            </a:r>
          </a:p>
          <a:p>
            <a:pPr algn="just"/>
            <a:r>
              <a:rPr lang="en-US" altLang="zh-CN" sz="2800" b="1" dirty="0" err="1">
                <a:latin typeface="宋体" panose="02010600030101010101" pitchFamily="2" charset="-122"/>
              </a:rPr>
              <a:t>Xmem</a:t>
            </a:r>
            <a:r>
              <a:rPr lang="zh-CN" altLang="en-US" sz="2800" b="1" dirty="0">
                <a:latin typeface="宋体" panose="02010600030101010101" pitchFamily="2" charset="-122"/>
              </a:rPr>
              <a:t>、</a:t>
            </a:r>
            <a:r>
              <a:rPr lang="en-US" altLang="zh-CN" sz="2800" b="1" dirty="0" err="1">
                <a:latin typeface="宋体" panose="02010600030101010101" pitchFamily="2" charset="-122"/>
              </a:rPr>
              <a:t>Ymem</a:t>
            </a:r>
            <a:r>
              <a:rPr lang="zh-CN" altLang="en-US" sz="2800" b="1" dirty="0">
                <a:latin typeface="宋体" panose="02010600030101010101" pitchFamily="2" charset="-122"/>
              </a:rPr>
              <a:t>为双操作数数据存储器地址，</a:t>
            </a:r>
            <a:r>
              <a:rPr lang="en-US" altLang="zh-CN" sz="2800" b="1" dirty="0" err="1">
                <a:latin typeface="宋体" panose="02010600030101010101" pitchFamily="2" charset="-122"/>
              </a:rPr>
              <a:t>Xmem</a:t>
            </a:r>
            <a:r>
              <a:rPr lang="zh-CN" altLang="en-US" sz="2800" b="1" dirty="0">
                <a:latin typeface="宋体" panose="02010600030101010101" pitchFamily="2" charset="-122"/>
              </a:rPr>
              <a:t>从</a:t>
            </a:r>
            <a:r>
              <a:rPr lang="en-US" altLang="zh-CN" sz="2800" b="1" dirty="0">
                <a:latin typeface="宋体" panose="02010600030101010101" pitchFamily="2" charset="-122"/>
              </a:rPr>
              <a:t>DB</a:t>
            </a:r>
            <a:r>
              <a:rPr lang="zh-CN" altLang="en-US" sz="2800" b="1" dirty="0">
                <a:latin typeface="宋体" panose="02010600030101010101" pitchFamily="2" charset="-122"/>
              </a:rPr>
              <a:t>数据总线上读出。</a:t>
            </a:r>
            <a:r>
              <a:rPr lang="en-US" altLang="zh-CN" sz="2800" b="1" dirty="0" err="1">
                <a:latin typeface="宋体" panose="02010600030101010101" pitchFamily="2" charset="-122"/>
              </a:rPr>
              <a:t>Ymem</a:t>
            </a:r>
            <a:r>
              <a:rPr lang="zh-CN" altLang="en-US" sz="2800" b="1" dirty="0">
                <a:latin typeface="宋体" panose="02010600030101010101" pitchFamily="2" charset="-122"/>
              </a:rPr>
              <a:t>从</a:t>
            </a:r>
            <a:r>
              <a:rPr lang="en-US" altLang="zh-CN" sz="2800" b="1" dirty="0">
                <a:latin typeface="宋体" panose="02010600030101010101" pitchFamily="2" charset="-122"/>
              </a:rPr>
              <a:t>CB</a:t>
            </a:r>
            <a:r>
              <a:rPr lang="zh-CN" altLang="en-US" sz="2800" b="1" dirty="0">
                <a:latin typeface="宋体" panose="02010600030101010101" pitchFamily="2" charset="-122"/>
              </a:rPr>
              <a:t>数据总线上读出。</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88482"/>
                                        </p:tgtEl>
                                        <p:attrNameLst>
                                          <p:attrName>style.visibility</p:attrName>
                                        </p:attrNameLst>
                                      </p:cBhvr>
                                      <p:to>
                                        <p:strVal val="visible"/>
                                      </p:to>
                                    </p:set>
                                    <p:animEffect transition="in" filter="blinds(horizontal)">
                                      <p:cBhvr>
                                        <p:cTn id="7" dur="500"/>
                                        <p:tgtEl>
                                          <p:spTgt spid="788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7148BCE-80E8-497F-BEF9-0F80734E5F30}" type="slidenum">
              <a:rPr lang="en-US" altLang="zh-CN" sz="1400"/>
              <a:pPr eaLnBrk="1" hangingPunct="1"/>
              <a:t>8</a:t>
            </a:fld>
            <a:endParaRPr lang="en-US" altLang="zh-CN" sz="1400"/>
          </a:p>
        </p:txBody>
      </p:sp>
      <p:sp>
        <p:nvSpPr>
          <p:cNvPr id="789506" name="Rectangle 2"/>
          <p:cNvSpPr>
            <a:spLocks noChangeArrowheads="1"/>
          </p:cNvSpPr>
          <p:nvPr/>
        </p:nvSpPr>
        <p:spPr bwMode="auto">
          <a:xfrm>
            <a:off x="381000" y="990600"/>
            <a:ext cx="8534400"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rgbClr val="FF0000"/>
                </a:solidFill>
                <a:latin typeface="宋体" panose="02010600030101010101" pitchFamily="2" charset="-122"/>
              </a:rPr>
              <a:t>（</a:t>
            </a:r>
            <a:r>
              <a:rPr lang="en-US" altLang="zh-CN" sz="2800" b="1" dirty="0">
                <a:solidFill>
                  <a:srgbClr val="FF0000"/>
                </a:solidFill>
                <a:latin typeface="宋体" panose="02010600030101010101" pitchFamily="2" charset="-122"/>
              </a:rPr>
              <a:t>3</a:t>
            </a:r>
            <a:r>
              <a:rPr lang="zh-CN" altLang="en-US" sz="2800" b="1" dirty="0">
                <a:solidFill>
                  <a:srgbClr val="FF0000"/>
                </a:solidFill>
                <a:latin typeface="宋体" panose="02010600030101010101" pitchFamily="2" charset="-122"/>
              </a:rPr>
              <a:t>）数据存储器←→</a:t>
            </a:r>
            <a:r>
              <a:rPr lang="en-US" altLang="zh-CN" sz="2800" b="1" dirty="0">
                <a:solidFill>
                  <a:srgbClr val="FF0000"/>
                </a:solidFill>
                <a:latin typeface="宋体" panose="02010600030101010101" pitchFamily="2" charset="-122"/>
              </a:rPr>
              <a:t>MMR</a:t>
            </a:r>
            <a:r>
              <a:rPr lang="en-US" altLang="zh-CN" sz="2800" b="1" dirty="0">
                <a:latin typeface="宋体" panose="02010600030101010101" pitchFamily="2" charset="-122"/>
              </a:rPr>
              <a:t>  </a:t>
            </a:r>
            <a:r>
              <a:rPr lang="zh-CN" altLang="en-US" sz="2800" b="1" dirty="0">
                <a:latin typeface="宋体" panose="02010600030101010101" pitchFamily="2" charset="-122"/>
              </a:rPr>
              <a:t>这类指令有：</a:t>
            </a:r>
            <a:endParaRPr lang="zh-CN" altLang="en-US" sz="2800" b="1" dirty="0"/>
          </a:p>
          <a:p>
            <a:pPr>
              <a:spcBef>
                <a:spcPct val="50000"/>
              </a:spcBef>
            </a:pPr>
            <a:r>
              <a:rPr lang="en-US" altLang="zh-CN" sz="2800" b="1" dirty="0">
                <a:latin typeface="宋体" panose="02010600030101010101" pitchFamily="2" charset="-122"/>
              </a:rPr>
              <a:t>MVDM  </a:t>
            </a:r>
            <a:r>
              <a:rPr lang="en-US" altLang="zh-CN" sz="2800" b="1" dirty="0" err="1">
                <a:latin typeface="宋体" panose="02010600030101010101" pitchFamily="2" charset="-122"/>
              </a:rPr>
              <a:t>dmad,MMR</a:t>
            </a:r>
            <a:r>
              <a:rPr lang="en-US" altLang="zh-CN" sz="2800" b="1" dirty="0">
                <a:latin typeface="宋体" panose="02010600030101010101" pitchFamily="2" charset="-122"/>
              </a:rPr>
              <a:t>   </a:t>
            </a:r>
            <a:r>
              <a:rPr lang="zh-CN" altLang="en-US" sz="2800" b="1" dirty="0">
                <a:latin typeface="宋体" panose="02010600030101010101" pitchFamily="2" charset="-122"/>
              </a:rPr>
              <a:t>；指令的字数</a:t>
            </a:r>
            <a:r>
              <a:rPr lang="en-US" altLang="zh-CN" sz="2800" b="1" dirty="0">
                <a:latin typeface="宋体" panose="02010600030101010101" pitchFamily="2" charset="-122"/>
              </a:rPr>
              <a:t>/</a:t>
            </a:r>
            <a:r>
              <a:rPr lang="zh-CN" altLang="en-US" sz="2800" b="1" dirty="0">
                <a:latin typeface="宋体" panose="02010600030101010101" pitchFamily="2" charset="-122"/>
              </a:rPr>
              <a:t>执行周期 </a:t>
            </a:r>
            <a:r>
              <a:rPr lang="en-US" altLang="zh-CN" sz="2800" b="1" dirty="0">
                <a:latin typeface="宋体" panose="02010600030101010101" pitchFamily="2" charset="-122"/>
              </a:rPr>
              <a:t>2/2</a:t>
            </a:r>
            <a:endParaRPr lang="en-US" altLang="zh-CN" sz="2800" b="1" dirty="0"/>
          </a:p>
          <a:p>
            <a:pPr>
              <a:spcBef>
                <a:spcPct val="50000"/>
              </a:spcBef>
            </a:pPr>
            <a:r>
              <a:rPr lang="en-US" altLang="zh-CN" sz="2800" b="1" dirty="0">
                <a:latin typeface="宋体" panose="02010600030101010101" pitchFamily="2" charset="-122"/>
              </a:rPr>
              <a:t>MVMD  </a:t>
            </a:r>
            <a:r>
              <a:rPr lang="en-US" altLang="zh-CN" sz="2800" b="1" dirty="0" err="1">
                <a:latin typeface="宋体" panose="02010600030101010101" pitchFamily="2" charset="-122"/>
              </a:rPr>
              <a:t>MMR,dmad</a:t>
            </a:r>
            <a:r>
              <a:rPr lang="en-US" altLang="zh-CN" sz="2800" b="1" dirty="0">
                <a:latin typeface="宋体" panose="02010600030101010101" pitchFamily="2" charset="-122"/>
              </a:rPr>
              <a:t>   </a:t>
            </a:r>
            <a:r>
              <a:rPr lang="zh-CN" altLang="en-US" sz="2800" b="1" dirty="0">
                <a:latin typeface="宋体" panose="02010600030101010101" pitchFamily="2" charset="-122"/>
              </a:rPr>
              <a:t>；</a:t>
            </a:r>
            <a:r>
              <a:rPr lang="en-US" altLang="zh-CN" sz="2800" b="1" dirty="0" err="1">
                <a:latin typeface="宋体" panose="02010600030101010101" pitchFamily="2" charset="-122"/>
              </a:rPr>
              <a:t>dmad</a:t>
            </a:r>
            <a:r>
              <a:rPr lang="en-US" altLang="zh-CN" sz="2800" b="1" dirty="0">
                <a:latin typeface="宋体" panose="02010600030101010101" pitchFamily="2" charset="-122"/>
              </a:rPr>
              <a:t>=MMR            2/2</a:t>
            </a:r>
            <a:endParaRPr lang="en-US" altLang="zh-CN" sz="2800" b="1" dirty="0"/>
          </a:p>
          <a:p>
            <a:pPr>
              <a:spcBef>
                <a:spcPct val="50000"/>
              </a:spcBef>
            </a:pPr>
            <a:r>
              <a:rPr lang="en-US" altLang="zh-CN" sz="2800" b="1" dirty="0">
                <a:latin typeface="宋体" panose="02010600030101010101" pitchFamily="2" charset="-122"/>
              </a:rPr>
              <a:t>MVMM  </a:t>
            </a:r>
            <a:r>
              <a:rPr lang="en-US" altLang="zh-CN" sz="2800" b="1" dirty="0" err="1">
                <a:latin typeface="宋体" panose="02010600030101010101" pitchFamily="2" charset="-122"/>
              </a:rPr>
              <a:t>mmrx,mmry</a:t>
            </a:r>
            <a:r>
              <a:rPr lang="en-US" altLang="zh-CN" sz="2800" b="1" dirty="0">
                <a:latin typeface="宋体" panose="02010600030101010101" pitchFamily="2" charset="-122"/>
              </a:rPr>
              <a:t>  </a:t>
            </a:r>
            <a:r>
              <a:rPr lang="zh-CN" altLang="en-US" sz="2800" b="1" dirty="0">
                <a:latin typeface="宋体" panose="02010600030101010101" pitchFamily="2" charset="-122"/>
              </a:rPr>
              <a:t>；</a:t>
            </a:r>
            <a:r>
              <a:rPr lang="en-US" altLang="zh-CN" sz="2800" b="1" dirty="0" err="1">
                <a:latin typeface="宋体" panose="02010600030101010101" pitchFamily="2" charset="-122"/>
              </a:rPr>
              <a:t>mmry</a:t>
            </a:r>
            <a:r>
              <a:rPr lang="en-US" altLang="zh-CN" sz="2800" b="1" dirty="0">
                <a:latin typeface="宋体" panose="02010600030101010101" pitchFamily="2" charset="-122"/>
              </a:rPr>
              <a:t>=</a:t>
            </a:r>
            <a:r>
              <a:rPr lang="en-US" altLang="zh-CN" sz="2800" b="1" dirty="0" err="1">
                <a:latin typeface="宋体" panose="02010600030101010101" pitchFamily="2" charset="-122"/>
              </a:rPr>
              <a:t>mmrx</a:t>
            </a:r>
            <a:r>
              <a:rPr lang="en-US" altLang="zh-CN" sz="2800" b="1" dirty="0">
                <a:latin typeface="宋体" panose="02010600030101010101" pitchFamily="2" charset="-122"/>
              </a:rPr>
              <a:t>           1/1</a:t>
            </a:r>
            <a:endParaRPr lang="en-US" altLang="zh-CN" sz="2800" b="1" dirty="0"/>
          </a:p>
          <a:p>
            <a:pPr>
              <a:spcBef>
                <a:spcPct val="50000"/>
              </a:spcBef>
            </a:pPr>
            <a:r>
              <a:rPr lang="zh-CN" altLang="en-US" sz="2800" b="1" dirty="0">
                <a:solidFill>
                  <a:srgbClr val="FF0000"/>
                </a:solidFill>
                <a:latin typeface="宋体" panose="02010600030101010101" pitchFamily="2" charset="-122"/>
              </a:rPr>
              <a:t>（</a:t>
            </a:r>
            <a:r>
              <a:rPr lang="en-US" altLang="zh-CN" sz="2800" b="1" dirty="0">
                <a:solidFill>
                  <a:srgbClr val="FF0000"/>
                </a:solidFill>
                <a:latin typeface="宋体" panose="02010600030101010101" pitchFamily="2" charset="-122"/>
              </a:rPr>
              <a:t>4</a:t>
            </a:r>
            <a:r>
              <a:rPr lang="zh-CN" altLang="en-US" sz="2800" b="1" dirty="0">
                <a:solidFill>
                  <a:srgbClr val="FF0000"/>
                </a:solidFill>
                <a:latin typeface="宋体" panose="02010600030101010101" pitchFamily="2" charset="-122"/>
              </a:rPr>
              <a:t>）程序存储器（</a:t>
            </a:r>
            <a:r>
              <a:rPr lang="en-US" altLang="zh-CN" sz="2800" b="1" dirty="0" err="1">
                <a:solidFill>
                  <a:srgbClr val="FF0000"/>
                </a:solidFill>
                <a:latin typeface="宋体" panose="02010600030101010101" pitchFamily="2" charset="-122"/>
              </a:rPr>
              <a:t>Acc</a:t>
            </a:r>
            <a:r>
              <a:rPr lang="zh-CN" altLang="en-US" sz="2800" b="1" dirty="0">
                <a:solidFill>
                  <a:srgbClr val="FF0000"/>
                </a:solidFill>
                <a:latin typeface="宋体" panose="02010600030101010101" pitchFamily="2" charset="-122"/>
              </a:rPr>
              <a:t>）←→数据存储器</a:t>
            </a:r>
            <a:r>
              <a:rPr lang="zh-CN" altLang="en-US" sz="2800" b="1" dirty="0">
                <a:latin typeface="宋体" panose="02010600030101010101" pitchFamily="2" charset="-122"/>
              </a:rPr>
              <a:t> 包括：</a:t>
            </a:r>
            <a:endParaRPr lang="zh-CN" altLang="en-US" sz="2800" b="1" dirty="0"/>
          </a:p>
          <a:p>
            <a:pPr>
              <a:spcBef>
                <a:spcPct val="50000"/>
              </a:spcBef>
            </a:pPr>
            <a:r>
              <a:rPr lang="en-US" altLang="zh-CN" sz="2800" b="1" dirty="0">
                <a:latin typeface="宋体" panose="02010600030101010101" pitchFamily="2" charset="-122"/>
              </a:rPr>
              <a:t>READA  </a:t>
            </a:r>
            <a:r>
              <a:rPr lang="en-US" altLang="zh-CN" sz="2800" b="1" dirty="0" err="1">
                <a:latin typeface="宋体" panose="02010600030101010101" pitchFamily="2" charset="-122"/>
              </a:rPr>
              <a:t>Smem</a:t>
            </a:r>
            <a:r>
              <a:rPr lang="en-US" altLang="zh-CN" sz="2800" b="1" dirty="0">
                <a:latin typeface="宋体" panose="02010600030101010101" pitchFamily="2" charset="-122"/>
              </a:rPr>
              <a:t>      </a:t>
            </a:r>
            <a:r>
              <a:rPr lang="zh-CN" altLang="en-US" sz="2800" b="1" dirty="0">
                <a:latin typeface="宋体" panose="02010600030101010101" pitchFamily="2" charset="-122"/>
              </a:rPr>
              <a:t>；</a:t>
            </a:r>
            <a:r>
              <a:rPr lang="en-US" altLang="zh-CN" sz="2800" b="1" dirty="0" err="1">
                <a:latin typeface="宋体" panose="02010600030101010101" pitchFamily="2" charset="-122"/>
              </a:rPr>
              <a:t>Smem</a:t>
            </a:r>
            <a:r>
              <a:rPr lang="en-US" altLang="zh-CN" sz="2800" b="1" dirty="0">
                <a:latin typeface="宋体" panose="02010600030101010101" pitchFamily="2" charset="-122"/>
              </a:rPr>
              <a:t>=</a:t>
            </a:r>
            <a:r>
              <a:rPr lang="en-US" altLang="zh-CN" sz="2800" b="1" dirty="0" err="1">
                <a:latin typeface="宋体" panose="02010600030101010101" pitchFamily="2" charset="-122"/>
              </a:rPr>
              <a:t>prog</a:t>
            </a:r>
            <a:r>
              <a:rPr lang="en-US" altLang="zh-CN" sz="2800" b="1" dirty="0">
                <a:latin typeface="宋体" panose="02010600030101010101" pitchFamily="2" charset="-122"/>
              </a:rPr>
              <a:t>(A)        1/5</a:t>
            </a:r>
            <a:endParaRPr lang="en-US" altLang="zh-CN" sz="2800" b="1" dirty="0"/>
          </a:p>
          <a:p>
            <a:pPr>
              <a:spcBef>
                <a:spcPct val="50000"/>
              </a:spcBef>
            </a:pPr>
            <a:r>
              <a:rPr lang="en-US" altLang="zh-CN" sz="2800" b="1" dirty="0">
                <a:latin typeface="宋体" panose="02010600030101010101" pitchFamily="2" charset="-122"/>
              </a:rPr>
              <a:t>WRITA  </a:t>
            </a:r>
            <a:r>
              <a:rPr lang="en-US" altLang="zh-CN" sz="2800" b="1" dirty="0" err="1">
                <a:latin typeface="宋体" panose="02010600030101010101" pitchFamily="2" charset="-122"/>
              </a:rPr>
              <a:t>Smem</a:t>
            </a:r>
            <a:r>
              <a:rPr lang="en-US" altLang="zh-CN" sz="2800" b="1" dirty="0">
                <a:latin typeface="宋体" panose="02010600030101010101" pitchFamily="2" charset="-122"/>
              </a:rPr>
              <a:t>      </a:t>
            </a:r>
            <a:r>
              <a:rPr lang="zh-CN" altLang="en-US" sz="2800" b="1" dirty="0">
                <a:latin typeface="宋体" panose="02010600030101010101" pitchFamily="2" charset="-122"/>
              </a:rPr>
              <a:t>；</a:t>
            </a:r>
            <a:r>
              <a:rPr lang="en-US" altLang="zh-CN" sz="2800" b="1" dirty="0" err="1">
                <a:latin typeface="宋体" panose="02010600030101010101" pitchFamily="2" charset="-122"/>
              </a:rPr>
              <a:t>prog</a:t>
            </a:r>
            <a:r>
              <a:rPr lang="en-US" altLang="zh-CN" sz="2800" b="1" dirty="0">
                <a:latin typeface="宋体" panose="02010600030101010101" pitchFamily="2" charset="-122"/>
              </a:rPr>
              <a:t>(A)= </a:t>
            </a:r>
            <a:r>
              <a:rPr lang="en-US" altLang="zh-CN" sz="2800" b="1" dirty="0" err="1">
                <a:latin typeface="宋体" panose="02010600030101010101" pitchFamily="2" charset="-122"/>
              </a:rPr>
              <a:t>Smem</a:t>
            </a:r>
            <a:r>
              <a:rPr lang="en-US" altLang="zh-CN" sz="2800" b="1" dirty="0">
                <a:latin typeface="宋体" panose="02010600030101010101" pitchFamily="2" charset="-122"/>
              </a:rPr>
              <a:t>       1/5</a:t>
            </a:r>
          </a:p>
          <a:p>
            <a:pPr>
              <a:lnSpc>
                <a:spcPct val="85000"/>
              </a:lnSpc>
            </a:pPr>
            <a:endParaRPr lang="en-US" altLang="zh-CN" sz="2800" b="1" dirty="0">
              <a:latin typeface="宋体" panose="02010600030101010101" pitchFamily="2" charset="-122"/>
            </a:endParaRPr>
          </a:p>
          <a:p>
            <a:pPr>
              <a:lnSpc>
                <a:spcPct val="85000"/>
              </a:lnSpc>
            </a:pPr>
            <a:r>
              <a:rPr lang="en-US" altLang="zh-CN" sz="2800" b="1" dirty="0">
                <a:latin typeface="宋体" panose="02010600030101010101" pitchFamily="2" charset="-122"/>
              </a:rPr>
              <a:t>  </a:t>
            </a:r>
            <a:r>
              <a:rPr lang="en-US" altLang="zh-CN" sz="2800" b="1" dirty="0" err="1">
                <a:latin typeface="宋体" panose="02010600030101010101" pitchFamily="2" charset="-122"/>
              </a:rPr>
              <a:t>mmrx,mmry</a:t>
            </a:r>
            <a:r>
              <a:rPr lang="zh-CN" altLang="en-US" sz="2800" b="1" dirty="0">
                <a:latin typeface="宋体" panose="02010600030101010101" pitchFamily="2" charset="-122"/>
              </a:rPr>
              <a:t>为</a:t>
            </a:r>
            <a:r>
              <a:rPr lang="en-US" altLang="zh-CN" sz="2800" b="1" dirty="0">
                <a:latin typeface="宋体" panose="02010600030101010101" pitchFamily="2" charset="-122"/>
              </a:rPr>
              <a:t>AR0</a:t>
            </a:r>
            <a:r>
              <a:rPr lang="zh-CN" altLang="en-US" sz="2800" b="1" dirty="0">
                <a:latin typeface="宋体" panose="02010600030101010101" pitchFamily="2" charset="-122"/>
              </a:rPr>
              <a:t>～</a:t>
            </a:r>
            <a:r>
              <a:rPr lang="en-US" altLang="zh-CN" sz="2800" b="1" dirty="0">
                <a:latin typeface="宋体" panose="02010600030101010101" pitchFamily="2" charset="-122"/>
              </a:rPr>
              <a:t>AR7</a:t>
            </a:r>
            <a:r>
              <a:rPr lang="zh-CN" altLang="en-US" sz="2800" b="1" dirty="0">
                <a:latin typeface="宋体" panose="02010600030101010101" pitchFamily="2" charset="-122"/>
              </a:rPr>
              <a:t>或</a:t>
            </a:r>
            <a:r>
              <a:rPr lang="en-US" altLang="zh-CN" sz="2800" b="1" dirty="0">
                <a:latin typeface="宋体" panose="02010600030101010101" pitchFamily="2" charset="-122"/>
              </a:rPr>
              <a:t>SP</a:t>
            </a:r>
            <a:r>
              <a:rPr lang="zh-CN" altLang="en-US" sz="2800" b="1" dirty="0">
                <a:latin typeface="宋体" panose="02010600030101010101" pitchFamily="2" charset="-122"/>
              </a:rPr>
              <a:t>；</a:t>
            </a:r>
          </a:p>
          <a:p>
            <a:pPr>
              <a:lnSpc>
                <a:spcPct val="85000"/>
              </a:lnSpc>
            </a:pPr>
            <a:r>
              <a:rPr lang="zh-CN" altLang="en-US" sz="2800" b="1" dirty="0">
                <a:latin typeface="宋体" panose="02010600030101010101" pitchFamily="2" charset="-122"/>
              </a:rPr>
              <a:t>  </a:t>
            </a:r>
            <a:r>
              <a:rPr lang="en-US" altLang="zh-CN" sz="2800" b="1" dirty="0">
                <a:latin typeface="宋体" panose="02010600030101010101" pitchFamily="2" charset="-122"/>
              </a:rPr>
              <a:t>MMR</a:t>
            </a:r>
            <a:r>
              <a:rPr lang="zh-CN" altLang="en-US" sz="2800" b="1" dirty="0">
                <a:latin typeface="宋体" panose="02010600030101010101" pitchFamily="2" charset="-122"/>
              </a:rPr>
              <a:t>为任何一个存储器映象寄存器；</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89506"/>
                                        </p:tgtEl>
                                        <p:attrNameLst>
                                          <p:attrName>style.visibility</p:attrName>
                                        </p:attrNameLst>
                                      </p:cBhvr>
                                      <p:to>
                                        <p:strVal val="visible"/>
                                      </p:to>
                                    </p:set>
                                    <p:animEffect transition="in" filter="blinds(horizontal)">
                                      <p:cBhvr>
                                        <p:cTn id="7" dur="500"/>
                                        <p:tgtEl>
                                          <p:spTgt spid="789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0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A0868F9-9782-4377-91AE-164817A875E2}" type="slidenum">
              <a:rPr lang="en-US" altLang="zh-CN" sz="1400"/>
              <a:pPr eaLnBrk="1" hangingPunct="1"/>
              <a:t>9</a:t>
            </a:fld>
            <a:endParaRPr lang="en-US" altLang="zh-CN" sz="1400"/>
          </a:p>
        </p:txBody>
      </p:sp>
      <p:sp>
        <p:nvSpPr>
          <p:cNvPr id="790532" name="Rectangle 4" descr="小棋盘"/>
          <p:cNvSpPr>
            <a:spLocks noChangeArrowheads="1"/>
          </p:cNvSpPr>
          <p:nvPr/>
        </p:nvSpPr>
        <p:spPr bwMode="auto">
          <a:xfrm>
            <a:off x="467544" y="2852936"/>
            <a:ext cx="646113" cy="18542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b="1">
                <a:solidFill>
                  <a:srgbClr val="339933"/>
                </a:solidFill>
                <a:latin typeface="宋体" panose="02010600030101010101" pitchFamily="2" charset="-122"/>
                <a:ea typeface="仿宋_GB2312" pitchFamily="49" charset="-122"/>
              </a:rPr>
              <a:t>应用举例</a:t>
            </a:r>
            <a:endParaRPr lang="zh-CN" altLang="en-US" sz="3200" b="1">
              <a:solidFill>
                <a:srgbClr val="339933"/>
              </a:solidFill>
              <a:latin typeface="宋体" panose="02010600030101010101" pitchFamily="2" charset="-122"/>
              <a:cs typeface="Times New Roman" panose="02020603050405020304" pitchFamily="18" charset="0"/>
            </a:endParaRPr>
          </a:p>
        </p:txBody>
      </p:sp>
      <p:sp>
        <p:nvSpPr>
          <p:cNvPr id="2" name="矩形 1"/>
          <p:cNvSpPr/>
          <p:nvPr/>
        </p:nvSpPr>
        <p:spPr>
          <a:xfrm>
            <a:off x="1547664" y="1124744"/>
            <a:ext cx="6264696" cy="5693866"/>
          </a:xfrm>
          <a:prstGeom prst="rect">
            <a:avLst/>
          </a:prstGeom>
        </p:spPr>
        <p:txBody>
          <a:bodyPr wrap="square">
            <a:spAutoFit/>
          </a:bodyPr>
          <a:lstStyle/>
          <a:p>
            <a:pPr algn="just"/>
            <a:r>
              <a:rPr lang="zh-CN" altLang="en-US" sz="2800" b="1" dirty="0">
                <a:latin typeface="宋体" panose="02010600030101010101" pitchFamily="2" charset="-122"/>
              </a:rPr>
              <a:t>例如：</a:t>
            </a:r>
            <a:r>
              <a:rPr lang="en-US" altLang="zh-CN" sz="2800" b="1" dirty="0">
                <a:latin typeface="宋体" panose="02010600030101010101" pitchFamily="2" charset="-122"/>
              </a:rPr>
              <a:t>MVKD    #</a:t>
            </a:r>
            <a:r>
              <a:rPr lang="en-US" altLang="zh-CN" sz="2800" b="1" dirty="0" err="1">
                <a:latin typeface="宋体" panose="02010600030101010101" pitchFamily="2" charset="-122"/>
              </a:rPr>
              <a:t>btp</a:t>
            </a:r>
            <a:r>
              <a:rPr lang="en-US" altLang="zh-CN" sz="2800" b="1" dirty="0">
                <a:latin typeface="宋体" panose="02010600030101010101" pitchFamily="2" charset="-122"/>
              </a:rPr>
              <a:t>,</a:t>
            </a:r>
            <a:r>
              <a:rPr lang="zh-CN" altLang="en-US" sz="2800" b="1" dirty="0">
                <a:latin typeface="宋体" panose="02010600030101010101" pitchFamily="2" charset="-122"/>
              </a:rPr>
              <a:t> </a:t>
            </a:r>
            <a:r>
              <a:rPr lang="en-US" altLang="zh-CN" sz="2800" b="1" dirty="0">
                <a:latin typeface="宋体" panose="02010600030101010101" pitchFamily="2" charset="-122"/>
              </a:rPr>
              <a:t>*(yh+4) </a:t>
            </a:r>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MVKD    *(yh+5),hdb3</a:t>
            </a:r>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MVKD    </a:t>
            </a:r>
            <a:r>
              <a:rPr lang="en-US" altLang="zh-CN" sz="2800" b="1" dirty="0" err="1">
                <a:latin typeface="宋体" panose="02010600030101010101" pitchFamily="2" charset="-122"/>
              </a:rPr>
              <a:t>btn</a:t>
            </a:r>
            <a:r>
              <a:rPr lang="en-US" altLang="zh-CN" sz="2800" b="1" dirty="0">
                <a:latin typeface="宋体" panose="02010600030101010101" pitchFamily="2" charset="-122"/>
              </a:rPr>
              <a:t>,</a:t>
            </a:r>
            <a:r>
              <a:rPr lang="zh-CN" altLang="en-US" sz="2800" b="1" dirty="0">
                <a:latin typeface="宋体" panose="02010600030101010101" pitchFamily="2" charset="-122"/>
              </a:rPr>
              <a:t> </a:t>
            </a:r>
            <a:r>
              <a:rPr lang="en-US" altLang="zh-CN" sz="2800" b="1" dirty="0">
                <a:latin typeface="宋体" panose="02010600030101010101" pitchFamily="2" charset="-122"/>
              </a:rPr>
              <a:t>*AR3</a:t>
            </a:r>
          </a:p>
          <a:p>
            <a:pPr algn="just"/>
            <a:r>
              <a:rPr lang="en-US" altLang="zh-CN" sz="2800" b="1" dirty="0">
                <a:solidFill>
                  <a:schemeClr val="accent6">
                    <a:lumMod val="50000"/>
                  </a:schemeClr>
                </a:solidFill>
                <a:latin typeface="宋体" panose="02010600030101010101" pitchFamily="2" charset="-122"/>
              </a:rPr>
              <a:t> </a:t>
            </a:r>
            <a:r>
              <a:rPr lang="zh-CN" altLang="en-US" sz="2800" b="1" dirty="0">
                <a:solidFill>
                  <a:schemeClr val="accent6">
                    <a:lumMod val="50000"/>
                  </a:schemeClr>
                </a:solidFill>
                <a:latin typeface="宋体" panose="02010600030101010101" pitchFamily="2" charset="-122"/>
              </a:rPr>
              <a:t>    </a:t>
            </a:r>
            <a:r>
              <a:rPr lang="en-US" altLang="zh-CN" sz="2800" b="1" dirty="0">
                <a:solidFill>
                  <a:schemeClr val="accent6">
                    <a:lumMod val="50000"/>
                  </a:schemeClr>
                </a:solidFill>
                <a:latin typeface="宋体" panose="02010600030101010101" pitchFamily="2" charset="-122"/>
              </a:rPr>
              <a:t> MVMD    *AR3,yh</a:t>
            </a:r>
          </a:p>
          <a:p>
            <a:pPr algn="just"/>
            <a:r>
              <a:rPr lang="zh-CN" altLang="en-US" sz="2800" b="1" dirty="0">
                <a:latin typeface="宋体" panose="02010600030101010101" pitchFamily="2" charset="-122"/>
              </a:rPr>
              <a:t>      </a:t>
            </a:r>
            <a:r>
              <a:rPr lang="en-US" altLang="zh-CN" sz="2800" b="1" dirty="0">
                <a:solidFill>
                  <a:schemeClr val="tx2"/>
                </a:solidFill>
                <a:latin typeface="宋体" panose="02010600030101010101" pitchFamily="2" charset="-122"/>
              </a:rPr>
              <a:t>MVPD TBL,*AR5+</a:t>
            </a:r>
            <a:endParaRPr lang="en-US" altLang="zh-CN" sz="2800" b="1" dirty="0">
              <a:latin typeface="宋体" panose="02010600030101010101" pitchFamily="2" charset="-122"/>
            </a:endParaRPr>
          </a:p>
          <a:p>
            <a:pPr algn="just"/>
            <a:r>
              <a:rPr lang="zh-CN" altLang="en-US" sz="2800" b="1" dirty="0">
                <a:latin typeface="宋体" panose="02010600030101010101" pitchFamily="2" charset="-122"/>
              </a:rPr>
              <a:t>      </a:t>
            </a:r>
            <a:r>
              <a:rPr lang="en-US" altLang="zh-CN" sz="2800" b="1" dirty="0">
                <a:solidFill>
                  <a:srgbClr val="FF00FF"/>
                </a:solidFill>
                <a:latin typeface="宋体" panose="02010600030101010101" pitchFamily="2" charset="-122"/>
              </a:rPr>
              <a:t>STM     #0,*AR3 </a:t>
            </a:r>
          </a:p>
          <a:p>
            <a:pPr algn="just"/>
            <a:r>
              <a:rPr lang="en-US" altLang="zh-CN" sz="2800" b="1" dirty="0">
                <a:solidFill>
                  <a:srgbClr val="FF00FF"/>
                </a:solidFill>
                <a:latin typeface="宋体" panose="02010600030101010101" pitchFamily="2" charset="-122"/>
              </a:rPr>
              <a:t> </a:t>
            </a:r>
            <a:r>
              <a:rPr lang="zh-CN" altLang="en-US" sz="2800" b="1" dirty="0">
                <a:solidFill>
                  <a:srgbClr val="FF00FF"/>
                </a:solidFill>
                <a:latin typeface="宋体" panose="02010600030101010101" pitchFamily="2" charset="-122"/>
              </a:rPr>
              <a:t>     </a:t>
            </a:r>
            <a:r>
              <a:rPr lang="en-US" altLang="zh-CN" sz="2800" b="1" dirty="0">
                <a:solidFill>
                  <a:srgbClr val="FF00FF"/>
                </a:solidFill>
                <a:latin typeface="宋体" panose="02010600030101010101" pitchFamily="2" charset="-122"/>
              </a:rPr>
              <a:t>STM	 </a:t>
            </a:r>
            <a:r>
              <a:rPr lang="zh-CN" altLang="en-US" sz="2800" b="1" dirty="0">
                <a:solidFill>
                  <a:srgbClr val="FF00FF"/>
                </a:solidFill>
                <a:latin typeface="宋体" panose="02010600030101010101" pitchFamily="2" charset="-122"/>
              </a:rPr>
              <a:t>  </a:t>
            </a:r>
            <a:r>
              <a:rPr lang="en-US" altLang="zh-CN" sz="2800" b="1" dirty="0">
                <a:solidFill>
                  <a:srgbClr val="FF00FF"/>
                </a:solidFill>
                <a:latin typeface="宋体" panose="02010600030101010101" pitchFamily="2" charset="-122"/>
              </a:rPr>
              <a:t> #ya,AR4 </a:t>
            </a:r>
          </a:p>
          <a:p>
            <a:pPr algn="just"/>
            <a:r>
              <a:rPr lang="en-US" altLang="zh-CN" sz="2800" b="1" dirty="0">
                <a:solidFill>
                  <a:srgbClr val="FF00FF"/>
                </a:solidFill>
                <a:latin typeface="宋体" panose="02010600030101010101" pitchFamily="2" charset="-122"/>
              </a:rPr>
              <a:t> </a:t>
            </a:r>
            <a:r>
              <a:rPr lang="zh-CN" altLang="en-US" sz="2800" b="1" dirty="0">
                <a:solidFill>
                  <a:srgbClr val="FF00FF"/>
                </a:solidFill>
                <a:latin typeface="宋体" panose="02010600030101010101" pitchFamily="2" charset="-122"/>
              </a:rPr>
              <a:t>     </a:t>
            </a:r>
            <a:r>
              <a:rPr lang="en-US" altLang="zh-CN" sz="2800" b="1" dirty="0">
                <a:solidFill>
                  <a:srgbClr val="FF00FF"/>
                </a:solidFill>
                <a:latin typeface="宋体" panose="02010600030101010101" pitchFamily="2" charset="-122"/>
              </a:rPr>
              <a:t>STM	  </a:t>
            </a:r>
            <a:r>
              <a:rPr lang="zh-CN" altLang="en-US" sz="2800" b="1" dirty="0">
                <a:solidFill>
                  <a:srgbClr val="FF00FF"/>
                </a:solidFill>
                <a:latin typeface="宋体" panose="02010600030101010101" pitchFamily="2" charset="-122"/>
              </a:rPr>
              <a:t>  </a:t>
            </a:r>
            <a:r>
              <a:rPr lang="en-US" altLang="zh-CN" sz="2800" b="1" dirty="0">
                <a:solidFill>
                  <a:srgbClr val="FF00FF"/>
                </a:solidFill>
                <a:latin typeface="宋体" panose="02010600030101010101" pitchFamily="2" charset="-122"/>
              </a:rPr>
              <a:t>#btn,AR1 </a:t>
            </a:r>
          </a:p>
          <a:p>
            <a:pPr algn="just"/>
            <a:r>
              <a:rPr lang="zh-CN" altLang="en-US" sz="2800" b="1" dirty="0">
                <a:latin typeface="宋体" panose="02010600030101010101" pitchFamily="2" charset="-122"/>
              </a:rPr>
              <a:t>      </a:t>
            </a:r>
            <a:r>
              <a:rPr lang="en-US" altLang="zh-CN" sz="2800" b="1" dirty="0">
                <a:solidFill>
                  <a:srgbClr val="660066"/>
                </a:solidFill>
                <a:latin typeface="宋体" panose="02010600030101010101" pitchFamily="2" charset="-122"/>
              </a:rPr>
              <a:t>STL     A,AR5 </a:t>
            </a:r>
          </a:p>
          <a:p>
            <a:pPr algn="just"/>
            <a:r>
              <a:rPr lang="en-US" altLang="zh-CN" sz="2800" b="1" dirty="0">
                <a:solidFill>
                  <a:srgbClr val="660066"/>
                </a:solidFill>
                <a:latin typeface="宋体" panose="02010600030101010101" pitchFamily="2" charset="-122"/>
              </a:rPr>
              <a:t> </a:t>
            </a:r>
            <a:r>
              <a:rPr lang="zh-CN" altLang="en-US" sz="2800" b="1" dirty="0">
                <a:solidFill>
                  <a:srgbClr val="660066"/>
                </a:solidFill>
                <a:latin typeface="宋体" panose="02010600030101010101" pitchFamily="2" charset="-122"/>
              </a:rPr>
              <a:t>     </a:t>
            </a:r>
            <a:r>
              <a:rPr lang="en-US" altLang="zh-CN" sz="2800" b="1" dirty="0">
                <a:solidFill>
                  <a:srgbClr val="660066"/>
                </a:solidFill>
                <a:latin typeface="宋体" panose="02010600030101010101" pitchFamily="2" charset="-122"/>
              </a:rPr>
              <a:t>STL     B,*(</a:t>
            </a:r>
            <a:r>
              <a:rPr lang="en-US" altLang="zh-CN" sz="2800" b="1" dirty="0" err="1">
                <a:solidFill>
                  <a:srgbClr val="660066"/>
                </a:solidFill>
                <a:latin typeface="宋体" panose="02010600030101010101" pitchFamily="2" charset="-122"/>
              </a:rPr>
              <a:t>fp</a:t>
            </a:r>
            <a:r>
              <a:rPr lang="en-US" altLang="zh-CN" sz="2800" b="1" dirty="0">
                <a:solidFill>
                  <a:srgbClr val="660066"/>
                </a:solidFill>
                <a:latin typeface="宋体" panose="02010600030101010101" pitchFamily="2" charset="-122"/>
              </a:rPr>
              <a:t>)</a:t>
            </a:r>
          </a:p>
          <a:p>
            <a:pPr algn="just"/>
            <a:r>
              <a:rPr lang="zh-CN" altLang="en-US" sz="2800" b="1" dirty="0">
                <a:solidFill>
                  <a:schemeClr val="tx2"/>
                </a:solidFill>
                <a:latin typeface="宋体" panose="02010600030101010101" pitchFamily="2" charset="-122"/>
              </a:rPr>
              <a:t>      </a:t>
            </a:r>
            <a:r>
              <a:rPr lang="en-US" altLang="zh-CN" sz="2800" b="1" dirty="0">
                <a:latin typeface="宋体" panose="02010600030101010101" pitchFamily="2" charset="-122"/>
              </a:rPr>
              <a:t>LD	  </a:t>
            </a:r>
            <a:r>
              <a:rPr lang="zh-CN" altLang="en-US" sz="2800" b="1" dirty="0">
                <a:latin typeface="宋体" panose="02010600030101010101" pitchFamily="2" charset="-122"/>
              </a:rPr>
              <a:t>  </a:t>
            </a:r>
            <a:r>
              <a:rPr lang="en-US" altLang="zh-CN" sz="2800" b="1" dirty="0">
                <a:latin typeface="宋体" panose="02010600030101010101" pitchFamily="2" charset="-122"/>
              </a:rPr>
              <a:t>#</a:t>
            </a:r>
            <a:r>
              <a:rPr lang="en-US" altLang="zh-CN" sz="2800" b="1" dirty="0" err="1">
                <a:latin typeface="宋体" panose="02010600030101010101" pitchFamily="2" charset="-122"/>
              </a:rPr>
              <a:t>new_data,DP</a:t>
            </a:r>
            <a:endParaRPr lang="en-US" altLang="zh-CN" sz="2800" b="1" dirty="0">
              <a:latin typeface="宋体" panose="02010600030101010101" pitchFamily="2" charset="-122"/>
            </a:endParaRPr>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 LD      *(</a:t>
            </a:r>
            <a:r>
              <a:rPr lang="en-US" altLang="zh-CN" sz="2800" b="1" dirty="0" err="1">
                <a:latin typeface="宋体" panose="02010600030101010101" pitchFamily="2" charset="-122"/>
              </a:rPr>
              <a:t>fp</a:t>
            </a:r>
            <a:r>
              <a:rPr lang="en-US" altLang="zh-CN" sz="2800" b="1" dirty="0">
                <a:latin typeface="宋体" panose="02010600030101010101" pitchFamily="2" charset="-122"/>
              </a:rPr>
              <a:t>),B </a:t>
            </a:r>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LD      *AR6,A</a:t>
            </a:r>
            <a:endParaRPr lang="en-US" altLang="zh-CN" sz="2800" b="1" dirty="0">
              <a:solidFill>
                <a:schemeClr val="tx2"/>
              </a:solidFill>
              <a:latin typeface="宋体" panose="02010600030101010101" pitchFamily="2" charset="-122"/>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90532"/>
                                        </p:tgtEl>
                                        <p:attrNameLst>
                                          <p:attrName>style.visibility</p:attrName>
                                        </p:attrNameLst>
                                      </p:cBhvr>
                                      <p:to>
                                        <p:strVal val="visible"/>
                                      </p:to>
                                    </p:set>
                                    <p:animEffect transition="in" filter="slide(fromLeft)">
                                      <p:cBhvr>
                                        <p:cTn id="7" dur="500"/>
                                        <p:tgtEl>
                                          <p:spTgt spid="790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A0868F9-9782-4377-91AE-164817A875E2}" type="slidenum">
              <a:rPr lang="en-US" altLang="zh-CN" sz="1400"/>
              <a:pPr eaLnBrk="1" hangingPunct="1"/>
              <a:t>10</a:t>
            </a:fld>
            <a:endParaRPr lang="en-US" altLang="zh-CN" sz="1400"/>
          </a:p>
        </p:txBody>
      </p:sp>
      <p:sp>
        <p:nvSpPr>
          <p:cNvPr id="790530" name="Rectangle 2"/>
          <p:cNvSpPr>
            <a:spLocks noChangeArrowheads="1"/>
          </p:cNvSpPr>
          <p:nvPr/>
        </p:nvSpPr>
        <p:spPr bwMode="auto">
          <a:xfrm>
            <a:off x="228600" y="1295400"/>
            <a:ext cx="86106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dirty="0">
                <a:ea typeface="黑体" panose="02010609060101010101" pitchFamily="49" charset="-122"/>
              </a:rPr>
              <a:t>例</a:t>
            </a:r>
            <a:r>
              <a:rPr lang="en-US" altLang="zh-CN" sz="2800" b="1" dirty="0">
                <a:ea typeface="黑体" panose="02010609060101010101" pitchFamily="49" charset="-122"/>
              </a:rPr>
              <a:t>5-6</a:t>
            </a:r>
            <a:r>
              <a:rPr lang="en-US" altLang="zh-CN" sz="2800" b="1" dirty="0">
                <a:latin typeface="宋体" panose="02010600030101010101" pitchFamily="2" charset="-122"/>
              </a:rPr>
              <a:t>  </a:t>
            </a:r>
            <a:r>
              <a:rPr lang="zh-CN" altLang="en-US" sz="2800" b="1" dirty="0">
                <a:latin typeface="宋体" panose="02010600030101010101" pitchFamily="2" charset="-122"/>
              </a:rPr>
              <a:t>将数组</a:t>
            </a:r>
            <a:r>
              <a:rPr lang="en-US" altLang="zh-CN" sz="2800" b="1" dirty="0">
                <a:latin typeface="宋体" panose="02010600030101010101" pitchFamily="2" charset="-122"/>
              </a:rPr>
              <a:t>x[5] </a:t>
            </a:r>
            <a:r>
              <a:rPr lang="zh-CN" altLang="en-US" sz="2800" b="1" dirty="0">
                <a:latin typeface="宋体" panose="02010600030101010101" pitchFamily="2" charset="-122"/>
              </a:rPr>
              <a:t>初始化为</a:t>
            </a:r>
            <a:r>
              <a:rPr lang="en-US" altLang="zh-CN" sz="2800" b="1" dirty="0">
                <a:latin typeface="宋体" panose="02010600030101010101" pitchFamily="2" charset="-122"/>
              </a:rPr>
              <a:t>{1,2,3,4,5}</a:t>
            </a:r>
            <a:r>
              <a:rPr lang="zh-CN" altLang="en-US" sz="2800" b="1" dirty="0">
                <a:latin typeface="宋体" panose="02010600030101010101" pitchFamily="2" charset="-122"/>
              </a:rPr>
              <a:t>。</a:t>
            </a:r>
            <a:endParaRPr lang="zh-CN" altLang="en-US" sz="2800" b="1" dirty="0"/>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.data          </a:t>
            </a:r>
            <a:r>
              <a:rPr lang="zh-CN" altLang="en-US" sz="2800" b="1" dirty="0">
                <a:latin typeface="宋体" panose="02010600030101010101" pitchFamily="2" charset="-122"/>
              </a:rPr>
              <a:t>；定义初始化数据段起始地址</a:t>
            </a:r>
            <a:endParaRPr lang="zh-CN" altLang="en-US" sz="2800" b="1" dirty="0"/>
          </a:p>
          <a:p>
            <a:pPr algn="just"/>
            <a:r>
              <a:rPr lang="en-US" altLang="zh-CN" sz="2800" b="1" dirty="0">
                <a:latin typeface="宋体" panose="02010600030101010101" pitchFamily="2" charset="-122"/>
              </a:rPr>
              <a:t>TBL:  .word   1,2,3,4,5 </a:t>
            </a:r>
            <a:r>
              <a:rPr lang="zh-CN" altLang="en-US" sz="2800" b="1" dirty="0">
                <a:latin typeface="宋体" panose="02010600030101010101" pitchFamily="2" charset="-122"/>
              </a:rPr>
              <a:t>；为标号地址</a:t>
            </a:r>
            <a:r>
              <a:rPr lang="en-US" altLang="zh-CN" sz="2800" b="1" dirty="0">
                <a:latin typeface="宋体" panose="02010600030101010101" pitchFamily="2" charset="-122"/>
              </a:rPr>
              <a:t>TBL</a:t>
            </a:r>
          </a:p>
          <a:p>
            <a:pPr algn="just"/>
            <a:r>
              <a:rPr lang="en-US" altLang="zh-CN" sz="2800" b="1" dirty="0">
                <a:latin typeface="宋体" panose="02010600030101010101" pitchFamily="2" charset="-122"/>
              </a:rPr>
              <a:t> </a:t>
            </a:r>
            <a:r>
              <a:rPr lang="zh-CN" altLang="en-US" sz="2800" b="1" dirty="0">
                <a:latin typeface="宋体" panose="02010600030101010101" pitchFamily="2" charset="-122"/>
              </a:rPr>
              <a:t>　　　　　　           ；开始的</a:t>
            </a:r>
            <a:r>
              <a:rPr lang="en-US" altLang="zh-CN" sz="2800" b="1" dirty="0">
                <a:latin typeface="宋体" panose="02010600030101010101" pitchFamily="2" charset="-122"/>
              </a:rPr>
              <a:t>5</a:t>
            </a:r>
            <a:r>
              <a:rPr lang="zh-CN" altLang="en-US" sz="2800" b="1" dirty="0">
                <a:latin typeface="宋体" panose="02010600030101010101" pitchFamily="2" charset="-122"/>
              </a:rPr>
              <a:t>个单元赋初值</a:t>
            </a:r>
            <a:endParaRPr lang="zh-CN" altLang="en-US" sz="2800" b="1" dirty="0"/>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.sect  </a:t>
            </a:r>
            <a:r>
              <a:rPr lang="en-US" altLang="zh-CN" sz="2800" b="1" dirty="0"/>
              <a:t>“</a:t>
            </a:r>
            <a:r>
              <a:rPr lang="en-US" altLang="zh-CN" sz="2800" b="1" dirty="0">
                <a:latin typeface="宋体" panose="02010600030101010101" pitchFamily="2" charset="-122"/>
              </a:rPr>
              <a:t>.vectors</a:t>
            </a:r>
            <a:r>
              <a:rPr lang="en-US" altLang="zh-CN" sz="2800" b="1" dirty="0"/>
              <a:t>”</a:t>
            </a:r>
            <a:r>
              <a:rPr lang="en-US" altLang="zh-CN" sz="2800" b="1" dirty="0">
                <a:latin typeface="宋体" panose="02010600030101010101" pitchFamily="2" charset="-122"/>
              </a:rPr>
              <a:t> </a:t>
            </a:r>
            <a:r>
              <a:rPr lang="zh-CN" altLang="en-US" sz="2800" b="1" dirty="0">
                <a:latin typeface="宋体" panose="02010600030101010101" pitchFamily="2" charset="-122"/>
              </a:rPr>
              <a:t>；定义自定义段，并获</a:t>
            </a:r>
          </a:p>
          <a:p>
            <a:pPr algn="just"/>
            <a:r>
              <a:rPr lang="zh-CN" altLang="en-US" sz="2800" b="1" dirty="0">
                <a:latin typeface="宋体" panose="02010600030101010101" pitchFamily="2" charset="-122"/>
              </a:rPr>
              <a:t>　　　　　　　　 	 ；得该段起始地址</a:t>
            </a:r>
            <a:endParaRPr lang="zh-CN" altLang="en-US" sz="2800" b="1" dirty="0"/>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B    START      </a:t>
            </a:r>
            <a:r>
              <a:rPr lang="zh-CN" altLang="en-US" sz="2000" b="1" dirty="0">
                <a:latin typeface="宋体" panose="02010600030101010101" pitchFamily="2" charset="-122"/>
              </a:rPr>
              <a:t>；无条件转移到标号为</a:t>
            </a:r>
            <a:r>
              <a:rPr lang="en-US" altLang="zh-CN" sz="2000" b="1" dirty="0">
                <a:latin typeface="宋体" panose="02010600030101010101" pitchFamily="2" charset="-122"/>
              </a:rPr>
              <a:t>START</a:t>
            </a:r>
            <a:r>
              <a:rPr lang="zh-CN" altLang="en-US" sz="2000" b="1" dirty="0">
                <a:latin typeface="宋体" panose="02010600030101010101" pitchFamily="2" charset="-122"/>
              </a:rPr>
              <a:t>的地址</a:t>
            </a:r>
            <a:endParaRPr lang="zh-CN" altLang="en-US" sz="2000" b="1" dirty="0"/>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a:t>
            </a:r>
            <a:r>
              <a:rPr lang="en-US" altLang="zh-CN" sz="2800" b="1" dirty="0" err="1">
                <a:latin typeface="宋体" panose="02010600030101010101" pitchFamily="2" charset="-122"/>
              </a:rPr>
              <a:t>bss</a:t>
            </a:r>
            <a:r>
              <a:rPr lang="en-US" altLang="zh-CN" sz="2800" b="1" dirty="0">
                <a:latin typeface="宋体" panose="02010600030101010101" pitchFamily="2" charset="-122"/>
              </a:rPr>
              <a:t> x,5        </a:t>
            </a:r>
            <a:r>
              <a:rPr lang="zh-CN" altLang="en-US" sz="2800" b="1" dirty="0">
                <a:latin typeface="宋体" panose="02010600030101010101" pitchFamily="2" charset="-122"/>
              </a:rPr>
              <a:t>；为数组</a:t>
            </a:r>
            <a:r>
              <a:rPr lang="en-US" altLang="zh-CN" sz="2800" b="1" dirty="0">
                <a:latin typeface="宋体" panose="02010600030101010101" pitchFamily="2" charset="-122"/>
              </a:rPr>
              <a:t>x</a:t>
            </a:r>
            <a:r>
              <a:rPr lang="zh-CN" altLang="en-US" sz="2800" b="1" dirty="0">
                <a:latin typeface="宋体" panose="02010600030101010101" pitchFamily="2" charset="-122"/>
              </a:rPr>
              <a:t>分配</a:t>
            </a:r>
            <a:r>
              <a:rPr lang="en-US" altLang="zh-CN" sz="2800" b="1" dirty="0">
                <a:latin typeface="宋体" panose="02010600030101010101" pitchFamily="2" charset="-122"/>
              </a:rPr>
              <a:t>5</a:t>
            </a:r>
            <a:r>
              <a:rPr lang="zh-CN" altLang="en-US" sz="2800" b="1" dirty="0">
                <a:latin typeface="宋体" panose="02010600030101010101" pitchFamily="2" charset="-122"/>
              </a:rPr>
              <a:t>个存储单元</a:t>
            </a:r>
            <a:endParaRPr lang="zh-CN" altLang="en-US" sz="2800" b="1" dirty="0"/>
          </a:p>
          <a:p>
            <a:pPr algn="just"/>
            <a:r>
              <a:rPr lang="zh-CN" altLang="en-US" sz="2800" b="1" dirty="0">
                <a:latin typeface="宋体" panose="02010600030101010101" pitchFamily="2" charset="-122"/>
              </a:rPr>
              <a:t>      </a:t>
            </a:r>
            <a:r>
              <a:rPr lang="en-US" altLang="zh-CN" sz="2800" b="1" dirty="0">
                <a:latin typeface="宋体" panose="02010600030101010101" pitchFamily="2" charset="-122"/>
              </a:rPr>
              <a:t>.text           </a:t>
            </a:r>
            <a:r>
              <a:rPr lang="zh-CN" altLang="en-US" sz="2800" b="1" dirty="0">
                <a:latin typeface="宋体" panose="02010600030101010101" pitchFamily="2" charset="-122"/>
              </a:rPr>
              <a:t>；定义代码段起始地址</a:t>
            </a:r>
            <a:endParaRPr lang="zh-CN" altLang="en-US" sz="2800" b="1" dirty="0"/>
          </a:p>
          <a:p>
            <a:pPr algn="just"/>
            <a:r>
              <a:rPr lang="en-US" altLang="zh-CN" sz="2800" b="1" dirty="0">
                <a:latin typeface="宋体" panose="02010600030101010101" pitchFamily="2" charset="-122"/>
              </a:rPr>
              <a:t>START:STM  #x,AR5     </a:t>
            </a:r>
            <a:r>
              <a:rPr lang="zh-CN" altLang="en-US" sz="2800" b="1" dirty="0">
                <a:latin typeface="宋体" panose="02010600030101010101" pitchFamily="2" charset="-122"/>
              </a:rPr>
              <a:t>；将</a:t>
            </a:r>
            <a:r>
              <a:rPr lang="en-US" altLang="zh-CN" sz="2800" b="1" dirty="0">
                <a:latin typeface="宋体" panose="02010600030101010101" pitchFamily="2" charset="-122"/>
              </a:rPr>
              <a:t>x</a:t>
            </a:r>
            <a:r>
              <a:rPr lang="zh-CN" altLang="en-US" sz="2800" b="1" dirty="0">
                <a:latin typeface="宋体" panose="02010600030101010101" pitchFamily="2" charset="-122"/>
              </a:rPr>
              <a:t>的首地址存入</a:t>
            </a:r>
            <a:r>
              <a:rPr lang="en-US" altLang="zh-CN" sz="2800" b="1" dirty="0">
                <a:latin typeface="宋体" panose="02010600030101010101" pitchFamily="2" charset="-122"/>
              </a:rPr>
              <a:t>AR5</a:t>
            </a:r>
            <a:endParaRPr lang="en-US" altLang="zh-CN" sz="2800" b="1" dirty="0"/>
          </a:p>
          <a:p>
            <a:pPr algn="just"/>
            <a:r>
              <a:rPr lang="en-US" altLang="zh-CN" sz="2800" b="1" dirty="0">
                <a:latin typeface="宋体" panose="02010600030101010101" pitchFamily="2" charset="-122"/>
              </a:rPr>
              <a:t>      </a:t>
            </a:r>
            <a:r>
              <a:rPr lang="en-US" altLang="zh-CN" sz="2800" b="1" dirty="0">
                <a:solidFill>
                  <a:srgbClr val="FF00FF"/>
                </a:solidFill>
                <a:latin typeface="宋体" panose="02010600030101010101" pitchFamily="2" charset="-122"/>
              </a:rPr>
              <a:t>RPT  #4</a:t>
            </a:r>
            <a:r>
              <a:rPr lang="en-US" altLang="zh-CN" sz="2800" b="1" dirty="0">
                <a:latin typeface="宋体" panose="02010600030101010101" pitchFamily="2" charset="-122"/>
              </a:rPr>
              <a:t>         </a:t>
            </a:r>
            <a:r>
              <a:rPr lang="zh-CN" altLang="en-US" sz="2800" b="1" dirty="0">
                <a:latin typeface="宋体" panose="02010600030101010101" pitchFamily="2" charset="-122"/>
              </a:rPr>
              <a:t>；设置重复执行</a:t>
            </a:r>
            <a:r>
              <a:rPr lang="en-US" altLang="zh-CN" sz="2800" b="1" dirty="0">
                <a:latin typeface="宋体" panose="02010600030101010101" pitchFamily="2" charset="-122"/>
              </a:rPr>
              <a:t>5</a:t>
            </a:r>
            <a:r>
              <a:rPr lang="zh-CN" altLang="en-US" sz="2800" b="1" dirty="0">
                <a:latin typeface="宋体" panose="02010600030101010101" pitchFamily="2" charset="-122"/>
              </a:rPr>
              <a:t>次下条指令</a:t>
            </a:r>
            <a:endParaRPr lang="zh-CN" altLang="en-US" sz="2800" b="1" dirty="0"/>
          </a:p>
          <a:p>
            <a:pPr algn="just"/>
            <a:r>
              <a:rPr lang="zh-CN" altLang="en-US" sz="2800" b="1" dirty="0">
                <a:latin typeface="宋体" panose="02010600030101010101" pitchFamily="2" charset="-122"/>
              </a:rPr>
              <a:t>      </a:t>
            </a:r>
            <a:r>
              <a:rPr lang="en-US" altLang="zh-CN" sz="2800" b="1" dirty="0">
                <a:solidFill>
                  <a:schemeClr val="tx2"/>
                </a:solidFill>
                <a:latin typeface="宋体" panose="02010600030101010101" pitchFamily="2" charset="-122"/>
              </a:rPr>
              <a:t>MVPD TBL,*AR5+</a:t>
            </a:r>
            <a:r>
              <a:rPr lang="en-US" altLang="zh-CN" sz="2800" b="1" dirty="0">
                <a:latin typeface="宋体" panose="02010600030101010101" pitchFamily="2" charset="-122"/>
              </a:rPr>
              <a:t>  </a:t>
            </a:r>
            <a:r>
              <a:rPr lang="zh-CN" altLang="en-US" sz="2800" b="1" dirty="0">
                <a:latin typeface="宋体" panose="02010600030101010101" pitchFamily="2" charset="-122"/>
              </a:rPr>
              <a:t>；将</a:t>
            </a:r>
            <a:r>
              <a:rPr lang="en-US" altLang="zh-CN" sz="2800" b="1" dirty="0">
                <a:latin typeface="宋体" panose="02010600030101010101" pitchFamily="2" charset="-122"/>
              </a:rPr>
              <a:t>TBL</a:t>
            </a:r>
            <a:r>
              <a:rPr lang="zh-CN" altLang="en-US" sz="2800" b="1" dirty="0">
                <a:latin typeface="宋体" panose="02010600030101010101" pitchFamily="2" charset="-122"/>
              </a:rPr>
              <a:t>开始的</a:t>
            </a:r>
            <a:r>
              <a:rPr lang="en-US" altLang="zh-CN" sz="2800" b="1" dirty="0">
                <a:latin typeface="宋体" panose="02010600030101010101" pitchFamily="2" charset="-122"/>
              </a:rPr>
              <a:t>5</a:t>
            </a:r>
            <a:r>
              <a:rPr lang="zh-CN" altLang="en-US" sz="2800" b="1" dirty="0">
                <a:latin typeface="宋体" panose="02010600030101010101" pitchFamily="2" charset="-122"/>
              </a:rPr>
              <a:t>个值传给</a:t>
            </a:r>
            <a:r>
              <a:rPr lang="en-US" altLang="zh-CN" sz="2800" b="1" dirty="0">
                <a:latin typeface="宋体" panose="02010600030101010101" pitchFamily="2" charset="-122"/>
              </a:rPr>
              <a:t>x</a:t>
            </a:r>
          </a:p>
        </p:txBody>
      </p:sp>
      <p:sp>
        <p:nvSpPr>
          <p:cNvPr id="790532" name="Rectangle 4" descr="小棋盘"/>
          <p:cNvSpPr>
            <a:spLocks noChangeArrowheads="1"/>
          </p:cNvSpPr>
          <p:nvPr/>
        </p:nvSpPr>
        <p:spPr bwMode="auto">
          <a:xfrm>
            <a:off x="250825" y="2924175"/>
            <a:ext cx="646113" cy="18542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b="1">
                <a:solidFill>
                  <a:srgbClr val="339933"/>
                </a:solidFill>
                <a:latin typeface="宋体" panose="02010600030101010101" pitchFamily="2" charset="-122"/>
                <a:ea typeface="仿宋_GB2312" pitchFamily="49" charset="-122"/>
              </a:rPr>
              <a:t>应用举例</a:t>
            </a:r>
            <a:endParaRPr lang="zh-CN" altLang="en-US" sz="3200" b="1">
              <a:solidFill>
                <a:srgbClr val="339933"/>
              </a:solidFill>
              <a:latin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50512791"/>
      </p:ext>
    </p:extLst>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0530"/>
                                        </p:tgtEl>
                                        <p:attrNameLst>
                                          <p:attrName>style.visibility</p:attrName>
                                        </p:attrNameLst>
                                      </p:cBhvr>
                                      <p:to>
                                        <p:strVal val="visible"/>
                                      </p:to>
                                    </p:set>
                                    <p:animEffect transition="in" filter="blinds(horizontal)">
                                      <p:cBhvr>
                                        <p:cTn id="7" dur="500"/>
                                        <p:tgtEl>
                                          <p:spTgt spid="790530"/>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790532"/>
                                        </p:tgtEl>
                                        <p:attrNameLst>
                                          <p:attrName>style.visibility</p:attrName>
                                        </p:attrNameLst>
                                      </p:cBhvr>
                                      <p:to>
                                        <p:strVal val="visible"/>
                                      </p:to>
                                    </p:set>
                                    <p:animEffect transition="in" filter="slide(fromLeft)">
                                      <p:cBhvr>
                                        <p:cTn id="11" dur="500"/>
                                        <p:tgtEl>
                                          <p:spTgt spid="790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0" grpId="0"/>
      <p:bldP spid="7905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0A167D5-BA97-44D5-B9C3-D8EBCA6915ED}" type="slidenum">
              <a:rPr lang="en-US" altLang="zh-CN" sz="1400"/>
              <a:pPr eaLnBrk="1" hangingPunct="1"/>
              <a:t>11</a:t>
            </a:fld>
            <a:endParaRPr lang="en-US" altLang="zh-CN" sz="1400"/>
          </a:p>
        </p:txBody>
      </p:sp>
      <p:sp>
        <p:nvSpPr>
          <p:cNvPr id="791554" name="Rectangle 2"/>
          <p:cNvSpPr>
            <a:spLocks noChangeArrowheads="1"/>
          </p:cNvSpPr>
          <p:nvPr/>
        </p:nvSpPr>
        <p:spPr bwMode="auto">
          <a:xfrm>
            <a:off x="323850" y="1341438"/>
            <a:ext cx="8534400"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5-7</a:t>
            </a:r>
            <a:r>
              <a:rPr lang="en-US" altLang="zh-CN" sz="2800" b="1">
                <a:latin typeface="宋体" panose="02010600030101010101" pitchFamily="2" charset="-122"/>
              </a:rPr>
              <a:t>  </a:t>
            </a:r>
            <a:r>
              <a:rPr lang="zh-CN" altLang="en-US" sz="2800" b="1">
                <a:latin typeface="宋体" panose="02010600030101010101" pitchFamily="2" charset="-122"/>
              </a:rPr>
              <a:t>将数据存储器中的数组</a:t>
            </a:r>
            <a:r>
              <a:rPr lang="en-US" altLang="zh-CN" sz="2800" b="1">
                <a:latin typeface="宋体" panose="02010600030101010101" pitchFamily="2" charset="-122"/>
              </a:rPr>
              <a:t>x[10]</a:t>
            </a:r>
            <a:r>
              <a:rPr lang="zh-CN" altLang="en-US" sz="2800" b="1">
                <a:latin typeface="宋体" panose="02010600030101010101" pitchFamily="2" charset="-122"/>
              </a:rPr>
              <a:t>复制到数组</a:t>
            </a:r>
            <a:r>
              <a:rPr lang="en-US" altLang="zh-CN" sz="2800" b="1">
                <a:latin typeface="宋体" panose="02010600030101010101" pitchFamily="2" charset="-122"/>
              </a:rPr>
              <a:t>y[10]</a:t>
            </a:r>
            <a:r>
              <a:rPr lang="zh-CN" altLang="en-US" sz="2800" b="1">
                <a:latin typeface="宋体" panose="02010600030101010101" pitchFamily="2" charset="-122"/>
              </a:rPr>
              <a:t>。</a:t>
            </a:r>
            <a:endParaRPr lang="zh-CN" altLang="en-US" sz="2800" b="1"/>
          </a:p>
          <a:p>
            <a:pPr algn="just" eaLnBrk="1" hangingPunct="1"/>
            <a:r>
              <a:rPr lang="zh-CN" altLang="en-US" sz="2800" b="1">
                <a:latin typeface="宋体" panose="02010600030101010101" pitchFamily="2" charset="-122"/>
              </a:rPr>
              <a:t>      </a:t>
            </a:r>
            <a:r>
              <a:rPr lang="en-US" altLang="zh-CN" sz="2800" b="1">
                <a:latin typeface="宋体" panose="02010600030101010101" pitchFamily="2" charset="-122"/>
              </a:rPr>
              <a:t>.title  </a:t>
            </a:r>
            <a:r>
              <a:rPr lang="en-US" altLang="zh-CN" sz="2800" b="1"/>
              <a:t>“</a:t>
            </a:r>
            <a:r>
              <a:rPr lang="en-US" altLang="zh-CN" sz="2800" b="1">
                <a:latin typeface="宋体" panose="02010600030101010101" pitchFamily="2" charset="-122"/>
              </a:rPr>
              <a:t>cjy1.asm</a:t>
            </a:r>
            <a:r>
              <a:rPr lang="en-US" altLang="zh-CN" sz="2800" b="1"/>
              <a:t>”</a:t>
            </a:r>
            <a:r>
              <a:rPr lang="en-US" altLang="zh-CN" sz="2800" b="1">
                <a:latin typeface="宋体" panose="02010600030101010101" pitchFamily="2" charset="-122"/>
              </a:rPr>
              <a:t> </a:t>
            </a:r>
            <a:r>
              <a:rPr lang="zh-CN" altLang="en-US" sz="2800" b="1">
                <a:latin typeface="宋体" panose="02010600030101010101" pitchFamily="2" charset="-122"/>
              </a:rPr>
              <a:t>；为汇编源程序取名 </a:t>
            </a:r>
            <a:endParaRPr lang="zh-CN" altLang="en-US" sz="2800" b="1"/>
          </a:p>
          <a:p>
            <a:pPr algn="just" eaLnBrk="1" hangingPunct="1"/>
            <a:r>
              <a:rPr lang="zh-CN" altLang="en-US" sz="2800" b="1">
                <a:latin typeface="宋体" panose="02010600030101010101" pitchFamily="2" charset="-122"/>
              </a:rPr>
              <a:t>      </a:t>
            </a:r>
            <a:r>
              <a:rPr lang="en-US" altLang="zh-CN" sz="2800" b="1">
                <a:solidFill>
                  <a:srgbClr val="FF00FF"/>
                </a:solidFill>
                <a:latin typeface="宋体" panose="02010600030101010101" pitchFamily="2" charset="-122"/>
              </a:rPr>
              <a:t>.mmregs</a:t>
            </a:r>
            <a:r>
              <a:rPr lang="en-US" altLang="zh-CN" sz="2800" b="1">
                <a:latin typeface="宋体" panose="02010600030101010101" pitchFamily="2" charset="-122"/>
              </a:rPr>
              <a:t>            </a:t>
            </a:r>
            <a:r>
              <a:rPr lang="zh-CN" altLang="en-US" b="1">
                <a:latin typeface="宋体" panose="02010600030101010101" pitchFamily="2" charset="-122"/>
              </a:rPr>
              <a:t>；定义存储器映象寄存器</a:t>
            </a:r>
            <a:endParaRPr lang="zh-CN" altLang="en-US" b="1"/>
          </a:p>
          <a:p>
            <a:pPr algn="just" eaLnBrk="1" hangingPunct="1"/>
            <a:r>
              <a:rPr lang="en-US" altLang="zh-CN" sz="2800" b="1">
                <a:latin typeface="宋体" panose="02010600030101010101" pitchFamily="2" charset="-122"/>
              </a:rPr>
              <a:t>STACK .usect  </a:t>
            </a:r>
            <a:r>
              <a:rPr lang="en-US" altLang="zh-CN" sz="2800" b="1"/>
              <a:t>“</a:t>
            </a:r>
            <a:r>
              <a:rPr lang="en-US" altLang="zh-CN" sz="2800" b="1">
                <a:latin typeface="宋体" panose="02010600030101010101" pitchFamily="2" charset="-122"/>
              </a:rPr>
              <a:t>STACK</a:t>
            </a:r>
            <a:r>
              <a:rPr lang="en-US" altLang="zh-CN" sz="2800" b="1"/>
              <a:t>”</a:t>
            </a:r>
            <a:r>
              <a:rPr lang="en-US" altLang="zh-CN" sz="2800" b="1">
                <a:latin typeface="宋体" panose="02010600030101010101" pitchFamily="2" charset="-122"/>
              </a:rPr>
              <a:t>,30H</a:t>
            </a:r>
            <a:r>
              <a:rPr lang="zh-CN" altLang="en-US" sz="2800" b="1">
                <a:latin typeface="宋体" panose="02010600030101010101" pitchFamily="2" charset="-122"/>
              </a:rPr>
              <a:t>；设置堆栈</a:t>
            </a:r>
            <a:endParaRPr lang="zh-CN" altLang="en-US" sz="2800" b="1"/>
          </a:p>
          <a:p>
            <a:pPr algn="just" eaLnBrk="1" hangingPunct="1"/>
            <a:r>
              <a:rPr lang="zh-CN" altLang="en-US" sz="2800" b="1">
                <a:latin typeface="宋体" panose="02010600030101010101" pitchFamily="2" charset="-122"/>
              </a:rPr>
              <a:t>      </a:t>
            </a:r>
            <a:r>
              <a:rPr lang="en-US" altLang="zh-CN" sz="2800" b="1">
                <a:latin typeface="宋体" panose="02010600030101010101" pitchFamily="2" charset="-122"/>
              </a:rPr>
              <a:t>.bss     x,10      </a:t>
            </a:r>
            <a:r>
              <a:rPr lang="zh-CN" altLang="en-US" b="1">
                <a:latin typeface="宋体" panose="02010600030101010101" pitchFamily="2" charset="-122"/>
              </a:rPr>
              <a:t>；为数组</a:t>
            </a:r>
            <a:r>
              <a:rPr lang="en-US" altLang="zh-CN" b="1">
                <a:latin typeface="宋体" panose="02010600030101010101" pitchFamily="2" charset="-122"/>
              </a:rPr>
              <a:t>x</a:t>
            </a:r>
            <a:r>
              <a:rPr lang="zh-CN" altLang="en-US" b="1">
                <a:latin typeface="宋体" panose="02010600030101010101" pitchFamily="2" charset="-122"/>
              </a:rPr>
              <a:t>分配</a:t>
            </a:r>
            <a:r>
              <a:rPr lang="en-US" altLang="zh-CN" b="1">
                <a:latin typeface="宋体" panose="02010600030101010101" pitchFamily="2" charset="-122"/>
              </a:rPr>
              <a:t>10</a:t>
            </a:r>
            <a:r>
              <a:rPr lang="zh-CN" altLang="en-US" b="1">
                <a:latin typeface="宋体" panose="02010600030101010101" pitchFamily="2" charset="-122"/>
              </a:rPr>
              <a:t>个存储单元</a:t>
            </a:r>
            <a:endParaRPr lang="zh-CN" altLang="en-US" b="1"/>
          </a:p>
          <a:p>
            <a:pPr algn="just" eaLnBrk="1" hangingPunct="1"/>
            <a:r>
              <a:rPr lang="zh-CN" altLang="en-US" sz="2800" b="1">
                <a:latin typeface="宋体" panose="02010600030101010101" pitchFamily="2" charset="-122"/>
              </a:rPr>
              <a:t>      </a:t>
            </a:r>
            <a:r>
              <a:rPr lang="en-US" altLang="zh-CN" sz="2800" b="1">
                <a:latin typeface="宋体" panose="02010600030101010101" pitchFamily="2" charset="-122"/>
              </a:rPr>
              <a:t>.bss     y,10      </a:t>
            </a:r>
            <a:r>
              <a:rPr lang="zh-CN" altLang="en-US" b="1">
                <a:latin typeface="宋体" panose="02010600030101010101" pitchFamily="2" charset="-122"/>
              </a:rPr>
              <a:t>；为数组</a:t>
            </a:r>
            <a:r>
              <a:rPr lang="en-US" altLang="zh-CN" b="1">
                <a:latin typeface="宋体" panose="02010600030101010101" pitchFamily="2" charset="-122"/>
              </a:rPr>
              <a:t>y</a:t>
            </a:r>
            <a:r>
              <a:rPr lang="zh-CN" altLang="en-US" b="1">
                <a:latin typeface="宋体" panose="02010600030101010101" pitchFamily="2" charset="-122"/>
              </a:rPr>
              <a:t>分配</a:t>
            </a:r>
            <a:r>
              <a:rPr lang="en-US" altLang="zh-CN" b="1">
                <a:latin typeface="宋体" panose="02010600030101010101" pitchFamily="2" charset="-122"/>
              </a:rPr>
              <a:t>10</a:t>
            </a:r>
            <a:r>
              <a:rPr lang="zh-CN" altLang="en-US" b="1">
                <a:latin typeface="宋体" panose="02010600030101010101" pitchFamily="2" charset="-122"/>
              </a:rPr>
              <a:t>个存储单元</a:t>
            </a:r>
            <a:endParaRPr lang="zh-CN" altLang="en-US" b="1"/>
          </a:p>
          <a:p>
            <a:pPr algn="just" eaLnBrk="1" hangingPunct="1"/>
            <a:r>
              <a:rPr lang="zh-CN" altLang="en-US" sz="2800" b="1">
                <a:latin typeface="宋体" panose="02010600030101010101" pitchFamily="2" charset="-122"/>
              </a:rPr>
              <a:t>      </a:t>
            </a:r>
            <a:r>
              <a:rPr lang="en-US" altLang="zh-CN" sz="2800" b="1">
                <a:latin typeface="宋体" panose="02010600030101010101" pitchFamily="2" charset="-122"/>
              </a:rPr>
              <a:t>.data</a:t>
            </a:r>
            <a:endParaRPr lang="en-US" altLang="zh-CN" sz="2800" b="1"/>
          </a:p>
          <a:p>
            <a:pPr algn="just" eaLnBrk="1" hangingPunct="1"/>
            <a:r>
              <a:rPr lang="en-US" altLang="zh-CN" sz="2800" b="1">
                <a:latin typeface="宋体" panose="02010600030101010101" pitchFamily="2" charset="-122"/>
              </a:rPr>
              <a:t>table:.word 1,2,3,4,5,6,7,8,9,10</a:t>
            </a:r>
          </a:p>
          <a:p>
            <a:pPr algn="just" eaLnBrk="1" hangingPunct="1"/>
            <a:r>
              <a:rPr lang="en-US" altLang="zh-CN" sz="2800" b="1">
                <a:latin typeface="宋体" panose="02010600030101010101" pitchFamily="2" charset="-122"/>
              </a:rPr>
              <a:t>      .def   start       </a:t>
            </a:r>
            <a:r>
              <a:rPr lang="zh-CN" altLang="en-US" b="1">
                <a:latin typeface="宋体" panose="02010600030101010101" pitchFamily="2" charset="-122"/>
              </a:rPr>
              <a:t>；定义标号</a:t>
            </a:r>
            <a:r>
              <a:rPr lang="en-US" altLang="zh-CN" b="1">
                <a:latin typeface="宋体" panose="02010600030101010101" pitchFamily="2" charset="-122"/>
              </a:rPr>
              <a:t>start</a:t>
            </a:r>
            <a:endParaRPr lang="en-US" altLang="zh-CN" b="1"/>
          </a:p>
          <a:p>
            <a:pPr algn="just" eaLnBrk="1" hangingPunct="1"/>
            <a:r>
              <a:rPr lang="en-US" altLang="zh-CN" sz="2800" b="1">
                <a:latin typeface="宋体" panose="02010600030101010101" pitchFamily="2" charset="-122"/>
              </a:rPr>
              <a:t>      .text</a:t>
            </a:r>
            <a:endParaRPr lang="en-US" altLang="zh-CN" sz="2800" b="1"/>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1554"/>
                                        </p:tgtEl>
                                        <p:attrNameLst>
                                          <p:attrName>style.visibility</p:attrName>
                                        </p:attrNameLst>
                                      </p:cBhvr>
                                      <p:to>
                                        <p:strVal val="visible"/>
                                      </p:to>
                                    </p:set>
                                    <p:animEffect transition="in" filter="blinds(horizontal)">
                                      <p:cBhvr>
                                        <p:cTn id="7" dur="500"/>
                                        <p:tgtEl>
                                          <p:spTgt spid="791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55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B9C0FEC-7A6E-4F28-8A7F-484488C539B4}" type="slidenum">
              <a:rPr lang="en-US" altLang="zh-CN" sz="1400"/>
              <a:pPr eaLnBrk="1" hangingPunct="1"/>
              <a:t>12</a:t>
            </a:fld>
            <a:endParaRPr lang="en-US" altLang="zh-CN" sz="1400"/>
          </a:p>
        </p:txBody>
      </p:sp>
      <p:sp>
        <p:nvSpPr>
          <p:cNvPr id="792578" name="Rectangle 2"/>
          <p:cNvSpPr>
            <a:spLocks noChangeArrowheads="1"/>
          </p:cNvSpPr>
          <p:nvPr/>
        </p:nvSpPr>
        <p:spPr bwMode="auto">
          <a:xfrm>
            <a:off x="250825" y="1268413"/>
            <a:ext cx="8686800" cy="481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2800" b="1">
                <a:latin typeface="宋体" panose="02010600030101010101" pitchFamily="2" charset="-122"/>
              </a:rPr>
              <a:t>start:STM    #0,SWWSR   </a:t>
            </a:r>
            <a:r>
              <a:rPr lang="zh-CN" altLang="en-US" sz="2800" b="1">
                <a:latin typeface="宋体" panose="02010600030101010101" pitchFamily="2" charset="-122"/>
              </a:rPr>
              <a:t>；复位</a:t>
            </a:r>
            <a:r>
              <a:rPr lang="en-US" altLang="zh-CN" sz="2800" b="1">
                <a:latin typeface="宋体" panose="02010600030101010101" pitchFamily="2" charset="-122"/>
              </a:rPr>
              <a:t>SWWSR</a:t>
            </a:r>
            <a:endParaRPr lang="en-US" altLang="zh-CN" sz="2800" b="1"/>
          </a:p>
          <a:p>
            <a:pPr eaLnBrk="1" hangingPunct="1">
              <a:lnSpc>
                <a:spcPct val="85000"/>
              </a:lnSpc>
            </a:pPr>
            <a:r>
              <a:rPr lang="en-US" altLang="zh-CN" sz="2800" b="1">
                <a:latin typeface="宋体" panose="02010600030101010101" pitchFamily="2" charset="-122"/>
              </a:rPr>
              <a:t>      STM    </a:t>
            </a:r>
            <a:r>
              <a:rPr lang="en-US" altLang="zh-CN" b="1">
                <a:latin typeface="宋体" panose="02010600030101010101" pitchFamily="2" charset="-122"/>
              </a:rPr>
              <a:t>#STACK+30H,SP</a:t>
            </a:r>
            <a:r>
              <a:rPr lang="zh-CN" altLang="en-US" sz="2800" b="1">
                <a:latin typeface="宋体" panose="02010600030101010101" pitchFamily="2" charset="-122"/>
              </a:rPr>
              <a:t>；初始化堆指针</a:t>
            </a:r>
            <a:endParaRPr lang="zh-CN" altLang="en-US" sz="2800" b="1"/>
          </a:p>
          <a:p>
            <a:pPr eaLnBrk="1" hangingPunct="1">
              <a:lnSpc>
                <a:spcPct val="85000"/>
              </a:lnSpc>
            </a:pPr>
            <a:r>
              <a:rPr lang="zh-CN" altLang="en-US" sz="2800" b="1">
                <a:latin typeface="宋体" panose="02010600030101010101" pitchFamily="2" charset="-122"/>
              </a:rPr>
              <a:t>      </a:t>
            </a:r>
            <a:r>
              <a:rPr lang="en-US" altLang="zh-CN" sz="2800" b="1">
                <a:latin typeface="宋体" panose="02010600030101010101" pitchFamily="2" charset="-122"/>
              </a:rPr>
              <a:t>STM    #x,AR1     </a:t>
            </a:r>
            <a:r>
              <a:rPr lang="zh-CN" altLang="en-US" b="1">
                <a:latin typeface="宋体" panose="02010600030101010101" pitchFamily="2" charset="-122"/>
              </a:rPr>
              <a:t>；将目的地首地址赋给</a:t>
            </a:r>
            <a:r>
              <a:rPr lang="en-US" altLang="zh-CN" b="1">
                <a:latin typeface="宋体" panose="02010600030101010101" pitchFamily="2" charset="-122"/>
              </a:rPr>
              <a:t>AR1</a:t>
            </a:r>
            <a:endParaRPr lang="en-US" altLang="zh-CN" b="1"/>
          </a:p>
          <a:p>
            <a:pPr eaLnBrk="1" hangingPunct="1">
              <a:lnSpc>
                <a:spcPct val="85000"/>
              </a:lnSpc>
            </a:pPr>
            <a:r>
              <a:rPr lang="en-US" altLang="zh-CN" sz="2800" b="1">
                <a:latin typeface="宋体" panose="02010600030101010101" pitchFamily="2" charset="-122"/>
              </a:rPr>
              <a:t>      </a:t>
            </a:r>
            <a:r>
              <a:rPr lang="en-US" altLang="zh-CN" sz="2800" b="1">
                <a:solidFill>
                  <a:schemeClr val="folHlink"/>
                </a:solidFill>
                <a:latin typeface="宋体" panose="02010600030101010101" pitchFamily="2" charset="-122"/>
              </a:rPr>
              <a:t>RPT    #9</a:t>
            </a:r>
            <a:r>
              <a:rPr lang="en-US" altLang="zh-CN" sz="2800" b="1">
                <a:latin typeface="宋体" panose="02010600030101010101" pitchFamily="2" charset="-122"/>
              </a:rPr>
              <a:t>         </a:t>
            </a:r>
            <a:r>
              <a:rPr lang="zh-CN" altLang="en-US" b="1">
                <a:latin typeface="宋体" panose="02010600030101010101" pitchFamily="2" charset="-122"/>
              </a:rPr>
              <a:t>；设定重复传送的次数为</a:t>
            </a:r>
            <a:r>
              <a:rPr lang="en-US" altLang="zh-CN" b="1">
                <a:latin typeface="宋体" panose="02010600030101010101" pitchFamily="2" charset="-122"/>
              </a:rPr>
              <a:t>10</a:t>
            </a:r>
            <a:r>
              <a:rPr lang="zh-CN" altLang="en-US" b="1">
                <a:latin typeface="宋体" panose="02010600030101010101" pitchFamily="2" charset="-122"/>
              </a:rPr>
              <a:t>次</a:t>
            </a:r>
            <a:endParaRPr lang="zh-CN" altLang="en-US" b="1"/>
          </a:p>
          <a:p>
            <a:pPr eaLnBrk="1" hangingPunct="1">
              <a:lnSpc>
                <a:spcPct val="85000"/>
              </a:lnSpc>
            </a:pPr>
            <a:r>
              <a:rPr lang="zh-CN" altLang="en-US" sz="2800" b="1">
                <a:latin typeface="宋体" panose="02010600030101010101" pitchFamily="2" charset="-122"/>
              </a:rPr>
              <a:t>      </a:t>
            </a:r>
            <a:r>
              <a:rPr lang="en-US" altLang="zh-CN" sz="2800" b="1">
                <a:solidFill>
                  <a:srgbClr val="FF00FF"/>
                </a:solidFill>
                <a:latin typeface="宋体" panose="02010600030101010101" pitchFamily="2" charset="-122"/>
              </a:rPr>
              <a:t>MVPD   table,*AR1+</a:t>
            </a:r>
            <a:r>
              <a:rPr lang="zh-CN" altLang="en-US" sz="2800" b="1">
                <a:latin typeface="宋体" panose="02010600030101010101" pitchFamily="2" charset="-122"/>
              </a:rPr>
              <a:t>；程序存储器传送到数</a:t>
            </a:r>
          </a:p>
          <a:p>
            <a:pPr eaLnBrk="1" hangingPunct="1">
              <a:lnSpc>
                <a:spcPct val="85000"/>
              </a:lnSpc>
            </a:pPr>
            <a:r>
              <a:rPr lang="zh-CN" altLang="en-US" sz="2800" b="1">
                <a:latin typeface="宋体" panose="02010600030101010101" pitchFamily="2" charset="-122"/>
              </a:rPr>
              <a:t>                        ；据存储器</a:t>
            </a:r>
            <a:endParaRPr lang="zh-CN" altLang="en-US" sz="2800" b="1"/>
          </a:p>
          <a:p>
            <a:pPr eaLnBrk="1" hangingPunct="1">
              <a:lnSpc>
                <a:spcPct val="85000"/>
              </a:lnSpc>
            </a:pPr>
            <a:r>
              <a:rPr lang="zh-CN" altLang="en-US" sz="2800" b="1">
                <a:latin typeface="宋体" panose="02010600030101010101" pitchFamily="2" charset="-122"/>
              </a:rPr>
              <a:t>      </a:t>
            </a:r>
            <a:r>
              <a:rPr lang="en-US" altLang="zh-CN" sz="2800" b="1">
                <a:latin typeface="宋体" panose="02010600030101010101" pitchFamily="2" charset="-122"/>
              </a:rPr>
              <a:t>STM    #x,AR2     </a:t>
            </a:r>
            <a:r>
              <a:rPr lang="zh-CN" altLang="en-US" sz="2800" b="1">
                <a:latin typeface="宋体" panose="02010600030101010101" pitchFamily="2" charset="-122"/>
              </a:rPr>
              <a:t>；将</a:t>
            </a:r>
            <a:r>
              <a:rPr lang="en-US" altLang="zh-CN" sz="2800" b="1">
                <a:latin typeface="宋体" panose="02010600030101010101" pitchFamily="2" charset="-122"/>
              </a:rPr>
              <a:t>x</a:t>
            </a:r>
            <a:r>
              <a:rPr lang="zh-CN" altLang="en-US" sz="2800" b="1">
                <a:latin typeface="宋体" panose="02010600030101010101" pitchFamily="2" charset="-122"/>
              </a:rPr>
              <a:t>的首地址存入</a:t>
            </a:r>
            <a:r>
              <a:rPr lang="en-US" altLang="zh-CN" sz="2800" b="1">
                <a:latin typeface="宋体" panose="02010600030101010101" pitchFamily="2" charset="-122"/>
              </a:rPr>
              <a:t>AR2</a:t>
            </a:r>
            <a:endParaRPr lang="en-US" altLang="zh-CN" sz="2800" b="1"/>
          </a:p>
          <a:p>
            <a:pPr eaLnBrk="1" hangingPunct="1">
              <a:lnSpc>
                <a:spcPct val="85000"/>
              </a:lnSpc>
            </a:pPr>
            <a:r>
              <a:rPr lang="en-US" altLang="zh-CN" sz="2800" b="1">
                <a:latin typeface="宋体" panose="02010600030101010101" pitchFamily="2" charset="-122"/>
              </a:rPr>
              <a:t>      STM    #y,AR3     </a:t>
            </a:r>
            <a:r>
              <a:rPr lang="zh-CN" altLang="en-US" sz="2800" b="1">
                <a:latin typeface="宋体" panose="02010600030101010101" pitchFamily="2" charset="-122"/>
              </a:rPr>
              <a:t>；将</a:t>
            </a:r>
            <a:r>
              <a:rPr lang="en-US" altLang="zh-CN" sz="2800" b="1">
                <a:latin typeface="宋体" panose="02010600030101010101" pitchFamily="2" charset="-122"/>
              </a:rPr>
              <a:t>y</a:t>
            </a:r>
            <a:r>
              <a:rPr lang="zh-CN" altLang="en-US" sz="2800" b="1">
                <a:latin typeface="宋体" panose="02010600030101010101" pitchFamily="2" charset="-122"/>
              </a:rPr>
              <a:t>的首地址存入</a:t>
            </a:r>
            <a:r>
              <a:rPr lang="en-US" altLang="zh-CN" sz="2800" b="1">
                <a:latin typeface="宋体" panose="02010600030101010101" pitchFamily="2" charset="-122"/>
              </a:rPr>
              <a:t>AR3</a:t>
            </a:r>
            <a:endParaRPr lang="en-US" altLang="zh-CN" sz="2800" b="1"/>
          </a:p>
          <a:p>
            <a:pPr eaLnBrk="1" hangingPunct="1">
              <a:lnSpc>
                <a:spcPct val="85000"/>
              </a:lnSpc>
            </a:pPr>
            <a:r>
              <a:rPr lang="en-US" altLang="zh-CN" sz="2800" b="1">
                <a:latin typeface="宋体" panose="02010600030101010101" pitchFamily="2" charset="-122"/>
              </a:rPr>
              <a:t>      </a:t>
            </a:r>
            <a:r>
              <a:rPr lang="en-US" altLang="zh-CN" sz="2800" b="1">
                <a:solidFill>
                  <a:schemeClr val="folHlink"/>
                </a:solidFill>
                <a:latin typeface="宋体" panose="02010600030101010101" pitchFamily="2" charset="-122"/>
              </a:rPr>
              <a:t>RPT    #9</a:t>
            </a:r>
            <a:r>
              <a:rPr lang="en-US" altLang="zh-CN" sz="2800" b="1">
                <a:latin typeface="宋体" panose="02010600030101010101" pitchFamily="2" charset="-122"/>
              </a:rPr>
              <a:t>         </a:t>
            </a:r>
            <a:r>
              <a:rPr lang="zh-CN" altLang="en-US" b="1">
                <a:latin typeface="宋体" panose="02010600030101010101" pitchFamily="2" charset="-122"/>
              </a:rPr>
              <a:t>；设置重复执行</a:t>
            </a:r>
            <a:r>
              <a:rPr lang="en-US" altLang="zh-CN" b="1">
                <a:latin typeface="宋体" panose="02010600030101010101" pitchFamily="2" charset="-122"/>
              </a:rPr>
              <a:t>10</a:t>
            </a:r>
            <a:r>
              <a:rPr lang="zh-CN" altLang="en-US" b="1">
                <a:latin typeface="宋体" panose="02010600030101010101" pitchFamily="2" charset="-122"/>
              </a:rPr>
              <a:t>次下条指令</a:t>
            </a:r>
            <a:endParaRPr lang="zh-CN" altLang="en-US" b="1"/>
          </a:p>
          <a:p>
            <a:pPr eaLnBrk="1" hangingPunct="1">
              <a:lnSpc>
                <a:spcPct val="85000"/>
              </a:lnSpc>
            </a:pPr>
            <a:r>
              <a:rPr lang="zh-CN" altLang="en-US" sz="2800" b="1">
                <a:latin typeface="宋体" panose="02010600030101010101" pitchFamily="2" charset="-122"/>
              </a:rPr>
              <a:t>      </a:t>
            </a:r>
            <a:r>
              <a:rPr lang="en-US" altLang="zh-CN" sz="2800" b="1">
                <a:solidFill>
                  <a:schemeClr val="tx2"/>
                </a:solidFill>
                <a:latin typeface="宋体" panose="02010600030101010101" pitchFamily="2" charset="-122"/>
              </a:rPr>
              <a:t>MVDD   *AR2+,*AR3+</a:t>
            </a:r>
            <a:r>
              <a:rPr lang="zh-CN" altLang="en-US" sz="2800" b="1">
                <a:latin typeface="宋体" panose="02010600030101010101" pitchFamily="2" charset="-122"/>
              </a:rPr>
              <a:t>；将地址</a:t>
            </a:r>
            <a:r>
              <a:rPr lang="en-US" altLang="zh-CN" sz="2800" b="1">
                <a:latin typeface="宋体" panose="02010600030101010101" pitchFamily="2" charset="-122"/>
              </a:rPr>
              <a:t>x</a:t>
            </a:r>
            <a:r>
              <a:rPr lang="zh-CN" altLang="en-US" sz="2800" b="1">
                <a:latin typeface="宋体" panose="02010600030101010101" pitchFamily="2" charset="-122"/>
              </a:rPr>
              <a:t>开始的</a:t>
            </a:r>
            <a:r>
              <a:rPr lang="en-US" altLang="zh-CN" sz="2800" b="1">
                <a:latin typeface="宋体" panose="02010600030101010101" pitchFamily="2" charset="-122"/>
              </a:rPr>
              <a:t>10</a:t>
            </a:r>
            <a:r>
              <a:rPr lang="zh-CN" altLang="en-US" sz="2800" b="1">
                <a:latin typeface="宋体" panose="02010600030101010101" pitchFamily="2" charset="-122"/>
              </a:rPr>
              <a:t>个值</a:t>
            </a:r>
          </a:p>
          <a:p>
            <a:pPr eaLnBrk="1" hangingPunct="1">
              <a:lnSpc>
                <a:spcPct val="85000"/>
              </a:lnSpc>
            </a:pPr>
            <a:r>
              <a:rPr lang="zh-CN" altLang="en-US" sz="2800" b="1">
                <a:latin typeface="宋体" panose="02010600030101010101" pitchFamily="2" charset="-122"/>
              </a:rPr>
              <a:t>                        </a:t>
            </a:r>
            <a:r>
              <a:rPr lang="zh-CN" altLang="en-US" b="1">
                <a:latin typeface="宋体" panose="02010600030101010101" pitchFamily="2" charset="-122"/>
              </a:rPr>
              <a:t>；复制到地址</a:t>
            </a:r>
            <a:r>
              <a:rPr lang="en-US" altLang="zh-CN" b="1">
                <a:latin typeface="宋体" panose="02010600030101010101" pitchFamily="2" charset="-122"/>
              </a:rPr>
              <a:t>y</a:t>
            </a:r>
            <a:r>
              <a:rPr lang="zh-CN" altLang="en-US" b="1">
                <a:latin typeface="宋体" panose="02010600030101010101" pitchFamily="2" charset="-122"/>
              </a:rPr>
              <a:t>开始的</a:t>
            </a:r>
            <a:r>
              <a:rPr lang="en-US" altLang="zh-CN" b="1">
                <a:latin typeface="宋体" panose="02010600030101010101" pitchFamily="2" charset="-122"/>
              </a:rPr>
              <a:t>10</a:t>
            </a:r>
            <a:r>
              <a:rPr lang="zh-CN" altLang="en-US" b="1">
                <a:latin typeface="宋体" panose="02010600030101010101" pitchFamily="2" charset="-122"/>
              </a:rPr>
              <a:t>个单元</a:t>
            </a:r>
            <a:endParaRPr lang="zh-CN" altLang="en-US" b="1"/>
          </a:p>
          <a:p>
            <a:pPr eaLnBrk="1" hangingPunct="1">
              <a:lnSpc>
                <a:spcPct val="85000"/>
              </a:lnSpc>
            </a:pPr>
            <a:r>
              <a:rPr lang="en-US" altLang="zh-CN" sz="2800" b="1">
                <a:latin typeface="宋体" panose="02010600030101010101" pitchFamily="2" charset="-122"/>
              </a:rPr>
              <a:t>end:  B      end</a:t>
            </a:r>
            <a:endParaRPr lang="en-US" altLang="zh-CN" sz="2800" b="1"/>
          </a:p>
          <a:p>
            <a:pPr eaLnBrk="1" hangingPunct="1">
              <a:lnSpc>
                <a:spcPct val="85000"/>
              </a:lnSpc>
            </a:pPr>
            <a:r>
              <a:rPr lang="en-US" altLang="zh-CN" sz="2800" b="1">
                <a:latin typeface="宋体" panose="02010600030101010101" pitchFamily="2" charset="-122"/>
              </a:rPr>
              <a:t>     .end</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2578"/>
                                        </p:tgtEl>
                                        <p:attrNameLst>
                                          <p:attrName>style.visibility</p:attrName>
                                        </p:attrNameLst>
                                      </p:cBhvr>
                                      <p:to>
                                        <p:strVal val="visible"/>
                                      </p:to>
                                    </p:set>
                                    <p:animEffect transition="in" filter="blinds(horizontal)">
                                      <p:cBhvr>
                                        <p:cTn id="7" dur="500"/>
                                        <p:tgtEl>
                                          <p:spTgt spid="792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257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FAB4EB6-18BE-49F1-832F-3D09CC2D1470}" type="slidenum">
              <a:rPr lang="en-US" altLang="zh-CN" sz="1400"/>
              <a:pPr eaLnBrk="1" hangingPunct="1"/>
              <a:t>13</a:t>
            </a:fld>
            <a:endParaRPr lang="en-US" altLang="zh-CN" sz="1400"/>
          </a:p>
        </p:txBody>
      </p:sp>
      <p:sp>
        <p:nvSpPr>
          <p:cNvPr id="793602" name="Rectangle 2"/>
          <p:cNvSpPr>
            <a:spLocks noChangeArrowheads="1"/>
          </p:cNvSpPr>
          <p:nvPr/>
        </p:nvSpPr>
        <p:spPr bwMode="auto">
          <a:xfrm>
            <a:off x="2438400" y="1905000"/>
            <a:ext cx="5257800" cy="180975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rgbClr val="FF00FF"/>
                </a:solidFill>
                <a:latin typeface="宋体" panose="02010600030101010101" pitchFamily="2" charset="-122"/>
                <a:cs typeface="Times New Roman" panose="02020603050405020304" pitchFamily="18" charset="0"/>
              </a:rPr>
              <a:t>用间接寻址方式获得操作数，且辅助寄存器只用</a:t>
            </a:r>
            <a:r>
              <a:rPr lang="en-US" altLang="zh-CN" sz="2800" b="1">
                <a:solidFill>
                  <a:srgbClr val="FF00FF"/>
                </a:solidFill>
                <a:latin typeface="宋体" panose="02010600030101010101" pitchFamily="2" charset="-122"/>
                <a:cs typeface="Times New Roman" panose="02020603050405020304" pitchFamily="18" charset="0"/>
              </a:rPr>
              <a:t>AR2</a:t>
            </a:r>
            <a:r>
              <a:rPr lang="zh-CN" altLang="en-US" sz="2800" b="1">
                <a:solidFill>
                  <a:srgbClr val="FF00FF"/>
                </a:solidFill>
                <a:latin typeface="宋体" panose="02010600030101010101" pitchFamily="2" charset="-122"/>
                <a:cs typeface="Times New Roman" panose="02020603050405020304" pitchFamily="18" charset="0"/>
              </a:rPr>
              <a:t>～</a:t>
            </a:r>
            <a:r>
              <a:rPr lang="en-US" altLang="zh-CN" sz="2800" b="1">
                <a:solidFill>
                  <a:srgbClr val="FF00FF"/>
                </a:solidFill>
                <a:latin typeface="宋体" panose="02010600030101010101" pitchFamily="2" charset="-122"/>
                <a:cs typeface="Times New Roman" panose="02020603050405020304" pitchFamily="18" charset="0"/>
              </a:rPr>
              <a:t>AR5</a:t>
            </a:r>
            <a:r>
              <a:rPr lang="zh-CN" altLang="en-US" sz="2800" b="1">
                <a:solidFill>
                  <a:srgbClr val="FF00FF"/>
                </a:solidFill>
                <a:latin typeface="宋体" panose="02010600030101010101" pitchFamily="2" charset="-122"/>
                <a:cs typeface="Times New Roman" panose="02020603050405020304" pitchFamily="18" charset="0"/>
              </a:rPr>
              <a:t>；</a:t>
            </a:r>
          </a:p>
          <a:p>
            <a:pPr algn="just" eaLnBrk="1" hangingPunct="1"/>
            <a:r>
              <a:rPr lang="zh-CN" altLang="en-US" sz="2800" b="1">
                <a:solidFill>
                  <a:srgbClr val="FF00FF"/>
                </a:solidFill>
                <a:latin typeface="宋体" panose="02010600030101010101" pitchFamily="2" charset="-122"/>
                <a:cs typeface="Times New Roman" panose="02020603050405020304" pitchFamily="18" charset="0"/>
              </a:rPr>
              <a:t>占用程序空间小；</a:t>
            </a:r>
          </a:p>
          <a:p>
            <a:pPr algn="just" eaLnBrk="1" hangingPunct="1"/>
            <a:r>
              <a:rPr lang="zh-CN" altLang="en-US" sz="2800" b="1">
                <a:solidFill>
                  <a:srgbClr val="FF00FF"/>
                </a:solidFill>
                <a:latin typeface="宋体" panose="02010600030101010101" pitchFamily="2" charset="-122"/>
                <a:cs typeface="Times New Roman" panose="02020603050405020304" pitchFamily="18" charset="0"/>
              </a:rPr>
              <a:t>运行速度快。</a:t>
            </a:r>
            <a:r>
              <a:rPr lang="zh-CN" altLang="en-US" sz="2800" b="1">
                <a:latin typeface="宋体" panose="02010600030101010101" pitchFamily="2" charset="-122"/>
              </a:rPr>
              <a:t> </a:t>
            </a:r>
          </a:p>
        </p:txBody>
      </p:sp>
      <p:sp>
        <p:nvSpPr>
          <p:cNvPr id="793603" name="Rectangle 3" descr="小棋盘"/>
          <p:cNvSpPr>
            <a:spLocks noChangeArrowheads="1"/>
          </p:cNvSpPr>
          <p:nvPr/>
        </p:nvSpPr>
        <p:spPr bwMode="auto">
          <a:xfrm>
            <a:off x="2895600" y="1143000"/>
            <a:ext cx="37338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4</a:t>
            </a:r>
            <a:r>
              <a:rPr lang="zh-CN" altLang="en-US" sz="3200" b="1">
                <a:solidFill>
                  <a:srgbClr val="FF0000"/>
                </a:solidFill>
                <a:latin typeface="宋体" panose="02010600030101010101" pitchFamily="2" charset="-122"/>
                <a:ea typeface="仿宋_GB2312" pitchFamily="49" charset="-122"/>
              </a:rPr>
              <a:t>．双操作数乘法</a:t>
            </a:r>
            <a:r>
              <a:rPr lang="zh-CN" altLang="en-US" sz="2800" b="1">
                <a:solidFill>
                  <a:srgbClr val="FF0000"/>
                </a:solidFill>
                <a:latin typeface="宋体" panose="02010600030101010101" pitchFamily="2" charset="-122"/>
                <a:ea typeface="仿宋_GB2312" pitchFamily="49" charset="-122"/>
              </a:rPr>
              <a:t> </a:t>
            </a:r>
          </a:p>
        </p:txBody>
      </p:sp>
      <p:sp>
        <p:nvSpPr>
          <p:cNvPr id="793604" name="Rectangle 4" descr="小棋盘"/>
          <p:cNvSpPr>
            <a:spLocks noChangeArrowheads="1"/>
          </p:cNvSpPr>
          <p:nvPr/>
        </p:nvSpPr>
        <p:spPr bwMode="auto">
          <a:xfrm>
            <a:off x="838200" y="2286000"/>
            <a:ext cx="533400" cy="95567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特</a:t>
            </a:r>
          </a:p>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点</a:t>
            </a:r>
            <a:endParaRPr lang="zh-CN" altLang="en-US" sz="2800" b="1">
              <a:solidFill>
                <a:srgbClr val="FF0000"/>
              </a:solidFill>
              <a:latin typeface="宋体" panose="02010600030101010101" pitchFamily="2" charset="-122"/>
              <a:cs typeface="Times New Roman" panose="02020603050405020304" pitchFamily="18" charset="0"/>
            </a:endParaRPr>
          </a:p>
        </p:txBody>
      </p:sp>
      <p:grpSp>
        <p:nvGrpSpPr>
          <p:cNvPr id="2055" name="Group 5"/>
          <p:cNvGrpSpPr>
            <a:grpSpLocks/>
          </p:cNvGrpSpPr>
          <p:nvPr/>
        </p:nvGrpSpPr>
        <p:grpSpPr bwMode="auto">
          <a:xfrm>
            <a:off x="395288" y="3789363"/>
            <a:ext cx="8569325" cy="2455862"/>
            <a:chOff x="204" y="2400"/>
            <a:chExt cx="5398" cy="1547"/>
          </a:xfrm>
        </p:grpSpPr>
        <p:sp>
          <p:nvSpPr>
            <p:cNvPr id="2056" name="Rectangle 6"/>
            <p:cNvSpPr>
              <a:spLocks noChangeArrowheads="1"/>
            </p:cNvSpPr>
            <p:nvPr/>
          </p:nvSpPr>
          <p:spPr bwMode="auto">
            <a:xfrm>
              <a:off x="204" y="2544"/>
              <a:ext cx="5398" cy="1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5-8</a:t>
              </a:r>
              <a:r>
                <a:rPr lang="en-US" altLang="zh-CN" sz="2800" b="1">
                  <a:latin typeface="宋体" panose="02010600030101010101" pitchFamily="2" charset="-122"/>
                </a:rPr>
                <a:t>  </a:t>
              </a:r>
              <a:r>
                <a:rPr lang="zh-CN" altLang="en-US" sz="2800" b="1">
                  <a:latin typeface="宋体" panose="02010600030101010101" pitchFamily="2" charset="-122"/>
                </a:rPr>
                <a:t>编制求解        的程序。</a:t>
              </a:r>
            </a:p>
            <a:p>
              <a:pPr algn="just" eaLnBrk="1" hangingPunct="1"/>
              <a:r>
                <a:rPr lang="zh-CN" altLang="en-US" sz="2800" b="1">
                  <a:latin typeface="宋体" panose="02010600030101010101" pitchFamily="2" charset="-122"/>
                </a:rPr>
                <a:t>利用双操作数指令可以节省机器周期。迭代次数越多，节省的机器周期数也越多。本例中，在每次循环中，双操作数指令都比单操作数指令少用一个周期，节省的总机器周期数</a:t>
              </a:r>
              <a:r>
                <a:rPr lang="en-US" altLang="zh-CN" sz="2800" b="1">
                  <a:latin typeface="宋体" panose="02010600030101010101" pitchFamily="2" charset="-122"/>
                </a:rPr>
                <a:t>=1T*N</a:t>
              </a:r>
              <a:r>
                <a:rPr lang="zh-CN" altLang="en-US" sz="2800" b="1">
                  <a:latin typeface="宋体" panose="02010600030101010101" pitchFamily="2" charset="-122"/>
                </a:rPr>
                <a:t>（迭代次数）</a:t>
              </a:r>
              <a:r>
                <a:rPr lang="en-US" altLang="zh-CN" sz="2800" b="1">
                  <a:latin typeface="宋体" panose="02010600030101010101" pitchFamily="2" charset="-122"/>
                </a:rPr>
                <a:t>=NT</a:t>
              </a:r>
              <a:r>
                <a:rPr lang="zh-CN" altLang="en-US" sz="2800" b="1">
                  <a:latin typeface="宋体" panose="02010600030101010101" pitchFamily="2" charset="-122"/>
                </a:rPr>
                <a:t>。</a:t>
              </a:r>
              <a:endParaRPr lang="zh-CN" altLang="en-US" sz="2800" b="1"/>
            </a:p>
          </p:txBody>
        </p:sp>
        <p:graphicFrame>
          <p:nvGraphicFramePr>
            <p:cNvPr id="2050" name="Object 7"/>
            <p:cNvGraphicFramePr>
              <a:graphicFrameLocks noChangeAspect="1"/>
            </p:cNvGraphicFramePr>
            <p:nvPr/>
          </p:nvGraphicFramePr>
          <p:xfrm>
            <a:off x="2208" y="2400"/>
            <a:ext cx="816" cy="510"/>
          </p:xfrm>
          <a:graphic>
            <a:graphicData uri="http://schemas.openxmlformats.org/presentationml/2006/ole">
              <mc:AlternateContent xmlns:mc="http://schemas.openxmlformats.org/markup-compatibility/2006">
                <mc:Choice xmlns:v="urn:schemas-microsoft-com:vml" Requires="v">
                  <p:oleObj spid="_x0000_s1026" name="公式" r:id="rId3" imgW="685800" imgH="431800" progId="">
                    <p:embed/>
                  </p:oleObj>
                </mc:Choice>
                <mc:Fallback>
                  <p:oleObj name="公式" r:id="rId3" imgW="685800" imgH="431800" progId="">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 y="2400"/>
                          <a:ext cx="816" cy="5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93603"/>
                                        </p:tgtEl>
                                        <p:attrNameLst>
                                          <p:attrName>style.visibility</p:attrName>
                                        </p:attrNameLst>
                                      </p:cBhvr>
                                      <p:to>
                                        <p:strVal val="visible"/>
                                      </p:to>
                                    </p:set>
                                    <p:anim calcmode="lin" valueType="num">
                                      <p:cBhvr additive="base">
                                        <p:cTn id="7" dur="500" fill="hold"/>
                                        <p:tgtEl>
                                          <p:spTgt spid="793603"/>
                                        </p:tgtEl>
                                        <p:attrNameLst>
                                          <p:attrName>ppt_x</p:attrName>
                                        </p:attrNameLst>
                                      </p:cBhvr>
                                      <p:tavLst>
                                        <p:tav tm="0">
                                          <p:val>
                                            <p:strVal val="#ppt_x"/>
                                          </p:val>
                                        </p:tav>
                                        <p:tav tm="100000">
                                          <p:val>
                                            <p:strVal val="#ppt_x"/>
                                          </p:val>
                                        </p:tav>
                                      </p:tavLst>
                                    </p:anim>
                                    <p:anim calcmode="lin" valueType="num">
                                      <p:cBhvr additive="base">
                                        <p:cTn id="8" dur="500" fill="hold"/>
                                        <p:tgtEl>
                                          <p:spTgt spid="793603"/>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93604"/>
                                        </p:tgtEl>
                                        <p:attrNameLst>
                                          <p:attrName>style.visibility</p:attrName>
                                        </p:attrNameLst>
                                      </p:cBhvr>
                                      <p:to>
                                        <p:strVal val="visible"/>
                                      </p:to>
                                    </p:set>
                                    <p:anim calcmode="lin" valueType="num">
                                      <p:cBhvr additive="base">
                                        <p:cTn id="12" dur="500" fill="hold"/>
                                        <p:tgtEl>
                                          <p:spTgt spid="793604"/>
                                        </p:tgtEl>
                                        <p:attrNameLst>
                                          <p:attrName>ppt_x</p:attrName>
                                        </p:attrNameLst>
                                      </p:cBhvr>
                                      <p:tavLst>
                                        <p:tav tm="0">
                                          <p:val>
                                            <p:strVal val="0-#ppt_w/2"/>
                                          </p:val>
                                        </p:tav>
                                        <p:tav tm="100000">
                                          <p:val>
                                            <p:strVal val="#ppt_x"/>
                                          </p:val>
                                        </p:tav>
                                      </p:tavLst>
                                    </p:anim>
                                    <p:anim calcmode="lin" valueType="num">
                                      <p:cBhvr additive="base">
                                        <p:cTn id="13" dur="500" fill="hold"/>
                                        <p:tgtEl>
                                          <p:spTgt spid="79360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93602"/>
                                        </p:tgtEl>
                                        <p:attrNameLst>
                                          <p:attrName>style.visibility</p:attrName>
                                        </p:attrNameLst>
                                      </p:cBhvr>
                                      <p:to>
                                        <p:strVal val="visible"/>
                                      </p:to>
                                    </p:set>
                                    <p:anim calcmode="lin" valueType="num">
                                      <p:cBhvr additive="base">
                                        <p:cTn id="17" dur="500" fill="hold"/>
                                        <p:tgtEl>
                                          <p:spTgt spid="793602"/>
                                        </p:tgtEl>
                                        <p:attrNameLst>
                                          <p:attrName>ppt_x</p:attrName>
                                        </p:attrNameLst>
                                      </p:cBhvr>
                                      <p:tavLst>
                                        <p:tav tm="0">
                                          <p:val>
                                            <p:strVal val="#ppt_x"/>
                                          </p:val>
                                        </p:tav>
                                        <p:tav tm="100000">
                                          <p:val>
                                            <p:strVal val="#ppt_x"/>
                                          </p:val>
                                        </p:tav>
                                      </p:tavLst>
                                    </p:anim>
                                    <p:anim calcmode="lin" valueType="num">
                                      <p:cBhvr additive="base">
                                        <p:cTn id="18" dur="500" fill="hold"/>
                                        <p:tgtEl>
                                          <p:spTgt spid="7936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02" grpId="0" animBg="1"/>
      <p:bldP spid="793603" grpId="0" animBg="1"/>
      <p:bldP spid="79360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845E17A-04FC-4DD4-B097-3A15C568E380}" type="slidenum">
              <a:rPr lang="en-US" altLang="zh-CN" sz="1400"/>
              <a:pPr eaLnBrk="1" hangingPunct="1"/>
              <a:t>14</a:t>
            </a:fld>
            <a:endParaRPr lang="en-US" altLang="zh-CN" sz="1400"/>
          </a:p>
        </p:txBody>
      </p:sp>
      <p:sp>
        <p:nvSpPr>
          <p:cNvPr id="794626" name="Rectangle 2"/>
          <p:cNvSpPr>
            <a:spLocks noChangeArrowheads="1"/>
          </p:cNvSpPr>
          <p:nvPr/>
        </p:nvSpPr>
        <p:spPr bwMode="auto">
          <a:xfrm>
            <a:off x="179388" y="1341438"/>
            <a:ext cx="4198937" cy="479901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latin typeface="宋体" panose="02010600030101010101" pitchFamily="2" charset="-122"/>
              </a:rPr>
              <a:t>   </a:t>
            </a:r>
            <a:r>
              <a:rPr lang="zh-CN" altLang="en-US" sz="2800" b="1">
                <a:solidFill>
                  <a:srgbClr val="FF00FF"/>
                </a:solidFill>
                <a:latin typeface="宋体" panose="02010600030101010101" pitchFamily="2" charset="-122"/>
              </a:rPr>
              <a:t>单操作数指令方案</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LD    #0,B</a:t>
            </a:r>
            <a:endParaRPr lang="en-US" altLang="zh-CN" sz="2800" b="1"/>
          </a:p>
          <a:p>
            <a:pPr algn="just"/>
            <a:r>
              <a:rPr lang="en-US" altLang="zh-CN" sz="2800" b="1">
                <a:latin typeface="宋体" panose="02010600030101010101" pitchFamily="2" charset="-122"/>
              </a:rPr>
              <a:t>    STM   #a,AR2</a:t>
            </a:r>
            <a:endParaRPr lang="en-US" altLang="zh-CN" sz="2800" b="1"/>
          </a:p>
          <a:p>
            <a:pPr algn="just"/>
            <a:r>
              <a:rPr lang="en-US" altLang="zh-CN" sz="2800" b="1">
                <a:latin typeface="宋体" panose="02010600030101010101" pitchFamily="2" charset="-122"/>
              </a:rPr>
              <a:t>    STM   #x,AR3         </a:t>
            </a:r>
          </a:p>
          <a:p>
            <a:pPr algn="just"/>
            <a:r>
              <a:rPr lang="zh-CN" altLang="en-US" sz="2800" b="1"/>
              <a:t>　    </a:t>
            </a:r>
            <a:r>
              <a:rPr lang="en-US" altLang="zh-CN" sz="2800" b="1">
                <a:latin typeface="宋体" panose="02010600030101010101" pitchFamily="2" charset="-122"/>
              </a:rPr>
              <a:t>STM   #19,BRC </a:t>
            </a:r>
            <a:r>
              <a:rPr lang="zh-CN" altLang="en-US" sz="2800" b="1">
                <a:latin typeface="宋体" panose="02010600030101010101" pitchFamily="2" charset="-122"/>
              </a:rPr>
              <a:t>　　 </a:t>
            </a:r>
          </a:p>
          <a:p>
            <a:pPr algn="just"/>
            <a:r>
              <a:rPr lang="zh-CN" altLang="en-US" sz="2800" b="1">
                <a:solidFill>
                  <a:schemeClr val="folHlink"/>
                </a:solidFill>
                <a:latin typeface="宋体" panose="02010600030101010101" pitchFamily="2" charset="-122"/>
              </a:rPr>
              <a:t>    </a:t>
            </a:r>
            <a:r>
              <a:rPr lang="en-US" altLang="zh-CN" sz="2800" b="1">
                <a:solidFill>
                  <a:schemeClr val="folHlink"/>
                </a:solidFill>
                <a:latin typeface="宋体" panose="02010600030101010101" pitchFamily="2" charset="-122"/>
              </a:rPr>
              <a:t>RPTB  done-1</a:t>
            </a:r>
            <a:r>
              <a:rPr lang="en-US" altLang="zh-CN" sz="2800" b="1">
                <a:latin typeface="宋体" panose="02010600030101010101" pitchFamily="2" charset="-122"/>
              </a:rPr>
              <a:t> </a:t>
            </a:r>
          </a:p>
          <a:p>
            <a:pPr algn="just"/>
            <a:r>
              <a:rPr lang="en-US" altLang="zh-CN" sz="2800" b="1">
                <a:latin typeface="宋体" panose="02010600030101010101" pitchFamily="2" charset="-122"/>
              </a:rPr>
              <a:t>    </a:t>
            </a:r>
            <a:r>
              <a:rPr lang="en-US" altLang="zh-CN" sz="2800" b="1">
                <a:solidFill>
                  <a:srgbClr val="FF00FF"/>
                </a:solidFill>
                <a:latin typeface="宋体" panose="02010600030101010101" pitchFamily="2" charset="-122"/>
              </a:rPr>
              <a:t>LD</a:t>
            </a:r>
            <a:r>
              <a:rPr lang="zh-CN" altLang="en-US" sz="2800" b="1">
                <a:solidFill>
                  <a:srgbClr val="FF00FF"/>
                </a:solidFill>
                <a:latin typeface="宋体" panose="02010600030101010101" pitchFamily="2" charset="-122"/>
              </a:rPr>
              <a:t>　  *</a:t>
            </a:r>
            <a:r>
              <a:rPr lang="en-US" altLang="zh-CN" sz="2800" b="1">
                <a:solidFill>
                  <a:srgbClr val="FF00FF"/>
                </a:solidFill>
                <a:latin typeface="宋体" panose="02010600030101010101" pitchFamily="2" charset="-122"/>
              </a:rPr>
              <a:t>AR2+,T</a:t>
            </a:r>
            <a:r>
              <a:rPr lang="zh-CN" altLang="en-US" sz="2800" b="1">
                <a:latin typeface="宋体" panose="02010600030101010101" pitchFamily="2" charset="-122"/>
              </a:rPr>
              <a:t>；</a:t>
            </a:r>
            <a:r>
              <a:rPr lang="en-US" altLang="zh-CN" sz="2800" b="1">
                <a:solidFill>
                  <a:srgbClr val="FF0000"/>
                </a:solidFill>
                <a:latin typeface="宋体" panose="02010600030101010101" pitchFamily="2" charset="-122"/>
              </a:rPr>
              <a:t>1T</a:t>
            </a:r>
            <a:endParaRPr lang="en-US" altLang="zh-CN" sz="2800" b="1">
              <a:solidFill>
                <a:srgbClr val="FF0000"/>
              </a:solidFill>
            </a:endParaRPr>
          </a:p>
          <a:p>
            <a:pPr algn="just"/>
            <a:r>
              <a:rPr lang="en-US" altLang="zh-CN" sz="2800" b="1">
                <a:latin typeface="宋体" panose="02010600030101010101" pitchFamily="2" charset="-122"/>
              </a:rPr>
              <a:t>    </a:t>
            </a:r>
            <a:r>
              <a:rPr lang="en-US" altLang="zh-CN" sz="2800" b="1">
                <a:solidFill>
                  <a:srgbClr val="FF00FF"/>
                </a:solidFill>
                <a:latin typeface="宋体" panose="02010600030101010101" pitchFamily="2" charset="-122"/>
              </a:rPr>
              <a:t>MPY</a:t>
            </a:r>
            <a:r>
              <a:rPr lang="zh-CN" altLang="en-US" sz="2800" b="1">
                <a:solidFill>
                  <a:srgbClr val="FF00FF"/>
                </a:solidFill>
                <a:latin typeface="宋体" panose="02010600030101010101" pitchFamily="2" charset="-122"/>
              </a:rPr>
              <a:t>　 *</a:t>
            </a:r>
            <a:r>
              <a:rPr lang="en-US" altLang="zh-CN" sz="2800" b="1">
                <a:solidFill>
                  <a:srgbClr val="FF00FF"/>
                </a:solidFill>
                <a:latin typeface="宋体" panose="02010600030101010101" pitchFamily="2" charset="-122"/>
              </a:rPr>
              <a:t>AR3+,A</a:t>
            </a:r>
            <a:r>
              <a:rPr lang="zh-CN" altLang="en-US" sz="2800" b="1">
                <a:latin typeface="宋体" panose="02010600030101010101" pitchFamily="2" charset="-122"/>
              </a:rPr>
              <a:t>；</a:t>
            </a:r>
            <a:r>
              <a:rPr lang="en-US" altLang="zh-CN" sz="2800" b="1">
                <a:solidFill>
                  <a:srgbClr val="FF0000"/>
                </a:solidFill>
                <a:latin typeface="宋体" panose="02010600030101010101" pitchFamily="2" charset="-122"/>
              </a:rPr>
              <a:t>1T</a:t>
            </a:r>
            <a:r>
              <a:rPr lang="zh-CN" altLang="en-US" sz="2800" b="1">
                <a:latin typeface="宋体" panose="02010600030101010101" pitchFamily="2" charset="-122"/>
              </a:rPr>
              <a:t>　</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ADD   A,B </a:t>
            </a:r>
            <a:r>
              <a:rPr lang="zh-CN" altLang="en-US" sz="2800" b="1">
                <a:latin typeface="宋体" panose="02010600030101010101" pitchFamily="2" charset="-122"/>
              </a:rPr>
              <a:t>　 ；</a:t>
            </a:r>
            <a:r>
              <a:rPr lang="en-US" altLang="zh-CN" sz="2800" b="1">
                <a:solidFill>
                  <a:srgbClr val="FF0000"/>
                </a:solidFill>
                <a:latin typeface="宋体" panose="02010600030101010101" pitchFamily="2" charset="-122"/>
              </a:rPr>
              <a:t>1T</a:t>
            </a:r>
            <a:endParaRPr lang="en-US" altLang="zh-CN" sz="2800" b="1">
              <a:solidFill>
                <a:srgbClr val="FF0000"/>
              </a:solidFill>
            </a:endParaRPr>
          </a:p>
          <a:p>
            <a:pPr algn="just"/>
            <a:r>
              <a:rPr lang="en-US" altLang="zh-CN" b="1">
                <a:solidFill>
                  <a:schemeClr val="folHlink"/>
                </a:solidFill>
                <a:latin typeface="宋体" panose="02010600030101010101" pitchFamily="2" charset="-122"/>
              </a:rPr>
              <a:t>done</a:t>
            </a:r>
            <a:r>
              <a:rPr lang="en-US" altLang="zh-CN" b="1">
                <a:latin typeface="宋体" panose="02010600030101010101" pitchFamily="2" charset="-122"/>
              </a:rPr>
              <a:t>:</a:t>
            </a:r>
            <a:r>
              <a:rPr lang="en-US" altLang="zh-CN" sz="2800" b="1">
                <a:latin typeface="宋体" panose="02010600030101010101" pitchFamily="2" charset="-122"/>
              </a:rPr>
              <a:t>STH  B,@y </a:t>
            </a:r>
          </a:p>
          <a:p>
            <a:pPr algn="just"/>
            <a:r>
              <a:rPr lang="en-US" altLang="zh-CN" sz="2800" b="1">
                <a:latin typeface="宋体" panose="02010600030101010101" pitchFamily="2" charset="-122"/>
              </a:rPr>
              <a:t>    STL   B,@y+1  </a:t>
            </a:r>
            <a:r>
              <a:rPr lang="zh-CN" altLang="en-US" sz="2800" b="1">
                <a:latin typeface="宋体" panose="02010600030101010101" pitchFamily="2" charset="-122"/>
              </a:rPr>
              <a:t>　　　</a:t>
            </a:r>
            <a:endParaRPr lang="zh-CN" altLang="en-US" sz="2800" b="1"/>
          </a:p>
        </p:txBody>
      </p:sp>
      <p:sp>
        <p:nvSpPr>
          <p:cNvPr id="794627" name="Rectangle 3"/>
          <p:cNvSpPr>
            <a:spLocks noChangeArrowheads="1"/>
          </p:cNvSpPr>
          <p:nvPr/>
        </p:nvSpPr>
        <p:spPr bwMode="auto">
          <a:xfrm>
            <a:off x="4356100" y="1341438"/>
            <a:ext cx="4508500" cy="4371975"/>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solidFill>
                  <a:schemeClr val="tx2"/>
                </a:solidFill>
                <a:latin typeface="宋体" panose="02010600030101010101" pitchFamily="2" charset="-122"/>
              </a:rPr>
              <a:t>    </a:t>
            </a:r>
            <a:r>
              <a:rPr lang="zh-CN" altLang="en-US" sz="2800" b="1">
                <a:solidFill>
                  <a:schemeClr val="tx2"/>
                </a:solidFill>
                <a:latin typeface="宋体" panose="02010600030101010101" pitchFamily="2" charset="-122"/>
              </a:rPr>
              <a:t>双操作数指令方案</a:t>
            </a:r>
            <a:r>
              <a:rPr lang="zh-CN" altLang="en-US" sz="2800" b="1">
                <a:latin typeface="宋体" panose="02010600030101010101" pitchFamily="2" charset="-122"/>
              </a:rPr>
              <a:t> </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LD    #0,B </a:t>
            </a:r>
            <a:endParaRPr lang="en-US" altLang="zh-CN" sz="2800" b="1"/>
          </a:p>
          <a:p>
            <a:pPr algn="just"/>
            <a:r>
              <a:rPr lang="en-US" altLang="zh-CN" sz="2800" b="1">
                <a:latin typeface="宋体" panose="02010600030101010101" pitchFamily="2" charset="-122"/>
              </a:rPr>
              <a:t>    STM   #a,AR2</a:t>
            </a:r>
            <a:endParaRPr lang="en-US" altLang="zh-CN" sz="2800" b="1"/>
          </a:p>
          <a:p>
            <a:pPr algn="just"/>
            <a:r>
              <a:rPr lang="en-US" altLang="zh-CN" sz="2800" b="1">
                <a:latin typeface="宋体" panose="02010600030101010101" pitchFamily="2" charset="-122"/>
              </a:rPr>
              <a:t>    STM   #x,AR3</a:t>
            </a:r>
            <a:endParaRPr lang="en-US" altLang="zh-CN" sz="2800" b="1"/>
          </a:p>
          <a:p>
            <a:pPr algn="just"/>
            <a:r>
              <a:rPr lang="zh-CN" altLang="en-US" sz="2800" b="1"/>
              <a:t>　    </a:t>
            </a:r>
            <a:r>
              <a:rPr lang="en-US" altLang="zh-CN" sz="2800" b="1">
                <a:latin typeface="宋体" panose="02010600030101010101" pitchFamily="2" charset="-122"/>
              </a:rPr>
              <a:t>STM   #19,BRC</a:t>
            </a:r>
            <a:endParaRPr lang="en-US" altLang="zh-CN" sz="2800" b="1"/>
          </a:p>
          <a:p>
            <a:pPr algn="just"/>
            <a:r>
              <a:rPr lang="en-US" altLang="zh-CN" sz="2800" b="1">
                <a:latin typeface="宋体" panose="02010600030101010101" pitchFamily="2" charset="-122"/>
              </a:rPr>
              <a:t>    </a:t>
            </a:r>
            <a:r>
              <a:rPr lang="en-US" altLang="zh-CN" sz="2800" b="1">
                <a:solidFill>
                  <a:schemeClr val="folHlink"/>
                </a:solidFill>
                <a:latin typeface="宋体" panose="02010600030101010101" pitchFamily="2" charset="-122"/>
              </a:rPr>
              <a:t>RPTB  done-1</a:t>
            </a:r>
            <a:endParaRPr lang="en-US" altLang="zh-CN" sz="2800" b="1">
              <a:solidFill>
                <a:schemeClr val="folHlink"/>
              </a:solidFill>
            </a:endParaRPr>
          </a:p>
          <a:p>
            <a:pPr algn="just"/>
            <a:r>
              <a:rPr lang="en-US" altLang="zh-CN" sz="2800" b="1">
                <a:solidFill>
                  <a:srgbClr val="FF00FF"/>
                </a:solidFill>
                <a:latin typeface="宋体" panose="02010600030101010101" pitchFamily="2" charset="-122"/>
              </a:rPr>
              <a:t>    </a:t>
            </a:r>
            <a:r>
              <a:rPr lang="en-US" altLang="zh-CN" b="1">
                <a:solidFill>
                  <a:schemeClr val="tx2"/>
                </a:solidFill>
                <a:latin typeface="宋体" panose="02010600030101010101" pitchFamily="2" charset="-122"/>
              </a:rPr>
              <a:t>MPY  *AR2+,*AR3+,A</a:t>
            </a:r>
            <a:r>
              <a:rPr lang="zh-CN" altLang="en-US" b="1">
                <a:latin typeface="宋体" panose="02010600030101010101" pitchFamily="2" charset="-122"/>
              </a:rPr>
              <a:t>；</a:t>
            </a:r>
            <a:r>
              <a:rPr lang="en-US" altLang="zh-CN" b="1">
                <a:solidFill>
                  <a:srgbClr val="FF0000"/>
                </a:solidFill>
                <a:latin typeface="宋体" panose="02010600030101010101" pitchFamily="2" charset="-122"/>
              </a:rPr>
              <a:t>1T</a:t>
            </a:r>
            <a:endParaRPr lang="en-US" altLang="zh-CN" b="1">
              <a:solidFill>
                <a:srgbClr val="FF0000"/>
              </a:solidFill>
            </a:endParaRPr>
          </a:p>
          <a:p>
            <a:pPr algn="just"/>
            <a:r>
              <a:rPr lang="en-US" altLang="zh-CN" sz="2800" b="1">
                <a:latin typeface="宋体" panose="02010600030101010101" pitchFamily="2" charset="-122"/>
              </a:rPr>
              <a:t>    ADD   A,B      </a:t>
            </a:r>
            <a:r>
              <a:rPr lang="zh-CN" altLang="en-US" sz="2800" b="1">
                <a:latin typeface="宋体" panose="02010600030101010101" pitchFamily="2" charset="-122"/>
              </a:rPr>
              <a:t>；</a:t>
            </a:r>
            <a:r>
              <a:rPr lang="en-US" altLang="zh-CN" sz="2800" b="1">
                <a:solidFill>
                  <a:srgbClr val="FF0000"/>
                </a:solidFill>
                <a:latin typeface="宋体" panose="02010600030101010101" pitchFamily="2" charset="-122"/>
              </a:rPr>
              <a:t>1T</a:t>
            </a:r>
            <a:endParaRPr lang="en-US" altLang="zh-CN" sz="2800" b="1">
              <a:solidFill>
                <a:srgbClr val="FF0000"/>
              </a:solidFill>
            </a:endParaRPr>
          </a:p>
          <a:p>
            <a:pPr algn="just"/>
            <a:r>
              <a:rPr lang="en-US" altLang="zh-CN" b="1">
                <a:solidFill>
                  <a:schemeClr val="folHlink"/>
                </a:solidFill>
                <a:latin typeface="宋体" panose="02010600030101010101" pitchFamily="2" charset="-122"/>
              </a:rPr>
              <a:t>done</a:t>
            </a:r>
            <a:r>
              <a:rPr lang="en-US" altLang="zh-CN" b="1">
                <a:latin typeface="宋体" panose="02010600030101010101" pitchFamily="2" charset="-122"/>
              </a:rPr>
              <a:t>:</a:t>
            </a:r>
            <a:r>
              <a:rPr lang="en-US" altLang="zh-CN" sz="2800" b="1">
                <a:latin typeface="宋体" panose="02010600030101010101" pitchFamily="2" charset="-122"/>
              </a:rPr>
              <a:t>STH   B,@y</a:t>
            </a:r>
            <a:endParaRPr lang="en-US" altLang="zh-CN" sz="2800" b="1"/>
          </a:p>
          <a:p>
            <a:pPr algn="just"/>
            <a:r>
              <a:rPr lang="en-US" altLang="zh-CN" sz="2800" b="1">
                <a:latin typeface="宋体" panose="02010600030101010101" pitchFamily="2" charset="-122"/>
              </a:rPr>
              <a:t>    STL   B,@y+1</a:t>
            </a:r>
            <a:endParaRPr lang="en-US" altLang="zh-CN" sz="2800" b="1"/>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4626"/>
                                        </p:tgtEl>
                                        <p:attrNameLst>
                                          <p:attrName>style.visibility</p:attrName>
                                        </p:attrNameLst>
                                      </p:cBhvr>
                                      <p:to>
                                        <p:strVal val="visible"/>
                                      </p:to>
                                    </p:set>
                                    <p:animEffect transition="in" filter="blinds(horizontal)">
                                      <p:cBhvr>
                                        <p:cTn id="7" dur="500"/>
                                        <p:tgtEl>
                                          <p:spTgt spid="794626"/>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94627"/>
                                        </p:tgtEl>
                                        <p:attrNameLst>
                                          <p:attrName>style.visibility</p:attrName>
                                        </p:attrNameLst>
                                      </p:cBhvr>
                                      <p:to>
                                        <p:strVal val="visible"/>
                                      </p:to>
                                    </p:set>
                                    <p:animEffect transition="in" filter="blinds(horizontal)">
                                      <p:cBhvr>
                                        <p:cTn id="11" dur="500"/>
                                        <p:tgtEl>
                                          <p:spTgt spid="794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26" grpId="0" animBg="1"/>
      <p:bldP spid="7946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3AFD2429-F3FE-413B-B2FA-A4F1FDF618BA}" type="slidenum">
              <a:rPr lang="en-US" altLang="zh-CN" sz="1400"/>
              <a:pPr eaLnBrk="1" hangingPunct="1"/>
              <a:t>15</a:t>
            </a:fld>
            <a:endParaRPr lang="en-US" altLang="zh-CN" sz="1400"/>
          </a:p>
        </p:txBody>
      </p:sp>
      <p:sp>
        <p:nvSpPr>
          <p:cNvPr id="795650" name="Rectangle 2"/>
          <p:cNvSpPr>
            <a:spLocks noChangeArrowheads="1"/>
          </p:cNvSpPr>
          <p:nvPr/>
        </p:nvSpPr>
        <p:spPr bwMode="auto">
          <a:xfrm>
            <a:off x="2411413" y="1628775"/>
            <a:ext cx="5257800" cy="955675"/>
          </a:xfrm>
          <a:prstGeom prst="rect">
            <a:avLst/>
          </a:prstGeom>
          <a:solidFill>
            <a:srgbClr val="FFCCFF"/>
          </a:solidFill>
          <a:ln w="9525">
            <a:solidFill>
              <a:schemeClr val="tx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cs typeface="Times New Roman" panose="02020603050405020304" pitchFamily="18" charset="0"/>
              </a:rPr>
              <a:t>在单个周期内同时利用</a:t>
            </a:r>
            <a:r>
              <a:rPr lang="en-US" altLang="zh-CN" sz="2800" b="1">
                <a:latin typeface="宋体" panose="02010600030101010101" pitchFamily="2" charset="-122"/>
                <a:cs typeface="Times New Roman" panose="02020603050405020304" pitchFamily="18" charset="0"/>
              </a:rPr>
              <a:t>C</a:t>
            </a:r>
            <a:r>
              <a:rPr lang="zh-CN" altLang="en-US" sz="2800" b="1">
                <a:latin typeface="宋体" panose="02010600030101010101" pitchFamily="2" charset="-122"/>
                <a:cs typeface="Times New Roman" panose="02020603050405020304" pitchFamily="18" charset="0"/>
              </a:rPr>
              <a:t>总线和</a:t>
            </a:r>
            <a:r>
              <a:rPr lang="en-US" altLang="zh-CN" sz="2800" b="1">
                <a:latin typeface="宋体" panose="02010600030101010101" pitchFamily="2" charset="-122"/>
                <a:cs typeface="Times New Roman" panose="02020603050405020304" pitchFamily="18" charset="0"/>
              </a:rPr>
              <a:t>D</a:t>
            </a:r>
            <a:r>
              <a:rPr lang="zh-CN" altLang="en-US" sz="2800" b="1">
                <a:latin typeface="宋体" panose="02010600030101010101" pitchFamily="2" charset="-122"/>
                <a:cs typeface="Times New Roman" panose="02020603050405020304" pitchFamily="18" charset="0"/>
              </a:rPr>
              <a:t>总线，得到</a:t>
            </a:r>
            <a:r>
              <a:rPr lang="en-US" altLang="zh-CN" sz="2800" b="1">
                <a:latin typeface="宋体" panose="02010600030101010101" pitchFamily="2" charset="-122"/>
                <a:cs typeface="Times New Roman" panose="02020603050405020304" pitchFamily="18" charset="0"/>
              </a:rPr>
              <a:t>32</a:t>
            </a:r>
            <a:r>
              <a:rPr lang="zh-CN" altLang="en-US" sz="2800" b="1">
                <a:latin typeface="宋体" panose="02010600030101010101" pitchFamily="2" charset="-122"/>
                <a:cs typeface="Times New Roman" panose="02020603050405020304" pitchFamily="18" charset="0"/>
              </a:rPr>
              <a:t>位操作数。 </a:t>
            </a:r>
          </a:p>
        </p:txBody>
      </p:sp>
      <p:sp>
        <p:nvSpPr>
          <p:cNvPr id="795651" name="Rectangle 3" descr="小棋盘"/>
          <p:cNvSpPr>
            <a:spLocks noChangeArrowheads="1"/>
          </p:cNvSpPr>
          <p:nvPr/>
        </p:nvSpPr>
        <p:spPr bwMode="auto">
          <a:xfrm>
            <a:off x="3132138" y="981075"/>
            <a:ext cx="31242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5</a:t>
            </a:r>
            <a:r>
              <a:rPr lang="zh-CN" altLang="en-US" sz="3200" b="1">
                <a:solidFill>
                  <a:srgbClr val="FF0000"/>
                </a:solidFill>
                <a:latin typeface="宋体" panose="02010600030101010101" pitchFamily="2" charset="-122"/>
                <a:ea typeface="仿宋_GB2312" pitchFamily="49" charset="-122"/>
              </a:rPr>
              <a:t>．长字运算</a:t>
            </a:r>
            <a:r>
              <a:rPr lang="zh-CN" altLang="en-US" sz="2800" b="1">
                <a:solidFill>
                  <a:srgbClr val="FF0000"/>
                </a:solidFill>
                <a:latin typeface="宋体" panose="02010600030101010101" pitchFamily="2" charset="-122"/>
                <a:ea typeface="仿宋_GB2312" pitchFamily="49" charset="-122"/>
              </a:rPr>
              <a:t> </a:t>
            </a:r>
          </a:p>
        </p:txBody>
      </p:sp>
      <p:sp>
        <p:nvSpPr>
          <p:cNvPr id="795652" name="Rectangle 4" descr="小棋盘"/>
          <p:cNvSpPr>
            <a:spLocks noChangeArrowheads="1"/>
          </p:cNvSpPr>
          <p:nvPr/>
        </p:nvSpPr>
        <p:spPr bwMode="auto">
          <a:xfrm>
            <a:off x="971550" y="1628775"/>
            <a:ext cx="576263" cy="95567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特</a:t>
            </a:r>
          </a:p>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点</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795653" name="Rectangle 5"/>
          <p:cNvSpPr>
            <a:spLocks noChangeArrowheads="1"/>
          </p:cNvSpPr>
          <p:nvPr/>
        </p:nvSpPr>
        <p:spPr bwMode="auto">
          <a:xfrm>
            <a:off x="228600" y="2667000"/>
            <a:ext cx="86106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dirty="0">
                <a:latin typeface="宋体" panose="02010600030101010101" pitchFamily="2" charset="-122"/>
              </a:rPr>
              <a:t>使用长操作数指令时，</a:t>
            </a:r>
            <a:r>
              <a:rPr lang="zh-CN" altLang="en-US" sz="2800" b="1" dirty="0">
                <a:solidFill>
                  <a:schemeClr val="accent6">
                    <a:lumMod val="50000"/>
                  </a:schemeClr>
                </a:solidFill>
                <a:latin typeface="宋体" panose="02010600030101010101" pitchFamily="2" charset="-122"/>
              </a:rPr>
              <a:t>按指令中给出的地址存取的总是高</a:t>
            </a:r>
            <a:r>
              <a:rPr lang="en-US" altLang="zh-CN" sz="2800" b="1" dirty="0">
                <a:solidFill>
                  <a:schemeClr val="accent6">
                    <a:lumMod val="50000"/>
                  </a:schemeClr>
                </a:solidFill>
                <a:latin typeface="宋体" panose="02010600030101010101" pitchFamily="2" charset="-122"/>
              </a:rPr>
              <a:t>16</a:t>
            </a:r>
            <a:r>
              <a:rPr lang="zh-CN" altLang="en-US" sz="2800" b="1" dirty="0">
                <a:solidFill>
                  <a:schemeClr val="accent6">
                    <a:lumMod val="50000"/>
                  </a:schemeClr>
                </a:solidFill>
                <a:latin typeface="宋体" panose="02010600030101010101" pitchFamily="2" charset="-122"/>
              </a:rPr>
              <a:t>位操作数。</a:t>
            </a:r>
            <a:r>
              <a:rPr lang="zh-CN" altLang="en-US" sz="2800" b="1" dirty="0">
                <a:latin typeface="宋体" panose="02010600030101010101" pitchFamily="2" charset="-122"/>
              </a:rPr>
              <a:t>这样，有两种数据排列方法：</a:t>
            </a:r>
          </a:p>
          <a:p>
            <a:pPr algn="just" eaLnBrk="1" hangingPunct="1"/>
            <a:r>
              <a:rPr lang="zh-CN" altLang="en-US" sz="2800" b="1" dirty="0">
                <a:solidFill>
                  <a:srgbClr val="FF00FF"/>
                </a:solidFill>
                <a:latin typeface="宋体" panose="02010600030101010101" pitchFamily="2" charset="-122"/>
              </a:rPr>
              <a:t>（</a:t>
            </a:r>
            <a:r>
              <a:rPr lang="en-US" altLang="zh-CN" sz="2800" b="1" dirty="0">
                <a:solidFill>
                  <a:srgbClr val="FF00FF"/>
                </a:solidFill>
                <a:latin typeface="宋体" panose="02010600030101010101" pitchFamily="2" charset="-122"/>
              </a:rPr>
              <a:t>1</a:t>
            </a:r>
            <a:r>
              <a:rPr lang="zh-CN" altLang="en-US" sz="2800" b="1" dirty="0">
                <a:solidFill>
                  <a:srgbClr val="FF00FF"/>
                </a:solidFill>
                <a:latin typeface="宋体" panose="02010600030101010101" pitchFamily="2" charset="-122"/>
              </a:rPr>
              <a:t>）偶地址排列法</a:t>
            </a:r>
            <a:r>
              <a:rPr lang="zh-CN" altLang="en-US" sz="2800" b="1" dirty="0">
                <a:latin typeface="宋体" panose="02010600030101010101" pitchFamily="2" charset="-122"/>
              </a:rPr>
              <a:t>  </a:t>
            </a:r>
            <a:r>
              <a:rPr lang="zh-CN" altLang="en-US" sz="2800" b="1" dirty="0">
                <a:solidFill>
                  <a:schemeClr val="tx2"/>
                </a:solidFill>
                <a:latin typeface="宋体" panose="02010600030101010101" pitchFamily="2" charset="-122"/>
              </a:rPr>
              <a:t>指令中给出的地址为偶地址，存储器中低地址存放高</a:t>
            </a:r>
            <a:r>
              <a:rPr lang="en-US" altLang="zh-CN" sz="2800" b="1" dirty="0">
                <a:solidFill>
                  <a:schemeClr val="tx2"/>
                </a:solidFill>
                <a:latin typeface="宋体" panose="02010600030101010101" pitchFamily="2" charset="-122"/>
              </a:rPr>
              <a:t>16</a:t>
            </a:r>
            <a:r>
              <a:rPr lang="zh-CN" altLang="en-US" sz="2800" b="1" dirty="0">
                <a:solidFill>
                  <a:schemeClr val="tx2"/>
                </a:solidFill>
                <a:latin typeface="宋体" panose="02010600030101010101" pitchFamily="2" charset="-122"/>
              </a:rPr>
              <a:t>位操作数。</a:t>
            </a:r>
          </a:p>
          <a:p>
            <a:pPr algn="just" eaLnBrk="1" hangingPunct="1"/>
            <a:r>
              <a:rPr lang="zh-CN" altLang="en-US" sz="2800" b="1" dirty="0">
                <a:latin typeface="宋体" panose="02010600030101010101" pitchFamily="2" charset="-122"/>
              </a:rPr>
              <a:t>如：    </a:t>
            </a:r>
            <a:r>
              <a:rPr lang="en-US" altLang="zh-CN" sz="2800" b="1" dirty="0">
                <a:latin typeface="宋体" panose="02010600030101010101" pitchFamily="2" charset="-122"/>
              </a:rPr>
              <a:t>DLD  *AR3+,A</a:t>
            </a:r>
          </a:p>
          <a:p>
            <a:pPr algn="just" eaLnBrk="1" hangingPunct="1"/>
            <a:r>
              <a:rPr lang="zh-CN" altLang="en-US" sz="2800" b="1" dirty="0">
                <a:latin typeface="宋体" panose="02010600030101010101" pitchFamily="2" charset="-122"/>
              </a:rPr>
              <a:t>执行前：</a:t>
            </a:r>
            <a:r>
              <a:rPr lang="en-US" altLang="zh-CN" sz="2800" b="1" dirty="0">
                <a:latin typeface="宋体" panose="02010600030101010101" pitchFamily="2" charset="-122"/>
              </a:rPr>
              <a:t>A=00 0000 0000 </a:t>
            </a:r>
            <a:r>
              <a:rPr lang="zh-CN" altLang="en-US" sz="2800" b="1" dirty="0">
                <a:latin typeface="宋体" panose="02010600030101010101" pitchFamily="2" charset="-122"/>
              </a:rPr>
              <a:t>执行后：</a:t>
            </a:r>
            <a:r>
              <a:rPr lang="en-US" altLang="zh-CN" sz="2800" b="1" dirty="0">
                <a:latin typeface="宋体" panose="02010600030101010101" pitchFamily="2" charset="-122"/>
              </a:rPr>
              <a:t>A=00 </a:t>
            </a:r>
            <a:r>
              <a:rPr lang="en-US" altLang="zh-CN" sz="2800" b="1" dirty="0">
                <a:solidFill>
                  <a:schemeClr val="tx2"/>
                </a:solidFill>
                <a:latin typeface="宋体" panose="02010600030101010101" pitchFamily="2" charset="-122"/>
              </a:rPr>
              <a:t>6CAC</a:t>
            </a:r>
            <a:r>
              <a:rPr lang="en-US" altLang="zh-CN" sz="2800" b="1" dirty="0">
                <a:latin typeface="宋体" panose="02010600030101010101" pitchFamily="2" charset="-122"/>
              </a:rPr>
              <a:t> </a:t>
            </a:r>
            <a:r>
              <a:rPr lang="en-US" altLang="zh-CN" sz="2800" b="1" dirty="0">
                <a:solidFill>
                  <a:srgbClr val="FF9900"/>
                </a:solidFill>
                <a:latin typeface="宋体" panose="02010600030101010101" pitchFamily="2" charset="-122"/>
              </a:rPr>
              <a:t>BD90</a:t>
            </a:r>
          </a:p>
          <a:p>
            <a:pPr algn="just" eaLnBrk="1" hangingPunct="1"/>
            <a:r>
              <a:rPr lang="en-US" altLang="zh-CN" sz="2800" b="1" dirty="0">
                <a:latin typeface="宋体" panose="02010600030101010101" pitchFamily="2" charset="-122"/>
              </a:rPr>
              <a:t>       </a:t>
            </a:r>
            <a:r>
              <a:rPr lang="en-US" altLang="zh-CN" sz="2800" b="1" dirty="0">
                <a:solidFill>
                  <a:srgbClr val="FF0000"/>
                </a:solidFill>
                <a:latin typeface="宋体" panose="02010600030101010101" pitchFamily="2" charset="-122"/>
              </a:rPr>
              <a:t> AR3=0100</a:t>
            </a:r>
            <a:r>
              <a:rPr lang="en-US" altLang="zh-CN" sz="2800" b="1" dirty="0">
                <a:solidFill>
                  <a:srgbClr val="FF6600"/>
                </a:solidFill>
                <a:latin typeface="宋体" panose="02010600030101010101" pitchFamily="2" charset="-122"/>
              </a:rPr>
              <a:t>              </a:t>
            </a:r>
            <a:r>
              <a:rPr lang="en-US" altLang="zh-CN" sz="2800" b="1" dirty="0">
                <a:latin typeface="宋体" panose="02010600030101010101" pitchFamily="2" charset="-122"/>
              </a:rPr>
              <a:t> </a:t>
            </a:r>
            <a:r>
              <a:rPr lang="en-US" altLang="zh-CN" sz="2800" b="1" dirty="0">
                <a:solidFill>
                  <a:srgbClr val="FF00FF"/>
                </a:solidFill>
                <a:latin typeface="宋体" panose="02010600030101010101" pitchFamily="2" charset="-122"/>
              </a:rPr>
              <a:t>AR3=0102</a:t>
            </a:r>
          </a:p>
          <a:p>
            <a:pPr algn="just" eaLnBrk="1" hangingPunct="1"/>
            <a:r>
              <a:rPr lang="en-US" altLang="zh-CN" sz="2800" b="1" dirty="0">
                <a:latin typeface="宋体" panose="02010600030101010101" pitchFamily="2" charset="-122"/>
              </a:rPr>
              <a:t>       </a:t>
            </a:r>
            <a:r>
              <a:rPr lang="zh-CN" altLang="en-US" sz="2800" b="1" dirty="0">
                <a:latin typeface="宋体" panose="02010600030101010101" pitchFamily="2" charset="-122"/>
              </a:rPr>
              <a:t>（</a:t>
            </a:r>
            <a:r>
              <a:rPr lang="en-US" altLang="zh-CN" sz="2800" b="1" dirty="0">
                <a:latin typeface="宋体" panose="02010600030101010101" pitchFamily="2" charset="-122"/>
              </a:rPr>
              <a:t>0100h</a:t>
            </a:r>
            <a:r>
              <a:rPr lang="zh-CN" altLang="en-US" sz="2800" b="1" dirty="0">
                <a:latin typeface="宋体" panose="02010600030101010101" pitchFamily="2" charset="-122"/>
              </a:rPr>
              <a:t>）</a:t>
            </a:r>
            <a:r>
              <a:rPr lang="en-US" altLang="zh-CN" sz="2800" b="1" dirty="0">
                <a:latin typeface="宋体" panose="02010600030101010101" pitchFamily="2" charset="-122"/>
              </a:rPr>
              <a:t>=</a:t>
            </a:r>
            <a:r>
              <a:rPr lang="en-US" altLang="zh-CN" sz="2800" b="1" dirty="0">
                <a:solidFill>
                  <a:schemeClr val="tx2"/>
                </a:solidFill>
                <a:latin typeface="宋体" panose="02010600030101010101" pitchFamily="2" charset="-122"/>
              </a:rPr>
              <a:t>6CAC</a:t>
            </a:r>
            <a:r>
              <a:rPr lang="zh-CN" altLang="en-US" sz="2800" b="1" dirty="0">
                <a:latin typeface="宋体" panose="02010600030101010101" pitchFamily="2" charset="-122"/>
              </a:rPr>
              <a:t>（高字） （</a:t>
            </a:r>
            <a:r>
              <a:rPr lang="en-US" altLang="zh-CN" sz="2800" b="1" dirty="0">
                <a:latin typeface="宋体" panose="02010600030101010101" pitchFamily="2" charset="-122"/>
              </a:rPr>
              <a:t>0100h</a:t>
            </a:r>
            <a:r>
              <a:rPr lang="zh-CN" altLang="en-US" sz="2800" b="1" dirty="0">
                <a:latin typeface="宋体" panose="02010600030101010101" pitchFamily="2" charset="-122"/>
              </a:rPr>
              <a:t>）</a:t>
            </a:r>
            <a:r>
              <a:rPr lang="en-US" altLang="zh-CN" sz="2800" b="1" dirty="0">
                <a:latin typeface="宋体" panose="02010600030101010101" pitchFamily="2" charset="-122"/>
              </a:rPr>
              <a:t>=6CAC</a:t>
            </a:r>
          </a:p>
          <a:p>
            <a:pPr algn="just" eaLnBrk="1" hangingPunct="1"/>
            <a:r>
              <a:rPr lang="en-US" altLang="zh-CN" sz="2800" b="1" dirty="0">
                <a:latin typeface="宋体" panose="02010600030101010101" pitchFamily="2" charset="-122"/>
              </a:rPr>
              <a:t>       </a:t>
            </a:r>
            <a:r>
              <a:rPr lang="zh-CN" altLang="en-US" sz="2800" b="1" dirty="0">
                <a:latin typeface="宋体" panose="02010600030101010101" pitchFamily="2" charset="-122"/>
              </a:rPr>
              <a:t>（</a:t>
            </a:r>
            <a:r>
              <a:rPr lang="en-US" altLang="zh-CN" sz="2800" b="1" dirty="0">
                <a:latin typeface="宋体" panose="02010600030101010101" pitchFamily="2" charset="-122"/>
              </a:rPr>
              <a:t>0101h</a:t>
            </a:r>
            <a:r>
              <a:rPr lang="zh-CN" altLang="en-US" sz="2800" b="1" dirty="0">
                <a:latin typeface="宋体" panose="02010600030101010101" pitchFamily="2" charset="-122"/>
              </a:rPr>
              <a:t>）</a:t>
            </a:r>
            <a:r>
              <a:rPr lang="en-US" altLang="zh-CN" sz="2800" b="1" dirty="0">
                <a:latin typeface="宋体" panose="02010600030101010101" pitchFamily="2" charset="-122"/>
              </a:rPr>
              <a:t>=</a:t>
            </a:r>
            <a:r>
              <a:rPr lang="en-US" altLang="zh-CN" sz="2800" b="1" dirty="0">
                <a:solidFill>
                  <a:srgbClr val="FF9900"/>
                </a:solidFill>
                <a:latin typeface="宋体" panose="02010600030101010101" pitchFamily="2" charset="-122"/>
              </a:rPr>
              <a:t>BD90</a:t>
            </a:r>
            <a:r>
              <a:rPr lang="zh-CN" altLang="en-US" sz="2800" b="1" dirty="0">
                <a:latin typeface="宋体" panose="02010600030101010101" pitchFamily="2" charset="-122"/>
              </a:rPr>
              <a:t>（低字） （</a:t>
            </a:r>
            <a:r>
              <a:rPr lang="en-US" altLang="zh-CN" sz="2800" b="1" dirty="0">
                <a:latin typeface="宋体" panose="02010600030101010101" pitchFamily="2" charset="-122"/>
              </a:rPr>
              <a:t>0101h</a:t>
            </a:r>
            <a:r>
              <a:rPr lang="zh-CN" altLang="en-US" sz="2800" b="1" dirty="0">
                <a:latin typeface="宋体" panose="02010600030101010101" pitchFamily="2" charset="-122"/>
              </a:rPr>
              <a:t>）</a:t>
            </a:r>
            <a:r>
              <a:rPr lang="en-US" altLang="zh-CN" sz="2800" b="1" dirty="0">
                <a:latin typeface="宋体" panose="02010600030101010101" pitchFamily="2" charset="-122"/>
              </a:rPr>
              <a:t>=BD90</a:t>
            </a:r>
          </a:p>
        </p:txBody>
      </p:sp>
      <p:sp>
        <p:nvSpPr>
          <p:cNvPr id="28679" name="Line 6"/>
          <p:cNvSpPr>
            <a:spLocks noChangeShapeType="1"/>
          </p:cNvSpPr>
          <p:nvPr/>
        </p:nvSpPr>
        <p:spPr bwMode="auto">
          <a:xfrm flipV="1">
            <a:off x="3779838" y="5229225"/>
            <a:ext cx="2879725" cy="504825"/>
          </a:xfrm>
          <a:prstGeom prst="line">
            <a:avLst/>
          </a:prstGeom>
          <a:noFill/>
          <a:ln w="38100">
            <a:solidFill>
              <a:schemeClr val="bg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680" name="Line 7"/>
          <p:cNvSpPr>
            <a:spLocks noChangeShapeType="1"/>
          </p:cNvSpPr>
          <p:nvPr/>
        </p:nvSpPr>
        <p:spPr bwMode="auto">
          <a:xfrm flipV="1">
            <a:off x="4211638" y="5300663"/>
            <a:ext cx="3673475" cy="938212"/>
          </a:xfrm>
          <a:prstGeom prst="line">
            <a:avLst/>
          </a:prstGeom>
          <a:noFill/>
          <a:ln w="38100">
            <a:solidFill>
              <a:srgbClr val="FF00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681" name="Line 8"/>
          <p:cNvSpPr>
            <a:spLocks noChangeShapeType="1"/>
          </p:cNvSpPr>
          <p:nvPr/>
        </p:nvSpPr>
        <p:spPr bwMode="auto">
          <a:xfrm flipV="1">
            <a:off x="4356100" y="4437063"/>
            <a:ext cx="0" cy="1223962"/>
          </a:xfrm>
          <a:prstGeom prst="line">
            <a:avLst/>
          </a:prstGeom>
          <a:noFill/>
          <a:ln w="38100">
            <a:solidFill>
              <a:srgbClr val="FF00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2" name="Line 9"/>
          <p:cNvSpPr>
            <a:spLocks noChangeShapeType="1"/>
          </p:cNvSpPr>
          <p:nvPr/>
        </p:nvSpPr>
        <p:spPr bwMode="auto">
          <a:xfrm flipV="1">
            <a:off x="4140200" y="5229225"/>
            <a:ext cx="2592388" cy="576263"/>
          </a:xfrm>
          <a:prstGeom prst="line">
            <a:avLst/>
          </a:prstGeom>
          <a:noFill/>
          <a:ln w="38100">
            <a:solidFill>
              <a:schemeClr val="tx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683" name="AutoShape 10"/>
          <p:cNvSpPr>
            <a:spLocks noChangeArrowheads="1"/>
          </p:cNvSpPr>
          <p:nvPr/>
        </p:nvSpPr>
        <p:spPr bwMode="auto">
          <a:xfrm>
            <a:off x="5867400" y="4076700"/>
            <a:ext cx="3024188" cy="431800"/>
          </a:xfrm>
          <a:prstGeom prst="wedgeRoundRectCallout">
            <a:avLst>
              <a:gd name="adj1" fmla="val -131731"/>
              <a:gd name="adj2" fmla="val 52574"/>
              <a:gd name="adj3" fmla="val 16667"/>
            </a:avLst>
          </a:prstGeom>
          <a:solidFill>
            <a:schemeClr val="accent1"/>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0000"/>
                </a:solidFill>
              </a:rPr>
              <a:t>总是高</a:t>
            </a:r>
            <a:r>
              <a:rPr lang="en-US" altLang="zh-CN" b="1">
                <a:solidFill>
                  <a:srgbClr val="FF0000"/>
                </a:solidFill>
              </a:rPr>
              <a:t>16</a:t>
            </a:r>
            <a:r>
              <a:rPr lang="zh-CN" altLang="en-US" b="1">
                <a:solidFill>
                  <a:srgbClr val="FF0000"/>
                </a:solidFill>
              </a:rPr>
              <a:t>位操作数</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95651"/>
                                        </p:tgtEl>
                                        <p:attrNameLst>
                                          <p:attrName>style.visibility</p:attrName>
                                        </p:attrNameLst>
                                      </p:cBhvr>
                                      <p:to>
                                        <p:strVal val="visible"/>
                                      </p:to>
                                    </p:set>
                                    <p:animEffect transition="in" filter="slide(fromTop)">
                                      <p:cBhvr>
                                        <p:cTn id="7" dur="500"/>
                                        <p:tgtEl>
                                          <p:spTgt spid="795651"/>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795652"/>
                                        </p:tgtEl>
                                        <p:attrNameLst>
                                          <p:attrName>style.visibility</p:attrName>
                                        </p:attrNameLst>
                                      </p:cBhvr>
                                      <p:to>
                                        <p:strVal val="visible"/>
                                      </p:to>
                                    </p:set>
                                    <p:animEffect transition="in" filter="slide(fromLeft)">
                                      <p:cBhvr>
                                        <p:cTn id="11" dur="500"/>
                                        <p:tgtEl>
                                          <p:spTgt spid="795652"/>
                                        </p:tgtEl>
                                      </p:cBhvr>
                                    </p:animEffect>
                                  </p:childTnLst>
                                </p:cTn>
                              </p:par>
                            </p:childTnLst>
                          </p:cTn>
                        </p:par>
                        <p:par>
                          <p:cTn id="12" fill="hold" nodeType="afterGroup">
                            <p:stCondLst>
                              <p:cond delay="1000"/>
                            </p:stCondLst>
                            <p:childTnLst>
                              <p:par>
                                <p:cTn id="13" presetID="12" presetClass="entr" presetSubtype="2" fill="hold" grpId="0" nodeType="afterEffect">
                                  <p:stCondLst>
                                    <p:cond delay="0"/>
                                  </p:stCondLst>
                                  <p:childTnLst>
                                    <p:set>
                                      <p:cBhvr>
                                        <p:cTn id="14" dur="1" fill="hold">
                                          <p:stCondLst>
                                            <p:cond delay="0"/>
                                          </p:stCondLst>
                                        </p:cTn>
                                        <p:tgtEl>
                                          <p:spTgt spid="795650"/>
                                        </p:tgtEl>
                                        <p:attrNameLst>
                                          <p:attrName>style.visibility</p:attrName>
                                        </p:attrNameLst>
                                      </p:cBhvr>
                                      <p:to>
                                        <p:strVal val="visible"/>
                                      </p:to>
                                    </p:set>
                                    <p:animEffect transition="in" filter="slide(fromRight)">
                                      <p:cBhvr>
                                        <p:cTn id="15" dur="500"/>
                                        <p:tgtEl>
                                          <p:spTgt spid="795650"/>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795653"/>
                                        </p:tgtEl>
                                        <p:attrNameLst>
                                          <p:attrName>style.visibility</p:attrName>
                                        </p:attrNameLst>
                                      </p:cBhvr>
                                      <p:to>
                                        <p:strVal val="visible"/>
                                      </p:to>
                                    </p:set>
                                    <p:animEffect transition="in" filter="blinds(horizontal)">
                                      <p:cBhvr>
                                        <p:cTn id="19" dur="500"/>
                                        <p:tgtEl>
                                          <p:spTgt spid="79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50" grpId="0" animBg="1"/>
      <p:bldP spid="795651" grpId="0" animBg="1"/>
      <p:bldP spid="795652" grpId="0" animBg="1"/>
      <p:bldP spid="7956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CCAC4AC5-373A-4F6B-AA9E-65736B6303E0}" type="slidenum">
              <a:rPr lang="en-US" altLang="zh-CN" sz="1400"/>
              <a:pPr eaLnBrk="1" hangingPunct="1"/>
              <a:t>16</a:t>
            </a:fld>
            <a:endParaRPr lang="en-US" altLang="zh-CN" sz="1400"/>
          </a:p>
        </p:txBody>
      </p:sp>
      <p:sp>
        <p:nvSpPr>
          <p:cNvPr id="796674" name="Rectangle 2"/>
          <p:cNvSpPr>
            <a:spLocks noChangeArrowheads="1"/>
          </p:cNvSpPr>
          <p:nvPr/>
        </p:nvSpPr>
        <p:spPr bwMode="auto">
          <a:xfrm>
            <a:off x="250825" y="981075"/>
            <a:ext cx="8610600" cy="570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5000"/>
              </a:lnSpc>
              <a:spcBef>
                <a:spcPct val="20000"/>
              </a:spcBef>
            </a:pPr>
            <a:r>
              <a:rPr lang="zh-CN" altLang="en-US" b="1">
                <a:solidFill>
                  <a:srgbClr val="FF00FF"/>
                </a:solidFill>
                <a:latin typeface="宋体" panose="02010600030101010101" pitchFamily="2" charset="-122"/>
              </a:rPr>
              <a:t>（</a:t>
            </a:r>
            <a:r>
              <a:rPr lang="en-US" altLang="zh-CN" b="1">
                <a:solidFill>
                  <a:srgbClr val="FF00FF"/>
                </a:solidFill>
                <a:latin typeface="宋体" panose="02010600030101010101" pitchFamily="2" charset="-122"/>
              </a:rPr>
              <a:t>2</a:t>
            </a:r>
            <a:r>
              <a:rPr lang="zh-CN" altLang="en-US" b="1">
                <a:solidFill>
                  <a:srgbClr val="FF00FF"/>
                </a:solidFill>
                <a:latin typeface="宋体" panose="02010600030101010101" pitchFamily="2" charset="-122"/>
              </a:rPr>
              <a:t>）奇地址排列法</a:t>
            </a:r>
            <a:r>
              <a:rPr lang="zh-CN" altLang="en-US" b="1">
                <a:latin typeface="宋体" panose="02010600030101010101" pitchFamily="2" charset="-122"/>
              </a:rPr>
              <a:t>  </a:t>
            </a:r>
            <a:r>
              <a:rPr lang="zh-CN" altLang="en-US" b="1">
                <a:solidFill>
                  <a:schemeClr val="tx2"/>
                </a:solidFill>
                <a:latin typeface="宋体" panose="02010600030101010101" pitchFamily="2" charset="-122"/>
              </a:rPr>
              <a:t>指令中给出的地址为奇地址，存储器中低地址存放低</a:t>
            </a:r>
            <a:r>
              <a:rPr lang="en-US" altLang="zh-CN" b="1">
                <a:solidFill>
                  <a:schemeClr val="tx2"/>
                </a:solidFill>
                <a:latin typeface="宋体" panose="02010600030101010101" pitchFamily="2" charset="-122"/>
              </a:rPr>
              <a:t>16</a:t>
            </a:r>
            <a:r>
              <a:rPr lang="zh-CN" altLang="en-US" b="1">
                <a:solidFill>
                  <a:schemeClr val="tx2"/>
                </a:solidFill>
                <a:latin typeface="宋体" panose="02010600030101010101" pitchFamily="2" charset="-122"/>
              </a:rPr>
              <a:t>位操作数。</a:t>
            </a:r>
          </a:p>
          <a:p>
            <a:pPr algn="just" eaLnBrk="1" hangingPunct="1">
              <a:lnSpc>
                <a:spcPct val="85000"/>
              </a:lnSpc>
              <a:spcBef>
                <a:spcPct val="20000"/>
              </a:spcBef>
            </a:pPr>
            <a:r>
              <a:rPr lang="zh-CN" altLang="en-US" b="1">
                <a:latin typeface="宋体" panose="02010600030101010101" pitchFamily="2" charset="-122"/>
              </a:rPr>
              <a:t>如：    </a:t>
            </a:r>
            <a:r>
              <a:rPr lang="en-US" altLang="zh-CN" b="1">
                <a:latin typeface="宋体" panose="02010600030101010101" pitchFamily="2" charset="-122"/>
              </a:rPr>
              <a:t>DLD  *AR3-,A</a:t>
            </a:r>
          </a:p>
          <a:p>
            <a:pPr algn="just" eaLnBrk="1" hangingPunct="1">
              <a:lnSpc>
                <a:spcPct val="85000"/>
              </a:lnSpc>
              <a:spcBef>
                <a:spcPct val="20000"/>
              </a:spcBef>
            </a:pPr>
            <a:r>
              <a:rPr lang="zh-CN" altLang="en-US" b="1">
                <a:latin typeface="宋体" panose="02010600030101010101" pitchFamily="2" charset="-122"/>
              </a:rPr>
              <a:t>执行前：</a:t>
            </a:r>
            <a:r>
              <a:rPr lang="en-US" altLang="zh-CN" b="1">
                <a:latin typeface="宋体" panose="02010600030101010101" pitchFamily="2" charset="-122"/>
              </a:rPr>
              <a:t>A=00 0000 0000 </a:t>
            </a:r>
            <a:r>
              <a:rPr lang="zh-CN" altLang="en-US" b="1">
                <a:latin typeface="宋体" panose="02010600030101010101" pitchFamily="2" charset="-122"/>
              </a:rPr>
              <a:t>执行后：</a:t>
            </a:r>
            <a:r>
              <a:rPr lang="en-US" altLang="zh-CN" b="1">
                <a:latin typeface="宋体" panose="02010600030101010101" pitchFamily="2" charset="-122"/>
              </a:rPr>
              <a:t>A=00 </a:t>
            </a:r>
            <a:r>
              <a:rPr lang="en-US" altLang="zh-CN" b="1">
                <a:solidFill>
                  <a:schemeClr val="tx2"/>
                </a:solidFill>
                <a:latin typeface="宋体" panose="02010600030101010101" pitchFamily="2" charset="-122"/>
              </a:rPr>
              <a:t>BD90</a:t>
            </a:r>
            <a:r>
              <a:rPr lang="en-US" altLang="zh-CN" b="1">
                <a:latin typeface="宋体" panose="02010600030101010101" pitchFamily="2" charset="-122"/>
              </a:rPr>
              <a:t> </a:t>
            </a:r>
            <a:r>
              <a:rPr lang="en-US" altLang="zh-CN" b="1">
                <a:solidFill>
                  <a:srgbClr val="FF6600"/>
                </a:solidFill>
                <a:latin typeface="宋体" panose="02010600030101010101" pitchFamily="2" charset="-122"/>
              </a:rPr>
              <a:t>6CAC</a:t>
            </a:r>
          </a:p>
          <a:p>
            <a:pPr algn="just" eaLnBrk="1" hangingPunct="1">
              <a:lnSpc>
                <a:spcPct val="85000"/>
              </a:lnSpc>
              <a:spcBef>
                <a:spcPct val="20000"/>
              </a:spcBef>
            </a:pPr>
            <a:r>
              <a:rPr lang="en-US" altLang="zh-CN" b="1">
                <a:latin typeface="宋体" panose="02010600030101010101" pitchFamily="2" charset="-122"/>
              </a:rPr>
              <a:t>        </a:t>
            </a:r>
            <a:r>
              <a:rPr lang="en-US" altLang="zh-CN" b="1">
                <a:solidFill>
                  <a:srgbClr val="FF0000"/>
                </a:solidFill>
                <a:latin typeface="宋体" panose="02010600030101010101" pitchFamily="2" charset="-122"/>
              </a:rPr>
              <a:t>AR3=0103 </a:t>
            </a:r>
            <a:r>
              <a:rPr lang="en-US" altLang="zh-CN" b="1">
                <a:latin typeface="宋体" panose="02010600030101010101" pitchFamily="2" charset="-122"/>
              </a:rPr>
              <a:t>              AR3=0101</a:t>
            </a:r>
          </a:p>
          <a:p>
            <a:pPr algn="just" eaLnBrk="1" hangingPunct="1">
              <a:lnSpc>
                <a:spcPct val="85000"/>
              </a:lnSpc>
              <a:spcBef>
                <a:spcPct val="20000"/>
              </a:spcBef>
            </a:pP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0102h</a:t>
            </a:r>
            <a:r>
              <a:rPr lang="zh-CN" altLang="en-US" b="1">
                <a:latin typeface="宋体" panose="02010600030101010101" pitchFamily="2" charset="-122"/>
              </a:rPr>
              <a:t>）</a:t>
            </a:r>
            <a:r>
              <a:rPr lang="en-US" altLang="zh-CN" b="1">
                <a:latin typeface="宋体" panose="02010600030101010101" pitchFamily="2" charset="-122"/>
              </a:rPr>
              <a:t>=</a:t>
            </a:r>
            <a:r>
              <a:rPr lang="en-US" altLang="zh-CN" b="1">
                <a:solidFill>
                  <a:srgbClr val="FF6600"/>
                </a:solidFill>
                <a:latin typeface="宋体" panose="02010600030101010101" pitchFamily="2" charset="-122"/>
              </a:rPr>
              <a:t>6CAC</a:t>
            </a:r>
            <a:r>
              <a:rPr lang="zh-CN" altLang="en-US" b="1">
                <a:latin typeface="宋体" panose="02010600030101010101" pitchFamily="2" charset="-122"/>
              </a:rPr>
              <a:t>（低字）  （</a:t>
            </a:r>
            <a:r>
              <a:rPr lang="en-US" altLang="zh-CN" b="1">
                <a:latin typeface="宋体" panose="02010600030101010101" pitchFamily="2" charset="-122"/>
              </a:rPr>
              <a:t>0100h</a:t>
            </a:r>
            <a:r>
              <a:rPr lang="zh-CN" altLang="en-US" b="1">
                <a:latin typeface="宋体" panose="02010600030101010101" pitchFamily="2" charset="-122"/>
              </a:rPr>
              <a:t>）</a:t>
            </a:r>
            <a:r>
              <a:rPr lang="en-US" altLang="zh-CN" b="1">
                <a:latin typeface="宋体" panose="02010600030101010101" pitchFamily="2" charset="-122"/>
              </a:rPr>
              <a:t>=6CAC</a:t>
            </a:r>
          </a:p>
          <a:p>
            <a:pPr algn="just" eaLnBrk="1" hangingPunct="1">
              <a:lnSpc>
                <a:spcPct val="85000"/>
              </a:lnSpc>
              <a:spcBef>
                <a:spcPct val="20000"/>
              </a:spcBef>
            </a:pP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0103h</a:t>
            </a:r>
            <a:r>
              <a:rPr lang="zh-CN" altLang="en-US" b="1">
                <a:latin typeface="宋体" panose="02010600030101010101" pitchFamily="2" charset="-122"/>
              </a:rPr>
              <a:t>）</a:t>
            </a:r>
            <a:r>
              <a:rPr lang="en-US" altLang="zh-CN" b="1">
                <a:latin typeface="宋体" panose="02010600030101010101" pitchFamily="2" charset="-122"/>
              </a:rPr>
              <a:t>=</a:t>
            </a:r>
            <a:r>
              <a:rPr lang="en-US" altLang="zh-CN" b="1">
                <a:solidFill>
                  <a:schemeClr val="tx2"/>
                </a:solidFill>
                <a:latin typeface="宋体" panose="02010600030101010101" pitchFamily="2" charset="-122"/>
              </a:rPr>
              <a:t>BD90</a:t>
            </a:r>
            <a:r>
              <a:rPr lang="zh-CN" altLang="en-US" b="1">
                <a:latin typeface="宋体" panose="02010600030101010101" pitchFamily="2" charset="-122"/>
              </a:rPr>
              <a:t>（高字）  （</a:t>
            </a:r>
            <a:r>
              <a:rPr lang="en-US" altLang="zh-CN" b="1">
                <a:latin typeface="宋体" panose="02010600030101010101" pitchFamily="2" charset="-122"/>
              </a:rPr>
              <a:t>0101h</a:t>
            </a:r>
            <a:r>
              <a:rPr lang="zh-CN" altLang="en-US" b="1">
                <a:latin typeface="宋体" panose="02010600030101010101" pitchFamily="2" charset="-122"/>
              </a:rPr>
              <a:t>）</a:t>
            </a:r>
            <a:r>
              <a:rPr lang="en-US" altLang="zh-CN" b="1">
                <a:latin typeface="宋体" panose="02010600030101010101" pitchFamily="2" charset="-122"/>
              </a:rPr>
              <a:t>=BD90</a:t>
            </a:r>
          </a:p>
          <a:p>
            <a:pPr algn="just" eaLnBrk="1" hangingPunct="1">
              <a:lnSpc>
                <a:spcPct val="85000"/>
              </a:lnSpc>
              <a:spcBef>
                <a:spcPct val="20000"/>
              </a:spcBef>
            </a:pPr>
            <a:r>
              <a:rPr lang="zh-CN" altLang="en-US" b="1">
                <a:latin typeface="宋体" panose="02010600030101010101" pitchFamily="2" charset="-122"/>
              </a:rPr>
              <a:t>推荐采用偶地址排列法，将高</a:t>
            </a:r>
            <a:r>
              <a:rPr lang="en-US" altLang="zh-CN" b="1">
                <a:latin typeface="宋体" panose="02010600030101010101" pitchFamily="2" charset="-122"/>
              </a:rPr>
              <a:t>16</a:t>
            </a:r>
            <a:r>
              <a:rPr lang="zh-CN" altLang="en-US" b="1">
                <a:latin typeface="宋体" panose="02010600030101010101" pitchFamily="2" charset="-122"/>
              </a:rPr>
              <a:t>位操作数放在偶地址存储单元中。如：                        </a:t>
            </a:r>
            <a:r>
              <a:rPr lang="zh-CN" altLang="en-US" b="1" u="sng">
                <a:solidFill>
                  <a:srgbClr val="FF00FF"/>
                </a:solidFill>
                <a:latin typeface="宋体" panose="02010600030101010101" pitchFamily="2" charset="-122"/>
              </a:rPr>
              <a:t>程序存储器</a:t>
            </a:r>
            <a:endParaRPr lang="zh-CN" altLang="en-US" b="1">
              <a:solidFill>
                <a:srgbClr val="FF00FF"/>
              </a:solidFill>
              <a:latin typeface="宋体" panose="02010600030101010101" pitchFamily="2" charset="-122"/>
            </a:endParaRPr>
          </a:p>
          <a:p>
            <a:pPr algn="just" eaLnBrk="1" hangingPunct="1">
              <a:lnSpc>
                <a:spcPct val="85000"/>
              </a:lnSpc>
              <a:spcBef>
                <a:spcPct val="20000"/>
              </a:spcBef>
            </a:pPr>
            <a:r>
              <a:rPr lang="zh-CN" altLang="en-US" b="1">
                <a:latin typeface="宋体" panose="02010600030101010101" pitchFamily="2" charset="-122"/>
              </a:rPr>
              <a:t> </a:t>
            </a:r>
            <a:r>
              <a:rPr lang="en-US" altLang="zh-CN" b="1">
                <a:latin typeface="宋体" panose="02010600030101010101" pitchFamily="2" charset="-122"/>
              </a:rPr>
              <a:t>.long  12345678 h             </a:t>
            </a:r>
            <a:r>
              <a:rPr lang="zh-CN" altLang="en-US" b="1">
                <a:latin typeface="宋体" panose="02010600030101010101" pitchFamily="2" charset="-122"/>
              </a:rPr>
              <a:t>；偶地址：</a:t>
            </a:r>
            <a:r>
              <a:rPr lang="en-US" altLang="zh-CN" b="1">
                <a:latin typeface="宋体" panose="02010600030101010101" pitchFamily="2" charset="-122"/>
              </a:rPr>
              <a:t>1234</a:t>
            </a:r>
          </a:p>
          <a:p>
            <a:pPr algn="just" eaLnBrk="1" hangingPunct="1">
              <a:lnSpc>
                <a:spcPct val="85000"/>
              </a:lnSpc>
              <a:spcBef>
                <a:spcPct val="20000"/>
              </a:spcBef>
            </a:pPr>
            <a:r>
              <a:rPr lang="en-US" altLang="zh-CN" b="1">
                <a:latin typeface="宋体" panose="02010600030101010101" pitchFamily="2" charset="-122"/>
              </a:rPr>
              <a:t>                               </a:t>
            </a:r>
            <a:r>
              <a:rPr lang="zh-CN" altLang="en-US" b="1">
                <a:latin typeface="宋体" panose="02010600030101010101" pitchFamily="2" charset="-122"/>
              </a:rPr>
              <a:t>；奇地址：</a:t>
            </a:r>
            <a:r>
              <a:rPr lang="en-US" altLang="zh-CN" b="1">
                <a:latin typeface="宋体" panose="02010600030101010101" pitchFamily="2" charset="-122"/>
              </a:rPr>
              <a:t>5678</a:t>
            </a:r>
          </a:p>
          <a:p>
            <a:pPr algn="just" eaLnBrk="1" hangingPunct="1">
              <a:lnSpc>
                <a:spcPct val="85000"/>
              </a:lnSpc>
              <a:spcBef>
                <a:spcPct val="20000"/>
              </a:spcBef>
            </a:pPr>
            <a:r>
              <a:rPr lang="en-US" altLang="zh-CN" b="1">
                <a:latin typeface="宋体" panose="02010600030101010101" pitchFamily="2" charset="-122"/>
              </a:rPr>
              <a:t>                                </a:t>
            </a:r>
            <a:r>
              <a:rPr lang="zh-CN" altLang="en-US" b="1" u="sng">
                <a:solidFill>
                  <a:schemeClr val="tx2"/>
                </a:solidFill>
                <a:latin typeface="宋体" panose="02010600030101010101" pitchFamily="2" charset="-122"/>
              </a:rPr>
              <a:t>数据存储器</a:t>
            </a:r>
            <a:endParaRPr lang="zh-CN" altLang="en-US" b="1">
              <a:solidFill>
                <a:schemeClr val="tx2"/>
              </a:solidFill>
              <a:latin typeface="宋体" panose="02010600030101010101" pitchFamily="2" charset="-122"/>
            </a:endParaRPr>
          </a:p>
          <a:p>
            <a:pPr algn="just" eaLnBrk="1" hangingPunct="1">
              <a:lnSpc>
                <a:spcPct val="85000"/>
              </a:lnSpc>
              <a:spcBef>
                <a:spcPct val="20000"/>
              </a:spcBef>
            </a:pPr>
            <a:r>
              <a:rPr lang="zh-CN" altLang="en-US" b="1">
                <a:latin typeface="宋体" panose="02010600030101010101" pitchFamily="2" charset="-122"/>
              </a:rPr>
              <a:t> </a:t>
            </a:r>
            <a:r>
              <a:rPr lang="en-US" altLang="zh-CN" b="1">
                <a:latin typeface="宋体" panose="02010600030101010101" pitchFamily="2" charset="-122"/>
              </a:rPr>
              <a:t>.bss   xhi,   2,     1,     1  </a:t>
            </a:r>
            <a:r>
              <a:rPr lang="zh-CN" altLang="en-US" b="1">
                <a:latin typeface="宋体" panose="02010600030101010101" pitchFamily="2" charset="-122"/>
              </a:rPr>
              <a:t>；偶地址：</a:t>
            </a:r>
            <a:r>
              <a:rPr lang="en-US" altLang="zh-CN" b="1">
                <a:latin typeface="宋体" panose="02010600030101010101" pitchFamily="2" charset="-122"/>
              </a:rPr>
              <a:t>xhi        </a:t>
            </a:r>
          </a:p>
          <a:p>
            <a:pPr algn="just" eaLnBrk="1" hangingPunct="1">
              <a:lnSpc>
                <a:spcPct val="85000"/>
              </a:lnSpc>
              <a:spcBef>
                <a:spcPct val="20000"/>
              </a:spcBef>
            </a:pPr>
            <a:r>
              <a:rPr lang="en-US" altLang="zh-CN" b="1">
                <a:latin typeface="宋体" panose="02010600030101010101" pitchFamily="2" charset="-122"/>
              </a:rPr>
              <a:t>        ↓     ↓     ↓     ↓ </a:t>
            </a:r>
            <a:r>
              <a:rPr lang="zh-CN" altLang="en-US" b="1">
                <a:latin typeface="宋体" panose="02010600030101010101" pitchFamily="2" charset="-122"/>
              </a:rPr>
              <a:t>；奇地址：</a:t>
            </a:r>
            <a:r>
              <a:rPr lang="en-US" altLang="zh-CN" b="1">
                <a:latin typeface="宋体" panose="02010600030101010101" pitchFamily="2" charset="-122"/>
              </a:rPr>
              <a:t>xlo</a:t>
            </a:r>
          </a:p>
          <a:p>
            <a:pPr algn="just" eaLnBrk="1" hangingPunct="1">
              <a:lnSpc>
                <a:spcPct val="85000"/>
              </a:lnSpc>
              <a:spcBef>
                <a:spcPct val="20000"/>
              </a:spcBef>
            </a:pPr>
            <a:r>
              <a:rPr lang="en-US" altLang="zh-CN" b="1">
                <a:latin typeface="宋体" panose="02010600030101010101" pitchFamily="2" charset="-122"/>
              </a:rPr>
              <a:t>      </a:t>
            </a:r>
            <a:r>
              <a:rPr lang="zh-CN" altLang="en-US" b="1">
                <a:latin typeface="宋体" panose="02010600030101010101" pitchFamily="2" charset="-122"/>
              </a:rPr>
              <a:t>变量名称 字长 页邻接  偶地址排列法</a:t>
            </a:r>
            <a:r>
              <a:rPr lang="zh-CN" altLang="en-US" sz="2800" b="1">
                <a:latin typeface="宋体" panose="02010600030101010101" pitchFamily="2" charset="-122"/>
              </a:rPr>
              <a:t>   </a:t>
            </a:r>
          </a:p>
        </p:txBody>
      </p:sp>
      <p:sp>
        <p:nvSpPr>
          <p:cNvPr id="29700" name="Line 3"/>
          <p:cNvSpPr>
            <a:spLocks noChangeShapeType="1"/>
          </p:cNvSpPr>
          <p:nvPr/>
        </p:nvSpPr>
        <p:spPr bwMode="auto">
          <a:xfrm flipV="1">
            <a:off x="3563938" y="2349500"/>
            <a:ext cx="3024187" cy="503238"/>
          </a:xfrm>
          <a:prstGeom prst="line">
            <a:avLst/>
          </a:prstGeom>
          <a:noFill/>
          <a:ln w="38100">
            <a:solidFill>
              <a:srgbClr val="FF00FF"/>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701" name="Line 4"/>
          <p:cNvSpPr>
            <a:spLocks noChangeShapeType="1"/>
          </p:cNvSpPr>
          <p:nvPr/>
        </p:nvSpPr>
        <p:spPr bwMode="auto">
          <a:xfrm flipV="1">
            <a:off x="3492500" y="2349500"/>
            <a:ext cx="2519363" cy="1008063"/>
          </a:xfrm>
          <a:prstGeom prst="line">
            <a:avLst/>
          </a:prstGeom>
          <a:noFill/>
          <a:ln w="38100">
            <a:solidFill>
              <a:schemeClr val="hlink"/>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702" name="AutoShape 5"/>
          <p:cNvSpPr>
            <a:spLocks noChangeArrowheads="1"/>
          </p:cNvSpPr>
          <p:nvPr/>
        </p:nvSpPr>
        <p:spPr bwMode="auto">
          <a:xfrm>
            <a:off x="5292725" y="1341438"/>
            <a:ext cx="3024188" cy="431800"/>
          </a:xfrm>
          <a:prstGeom prst="wedgeRoundRectCallout">
            <a:avLst>
              <a:gd name="adj1" fmla="val -126324"/>
              <a:gd name="adj2" fmla="val 47426"/>
              <a:gd name="adj3" fmla="val 16667"/>
            </a:avLst>
          </a:prstGeom>
          <a:solidFill>
            <a:schemeClr val="accent1"/>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0000"/>
                </a:solidFill>
              </a:rPr>
              <a:t>总是高</a:t>
            </a:r>
            <a:r>
              <a:rPr lang="en-US" altLang="zh-CN" b="1">
                <a:solidFill>
                  <a:srgbClr val="FF0000"/>
                </a:solidFill>
              </a:rPr>
              <a:t>16</a:t>
            </a:r>
            <a:r>
              <a:rPr lang="zh-CN" altLang="en-US" b="1">
                <a:solidFill>
                  <a:srgbClr val="FF0000"/>
                </a:solidFill>
              </a:rPr>
              <a:t>位操作数</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6674"/>
                                        </p:tgtEl>
                                        <p:attrNameLst>
                                          <p:attrName>style.visibility</p:attrName>
                                        </p:attrNameLst>
                                      </p:cBhvr>
                                      <p:to>
                                        <p:strVal val="visible"/>
                                      </p:to>
                                    </p:set>
                                    <p:animEffect transition="in" filter="blinds(horizontal)">
                                      <p:cBhvr>
                                        <p:cTn id="7" dur="500"/>
                                        <p:tgtEl>
                                          <p:spTgt spid="796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67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2212CD1-8120-42F2-B4DD-F152C34290A3}" type="slidenum">
              <a:rPr lang="en-US" altLang="zh-CN" sz="1400"/>
              <a:pPr eaLnBrk="1" hangingPunct="1"/>
              <a:t>17</a:t>
            </a:fld>
            <a:endParaRPr lang="en-US" altLang="zh-CN" sz="1400"/>
          </a:p>
        </p:txBody>
      </p:sp>
      <p:sp>
        <p:nvSpPr>
          <p:cNvPr id="797698" name="Rectangle 2"/>
          <p:cNvSpPr>
            <a:spLocks noChangeArrowheads="1"/>
          </p:cNvSpPr>
          <p:nvPr/>
        </p:nvSpPr>
        <p:spPr bwMode="auto">
          <a:xfrm>
            <a:off x="323850" y="1989138"/>
            <a:ext cx="3816350" cy="394493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5334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solidFill>
                  <a:srgbClr val="FF6600"/>
                </a:solidFill>
                <a:latin typeface="宋体" panose="02010600030101010101" pitchFamily="2" charset="-122"/>
              </a:rPr>
              <a:t>    </a:t>
            </a:r>
            <a:r>
              <a:rPr lang="zh-CN" altLang="en-US" sz="2800" b="1">
                <a:solidFill>
                  <a:srgbClr val="FF6600"/>
                </a:solidFill>
                <a:latin typeface="宋体" panose="02010600030101010101" pitchFamily="2" charset="-122"/>
              </a:rPr>
              <a:t>标准运算</a:t>
            </a:r>
            <a:endParaRPr lang="zh-CN" altLang="en-US" sz="2800" b="1">
              <a:solidFill>
                <a:srgbClr val="FF00FF"/>
              </a:solidFill>
            </a:endParaRPr>
          </a:p>
          <a:p>
            <a:pPr algn="just"/>
            <a:r>
              <a:rPr lang="zh-CN" altLang="en-US" sz="2800" b="1">
                <a:latin typeface="宋体" panose="02010600030101010101" pitchFamily="2" charset="-122"/>
              </a:rPr>
              <a:t> </a:t>
            </a:r>
            <a:r>
              <a:rPr lang="en-US" altLang="zh-CN" sz="2800" b="1">
                <a:latin typeface="宋体" panose="02010600030101010101" pitchFamily="2" charset="-122"/>
              </a:rPr>
              <a:t>LD    @xhi,16,A</a:t>
            </a:r>
            <a:endParaRPr lang="en-US" altLang="zh-CN" sz="2800" b="1"/>
          </a:p>
          <a:p>
            <a:pPr algn="just"/>
            <a:r>
              <a:rPr lang="en-US" altLang="zh-CN" sz="2800" b="1">
                <a:latin typeface="宋体" panose="02010600030101010101" pitchFamily="2" charset="-122"/>
              </a:rPr>
              <a:t> </a:t>
            </a:r>
            <a:r>
              <a:rPr lang="en-US" altLang="zh-CN" sz="2800" b="1">
                <a:solidFill>
                  <a:srgbClr val="FF9900"/>
                </a:solidFill>
                <a:latin typeface="宋体" panose="02010600030101010101" pitchFamily="2" charset="-122"/>
              </a:rPr>
              <a:t>ADDS  @xlo,A</a:t>
            </a:r>
            <a:endParaRPr lang="en-US" altLang="zh-CN" sz="2800" b="1">
              <a:solidFill>
                <a:srgbClr val="FF00FF"/>
              </a:solidFill>
            </a:endParaRPr>
          </a:p>
          <a:p>
            <a:pPr algn="just"/>
            <a:r>
              <a:rPr lang="en-US" altLang="zh-CN" sz="2800" b="1">
                <a:latin typeface="宋体" panose="02010600030101010101" pitchFamily="2" charset="-122"/>
              </a:rPr>
              <a:t> </a:t>
            </a:r>
            <a:r>
              <a:rPr lang="en-US" altLang="zh-CN" sz="2800" b="1">
                <a:solidFill>
                  <a:srgbClr val="FF9900"/>
                </a:solidFill>
                <a:latin typeface="宋体" panose="02010600030101010101" pitchFamily="2" charset="-122"/>
              </a:rPr>
              <a:t>ADD   @yhi,16,A</a:t>
            </a:r>
            <a:endParaRPr lang="en-US" altLang="zh-CN" sz="2800" b="1"/>
          </a:p>
          <a:p>
            <a:pPr algn="just"/>
            <a:r>
              <a:rPr lang="en-US" altLang="zh-CN" sz="2800" b="1">
                <a:latin typeface="宋体" panose="02010600030101010101" pitchFamily="2" charset="-122"/>
              </a:rPr>
              <a:t> </a:t>
            </a:r>
            <a:r>
              <a:rPr lang="en-US" altLang="zh-CN" sz="2800" b="1">
                <a:solidFill>
                  <a:srgbClr val="FF9900"/>
                </a:solidFill>
                <a:latin typeface="宋体" panose="02010600030101010101" pitchFamily="2" charset="-122"/>
              </a:rPr>
              <a:t>ADDS  @ylo,A</a:t>
            </a:r>
            <a:endParaRPr lang="en-US" altLang="zh-CN" sz="2800" b="1"/>
          </a:p>
          <a:p>
            <a:pPr algn="just"/>
            <a:r>
              <a:rPr lang="en-US" altLang="zh-CN" sz="2800" b="1">
                <a:latin typeface="宋体" panose="02010600030101010101" pitchFamily="2" charset="-122"/>
              </a:rPr>
              <a:t> STH   A,@Zhi    </a:t>
            </a:r>
          </a:p>
          <a:p>
            <a:pPr algn="just"/>
            <a:r>
              <a:rPr lang="en-US" altLang="zh-CN" sz="2800" b="1">
                <a:latin typeface="宋体" panose="02010600030101010101" pitchFamily="2" charset="-122"/>
              </a:rPr>
              <a:t> STL   A,@Zlo</a:t>
            </a:r>
            <a:endParaRPr lang="en-US" altLang="zh-CN" sz="2800" b="1"/>
          </a:p>
          <a:p>
            <a:pPr algn="just"/>
            <a:r>
              <a:rPr lang="zh-CN" altLang="en-US" sz="2800" b="1">
                <a:latin typeface="宋体" panose="02010600030101010101" pitchFamily="2" charset="-122"/>
              </a:rPr>
              <a:t>（</a:t>
            </a:r>
            <a:r>
              <a:rPr lang="en-US" altLang="zh-CN" sz="2800" b="1">
                <a:latin typeface="宋体" panose="02010600030101010101" pitchFamily="2" charset="-122"/>
              </a:rPr>
              <a:t>6</a:t>
            </a:r>
            <a:r>
              <a:rPr lang="zh-CN" altLang="en-US" sz="2800" b="1">
                <a:latin typeface="宋体" panose="02010600030101010101" pitchFamily="2" charset="-122"/>
              </a:rPr>
              <a:t>个字，</a:t>
            </a:r>
            <a:r>
              <a:rPr lang="en-US" altLang="zh-CN" sz="2800" b="1">
                <a:latin typeface="宋体" panose="02010600030101010101" pitchFamily="2" charset="-122"/>
              </a:rPr>
              <a:t>6</a:t>
            </a:r>
            <a:r>
              <a:rPr lang="zh-CN" altLang="en-US" sz="2800" b="1">
                <a:latin typeface="宋体" panose="02010600030101010101" pitchFamily="2" charset="-122"/>
              </a:rPr>
              <a:t>个</a:t>
            </a:r>
            <a:r>
              <a:rPr lang="en-US" altLang="zh-CN" sz="2800" b="1">
                <a:latin typeface="宋体" panose="02010600030101010101" pitchFamily="2" charset="-122"/>
              </a:rPr>
              <a:t>T</a:t>
            </a:r>
            <a:r>
              <a:rPr lang="zh-CN" altLang="en-US" sz="2800" b="1">
                <a:latin typeface="宋体" panose="02010600030101010101" pitchFamily="2" charset="-122"/>
              </a:rPr>
              <a:t>）</a:t>
            </a:r>
            <a:endParaRPr lang="zh-CN" altLang="en-US" sz="2800" b="1"/>
          </a:p>
          <a:p>
            <a:endParaRPr lang="en-US" altLang="zh-CN" sz="2800" b="1"/>
          </a:p>
        </p:txBody>
      </p:sp>
      <p:sp>
        <p:nvSpPr>
          <p:cNvPr id="797699" name="Rectangle 3"/>
          <p:cNvSpPr>
            <a:spLocks noChangeArrowheads="1"/>
          </p:cNvSpPr>
          <p:nvPr/>
        </p:nvSpPr>
        <p:spPr bwMode="auto">
          <a:xfrm>
            <a:off x="4859338" y="1989138"/>
            <a:ext cx="3673475" cy="2663825"/>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5334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rgbClr val="FF00FF"/>
                </a:solidFill>
                <a:latin typeface="宋体" panose="02010600030101010101" pitchFamily="2" charset="-122"/>
              </a:rPr>
              <a:t>长字运算</a:t>
            </a:r>
            <a:endParaRPr lang="zh-CN" altLang="en-US" sz="2800" b="1">
              <a:solidFill>
                <a:srgbClr val="FF00FF"/>
              </a:solidFill>
            </a:endParaRPr>
          </a:p>
          <a:p>
            <a:pPr algn="just"/>
            <a:r>
              <a:rPr lang="en-US" altLang="zh-CN" sz="2800" b="1">
                <a:latin typeface="宋体" panose="02010600030101010101" pitchFamily="2" charset="-122"/>
              </a:rPr>
              <a:t>DLD      @xhi,A</a:t>
            </a:r>
            <a:endParaRPr lang="en-US" altLang="zh-CN" sz="2800" b="1"/>
          </a:p>
          <a:p>
            <a:pPr algn="just"/>
            <a:r>
              <a:rPr lang="en-US" altLang="zh-CN" sz="2800" b="1">
                <a:solidFill>
                  <a:srgbClr val="FF00FF"/>
                </a:solidFill>
                <a:latin typeface="宋体" panose="02010600030101010101" pitchFamily="2" charset="-122"/>
              </a:rPr>
              <a:t>DADD     @yhi,A</a:t>
            </a:r>
            <a:endParaRPr lang="en-US" altLang="zh-CN" sz="2800" b="1">
              <a:solidFill>
                <a:srgbClr val="FF00FF"/>
              </a:solidFill>
            </a:endParaRPr>
          </a:p>
          <a:p>
            <a:pPr algn="just"/>
            <a:r>
              <a:rPr lang="en-US" altLang="zh-CN" sz="2800" b="1">
                <a:latin typeface="宋体" panose="02010600030101010101" pitchFamily="2" charset="-122"/>
              </a:rPr>
              <a:t>DST      A,@zhi</a:t>
            </a:r>
            <a:endParaRPr lang="en-US" altLang="zh-CN" sz="2800" b="1"/>
          </a:p>
          <a:p>
            <a:pPr algn="just"/>
            <a:r>
              <a:rPr lang="zh-CN" altLang="en-US" sz="2800" b="1">
                <a:latin typeface="宋体" panose="02010600030101010101" pitchFamily="2" charset="-122"/>
              </a:rPr>
              <a:t>（</a:t>
            </a:r>
            <a:r>
              <a:rPr lang="en-US" altLang="zh-CN" sz="2800" b="1">
                <a:latin typeface="宋体" panose="02010600030101010101" pitchFamily="2" charset="-122"/>
              </a:rPr>
              <a:t>3</a:t>
            </a:r>
            <a:r>
              <a:rPr lang="zh-CN" altLang="en-US" sz="2800" b="1">
                <a:latin typeface="宋体" panose="02010600030101010101" pitchFamily="2" charset="-122"/>
              </a:rPr>
              <a:t>个字，</a:t>
            </a:r>
            <a:r>
              <a:rPr lang="en-US" altLang="zh-CN" sz="2800" b="1">
                <a:latin typeface="宋体" panose="02010600030101010101" pitchFamily="2" charset="-122"/>
              </a:rPr>
              <a:t>3</a:t>
            </a:r>
            <a:r>
              <a:rPr lang="zh-CN" altLang="en-US" sz="2800" b="1">
                <a:latin typeface="宋体" panose="02010600030101010101" pitchFamily="2" charset="-122"/>
              </a:rPr>
              <a:t>个</a:t>
            </a:r>
            <a:r>
              <a:rPr lang="en-US" altLang="zh-CN" sz="2800" b="1">
                <a:latin typeface="宋体" panose="02010600030101010101" pitchFamily="2" charset="-122"/>
              </a:rPr>
              <a:t>T</a:t>
            </a:r>
            <a:r>
              <a:rPr lang="zh-CN" altLang="en-US" sz="2800" b="1">
                <a:latin typeface="宋体" panose="02010600030101010101" pitchFamily="2" charset="-122"/>
              </a:rPr>
              <a:t>）</a:t>
            </a:r>
            <a:endParaRPr lang="zh-CN" altLang="en-US" sz="2800" b="1"/>
          </a:p>
          <a:p>
            <a:pPr algn="just"/>
            <a:r>
              <a:rPr lang="zh-CN" altLang="en-US" sz="2800" b="1">
                <a:latin typeface="宋体" panose="02010600030101010101" pitchFamily="2" charset="-122"/>
              </a:rPr>
              <a:t> </a:t>
            </a:r>
            <a:endParaRPr lang="zh-CN" altLang="en-US" sz="2800" b="1"/>
          </a:p>
        </p:txBody>
      </p:sp>
      <p:sp>
        <p:nvSpPr>
          <p:cNvPr id="30725" name="Rectangle 4"/>
          <p:cNvSpPr>
            <a:spLocks noChangeArrowheads="1"/>
          </p:cNvSpPr>
          <p:nvPr/>
        </p:nvSpPr>
        <p:spPr bwMode="auto">
          <a:xfrm>
            <a:off x="1908175" y="1052513"/>
            <a:ext cx="4483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宋体" panose="02010600030101010101" pitchFamily="2" charset="-122"/>
              </a:rPr>
              <a:t>例</a:t>
            </a:r>
            <a:r>
              <a:rPr lang="en-US" altLang="zh-CN" sz="2800" b="1">
                <a:latin typeface="宋体" panose="02010600030101010101" pitchFamily="2" charset="-122"/>
              </a:rPr>
              <a:t>5-9  </a:t>
            </a:r>
            <a:r>
              <a:rPr lang="zh-CN" altLang="en-US" sz="2800" b="1">
                <a:latin typeface="宋体" panose="02010600030101010101" pitchFamily="2" charset="-122"/>
              </a:rPr>
              <a:t>计算</a:t>
            </a:r>
            <a:r>
              <a:rPr lang="en-US" altLang="zh-CN" sz="2800" b="1">
                <a:latin typeface="宋体" panose="02010600030101010101" pitchFamily="2" charset="-122"/>
              </a:rPr>
              <a:t>Z32=X32+Y32</a:t>
            </a:r>
            <a:r>
              <a:rPr lang="zh-CN" altLang="en-US" sz="2800" b="1">
                <a:latin typeface="宋体" panose="02010600030101010101" pitchFamily="2" charset="-122"/>
              </a:rPr>
              <a:t>。</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7698"/>
                                        </p:tgtEl>
                                        <p:attrNameLst>
                                          <p:attrName>style.visibility</p:attrName>
                                        </p:attrNameLst>
                                      </p:cBhvr>
                                      <p:to>
                                        <p:strVal val="visible"/>
                                      </p:to>
                                    </p:set>
                                    <p:animEffect transition="in" filter="blinds(horizontal)">
                                      <p:cBhvr>
                                        <p:cTn id="7" dur="500"/>
                                        <p:tgtEl>
                                          <p:spTgt spid="79769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97699"/>
                                        </p:tgtEl>
                                        <p:attrNameLst>
                                          <p:attrName>style.visibility</p:attrName>
                                        </p:attrNameLst>
                                      </p:cBhvr>
                                      <p:to>
                                        <p:strVal val="visible"/>
                                      </p:to>
                                    </p:set>
                                    <p:animEffect transition="in" filter="blinds(horizontal)">
                                      <p:cBhvr>
                                        <p:cTn id="11" dur="500"/>
                                        <p:tgtEl>
                                          <p:spTgt spid="7976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698" grpId="0" animBg="1"/>
      <p:bldP spid="79769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BE30808-573C-4DD7-B60A-46430862C17A}" type="slidenum">
              <a:rPr lang="en-US" altLang="zh-CN" sz="1400"/>
              <a:pPr eaLnBrk="1" hangingPunct="1"/>
              <a:t>18</a:t>
            </a:fld>
            <a:endParaRPr lang="en-US" altLang="zh-CN" sz="1400"/>
          </a:p>
        </p:txBody>
      </p:sp>
      <p:sp>
        <p:nvSpPr>
          <p:cNvPr id="798722" name="Rectangle 2"/>
          <p:cNvSpPr>
            <a:spLocks noChangeArrowheads="1"/>
          </p:cNvSpPr>
          <p:nvPr/>
        </p:nvSpPr>
        <p:spPr bwMode="auto">
          <a:xfrm>
            <a:off x="1676400" y="1905000"/>
            <a:ext cx="7010400" cy="43719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28733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dirty="0">
                <a:solidFill>
                  <a:schemeClr val="tx2"/>
                </a:solidFill>
                <a:latin typeface="宋体" panose="02010600030101010101" pitchFamily="2" charset="-122"/>
                <a:cs typeface="Times New Roman" panose="02020603050405020304" pitchFamily="18" charset="0"/>
              </a:rPr>
              <a:t>(1)</a:t>
            </a:r>
            <a:r>
              <a:rPr lang="zh-CN" altLang="en-US" sz="2800" b="1" dirty="0">
                <a:solidFill>
                  <a:schemeClr val="tx2"/>
                </a:solidFill>
                <a:latin typeface="宋体" panose="02010600030101010101" pitchFamily="2" charset="-122"/>
                <a:cs typeface="Times New Roman" panose="02020603050405020304" pitchFamily="18" charset="0"/>
              </a:rPr>
              <a:t>并行运算指同时利用</a:t>
            </a:r>
            <a:r>
              <a:rPr lang="en-US" altLang="zh-CN" sz="2800" b="1" dirty="0">
                <a:solidFill>
                  <a:schemeClr val="tx2"/>
                </a:solidFill>
                <a:latin typeface="宋体" panose="02010600030101010101" pitchFamily="2" charset="-122"/>
                <a:cs typeface="Times New Roman" panose="02020603050405020304" pitchFamily="18" charset="0"/>
              </a:rPr>
              <a:t>D</a:t>
            </a:r>
            <a:r>
              <a:rPr lang="zh-CN" altLang="en-US" sz="2800" b="1" dirty="0">
                <a:solidFill>
                  <a:schemeClr val="tx2"/>
                </a:solidFill>
                <a:latin typeface="宋体" panose="02010600030101010101" pitchFamily="2" charset="-122"/>
                <a:cs typeface="Times New Roman" panose="02020603050405020304" pitchFamily="18" charset="0"/>
              </a:rPr>
              <a:t>总线和</a:t>
            </a:r>
            <a:r>
              <a:rPr lang="en-US" altLang="zh-CN" sz="2800" b="1" dirty="0">
                <a:solidFill>
                  <a:schemeClr val="tx2"/>
                </a:solidFill>
                <a:latin typeface="宋体" panose="02010600030101010101" pitchFamily="2" charset="-122"/>
                <a:cs typeface="Times New Roman" panose="02020603050405020304" pitchFamily="18" charset="0"/>
              </a:rPr>
              <a:t>E</a:t>
            </a:r>
            <a:r>
              <a:rPr lang="zh-CN" altLang="en-US" sz="2800" b="1" dirty="0">
                <a:solidFill>
                  <a:schemeClr val="tx2"/>
                </a:solidFill>
                <a:latin typeface="宋体" panose="02010600030101010101" pitchFamily="2" charset="-122"/>
                <a:cs typeface="Times New Roman" panose="02020603050405020304" pitchFamily="18" charset="0"/>
              </a:rPr>
              <a:t>总线。</a:t>
            </a:r>
            <a:r>
              <a:rPr lang="zh-CN" altLang="en-US" sz="2800" b="1" dirty="0">
                <a:latin typeface="宋体" panose="02010600030101010101" pitchFamily="2" charset="-122"/>
                <a:cs typeface="Times New Roman" panose="02020603050405020304" pitchFamily="18" charset="0"/>
              </a:rPr>
              <a:t>其中，</a:t>
            </a:r>
            <a:r>
              <a:rPr lang="en-US" altLang="zh-CN" sz="2800" b="1" dirty="0">
                <a:latin typeface="宋体" panose="02010600030101010101" pitchFamily="2" charset="-122"/>
                <a:cs typeface="Times New Roman" panose="02020603050405020304" pitchFamily="18" charset="0"/>
              </a:rPr>
              <a:t>D</a:t>
            </a:r>
            <a:r>
              <a:rPr lang="zh-CN" altLang="en-US" sz="2800" b="1" dirty="0">
                <a:latin typeface="宋体" panose="02010600030101010101" pitchFamily="2" charset="-122"/>
                <a:cs typeface="Times New Roman" panose="02020603050405020304" pitchFamily="18" charset="0"/>
              </a:rPr>
              <a:t>总线用来执行加载或算术运算，</a:t>
            </a:r>
            <a:r>
              <a:rPr lang="en-US" altLang="zh-CN" sz="2800" b="1" dirty="0">
                <a:latin typeface="宋体" panose="02010600030101010101" pitchFamily="2" charset="-122"/>
                <a:cs typeface="Times New Roman" panose="02020603050405020304" pitchFamily="18" charset="0"/>
              </a:rPr>
              <a:t>E</a:t>
            </a:r>
            <a:r>
              <a:rPr lang="zh-CN" altLang="en-US" sz="2800" b="1" dirty="0">
                <a:latin typeface="宋体" panose="02010600030101010101" pitchFamily="2" charset="-122"/>
                <a:cs typeface="Times New Roman" panose="02020603050405020304" pitchFamily="18" charset="0"/>
              </a:rPr>
              <a:t>总线用来存放先前的结果。</a:t>
            </a:r>
          </a:p>
          <a:p>
            <a:pPr algn="just" eaLnBrk="1" hangingPunct="1"/>
            <a:r>
              <a:rPr lang="en-US" altLang="zh-CN" sz="2800" b="1" dirty="0">
                <a:latin typeface="宋体" panose="02010600030101010101" pitchFamily="2" charset="-122"/>
              </a:rPr>
              <a:t>(</a:t>
            </a:r>
            <a:r>
              <a:rPr lang="en-US" altLang="zh-CN" sz="2800" b="1" dirty="0">
                <a:solidFill>
                  <a:schemeClr val="folHlink"/>
                </a:solidFill>
                <a:latin typeface="宋体" panose="02010600030101010101" pitchFamily="2" charset="-122"/>
              </a:rPr>
              <a:t>2)</a:t>
            </a:r>
            <a:r>
              <a:rPr lang="zh-CN" altLang="en-US" sz="2800" b="1" dirty="0">
                <a:solidFill>
                  <a:schemeClr val="folHlink"/>
                </a:solidFill>
                <a:latin typeface="宋体" panose="02010600030101010101" pitchFamily="2" charset="-122"/>
              </a:rPr>
              <a:t>并行指令都是单字单周期指令。</a:t>
            </a:r>
          </a:p>
          <a:p>
            <a:pPr algn="just" eaLnBrk="1" hangingPunct="1"/>
            <a:r>
              <a:rPr lang="en-US" altLang="zh-CN" sz="2800" b="1" dirty="0">
                <a:solidFill>
                  <a:srgbClr val="FF6600"/>
                </a:solidFill>
                <a:latin typeface="宋体" panose="02010600030101010101" pitchFamily="2" charset="-122"/>
              </a:rPr>
              <a:t>(3)</a:t>
            </a:r>
            <a:r>
              <a:rPr lang="zh-CN" altLang="en-US" sz="2800" b="1" dirty="0">
                <a:solidFill>
                  <a:srgbClr val="FF6600"/>
                </a:solidFill>
                <a:latin typeface="宋体" panose="02010600030101010101" pitchFamily="2" charset="-122"/>
              </a:rPr>
              <a:t>并行运算时所存储的是前面的运算结果，</a:t>
            </a:r>
            <a:r>
              <a:rPr lang="zh-CN" altLang="en-US" sz="2800" b="1" dirty="0">
                <a:latin typeface="宋体" panose="02010600030101010101" pitchFamily="2" charset="-122"/>
              </a:rPr>
              <a:t>存储之后再进行加载或算术运算。</a:t>
            </a:r>
          </a:p>
          <a:p>
            <a:pPr algn="just" eaLnBrk="1" hangingPunct="1"/>
            <a:r>
              <a:rPr lang="en-US" altLang="zh-CN" sz="2800" b="1" dirty="0">
                <a:solidFill>
                  <a:srgbClr val="FF0000"/>
                </a:solidFill>
                <a:latin typeface="宋体" panose="02010600030101010101" pitchFamily="2" charset="-122"/>
              </a:rPr>
              <a:t>(4)</a:t>
            </a:r>
            <a:r>
              <a:rPr lang="zh-CN" altLang="en-US" sz="2800" b="1" dirty="0">
                <a:solidFill>
                  <a:srgbClr val="FF0000"/>
                </a:solidFill>
                <a:latin typeface="宋体" panose="02010600030101010101" pitchFamily="2" charset="-122"/>
              </a:rPr>
              <a:t>并行指令都工作在累加器的高位。</a:t>
            </a:r>
          </a:p>
          <a:p>
            <a:pPr algn="just" eaLnBrk="1" hangingPunct="1"/>
            <a:r>
              <a:rPr lang="en-US" altLang="zh-CN" sz="2800" b="1" dirty="0">
                <a:solidFill>
                  <a:srgbClr val="FF00FF"/>
                </a:solidFill>
                <a:latin typeface="宋体" panose="02010600030101010101" pitchFamily="2" charset="-122"/>
              </a:rPr>
              <a:t>(5)</a:t>
            </a:r>
            <a:r>
              <a:rPr lang="zh-CN" altLang="en-US" sz="2800" b="1" dirty="0">
                <a:solidFill>
                  <a:srgbClr val="FF00FF"/>
                </a:solidFill>
                <a:latin typeface="宋体" panose="02010600030101010101" pitchFamily="2" charset="-122"/>
              </a:rPr>
              <a:t>大多数并行运算指令都受累加器移位方式</a:t>
            </a:r>
            <a:r>
              <a:rPr lang="en-US" altLang="zh-CN" sz="2800" b="1" dirty="0">
                <a:solidFill>
                  <a:srgbClr val="FF00FF"/>
                </a:solidFill>
                <a:latin typeface="宋体" panose="02010600030101010101" pitchFamily="2" charset="-122"/>
              </a:rPr>
              <a:t>ASM</a:t>
            </a:r>
            <a:r>
              <a:rPr lang="zh-CN" altLang="en-US" sz="2800" b="1" dirty="0">
                <a:solidFill>
                  <a:srgbClr val="FF00FF"/>
                </a:solidFill>
                <a:latin typeface="宋体" panose="02010600030101010101" pitchFamily="2" charset="-122"/>
              </a:rPr>
              <a:t>位影响。</a:t>
            </a:r>
          </a:p>
          <a:p>
            <a:pPr algn="just" eaLnBrk="1" hangingPunct="1"/>
            <a:r>
              <a:rPr lang="zh-CN" altLang="en-US" sz="2800" b="1" dirty="0">
                <a:latin typeface="宋体" panose="02010600030101010101" pitchFamily="2" charset="-122"/>
                <a:cs typeface="Times New Roman" panose="02020603050405020304" pitchFamily="18" charset="0"/>
              </a:rPr>
              <a:t> </a:t>
            </a:r>
          </a:p>
        </p:txBody>
      </p:sp>
      <p:sp>
        <p:nvSpPr>
          <p:cNvPr id="798723" name="Rectangle 3" descr="小棋盘"/>
          <p:cNvSpPr>
            <a:spLocks noChangeArrowheads="1"/>
          </p:cNvSpPr>
          <p:nvPr/>
        </p:nvSpPr>
        <p:spPr bwMode="auto">
          <a:xfrm>
            <a:off x="3200400" y="1066800"/>
            <a:ext cx="31242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6</a:t>
            </a:r>
            <a:r>
              <a:rPr lang="zh-CN" altLang="en-US" sz="3200" b="1">
                <a:solidFill>
                  <a:srgbClr val="FF0000"/>
                </a:solidFill>
                <a:latin typeface="宋体" panose="02010600030101010101" pitchFamily="2" charset="-122"/>
                <a:ea typeface="仿宋_GB2312" pitchFamily="49" charset="-122"/>
              </a:rPr>
              <a:t>．并行运算 </a:t>
            </a:r>
          </a:p>
        </p:txBody>
      </p:sp>
      <p:sp>
        <p:nvSpPr>
          <p:cNvPr id="798724" name="Rectangle 4" descr="小棋盘"/>
          <p:cNvSpPr>
            <a:spLocks noChangeArrowheads="1"/>
          </p:cNvSpPr>
          <p:nvPr/>
        </p:nvSpPr>
        <p:spPr bwMode="auto">
          <a:xfrm>
            <a:off x="762000" y="2743200"/>
            <a:ext cx="641350" cy="1074738"/>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b="1">
                <a:solidFill>
                  <a:srgbClr val="FF0000"/>
                </a:solidFill>
                <a:latin typeface="宋体" panose="02010600030101010101" pitchFamily="2" charset="-122"/>
              </a:rPr>
              <a:t>特</a:t>
            </a:r>
          </a:p>
          <a:p>
            <a:pPr algn="just" eaLnBrk="1" hangingPunct="1">
              <a:lnSpc>
                <a:spcPct val="90000"/>
              </a:lnSpc>
              <a:spcBef>
                <a:spcPct val="20000"/>
              </a:spcBef>
            </a:pPr>
            <a:r>
              <a:rPr lang="zh-CN" altLang="en-US" sz="3200" b="1">
                <a:solidFill>
                  <a:srgbClr val="FF0000"/>
                </a:solidFill>
                <a:latin typeface="宋体" panose="02010600030101010101" pitchFamily="2" charset="-122"/>
              </a:rPr>
              <a:t>点</a:t>
            </a:r>
            <a:endParaRPr lang="zh-CN" altLang="en-US" sz="3200" b="1">
              <a:solidFill>
                <a:srgbClr val="FF0000"/>
              </a:solidFill>
              <a:latin typeface="宋体" panose="02010600030101010101" pitchFamily="2" charset="-122"/>
              <a:cs typeface="Times New Roman" panose="02020603050405020304" pitchFamily="18" charset="0"/>
            </a:endParaRPr>
          </a:p>
        </p:txBody>
      </p:sp>
      <p:sp>
        <p:nvSpPr>
          <p:cNvPr id="2" name="矩形 1"/>
          <p:cNvSpPr/>
          <p:nvPr/>
        </p:nvSpPr>
        <p:spPr>
          <a:xfrm>
            <a:off x="179512" y="6165304"/>
            <a:ext cx="1736373" cy="461665"/>
          </a:xfrm>
          <a:prstGeom prst="rect">
            <a:avLst/>
          </a:prstGeom>
          <a:ln>
            <a:solidFill>
              <a:schemeClr val="accent2"/>
            </a:solidFill>
          </a:ln>
        </p:spPr>
        <p:txBody>
          <a:bodyPr wrap="none">
            <a:spAutoFit/>
          </a:bodyPr>
          <a:lstStyle/>
          <a:p>
            <a:pPr algn="just" eaLnBrk="1" hangingPunct="1"/>
            <a:r>
              <a:rPr lang="en-US" altLang="zh-CN" b="1" dirty="0">
                <a:latin typeface="宋体" panose="02010600030101010101" pitchFamily="2" charset="-122"/>
                <a:cs typeface="Times New Roman" panose="02020603050405020304" pitchFamily="18" charset="0"/>
              </a:rPr>
              <a:t>ST1</a:t>
            </a:r>
            <a:r>
              <a:rPr lang="zh-CN" altLang="en-US" b="1" dirty="0">
                <a:latin typeface="宋体" panose="02010600030101010101" pitchFamily="2" charset="-122"/>
                <a:cs typeface="Times New Roman" panose="02020603050405020304" pitchFamily="18" charset="0"/>
              </a:rPr>
              <a:t>的</a:t>
            </a:r>
            <a:r>
              <a:rPr lang="en-US" altLang="zh-CN" b="1" dirty="0">
                <a:latin typeface="宋体" panose="02010600030101010101" pitchFamily="2" charset="-122"/>
                <a:cs typeface="Times New Roman" panose="02020603050405020304" pitchFamily="18" charset="0"/>
              </a:rPr>
              <a:t>4-0</a:t>
            </a:r>
            <a:r>
              <a:rPr lang="zh-CN" altLang="en-US" b="1" dirty="0">
                <a:latin typeface="宋体" panose="02010600030101010101" pitchFamily="2" charset="-122"/>
                <a:cs typeface="Times New Roman" panose="02020603050405020304" pitchFamily="18" charset="0"/>
              </a:rPr>
              <a:t>位</a:t>
            </a:r>
          </a:p>
        </p:txBody>
      </p:sp>
      <p:cxnSp>
        <p:nvCxnSpPr>
          <p:cNvPr id="4" name="直接箭头连接符 3"/>
          <p:cNvCxnSpPr/>
          <p:nvPr/>
        </p:nvCxnSpPr>
        <p:spPr bwMode="auto">
          <a:xfrm flipV="1">
            <a:off x="1547664" y="5733256"/>
            <a:ext cx="1080120" cy="432048"/>
          </a:xfrm>
          <a:prstGeom prst="straightConnector1">
            <a:avLst/>
          </a:prstGeom>
          <a:solidFill>
            <a:schemeClr val="accent1"/>
          </a:solidFill>
          <a:ln w="9525" cap="flat" cmpd="sng" algn="ctr">
            <a:solidFill>
              <a:srgbClr val="FF0000"/>
            </a:solidFill>
            <a:prstDash val="solid"/>
            <a:miter lim="800000"/>
            <a:headEnd type="none" w="med" len="med"/>
            <a:tailEnd type="triangle"/>
          </a:ln>
          <a:effectLst/>
        </p:spPr>
      </p:cxn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98723"/>
                                        </p:tgtEl>
                                        <p:attrNameLst>
                                          <p:attrName>style.visibility</p:attrName>
                                        </p:attrNameLst>
                                      </p:cBhvr>
                                      <p:to>
                                        <p:strVal val="visible"/>
                                      </p:to>
                                    </p:set>
                                    <p:animEffect transition="in" filter="slide(fromTop)">
                                      <p:cBhvr>
                                        <p:cTn id="7" dur="500"/>
                                        <p:tgtEl>
                                          <p:spTgt spid="798723"/>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798724"/>
                                        </p:tgtEl>
                                        <p:attrNameLst>
                                          <p:attrName>style.visibility</p:attrName>
                                        </p:attrNameLst>
                                      </p:cBhvr>
                                      <p:to>
                                        <p:strVal val="visible"/>
                                      </p:to>
                                    </p:set>
                                    <p:animEffect transition="in" filter="slide(fromLeft)">
                                      <p:cBhvr>
                                        <p:cTn id="11" dur="500"/>
                                        <p:tgtEl>
                                          <p:spTgt spid="798724"/>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798722"/>
                                        </p:tgtEl>
                                        <p:attrNameLst>
                                          <p:attrName>style.visibility</p:attrName>
                                        </p:attrNameLst>
                                      </p:cBhvr>
                                      <p:to>
                                        <p:strVal val="visible"/>
                                      </p:to>
                                    </p:set>
                                    <p:animEffect transition="in" filter="blinds(horizontal)">
                                      <p:cBhvr>
                                        <p:cTn id="15" dur="500"/>
                                        <p:tgtEl>
                                          <p:spTgt spid="798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22" grpId="0" animBg="1"/>
      <p:bldP spid="798723" grpId="0" animBg="1"/>
      <p:bldP spid="7987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0B89C70-34D0-41D3-9E95-6C3F053AB2D7}" type="slidenum">
              <a:rPr lang="en-US" altLang="zh-CN" sz="1400"/>
              <a:pPr eaLnBrk="1" hangingPunct="1"/>
              <a:t>19</a:t>
            </a:fld>
            <a:endParaRPr lang="en-US" altLang="zh-CN" sz="1400"/>
          </a:p>
        </p:txBody>
      </p:sp>
      <p:sp>
        <p:nvSpPr>
          <p:cNvPr id="799746" name="Rectangle 2"/>
          <p:cNvSpPr>
            <a:spLocks noChangeArrowheads="1"/>
          </p:cNvSpPr>
          <p:nvPr/>
        </p:nvSpPr>
        <p:spPr bwMode="auto">
          <a:xfrm>
            <a:off x="2667000" y="1066800"/>
            <a:ext cx="365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FF0000"/>
                </a:solidFill>
                <a:latin typeface="宋体" panose="02010600030101010101" pitchFamily="2" charset="-122"/>
              </a:rPr>
              <a:t>表</a:t>
            </a:r>
            <a:r>
              <a:rPr lang="en-US" altLang="zh-CN" sz="2800" b="1">
                <a:solidFill>
                  <a:srgbClr val="FF0000"/>
                </a:solidFill>
                <a:latin typeface="宋体" panose="02010600030101010101" pitchFamily="2" charset="-122"/>
              </a:rPr>
              <a:t>5-1 </a:t>
            </a:r>
            <a:r>
              <a:rPr lang="zh-CN" altLang="en-US" sz="2800" b="1">
                <a:solidFill>
                  <a:srgbClr val="FF0000"/>
                </a:solidFill>
                <a:latin typeface="宋体" panose="02010600030101010101" pitchFamily="2" charset="-122"/>
              </a:rPr>
              <a:t>并行指令举例</a:t>
            </a:r>
            <a:endParaRPr lang="zh-CN" altLang="en-US" sz="2800" b="1">
              <a:solidFill>
                <a:srgbClr val="FF0000"/>
              </a:solidFill>
            </a:endParaRPr>
          </a:p>
        </p:txBody>
      </p:sp>
      <p:graphicFrame>
        <p:nvGraphicFramePr>
          <p:cNvPr id="799886" name="Group 142"/>
          <p:cNvGraphicFramePr>
            <a:graphicFrameLocks noGrp="1"/>
          </p:cNvGraphicFramePr>
          <p:nvPr/>
        </p:nvGraphicFramePr>
        <p:xfrm>
          <a:off x="250825" y="1773238"/>
          <a:ext cx="8713788" cy="3846566"/>
        </p:xfrm>
        <a:graphic>
          <a:graphicData uri="http://schemas.openxmlformats.org/drawingml/2006/table">
            <a:tbl>
              <a:tblPr/>
              <a:tblGrid>
                <a:gridCol w="2178050">
                  <a:extLst>
                    <a:ext uri="{9D8B030D-6E8A-4147-A177-3AD203B41FA5}">
                      <a16:colId xmlns:a16="http://schemas.microsoft.com/office/drawing/2014/main" val="20000"/>
                    </a:ext>
                  </a:extLst>
                </a:gridCol>
                <a:gridCol w="1566863">
                  <a:extLst>
                    <a:ext uri="{9D8B030D-6E8A-4147-A177-3AD203B41FA5}">
                      <a16:colId xmlns:a16="http://schemas.microsoft.com/office/drawing/2014/main" val="20001"/>
                    </a:ext>
                  </a:extLst>
                </a:gridCol>
                <a:gridCol w="2376487">
                  <a:extLst>
                    <a:ext uri="{9D8B030D-6E8A-4147-A177-3AD203B41FA5}">
                      <a16:colId xmlns:a16="http://schemas.microsoft.com/office/drawing/2014/main" val="20002"/>
                    </a:ext>
                  </a:extLst>
                </a:gridCol>
                <a:gridCol w="2592388">
                  <a:extLst>
                    <a:ext uri="{9D8B030D-6E8A-4147-A177-3AD203B41FA5}">
                      <a16:colId xmlns:a16="http://schemas.microsoft.com/office/drawing/2014/main" val="20003"/>
                    </a:ext>
                  </a:extLst>
                </a:gridCol>
              </a:tblGrid>
              <a:tr h="4571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宋体" pitchFamily="2" charset="-122"/>
                        </a:rPr>
                        <a:t>指  令</a:t>
                      </a: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T="45719" marB="4571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指  令</a:t>
                      </a: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举  例</a:t>
                      </a: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操作说明</a:t>
                      </a:r>
                    </a:p>
                  </a:txBody>
                  <a:tcPr marT="45719" marB="4571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29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并行加载和乘法指令</a:t>
                      </a: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LD‖MAC[R]</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LD‖MAS[R]</a:t>
                      </a: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LD          Xmem,dst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‖MAC[R]    Ymem[,dst]</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dst=Xmem&lt;&lt;16</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dst2=dst2+T*Ymem</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9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并行加载和存储指令</a:t>
                      </a: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ST‖LD</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ST          </a:t>
                      </a:r>
                      <a:r>
                        <a:rPr kumimoji="1" lang="en-US" altLang="zh-CN" sz="1600" b="1" i="0" u="none" strike="noStrike" cap="none" normalizeH="0" baseline="0" dirty="0" err="1">
                          <a:ln>
                            <a:noFill/>
                          </a:ln>
                          <a:solidFill>
                            <a:schemeClr val="tx1"/>
                          </a:solidFill>
                          <a:effectLst/>
                          <a:latin typeface="Times New Roman" pitchFamily="18" charset="0"/>
                          <a:ea typeface="宋体" pitchFamily="2" charset="-122"/>
                        </a:rPr>
                        <a:t>src</a:t>
                      </a: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 </a:t>
                      </a:r>
                      <a:r>
                        <a:rPr kumimoji="1" lang="en-US" altLang="zh-CN" sz="1600" b="1" i="0" u="none" strike="noStrike" cap="none" normalizeH="0" baseline="0" dirty="0" err="1">
                          <a:ln>
                            <a:noFill/>
                          </a:ln>
                          <a:solidFill>
                            <a:schemeClr val="tx1"/>
                          </a:solidFill>
                          <a:effectLst/>
                          <a:latin typeface="Times New Roman" pitchFamily="18" charset="0"/>
                          <a:ea typeface="宋体" pitchFamily="2" charset="-122"/>
                        </a:rPr>
                        <a:t>Ymem</a:t>
                      </a:r>
                      <a:endParaRPr kumimoji="1" lang="en-US" altLang="zh-CN" sz="16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‖LD        </a:t>
                      </a:r>
                      <a:r>
                        <a:rPr kumimoji="1" lang="en-US" altLang="zh-CN" sz="1600" b="1" i="0" u="none" strike="noStrike" cap="none" normalizeH="0" baseline="0" dirty="0" err="1">
                          <a:ln>
                            <a:noFill/>
                          </a:ln>
                          <a:solidFill>
                            <a:schemeClr val="tx1"/>
                          </a:solidFill>
                          <a:effectLst/>
                          <a:latin typeface="Times New Roman" pitchFamily="18" charset="0"/>
                          <a:ea typeface="宋体" pitchFamily="2" charset="-122"/>
                        </a:rPr>
                        <a:t>Xmem</a:t>
                      </a: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 </a:t>
                      </a:r>
                      <a:r>
                        <a:rPr kumimoji="1" lang="en-US" altLang="zh-CN" sz="1600" b="1" i="0" u="none" strike="noStrike" cap="none" normalizeH="0" baseline="0" dirty="0" err="1">
                          <a:ln>
                            <a:noFill/>
                          </a:ln>
                          <a:solidFill>
                            <a:schemeClr val="tx1"/>
                          </a:solidFill>
                          <a:effectLst/>
                          <a:latin typeface="Times New Roman" pitchFamily="18" charset="0"/>
                          <a:ea typeface="宋体" pitchFamily="2" charset="-122"/>
                        </a:rPr>
                        <a:t>dst</a:t>
                      </a:r>
                      <a:endParaRPr kumimoji="1" lang="en-US" altLang="zh-CN" sz="1600" b="1" i="0" u="none" strike="noStrike" cap="none" normalizeH="0" baseline="0" dirty="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Ymem=src&gt;&gt;</a:t>
                      </a:r>
                      <a:r>
                        <a:rPr kumimoji="1" lang="zh-CN" altLang="en-US" sz="1600" b="1" i="0" u="none" strike="noStrike" cap="none" normalizeH="0" baseline="0">
                          <a:ln>
                            <a:noFill/>
                          </a:ln>
                          <a:solidFill>
                            <a:schemeClr val="tx1"/>
                          </a:solidFill>
                          <a:effectLst/>
                          <a:latin typeface="Times New Roman" pitchFamily="18" charset="0"/>
                          <a:ea typeface="宋体" pitchFamily="2" charset="-122"/>
                        </a:rPr>
                        <a:t>（</a:t>
                      </a:r>
                      <a:r>
                        <a:rPr kumimoji="1" lang="en-US" altLang="zh-CN" sz="1600" b="1" i="0" u="none" strike="noStrike" cap="none" normalizeH="0" baseline="0">
                          <a:ln>
                            <a:noFill/>
                          </a:ln>
                          <a:solidFill>
                            <a:schemeClr val="tx1"/>
                          </a:solidFill>
                          <a:effectLst/>
                          <a:latin typeface="Times New Roman" pitchFamily="18" charset="0"/>
                          <a:ea typeface="宋体" pitchFamily="2" charset="-122"/>
                        </a:rPr>
                        <a:t>16-ASM</a:t>
                      </a:r>
                      <a:r>
                        <a:rPr kumimoji="1" lang="zh-CN" altLang="en-US" sz="1600" b="1" i="0" u="none" strike="noStrike" cap="none" normalizeH="0" baseline="0">
                          <a:ln>
                            <a:noFill/>
                          </a:ln>
                          <a:solidFill>
                            <a:schemeClr val="tx1"/>
                          </a:solidFill>
                          <a:effectLst/>
                          <a:latin typeface="Times New Roman" pitchFamily="18" charset="0"/>
                          <a:ea typeface="宋体" pitchFamily="2" charset="-122"/>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dst=Xmem&lt;&lt;16</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204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并行存储和乘法指令</a:t>
                      </a:r>
                    </a:p>
                  </a:txBody>
                  <a:tcPr marT="45719" marB="4571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ST‖MAY</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ST‖MAC[R]</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ST‖MAS[R]</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ST          src, Ymem</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‖MAC[R]    Xmem, dst</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Ymem=src&gt;&gt;</a:t>
                      </a:r>
                      <a:r>
                        <a:rPr kumimoji="1" lang="zh-CN" altLang="en-US" sz="1600" b="1" i="0" u="none" strike="noStrike" cap="none" normalizeH="0" baseline="0">
                          <a:ln>
                            <a:noFill/>
                          </a:ln>
                          <a:solidFill>
                            <a:schemeClr val="tx1"/>
                          </a:solidFill>
                          <a:effectLst/>
                          <a:latin typeface="Times New Roman" pitchFamily="18" charset="0"/>
                          <a:ea typeface="宋体" pitchFamily="2" charset="-122"/>
                        </a:rPr>
                        <a:t>（</a:t>
                      </a:r>
                      <a:r>
                        <a:rPr kumimoji="1" lang="en-US" altLang="zh-CN" sz="1600" b="1" i="0" u="none" strike="noStrike" cap="none" normalizeH="0" baseline="0">
                          <a:ln>
                            <a:noFill/>
                          </a:ln>
                          <a:solidFill>
                            <a:schemeClr val="tx1"/>
                          </a:solidFill>
                          <a:effectLst/>
                          <a:latin typeface="Times New Roman" pitchFamily="18" charset="0"/>
                          <a:ea typeface="宋体" pitchFamily="2" charset="-122"/>
                        </a:rPr>
                        <a:t>16-ASM</a:t>
                      </a:r>
                      <a:r>
                        <a:rPr kumimoji="1" lang="zh-CN" altLang="en-US" sz="1600" b="1" i="0" u="none" strike="noStrike" cap="none" normalizeH="0" baseline="0">
                          <a:ln>
                            <a:noFill/>
                          </a:ln>
                          <a:solidFill>
                            <a:schemeClr val="tx1"/>
                          </a:solidFill>
                          <a:effectLst/>
                          <a:latin typeface="Times New Roman" pitchFamily="18" charset="0"/>
                          <a:ea typeface="宋体" pitchFamily="2" charset="-122"/>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dst=dst+T*Xmem</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29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rPr>
                        <a:t>并行存储和加</a:t>
                      </a:r>
                      <a:r>
                        <a:rPr kumimoji="1" lang="en-US" altLang="zh-CN" sz="2400" b="1" i="0" u="none" strike="noStrike" cap="none" normalizeH="0" baseline="0">
                          <a:ln>
                            <a:noFill/>
                          </a:ln>
                          <a:solidFill>
                            <a:schemeClr val="tx1"/>
                          </a:solidFill>
                          <a:effectLst/>
                          <a:latin typeface="Times New Roman" pitchFamily="18" charset="0"/>
                          <a:ea typeface="宋体" pitchFamily="2" charset="-122"/>
                        </a:rPr>
                        <a:t>/</a:t>
                      </a:r>
                      <a:r>
                        <a:rPr kumimoji="1" lang="zh-CN" altLang="en-US" sz="2400" b="1" i="0" u="none" strike="noStrike" cap="none" normalizeH="0" baseline="0">
                          <a:ln>
                            <a:noFill/>
                          </a:ln>
                          <a:solidFill>
                            <a:schemeClr val="tx1"/>
                          </a:solidFill>
                          <a:effectLst/>
                          <a:latin typeface="Times New Roman" pitchFamily="18" charset="0"/>
                          <a:ea typeface="宋体" pitchFamily="2" charset="-122"/>
                        </a:rPr>
                        <a:t>减法指令</a:t>
                      </a: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ST‖ADD</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ST‖SUB</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ST          src, Ymem</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‖ADD       Xmem, dst</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Ymem=src&gt;&gt;</a:t>
                      </a:r>
                      <a:r>
                        <a:rPr kumimoji="1" lang="zh-CN" altLang="en-US" sz="1600" b="1" i="0" u="none" strike="noStrike" cap="none" normalizeH="0" baseline="0">
                          <a:ln>
                            <a:noFill/>
                          </a:ln>
                          <a:solidFill>
                            <a:schemeClr val="tx1"/>
                          </a:solidFill>
                          <a:effectLst/>
                          <a:latin typeface="Times New Roman" pitchFamily="18" charset="0"/>
                          <a:ea typeface="宋体" pitchFamily="2" charset="-122"/>
                        </a:rPr>
                        <a:t>（</a:t>
                      </a:r>
                      <a:r>
                        <a:rPr kumimoji="1" lang="en-US" altLang="zh-CN" sz="1600" b="1" i="0" u="none" strike="noStrike" cap="none" normalizeH="0" baseline="0">
                          <a:ln>
                            <a:noFill/>
                          </a:ln>
                          <a:solidFill>
                            <a:schemeClr val="tx1"/>
                          </a:solidFill>
                          <a:effectLst/>
                          <a:latin typeface="Times New Roman" pitchFamily="18" charset="0"/>
                          <a:ea typeface="宋体" pitchFamily="2" charset="-122"/>
                        </a:rPr>
                        <a:t>16-ASM</a:t>
                      </a:r>
                      <a:r>
                        <a:rPr kumimoji="1" lang="zh-CN" altLang="en-US" sz="1600" b="1" i="0" u="none" strike="noStrike" cap="none" normalizeH="0" baseline="0">
                          <a:ln>
                            <a:noFill/>
                          </a:ln>
                          <a:solidFill>
                            <a:schemeClr val="tx1"/>
                          </a:solidFill>
                          <a:effectLst/>
                          <a:latin typeface="Times New Roman" pitchFamily="18" charset="0"/>
                          <a:ea typeface="宋体" pitchFamily="2" charset="-122"/>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dst=dst+Xmem</a:t>
                      </a:r>
                      <a:endParaRPr kumimoji="1" lang="en-US" altLang="zh-CN" sz="1600" b="0" i="0" u="none" strike="noStrike" cap="none" normalizeH="0" baseline="0">
                        <a:ln>
                          <a:noFill/>
                        </a:ln>
                        <a:solidFill>
                          <a:schemeClr val="tx1"/>
                        </a:solidFill>
                        <a:effectLst/>
                        <a:latin typeface="Times New Roman" pitchFamily="18" charset="0"/>
                        <a:ea typeface="宋体" pitchFamily="2" charset="-122"/>
                      </a:endParaRPr>
                    </a:p>
                  </a:txBody>
                  <a:tcPr marT="45719" marB="4571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799746"/>
                                        </p:tgtEl>
                                        <p:attrNameLst>
                                          <p:attrName>style.visibility</p:attrName>
                                        </p:attrNameLst>
                                      </p:cBhvr>
                                      <p:to>
                                        <p:strVal val="visible"/>
                                      </p:to>
                                    </p:set>
                                    <p:animEffect transition="in" filter="slide(fromTop)">
                                      <p:cBhvr>
                                        <p:cTn id="7" dur="500"/>
                                        <p:tgtEl>
                                          <p:spTgt spid="799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4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5D182CC-60FB-43D4-A5D5-BA9541BBB210}" type="slidenum">
              <a:rPr lang="en-US" altLang="zh-CN" sz="1400"/>
              <a:pPr eaLnBrk="1" hangingPunct="1"/>
              <a:t>20</a:t>
            </a:fld>
            <a:endParaRPr lang="en-US" altLang="zh-CN" sz="1400"/>
          </a:p>
        </p:txBody>
      </p:sp>
      <p:sp>
        <p:nvSpPr>
          <p:cNvPr id="800770" name="Rectangle 2"/>
          <p:cNvSpPr>
            <a:spLocks noChangeArrowheads="1"/>
          </p:cNvSpPr>
          <p:nvPr/>
        </p:nvSpPr>
        <p:spPr bwMode="auto">
          <a:xfrm>
            <a:off x="228600" y="1143000"/>
            <a:ext cx="85344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b="1" dirty="0">
                <a:ea typeface="黑体" panose="02010609060101010101" pitchFamily="49" charset="-122"/>
              </a:rPr>
              <a:t>例</a:t>
            </a:r>
            <a:r>
              <a:rPr lang="en-US" altLang="zh-CN" b="1" dirty="0">
                <a:ea typeface="黑体" panose="02010609060101010101" pitchFamily="49" charset="-122"/>
              </a:rPr>
              <a:t>5-10 </a:t>
            </a:r>
            <a:r>
              <a:rPr lang="en-US" altLang="zh-CN" b="1" dirty="0">
                <a:latin typeface="宋体" panose="02010600030101010101" pitchFamily="2" charset="-122"/>
              </a:rPr>
              <a:t> </a:t>
            </a:r>
            <a:r>
              <a:rPr lang="zh-CN" altLang="en-US" b="1" dirty="0">
                <a:latin typeface="宋体" panose="02010600030101010101" pitchFamily="2" charset="-122"/>
              </a:rPr>
              <a:t>编写计算</a:t>
            </a:r>
            <a:r>
              <a:rPr lang="en-US" altLang="zh-CN" b="1" dirty="0">
                <a:latin typeface="宋体" panose="02010600030101010101" pitchFamily="2" charset="-122"/>
              </a:rPr>
              <a:t>z=</a:t>
            </a:r>
            <a:r>
              <a:rPr lang="en-US" altLang="zh-CN" b="1" dirty="0" err="1">
                <a:latin typeface="宋体" panose="02010600030101010101" pitchFamily="2" charset="-122"/>
              </a:rPr>
              <a:t>x+y</a:t>
            </a:r>
            <a:r>
              <a:rPr lang="zh-CN" altLang="en-US" b="1" dirty="0">
                <a:latin typeface="宋体" panose="02010600030101010101" pitchFamily="2" charset="-122"/>
              </a:rPr>
              <a:t>和</a:t>
            </a:r>
            <a:r>
              <a:rPr lang="en-US" altLang="zh-CN" b="1" dirty="0">
                <a:latin typeface="宋体" panose="02010600030101010101" pitchFamily="2" charset="-122"/>
              </a:rPr>
              <a:t>f=</a:t>
            </a:r>
            <a:r>
              <a:rPr lang="en-US" altLang="zh-CN" b="1" dirty="0" err="1">
                <a:latin typeface="宋体" panose="02010600030101010101" pitchFamily="2" charset="-122"/>
              </a:rPr>
              <a:t>d+e</a:t>
            </a:r>
            <a:r>
              <a:rPr lang="zh-CN" altLang="en-US" b="1" dirty="0">
                <a:latin typeface="宋体" panose="02010600030101010101" pitchFamily="2" charset="-122"/>
              </a:rPr>
              <a:t>的程序段。</a:t>
            </a:r>
            <a:endParaRPr lang="zh-CN" altLang="en-US" b="1" dirty="0"/>
          </a:p>
          <a:p>
            <a:pPr algn="just"/>
            <a:r>
              <a:rPr lang="zh-CN" altLang="en-US" b="1" dirty="0">
                <a:latin typeface="宋体" panose="02010600030101010101" pitchFamily="2" charset="-122"/>
              </a:rPr>
              <a:t>在此程序段中用到了并行存储</a:t>
            </a:r>
            <a:r>
              <a:rPr lang="en-US" altLang="zh-CN" b="1" dirty="0">
                <a:latin typeface="宋体" panose="02010600030101010101" pitchFamily="2" charset="-122"/>
              </a:rPr>
              <a:t>/</a:t>
            </a:r>
            <a:r>
              <a:rPr lang="zh-CN" altLang="en-US" b="1" dirty="0">
                <a:latin typeface="宋体" panose="02010600030101010101" pitchFamily="2" charset="-122"/>
              </a:rPr>
              <a:t>加载指令，即在同一机器周期内利用</a:t>
            </a:r>
            <a:r>
              <a:rPr lang="en-US" altLang="zh-CN" b="1" dirty="0">
                <a:latin typeface="宋体" panose="02010600030101010101" pitchFamily="2" charset="-122"/>
              </a:rPr>
              <a:t>E</a:t>
            </a:r>
            <a:r>
              <a:rPr lang="zh-CN" altLang="en-US" b="1" dirty="0">
                <a:latin typeface="宋体" panose="02010600030101010101" pitchFamily="2" charset="-122"/>
              </a:rPr>
              <a:t>总线存储和</a:t>
            </a:r>
            <a:r>
              <a:rPr lang="en-US" altLang="zh-CN" b="1" dirty="0">
                <a:latin typeface="宋体" panose="02010600030101010101" pitchFamily="2" charset="-122"/>
              </a:rPr>
              <a:t>D</a:t>
            </a:r>
            <a:r>
              <a:rPr lang="zh-CN" altLang="en-US" b="1" dirty="0">
                <a:latin typeface="宋体" panose="02010600030101010101" pitchFamily="2" charset="-122"/>
              </a:rPr>
              <a:t>总线加载。</a:t>
            </a:r>
            <a:endParaRPr lang="en-US" altLang="zh-CN" b="1" dirty="0">
              <a:latin typeface="宋体" panose="02010600030101010101" pitchFamily="2" charset="-122"/>
            </a:endParaRPr>
          </a:p>
          <a:p>
            <a:pPr algn="just"/>
            <a:r>
              <a:rPr lang="zh-CN" altLang="en-US" b="1" dirty="0">
                <a:latin typeface="宋体" panose="02010600030101010101" pitchFamily="2" charset="-122"/>
              </a:rPr>
              <a:t>数据存储器分配如图</a:t>
            </a:r>
            <a:r>
              <a:rPr lang="en-US" altLang="zh-CN" b="1" dirty="0">
                <a:latin typeface="宋体" panose="02010600030101010101" pitchFamily="2" charset="-122"/>
              </a:rPr>
              <a:t>5-4</a:t>
            </a:r>
            <a:r>
              <a:rPr lang="zh-CN" altLang="en-US" b="1" dirty="0">
                <a:latin typeface="宋体" panose="02010600030101010101" pitchFamily="2" charset="-122"/>
              </a:rPr>
              <a:t>所示。</a:t>
            </a:r>
            <a:endParaRPr lang="zh-CN" altLang="en-US" b="1" dirty="0"/>
          </a:p>
          <a:p>
            <a:pPr algn="just"/>
            <a:r>
              <a:rPr lang="zh-CN" altLang="en-US" b="1" dirty="0">
                <a:latin typeface="宋体" panose="02010600030101010101" pitchFamily="2" charset="-122"/>
              </a:rPr>
              <a:t>        </a:t>
            </a:r>
            <a:r>
              <a:rPr lang="en-US" altLang="zh-CN" b="1" dirty="0">
                <a:latin typeface="宋体" panose="02010600030101010101" pitchFamily="2" charset="-122"/>
              </a:rPr>
              <a:t>.title  </a:t>
            </a:r>
            <a:r>
              <a:rPr lang="en-US" altLang="zh-CN" b="1" dirty="0"/>
              <a:t>“</a:t>
            </a:r>
            <a:r>
              <a:rPr lang="en-US" altLang="zh-CN" b="1" dirty="0">
                <a:latin typeface="宋体" panose="02010600030101010101" pitchFamily="2" charset="-122"/>
              </a:rPr>
              <a:t>cjy3.asm</a:t>
            </a:r>
            <a:r>
              <a:rPr lang="en-US" altLang="zh-CN" b="1" dirty="0"/>
              <a:t>”</a:t>
            </a:r>
          </a:p>
          <a:p>
            <a:pPr algn="just"/>
            <a:r>
              <a:rPr lang="en-US" altLang="zh-CN" b="1" dirty="0">
                <a:latin typeface="宋体" panose="02010600030101010101" pitchFamily="2" charset="-122"/>
              </a:rPr>
              <a:t>        </a:t>
            </a:r>
            <a:r>
              <a:rPr lang="en-US" altLang="zh-CN" b="1" dirty="0">
                <a:solidFill>
                  <a:schemeClr val="folHlink"/>
                </a:solidFill>
                <a:latin typeface="宋体" panose="02010600030101010101" pitchFamily="2" charset="-122"/>
              </a:rPr>
              <a:t>.</a:t>
            </a:r>
            <a:r>
              <a:rPr lang="en-US" altLang="zh-CN" b="1" dirty="0" err="1">
                <a:solidFill>
                  <a:schemeClr val="folHlink"/>
                </a:solidFill>
                <a:latin typeface="宋体" panose="02010600030101010101" pitchFamily="2" charset="-122"/>
              </a:rPr>
              <a:t>mmregs</a:t>
            </a:r>
            <a:endParaRPr lang="en-US" altLang="zh-CN" b="1" dirty="0">
              <a:solidFill>
                <a:schemeClr val="folHlink"/>
              </a:solidFill>
            </a:endParaRPr>
          </a:p>
          <a:p>
            <a:pPr algn="just"/>
            <a:r>
              <a:rPr lang="en-US" altLang="zh-CN" b="1" dirty="0">
                <a:latin typeface="宋体" panose="02010600030101010101" pitchFamily="2" charset="-122"/>
              </a:rPr>
              <a:t>STACK   .</a:t>
            </a:r>
            <a:r>
              <a:rPr lang="en-US" altLang="zh-CN" b="1" dirty="0" err="1">
                <a:latin typeface="宋体" panose="02010600030101010101" pitchFamily="2" charset="-122"/>
              </a:rPr>
              <a:t>usect</a:t>
            </a:r>
            <a:r>
              <a:rPr lang="en-US" altLang="zh-CN" b="1" dirty="0">
                <a:latin typeface="宋体" panose="02010600030101010101" pitchFamily="2" charset="-122"/>
              </a:rPr>
              <a:t> </a:t>
            </a:r>
            <a:r>
              <a:rPr lang="en-US" altLang="zh-CN" b="1" dirty="0"/>
              <a:t>“</a:t>
            </a:r>
            <a:r>
              <a:rPr lang="en-US" altLang="zh-CN" b="1" dirty="0">
                <a:latin typeface="宋体" panose="02010600030101010101" pitchFamily="2" charset="-122"/>
              </a:rPr>
              <a:t>STACK</a:t>
            </a:r>
            <a:r>
              <a:rPr lang="en-US" altLang="zh-CN" b="1" dirty="0"/>
              <a:t>”</a:t>
            </a:r>
            <a:r>
              <a:rPr lang="en-US" altLang="zh-CN" b="1" dirty="0">
                <a:latin typeface="宋体" panose="02010600030101010101" pitchFamily="2" charset="-122"/>
              </a:rPr>
              <a:t>,10H</a:t>
            </a:r>
            <a:endParaRPr lang="en-US" altLang="zh-CN" b="1" dirty="0"/>
          </a:p>
          <a:p>
            <a:pPr algn="just"/>
            <a:r>
              <a:rPr lang="en-US" altLang="zh-CN" b="1" dirty="0">
                <a:latin typeface="宋体" panose="02010600030101010101" pitchFamily="2" charset="-122"/>
              </a:rPr>
              <a:t>        .</a:t>
            </a:r>
            <a:r>
              <a:rPr lang="en-US" altLang="zh-CN" b="1" dirty="0" err="1">
                <a:latin typeface="宋体" panose="02010600030101010101" pitchFamily="2" charset="-122"/>
              </a:rPr>
              <a:t>bss</a:t>
            </a:r>
            <a:r>
              <a:rPr lang="en-US" altLang="zh-CN" b="1" dirty="0">
                <a:latin typeface="宋体" panose="02010600030101010101" pitchFamily="2" charset="-122"/>
              </a:rPr>
              <a:t>     x,3   </a:t>
            </a:r>
            <a:r>
              <a:rPr lang="zh-CN" altLang="en-US" b="1" dirty="0">
                <a:latin typeface="宋体" panose="02010600030101010101" pitchFamily="2" charset="-122"/>
              </a:rPr>
              <a:t>；为第一组变量</a:t>
            </a:r>
          </a:p>
          <a:p>
            <a:pPr algn="just"/>
            <a:r>
              <a:rPr lang="zh-CN" altLang="en-US" b="1" dirty="0">
                <a:latin typeface="宋体" panose="02010600030101010101" pitchFamily="2" charset="-122"/>
              </a:rPr>
              <a:t>                       ；分配</a:t>
            </a:r>
            <a:r>
              <a:rPr lang="en-US" altLang="zh-CN" b="1" dirty="0">
                <a:latin typeface="宋体" panose="02010600030101010101" pitchFamily="2" charset="-122"/>
              </a:rPr>
              <a:t>3</a:t>
            </a:r>
            <a:r>
              <a:rPr lang="zh-CN" altLang="en-US" b="1" dirty="0">
                <a:latin typeface="宋体" panose="02010600030101010101" pitchFamily="2" charset="-122"/>
              </a:rPr>
              <a:t>个存储单元</a:t>
            </a:r>
            <a:endParaRPr lang="zh-CN" altLang="en-US" b="1" dirty="0"/>
          </a:p>
          <a:p>
            <a:pPr algn="just"/>
            <a:r>
              <a:rPr lang="zh-CN" altLang="en-US" b="1" dirty="0">
                <a:latin typeface="宋体" panose="02010600030101010101" pitchFamily="2" charset="-122"/>
              </a:rPr>
              <a:t>        </a:t>
            </a:r>
            <a:r>
              <a:rPr lang="en-US" altLang="zh-CN" b="1" dirty="0">
                <a:latin typeface="宋体" panose="02010600030101010101" pitchFamily="2" charset="-122"/>
              </a:rPr>
              <a:t>.</a:t>
            </a:r>
            <a:r>
              <a:rPr lang="en-US" altLang="zh-CN" b="1" dirty="0" err="1">
                <a:latin typeface="宋体" panose="02010600030101010101" pitchFamily="2" charset="-122"/>
              </a:rPr>
              <a:t>bss</a:t>
            </a:r>
            <a:r>
              <a:rPr lang="en-US" altLang="zh-CN" b="1" dirty="0">
                <a:latin typeface="宋体" panose="02010600030101010101" pitchFamily="2" charset="-122"/>
              </a:rPr>
              <a:t>     d,3   </a:t>
            </a:r>
            <a:r>
              <a:rPr lang="zh-CN" altLang="en-US" b="1" dirty="0">
                <a:latin typeface="宋体" panose="02010600030101010101" pitchFamily="2" charset="-122"/>
              </a:rPr>
              <a:t>；为第二组变量</a:t>
            </a:r>
          </a:p>
          <a:p>
            <a:pPr algn="just"/>
            <a:r>
              <a:rPr lang="zh-CN" altLang="en-US" b="1" dirty="0">
                <a:latin typeface="宋体" panose="02010600030101010101" pitchFamily="2" charset="-122"/>
              </a:rPr>
              <a:t>                       ；分配</a:t>
            </a:r>
            <a:r>
              <a:rPr lang="en-US" altLang="zh-CN" b="1" dirty="0">
                <a:latin typeface="宋体" panose="02010600030101010101" pitchFamily="2" charset="-122"/>
              </a:rPr>
              <a:t>3</a:t>
            </a:r>
            <a:r>
              <a:rPr lang="zh-CN" altLang="en-US" b="1" dirty="0">
                <a:latin typeface="宋体" panose="02010600030101010101" pitchFamily="2" charset="-122"/>
              </a:rPr>
              <a:t>个存储单元</a:t>
            </a:r>
            <a:endParaRPr lang="zh-CN" altLang="en-US" b="1" dirty="0"/>
          </a:p>
          <a:p>
            <a:pPr algn="just"/>
            <a:r>
              <a:rPr lang="zh-CN" altLang="en-US" b="1" dirty="0">
                <a:latin typeface="宋体" panose="02010600030101010101" pitchFamily="2" charset="-122"/>
              </a:rPr>
              <a:t>        </a:t>
            </a:r>
            <a:r>
              <a:rPr lang="en-US" altLang="zh-CN" b="1" dirty="0">
                <a:latin typeface="宋体" panose="02010600030101010101" pitchFamily="2" charset="-122"/>
              </a:rPr>
              <a:t>.</a:t>
            </a:r>
            <a:r>
              <a:rPr lang="en-US" altLang="zh-CN" b="1" dirty="0" err="1">
                <a:latin typeface="宋体" panose="02010600030101010101" pitchFamily="2" charset="-122"/>
              </a:rPr>
              <a:t>def</a:t>
            </a:r>
            <a:r>
              <a:rPr lang="en-US" altLang="zh-CN" b="1" dirty="0">
                <a:latin typeface="宋体" panose="02010600030101010101" pitchFamily="2" charset="-122"/>
              </a:rPr>
              <a:t>     start</a:t>
            </a:r>
            <a:endParaRPr lang="en-US" altLang="zh-CN" b="1" dirty="0"/>
          </a:p>
          <a:p>
            <a:pPr algn="just"/>
            <a:r>
              <a:rPr lang="en-US" altLang="zh-CN" b="1" dirty="0">
                <a:latin typeface="宋体" panose="02010600030101010101" pitchFamily="2" charset="-122"/>
              </a:rPr>
              <a:t>        .data</a:t>
            </a:r>
            <a:endParaRPr lang="en-US" altLang="zh-CN" b="1" dirty="0"/>
          </a:p>
          <a:p>
            <a:pPr algn="just"/>
            <a:r>
              <a:rPr lang="en-US" altLang="zh-CN" b="1" dirty="0">
                <a:latin typeface="宋体" panose="02010600030101010101" pitchFamily="2" charset="-122"/>
              </a:rPr>
              <a:t>table:  .word    0123H,1027H,0,1020H,0345H,0</a:t>
            </a:r>
            <a:endParaRPr lang="en-US" altLang="zh-CN" b="1" dirty="0"/>
          </a:p>
        </p:txBody>
      </p:sp>
      <p:grpSp>
        <p:nvGrpSpPr>
          <p:cNvPr id="33796" name="Group 39"/>
          <p:cNvGrpSpPr>
            <a:grpSpLocks/>
          </p:cNvGrpSpPr>
          <p:nvPr/>
        </p:nvGrpSpPr>
        <p:grpSpPr bwMode="auto">
          <a:xfrm>
            <a:off x="6516688" y="2565400"/>
            <a:ext cx="2303462" cy="3568700"/>
            <a:chOff x="4105" y="1616"/>
            <a:chExt cx="1451" cy="2248"/>
          </a:xfrm>
        </p:grpSpPr>
        <p:sp>
          <p:nvSpPr>
            <p:cNvPr id="33797" name="Rectangle 20"/>
            <p:cNvSpPr>
              <a:spLocks noChangeArrowheads="1"/>
            </p:cNvSpPr>
            <p:nvPr/>
          </p:nvSpPr>
          <p:spPr bwMode="auto">
            <a:xfrm>
              <a:off x="4876" y="2886"/>
              <a:ext cx="51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t>d</a:t>
              </a:r>
            </a:p>
          </p:txBody>
        </p:sp>
        <p:sp>
          <p:nvSpPr>
            <p:cNvPr id="33798" name="Rectangle 17"/>
            <p:cNvSpPr>
              <a:spLocks noChangeArrowheads="1"/>
            </p:cNvSpPr>
            <p:nvPr/>
          </p:nvSpPr>
          <p:spPr bwMode="auto">
            <a:xfrm>
              <a:off x="4876" y="2214"/>
              <a:ext cx="51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chemeClr val="tx2"/>
                  </a:solidFill>
                </a:rPr>
                <a:t>y</a:t>
              </a:r>
            </a:p>
          </p:txBody>
        </p:sp>
        <p:sp>
          <p:nvSpPr>
            <p:cNvPr id="33799" name="Rectangle 8"/>
            <p:cNvSpPr>
              <a:spLocks noChangeArrowheads="1"/>
            </p:cNvSpPr>
            <p:nvPr/>
          </p:nvSpPr>
          <p:spPr bwMode="auto">
            <a:xfrm>
              <a:off x="4876" y="3538"/>
              <a:ext cx="51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t>f</a:t>
              </a:r>
            </a:p>
          </p:txBody>
        </p:sp>
        <p:sp>
          <p:nvSpPr>
            <p:cNvPr id="33800" name="Rectangle 7"/>
            <p:cNvSpPr>
              <a:spLocks noChangeArrowheads="1"/>
            </p:cNvSpPr>
            <p:nvPr/>
          </p:nvSpPr>
          <p:spPr bwMode="auto">
            <a:xfrm>
              <a:off x="4876" y="3212"/>
              <a:ext cx="51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t>e</a:t>
              </a:r>
            </a:p>
          </p:txBody>
        </p:sp>
        <p:sp>
          <p:nvSpPr>
            <p:cNvPr id="33801" name="Rectangle 6"/>
            <p:cNvSpPr>
              <a:spLocks noChangeArrowheads="1"/>
            </p:cNvSpPr>
            <p:nvPr/>
          </p:nvSpPr>
          <p:spPr bwMode="auto">
            <a:xfrm>
              <a:off x="4876" y="2540"/>
              <a:ext cx="51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chemeClr val="tx2"/>
                  </a:solidFill>
                </a:rPr>
                <a:t>z</a:t>
              </a:r>
            </a:p>
          </p:txBody>
        </p:sp>
        <p:sp>
          <p:nvSpPr>
            <p:cNvPr id="33802" name="Rectangle 5"/>
            <p:cNvSpPr>
              <a:spLocks noChangeArrowheads="1"/>
            </p:cNvSpPr>
            <p:nvPr/>
          </p:nvSpPr>
          <p:spPr bwMode="auto">
            <a:xfrm>
              <a:off x="4876" y="1888"/>
              <a:ext cx="51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chemeClr val="tx2"/>
                  </a:solidFill>
                </a:rPr>
                <a:t>x</a:t>
              </a:r>
            </a:p>
          </p:txBody>
        </p:sp>
        <p:sp>
          <p:nvSpPr>
            <p:cNvPr id="33803" name="Line 9"/>
            <p:cNvSpPr>
              <a:spLocks noChangeShapeType="1"/>
            </p:cNvSpPr>
            <p:nvPr/>
          </p:nvSpPr>
          <p:spPr bwMode="auto">
            <a:xfrm>
              <a:off x="4876" y="1888"/>
              <a:ext cx="513"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4" name="Line 10"/>
            <p:cNvSpPr>
              <a:spLocks noChangeShapeType="1"/>
            </p:cNvSpPr>
            <p:nvPr/>
          </p:nvSpPr>
          <p:spPr bwMode="auto">
            <a:xfrm>
              <a:off x="4876" y="2540"/>
              <a:ext cx="5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5" name="Line 11"/>
            <p:cNvSpPr>
              <a:spLocks noChangeShapeType="1"/>
            </p:cNvSpPr>
            <p:nvPr/>
          </p:nvSpPr>
          <p:spPr bwMode="auto">
            <a:xfrm>
              <a:off x="4876" y="3212"/>
              <a:ext cx="5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6" name="Line 12"/>
            <p:cNvSpPr>
              <a:spLocks noChangeShapeType="1"/>
            </p:cNvSpPr>
            <p:nvPr/>
          </p:nvSpPr>
          <p:spPr bwMode="auto">
            <a:xfrm>
              <a:off x="4876" y="3538"/>
              <a:ext cx="5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7" name="Line 13"/>
            <p:cNvSpPr>
              <a:spLocks noChangeShapeType="1"/>
            </p:cNvSpPr>
            <p:nvPr/>
          </p:nvSpPr>
          <p:spPr bwMode="auto">
            <a:xfrm>
              <a:off x="4876" y="3864"/>
              <a:ext cx="513"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8" name="Line 14"/>
            <p:cNvSpPr>
              <a:spLocks noChangeShapeType="1"/>
            </p:cNvSpPr>
            <p:nvPr/>
          </p:nvSpPr>
          <p:spPr bwMode="auto">
            <a:xfrm>
              <a:off x="4876" y="1888"/>
              <a:ext cx="0" cy="1976"/>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9" name="Line 15"/>
            <p:cNvSpPr>
              <a:spLocks noChangeShapeType="1"/>
            </p:cNvSpPr>
            <p:nvPr/>
          </p:nvSpPr>
          <p:spPr bwMode="auto">
            <a:xfrm>
              <a:off x="5389" y="1888"/>
              <a:ext cx="0" cy="1976"/>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10" name="Line 18"/>
            <p:cNvSpPr>
              <a:spLocks noChangeShapeType="1"/>
            </p:cNvSpPr>
            <p:nvPr/>
          </p:nvSpPr>
          <p:spPr bwMode="auto">
            <a:xfrm>
              <a:off x="4876" y="2214"/>
              <a:ext cx="5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11" name="Line 21"/>
            <p:cNvSpPr>
              <a:spLocks noChangeShapeType="1"/>
            </p:cNvSpPr>
            <p:nvPr/>
          </p:nvSpPr>
          <p:spPr bwMode="auto">
            <a:xfrm>
              <a:off x="4876" y="2886"/>
              <a:ext cx="513"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12" name="Text Box 34"/>
            <p:cNvSpPr txBox="1">
              <a:spLocks noChangeArrowheads="1"/>
            </p:cNvSpPr>
            <p:nvPr/>
          </p:nvSpPr>
          <p:spPr bwMode="auto">
            <a:xfrm>
              <a:off x="4558" y="1616"/>
              <a:ext cx="9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00"/>
                  </a:solidFill>
                </a:rPr>
                <a:t>数据存储器</a:t>
              </a:r>
            </a:p>
          </p:txBody>
        </p:sp>
        <p:sp>
          <p:nvSpPr>
            <p:cNvPr id="33813" name="Text Box 36"/>
            <p:cNvSpPr txBox="1">
              <a:spLocks noChangeArrowheads="1"/>
            </p:cNvSpPr>
            <p:nvPr/>
          </p:nvSpPr>
          <p:spPr bwMode="auto">
            <a:xfrm>
              <a:off x="4105" y="1933"/>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0000"/>
                  </a:solidFill>
                </a:rPr>
                <a:t>AR5 →</a:t>
              </a:r>
            </a:p>
          </p:txBody>
        </p:sp>
        <p:sp>
          <p:nvSpPr>
            <p:cNvPr id="33814" name="Text Box 38"/>
            <p:cNvSpPr txBox="1">
              <a:spLocks noChangeArrowheads="1"/>
            </p:cNvSpPr>
            <p:nvPr/>
          </p:nvSpPr>
          <p:spPr bwMode="auto">
            <a:xfrm>
              <a:off x="4105" y="2976"/>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0000"/>
                  </a:solidFill>
                </a:rPr>
                <a:t>AR2 →</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00770"/>
                                        </p:tgtEl>
                                        <p:attrNameLst>
                                          <p:attrName>style.visibility</p:attrName>
                                        </p:attrNameLst>
                                      </p:cBhvr>
                                      <p:to>
                                        <p:strVal val="visible"/>
                                      </p:to>
                                    </p:set>
                                    <p:animEffect transition="in" filter="blinds(horizontal)">
                                      <p:cBhvr>
                                        <p:cTn id="7" dur="500"/>
                                        <p:tgtEl>
                                          <p:spTgt spid="800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7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1F6CEE6-7A2C-473C-AD8F-AD0CA49453A8}" type="slidenum">
              <a:rPr lang="en-US" altLang="zh-CN" sz="1400"/>
              <a:pPr eaLnBrk="1" hangingPunct="1"/>
              <a:t>21</a:t>
            </a:fld>
            <a:endParaRPr lang="en-US" altLang="zh-CN" sz="1400"/>
          </a:p>
        </p:txBody>
      </p:sp>
      <p:sp>
        <p:nvSpPr>
          <p:cNvPr id="34819" name="Rectangle 2"/>
          <p:cNvSpPr>
            <a:spLocks noChangeArrowheads="1"/>
          </p:cNvSpPr>
          <p:nvPr/>
        </p:nvSpPr>
        <p:spPr bwMode="auto">
          <a:xfrm>
            <a:off x="228600" y="892175"/>
            <a:ext cx="86868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5000"/>
              </a:lnSpc>
              <a:spcBef>
                <a:spcPct val="10000"/>
              </a:spcBef>
            </a:pPr>
            <a:endParaRPr lang="en-US" altLang="zh-CN" b="1">
              <a:latin typeface="宋体" panose="02010600030101010101" pitchFamily="2" charset="-122"/>
            </a:endParaRPr>
          </a:p>
          <a:p>
            <a:pPr algn="just" eaLnBrk="1" hangingPunct="1">
              <a:lnSpc>
                <a:spcPct val="85000"/>
              </a:lnSpc>
              <a:spcBef>
                <a:spcPct val="10000"/>
              </a:spcBef>
            </a:pPr>
            <a:endParaRPr lang="en-US" altLang="zh-CN" b="1"/>
          </a:p>
        </p:txBody>
      </p:sp>
      <p:sp>
        <p:nvSpPr>
          <p:cNvPr id="801795" name="Rectangle 3"/>
          <p:cNvSpPr>
            <a:spLocks noChangeArrowheads="1"/>
          </p:cNvSpPr>
          <p:nvPr/>
        </p:nvSpPr>
        <p:spPr bwMode="auto">
          <a:xfrm>
            <a:off x="228600" y="990600"/>
            <a:ext cx="8610600" cy="564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10000"/>
              </a:spcBef>
            </a:pPr>
            <a:r>
              <a:rPr lang="en-US" altLang="zh-CN" b="1">
                <a:latin typeface="宋体" panose="02010600030101010101" pitchFamily="2" charset="-122"/>
              </a:rPr>
              <a:t>      .text </a:t>
            </a:r>
          </a:p>
          <a:p>
            <a:pPr>
              <a:lnSpc>
                <a:spcPct val="80000"/>
              </a:lnSpc>
              <a:spcBef>
                <a:spcPct val="10000"/>
              </a:spcBef>
            </a:pPr>
            <a:r>
              <a:rPr lang="en-US" altLang="zh-CN" b="1">
                <a:latin typeface="宋体" panose="02010600030101010101" pitchFamily="2" charset="-122"/>
              </a:rPr>
              <a:t>start:STM   #0,SWWSR </a:t>
            </a:r>
          </a:p>
          <a:p>
            <a:pPr>
              <a:lnSpc>
                <a:spcPct val="80000"/>
              </a:lnSpc>
              <a:spcBef>
                <a:spcPct val="10000"/>
              </a:spcBef>
            </a:pPr>
            <a:r>
              <a:rPr lang="en-US" altLang="zh-CN" b="1">
                <a:latin typeface="宋体" panose="02010600030101010101" pitchFamily="2" charset="-122"/>
              </a:rPr>
              <a:t>      STM   #STACK+10H,SP</a:t>
            </a:r>
            <a:endParaRPr lang="en-US" altLang="zh-CN" b="1"/>
          </a:p>
          <a:p>
            <a:pPr>
              <a:lnSpc>
                <a:spcPct val="80000"/>
              </a:lnSpc>
              <a:spcBef>
                <a:spcPct val="10000"/>
              </a:spcBef>
            </a:pPr>
            <a:r>
              <a:rPr lang="en-US" altLang="zh-CN" b="1">
                <a:latin typeface="宋体" panose="02010600030101010101" pitchFamily="2" charset="-122"/>
              </a:rPr>
              <a:t>      STM   #x,AR1</a:t>
            </a:r>
            <a:endParaRPr lang="en-US" altLang="zh-CN" b="1"/>
          </a:p>
          <a:p>
            <a:pPr>
              <a:lnSpc>
                <a:spcPct val="80000"/>
              </a:lnSpc>
              <a:spcBef>
                <a:spcPct val="10000"/>
              </a:spcBef>
            </a:pPr>
            <a:r>
              <a:rPr lang="en-US" altLang="zh-CN" b="1">
                <a:latin typeface="宋体" panose="02010600030101010101" pitchFamily="2" charset="-122"/>
              </a:rPr>
              <a:t>      RPT   #5</a:t>
            </a:r>
            <a:endParaRPr lang="en-US" altLang="zh-CN" b="1"/>
          </a:p>
          <a:p>
            <a:pPr>
              <a:lnSpc>
                <a:spcPct val="80000"/>
              </a:lnSpc>
              <a:spcBef>
                <a:spcPct val="10000"/>
              </a:spcBef>
            </a:pPr>
            <a:r>
              <a:rPr lang="en-US" altLang="zh-CN" b="1">
                <a:latin typeface="宋体" panose="02010600030101010101" pitchFamily="2" charset="-122"/>
              </a:rPr>
              <a:t>      MVPD  table,*AR1+</a:t>
            </a:r>
            <a:endParaRPr lang="en-US" altLang="zh-CN" b="1"/>
          </a:p>
          <a:p>
            <a:pPr>
              <a:lnSpc>
                <a:spcPct val="80000"/>
              </a:lnSpc>
              <a:spcBef>
                <a:spcPct val="10000"/>
              </a:spcBef>
            </a:pPr>
            <a:r>
              <a:rPr lang="en-US" altLang="zh-CN" b="1">
                <a:latin typeface="宋体" panose="02010600030101010101" pitchFamily="2" charset="-122"/>
              </a:rPr>
              <a:t>      STM   #x,AR5     </a:t>
            </a:r>
            <a:r>
              <a:rPr lang="zh-CN" altLang="en-US" b="1">
                <a:latin typeface="宋体" panose="02010600030101010101" pitchFamily="2" charset="-122"/>
              </a:rPr>
              <a:t>；将第一组变量的首地址传给</a:t>
            </a:r>
            <a:r>
              <a:rPr lang="en-US" altLang="zh-CN" b="1">
                <a:latin typeface="宋体" panose="02010600030101010101" pitchFamily="2" charset="-122"/>
              </a:rPr>
              <a:t>AR5 </a:t>
            </a:r>
            <a:endParaRPr lang="en-US" altLang="zh-CN" b="1"/>
          </a:p>
          <a:p>
            <a:pPr>
              <a:lnSpc>
                <a:spcPct val="80000"/>
              </a:lnSpc>
              <a:spcBef>
                <a:spcPct val="10000"/>
              </a:spcBef>
            </a:pPr>
            <a:r>
              <a:rPr lang="en-US" altLang="zh-CN" b="1">
                <a:latin typeface="宋体" panose="02010600030101010101" pitchFamily="2" charset="-122"/>
              </a:rPr>
              <a:t>      STM   #d,AR2     </a:t>
            </a:r>
            <a:r>
              <a:rPr lang="zh-CN" altLang="en-US" b="1">
                <a:latin typeface="宋体" panose="02010600030101010101" pitchFamily="2" charset="-122"/>
              </a:rPr>
              <a:t>；将第二组变量的首地址传给</a:t>
            </a:r>
            <a:r>
              <a:rPr lang="en-US" altLang="zh-CN" b="1">
                <a:latin typeface="宋体" panose="02010600030101010101" pitchFamily="2" charset="-122"/>
              </a:rPr>
              <a:t>AR2</a:t>
            </a:r>
            <a:endParaRPr lang="en-US" altLang="zh-CN" b="1"/>
          </a:p>
          <a:p>
            <a:pPr>
              <a:lnSpc>
                <a:spcPct val="80000"/>
              </a:lnSpc>
              <a:spcBef>
                <a:spcPct val="10000"/>
              </a:spcBef>
            </a:pPr>
            <a:r>
              <a:rPr lang="en-US" altLang="zh-CN" b="1">
                <a:latin typeface="宋体" panose="02010600030101010101" pitchFamily="2" charset="-122"/>
              </a:rPr>
              <a:t>      LD    #0,ASM     </a:t>
            </a:r>
            <a:r>
              <a:rPr lang="zh-CN" altLang="en-US" b="1">
                <a:latin typeface="宋体" panose="02010600030101010101" pitchFamily="2" charset="-122"/>
              </a:rPr>
              <a:t>；设置</a:t>
            </a:r>
            <a:r>
              <a:rPr lang="en-US" altLang="zh-CN" b="1">
                <a:latin typeface="宋体" panose="02010600030101010101" pitchFamily="2" charset="-122"/>
              </a:rPr>
              <a:t>ASM=0  </a:t>
            </a:r>
            <a:endParaRPr lang="en-US" altLang="zh-CN" b="1"/>
          </a:p>
          <a:p>
            <a:pPr>
              <a:lnSpc>
                <a:spcPct val="80000"/>
              </a:lnSpc>
              <a:spcBef>
                <a:spcPct val="10000"/>
              </a:spcBef>
            </a:pPr>
            <a:r>
              <a:rPr lang="en-US" altLang="zh-CN" b="1">
                <a:latin typeface="宋体" panose="02010600030101010101" pitchFamily="2" charset="-122"/>
              </a:rPr>
              <a:t>      LD    *AR5+,16,A </a:t>
            </a:r>
            <a:r>
              <a:rPr lang="zh-CN" altLang="en-US" b="1">
                <a:latin typeface="宋体" panose="02010600030101010101" pitchFamily="2" charset="-122"/>
              </a:rPr>
              <a:t>；将</a:t>
            </a:r>
            <a:r>
              <a:rPr lang="en-US" altLang="zh-CN" b="1">
                <a:latin typeface="宋体" panose="02010600030101010101" pitchFamily="2" charset="-122"/>
              </a:rPr>
              <a:t>x</a:t>
            </a:r>
            <a:r>
              <a:rPr lang="zh-CN" altLang="en-US" b="1">
                <a:latin typeface="宋体" panose="02010600030101010101" pitchFamily="2" charset="-122"/>
              </a:rPr>
              <a:t>的值左移</a:t>
            </a:r>
            <a:r>
              <a:rPr lang="en-US" altLang="zh-CN" b="1">
                <a:latin typeface="宋体" panose="02010600030101010101" pitchFamily="2" charset="-122"/>
              </a:rPr>
              <a:t>16</a:t>
            </a:r>
            <a:r>
              <a:rPr lang="zh-CN" altLang="en-US" b="1">
                <a:latin typeface="宋体" panose="02010600030101010101" pitchFamily="2" charset="-122"/>
              </a:rPr>
              <a:t>位放入</a:t>
            </a:r>
            <a:r>
              <a:rPr lang="en-US" altLang="zh-CN" b="1">
                <a:latin typeface="宋体" panose="02010600030101010101" pitchFamily="2" charset="-122"/>
              </a:rPr>
              <a:t>A</a:t>
            </a:r>
            <a:r>
              <a:rPr lang="zh-CN" altLang="en-US" b="1">
                <a:latin typeface="宋体" panose="02010600030101010101" pitchFamily="2" charset="-122"/>
              </a:rPr>
              <a:t>的高端字</a:t>
            </a:r>
            <a:endParaRPr lang="zh-CN" altLang="en-US" b="1"/>
          </a:p>
          <a:p>
            <a:pPr>
              <a:lnSpc>
                <a:spcPct val="80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ADD   *AR5+,16,A </a:t>
            </a:r>
            <a:r>
              <a:rPr lang="zh-CN" altLang="en-US" b="1">
                <a:latin typeface="宋体" panose="02010600030101010101" pitchFamily="2" charset="-122"/>
              </a:rPr>
              <a:t>；将</a:t>
            </a:r>
            <a:r>
              <a:rPr lang="en-US" altLang="zh-CN" b="1">
                <a:latin typeface="宋体" panose="02010600030101010101" pitchFamily="2" charset="-122"/>
              </a:rPr>
              <a:t>y</a:t>
            </a:r>
            <a:r>
              <a:rPr lang="zh-CN" altLang="en-US" b="1">
                <a:latin typeface="宋体" panose="02010600030101010101" pitchFamily="2" charset="-122"/>
              </a:rPr>
              <a:t>值左移</a:t>
            </a:r>
            <a:r>
              <a:rPr lang="en-US" altLang="zh-CN" b="1">
                <a:latin typeface="宋体" panose="02010600030101010101" pitchFamily="2" charset="-122"/>
              </a:rPr>
              <a:t>16</a:t>
            </a:r>
            <a:r>
              <a:rPr lang="zh-CN" altLang="en-US" b="1">
                <a:latin typeface="宋体" panose="02010600030101010101" pitchFamily="2" charset="-122"/>
              </a:rPr>
              <a:t>位与</a:t>
            </a:r>
            <a:r>
              <a:rPr lang="en-US" altLang="zh-CN" b="1">
                <a:latin typeface="宋体" panose="02010600030101010101" pitchFamily="2" charset="-122"/>
              </a:rPr>
              <a:t>A</a:t>
            </a:r>
            <a:r>
              <a:rPr lang="zh-CN" altLang="en-US" b="1">
                <a:latin typeface="宋体" panose="02010600030101010101" pitchFamily="2" charset="-122"/>
              </a:rPr>
              <a:t>的高端字</a:t>
            </a:r>
            <a:r>
              <a:rPr lang="en-US" altLang="zh-CN" b="1">
                <a:latin typeface="宋体" panose="02010600030101010101" pitchFamily="2" charset="-122"/>
              </a:rPr>
              <a:t>x</a:t>
            </a:r>
            <a:r>
              <a:rPr lang="zh-CN" altLang="en-US" b="1">
                <a:latin typeface="宋体" panose="02010600030101010101" pitchFamily="2" charset="-122"/>
              </a:rPr>
              <a:t>相加</a:t>
            </a:r>
            <a:endParaRPr lang="zh-CN" altLang="en-US" b="1"/>
          </a:p>
          <a:p>
            <a:pPr>
              <a:lnSpc>
                <a:spcPct val="80000"/>
              </a:lnSpc>
              <a:spcBef>
                <a:spcPct val="10000"/>
              </a:spcBef>
            </a:pPr>
            <a:r>
              <a:rPr lang="zh-CN" altLang="en-US" b="1">
                <a:latin typeface="宋体" panose="02010600030101010101" pitchFamily="2" charset="-122"/>
              </a:rPr>
              <a:t>      </a:t>
            </a:r>
            <a:r>
              <a:rPr lang="en-US" altLang="zh-CN" b="1">
                <a:solidFill>
                  <a:schemeClr val="tx2"/>
                </a:solidFill>
                <a:latin typeface="宋体" panose="02010600030101010101" pitchFamily="2" charset="-122"/>
              </a:rPr>
              <a:t>ST    A,*AR5</a:t>
            </a:r>
            <a:r>
              <a:rPr lang="en-US" altLang="zh-CN" b="1">
                <a:latin typeface="宋体" panose="02010600030101010101" pitchFamily="2" charset="-122"/>
              </a:rPr>
              <a:t>     </a:t>
            </a:r>
            <a:r>
              <a:rPr lang="zh-CN" altLang="en-US" b="1">
                <a:latin typeface="宋体" panose="02010600030101010101" pitchFamily="2" charset="-122"/>
              </a:rPr>
              <a:t>；将</a:t>
            </a:r>
            <a:r>
              <a:rPr lang="en-US" altLang="zh-CN" b="1">
                <a:latin typeface="宋体" panose="02010600030101010101" pitchFamily="2" charset="-122"/>
              </a:rPr>
              <a:t>A</a:t>
            </a:r>
            <a:r>
              <a:rPr lang="zh-CN" altLang="en-US" b="1">
                <a:latin typeface="宋体" panose="02010600030101010101" pitchFamily="2" charset="-122"/>
              </a:rPr>
              <a:t>中的和值右移</a:t>
            </a:r>
            <a:r>
              <a:rPr lang="en-US" altLang="zh-CN" b="1">
                <a:latin typeface="宋体" panose="02010600030101010101" pitchFamily="2" charset="-122"/>
              </a:rPr>
              <a:t>16</a:t>
            </a:r>
            <a:r>
              <a:rPr lang="zh-CN" altLang="en-US" b="1">
                <a:latin typeface="宋体" panose="02010600030101010101" pitchFamily="2" charset="-122"/>
              </a:rPr>
              <a:t>位存入</a:t>
            </a:r>
            <a:r>
              <a:rPr lang="en-US" altLang="zh-CN" b="1">
                <a:latin typeface="宋体" panose="02010600030101010101" pitchFamily="2" charset="-122"/>
              </a:rPr>
              <a:t>z</a:t>
            </a:r>
            <a:r>
              <a:rPr lang="zh-CN" altLang="en-US" b="1">
                <a:latin typeface="宋体" panose="02010600030101010101" pitchFamily="2" charset="-122"/>
              </a:rPr>
              <a:t>中</a:t>
            </a:r>
            <a:endParaRPr lang="zh-CN" altLang="en-US" b="1"/>
          </a:p>
          <a:p>
            <a:pPr>
              <a:lnSpc>
                <a:spcPct val="80000"/>
              </a:lnSpc>
              <a:spcBef>
                <a:spcPct val="10000"/>
              </a:spcBef>
            </a:pPr>
            <a:r>
              <a:rPr lang="zh-CN" altLang="en-US" b="1">
                <a:latin typeface="宋体" panose="02010600030101010101" pitchFamily="2" charset="-122"/>
              </a:rPr>
              <a:t>      </a:t>
            </a:r>
            <a:r>
              <a:rPr lang="en-US" altLang="zh-CN" b="1">
                <a:solidFill>
                  <a:schemeClr val="tx2"/>
                </a:solidFill>
                <a:latin typeface="宋体" panose="02010600030101010101" pitchFamily="2" charset="-122"/>
              </a:rPr>
              <a:t>‖LD  *AR2+,B</a:t>
            </a:r>
            <a:r>
              <a:rPr lang="en-US" altLang="zh-CN" b="1">
                <a:latin typeface="宋体" panose="02010600030101010101" pitchFamily="2" charset="-122"/>
              </a:rPr>
              <a:t>    </a:t>
            </a:r>
            <a:r>
              <a:rPr lang="zh-CN" altLang="en-US" b="1">
                <a:latin typeface="宋体" panose="02010600030101010101" pitchFamily="2" charset="-122"/>
              </a:rPr>
              <a:t>；将</a:t>
            </a:r>
            <a:r>
              <a:rPr lang="en-US" altLang="zh-CN" b="1">
                <a:latin typeface="宋体" panose="02010600030101010101" pitchFamily="2" charset="-122"/>
              </a:rPr>
              <a:t>d</a:t>
            </a:r>
            <a:r>
              <a:rPr lang="zh-CN" altLang="en-US" b="1">
                <a:latin typeface="宋体" panose="02010600030101010101" pitchFamily="2" charset="-122"/>
              </a:rPr>
              <a:t>的值左移</a:t>
            </a:r>
            <a:r>
              <a:rPr lang="en-US" altLang="zh-CN" b="1">
                <a:latin typeface="宋体" panose="02010600030101010101" pitchFamily="2" charset="-122"/>
              </a:rPr>
              <a:t>16</a:t>
            </a:r>
            <a:r>
              <a:rPr lang="zh-CN" altLang="en-US" b="1">
                <a:latin typeface="宋体" panose="02010600030101010101" pitchFamily="2" charset="-122"/>
              </a:rPr>
              <a:t>位放入</a:t>
            </a:r>
            <a:r>
              <a:rPr lang="en-US" altLang="zh-CN" b="1">
                <a:latin typeface="宋体" panose="02010600030101010101" pitchFamily="2" charset="-122"/>
              </a:rPr>
              <a:t>B</a:t>
            </a:r>
            <a:r>
              <a:rPr lang="zh-CN" altLang="en-US" b="1">
                <a:latin typeface="宋体" panose="02010600030101010101" pitchFamily="2" charset="-122"/>
              </a:rPr>
              <a:t>的高端字</a:t>
            </a:r>
            <a:endParaRPr lang="zh-CN" altLang="en-US" b="1"/>
          </a:p>
          <a:p>
            <a:pPr>
              <a:lnSpc>
                <a:spcPct val="80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ADD   *AR2+,16,B </a:t>
            </a:r>
            <a:r>
              <a:rPr lang="zh-CN" altLang="en-US" b="1">
                <a:latin typeface="宋体" panose="02010600030101010101" pitchFamily="2" charset="-122"/>
              </a:rPr>
              <a:t>；将</a:t>
            </a:r>
            <a:r>
              <a:rPr lang="en-US" altLang="zh-CN" b="1">
                <a:latin typeface="宋体" panose="02010600030101010101" pitchFamily="2" charset="-122"/>
              </a:rPr>
              <a:t>e</a:t>
            </a:r>
            <a:r>
              <a:rPr lang="zh-CN" altLang="en-US" b="1">
                <a:latin typeface="宋体" panose="02010600030101010101" pitchFamily="2" charset="-122"/>
              </a:rPr>
              <a:t>值左移</a:t>
            </a:r>
            <a:r>
              <a:rPr lang="en-US" altLang="zh-CN" b="1">
                <a:latin typeface="宋体" panose="02010600030101010101" pitchFamily="2" charset="-122"/>
              </a:rPr>
              <a:t>16</a:t>
            </a:r>
            <a:r>
              <a:rPr lang="zh-CN" altLang="en-US" b="1">
                <a:latin typeface="宋体" panose="02010600030101010101" pitchFamily="2" charset="-122"/>
              </a:rPr>
              <a:t>位与</a:t>
            </a:r>
            <a:r>
              <a:rPr lang="en-US" altLang="zh-CN" b="1">
                <a:latin typeface="宋体" panose="02010600030101010101" pitchFamily="2" charset="-122"/>
              </a:rPr>
              <a:t>B</a:t>
            </a:r>
            <a:r>
              <a:rPr lang="zh-CN" altLang="en-US" b="1">
                <a:latin typeface="宋体" panose="02010600030101010101" pitchFamily="2" charset="-122"/>
              </a:rPr>
              <a:t>的高端字</a:t>
            </a:r>
            <a:r>
              <a:rPr lang="en-US" altLang="zh-CN" b="1">
                <a:latin typeface="宋体" panose="02010600030101010101" pitchFamily="2" charset="-122"/>
              </a:rPr>
              <a:t>d</a:t>
            </a:r>
            <a:r>
              <a:rPr lang="zh-CN" altLang="en-US" b="1">
                <a:latin typeface="宋体" panose="02010600030101010101" pitchFamily="2" charset="-122"/>
              </a:rPr>
              <a:t>相加</a:t>
            </a:r>
            <a:endParaRPr lang="zh-CN" altLang="en-US" b="1"/>
          </a:p>
          <a:p>
            <a:pPr>
              <a:lnSpc>
                <a:spcPct val="80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STH   B,*AR2     </a:t>
            </a:r>
            <a:r>
              <a:rPr lang="zh-CN" altLang="en-US" b="1">
                <a:latin typeface="宋体" panose="02010600030101010101" pitchFamily="2" charset="-122"/>
              </a:rPr>
              <a:t>；将</a:t>
            </a:r>
            <a:r>
              <a:rPr lang="en-US" altLang="zh-CN" b="1">
                <a:latin typeface="宋体" panose="02010600030101010101" pitchFamily="2" charset="-122"/>
              </a:rPr>
              <a:t>B</a:t>
            </a:r>
            <a:r>
              <a:rPr lang="zh-CN" altLang="en-US" b="1">
                <a:latin typeface="宋体" panose="02010600030101010101" pitchFamily="2" charset="-122"/>
              </a:rPr>
              <a:t>的高端字中的和值存入</a:t>
            </a:r>
            <a:r>
              <a:rPr lang="en-US" altLang="zh-CN" b="1">
                <a:latin typeface="宋体" panose="02010600030101010101" pitchFamily="2" charset="-122"/>
              </a:rPr>
              <a:t>f</a:t>
            </a:r>
            <a:r>
              <a:rPr lang="zh-CN" altLang="en-US" b="1">
                <a:latin typeface="宋体" panose="02010600030101010101" pitchFamily="2" charset="-122"/>
              </a:rPr>
              <a:t>中</a:t>
            </a:r>
            <a:endParaRPr lang="zh-CN" altLang="en-US" b="1"/>
          </a:p>
          <a:p>
            <a:pPr>
              <a:lnSpc>
                <a:spcPct val="80000"/>
              </a:lnSpc>
              <a:spcBef>
                <a:spcPct val="10000"/>
              </a:spcBef>
            </a:pPr>
            <a:r>
              <a:rPr lang="en-US" altLang="zh-CN" b="1">
                <a:latin typeface="宋体" panose="02010600030101010101" pitchFamily="2" charset="-122"/>
              </a:rPr>
              <a:t>end:  B     end</a:t>
            </a:r>
            <a:endParaRPr lang="en-US" altLang="zh-CN" b="1"/>
          </a:p>
          <a:p>
            <a:pPr>
              <a:lnSpc>
                <a:spcPct val="80000"/>
              </a:lnSpc>
              <a:spcBef>
                <a:spcPct val="10000"/>
              </a:spcBef>
            </a:pPr>
            <a:r>
              <a:rPr lang="en-US" altLang="zh-CN" b="1">
                <a:latin typeface="宋体" panose="02010600030101010101" pitchFamily="2" charset="-122"/>
              </a:rPr>
              <a:t>      .end</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01795"/>
                                        </p:tgtEl>
                                        <p:attrNameLst>
                                          <p:attrName>style.visibility</p:attrName>
                                        </p:attrNameLst>
                                      </p:cBhvr>
                                      <p:to>
                                        <p:strVal val="visible"/>
                                      </p:to>
                                    </p:set>
                                    <p:animEffect transition="in" filter="blinds(horizontal)">
                                      <p:cBhvr>
                                        <p:cTn id="7" dur="500"/>
                                        <p:tgtEl>
                                          <p:spTgt spid="801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A0B6719-DE08-4268-8ADB-56F10297FAB1}" type="slidenum">
              <a:rPr lang="en-US" altLang="zh-CN" sz="1400"/>
              <a:pPr eaLnBrk="1" hangingPunct="1"/>
              <a:t>22</a:t>
            </a:fld>
            <a:endParaRPr lang="en-US" altLang="zh-CN" sz="1400"/>
          </a:p>
        </p:txBody>
      </p:sp>
      <p:sp>
        <p:nvSpPr>
          <p:cNvPr id="802818" name="Rectangle 2" descr="小棋盘"/>
          <p:cNvSpPr>
            <a:spLocks noChangeArrowheads="1"/>
          </p:cNvSpPr>
          <p:nvPr/>
        </p:nvSpPr>
        <p:spPr bwMode="auto">
          <a:xfrm>
            <a:off x="1890713" y="1340768"/>
            <a:ext cx="50292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a:t>
            </a:r>
            <a:r>
              <a:rPr lang="en-US" altLang="zh-CN" sz="3200" b="1">
                <a:solidFill>
                  <a:srgbClr val="FF0000"/>
                </a:solidFill>
                <a:latin typeface="宋体" panose="02010600030101010101" pitchFamily="2" charset="-122"/>
              </a:rPr>
              <a:t>7</a:t>
            </a:r>
            <a:r>
              <a:rPr lang="zh-CN" altLang="en-US" sz="3200" b="1">
                <a:solidFill>
                  <a:srgbClr val="FF0000"/>
                </a:solidFill>
                <a:latin typeface="宋体" panose="02010600030101010101" pitchFamily="2" charset="-122"/>
              </a:rPr>
              <a:t>．</a:t>
            </a:r>
            <a:r>
              <a:rPr lang="en-US" altLang="zh-CN" sz="3200" b="1">
                <a:solidFill>
                  <a:srgbClr val="FF0000"/>
                </a:solidFill>
                <a:latin typeface="宋体" panose="02010600030101010101" pitchFamily="2" charset="-122"/>
              </a:rPr>
              <a:t>64</a:t>
            </a:r>
            <a:r>
              <a:rPr lang="zh-CN" altLang="en-US" sz="3200" b="1">
                <a:solidFill>
                  <a:srgbClr val="FF0000"/>
                </a:solidFill>
                <a:latin typeface="宋体" panose="02010600030101010101" pitchFamily="2" charset="-122"/>
              </a:rPr>
              <a:t>位加法和减法运算</a:t>
            </a:r>
            <a:r>
              <a:rPr lang="zh-CN" altLang="en-US" sz="3200" b="1">
                <a:solidFill>
                  <a:srgbClr val="FF0000"/>
                </a:solidFill>
                <a:latin typeface="宋体" panose="02010600030101010101" pitchFamily="2" charset="-122"/>
                <a:ea typeface="仿宋_GB2312" pitchFamily="49" charset="-122"/>
              </a:rPr>
              <a:t> </a:t>
            </a:r>
          </a:p>
        </p:txBody>
      </p:sp>
      <p:sp>
        <p:nvSpPr>
          <p:cNvPr id="802819" name="Rectangle 3"/>
          <p:cNvSpPr>
            <a:spLocks noChangeArrowheads="1"/>
          </p:cNvSpPr>
          <p:nvPr/>
        </p:nvSpPr>
        <p:spPr bwMode="auto">
          <a:xfrm>
            <a:off x="304800" y="2362200"/>
            <a:ext cx="845820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15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b="1">
                <a:ea typeface="黑体" panose="02010609060101010101" pitchFamily="49" charset="-122"/>
              </a:rPr>
              <a:t>例</a:t>
            </a:r>
            <a:r>
              <a:rPr lang="en-US" altLang="zh-CN" b="1">
                <a:ea typeface="黑体" panose="02010609060101010101" pitchFamily="49" charset="-122"/>
              </a:rPr>
              <a:t>5-11</a:t>
            </a:r>
            <a:r>
              <a:rPr lang="en-US" altLang="zh-CN" b="1">
                <a:latin typeface="宋体" panose="02010600030101010101" pitchFamily="2" charset="-122"/>
              </a:rPr>
              <a:t>  </a:t>
            </a:r>
            <a:r>
              <a:rPr lang="zh-CN" altLang="en-US" b="1">
                <a:latin typeface="宋体" panose="02010600030101010101" pitchFamily="2" charset="-122"/>
              </a:rPr>
              <a:t>编写计算</a:t>
            </a:r>
            <a:r>
              <a:rPr lang="en-US" altLang="zh-CN" b="1">
                <a:latin typeface="宋体" panose="02010600030101010101" pitchFamily="2" charset="-122"/>
              </a:rPr>
              <a:t>Z</a:t>
            </a:r>
            <a:r>
              <a:rPr lang="en-US" altLang="zh-CN" b="1" baseline="-30000">
                <a:latin typeface="宋体" panose="02010600030101010101" pitchFamily="2" charset="-122"/>
              </a:rPr>
              <a:t>64</a:t>
            </a:r>
            <a:r>
              <a:rPr lang="en-US" altLang="zh-CN" b="1">
                <a:latin typeface="宋体" panose="02010600030101010101" pitchFamily="2" charset="-122"/>
              </a:rPr>
              <a:t>=W</a:t>
            </a:r>
            <a:r>
              <a:rPr lang="en-US" altLang="zh-CN" b="1" baseline="-30000">
                <a:latin typeface="宋体" panose="02010600030101010101" pitchFamily="2" charset="-122"/>
              </a:rPr>
              <a:t>64</a:t>
            </a:r>
            <a:r>
              <a:rPr lang="en-US" altLang="zh-CN" b="1">
                <a:latin typeface="宋体" panose="02010600030101010101" pitchFamily="2" charset="-122"/>
              </a:rPr>
              <a:t>+X</a:t>
            </a:r>
            <a:r>
              <a:rPr lang="en-US" altLang="zh-CN" b="1" baseline="-30000">
                <a:latin typeface="宋体" panose="02010600030101010101" pitchFamily="2" charset="-122"/>
              </a:rPr>
              <a:t>64</a:t>
            </a:r>
            <a:r>
              <a:rPr lang="en-US" altLang="zh-CN" b="1">
                <a:latin typeface="宋体" panose="02010600030101010101" pitchFamily="2" charset="-122"/>
              </a:rPr>
              <a:t>-Y</a:t>
            </a:r>
            <a:r>
              <a:rPr lang="en-US" altLang="zh-CN" b="1" baseline="-30000">
                <a:latin typeface="宋体" panose="02010600030101010101" pitchFamily="2" charset="-122"/>
              </a:rPr>
              <a:t>64</a:t>
            </a:r>
            <a:r>
              <a:rPr lang="zh-CN" altLang="en-US" b="1">
                <a:latin typeface="宋体" panose="02010600030101010101" pitchFamily="2" charset="-122"/>
              </a:rPr>
              <a:t>的程序段。</a:t>
            </a:r>
            <a:endParaRPr lang="zh-CN" altLang="en-US" b="1"/>
          </a:p>
          <a:p>
            <a:pPr algn="just"/>
            <a:r>
              <a:rPr lang="zh-CN" altLang="en-US" b="1">
                <a:latin typeface="宋体" panose="02010600030101010101" pitchFamily="2" charset="-122"/>
              </a:rPr>
              <a:t>这里的</a:t>
            </a:r>
            <a:r>
              <a:rPr lang="en-US" altLang="zh-CN" b="1">
                <a:latin typeface="宋体" panose="02010600030101010101" pitchFamily="2" charset="-122"/>
              </a:rPr>
              <a:t>W</a:t>
            </a:r>
            <a:r>
              <a:rPr lang="zh-CN" altLang="en-US" b="1">
                <a:latin typeface="宋体" panose="02010600030101010101" pitchFamily="2" charset="-122"/>
              </a:rPr>
              <a:t>、</a:t>
            </a:r>
            <a:r>
              <a:rPr lang="en-US" altLang="zh-CN" b="1">
                <a:latin typeface="宋体" panose="02010600030101010101" pitchFamily="2" charset="-122"/>
              </a:rPr>
              <a:t>X</a:t>
            </a:r>
            <a:r>
              <a:rPr lang="zh-CN" altLang="en-US" b="1">
                <a:latin typeface="宋体" panose="02010600030101010101" pitchFamily="2" charset="-122"/>
              </a:rPr>
              <a:t>、</a:t>
            </a:r>
            <a:r>
              <a:rPr lang="en-US" altLang="zh-CN" b="1">
                <a:latin typeface="宋体" panose="02010600030101010101" pitchFamily="2" charset="-122"/>
              </a:rPr>
              <a:t>Y</a:t>
            </a:r>
            <a:r>
              <a:rPr lang="zh-CN" altLang="en-US" b="1">
                <a:latin typeface="宋体" panose="02010600030101010101" pitchFamily="2" charset="-122"/>
              </a:rPr>
              <a:t>和结果</a:t>
            </a:r>
            <a:r>
              <a:rPr lang="en-US" altLang="zh-CN" b="1">
                <a:latin typeface="宋体" panose="02010600030101010101" pitchFamily="2" charset="-122"/>
              </a:rPr>
              <a:t>Z</a:t>
            </a:r>
            <a:r>
              <a:rPr lang="zh-CN" altLang="en-US" b="1">
                <a:latin typeface="宋体" panose="02010600030101010101" pitchFamily="2" charset="-122"/>
              </a:rPr>
              <a:t>都是</a:t>
            </a:r>
            <a:r>
              <a:rPr lang="en-US" altLang="zh-CN" b="1">
                <a:latin typeface="宋体" panose="02010600030101010101" pitchFamily="2" charset="-122"/>
              </a:rPr>
              <a:t>64</a:t>
            </a:r>
            <a:r>
              <a:rPr lang="zh-CN" altLang="en-US" b="1">
                <a:latin typeface="宋体" panose="02010600030101010101" pitchFamily="2" charset="-122"/>
              </a:rPr>
              <a:t>位数，它们都由两个</a:t>
            </a:r>
            <a:r>
              <a:rPr lang="en-US" altLang="zh-CN" b="1">
                <a:latin typeface="宋体" panose="02010600030101010101" pitchFamily="2" charset="-122"/>
              </a:rPr>
              <a:t>32</a:t>
            </a:r>
            <a:r>
              <a:rPr lang="zh-CN" altLang="en-US" b="1">
                <a:latin typeface="宋体" panose="02010600030101010101" pitchFamily="2" charset="-122"/>
              </a:rPr>
              <a:t>位的长字组成。利用长字指令可以完成</a:t>
            </a:r>
            <a:r>
              <a:rPr lang="en-US" altLang="zh-CN" b="1">
                <a:latin typeface="宋体" panose="02010600030101010101" pitchFamily="2" charset="-122"/>
              </a:rPr>
              <a:t>64</a:t>
            </a:r>
            <a:r>
              <a:rPr lang="zh-CN" altLang="en-US" b="1">
                <a:latin typeface="宋体" panose="02010600030101010101" pitchFamily="2" charset="-122"/>
              </a:rPr>
              <a:t>位数的加</a:t>
            </a:r>
            <a:r>
              <a:rPr lang="en-US" altLang="zh-CN" b="1">
                <a:latin typeface="宋体" panose="02010600030101010101" pitchFamily="2" charset="-122"/>
              </a:rPr>
              <a:t>/</a:t>
            </a:r>
            <a:r>
              <a:rPr lang="zh-CN" altLang="en-US" b="1">
                <a:latin typeface="宋体" panose="02010600030101010101" pitchFamily="2" charset="-122"/>
              </a:rPr>
              <a:t>减法。</a:t>
            </a:r>
            <a:endParaRPr lang="zh-CN" altLang="en-US" b="1"/>
          </a:p>
          <a:p>
            <a:pPr algn="just"/>
            <a:r>
              <a:rPr lang="zh-CN" altLang="en-US" b="1">
                <a:latin typeface="宋体" panose="02010600030101010101" pitchFamily="2" charset="-122"/>
              </a:rPr>
              <a:t>    </a:t>
            </a:r>
            <a:r>
              <a:rPr lang="en-US" altLang="zh-CN" b="1">
                <a:solidFill>
                  <a:schemeClr val="tx2"/>
                </a:solidFill>
                <a:latin typeface="宋体" panose="02010600030101010101" pitchFamily="2" charset="-122"/>
              </a:rPr>
              <a:t>w</a:t>
            </a:r>
            <a:r>
              <a:rPr lang="en-US" altLang="zh-CN" b="1" baseline="-30000">
                <a:solidFill>
                  <a:schemeClr val="tx2"/>
                </a:solidFill>
                <a:latin typeface="宋体" panose="02010600030101010101" pitchFamily="2" charset="-122"/>
              </a:rPr>
              <a:t>3</a:t>
            </a:r>
            <a:r>
              <a:rPr lang="en-US" altLang="zh-CN" b="1">
                <a:solidFill>
                  <a:schemeClr val="tx2"/>
                </a:solidFill>
                <a:latin typeface="宋体" panose="02010600030101010101" pitchFamily="2" charset="-122"/>
              </a:rPr>
              <a:t>  w</a:t>
            </a:r>
            <a:r>
              <a:rPr lang="en-US" altLang="zh-CN" b="1" baseline="-30000">
                <a:solidFill>
                  <a:schemeClr val="tx2"/>
                </a:solidFill>
                <a:latin typeface="宋体" panose="02010600030101010101" pitchFamily="2" charset="-122"/>
              </a:rPr>
              <a:t>2</a:t>
            </a:r>
            <a:r>
              <a:rPr lang="en-US" altLang="zh-CN" b="1">
                <a:latin typeface="宋体" panose="02010600030101010101" pitchFamily="2" charset="-122"/>
              </a:rPr>
              <a:t>      </a:t>
            </a:r>
            <a:r>
              <a:rPr lang="en-US" altLang="zh-CN" b="1">
                <a:solidFill>
                  <a:srgbClr val="FF0000"/>
                </a:solidFill>
                <a:latin typeface="宋体" panose="02010600030101010101" pitchFamily="2" charset="-122"/>
              </a:rPr>
              <a:t>w</a:t>
            </a:r>
            <a:r>
              <a:rPr lang="en-US" altLang="zh-CN" b="1" baseline="-30000">
                <a:solidFill>
                  <a:srgbClr val="FF0000"/>
                </a:solidFill>
                <a:latin typeface="宋体" panose="02010600030101010101" pitchFamily="2" charset="-122"/>
              </a:rPr>
              <a:t>1</a:t>
            </a:r>
            <a:r>
              <a:rPr lang="en-US" altLang="zh-CN" b="1">
                <a:solidFill>
                  <a:srgbClr val="FF0000"/>
                </a:solidFill>
                <a:latin typeface="宋体" panose="02010600030101010101" pitchFamily="2" charset="-122"/>
              </a:rPr>
              <a:t>  w</a:t>
            </a:r>
            <a:r>
              <a:rPr lang="en-US" altLang="zh-CN" b="1" baseline="-30000">
                <a:solidFill>
                  <a:srgbClr val="FF0000"/>
                </a:solidFill>
                <a:latin typeface="宋体" panose="02010600030101010101" pitchFamily="2" charset="-122"/>
              </a:rPr>
              <a:t>0</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W</a:t>
            </a:r>
            <a:r>
              <a:rPr lang="en-US" altLang="zh-CN" b="1" baseline="-30000">
                <a:latin typeface="宋体" panose="02010600030101010101" pitchFamily="2" charset="-122"/>
              </a:rPr>
              <a:t>64</a:t>
            </a:r>
            <a:r>
              <a:rPr lang="zh-CN" altLang="en-US" b="1">
                <a:latin typeface="宋体" panose="02010600030101010101" pitchFamily="2" charset="-122"/>
              </a:rPr>
              <a:t>）</a:t>
            </a:r>
            <a:endParaRPr lang="zh-CN" altLang="en-US" b="1"/>
          </a:p>
          <a:p>
            <a:pPr algn="just"/>
            <a:r>
              <a:rPr lang="en-US" altLang="zh-CN" b="1">
                <a:latin typeface="宋体" panose="02010600030101010101" pitchFamily="2" charset="-122"/>
              </a:rPr>
              <a:t>+   </a:t>
            </a:r>
            <a:r>
              <a:rPr lang="en-US" altLang="zh-CN" b="1">
                <a:solidFill>
                  <a:schemeClr val="tx2"/>
                </a:solidFill>
                <a:latin typeface="宋体" panose="02010600030101010101" pitchFamily="2" charset="-122"/>
              </a:rPr>
              <a:t>x</a:t>
            </a:r>
            <a:r>
              <a:rPr lang="en-US" altLang="zh-CN" b="1" baseline="-30000">
                <a:solidFill>
                  <a:schemeClr val="tx2"/>
                </a:solidFill>
                <a:latin typeface="宋体" panose="02010600030101010101" pitchFamily="2" charset="-122"/>
              </a:rPr>
              <a:t>3</a:t>
            </a:r>
            <a:r>
              <a:rPr lang="en-US" altLang="zh-CN" b="1">
                <a:solidFill>
                  <a:schemeClr val="tx2"/>
                </a:solidFill>
                <a:latin typeface="宋体" panose="02010600030101010101" pitchFamily="2" charset="-122"/>
              </a:rPr>
              <a:t>  x</a:t>
            </a:r>
            <a:r>
              <a:rPr lang="en-US" altLang="zh-CN" b="1" baseline="-30000">
                <a:solidFill>
                  <a:schemeClr val="tx2"/>
                </a:solidFill>
                <a:latin typeface="宋体" panose="02010600030101010101" pitchFamily="2" charset="-122"/>
              </a:rPr>
              <a:t>2</a:t>
            </a:r>
            <a:r>
              <a:rPr lang="en-US" altLang="zh-CN" b="1">
                <a:latin typeface="宋体" panose="02010600030101010101" pitchFamily="2" charset="-122"/>
              </a:rPr>
              <a:t>  C   </a:t>
            </a:r>
            <a:r>
              <a:rPr lang="en-US" altLang="zh-CN" b="1">
                <a:solidFill>
                  <a:srgbClr val="FF0000"/>
                </a:solidFill>
                <a:latin typeface="宋体" panose="02010600030101010101" pitchFamily="2" charset="-122"/>
              </a:rPr>
              <a:t>x</a:t>
            </a:r>
            <a:r>
              <a:rPr lang="en-US" altLang="zh-CN" b="1" baseline="-30000">
                <a:solidFill>
                  <a:srgbClr val="FF0000"/>
                </a:solidFill>
                <a:latin typeface="宋体" panose="02010600030101010101" pitchFamily="2" charset="-122"/>
              </a:rPr>
              <a:t>1</a:t>
            </a:r>
            <a:r>
              <a:rPr lang="en-US" altLang="zh-CN" b="1">
                <a:solidFill>
                  <a:srgbClr val="FF0000"/>
                </a:solidFill>
                <a:latin typeface="宋体" panose="02010600030101010101" pitchFamily="2" charset="-122"/>
              </a:rPr>
              <a:t>  x</a:t>
            </a:r>
            <a:r>
              <a:rPr lang="en-US" altLang="zh-CN" b="1" baseline="-30000">
                <a:solidFill>
                  <a:srgbClr val="FF0000"/>
                </a:solidFill>
                <a:latin typeface="宋体" panose="02010600030101010101" pitchFamily="2" charset="-122"/>
              </a:rPr>
              <a:t>0</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X</a:t>
            </a:r>
            <a:r>
              <a:rPr lang="en-US" altLang="zh-CN" b="1" baseline="-30000">
                <a:latin typeface="宋体" panose="02010600030101010101" pitchFamily="2" charset="-122"/>
              </a:rPr>
              <a:t>64</a:t>
            </a:r>
            <a:r>
              <a:rPr lang="zh-CN" altLang="en-US" b="1">
                <a:latin typeface="宋体" panose="02010600030101010101" pitchFamily="2" charset="-122"/>
              </a:rPr>
              <a:t>）  低</a:t>
            </a:r>
            <a:r>
              <a:rPr lang="en-US" altLang="zh-CN" b="1">
                <a:latin typeface="宋体" panose="02010600030101010101" pitchFamily="2" charset="-122"/>
              </a:rPr>
              <a:t>32</a:t>
            </a:r>
            <a:r>
              <a:rPr lang="zh-CN" altLang="en-US" b="1">
                <a:latin typeface="宋体" panose="02010600030101010101" pitchFamily="2" charset="-122"/>
              </a:rPr>
              <a:t>位相加产生进位</a:t>
            </a:r>
            <a:r>
              <a:rPr lang="en-US" altLang="zh-CN" b="1">
                <a:latin typeface="宋体" panose="02010600030101010101" pitchFamily="2" charset="-122"/>
              </a:rPr>
              <a:t>C</a:t>
            </a:r>
            <a:endParaRPr lang="en-US" altLang="zh-CN" b="1"/>
          </a:p>
          <a:p>
            <a:pPr algn="just"/>
            <a:r>
              <a:rPr lang="en-US" altLang="zh-CN" b="1">
                <a:latin typeface="宋体" panose="02010600030101010101" pitchFamily="2" charset="-122"/>
              </a:rPr>
              <a:t>-   </a:t>
            </a:r>
            <a:r>
              <a:rPr lang="en-US" altLang="zh-CN" b="1">
                <a:solidFill>
                  <a:schemeClr val="tx2"/>
                </a:solidFill>
                <a:latin typeface="宋体" panose="02010600030101010101" pitchFamily="2" charset="-122"/>
              </a:rPr>
              <a:t>y</a:t>
            </a:r>
            <a:r>
              <a:rPr lang="en-US" altLang="zh-CN" b="1" baseline="-30000">
                <a:solidFill>
                  <a:schemeClr val="tx2"/>
                </a:solidFill>
                <a:latin typeface="宋体" panose="02010600030101010101" pitchFamily="2" charset="-122"/>
              </a:rPr>
              <a:t>3</a:t>
            </a:r>
            <a:r>
              <a:rPr lang="en-US" altLang="zh-CN" b="1">
                <a:solidFill>
                  <a:schemeClr val="tx2"/>
                </a:solidFill>
                <a:latin typeface="宋体" panose="02010600030101010101" pitchFamily="2" charset="-122"/>
              </a:rPr>
              <a:t>  y</a:t>
            </a:r>
            <a:r>
              <a:rPr lang="en-US" altLang="zh-CN" b="1" baseline="-30000">
                <a:solidFill>
                  <a:schemeClr val="tx2"/>
                </a:solidFill>
                <a:latin typeface="宋体" panose="02010600030101010101" pitchFamily="2" charset="-122"/>
              </a:rPr>
              <a:t>2</a:t>
            </a:r>
            <a:r>
              <a:rPr lang="en-US" altLang="zh-CN" b="1" baseline="-30000">
                <a:latin typeface="宋体" panose="02010600030101010101" pitchFamily="2" charset="-122"/>
              </a:rPr>
              <a:t>   </a:t>
            </a:r>
            <a:r>
              <a:rPr lang="en-US" altLang="zh-CN" b="1">
                <a:latin typeface="宋体" panose="02010600030101010101" pitchFamily="2" charset="-122"/>
              </a:rPr>
              <a:t>C</a:t>
            </a:r>
            <a:r>
              <a:rPr lang="en-US" altLang="zh-CN" b="1"/>
              <a:t>’</a:t>
            </a:r>
            <a:r>
              <a:rPr lang="en-US" altLang="zh-CN" b="1">
                <a:latin typeface="宋体" panose="02010600030101010101" pitchFamily="2" charset="-122"/>
              </a:rPr>
              <a:t>  </a:t>
            </a:r>
            <a:r>
              <a:rPr lang="en-US" altLang="zh-CN" b="1">
                <a:solidFill>
                  <a:srgbClr val="FF0000"/>
                </a:solidFill>
                <a:latin typeface="宋体" panose="02010600030101010101" pitchFamily="2" charset="-122"/>
              </a:rPr>
              <a:t>y</a:t>
            </a:r>
            <a:r>
              <a:rPr lang="en-US" altLang="zh-CN" b="1" baseline="-30000">
                <a:solidFill>
                  <a:srgbClr val="FF0000"/>
                </a:solidFill>
                <a:latin typeface="宋体" panose="02010600030101010101" pitchFamily="2" charset="-122"/>
              </a:rPr>
              <a:t>1</a:t>
            </a:r>
            <a:r>
              <a:rPr lang="en-US" altLang="zh-CN" b="1">
                <a:solidFill>
                  <a:srgbClr val="FF0000"/>
                </a:solidFill>
                <a:latin typeface="宋体" panose="02010600030101010101" pitchFamily="2" charset="-122"/>
              </a:rPr>
              <a:t>  y</a:t>
            </a:r>
            <a:r>
              <a:rPr lang="en-US" altLang="zh-CN" b="1" baseline="-30000">
                <a:solidFill>
                  <a:srgbClr val="FF0000"/>
                </a:solidFill>
                <a:latin typeface="宋体" panose="02010600030101010101" pitchFamily="2" charset="-122"/>
              </a:rPr>
              <a:t>0</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Y</a:t>
            </a:r>
            <a:r>
              <a:rPr lang="en-US" altLang="zh-CN" b="1" baseline="-30000">
                <a:latin typeface="宋体" panose="02010600030101010101" pitchFamily="2" charset="-122"/>
              </a:rPr>
              <a:t>64</a:t>
            </a:r>
            <a:r>
              <a:rPr lang="zh-CN" altLang="en-US" b="1">
                <a:latin typeface="宋体" panose="02010600030101010101" pitchFamily="2" charset="-122"/>
              </a:rPr>
              <a:t>）  低</a:t>
            </a:r>
            <a:r>
              <a:rPr lang="en-US" altLang="zh-CN" b="1">
                <a:latin typeface="宋体" panose="02010600030101010101" pitchFamily="2" charset="-122"/>
              </a:rPr>
              <a:t>32</a:t>
            </a:r>
            <a:r>
              <a:rPr lang="zh-CN" altLang="en-US" b="1">
                <a:latin typeface="宋体" panose="02010600030101010101" pitchFamily="2" charset="-122"/>
              </a:rPr>
              <a:t>位相减产生借位</a:t>
            </a:r>
            <a:r>
              <a:rPr lang="en-US" altLang="zh-CN" b="1">
                <a:latin typeface="宋体" panose="02010600030101010101" pitchFamily="2" charset="-122"/>
              </a:rPr>
              <a:t>C</a:t>
            </a:r>
            <a:r>
              <a:rPr lang="en-US" altLang="zh-CN" b="1"/>
              <a:t>’</a:t>
            </a:r>
          </a:p>
          <a:p>
            <a:pPr algn="just"/>
            <a:r>
              <a:rPr lang="en-US" altLang="zh-CN" b="1">
                <a:latin typeface="宋体" panose="02010600030101010101" pitchFamily="2" charset="-122"/>
              </a:rPr>
              <a:t>__________________________________</a:t>
            </a:r>
            <a:endParaRPr lang="en-US" altLang="zh-CN" b="1"/>
          </a:p>
          <a:p>
            <a:pPr algn="just"/>
            <a:r>
              <a:rPr lang="en-US" altLang="zh-CN" b="1">
                <a:latin typeface="宋体" panose="02010600030101010101" pitchFamily="2" charset="-122"/>
              </a:rPr>
              <a:t>    </a:t>
            </a:r>
            <a:r>
              <a:rPr lang="en-US" altLang="zh-CN" b="1">
                <a:solidFill>
                  <a:schemeClr val="tx2"/>
                </a:solidFill>
                <a:latin typeface="宋体" panose="02010600030101010101" pitchFamily="2" charset="-122"/>
              </a:rPr>
              <a:t>z</a:t>
            </a:r>
            <a:r>
              <a:rPr lang="en-US" altLang="zh-CN" b="1" baseline="-30000">
                <a:solidFill>
                  <a:schemeClr val="tx2"/>
                </a:solidFill>
                <a:latin typeface="宋体" panose="02010600030101010101" pitchFamily="2" charset="-122"/>
              </a:rPr>
              <a:t>3</a:t>
            </a:r>
            <a:r>
              <a:rPr lang="en-US" altLang="zh-CN" b="1">
                <a:solidFill>
                  <a:schemeClr val="tx2"/>
                </a:solidFill>
                <a:latin typeface="宋体" panose="02010600030101010101" pitchFamily="2" charset="-122"/>
              </a:rPr>
              <a:t>  z</a:t>
            </a:r>
            <a:r>
              <a:rPr lang="en-US" altLang="zh-CN" b="1" baseline="-30000">
                <a:solidFill>
                  <a:schemeClr val="tx2"/>
                </a:solidFill>
                <a:latin typeface="宋体" panose="02010600030101010101" pitchFamily="2" charset="-122"/>
              </a:rPr>
              <a:t>2</a:t>
            </a:r>
            <a:r>
              <a:rPr lang="en-US" altLang="zh-CN" b="1">
                <a:latin typeface="宋体" panose="02010600030101010101" pitchFamily="2" charset="-122"/>
              </a:rPr>
              <a:t>      </a:t>
            </a:r>
            <a:r>
              <a:rPr lang="en-US" altLang="zh-CN" b="1">
                <a:solidFill>
                  <a:srgbClr val="FF0000"/>
                </a:solidFill>
                <a:latin typeface="宋体" panose="02010600030101010101" pitchFamily="2" charset="-122"/>
              </a:rPr>
              <a:t>z</a:t>
            </a:r>
            <a:r>
              <a:rPr lang="en-US" altLang="zh-CN" b="1" baseline="-30000">
                <a:solidFill>
                  <a:srgbClr val="FF0000"/>
                </a:solidFill>
                <a:latin typeface="宋体" panose="02010600030101010101" pitchFamily="2" charset="-122"/>
              </a:rPr>
              <a:t>1</a:t>
            </a:r>
            <a:r>
              <a:rPr lang="en-US" altLang="zh-CN" b="1">
                <a:solidFill>
                  <a:srgbClr val="FF0000"/>
                </a:solidFill>
                <a:latin typeface="宋体" panose="02010600030101010101" pitchFamily="2" charset="-122"/>
              </a:rPr>
              <a:t>  z</a:t>
            </a:r>
            <a:r>
              <a:rPr lang="en-US" altLang="zh-CN" b="1" baseline="-30000">
                <a:solidFill>
                  <a:srgbClr val="FF0000"/>
                </a:solidFill>
                <a:latin typeface="宋体" panose="02010600030101010101" pitchFamily="2" charset="-122"/>
              </a:rPr>
              <a:t>0</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Z</a:t>
            </a:r>
            <a:r>
              <a:rPr lang="en-US" altLang="zh-CN" b="1" baseline="-30000">
                <a:latin typeface="宋体" panose="02010600030101010101" pitchFamily="2" charset="-122"/>
              </a:rPr>
              <a:t>64</a:t>
            </a:r>
            <a:r>
              <a:rPr lang="zh-CN" altLang="en-US" b="1">
                <a:latin typeface="宋体" panose="02010600030101010101" pitchFamily="2" charset="-122"/>
              </a:rPr>
              <a:t>）</a:t>
            </a:r>
            <a:endParaRPr lang="zh-CN" altLang="en-US" b="1"/>
          </a:p>
          <a:p>
            <a:endParaRPr lang="en-US" altLang="zh-CN" b="1"/>
          </a:p>
        </p:txBody>
      </p:sp>
      <p:sp>
        <p:nvSpPr>
          <p:cNvPr id="35845" name="AutoShape 4"/>
          <p:cNvSpPr>
            <a:spLocks/>
          </p:cNvSpPr>
          <p:nvPr/>
        </p:nvSpPr>
        <p:spPr bwMode="auto">
          <a:xfrm rot="5400000">
            <a:off x="3996532" y="4869656"/>
            <a:ext cx="360362" cy="1800225"/>
          </a:xfrm>
          <a:prstGeom prst="rightBrace">
            <a:avLst>
              <a:gd name="adj1" fmla="val 4163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846" name="AutoShape 5"/>
          <p:cNvSpPr>
            <a:spLocks/>
          </p:cNvSpPr>
          <p:nvPr/>
        </p:nvSpPr>
        <p:spPr bwMode="auto">
          <a:xfrm rot="5400000">
            <a:off x="1835945" y="4869656"/>
            <a:ext cx="360362" cy="1800225"/>
          </a:xfrm>
          <a:prstGeom prst="rightBrace">
            <a:avLst>
              <a:gd name="adj1" fmla="val 4163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847" name="Rectangle 6"/>
          <p:cNvSpPr>
            <a:spLocks noChangeArrowheads="1"/>
          </p:cNvSpPr>
          <p:nvPr/>
        </p:nvSpPr>
        <p:spPr bwMode="auto">
          <a:xfrm>
            <a:off x="3779838" y="6092825"/>
            <a:ext cx="125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FF0000"/>
                </a:solidFill>
                <a:latin typeface="宋体" panose="02010600030101010101" pitchFamily="2" charset="-122"/>
              </a:rPr>
              <a:t>累加器</a:t>
            </a:r>
            <a:r>
              <a:rPr lang="en-US" altLang="zh-CN" b="1">
                <a:solidFill>
                  <a:srgbClr val="FF0000"/>
                </a:solidFill>
                <a:latin typeface="宋体" panose="02010600030101010101" pitchFamily="2" charset="-122"/>
              </a:rPr>
              <a:t>A</a:t>
            </a:r>
          </a:p>
        </p:txBody>
      </p:sp>
      <p:sp>
        <p:nvSpPr>
          <p:cNvPr id="35848" name="Rectangle 7"/>
          <p:cNvSpPr>
            <a:spLocks noChangeArrowheads="1"/>
          </p:cNvSpPr>
          <p:nvPr/>
        </p:nvSpPr>
        <p:spPr bwMode="auto">
          <a:xfrm>
            <a:off x="1403350" y="6092825"/>
            <a:ext cx="125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chemeClr val="tx2"/>
                </a:solidFill>
                <a:latin typeface="宋体" panose="02010600030101010101" pitchFamily="2" charset="-122"/>
              </a:rPr>
              <a:t>累加器</a:t>
            </a:r>
            <a:r>
              <a:rPr lang="en-US" altLang="zh-CN" b="1">
                <a:solidFill>
                  <a:schemeClr val="tx2"/>
                </a:solidFill>
                <a:latin typeface="宋体" panose="02010600030101010101" pitchFamily="2" charset="-122"/>
              </a:rPr>
              <a:t>B</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02818"/>
                                        </p:tgtEl>
                                        <p:attrNameLst>
                                          <p:attrName>style.visibility</p:attrName>
                                        </p:attrNameLst>
                                      </p:cBhvr>
                                      <p:to>
                                        <p:strVal val="visible"/>
                                      </p:to>
                                    </p:set>
                                    <p:animEffect transition="in" filter="slide(fromTop)">
                                      <p:cBhvr>
                                        <p:cTn id="7" dur="500"/>
                                        <p:tgtEl>
                                          <p:spTgt spid="80281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02819"/>
                                        </p:tgtEl>
                                        <p:attrNameLst>
                                          <p:attrName>style.visibility</p:attrName>
                                        </p:attrNameLst>
                                      </p:cBhvr>
                                      <p:to>
                                        <p:strVal val="visible"/>
                                      </p:to>
                                    </p:set>
                                    <p:animEffect transition="in" filter="blinds(horizontal)">
                                      <p:cBhvr>
                                        <p:cTn id="11" dur="500"/>
                                        <p:tgtEl>
                                          <p:spTgt spid="802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18" grpId="0" animBg="1"/>
      <p:bldP spid="8028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6AC5F733-9467-4AD2-957D-7FE38A04FA74}" type="slidenum">
              <a:rPr lang="en-US" altLang="zh-CN" sz="1400"/>
              <a:pPr eaLnBrk="1" hangingPunct="1"/>
              <a:t>23</a:t>
            </a:fld>
            <a:endParaRPr lang="en-US" altLang="zh-CN" sz="1400"/>
          </a:p>
        </p:txBody>
      </p:sp>
      <p:sp>
        <p:nvSpPr>
          <p:cNvPr id="803842" name="Rectangle 2"/>
          <p:cNvSpPr>
            <a:spLocks noChangeArrowheads="1"/>
          </p:cNvSpPr>
          <p:nvPr/>
        </p:nvSpPr>
        <p:spPr bwMode="auto">
          <a:xfrm>
            <a:off x="304800" y="1143000"/>
            <a:ext cx="85344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715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15000"/>
              </a:spcBef>
            </a:pPr>
            <a:r>
              <a:rPr lang="en-US" altLang="zh-CN" b="1">
                <a:solidFill>
                  <a:srgbClr val="FF0000"/>
                </a:solidFill>
                <a:latin typeface="宋体" panose="02010600030101010101" pitchFamily="2" charset="-122"/>
              </a:rPr>
              <a:t>DLD    @w1,A     </a:t>
            </a:r>
            <a:r>
              <a:rPr lang="zh-CN" altLang="en-US" b="1">
                <a:latin typeface="宋体" panose="02010600030101010101" pitchFamily="2" charset="-122"/>
              </a:rPr>
              <a:t>；</a:t>
            </a:r>
            <a:r>
              <a:rPr lang="en-US" altLang="zh-CN" b="1">
                <a:latin typeface="宋体" panose="02010600030101010101" pitchFamily="2" charset="-122"/>
              </a:rPr>
              <a:t>A=w</a:t>
            </a:r>
            <a:r>
              <a:rPr lang="en-US" altLang="zh-CN" b="1" baseline="-30000">
                <a:latin typeface="宋体" panose="02010600030101010101" pitchFamily="2" charset="-122"/>
              </a:rPr>
              <a:t>1</a:t>
            </a:r>
            <a:r>
              <a:rPr lang="en-US" altLang="zh-CN" b="1">
                <a:latin typeface="宋体" panose="02010600030101010101" pitchFamily="2" charset="-122"/>
              </a:rPr>
              <a:t>w</a:t>
            </a:r>
            <a:r>
              <a:rPr lang="en-US" altLang="zh-CN" b="1" baseline="-30000">
                <a:latin typeface="宋体" panose="02010600030101010101" pitchFamily="2" charset="-122"/>
              </a:rPr>
              <a:t>0</a:t>
            </a:r>
            <a:endParaRPr lang="en-US" altLang="zh-CN" b="1">
              <a:latin typeface="宋体" panose="02010600030101010101" pitchFamily="2" charset="-122"/>
            </a:endParaRPr>
          </a:p>
          <a:p>
            <a:pPr>
              <a:lnSpc>
                <a:spcPct val="90000"/>
              </a:lnSpc>
              <a:spcBef>
                <a:spcPct val="15000"/>
              </a:spcBef>
            </a:pPr>
            <a:r>
              <a:rPr lang="en-US" altLang="zh-CN" b="1">
                <a:solidFill>
                  <a:srgbClr val="FF0000"/>
                </a:solidFill>
                <a:latin typeface="宋体" panose="02010600030101010101" pitchFamily="2" charset="-122"/>
              </a:rPr>
              <a:t>DADD   @x1,A</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A=w</a:t>
            </a:r>
            <a:r>
              <a:rPr lang="en-US" altLang="zh-CN" b="1" baseline="-30000">
                <a:latin typeface="宋体" panose="02010600030101010101" pitchFamily="2" charset="-122"/>
              </a:rPr>
              <a:t>1</a:t>
            </a:r>
            <a:r>
              <a:rPr lang="en-US" altLang="zh-CN" b="1">
                <a:latin typeface="宋体" panose="02010600030101010101" pitchFamily="2" charset="-122"/>
              </a:rPr>
              <a:t>w</a:t>
            </a:r>
            <a:r>
              <a:rPr lang="en-US" altLang="zh-CN" b="1" baseline="-30000">
                <a:latin typeface="宋体" panose="02010600030101010101" pitchFamily="2" charset="-122"/>
              </a:rPr>
              <a:t>0</a:t>
            </a:r>
            <a:r>
              <a:rPr lang="en-US" altLang="zh-CN" b="1">
                <a:latin typeface="宋体" panose="02010600030101010101" pitchFamily="2" charset="-122"/>
              </a:rPr>
              <a:t>+x</a:t>
            </a:r>
            <a:r>
              <a:rPr lang="en-US" altLang="zh-CN" b="1" baseline="-30000">
                <a:latin typeface="宋体" panose="02010600030101010101" pitchFamily="2" charset="-122"/>
              </a:rPr>
              <a:t>1</a:t>
            </a:r>
            <a:r>
              <a:rPr lang="en-US" altLang="zh-CN" b="1">
                <a:latin typeface="宋体" panose="02010600030101010101" pitchFamily="2" charset="-122"/>
              </a:rPr>
              <a:t>x</a:t>
            </a:r>
            <a:r>
              <a:rPr lang="en-US" altLang="zh-CN" b="1" baseline="-30000">
                <a:latin typeface="宋体" panose="02010600030101010101" pitchFamily="2" charset="-122"/>
              </a:rPr>
              <a:t>0</a:t>
            </a:r>
            <a:r>
              <a:rPr lang="en-US" altLang="zh-CN" b="1">
                <a:latin typeface="宋体" panose="02010600030101010101" pitchFamily="2" charset="-122"/>
              </a:rPr>
              <a:t>, </a:t>
            </a:r>
            <a:r>
              <a:rPr lang="zh-CN" altLang="en-US" b="1">
                <a:latin typeface="宋体" panose="02010600030101010101" pitchFamily="2" charset="-122"/>
              </a:rPr>
              <a:t>产生进位</a:t>
            </a:r>
            <a:r>
              <a:rPr lang="en-US" altLang="zh-CN" b="1">
                <a:latin typeface="宋体" panose="02010600030101010101" pitchFamily="2" charset="-122"/>
              </a:rPr>
              <a:t>C</a:t>
            </a:r>
            <a:endParaRPr lang="en-US" altLang="zh-CN" b="1"/>
          </a:p>
          <a:p>
            <a:pPr>
              <a:lnSpc>
                <a:spcPct val="90000"/>
              </a:lnSpc>
              <a:spcBef>
                <a:spcPct val="15000"/>
              </a:spcBef>
            </a:pPr>
            <a:r>
              <a:rPr lang="en-US" altLang="zh-CN" b="1">
                <a:solidFill>
                  <a:schemeClr val="tx2"/>
                </a:solidFill>
                <a:latin typeface="宋体" panose="02010600030101010101" pitchFamily="2" charset="-122"/>
              </a:rPr>
              <a:t>DLD    @w3,B     </a:t>
            </a:r>
            <a:r>
              <a:rPr lang="zh-CN" altLang="en-US" b="1">
                <a:latin typeface="宋体" panose="02010600030101010101" pitchFamily="2" charset="-122"/>
              </a:rPr>
              <a:t>；</a:t>
            </a:r>
            <a:r>
              <a:rPr lang="en-US" altLang="zh-CN" b="1">
                <a:latin typeface="宋体" panose="02010600030101010101" pitchFamily="2" charset="-122"/>
              </a:rPr>
              <a:t>B=w</a:t>
            </a:r>
            <a:r>
              <a:rPr lang="en-US" altLang="zh-CN" b="1" baseline="-30000">
                <a:latin typeface="宋体" panose="02010600030101010101" pitchFamily="2" charset="-122"/>
              </a:rPr>
              <a:t>3</a:t>
            </a:r>
            <a:r>
              <a:rPr lang="en-US" altLang="zh-CN" b="1">
                <a:latin typeface="宋体" panose="02010600030101010101" pitchFamily="2" charset="-122"/>
              </a:rPr>
              <a:t>w</a:t>
            </a:r>
            <a:r>
              <a:rPr lang="en-US" altLang="zh-CN" b="1" baseline="-30000">
                <a:latin typeface="宋体" panose="02010600030101010101" pitchFamily="2" charset="-122"/>
              </a:rPr>
              <a:t>2</a:t>
            </a:r>
            <a:endParaRPr lang="en-US" altLang="zh-CN" b="1"/>
          </a:p>
          <a:p>
            <a:pPr>
              <a:lnSpc>
                <a:spcPct val="90000"/>
              </a:lnSpc>
              <a:spcBef>
                <a:spcPct val="15000"/>
              </a:spcBef>
            </a:pPr>
            <a:r>
              <a:rPr lang="en-US" altLang="zh-CN" b="1">
                <a:solidFill>
                  <a:schemeClr val="tx2"/>
                </a:solidFill>
                <a:latin typeface="宋体" panose="02010600030101010101" pitchFamily="2" charset="-122"/>
              </a:rPr>
              <a:t>ADDC   @x2,B     </a:t>
            </a:r>
            <a:r>
              <a:rPr lang="zh-CN" altLang="en-US" b="1">
                <a:latin typeface="宋体" panose="02010600030101010101" pitchFamily="2" charset="-122"/>
              </a:rPr>
              <a:t>；</a:t>
            </a:r>
            <a:r>
              <a:rPr lang="en-US" altLang="zh-CN" b="1">
                <a:latin typeface="宋体" panose="02010600030101010101" pitchFamily="2" charset="-122"/>
              </a:rPr>
              <a:t>B=w</a:t>
            </a:r>
            <a:r>
              <a:rPr lang="en-US" altLang="zh-CN" b="1" baseline="-30000">
                <a:latin typeface="宋体" panose="02010600030101010101" pitchFamily="2" charset="-122"/>
              </a:rPr>
              <a:t>3</a:t>
            </a:r>
            <a:r>
              <a:rPr lang="en-US" altLang="zh-CN" b="1">
                <a:latin typeface="宋体" panose="02010600030101010101" pitchFamily="2" charset="-122"/>
              </a:rPr>
              <a:t>w</a:t>
            </a:r>
            <a:r>
              <a:rPr lang="en-US" altLang="zh-CN" b="1" baseline="-30000">
                <a:latin typeface="宋体" panose="02010600030101010101" pitchFamily="2" charset="-122"/>
              </a:rPr>
              <a:t>2</a:t>
            </a:r>
            <a:r>
              <a:rPr lang="en-US" altLang="zh-CN" b="1">
                <a:latin typeface="宋体" panose="02010600030101010101" pitchFamily="2" charset="-122"/>
              </a:rPr>
              <a:t>+x</a:t>
            </a:r>
            <a:r>
              <a:rPr lang="en-US" altLang="zh-CN" b="1" baseline="-30000">
                <a:latin typeface="宋体" panose="02010600030101010101" pitchFamily="2" charset="-122"/>
              </a:rPr>
              <a:t>2</a:t>
            </a:r>
            <a:r>
              <a:rPr lang="en-US" altLang="zh-CN" b="1">
                <a:latin typeface="宋体" panose="02010600030101010101" pitchFamily="2" charset="-122"/>
              </a:rPr>
              <a:t>+C</a:t>
            </a:r>
            <a:endParaRPr lang="en-US" altLang="zh-CN" b="1"/>
          </a:p>
          <a:p>
            <a:pPr>
              <a:lnSpc>
                <a:spcPct val="90000"/>
              </a:lnSpc>
              <a:spcBef>
                <a:spcPct val="15000"/>
              </a:spcBef>
            </a:pPr>
            <a:r>
              <a:rPr lang="en-US" altLang="zh-CN" b="1">
                <a:solidFill>
                  <a:schemeClr val="tx2"/>
                </a:solidFill>
                <a:latin typeface="宋体" panose="02010600030101010101" pitchFamily="2" charset="-122"/>
              </a:rPr>
              <a:t>ADD    @x3,16,B</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B=w</a:t>
            </a:r>
            <a:r>
              <a:rPr lang="en-US" altLang="zh-CN" b="1" baseline="-30000">
                <a:latin typeface="宋体" panose="02010600030101010101" pitchFamily="2" charset="-122"/>
              </a:rPr>
              <a:t>3</a:t>
            </a:r>
            <a:r>
              <a:rPr lang="en-US" altLang="zh-CN" b="1">
                <a:latin typeface="宋体" panose="02010600030101010101" pitchFamily="2" charset="-122"/>
              </a:rPr>
              <a:t>w</a:t>
            </a:r>
            <a:r>
              <a:rPr lang="en-US" altLang="zh-CN" b="1" baseline="-30000">
                <a:latin typeface="宋体" panose="02010600030101010101" pitchFamily="2" charset="-122"/>
              </a:rPr>
              <a:t>2</a:t>
            </a:r>
            <a:r>
              <a:rPr lang="en-US" altLang="zh-CN" b="1">
                <a:latin typeface="宋体" panose="02010600030101010101" pitchFamily="2" charset="-122"/>
              </a:rPr>
              <a:t>+x</a:t>
            </a:r>
            <a:r>
              <a:rPr lang="en-US" altLang="zh-CN" b="1" baseline="-30000">
                <a:latin typeface="宋体" panose="02010600030101010101" pitchFamily="2" charset="-122"/>
              </a:rPr>
              <a:t>3</a:t>
            </a:r>
            <a:r>
              <a:rPr lang="en-US" altLang="zh-CN" b="1">
                <a:latin typeface="宋体" panose="02010600030101010101" pitchFamily="2" charset="-122"/>
              </a:rPr>
              <a:t>x</a:t>
            </a:r>
            <a:r>
              <a:rPr lang="en-US" altLang="zh-CN" b="1" baseline="-30000">
                <a:latin typeface="宋体" panose="02010600030101010101" pitchFamily="2" charset="-122"/>
              </a:rPr>
              <a:t>2</a:t>
            </a:r>
            <a:r>
              <a:rPr lang="en-US" altLang="zh-CN" b="1">
                <a:latin typeface="宋体" panose="02010600030101010101" pitchFamily="2" charset="-122"/>
              </a:rPr>
              <a:t>+C</a:t>
            </a:r>
            <a:endParaRPr lang="en-US" altLang="zh-CN" b="1"/>
          </a:p>
          <a:p>
            <a:pPr>
              <a:lnSpc>
                <a:spcPct val="90000"/>
              </a:lnSpc>
              <a:spcBef>
                <a:spcPct val="15000"/>
              </a:spcBef>
            </a:pPr>
            <a:r>
              <a:rPr lang="en-US" altLang="zh-CN" b="1">
                <a:solidFill>
                  <a:srgbClr val="FF0000"/>
                </a:solidFill>
                <a:latin typeface="宋体" panose="02010600030101010101" pitchFamily="2" charset="-122"/>
              </a:rPr>
              <a:t>DSUB   @y1,A</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A=w</a:t>
            </a:r>
            <a:r>
              <a:rPr lang="en-US" altLang="zh-CN" b="1" baseline="-30000">
                <a:latin typeface="宋体" panose="02010600030101010101" pitchFamily="2" charset="-122"/>
              </a:rPr>
              <a:t>1</a:t>
            </a:r>
            <a:r>
              <a:rPr lang="en-US" altLang="zh-CN" b="1">
                <a:latin typeface="宋体" panose="02010600030101010101" pitchFamily="2" charset="-122"/>
              </a:rPr>
              <a:t>w</a:t>
            </a:r>
            <a:r>
              <a:rPr lang="en-US" altLang="zh-CN" b="1" baseline="-30000">
                <a:latin typeface="宋体" panose="02010600030101010101" pitchFamily="2" charset="-122"/>
              </a:rPr>
              <a:t>0</a:t>
            </a:r>
            <a:r>
              <a:rPr lang="en-US" altLang="zh-CN" b="1">
                <a:latin typeface="宋体" panose="02010600030101010101" pitchFamily="2" charset="-122"/>
              </a:rPr>
              <a:t>+x</a:t>
            </a:r>
            <a:r>
              <a:rPr lang="en-US" altLang="zh-CN" b="1" baseline="-30000">
                <a:latin typeface="宋体" panose="02010600030101010101" pitchFamily="2" charset="-122"/>
              </a:rPr>
              <a:t>1</a:t>
            </a:r>
            <a:r>
              <a:rPr lang="en-US" altLang="zh-CN" b="1">
                <a:latin typeface="宋体" panose="02010600030101010101" pitchFamily="2" charset="-122"/>
              </a:rPr>
              <a:t>x</a:t>
            </a:r>
            <a:r>
              <a:rPr lang="en-US" altLang="zh-CN" b="1" baseline="-30000">
                <a:latin typeface="宋体" panose="02010600030101010101" pitchFamily="2" charset="-122"/>
              </a:rPr>
              <a:t>0</a:t>
            </a:r>
            <a:r>
              <a:rPr lang="en-US" altLang="zh-CN" b="1">
                <a:latin typeface="宋体" panose="02010600030101010101" pitchFamily="2" charset="-122"/>
              </a:rPr>
              <a:t>-y</a:t>
            </a:r>
            <a:r>
              <a:rPr lang="en-US" altLang="zh-CN" b="1" baseline="-30000">
                <a:latin typeface="宋体" panose="02010600030101010101" pitchFamily="2" charset="-122"/>
              </a:rPr>
              <a:t>1</a:t>
            </a:r>
            <a:r>
              <a:rPr lang="en-US" altLang="zh-CN" b="1">
                <a:latin typeface="宋体" panose="02010600030101010101" pitchFamily="2" charset="-122"/>
              </a:rPr>
              <a:t>y</a:t>
            </a:r>
            <a:r>
              <a:rPr lang="en-US" altLang="zh-CN" b="1" baseline="-30000">
                <a:latin typeface="宋体" panose="02010600030101010101" pitchFamily="2" charset="-122"/>
              </a:rPr>
              <a:t>0</a:t>
            </a:r>
            <a:r>
              <a:rPr lang="en-US" altLang="zh-CN" b="1">
                <a:latin typeface="宋体" panose="02010600030101010101" pitchFamily="2" charset="-122"/>
              </a:rPr>
              <a:t>, </a:t>
            </a:r>
            <a:r>
              <a:rPr lang="zh-CN" altLang="en-US" b="1">
                <a:latin typeface="宋体" panose="02010600030101010101" pitchFamily="2" charset="-122"/>
              </a:rPr>
              <a:t>产生借位</a:t>
            </a:r>
            <a:r>
              <a:rPr lang="en-US" altLang="zh-CN" b="1">
                <a:latin typeface="宋体" panose="02010600030101010101" pitchFamily="2" charset="-122"/>
              </a:rPr>
              <a:t>C</a:t>
            </a:r>
            <a:r>
              <a:rPr lang="en-US" altLang="zh-CN" b="1"/>
              <a:t>’</a:t>
            </a:r>
          </a:p>
          <a:p>
            <a:pPr>
              <a:lnSpc>
                <a:spcPct val="90000"/>
              </a:lnSpc>
              <a:spcBef>
                <a:spcPct val="15000"/>
              </a:spcBef>
            </a:pPr>
            <a:r>
              <a:rPr lang="en-US" altLang="zh-CN" b="1">
                <a:latin typeface="宋体" panose="02010600030101010101" pitchFamily="2" charset="-122"/>
              </a:rPr>
              <a:t>DST    A,@z1     </a:t>
            </a:r>
            <a:r>
              <a:rPr lang="zh-CN" altLang="en-US" b="1">
                <a:latin typeface="宋体" panose="02010600030101010101" pitchFamily="2" charset="-122"/>
              </a:rPr>
              <a:t>；</a:t>
            </a:r>
            <a:r>
              <a:rPr lang="en-US" altLang="zh-CN" b="1">
                <a:latin typeface="宋体" panose="02010600030101010101" pitchFamily="2" charset="-122"/>
              </a:rPr>
              <a:t>z</a:t>
            </a:r>
            <a:r>
              <a:rPr lang="en-US" altLang="zh-CN" b="1" baseline="-30000">
                <a:latin typeface="宋体" panose="02010600030101010101" pitchFamily="2" charset="-122"/>
              </a:rPr>
              <a:t>1</a:t>
            </a:r>
            <a:r>
              <a:rPr lang="en-US" altLang="zh-CN" b="1">
                <a:latin typeface="宋体" panose="02010600030101010101" pitchFamily="2" charset="-122"/>
              </a:rPr>
              <a:t>z</a:t>
            </a:r>
            <a:r>
              <a:rPr lang="en-US" altLang="zh-CN" b="1" baseline="-30000">
                <a:latin typeface="宋体" panose="02010600030101010101" pitchFamily="2" charset="-122"/>
              </a:rPr>
              <a:t>0</a:t>
            </a:r>
            <a:r>
              <a:rPr lang="en-US" altLang="zh-CN" b="1">
                <a:latin typeface="宋体" panose="02010600030101010101" pitchFamily="2" charset="-122"/>
              </a:rPr>
              <a:t>=w</a:t>
            </a:r>
            <a:r>
              <a:rPr lang="en-US" altLang="zh-CN" b="1" baseline="-30000">
                <a:latin typeface="宋体" panose="02010600030101010101" pitchFamily="2" charset="-122"/>
              </a:rPr>
              <a:t>1</a:t>
            </a:r>
            <a:r>
              <a:rPr lang="en-US" altLang="zh-CN" b="1">
                <a:latin typeface="宋体" panose="02010600030101010101" pitchFamily="2" charset="-122"/>
              </a:rPr>
              <a:t>w</a:t>
            </a:r>
            <a:r>
              <a:rPr lang="en-US" altLang="zh-CN" b="1" baseline="-30000">
                <a:latin typeface="宋体" panose="02010600030101010101" pitchFamily="2" charset="-122"/>
              </a:rPr>
              <a:t>0</a:t>
            </a:r>
            <a:r>
              <a:rPr lang="en-US" altLang="zh-CN" b="1">
                <a:latin typeface="宋体" panose="02010600030101010101" pitchFamily="2" charset="-122"/>
              </a:rPr>
              <a:t>+x</a:t>
            </a:r>
            <a:r>
              <a:rPr lang="en-US" altLang="zh-CN" b="1" baseline="-30000">
                <a:latin typeface="宋体" panose="02010600030101010101" pitchFamily="2" charset="-122"/>
              </a:rPr>
              <a:t>1</a:t>
            </a:r>
            <a:r>
              <a:rPr lang="en-US" altLang="zh-CN" b="1">
                <a:latin typeface="宋体" panose="02010600030101010101" pitchFamily="2" charset="-122"/>
              </a:rPr>
              <a:t>x</a:t>
            </a:r>
            <a:r>
              <a:rPr lang="en-US" altLang="zh-CN" b="1" baseline="-30000">
                <a:latin typeface="宋体" panose="02010600030101010101" pitchFamily="2" charset="-122"/>
              </a:rPr>
              <a:t>0</a:t>
            </a:r>
            <a:r>
              <a:rPr lang="en-US" altLang="zh-CN" b="1">
                <a:latin typeface="宋体" panose="02010600030101010101" pitchFamily="2" charset="-122"/>
              </a:rPr>
              <a:t>-y</a:t>
            </a:r>
            <a:r>
              <a:rPr lang="en-US" altLang="zh-CN" b="1" baseline="-30000">
                <a:latin typeface="宋体" panose="02010600030101010101" pitchFamily="2" charset="-122"/>
              </a:rPr>
              <a:t>1</a:t>
            </a:r>
            <a:r>
              <a:rPr lang="en-US" altLang="zh-CN" b="1">
                <a:latin typeface="宋体" panose="02010600030101010101" pitchFamily="2" charset="-122"/>
              </a:rPr>
              <a:t>y</a:t>
            </a:r>
            <a:r>
              <a:rPr lang="en-US" altLang="zh-CN" b="1" baseline="-30000">
                <a:latin typeface="宋体" panose="02010600030101010101" pitchFamily="2" charset="-122"/>
              </a:rPr>
              <a:t>0</a:t>
            </a:r>
            <a:endParaRPr lang="en-US" altLang="zh-CN" b="1"/>
          </a:p>
          <a:p>
            <a:pPr>
              <a:lnSpc>
                <a:spcPct val="90000"/>
              </a:lnSpc>
              <a:spcBef>
                <a:spcPct val="15000"/>
              </a:spcBef>
            </a:pPr>
            <a:r>
              <a:rPr lang="en-US" altLang="zh-CN" b="1">
                <a:solidFill>
                  <a:schemeClr val="tx2"/>
                </a:solidFill>
                <a:latin typeface="宋体" panose="02010600030101010101" pitchFamily="2" charset="-122"/>
              </a:rPr>
              <a:t>SUBB   @y2,B</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B=w</a:t>
            </a:r>
            <a:r>
              <a:rPr lang="en-US" altLang="zh-CN" b="1" baseline="-30000">
                <a:latin typeface="宋体" panose="02010600030101010101" pitchFamily="2" charset="-122"/>
              </a:rPr>
              <a:t>3</a:t>
            </a:r>
            <a:r>
              <a:rPr lang="en-US" altLang="zh-CN" b="1">
                <a:latin typeface="宋体" panose="02010600030101010101" pitchFamily="2" charset="-122"/>
              </a:rPr>
              <a:t>w</a:t>
            </a:r>
            <a:r>
              <a:rPr lang="en-US" altLang="zh-CN" b="1" baseline="-30000">
                <a:latin typeface="宋体" panose="02010600030101010101" pitchFamily="2" charset="-122"/>
              </a:rPr>
              <a:t>2</a:t>
            </a:r>
            <a:r>
              <a:rPr lang="en-US" altLang="zh-CN" b="1">
                <a:latin typeface="宋体" panose="02010600030101010101" pitchFamily="2" charset="-122"/>
              </a:rPr>
              <a:t>+x</a:t>
            </a:r>
            <a:r>
              <a:rPr lang="en-US" altLang="zh-CN" b="1" baseline="-30000">
                <a:latin typeface="宋体" panose="02010600030101010101" pitchFamily="2" charset="-122"/>
              </a:rPr>
              <a:t>3</a:t>
            </a:r>
            <a:r>
              <a:rPr lang="en-US" altLang="zh-CN" b="1">
                <a:latin typeface="宋体" panose="02010600030101010101" pitchFamily="2" charset="-122"/>
              </a:rPr>
              <a:t>x</a:t>
            </a:r>
            <a:r>
              <a:rPr lang="en-US" altLang="zh-CN" b="1" baseline="-30000">
                <a:latin typeface="宋体" panose="02010600030101010101" pitchFamily="2" charset="-122"/>
              </a:rPr>
              <a:t>2</a:t>
            </a:r>
            <a:r>
              <a:rPr lang="en-US" altLang="zh-CN" b="1">
                <a:latin typeface="宋体" panose="02010600030101010101" pitchFamily="2" charset="-122"/>
              </a:rPr>
              <a:t>+C-y</a:t>
            </a:r>
            <a:r>
              <a:rPr lang="en-US" altLang="zh-CN" b="1" baseline="-30000">
                <a:latin typeface="宋体" panose="02010600030101010101" pitchFamily="2" charset="-122"/>
              </a:rPr>
              <a:t>2</a:t>
            </a:r>
            <a:r>
              <a:rPr lang="en-US" altLang="zh-CN" b="1">
                <a:latin typeface="宋体" panose="02010600030101010101" pitchFamily="2" charset="-122"/>
              </a:rPr>
              <a:t>-C</a:t>
            </a:r>
            <a:r>
              <a:rPr lang="en-US" altLang="zh-CN" b="1"/>
              <a:t>’</a:t>
            </a:r>
          </a:p>
          <a:p>
            <a:pPr>
              <a:lnSpc>
                <a:spcPct val="90000"/>
              </a:lnSpc>
              <a:spcBef>
                <a:spcPct val="15000"/>
              </a:spcBef>
            </a:pPr>
            <a:r>
              <a:rPr lang="en-US" altLang="zh-CN" b="1">
                <a:solidFill>
                  <a:schemeClr val="tx2"/>
                </a:solidFill>
                <a:latin typeface="宋体" panose="02010600030101010101" pitchFamily="2" charset="-122"/>
              </a:rPr>
              <a:t>SUB    @y3,16,B</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B=w</a:t>
            </a:r>
            <a:r>
              <a:rPr lang="en-US" altLang="zh-CN" b="1" baseline="-30000">
                <a:latin typeface="宋体" panose="02010600030101010101" pitchFamily="2" charset="-122"/>
              </a:rPr>
              <a:t>3</a:t>
            </a:r>
            <a:r>
              <a:rPr lang="en-US" altLang="zh-CN" b="1">
                <a:latin typeface="宋体" panose="02010600030101010101" pitchFamily="2" charset="-122"/>
              </a:rPr>
              <a:t>w</a:t>
            </a:r>
            <a:r>
              <a:rPr lang="en-US" altLang="zh-CN" b="1" baseline="-30000">
                <a:latin typeface="宋体" panose="02010600030101010101" pitchFamily="2" charset="-122"/>
              </a:rPr>
              <a:t>2</a:t>
            </a:r>
            <a:r>
              <a:rPr lang="en-US" altLang="zh-CN" b="1">
                <a:latin typeface="宋体" panose="02010600030101010101" pitchFamily="2" charset="-122"/>
              </a:rPr>
              <a:t>+x</a:t>
            </a:r>
            <a:r>
              <a:rPr lang="en-US" altLang="zh-CN" b="1" baseline="-30000">
                <a:latin typeface="宋体" panose="02010600030101010101" pitchFamily="2" charset="-122"/>
              </a:rPr>
              <a:t>3</a:t>
            </a:r>
            <a:r>
              <a:rPr lang="en-US" altLang="zh-CN" b="1">
                <a:latin typeface="宋体" panose="02010600030101010101" pitchFamily="2" charset="-122"/>
              </a:rPr>
              <a:t>x</a:t>
            </a:r>
            <a:r>
              <a:rPr lang="en-US" altLang="zh-CN" b="1" baseline="-30000">
                <a:latin typeface="宋体" panose="02010600030101010101" pitchFamily="2" charset="-122"/>
              </a:rPr>
              <a:t>2</a:t>
            </a:r>
            <a:r>
              <a:rPr lang="en-US" altLang="zh-CN" b="1">
                <a:latin typeface="宋体" panose="02010600030101010101" pitchFamily="2" charset="-122"/>
              </a:rPr>
              <a:t>+C-y</a:t>
            </a:r>
            <a:r>
              <a:rPr lang="en-US" altLang="zh-CN" b="1" baseline="-30000">
                <a:latin typeface="宋体" panose="02010600030101010101" pitchFamily="2" charset="-122"/>
              </a:rPr>
              <a:t>3</a:t>
            </a:r>
            <a:r>
              <a:rPr lang="en-US" altLang="zh-CN" b="1">
                <a:latin typeface="宋体" panose="02010600030101010101" pitchFamily="2" charset="-122"/>
              </a:rPr>
              <a:t>y</a:t>
            </a:r>
            <a:r>
              <a:rPr lang="en-US" altLang="zh-CN" b="1" baseline="-30000">
                <a:latin typeface="宋体" panose="02010600030101010101" pitchFamily="2" charset="-122"/>
              </a:rPr>
              <a:t>2</a:t>
            </a:r>
            <a:r>
              <a:rPr lang="en-US" altLang="zh-CN" b="1">
                <a:latin typeface="宋体" panose="02010600030101010101" pitchFamily="2" charset="-122"/>
              </a:rPr>
              <a:t>-C</a:t>
            </a:r>
            <a:r>
              <a:rPr lang="en-US" altLang="zh-CN" b="1"/>
              <a:t>’</a:t>
            </a:r>
          </a:p>
          <a:p>
            <a:pPr>
              <a:lnSpc>
                <a:spcPct val="90000"/>
              </a:lnSpc>
              <a:spcBef>
                <a:spcPct val="15000"/>
              </a:spcBef>
            </a:pPr>
            <a:r>
              <a:rPr lang="en-US" altLang="zh-CN" b="1">
                <a:latin typeface="宋体" panose="02010600030101010101" pitchFamily="2" charset="-122"/>
              </a:rPr>
              <a:t>DST    B,@z3     </a:t>
            </a:r>
            <a:r>
              <a:rPr lang="zh-CN" altLang="en-US" b="1">
                <a:latin typeface="宋体" panose="02010600030101010101" pitchFamily="2" charset="-122"/>
              </a:rPr>
              <a:t>；</a:t>
            </a:r>
            <a:r>
              <a:rPr lang="en-US" altLang="zh-CN" b="1">
                <a:latin typeface="宋体" panose="02010600030101010101" pitchFamily="2" charset="-122"/>
              </a:rPr>
              <a:t>z</a:t>
            </a:r>
            <a:r>
              <a:rPr lang="en-US" altLang="zh-CN" b="1" baseline="-30000">
                <a:latin typeface="宋体" panose="02010600030101010101" pitchFamily="2" charset="-122"/>
              </a:rPr>
              <a:t>3</a:t>
            </a:r>
            <a:r>
              <a:rPr lang="en-US" altLang="zh-CN" b="1">
                <a:latin typeface="宋体" panose="02010600030101010101" pitchFamily="2" charset="-122"/>
              </a:rPr>
              <a:t>z</a:t>
            </a:r>
            <a:r>
              <a:rPr lang="en-US" altLang="zh-CN" b="1" baseline="-30000">
                <a:latin typeface="宋体" panose="02010600030101010101" pitchFamily="2" charset="-122"/>
              </a:rPr>
              <a:t>2</a:t>
            </a:r>
            <a:r>
              <a:rPr lang="en-US" altLang="zh-CN" b="1">
                <a:latin typeface="宋体" panose="02010600030101010101" pitchFamily="2" charset="-122"/>
              </a:rPr>
              <a:t>=w</a:t>
            </a:r>
            <a:r>
              <a:rPr lang="en-US" altLang="zh-CN" b="1" baseline="-30000">
                <a:latin typeface="宋体" panose="02010600030101010101" pitchFamily="2" charset="-122"/>
              </a:rPr>
              <a:t>3</a:t>
            </a:r>
            <a:r>
              <a:rPr lang="en-US" altLang="zh-CN" b="1">
                <a:latin typeface="宋体" panose="02010600030101010101" pitchFamily="2" charset="-122"/>
              </a:rPr>
              <a:t>w</a:t>
            </a:r>
            <a:r>
              <a:rPr lang="en-US" altLang="zh-CN" b="1" baseline="-30000">
                <a:latin typeface="宋体" panose="02010600030101010101" pitchFamily="2" charset="-122"/>
              </a:rPr>
              <a:t>2</a:t>
            </a:r>
            <a:r>
              <a:rPr lang="en-US" altLang="zh-CN" b="1">
                <a:latin typeface="宋体" panose="02010600030101010101" pitchFamily="2" charset="-122"/>
              </a:rPr>
              <a:t>+x</a:t>
            </a:r>
            <a:r>
              <a:rPr lang="en-US" altLang="zh-CN" b="1" baseline="-30000">
                <a:latin typeface="宋体" panose="02010600030101010101" pitchFamily="2" charset="-122"/>
              </a:rPr>
              <a:t>3</a:t>
            </a:r>
            <a:r>
              <a:rPr lang="en-US" altLang="zh-CN" b="1">
                <a:latin typeface="宋体" panose="02010600030101010101" pitchFamily="2" charset="-122"/>
              </a:rPr>
              <a:t>x</a:t>
            </a:r>
            <a:r>
              <a:rPr lang="en-US" altLang="zh-CN" b="1" baseline="-30000">
                <a:latin typeface="宋体" panose="02010600030101010101" pitchFamily="2" charset="-122"/>
              </a:rPr>
              <a:t>2</a:t>
            </a:r>
            <a:r>
              <a:rPr lang="en-US" altLang="zh-CN" b="1">
                <a:latin typeface="宋体" panose="02010600030101010101" pitchFamily="2" charset="-122"/>
              </a:rPr>
              <a:t>+C-y</a:t>
            </a:r>
            <a:r>
              <a:rPr lang="en-US" altLang="zh-CN" b="1" baseline="-30000">
                <a:latin typeface="宋体" panose="02010600030101010101" pitchFamily="2" charset="-122"/>
              </a:rPr>
              <a:t>3</a:t>
            </a:r>
            <a:r>
              <a:rPr lang="en-US" altLang="zh-CN" b="1">
                <a:latin typeface="宋体" panose="02010600030101010101" pitchFamily="2" charset="-122"/>
              </a:rPr>
              <a:t>y</a:t>
            </a:r>
            <a:r>
              <a:rPr lang="en-US" altLang="zh-CN" b="1" baseline="-30000">
                <a:latin typeface="宋体" panose="02010600030101010101" pitchFamily="2" charset="-122"/>
              </a:rPr>
              <a:t>2</a:t>
            </a:r>
            <a:r>
              <a:rPr lang="en-US" altLang="zh-CN" b="1">
                <a:latin typeface="宋体" panose="02010600030101010101" pitchFamily="2" charset="-122"/>
              </a:rPr>
              <a:t>-C</a:t>
            </a:r>
            <a:r>
              <a:rPr lang="en-US" altLang="zh-CN" b="1"/>
              <a:t>’</a:t>
            </a:r>
          </a:p>
          <a:p>
            <a:pPr>
              <a:spcBef>
                <a:spcPct val="50000"/>
              </a:spcBef>
            </a:pPr>
            <a:r>
              <a:rPr lang="zh-CN" altLang="en-US" b="1">
                <a:solidFill>
                  <a:srgbClr val="FF00FF"/>
                </a:solidFill>
                <a:latin typeface="宋体" panose="02010600030101010101" pitchFamily="2" charset="-122"/>
              </a:rPr>
              <a:t>由于没有长字带进（借）位加</a:t>
            </a:r>
            <a:r>
              <a:rPr lang="en-US" altLang="zh-CN" b="1">
                <a:solidFill>
                  <a:srgbClr val="FF00FF"/>
                </a:solidFill>
                <a:latin typeface="宋体" panose="02010600030101010101" pitchFamily="2" charset="-122"/>
              </a:rPr>
              <a:t>/</a:t>
            </a:r>
            <a:r>
              <a:rPr lang="zh-CN" altLang="en-US" b="1">
                <a:solidFill>
                  <a:srgbClr val="FF00FF"/>
                </a:solidFill>
                <a:latin typeface="宋体" panose="02010600030101010101" pitchFamily="2" charset="-122"/>
              </a:rPr>
              <a:t>减法指令，所以上述程序中只能用</a:t>
            </a:r>
            <a:r>
              <a:rPr lang="en-US" altLang="zh-CN" b="1">
                <a:solidFill>
                  <a:srgbClr val="FF00FF"/>
                </a:solidFill>
                <a:latin typeface="宋体" panose="02010600030101010101" pitchFamily="2" charset="-122"/>
              </a:rPr>
              <a:t>16</a:t>
            </a:r>
            <a:r>
              <a:rPr lang="zh-CN" altLang="en-US" b="1">
                <a:solidFill>
                  <a:srgbClr val="FF00FF"/>
                </a:solidFill>
                <a:latin typeface="宋体" panose="02010600030101010101" pitchFamily="2" charset="-122"/>
              </a:rPr>
              <a:t>位带进（借）位指令</a:t>
            </a:r>
            <a:r>
              <a:rPr lang="en-US" altLang="zh-CN" b="1">
                <a:solidFill>
                  <a:srgbClr val="FF00FF"/>
                </a:solidFill>
                <a:latin typeface="宋体" panose="02010600030101010101" pitchFamily="2" charset="-122"/>
              </a:rPr>
              <a:t>ADDC</a:t>
            </a:r>
            <a:r>
              <a:rPr lang="zh-CN" altLang="en-US" b="1">
                <a:solidFill>
                  <a:srgbClr val="FF00FF"/>
                </a:solidFill>
                <a:latin typeface="宋体" panose="02010600030101010101" pitchFamily="2" charset="-122"/>
              </a:rPr>
              <a:t>和</a:t>
            </a:r>
            <a:r>
              <a:rPr lang="en-US" altLang="zh-CN" b="1">
                <a:solidFill>
                  <a:srgbClr val="FF00FF"/>
                </a:solidFill>
                <a:latin typeface="宋体" panose="02010600030101010101" pitchFamily="2" charset="-122"/>
              </a:rPr>
              <a:t>SUBB</a:t>
            </a:r>
            <a:r>
              <a:rPr lang="zh-CN" altLang="en-US" b="1">
                <a:solidFill>
                  <a:srgbClr val="FF00FF"/>
                </a:solidFill>
                <a:latin typeface="宋体" panose="02010600030101010101" pitchFamily="2" charset="-122"/>
              </a:rPr>
              <a:t>。</a:t>
            </a:r>
          </a:p>
        </p:txBody>
      </p:sp>
      <p:sp>
        <p:nvSpPr>
          <p:cNvPr id="36868" name="AutoShape 3"/>
          <p:cNvSpPr>
            <a:spLocks/>
          </p:cNvSpPr>
          <p:nvPr/>
        </p:nvSpPr>
        <p:spPr bwMode="auto">
          <a:xfrm>
            <a:off x="7092950" y="1125538"/>
            <a:ext cx="287338" cy="863600"/>
          </a:xfrm>
          <a:prstGeom prst="rightBrace">
            <a:avLst>
              <a:gd name="adj1" fmla="val 25046"/>
              <a:gd name="adj2" fmla="val 50000"/>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869" name="Text Box 4"/>
          <p:cNvSpPr txBox="1">
            <a:spLocks noChangeArrowheads="1"/>
          </p:cNvSpPr>
          <p:nvPr/>
        </p:nvSpPr>
        <p:spPr bwMode="auto">
          <a:xfrm>
            <a:off x="7596188" y="1196975"/>
            <a:ext cx="86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rPr>
              <a:t>低</a:t>
            </a:r>
            <a:r>
              <a:rPr lang="en-US" altLang="zh-CN" sz="2000" b="1">
                <a:solidFill>
                  <a:srgbClr val="FF0000"/>
                </a:solidFill>
              </a:rPr>
              <a:t>32</a:t>
            </a:r>
            <a:r>
              <a:rPr lang="zh-CN" altLang="en-US" sz="2000" b="1">
                <a:solidFill>
                  <a:srgbClr val="FF0000"/>
                </a:solidFill>
              </a:rPr>
              <a:t>位加</a:t>
            </a:r>
          </a:p>
        </p:txBody>
      </p:sp>
      <p:sp>
        <p:nvSpPr>
          <p:cNvPr id="36870" name="AutoShape 5"/>
          <p:cNvSpPr>
            <a:spLocks/>
          </p:cNvSpPr>
          <p:nvPr/>
        </p:nvSpPr>
        <p:spPr bwMode="auto">
          <a:xfrm>
            <a:off x="7092950" y="2133600"/>
            <a:ext cx="287338" cy="863600"/>
          </a:xfrm>
          <a:prstGeom prst="rightBrace">
            <a:avLst>
              <a:gd name="adj1" fmla="val 25046"/>
              <a:gd name="adj2" fmla="val 50000"/>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871" name="Text Box 6"/>
          <p:cNvSpPr txBox="1">
            <a:spLocks noChangeArrowheads="1"/>
          </p:cNvSpPr>
          <p:nvPr/>
        </p:nvSpPr>
        <p:spPr bwMode="auto">
          <a:xfrm>
            <a:off x="7596188" y="2205038"/>
            <a:ext cx="86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chemeClr val="tx2"/>
                </a:solidFill>
              </a:rPr>
              <a:t>高</a:t>
            </a:r>
            <a:r>
              <a:rPr lang="en-US" altLang="zh-CN" sz="2000" b="1">
                <a:solidFill>
                  <a:schemeClr val="tx2"/>
                </a:solidFill>
              </a:rPr>
              <a:t>32</a:t>
            </a:r>
            <a:r>
              <a:rPr lang="zh-CN" altLang="en-US" sz="2000" b="1">
                <a:solidFill>
                  <a:schemeClr val="tx2"/>
                </a:solidFill>
              </a:rPr>
              <a:t>位加</a:t>
            </a:r>
          </a:p>
        </p:txBody>
      </p:sp>
      <p:sp>
        <p:nvSpPr>
          <p:cNvPr id="36872" name="AutoShape 7"/>
          <p:cNvSpPr>
            <a:spLocks/>
          </p:cNvSpPr>
          <p:nvPr/>
        </p:nvSpPr>
        <p:spPr bwMode="auto">
          <a:xfrm>
            <a:off x="7092950" y="3141663"/>
            <a:ext cx="287338" cy="647700"/>
          </a:xfrm>
          <a:prstGeom prst="rightBrace">
            <a:avLst>
              <a:gd name="adj1" fmla="val 18784"/>
              <a:gd name="adj2" fmla="val 50000"/>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873" name="Text Box 8"/>
          <p:cNvSpPr txBox="1">
            <a:spLocks noChangeArrowheads="1"/>
          </p:cNvSpPr>
          <p:nvPr/>
        </p:nvSpPr>
        <p:spPr bwMode="auto">
          <a:xfrm>
            <a:off x="7812088" y="3068638"/>
            <a:ext cx="86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rPr>
              <a:t>低</a:t>
            </a:r>
            <a:r>
              <a:rPr lang="en-US" altLang="zh-CN" sz="2000" b="1">
                <a:solidFill>
                  <a:srgbClr val="FF0000"/>
                </a:solidFill>
              </a:rPr>
              <a:t>32</a:t>
            </a:r>
            <a:r>
              <a:rPr lang="zh-CN" altLang="en-US" sz="2000" b="1">
                <a:solidFill>
                  <a:srgbClr val="FF0000"/>
                </a:solidFill>
              </a:rPr>
              <a:t>位减</a:t>
            </a:r>
          </a:p>
        </p:txBody>
      </p:sp>
      <p:sp>
        <p:nvSpPr>
          <p:cNvPr id="36874" name="AutoShape 9"/>
          <p:cNvSpPr>
            <a:spLocks/>
          </p:cNvSpPr>
          <p:nvPr/>
        </p:nvSpPr>
        <p:spPr bwMode="auto">
          <a:xfrm>
            <a:off x="7092950" y="3933825"/>
            <a:ext cx="287338" cy="574675"/>
          </a:xfrm>
          <a:prstGeom prst="rightBrace">
            <a:avLst>
              <a:gd name="adj1" fmla="val 16667"/>
              <a:gd name="adj2" fmla="val 50000"/>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875" name="Text Box 10"/>
          <p:cNvSpPr txBox="1">
            <a:spLocks noChangeArrowheads="1"/>
          </p:cNvSpPr>
          <p:nvPr/>
        </p:nvSpPr>
        <p:spPr bwMode="auto">
          <a:xfrm>
            <a:off x="7812088" y="3860800"/>
            <a:ext cx="86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chemeClr val="tx2"/>
                </a:solidFill>
              </a:rPr>
              <a:t>高</a:t>
            </a:r>
            <a:r>
              <a:rPr lang="en-US" altLang="zh-CN" sz="2000" b="1">
                <a:solidFill>
                  <a:schemeClr val="tx2"/>
                </a:solidFill>
              </a:rPr>
              <a:t>32</a:t>
            </a:r>
            <a:r>
              <a:rPr lang="zh-CN" altLang="en-US" sz="2000" b="1">
                <a:solidFill>
                  <a:schemeClr val="tx2"/>
                </a:solidFill>
              </a:rPr>
              <a:t>位减</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03842"/>
                                        </p:tgtEl>
                                        <p:attrNameLst>
                                          <p:attrName>style.visibility</p:attrName>
                                        </p:attrNameLst>
                                      </p:cBhvr>
                                      <p:to>
                                        <p:strVal val="visible"/>
                                      </p:to>
                                    </p:set>
                                    <p:animEffect transition="in" filter="blinds(horizontal)">
                                      <p:cBhvr>
                                        <p:cTn id="7" dur="500"/>
                                        <p:tgtEl>
                                          <p:spTgt spid="803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84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1652F88-E96A-4413-8E49-10A555D35913}" type="slidenum">
              <a:rPr lang="en-US" altLang="zh-CN" sz="1400"/>
              <a:pPr eaLnBrk="1" hangingPunct="1"/>
              <a:t>24</a:t>
            </a:fld>
            <a:endParaRPr lang="en-US" altLang="zh-CN" sz="1400"/>
          </a:p>
        </p:txBody>
      </p:sp>
      <p:sp>
        <p:nvSpPr>
          <p:cNvPr id="804866" name="Rectangle 2" descr="小棋盘"/>
          <p:cNvSpPr>
            <a:spLocks noChangeArrowheads="1"/>
          </p:cNvSpPr>
          <p:nvPr/>
        </p:nvSpPr>
        <p:spPr bwMode="auto">
          <a:xfrm>
            <a:off x="2438400" y="1143000"/>
            <a:ext cx="36576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8. 32</a:t>
            </a:r>
            <a:r>
              <a:rPr lang="zh-CN" altLang="en-US" sz="3200" b="1">
                <a:solidFill>
                  <a:srgbClr val="FF0000"/>
                </a:solidFill>
                <a:latin typeface="宋体" panose="02010600030101010101" pitchFamily="2" charset="-122"/>
                <a:ea typeface="仿宋_GB2312" pitchFamily="49" charset="-122"/>
              </a:rPr>
              <a:t>位乘法运算 </a:t>
            </a:r>
          </a:p>
        </p:txBody>
      </p:sp>
      <p:sp>
        <p:nvSpPr>
          <p:cNvPr id="804867" name="Rectangle 3"/>
          <p:cNvSpPr>
            <a:spLocks noChangeArrowheads="1"/>
          </p:cNvSpPr>
          <p:nvPr/>
        </p:nvSpPr>
        <p:spPr bwMode="auto">
          <a:xfrm>
            <a:off x="381000" y="2895600"/>
            <a:ext cx="6629400"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15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5000"/>
              </a:spcBef>
            </a:pPr>
            <a:r>
              <a:rPr lang="en-US" altLang="zh-CN" b="1">
                <a:latin typeface="宋体" panose="02010600030101010101" pitchFamily="2" charset="-122"/>
              </a:rPr>
              <a:t>         x1   x0            S  U </a:t>
            </a:r>
            <a:endParaRPr lang="en-US" altLang="zh-CN" b="1"/>
          </a:p>
          <a:p>
            <a:pPr algn="just" eaLnBrk="1" hangingPunct="1">
              <a:lnSpc>
                <a:spcPct val="80000"/>
              </a:lnSpc>
              <a:spcBef>
                <a:spcPct val="15000"/>
              </a:spcBef>
            </a:pPr>
            <a:r>
              <a:rPr lang="en-US" altLang="zh-CN" b="1">
                <a:latin typeface="宋体" panose="02010600030101010101" pitchFamily="2" charset="-122"/>
              </a:rPr>
              <a:t>×       y1   y0            S  U</a:t>
            </a:r>
            <a:endParaRPr lang="en-US" altLang="zh-CN" b="1"/>
          </a:p>
          <a:p>
            <a:pPr algn="just" eaLnBrk="1" hangingPunct="1">
              <a:lnSpc>
                <a:spcPct val="80000"/>
              </a:lnSpc>
              <a:spcBef>
                <a:spcPct val="15000"/>
              </a:spcBef>
            </a:pPr>
            <a:r>
              <a:rPr lang="en-US" altLang="zh-CN" b="1">
                <a:latin typeface="宋体" panose="02010600030101010101" pitchFamily="2" charset="-122"/>
              </a:rPr>
              <a:t>__________________  _____________</a:t>
            </a:r>
            <a:endParaRPr lang="en-US" altLang="zh-CN" b="1"/>
          </a:p>
          <a:p>
            <a:pPr algn="just" eaLnBrk="1" hangingPunct="1">
              <a:lnSpc>
                <a:spcPct val="80000"/>
              </a:lnSpc>
              <a:spcBef>
                <a:spcPct val="15000"/>
              </a:spcBef>
            </a:pPr>
            <a:r>
              <a:rPr lang="en-US" altLang="zh-CN" b="1">
                <a:latin typeface="宋体" panose="02010600030101010101" pitchFamily="2" charset="-122"/>
              </a:rPr>
              <a:t>          x0 * y0            U * U</a:t>
            </a:r>
            <a:endParaRPr lang="en-US" altLang="zh-CN" b="1"/>
          </a:p>
          <a:p>
            <a:pPr algn="just" eaLnBrk="1" hangingPunct="1">
              <a:lnSpc>
                <a:spcPct val="80000"/>
              </a:lnSpc>
              <a:spcBef>
                <a:spcPct val="15000"/>
              </a:spcBef>
            </a:pPr>
            <a:r>
              <a:rPr lang="en-US" altLang="zh-CN" b="1">
                <a:latin typeface="宋体" panose="02010600030101010101" pitchFamily="2" charset="-122"/>
              </a:rPr>
              <a:t>     y1 * x0             S * U</a:t>
            </a:r>
            <a:endParaRPr lang="en-US" altLang="zh-CN" b="1"/>
          </a:p>
          <a:p>
            <a:pPr algn="just" eaLnBrk="1" hangingPunct="1">
              <a:lnSpc>
                <a:spcPct val="80000"/>
              </a:lnSpc>
              <a:spcBef>
                <a:spcPct val="15000"/>
              </a:spcBef>
            </a:pPr>
            <a:r>
              <a:rPr lang="en-US" altLang="zh-CN" b="1"/>
              <a:t>          </a:t>
            </a:r>
            <a:r>
              <a:rPr lang="en-US" altLang="zh-CN" b="1">
                <a:latin typeface="宋体" panose="02010600030101010101" pitchFamily="2" charset="-122"/>
              </a:rPr>
              <a:t>x1 * y0             S * U</a:t>
            </a:r>
            <a:endParaRPr lang="en-US" altLang="zh-CN" b="1"/>
          </a:p>
          <a:p>
            <a:pPr algn="just" eaLnBrk="1" hangingPunct="1">
              <a:lnSpc>
                <a:spcPct val="80000"/>
              </a:lnSpc>
              <a:spcBef>
                <a:spcPct val="15000"/>
              </a:spcBef>
            </a:pPr>
            <a:r>
              <a:rPr lang="en-US" altLang="zh-CN" b="1">
                <a:latin typeface="宋体" panose="02010600030101010101" pitchFamily="2" charset="-122"/>
              </a:rPr>
              <a:t>y1 * x1              S * S</a:t>
            </a:r>
            <a:endParaRPr lang="en-US" altLang="zh-CN" b="1"/>
          </a:p>
          <a:p>
            <a:pPr algn="just" eaLnBrk="1" hangingPunct="1">
              <a:lnSpc>
                <a:spcPct val="80000"/>
              </a:lnSpc>
              <a:spcBef>
                <a:spcPct val="15000"/>
              </a:spcBef>
            </a:pPr>
            <a:r>
              <a:rPr lang="en-US" altLang="zh-CN" b="1">
                <a:latin typeface="宋体" panose="02010600030101010101" pitchFamily="2" charset="-122"/>
              </a:rPr>
              <a:t>________________     _______________</a:t>
            </a:r>
            <a:endParaRPr lang="en-US" altLang="zh-CN" b="1"/>
          </a:p>
          <a:p>
            <a:pPr algn="just" eaLnBrk="1" hangingPunct="1">
              <a:lnSpc>
                <a:spcPct val="80000"/>
              </a:lnSpc>
              <a:spcBef>
                <a:spcPct val="15000"/>
              </a:spcBef>
            </a:pPr>
            <a:r>
              <a:rPr lang="en-US" altLang="zh-CN" b="1">
                <a:latin typeface="宋体" panose="02010600030101010101" pitchFamily="2" charset="-122"/>
              </a:rPr>
              <a:t>w3   w2   w1   w0    S   U   U   U</a:t>
            </a:r>
            <a:endParaRPr lang="en-US" altLang="zh-CN" b="1"/>
          </a:p>
        </p:txBody>
      </p:sp>
      <p:sp>
        <p:nvSpPr>
          <p:cNvPr id="804868" name="Rectangle 4"/>
          <p:cNvSpPr>
            <a:spLocks noChangeArrowheads="1"/>
          </p:cNvSpPr>
          <p:nvPr/>
        </p:nvSpPr>
        <p:spPr bwMode="auto">
          <a:xfrm>
            <a:off x="457200" y="1905000"/>
            <a:ext cx="81534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pPr>
            <a:r>
              <a:rPr lang="zh-CN" altLang="en-US" b="1">
                <a:ea typeface="黑体" panose="02010609060101010101" pitchFamily="49" charset="-122"/>
              </a:rPr>
              <a:t>例</a:t>
            </a:r>
            <a:r>
              <a:rPr lang="en-US" altLang="zh-CN" b="1">
                <a:ea typeface="黑体" panose="02010609060101010101" pitchFamily="49" charset="-122"/>
              </a:rPr>
              <a:t>5-12</a:t>
            </a:r>
            <a:r>
              <a:rPr lang="en-US" altLang="zh-CN" b="1">
                <a:latin typeface="宋体" panose="02010600030101010101" pitchFamily="2" charset="-122"/>
              </a:rPr>
              <a:t>  </a:t>
            </a:r>
            <a:r>
              <a:rPr lang="zh-CN" altLang="en-US" b="1">
                <a:latin typeface="宋体" panose="02010600030101010101" pitchFamily="2" charset="-122"/>
              </a:rPr>
              <a:t>编写计算</a:t>
            </a:r>
            <a:r>
              <a:rPr lang="en-US" altLang="zh-CN" b="1">
                <a:latin typeface="宋体" panose="02010600030101010101" pitchFamily="2" charset="-122"/>
              </a:rPr>
              <a:t>W</a:t>
            </a:r>
            <a:r>
              <a:rPr lang="en-US" altLang="zh-CN" b="1" baseline="-30000">
                <a:latin typeface="宋体" panose="02010600030101010101" pitchFamily="2" charset="-122"/>
              </a:rPr>
              <a:t>64</a:t>
            </a:r>
            <a:r>
              <a:rPr lang="en-US" altLang="zh-CN" b="1">
                <a:latin typeface="宋体" panose="02010600030101010101" pitchFamily="2" charset="-122"/>
              </a:rPr>
              <a:t>=X</a:t>
            </a:r>
            <a:r>
              <a:rPr lang="en-US" altLang="zh-CN" b="1" baseline="-30000">
                <a:latin typeface="宋体" panose="02010600030101010101" pitchFamily="2" charset="-122"/>
              </a:rPr>
              <a:t>32</a:t>
            </a:r>
            <a:r>
              <a:rPr lang="en-US" altLang="zh-CN" b="1">
                <a:latin typeface="宋体" panose="02010600030101010101" pitchFamily="2" charset="-122"/>
              </a:rPr>
              <a:t>*Y</a:t>
            </a:r>
            <a:r>
              <a:rPr lang="en-US" altLang="zh-CN" b="1" baseline="-30000">
                <a:latin typeface="宋体" panose="02010600030101010101" pitchFamily="2" charset="-122"/>
              </a:rPr>
              <a:t>32</a:t>
            </a:r>
            <a:r>
              <a:rPr lang="zh-CN" altLang="en-US" b="1">
                <a:latin typeface="宋体" panose="02010600030101010101" pitchFamily="2" charset="-122"/>
              </a:rPr>
              <a:t>的程序段。</a:t>
            </a:r>
            <a:endParaRPr lang="zh-CN" altLang="en-US" b="1"/>
          </a:p>
          <a:p>
            <a:pPr eaLnBrk="1" hangingPunct="1">
              <a:lnSpc>
                <a:spcPct val="80000"/>
              </a:lnSpc>
              <a:spcBef>
                <a:spcPct val="20000"/>
              </a:spcBef>
            </a:pPr>
            <a:r>
              <a:rPr lang="en-US" altLang="zh-CN" b="1">
                <a:latin typeface="宋体" panose="02010600030101010101" pitchFamily="2" charset="-122"/>
              </a:rPr>
              <a:t>32</a:t>
            </a:r>
            <a:r>
              <a:rPr lang="zh-CN" altLang="en-US" b="1">
                <a:latin typeface="宋体" panose="02010600030101010101" pitchFamily="2" charset="-122"/>
              </a:rPr>
              <a:t>位乘法算式如下：</a:t>
            </a:r>
          </a:p>
        </p:txBody>
      </p:sp>
      <p:sp>
        <p:nvSpPr>
          <p:cNvPr id="37894" name="Rectangle 7"/>
          <p:cNvSpPr>
            <a:spLocks noChangeArrowheads="1"/>
          </p:cNvSpPr>
          <p:nvPr/>
        </p:nvSpPr>
        <p:spPr bwMode="auto">
          <a:xfrm>
            <a:off x="7667625" y="6237288"/>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latin typeface="宋体" panose="02010600030101010101" pitchFamily="2" charset="-122"/>
              </a:rPr>
              <a:t>图</a:t>
            </a:r>
            <a:r>
              <a:rPr lang="en-US" altLang="zh-CN" b="1">
                <a:latin typeface="宋体" panose="02010600030101010101" pitchFamily="2" charset="-122"/>
              </a:rPr>
              <a:t>5-5</a:t>
            </a:r>
          </a:p>
        </p:txBody>
      </p:sp>
      <p:sp>
        <p:nvSpPr>
          <p:cNvPr id="37895" name="Rectangle 9"/>
          <p:cNvSpPr>
            <a:spLocks noChangeArrowheads="1"/>
          </p:cNvSpPr>
          <p:nvPr/>
        </p:nvSpPr>
        <p:spPr bwMode="auto">
          <a:xfrm>
            <a:off x="7740650" y="3500438"/>
            <a:ext cx="8143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rgbClr val="FF6600"/>
                </a:solidFill>
              </a:rPr>
              <a:t>y1</a:t>
            </a:r>
          </a:p>
        </p:txBody>
      </p:sp>
      <p:sp>
        <p:nvSpPr>
          <p:cNvPr id="37896" name="Rectangle 10"/>
          <p:cNvSpPr>
            <a:spLocks noChangeArrowheads="1"/>
          </p:cNvSpPr>
          <p:nvPr/>
        </p:nvSpPr>
        <p:spPr bwMode="auto">
          <a:xfrm>
            <a:off x="7740650" y="2433638"/>
            <a:ext cx="8143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chemeClr val="tx2"/>
                </a:solidFill>
              </a:rPr>
              <a:t>x1</a:t>
            </a:r>
          </a:p>
        </p:txBody>
      </p:sp>
      <p:sp>
        <p:nvSpPr>
          <p:cNvPr id="37897" name="Rectangle 11"/>
          <p:cNvSpPr>
            <a:spLocks noChangeArrowheads="1"/>
          </p:cNvSpPr>
          <p:nvPr/>
        </p:nvSpPr>
        <p:spPr bwMode="auto">
          <a:xfrm>
            <a:off x="7740650" y="4535488"/>
            <a:ext cx="8143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rgbClr val="FF00FF"/>
                </a:solidFill>
              </a:rPr>
              <a:t>w1</a:t>
            </a:r>
          </a:p>
        </p:txBody>
      </p:sp>
      <p:sp>
        <p:nvSpPr>
          <p:cNvPr id="37898" name="Rectangle 12"/>
          <p:cNvSpPr>
            <a:spLocks noChangeArrowheads="1"/>
          </p:cNvSpPr>
          <p:nvPr/>
        </p:nvSpPr>
        <p:spPr bwMode="auto">
          <a:xfrm>
            <a:off x="7740650" y="4017963"/>
            <a:ext cx="8143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rgbClr val="FF00FF"/>
                </a:solidFill>
              </a:rPr>
              <a:t>w0</a:t>
            </a:r>
          </a:p>
        </p:txBody>
      </p:sp>
      <p:sp>
        <p:nvSpPr>
          <p:cNvPr id="37899" name="Rectangle 13"/>
          <p:cNvSpPr>
            <a:spLocks noChangeArrowheads="1"/>
          </p:cNvSpPr>
          <p:nvPr/>
        </p:nvSpPr>
        <p:spPr bwMode="auto">
          <a:xfrm>
            <a:off x="7740650" y="2951163"/>
            <a:ext cx="8143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rgbClr val="FF6600"/>
                </a:solidFill>
              </a:rPr>
              <a:t>y0</a:t>
            </a:r>
          </a:p>
        </p:txBody>
      </p:sp>
      <p:sp>
        <p:nvSpPr>
          <p:cNvPr id="37900" name="Rectangle 14"/>
          <p:cNvSpPr>
            <a:spLocks noChangeArrowheads="1"/>
          </p:cNvSpPr>
          <p:nvPr/>
        </p:nvSpPr>
        <p:spPr bwMode="auto">
          <a:xfrm>
            <a:off x="7740650" y="1916113"/>
            <a:ext cx="8143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chemeClr val="tx2"/>
                </a:solidFill>
              </a:rPr>
              <a:t>x0</a:t>
            </a:r>
          </a:p>
        </p:txBody>
      </p:sp>
      <p:sp>
        <p:nvSpPr>
          <p:cNvPr id="37901" name="Line 15"/>
          <p:cNvSpPr>
            <a:spLocks noChangeShapeType="1"/>
          </p:cNvSpPr>
          <p:nvPr/>
        </p:nvSpPr>
        <p:spPr bwMode="auto">
          <a:xfrm>
            <a:off x="7740650" y="1916113"/>
            <a:ext cx="814388"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2" name="Line 16"/>
          <p:cNvSpPr>
            <a:spLocks noChangeShapeType="1"/>
          </p:cNvSpPr>
          <p:nvPr/>
        </p:nvSpPr>
        <p:spPr bwMode="auto">
          <a:xfrm>
            <a:off x="7740650" y="2951163"/>
            <a:ext cx="81438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3" name="Line 17"/>
          <p:cNvSpPr>
            <a:spLocks noChangeShapeType="1"/>
          </p:cNvSpPr>
          <p:nvPr/>
        </p:nvSpPr>
        <p:spPr bwMode="auto">
          <a:xfrm>
            <a:off x="7740650" y="4017963"/>
            <a:ext cx="81438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4" name="Line 18"/>
          <p:cNvSpPr>
            <a:spLocks noChangeShapeType="1"/>
          </p:cNvSpPr>
          <p:nvPr/>
        </p:nvSpPr>
        <p:spPr bwMode="auto">
          <a:xfrm>
            <a:off x="7740650" y="4535488"/>
            <a:ext cx="81438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5" name="Line 19"/>
          <p:cNvSpPr>
            <a:spLocks noChangeShapeType="1"/>
          </p:cNvSpPr>
          <p:nvPr/>
        </p:nvSpPr>
        <p:spPr bwMode="auto">
          <a:xfrm>
            <a:off x="7740650" y="5053013"/>
            <a:ext cx="814388"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6" name="Line 20"/>
          <p:cNvSpPr>
            <a:spLocks noChangeShapeType="1"/>
          </p:cNvSpPr>
          <p:nvPr/>
        </p:nvSpPr>
        <p:spPr bwMode="auto">
          <a:xfrm>
            <a:off x="7740650" y="1916113"/>
            <a:ext cx="0" cy="31369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7" name="Line 21"/>
          <p:cNvSpPr>
            <a:spLocks noChangeShapeType="1"/>
          </p:cNvSpPr>
          <p:nvPr/>
        </p:nvSpPr>
        <p:spPr bwMode="auto">
          <a:xfrm>
            <a:off x="8555038" y="1916113"/>
            <a:ext cx="0" cy="313690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8" name="Line 22"/>
          <p:cNvSpPr>
            <a:spLocks noChangeShapeType="1"/>
          </p:cNvSpPr>
          <p:nvPr/>
        </p:nvSpPr>
        <p:spPr bwMode="auto">
          <a:xfrm>
            <a:off x="7740650" y="2433638"/>
            <a:ext cx="81438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9" name="Line 23"/>
          <p:cNvSpPr>
            <a:spLocks noChangeShapeType="1"/>
          </p:cNvSpPr>
          <p:nvPr/>
        </p:nvSpPr>
        <p:spPr bwMode="auto">
          <a:xfrm>
            <a:off x="7740650" y="3500438"/>
            <a:ext cx="81438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10" name="Text Box 24"/>
          <p:cNvSpPr txBox="1">
            <a:spLocks noChangeArrowheads="1"/>
          </p:cNvSpPr>
          <p:nvPr/>
        </p:nvSpPr>
        <p:spPr bwMode="auto">
          <a:xfrm>
            <a:off x="7235825" y="1484313"/>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00"/>
                </a:solidFill>
              </a:rPr>
              <a:t>数据存储器</a:t>
            </a:r>
          </a:p>
        </p:txBody>
      </p:sp>
      <p:sp>
        <p:nvSpPr>
          <p:cNvPr id="37911" name="Text Box 25"/>
          <p:cNvSpPr txBox="1">
            <a:spLocks noChangeArrowheads="1"/>
          </p:cNvSpPr>
          <p:nvPr/>
        </p:nvSpPr>
        <p:spPr bwMode="auto">
          <a:xfrm>
            <a:off x="6516688" y="1987550"/>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AR2 →</a:t>
            </a:r>
          </a:p>
        </p:txBody>
      </p:sp>
      <p:sp>
        <p:nvSpPr>
          <p:cNvPr id="37912" name="Text Box 26"/>
          <p:cNvSpPr txBox="1">
            <a:spLocks noChangeArrowheads="1"/>
          </p:cNvSpPr>
          <p:nvPr/>
        </p:nvSpPr>
        <p:spPr bwMode="auto">
          <a:xfrm>
            <a:off x="6516688" y="3068638"/>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AR3 →</a:t>
            </a:r>
          </a:p>
        </p:txBody>
      </p:sp>
      <p:sp>
        <p:nvSpPr>
          <p:cNvPr id="37913" name="Rectangle 46"/>
          <p:cNvSpPr>
            <a:spLocks noChangeArrowheads="1"/>
          </p:cNvSpPr>
          <p:nvPr/>
        </p:nvSpPr>
        <p:spPr bwMode="auto">
          <a:xfrm>
            <a:off x="7740650" y="5053013"/>
            <a:ext cx="814388" cy="5175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rgbClr val="FF00FF"/>
                </a:solidFill>
              </a:rPr>
              <a:t>w2</a:t>
            </a:r>
          </a:p>
        </p:txBody>
      </p:sp>
      <p:sp>
        <p:nvSpPr>
          <p:cNvPr id="37914" name="Rectangle 47"/>
          <p:cNvSpPr>
            <a:spLocks noChangeArrowheads="1"/>
          </p:cNvSpPr>
          <p:nvPr/>
        </p:nvSpPr>
        <p:spPr bwMode="auto">
          <a:xfrm>
            <a:off x="7740650" y="5573713"/>
            <a:ext cx="814388" cy="5175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en-US" altLang="zh-CN" sz="2800">
                <a:solidFill>
                  <a:srgbClr val="FF00FF"/>
                </a:solidFill>
              </a:rPr>
              <a:t>w3</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04866"/>
                                        </p:tgtEl>
                                        <p:attrNameLst>
                                          <p:attrName>style.visibility</p:attrName>
                                        </p:attrNameLst>
                                      </p:cBhvr>
                                      <p:to>
                                        <p:strVal val="visible"/>
                                      </p:to>
                                    </p:set>
                                    <p:animEffect transition="in" filter="slide(fromTop)">
                                      <p:cBhvr>
                                        <p:cTn id="7" dur="500"/>
                                        <p:tgtEl>
                                          <p:spTgt spid="804866"/>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04868"/>
                                        </p:tgtEl>
                                        <p:attrNameLst>
                                          <p:attrName>style.visibility</p:attrName>
                                        </p:attrNameLst>
                                      </p:cBhvr>
                                      <p:to>
                                        <p:strVal val="visible"/>
                                      </p:to>
                                    </p:set>
                                    <p:animEffect transition="in" filter="slide(fromLeft)">
                                      <p:cBhvr>
                                        <p:cTn id="11" dur="500"/>
                                        <p:tgtEl>
                                          <p:spTgt spid="804868"/>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804867"/>
                                        </p:tgtEl>
                                        <p:attrNameLst>
                                          <p:attrName>style.visibility</p:attrName>
                                        </p:attrNameLst>
                                      </p:cBhvr>
                                      <p:to>
                                        <p:strVal val="visible"/>
                                      </p:to>
                                    </p:set>
                                    <p:animEffect transition="in" filter="blinds(horizontal)">
                                      <p:cBhvr>
                                        <p:cTn id="15" dur="500"/>
                                        <p:tgtEl>
                                          <p:spTgt spid="804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66" grpId="0" animBg="1" autoUpdateAnimBg="0"/>
      <p:bldP spid="804867" grpId="0" autoUpdateAnimBg="0"/>
      <p:bldP spid="80486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C28BC691-6DB3-4F71-AEDD-AF6C26D58D0A}" type="slidenum">
              <a:rPr lang="en-US" altLang="zh-CN" sz="1400"/>
              <a:pPr eaLnBrk="1" hangingPunct="1"/>
              <a:t>25</a:t>
            </a:fld>
            <a:endParaRPr lang="en-US" altLang="zh-CN" sz="1400"/>
          </a:p>
        </p:txBody>
      </p:sp>
      <p:sp>
        <p:nvSpPr>
          <p:cNvPr id="805890" name="Rectangle 2"/>
          <p:cNvSpPr>
            <a:spLocks noChangeArrowheads="1"/>
          </p:cNvSpPr>
          <p:nvPr/>
        </p:nvSpPr>
        <p:spPr bwMode="auto">
          <a:xfrm>
            <a:off x="323850" y="1196975"/>
            <a:ext cx="8588375"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9048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latin typeface="宋体" panose="02010600030101010101" pitchFamily="2" charset="-122"/>
              </a:rPr>
              <a:t>  </a:t>
            </a:r>
            <a:r>
              <a:rPr lang="zh-CN" altLang="en-US" b="1">
                <a:latin typeface="宋体" panose="02010600030101010101" pitchFamily="2" charset="-122"/>
              </a:rPr>
              <a:t>其中，</a:t>
            </a:r>
            <a:r>
              <a:rPr lang="en-US" altLang="zh-CN" b="1">
                <a:latin typeface="宋体" panose="02010600030101010101" pitchFamily="2" charset="-122"/>
              </a:rPr>
              <a:t>S</a:t>
            </a:r>
            <a:r>
              <a:rPr lang="zh-CN" altLang="en-US" b="1">
                <a:latin typeface="宋体" panose="02010600030101010101" pitchFamily="2" charset="-122"/>
              </a:rPr>
              <a:t>为带符号数，</a:t>
            </a:r>
            <a:r>
              <a:rPr lang="en-US" altLang="zh-CN" b="1">
                <a:latin typeface="宋体" panose="02010600030101010101" pitchFamily="2" charset="-122"/>
              </a:rPr>
              <a:t>U</a:t>
            </a:r>
            <a:r>
              <a:rPr lang="zh-CN" altLang="en-US" b="1">
                <a:latin typeface="宋体" panose="02010600030101010101" pitchFamily="2" charset="-122"/>
              </a:rPr>
              <a:t>为无符号数。数据存储器分配如图</a:t>
            </a:r>
            <a:r>
              <a:rPr lang="en-US" altLang="zh-CN" b="1">
                <a:latin typeface="宋体" panose="02010600030101010101" pitchFamily="2" charset="-122"/>
              </a:rPr>
              <a:t>5-5</a:t>
            </a:r>
            <a:r>
              <a:rPr lang="zh-CN" altLang="en-US" b="1">
                <a:latin typeface="宋体" panose="02010600030101010101" pitchFamily="2" charset="-122"/>
              </a:rPr>
              <a:t>所示。在</a:t>
            </a:r>
            <a:r>
              <a:rPr lang="en-US" altLang="zh-CN" b="1">
                <a:latin typeface="宋体" panose="02010600030101010101" pitchFamily="2" charset="-122"/>
              </a:rPr>
              <a:t>32</a:t>
            </a:r>
            <a:r>
              <a:rPr lang="zh-CN" altLang="en-US" b="1">
                <a:latin typeface="宋体" panose="02010600030101010101" pitchFamily="2" charset="-122"/>
              </a:rPr>
              <a:t>位乘法运算中，实际上包括了三种乘法运算：</a:t>
            </a:r>
            <a:r>
              <a:rPr lang="en-US" altLang="zh-CN" b="1">
                <a:latin typeface="宋体" panose="02010600030101010101" pitchFamily="2" charset="-122"/>
              </a:rPr>
              <a:t>U*U</a:t>
            </a:r>
            <a:r>
              <a:rPr lang="zh-CN" altLang="en-US" b="1">
                <a:latin typeface="宋体" panose="02010600030101010101" pitchFamily="2" charset="-122"/>
              </a:rPr>
              <a:t>、</a:t>
            </a:r>
            <a:r>
              <a:rPr lang="en-US" altLang="zh-CN" b="1">
                <a:latin typeface="宋体" panose="02010600030101010101" pitchFamily="2" charset="-122"/>
              </a:rPr>
              <a:t>S*U</a:t>
            </a:r>
            <a:r>
              <a:rPr lang="zh-CN" altLang="en-US" b="1">
                <a:latin typeface="宋体" panose="02010600030101010101" pitchFamily="2" charset="-122"/>
              </a:rPr>
              <a:t>和</a:t>
            </a:r>
            <a:r>
              <a:rPr lang="en-US" altLang="zh-CN" b="1">
                <a:latin typeface="宋体" panose="02010600030101010101" pitchFamily="2" charset="-122"/>
              </a:rPr>
              <a:t>S*S</a:t>
            </a:r>
            <a:r>
              <a:rPr lang="zh-CN" altLang="en-US" b="1">
                <a:latin typeface="宋体" panose="02010600030101010101" pitchFamily="2" charset="-122"/>
              </a:rPr>
              <a:t>。一般的乘法运算指令都是两个带符号数相乘，即</a:t>
            </a:r>
            <a:r>
              <a:rPr lang="en-US" altLang="zh-CN" b="1">
                <a:latin typeface="宋体" panose="02010600030101010101" pitchFamily="2" charset="-122"/>
              </a:rPr>
              <a:t>S*S</a:t>
            </a:r>
            <a:r>
              <a:rPr lang="zh-CN" altLang="en-US" b="1">
                <a:latin typeface="宋体" panose="02010600030101010101" pitchFamily="2" charset="-122"/>
              </a:rPr>
              <a:t>。    </a:t>
            </a:r>
            <a:endParaRPr lang="zh-CN" altLang="en-US" b="1"/>
          </a:p>
          <a:p>
            <a:pPr algn="just"/>
            <a:r>
              <a:rPr lang="zh-CN" altLang="en-US" b="1">
                <a:latin typeface="宋体" panose="02010600030101010101" pitchFamily="2" charset="-122"/>
              </a:rPr>
              <a:t>  所以，在编程时，要用到以下三条乘法指令：</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MACSU Xmem,Ymem,src </a:t>
            </a:r>
            <a:r>
              <a:rPr lang="zh-CN" altLang="en-US" b="1">
                <a:latin typeface="宋体" panose="02010600030101010101" pitchFamily="2" charset="-122"/>
              </a:rPr>
              <a:t>；无符号数与带符号数相乘并                     </a:t>
            </a:r>
          </a:p>
          <a:p>
            <a:pPr algn="just"/>
            <a:r>
              <a:rPr lang="zh-CN" altLang="en-US" b="1">
                <a:latin typeface="宋体" panose="02010600030101010101" pitchFamily="2" charset="-122"/>
              </a:rPr>
              <a:t>                     </a:t>
            </a:r>
            <a:r>
              <a:rPr lang="zh-CN" altLang="en-US" sz="2000" b="1">
                <a:latin typeface="宋体" panose="02010600030101010101" pitchFamily="2" charset="-122"/>
              </a:rPr>
              <a:t>；累加</a:t>
            </a:r>
            <a:r>
              <a:rPr lang="en-US" altLang="zh-CN" sz="2000" b="1">
                <a:latin typeface="宋体" panose="02010600030101010101" pitchFamily="2" charset="-122"/>
              </a:rPr>
              <a:t>src=U</a:t>
            </a:r>
            <a:r>
              <a:rPr lang="zh-CN" altLang="en-US" sz="2000" b="1">
                <a:latin typeface="宋体" panose="02010600030101010101" pitchFamily="2" charset="-122"/>
              </a:rPr>
              <a:t>（</a:t>
            </a:r>
            <a:r>
              <a:rPr lang="en-US" altLang="zh-CN" sz="2000" b="1">
                <a:latin typeface="宋体" panose="02010600030101010101" pitchFamily="2" charset="-122"/>
              </a:rPr>
              <a:t>Xmem</a:t>
            </a:r>
            <a:r>
              <a:rPr lang="zh-CN" altLang="en-US" sz="2000" b="1">
                <a:latin typeface="宋体" panose="02010600030101010101" pitchFamily="2" charset="-122"/>
              </a:rPr>
              <a:t>）* </a:t>
            </a:r>
            <a:r>
              <a:rPr lang="en-US" altLang="zh-CN" sz="2000" b="1">
                <a:latin typeface="宋体" panose="02010600030101010101" pitchFamily="2" charset="-122"/>
              </a:rPr>
              <a:t>S</a:t>
            </a:r>
            <a:r>
              <a:rPr lang="zh-CN" altLang="en-US" sz="2000" b="1">
                <a:latin typeface="宋体" panose="02010600030101010101" pitchFamily="2" charset="-122"/>
              </a:rPr>
              <a:t>（</a:t>
            </a:r>
            <a:r>
              <a:rPr lang="en-US" altLang="zh-CN" sz="2000" b="1">
                <a:latin typeface="宋体" panose="02010600030101010101" pitchFamily="2" charset="-122"/>
              </a:rPr>
              <a:t>Ymem</a:t>
            </a:r>
            <a:r>
              <a:rPr lang="zh-CN" altLang="en-US" sz="2000" b="1">
                <a:latin typeface="宋体" panose="02010600030101010101" pitchFamily="2" charset="-122"/>
              </a:rPr>
              <a:t>）</a:t>
            </a:r>
            <a:r>
              <a:rPr lang="en-US" altLang="zh-CN" sz="2000" b="1">
                <a:latin typeface="宋体" panose="02010600030101010101" pitchFamily="2" charset="-122"/>
              </a:rPr>
              <a:t>+src</a:t>
            </a:r>
            <a:endParaRPr lang="en-US" altLang="zh-CN" sz="2000" b="1"/>
          </a:p>
          <a:p>
            <a:pPr algn="just"/>
            <a:r>
              <a:rPr lang="en-US" altLang="zh-CN" b="1">
                <a:latin typeface="宋体" panose="02010600030101010101" pitchFamily="2" charset="-122"/>
              </a:rPr>
              <a:t> MPYU  Smem,dst      </a:t>
            </a:r>
            <a:r>
              <a:rPr lang="zh-CN" altLang="en-US" b="1">
                <a:latin typeface="宋体" panose="02010600030101010101" pitchFamily="2" charset="-122"/>
              </a:rPr>
              <a:t>；无符号数相乘</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dst=U</a:t>
            </a:r>
            <a:r>
              <a:rPr lang="zh-CN" altLang="en-US" b="1">
                <a:latin typeface="宋体" panose="02010600030101010101" pitchFamily="2" charset="-122"/>
              </a:rPr>
              <a:t>（Ｔ）* </a:t>
            </a:r>
            <a:r>
              <a:rPr lang="en-US" altLang="zh-CN" b="1">
                <a:latin typeface="宋体" panose="02010600030101010101" pitchFamily="2" charset="-122"/>
              </a:rPr>
              <a:t>U</a:t>
            </a:r>
            <a:r>
              <a:rPr lang="zh-CN" altLang="en-US" b="1">
                <a:latin typeface="宋体" panose="02010600030101010101" pitchFamily="2" charset="-122"/>
              </a:rPr>
              <a:t>（</a:t>
            </a:r>
            <a:r>
              <a:rPr lang="en-US" altLang="zh-CN" b="1">
                <a:latin typeface="宋体" panose="02010600030101010101" pitchFamily="2" charset="-122"/>
              </a:rPr>
              <a:t>Smem</a:t>
            </a:r>
            <a:r>
              <a:rPr lang="zh-CN" altLang="en-US" b="1">
                <a:latin typeface="宋体" panose="02010600030101010101" pitchFamily="2" charset="-122"/>
              </a:rPr>
              <a:t>）</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MAC   Xmem,Ymem,src </a:t>
            </a:r>
            <a:r>
              <a:rPr lang="zh-CN" altLang="en-US" b="1">
                <a:latin typeface="宋体" panose="02010600030101010101" pitchFamily="2" charset="-122"/>
              </a:rPr>
              <a:t>；两个符号数数相乘并累加</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src=S</a:t>
            </a:r>
            <a:r>
              <a:rPr lang="zh-CN" altLang="en-US" b="1">
                <a:latin typeface="宋体" panose="02010600030101010101" pitchFamily="2" charset="-122"/>
              </a:rPr>
              <a:t>（</a:t>
            </a:r>
            <a:r>
              <a:rPr lang="en-US" altLang="zh-CN" b="1">
                <a:latin typeface="宋体" panose="02010600030101010101" pitchFamily="2" charset="-122"/>
              </a:rPr>
              <a:t>Xmem</a:t>
            </a:r>
            <a:r>
              <a:rPr lang="zh-CN" altLang="en-US" b="1">
                <a:latin typeface="宋体" panose="02010600030101010101" pitchFamily="2" charset="-122"/>
              </a:rPr>
              <a:t>）* </a:t>
            </a:r>
            <a:r>
              <a:rPr lang="en-US" altLang="zh-CN" b="1">
                <a:latin typeface="宋体" panose="02010600030101010101" pitchFamily="2" charset="-122"/>
              </a:rPr>
              <a:t>S</a:t>
            </a:r>
            <a:r>
              <a:rPr lang="zh-CN" altLang="en-US" b="1">
                <a:latin typeface="宋体" panose="02010600030101010101" pitchFamily="2" charset="-122"/>
              </a:rPr>
              <a:t>（</a:t>
            </a:r>
            <a:r>
              <a:rPr lang="en-US" altLang="zh-CN" b="1">
                <a:latin typeface="宋体" panose="02010600030101010101" pitchFamily="2" charset="-122"/>
              </a:rPr>
              <a:t>Ymem</a:t>
            </a:r>
            <a:r>
              <a:rPr lang="zh-CN" altLang="en-US" b="1">
                <a:latin typeface="宋体" panose="02010600030101010101" pitchFamily="2" charset="-122"/>
              </a:rPr>
              <a:t>）</a:t>
            </a:r>
            <a:r>
              <a:rPr lang="en-US" altLang="zh-CN" b="1">
                <a:latin typeface="宋体" panose="02010600030101010101" pitchFamily="2" charset="-122"/>
              </a:rPr>
              <a:t>+src</a:t>
            </a:r>
          </a:p>
          <a:p>
            <a:pPr algn="just"/>
            <a:r>
              <a:rPr lang="en-US" altLang="zh-CN" b="1">
                <a:latin typeface="宋体" panose="02010600030101010101" pitchFamily="2" charset="-122"/>
              </a:rPr>
              <a:t>32</a:t>
            </a:r>
            <a:r>
              <a:rPr lang="zh-CN" altLang="en-US" b="1">
                <a:latin typeface="宋体" panose="02010600030101010101" pitchFamily="2" charset="-122"/>
              </a:rPr>
              <a:t>位乘法的程序段如下：</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05890"/>
                                        </p:tgtEl>
                                        <p:attrNameLst>
                                          <p:attrName>style.visibility</p:attrName>
                                        </p:attrNameLst>
                                      </p:cBhvr>
                                      <p:to>
                                        <p:strVal val="visible"/>
                                      </p:to>
                                    </p:set>
                                    <p:animEffect transition="in" filter="blinds(horizontal)">
                                      <p:cBhvr>
                                        <p:cTn id="7" dur="500"/>
                                        <p:tgtEl>
                                          <p:spTgt spid="805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BE64401-3E71-443C-9D0A-C65EC4F1104D}" type="slidenum">
              <a:rPr lang="en-US" altLang="zh-CN" sz="1400"/>
              <a:pPr eaLnBrk="1" hangingPunct="1"/>
              <a:t>26</a:t>
            </a:fld>
            <a:endParaRPr lang="en-US" altLang="zh-CN" sz="1400"/>
          </a:p>
        </p:txBody>
      </p:sp>
      <p:sp>
        <p:nvSpPr>
          <p:cNvPr id="806914" name="Rectangle 2"/>
          <p:cNvSpPr>
            <a:spLocks noChangeArrowheads="1"/>
          </p:cNvSpPr>
          <p:nvPr/>
        </p:nvSpPr>
        <p:spPr bwMode="auto">
          <a:xfrm>
            <a:off x="468313" y="1268413"/>
            <a:ext cx="8424862"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latin typeface="宋体" panose="02010600030101010101" pitchFamily="2" charset="-122"/>
              </a:rPr>
              <a:t>STM     #x0,AR2                   </a:t>
            </a:r>
            <a:r>
              <a:rPr lang="zh-CN" altLang="en-US" sz="2000" b="1">
                <a:latin typeface="宋体" panose="02010600030101010101" pitchFamily="2" charset="-122"/>
              </a:rPr>
              <a:t>；将</a:t>
            </a:r>
            <a:r>
              <a:rPr lang="en-US" altLang="zh-CN" sz="2000" b="1">
                <a:latin typeface="宋体" panose="02010600030101010101" pitchFamily="2" charset="-122"/>
              </a:rPr>
              <a:t>x</a:t>
            </a:r>
            <a:r>
              <a:rPr lang="zh-CN" altLang="en-US" sz="2000" b="1">
                <a:latin typeface="宋体" panose="02010600030101010101" pitchFamily="2" charset="-122"/>
              </a:rPr>
              <a:t>的首地址放入</a:t>
            </a:r>
            <a:r>
              <a:rPr lang="en-US" altLang="zh-CN" sz="2000" b="1">
                <a:latin typeface="宋体" panose="02010600030101010101" pitchFamily="2" charset="-122"/>
              </a:rPr>
              <a:t>AR2</a:t>
            </a:r>
            <a:r>
              <a:rPr lang="en-US" altLang="zh-CN" b="1">
                <a:latin typeface="宋体" panose="02010600030101010101" pitchFamily="2" charset="-122"/>
              </a:rPr>
              <a:t> </a:t>
            </a:r>
            <a:endParaRPr lang="en-US" altLang="zh-CN" b="1"/>
          </a:p>
          <a:p>
            <a:pPr algn="just"/>
            <a:r>
              <a:rPr lang="en-US" altLang="zh-CN" b="1">
                <a:latin typeface="宋体" panose="02010600030101010101" pitchFamily="2" charset="-122"/>
              </a:rPr>
              <a:t>STM     #y0,AR3                   </a:t>
            </a:r>
            <a:r>
              <a:rPr lang="zh-CN" altLang="en-US" sz="2000" b="1">
                <a:latin typeface="宋体" panose="02010600030101010101" pitchFamily="2" charset="-122"/>
              </a:rPr>
              <a:t>；将</a:t>
            </a:r>
            <a:r>
              <a:rPr lang="en-US" altLang="zh-CN" sz="2000" b="1">
                <a:latin typeface="宋体" panose="02010600030101010101" pitchFamily="2" charset="-122"/>
              </a:rPr>
              <a:t>y</a:t>
            </a:r>
            <a:r>
              <a:rPr lang="zh-CN" altLang="en-US" sz="2000" b="1">
                <a:latin typeface="宋体" panose="02010600030101010101" pitchFamily="2" charset="-122"/>
              </a:rPr>
              <a:t>的首地址存入</a:t>
            </a:r>
            <a:r>
              <a:rPr lang="en-US" altLang="zh-CN" sz="2000" b="1">
                <a:latin typeface="宋体" panose="02010600030101010101" pitchFamily="2" charset="-122"/>
              </a:rPr>
              <a:t>AR3</a:t>
            </a:r>
            <a:endParaRPr lang="en-US" altLang="zh-CN" sz="2000" b="1"/>
          </a:p>
          <a:p>
            <a:pPr algn="just"/>
            <a:r>
              <a:rPr lang="en-US" altLang="zh-CN" b="1">
                <a:latin typeface="宋体" panose="02010600030101010101" pitchFamily="2" charset="-122"/>
              </a:rPr>
              <a:t>LD      *AR2,T                    </a:t>
            </a:r>
            <a:r>
              <a:rPr lang="zh-CN" altLang="en-US" b="1">
                <a:latin typeface="宋体" panose="02010600030101010101" pitchFamily="2" charset="-122"/>
              </a:rPr>
              <a:t>；</a:t>
            </a:r>
            <a:r>
              <a:rPr lang="en-US" altLang="zh-CN" b="1">
                <a:latin typeface="宋体" panose="02010600030101010101" pitchFamily="2" charset="-122"/>
              </a:rPr>
              <a:t>T=x0</a:t>
            </a:r>
            <a:endParaRPr lang="en-US" altLang="zh-CN" b="1"/>
          </a:p>
          <a:p>
            <a:pPr algn="just"/>
            <a:r>
              <a:rPr lang="en-US" altLang="zh-CN" b="1">
                <a:solidFill>
                  <a:schemeClr val="tx2"/>
                </a:solidFill>
                <a:latin typeface="宋体" panose="02010600030101010101" pitchFamily="2" charset="-122"/>
              </a:rPr>
              <a:t>MPYU    *AR3+,A</a:t>
            </a:r>
            <a:r>
              <a:rPr lang="en-US" altLang="zh-CN" b="1">
                <a:latin typeface="宋体" panose="02010600030101010101" pitchFamily="2" charset="-122"/>
              </a:rPr>
              <a:t>                   </a:t>
            </a:r>
            <a:r>
              <a:rPr lang="zh-CN" altLang="en-US" b="1">
                <a:latin typeface="宋体" panose="02010600030101010101" pitchFamily="2" charset="-122"/>
              </a:rPr>
              <a:t>；</a:t>
            </a:r>
            <a:r>
              <a:rPr lang="en-US" altLang="zh-CN" b="1">
                <a:solidFill>
                  <a:schemeClr val="tx2"/>
                </a:solidFill>
                <a:latin typeface="宋体" panose="02010600030101010101" pitchFamily="2" charset="-122"/>
              </a:rPr>
              <a:t>A=ux0*uy0</a:t>
            </a:r>
            <a:endParaRPr lang="en-US" altLang="zh-CN" b="1">
              <a:solidFill>
                <a:schemeClr val="tx2"/>
              </a:solidFill>
            </a:endParaRPr>
          </a:p>
          <a:p>
            <a:pPr algn="just"/>
            <a:r>
              <a:rPr lang="en-US" altLang="zh-CN" b="1">
                <a:latin typeface="宋体" panose="02010600030101010101" pitchFamily="2" charset="-122"/>
              </a:rPr>
              <a:t>STL     A,@w0                     </a:t>
            </a:r>
            <a:r>
              <a:rPr lang="zh-CN" altLang="en-US" b="1">
                <a:latin typeface="宋体" panose="02010600030101010101" pitchFamily="2" charset="-122"/>
              </a:rPr>
              <a:t>；</a:t>
            </a:r>
            <a:r>
              <a:rPr lang="en-US" altLang="zh-CN" b="1">
                <a:solidFill>
                  <a:srgbClr val="FF0000"/>
                </a:solidFill>
                <a:latin typeface="宋体" panose="02010600030101010101" pitchFamily="2" charset="-122"/>
              </a:rPr>
              <a:t>w0=ux0*uy0</a:t>
            </a:r>
            <a:endParaRPr lang="en-US" altLang="zh-CN" b="1">
              <a:solidFill>
                <a:srgbClr val="FF0000"/>
              </a:solidFill>
            </a:endParaRPr>
          </a:p>
          <a:p>
            <a:pPr algn="just"/>
            <a:r>
              <a:rPr lang="en-US" altLang="zh-CN" b="1">
                <a:latin typeface="宋体" panose="02010600030101010101" pitchFamily="2" charset="-122"/>
              </a:rPr>
              <a:t>LD      A,-16,A                   </a:t>
            </a:r>
            <a:r>
              <a:rPr lang="zh-CN" altLang="en-US" b="1">
                <a:latin typeface="宋体" panose="02010600030101010101" pitchFamily="2" charset="-122"/>
              </a:rPr>
              <a:t>；</a:t>
            </a:r>
            <a:r>
              <a:rPr lang="en-US" altLang="zh-CN" b="1">
                <a:latin typeface="宋体" panose="02010600030101010101" pitchFamily="2" charset="-122"/>
              </a:rPr>
              <a:t>A=A&gt;&gt;16</a:t>
            </a:r>
            <a:endParaRPr lang="en-US" altLang="zh-CN" b="1"/>
          </a:p>
          <a:p>
            <a:pPr algn="just"/>
            <a:r>
              <a:rPr lang="en-US" altLang="zh-CN" b="1">
                <a:solidFill>
                  <a:schemeClr val="folHlink"/>
                </a:solidFill>
                <a:latin typeface="宋体" panose="02010600030101010101" pitchFamily="2" charset="-122"/>
              </a:rPr>
              <a:t>MACSU   *AR2+,*AR3-,A</a:t>
            </a:r>
            <a:r>
              <a:rPr lang="en-US" altLang="zh-CN" b="1">
                <a:latin typeface="宋体" panose="02010600030101010101" pitchFamily="2" charset="-122"/>
              </a:rPr>
              <a:t>             </a:t>
            </a:r>
            <a:r>
              <a:rPr lang="zh-CN" altLang="en-US" b="1">
                <a:latin typeface="宋体" panose="02010600030101010101" pitchFamily="2" charset="-122"/>
              </a:rPr>
              <a:t>；</a:t>
            </a:r>
            <a:r>
              <a:rPr lang="en-US" altLang="zh-CN" b="1">
                <a:solidFill>
                  <a:schemeClr val="folHlink"/>
                </a:solidFill>
                <a:latin typeface="宋体" panose="02010600030101010101" pitchFamily="2" charset="-122"/>
              </a:rPr>
              <a:t>A+=y1*ux0</a:t>
            </a:r>
            <a:endParaRPr lang="en-US" altLang="zh-CN" b="1">
              <a:solidFill>
                <a:schemeClr val="folHlink"/>
              </a:solidFill>
            </a:endParaRPr>
          </a:p>
          <a:p>
            <a:pPr algn="just"/>
            <a:r>
              <a:rPr lang="en-US" altLang="zh-CN" b="1">
                <a:solidFill>
                  <a:schemeClr val="tx2"/>
                </a:solidFill>
                <a:latin typeface="宋体" panose="02010600030101010101" pitchFamily="2" charset="-122"/>
              </a:rPr>
              <a:t>MACSU   *AR3+,*AR2,A</a:t>
            </a:r>
            <a:r>
              <a:rPr lang="en-US" altLang="zh-CN" b="1">
                <a:latin typeface="宋体" panose="02010600030101010101" pitchFamily="2" charset="-122"/>
              </a:rPr>
              <a:t>              </a:t>
            </a:r>
            <a:r>
              <a:rPr lang="zh-CN" altLang="en-US" b="1">
                <a:latin typeface="宋体" panose="02010600030101010101" pitchFamily="2" charset="-122"/>
              </a:rPr>
              <a:t>；</a:t>
            </a:r>
            <a:r>
              <a:rPr lang="en-US" altLang="zh-CN" b="1">
                <a:solidFill>
                  <a:schemeClr val="tx2"/>
                </a:solidFill>
                <a:latin typeface="宋体" panose="02010600030101010101" pitchFamily="2" charset="-122"/>
              </a:rPr>
              <a:t>A+=x1*uy0</a:t>
            </a:r>
            <a:endParaRPr lang="en-US" altLang="zh-CN" b="1">
              <a:solidFill>
                <a:schemeClr val="tx2"/>
              </a:solidFill>
            </a:endParaRPr>
          </a:p>
          <a:p>
            <a:pPr algn="just"/>
            <a:r>
              <a:rPr lang="en-US" altLang="zh-CN" b="1">
                <a:latin typeface="宋体" panose="02010600030101010101" pitchFamily="2" charset="-122"/>
              </a:rPr>
              <a:t>STL     A,@w1                     </a:t>
            </a:r>
            <a:r>
              <a:rPr lang="zh-CN" altLang="en-US" b="1">
                <a:latin typeface="宋体" panose="02010600030101010101" pitchFamily="2" charset="-122"/>
              </a:rPr>
              <a:t>；</a:t>
            </a:r>
            <a:r>
              <a:rPr lang="en-US" altLang="zh-CN" b="1">
                <a:solidFill>
                  <a:srgbClr val="FF0000"/>
                </a:solidFill>
                <a:latin typeface="宋体" panose="02010600030101010101" pitchFamily="2" charset="-122"/>
              </a:rPr>
              <a:t>w1=A</a:t>
            </a:r>
            <a:endParaRPr lang="en-US" altLang="zh-CN" b="1">
              <a:solidFill>
                <a:srgbClr val="FF0000"/>
              </a:solidFill>
            </a:endParaRPr>
          </a:p>
          <a:p>
            <a:pPr algn="just"/>
            <a:r>
              <a:rPr lang="en-US" altLang="zh-CN" b="1">
                <a:latin typeface="宋体" panose="02010600030101010101" pitchFamily="2" charset="-122"/>
              </a:rPr>
              <a:t>LD      A,-16,A                   </a:t>
            </a:r>
            <a:r>
              <a:rPr lang="zh-CN" altLang="en-US" b="1">
                <a:latin typeface="宋体" panose="02010600030101010101" pitchFamily="2" charset="-122"/>
              </a:rPr>
              <a:t>；</a:t>
            </a:r>
            <a:r>
              <a:rPr lang="en-US" altLang="zh-CN" b="1">
                <a:latin typeface="宋体" panose="02010600030101010101" pitchFamily="2" charset="-122"/>
              </a:rPr>
              <a:t>A=A&gt;&gt;16</a:t>
            </a:r>
            <a:endParaRPr lang="en-US" altLang="zh-CN" b="1"/>
          </a:p>
          <a:p>
            <a:pPr algn="just"/>
            <a:r>
              <a:rPr lang="en-US" altLang="zh-CN" b="1">
                <a:solidFill>
                  <a:schemeClr val="folHlink"/>
                </a:solidFill>
                <a:latin typeface="宋体" panose="02010600030101010101" pitchFamily="2" charset="-122"/>
              </a:rPr>
              <a:t>MAC     *AR2,*AR3,A</a:t>
            </a:r>
            <a:r>
              <a:rPr lang="en-US" altLang="zh-CN" b="1">
                <a:latin typeface="宋体" panose="02010600030101010101" pitchFamily="2" charset="-122"/>
              </a:rPr>
              <a:t>               </a:t>
            </a:r>
            <a:r>
              <a:rPr lang="zh-CN" altLang="en-US" b="1">
                <a:latin typeface="宋体" panose="02010600030101010101" pitchFamily="2" charset="-122"/>
              </a:rPr>
              <a:t>；</a:t>
            </a:r>
            <a:r>
              <a:rPr lang="en-US" altLang="zh-CN" b="1">
                <a:solidFill>
                  <a:schemeClr val="folHlink"/>
                </a:solidFill>
                <a:latin typeface="宋体" panose="02010600030101010101" pitchFamily="2" charset="-122"/>
              </a:rPr>
              <a:t>A+=x1*y1</a:t>
            </a:r>
            <a:endParaRPr lang="en-US" altLang="zh-CN" b="1">
              <a:solidFill>
                <a:schemeClr val="folHlink"/>
              </a:solidFill>
            </a:endParaRPr>
          </a:p>
          <a:p>
            <a:pPr algn="just"/>
            <a:r>
              <a:rPr lang="en-US" altLang="zh-CN" b="1">
                <a:latin typeface="宋体" panose="02010600030101010101" pitchFamily="2" charset="-122"/>
              </a:rPr>
              <a:t>STL     A,@w2                     </a:t>
            </a:r>
            <a:r>
              <a:rPr lang="zh-CN" altLang="en-US" b="1">
                <a:latin typeface="宋体" panose="02010600030101010101" pitchFamily="2" charset="-122"/>
              </a:rPr>
              <a:t>；</a:t>
            </a:r>
            <a:r>
              <a:rPr lang="en-US" altLang="zh-CN" b="1">
                <a:solidFill>
                  <a:srgbClr val="FF0000"/>
                </a:solidFill>
                <a:latin typeface="宋体" panose="02010600030101010101" pitchFamily="2" charset="-122"/>
              </a:rPr>
              <a:t>w2=A</a:t>
            </a:r>
            <a:r>
              <a:rPr lang="zh-CN" altLang="en-US" b="1">
                <a:solidFill>
                  <a:srgbClr val="FF0000"/>
                </a:solidFill>
                <a:latin typeface="宋体" panose="02010600030101010101" pitchFamily="2" charset="-122"/>
              </a:rPr>
              <a:t>的低</a:t>
            </a:r>
            <a:r>
              <a:rPr lang="en-US" altLang="zh-CN" b="1">
                <a:solidFill>
                  <a:srgbClr val="FF0000"/>
                </a:solidFill>
                <a:latin typeface="宋体" panose="02010600030101010101" pitchFamily="2" charset="-122"/>
              </a:rPr>
              <a:t>16</a:t>
            </a:r>
            <a:r>
              <a:rPr lang="zh-CN" altLang="en-US" b="1">
                <a:solidFill>
                  <a:srgbClr val="FF0000"/>
                </a:solidFill>
                <a:latin typeface="宋体" panose="02010600030101010101" pitchFamily="2" charset="-122"/>
              </a:rPr>
              <a:t>位</a:t>
            </a:r>
            <a:endParaRPr lang="zh-CN" altLang="en-US" b="1">
              <a:solidFill>
                <a:srgbClr val="FF0000"/>
              </a:solidFill>
            </a:endParaRPr>
          </a:p>
          <a:p>
            <a:pPr algn="just"/>
            <a:r>
              <a:rPr lang="en-US" altLang="zh-CN" b="1">
                <a:latin typeface="宋体" panose="02010600030101010101" pitchFamily="2" charset="-122"/>
              </a:rPr>
              <a:t>STH     A,@W3                     </a:t>
            </a:r>
            <a:r>
              <a:rPr lang="zh-CN" altLang="en-US" b="1">
                <a:latin typeface="宋体" panose="02010600030101010101" pitchFamily="2" charset="-122"/>
              </a:rPr>
              <a:t>；</a:t>
            </a:r>
            <a:r>
              <a:rPr lang="en-US" altLang="zh-CN" b="1">
                <a:solidFill>
                  <a:srgbClr val="FF0000"/>
                </a:solidFill>
                <a:latin typeface="宋体" panose="02010600030101010101" pitchFamily="2" charset="-122"/>
              </a:rPr>
              <a:t>w3=A</a:t>
            </a:r>
            <a:r>
              <a:rPr lang="zh-CN" altLang="en-US" b="1">
                <a:solidFill>
                  <a:srgbClr val="FF0000"/>
                </a:solidFill>
                <a:latin typeface="宋体" panose="02010600030101010101" pitchFamily="2" charset="-122"/>
              </a:rPr>
              <a:t>的高</a:t>
            </a:r>
            <a:r>
              <a:rPr lang="en-US" altLang="zh-CN" b="1">
                <a:solidFill>
                  <a:srgbClr val="FF0000"/>
                </a:solidFill>
                <a:latin typeface="宋体" panose="02010600030101010101" pitchFamily="2" charset="-122"/>
              </a:rPr>
              <a:t>16</a:t>
            </a:r>
            <a:r>
              <a:rPr lang="zh-CN" altLang="en-US" b="1">
                <a:solidFill>
                  <a:srgbClr val="FF0000"/>
                </a:solidFill>
                <a:latin typeface="宋体" panose="02010600030101010101" pitchFamily="2" charset="-122"/>
              </a:rPr>
              <a:t>位</a:t>
            </a:r>
            <a:r>
              <a:rPr lang="zh-CN" altLang="en-US" b="1">
                <a:latin typeface="宋体" panose="02010600030101010101" pitchFamily="2" charset="-122"/>
              </a:rPr>
              <a:t>   </a:t>
            </a:r>
            <a:endParaRPr lang="zh-CN" altLang="en-US" b="1"/>
          </a:p>
        </p:txBody>
      </p:sp>
      <p:sp>
        <p:nvSpPr>
          <p:cNvPr id="39940" name="Rectangle 11"/>
          <p:cNvSpPr>
            <a:spLocks noChangeArrowheads="1"/>
          </p:cNvSpPr>
          <p:nvPr/>
        </p:nvSpPr>
        <p:spPr bwMode="auto">
          <a:xfrm>
            <a:off x="3059113" y="4437063"/>
            <a:ext cx="2879725"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solidFill>
                  <a:srgbClr val="FF0000"/>
                </a:solidFill>
              </a:rPr>
              <a:t>               </a:t>
            </a:r>
            <a:r>
              <a:rPr lang="en-US" altLang="zh-CN" sz="3200" b="1">
                <a:solidFill>
                  <a:srgbClr val="FF6600"/>
                </a:solidFill>
              </a:rPr>
              <a:t>x1</a:t>
            </a:r>
            <a:r>
              <a:rPr lang="en-US" altLang="zh-CN" sz="3200" b="1">
                <a:solidFill>
                  <a:srgbClr val="FF0000"/>
                </a:solidFill>
              </a:rPr>
              <a:t> </a:t>
            </a:r>
            <a:r>
              <a:rPr lang="en-US" altLang="zh-CN" sz="3200" b="1"/>
              <a:t>x0</a:t>
            </a:r>
          </a:p>
          <a:p>
            <a:pPr eaLnBrk="1" hangingPunct="1"/>
            <a:r>
              <a:rPr lang="en-US" altLang="zh-CN" sz="3200" b="1" u="sng">
                <a:solidFill>
                  <a:srgbClr val="FF0000"/>
                </a:solidFill>
              </a:rPr>
              <a:t>           ×</a:t>
            </a:r>
            <a:r>
              <a:rPr lang="en-US" altLang="zh-CN" sz="3200" b="1" u="sng">
                <a:solidFill>
                  <a:schemeClr val="folHlink"/>
                </a:solidFill>
              </a:rPr>
              <a:t>y1</a:t>
            </a:r>
            <a:r>
              <a:rPr lang="en-US" altLang="zh-CN" sz="3200" b="1" u="sng">
                <a:solidFill>
                  <a:srgbClr val="FF0000"/>
                </a:solidFill>
              </a:rPr>
              <a:t> </a:t>
            </a:r>
            <a:r>
              <a:rPr lang="en-US" altLang="zh-CN" sz="3200" b="1" u="sng">
                <a:solidFill>
                  <a:schemeClr val="tx2"/>
                </a:solidFill>
              </a:rPr>
              <a:t>y0</a:t>
            </a:r>
          </a:p>
          <a:p>
            <a:pPr eaLnBrk="1" hangingPunct="1"/>
            <a:r>
              <a:rPr lang="en-US" altLang="zh-CN" sz="3200" b="1">
                <a:solidFill>
                  <a:srgbClr val="FF0000"/>
                </a:solidFill>
              </a:rPr>
              <a:t>        </a:t>
            </a:r>
            <a:r>
              <a:rPr lang="en-US" altLang="zh-CN" sz="3200" b="1">
                <a:solidFill>
                  <a:schemeClr val="tx2"/>
                </a:solidFill>
              </a:rPr>
              <a:t>x1 * y0</a:t>
            </a:r>
            <a:r>
              <a:rPr lang="en-US" altLang="zh-CN" sz="3200" b="1">
                <a:solidFill>
                  <a:srgbClr val="FF0000"/>
                </a:solidFill>
              </a:rPr>
              <a:t> </a:t>
            </a:r>
          </a:p>
          <a:p>
            <a:pPr eaLnBrk="1" hangingPunct="1"/>
            <a:r>
              <a:rPr lang="en-US" altLang="zh-CN" sz="3200" b="1">
                <a:solidFill>
                  <a:schemeClr val="folHlink"/>
                </a:solidFill>
              </a:rPr>
              <a:t>y1 * x1</a:t>
            </a:r>
          </a:p>
        </p:txBody>
      </p:sp>
      <p:sp>
        <p:nvSpPr>
          <p:cNvPr id="39941" name="Rectangle 3"/>
          <p:cNvSpPr>
            <a:spLocks noChangeArrowheads="1"/>
          </p:cNvSpPr>
          <p:nvPr/>
        </p:nvSpPr>
        <p:spPr bwMode="auto">
          <a:xfrm>
            <a:off x="2916238" y="1412875"/>
            <a:ext cx="2592387"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solidFill>
                  <a:srgbClr val="FF0000"/>
                </a:solidFill>
              </a:rPr>
              <a:t>          </a:t>
            </a:r>
            <a:r>
              <a:rPr lang="en-US" altLang="zh-CN" sz="3200" b="1"/>
              <a:t>x1</a:t>
            </a:r>
            <a:r>
              <a:rPr lang="en-US" altLang="zh-CN" sz="3200" b="1">
                <a:solidFill>
                  <a:srgbClr val="FF0000"/>
                </a:solidFill>
              </a:rPr>
              <a:t> </a:t>
            </a:r>
            <a:r>
              <a:rPr lang="en-US" altLang="zh-CN" sz="3200" b="1">
                <a:solidFill>
                  <a:srgbClr val="FF6600"/>
                </a:solidFill>
              </a:rPr>
              <a:t>x0</a:t>
            </a:r>
          </a:p>
          <a:p>
            <a:pPr eaLnBrk="1" hangingPunct="1"/>
            <a:r>
              <a:rPr lang="en-US" altLang="zh-CN" sz="3200" b="1" u="sng">
                <a:solidFill>
                  <a:srgbClr val="FF0000"/>
                </a:solidFill>
              </a:rPr>
              <a:t>      ×</a:t>
            </a:r>
            <a:r>
              <a:rPr lang="en-US" altLang="zh-CN" sz="3200" b="1" u="sng">
                <a:solidFill>
                  <a:schemeClr val="folHlink"/>
                </a:solidFill>
              </a:rPr>
              <a:t>y1 </a:t>
            </a:r>
            <a:r>
              <a:rPr lang="en-US" altLang="zh-CN" sz="3200" b="1" u="sng">
                <a:solidFill>
                  <a:schemeClr val="tx2"/>
                </a:solidFill>
              </a:rPr>
              <a:t>y0</a:t>
            </a:r>
          </a:p>
          <a:p>
            <a:pPr eaLnBrk="1" hangingPunct="1"/>
            <a:r>
              <a:rPr lang="en-US" altLang="zh-CN" sz="3200" b="1">
                <a:solidFill>
                  <a:srgbClr val="FF0000"/>
                </a:solidFill>
              </a:rPr>
              <a:t>        </a:t>
            </a:r>
            <a:r>
              <a:rPr lang="en-US" altLang="zh-CN" sz="3200" b="1">
                <a:solidFill>
                  <a:schemeClr val="tx2"/>
                </a:solidFill>
              </a:rPr>
              <a:t>x0 * y0 </a:t>
            </a:r>
          </a:p>
          <a:p>
            <a:pPr eaLnBrk="1" hangingPunct="1"/>
            <a:r>
              <a:rPr lang="en-US" altLang="zh-CN" sz="3200" b="1">
                <a:solidFill>
                  <a:schemeClr val="folHlink"/>
                </a:solidFill>
              </a:rPr>
              <a:t>y1 * x0</a:t>
            </a:r>
          </a:p>
        </p:txBody>
      </p:sp>
      <p:sp>
        <p:nvSpPr>
          <p:cNvPr id="39942" name="Line 4"/>
          <p:cNvSpPr>
            <a:spLocks noChangeShapeType="1"/>
          </p:cNvSpPr>
          <p:nvPr/>
        </p:nvSpPr>
        <p:spPr bwMode="auto">
          <a:xfrm flipV="1">
            <a:off x="2051050" y="1989138"/>
            <a:ext cx="2736850" cy="503237"/>
          </a:xfrm>
          <a:prstGeom prst="line">
            <a:avLst/>
          </a:prstGeom>
          <a:noFill/>
          <a:ln w="3810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43" name="Line 5"/>
          <p:cNvSpPr>
            <a:spLocks noChangeShapeType="1"/>
          </p:cNvSpPr>
          <p:nvPr/>
        </p:nvSpPr>
        <p:spPr bwMode="auto">
          <a:xfrm>
            <a:off x="5003800" y="4868863"/>
            <a:ext cx="288925" cy="288925"/>
          </a:xfrm>
          <a:prstGeom prst="line">
            <a:avLst/>
          </a:prstGeom>
          <a:noFill/>
          <a:ln w="38100">
            <a:solidFill>
              <a:schemeClr val="tx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44" name="Rectangle 6"/>
          <p:cNvSpPr>
            <a:spLocks noChangeArrowheads="1"/>
          </p:cNvSpPr>
          <p:nvPr/>
        </p:nvSpPr>
        <p:spPr bwMode="auto">
          <a:xfrm>
            <a:off x="5003800" y="2852738"/>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w0</a:t>
            </a:r>
          </a:p>
        </p:txBody>
      </p:sp>
      <p:sp>
        <p:nvSpPr>
          <p:cNvPr id="39945" name="Line 7"/>
          <p:cNvSpPr>
            <a:spLocks noChangeShapeType="1"/>
          </p:cNvSpPr>
          <p:nvPr/>
        </p:nvSpPr>
        <p:spPr bwMode="auto">
          <a:xfrm>
            <a:off x="5076825" y="2781300"/>
            <a:ext cx="214313" cy="142875"/>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46" name="Line 8"/>
          <p:cNvSpPr>
            <a:spLocks noChangeShapeType="1"/>
          </p:cNvSpPr>
          <p:nvPr/>
        </p:nvSpPr>
        <p:spPr bwMode="auto">
          <a:xfrm flipH="1">
            <a:off x="4427538" y="1916113"/>
            <a:ext cx="144462" cy="215900"/>
          </a:xfrm>
          <a:prstGeom prst="line">
            <a:avLst/>
          </a:prstGeom>
          <a:noFill/>
          <a:ln w="9525">
            <a:solidFill>
              <a:schemeClr val="folHlink"/>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47" name="Line 9"/>
          <p:cNvSpPr>
            <a:spLocks noChangeShapeType="1"/>
          </p:cNvSpPr>
          <p:nvPr/>
        </p:nvSpPr>
        <p:spPr bwMode="auto">
          <a:xfrm>
            <a:off x="5148263" y="5876925"/>
            <a:ext cx="287337"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48" name="Line 10"/>
          <p:cNvSpPr>
            <a:spLocks noChangeShapeType="1"/>
          </p:cNvSpPr>
          <p:nvPr/>
        </p:nvSpPr>
        <p:spPr bwMode="auto">
          <a:xfrm flipV="1">
            <a:off x="2051050" y="2420938"/>
            <a:ext cx="2160588" cy="1152525"/>
          </a:xfrm>
          <a:prstGeom prst="line">
            <a:avLst/>
          </a:prstGeom>
          <a:noFill/>
          <a:ln w="3810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49" name="Line 12"/>
          <p:cNvSpPr>
            <a:spLocks noChangeShapeType="1"/>
          </p:cNvSpPr>
          <p:nvPr/>
        </p:nvSpPr>
        <p:spPr bwMode="auto">
          <a:xfrm>
            <a:off x="2700338" y="4149725"/>
            <a:ext cx="2447925" cy="935038"/>
          </a:xfrm>
          <a:prstGeom prst="line">
            <a:avLst/>
          </a:prstGeom>
          <a:noFill/>
          <a:ln w="38100">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50" name="Rectangle 13"/>
          <p:cNvSpPr>
            <a:spLocks noChangeArrowheads="1"/>
          </p:cNvSpPr>
          <p:nvPr/>
        </p:nvSpPr>
        <p:spPr bwMode="auto">
          <a:xfrm>
            <a:off x="5435600" y="5589588"/>
            <a:ext cx="619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rPr>
              <a:t>w1</a:t>
            </a:r>
          </a:p>
        </p:txBody>
      </p:sp>
      <p:sp>
        <p:nvSpPr>
          <p:cNvPr id="39951" name="Line 14"/>
          <p:cNvSpPr>
            <a:spLocks noChangeShapeType="1"/>
          </p:cNvSpPr>
          <p:nvPr/>
        </p:nvSpPr>
        <p:spPr bwMode="auto">
          <a:xfrm flipH="1">
            <a:off x="4859338" y="1844675"/>
            <a:ext cx="1587" cy="217488"/>
          </a:xfrm>
          <a:prstGeom prst="line">
            <a:avLst/>
          </a:prstGeom>
          <a:noFill/>
          <a:ln w="9525">
            <a:solidFill>
              <a:schemeClr val="tx2"/>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52" name="Line 15"/>
          <p:cNvSpPr>
            <a:spLocks noChangeShapeType="1"/>
          </p:cNvSpPr>
          <p:nvPr/>
        </p:nvSpPr>
        <p:spPr bwMode="auto">
          <a:xfrm flipH="1">
            <a:off x="4859338" y="4868863"/>
            <a:ext cx="1587" cy="217487"/>
          </a:xfrm>
          <a:prstGeom prst="line">
            <a:avLst/>
          </a:prstGeom>
          <a:noFill/>
          <a:ln w="9525">
            <a:solidFill>
              <a:schemeClr val="folHlink"/>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53" name="Line 16"/>
          <p:cNvSpPr>
            <a:spLocks noChangeShapeType="1"/>
          </p:cNvSpPr>
          <p:nvPr/>
        </p:nvSpPr>
        <p:spPr bwMode="auto">
          <a:xfrm flipV="1">
            <a:off x="3492500" y="5013325"/>
            <a:ext cx="1223963" cy="71438"/>
          </a:xfrm>
          <a:prstGeom prst="line">
            <a:avLst/>
          </a:prstGeom>
          <a:noFill/>
          <a:ln w="3810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54" name="Rectangle 17"/>
          <p:cNvSpPr>
            <a:spLocks noChangeArrowheads="1"/>
          </p:cNvSpPr>
          <p:nvPr/>
        </p:nvSpPr>
        <p:spPr bwMode="auto">
          <a:xfrm>
            <a:off x="5219700" y="6069013"/>
            <a:ext cx="619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rPr>
              <a:t>w2</a:t>
            </a:r>
          </a:p>
        </p:txBody>
      </p:sp>
      <p:sp>
        <p:nvSpPr>
          <p:cNvPr id="39955" name="Line 18"/>
          <p:cNvSpPr>
            <a:spLocks noChangeShapeType="1"/>
          </p:cNvSpPr>
          <p:nvPr/>
        </p:nvSpPr>
        <p:spPr bwMode="auto">
          <a:xfrm>
            <a:off x="4643438" y="6237288"/>
            <a:ext cx="576262" cy="0"/>
          </a:xfrm>
          <a:prstGeom prst="line">
            <a:avLst/>
          </a:prstGeom>
          <a:noFill/>
          <a:ln w="3810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956" name="Rectangle 19"/>
          <p:cNvSpPr>
            <a:spLocks noChangeArrowheads="1"/>
          </p:cNvSpPr>
          <p:nvPr/>
        </p:nvSpPr>
        <p:spPr bwMode="auto">
          <a:xfrm>
            <a:off x="1908175" y="6021388"/>
            <a:ext cx="619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rPr>
              <a:t>w3</a:t>
            </a:r>
          </a:p>
        </p:txBody>
      </p:sp>
      <p:sp>
        <p:nvSpPr>
          <p:cNvPr id="39957" name="Line 20"/>
          <p:cNvSpPr>
            <a:spLocks noChangeShapeType="1"/>
          </p:cNvSpPr>
          <p:nvPr/>
        </p:nvSpPr>
        <p:spPr bwMode="auto">
          <a:xfrm flipH="1">
            <a:off x="2627313" y="6308725"/>
            <a:ext cx="431800" cy="0"/>
          </a:xfrm>
          <a:prstGeom prst="line">
            <a:avLst/>
          </a:prstGeom>
          <a:noFill/>
          <a:ln w="38100">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06914"/>
                                        </p:tgtEl>
                                        <p:attrNameLst>
                                          <p:attrName>style.visibility</p:attrName>
                                        </p:attrNameLst>
                                      </p:cBhvr>
                                      <p:to>
                                        <p:strVal val="visible"/>
                                      </p:to>
                                    </p:set>
                                    <p:animEffect transition="in" filter="blinds(horizontal)">
                                      <p:cBhvr>
                                        <p:cTn id="7" dur="500"/>
                                        <p:tgtEl>
                                          <p:spTgt spid="806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1DB9AEE-F91A-48A6-9CAE-698B7610C0F6}" type="slidenum">
              <a:rPr lang="en-US" altLang="zh-CN" sz="1400"/>
              <a:pPr eaLnBrk="1" hangingPunct="1"/>
              <a:t>27</a:t>
            </a:fld>
            <a:endParaRPr lang="en-US" altLang="zh-CN" sz="1400"/>
          </a:p>
        </p:txBody>
      </p:sp>
      <p:sp>
        <p:nvSpPr>
          <p:cNvPr id="807938" name="Rectangle 2" descr="小棋盘"/>
          <p:cNvSpPr>
            <a:spLocks noChangeArrowheads="1"/>
          </p:cNvSpPr>
          <p:nvPr/>
        </p:nvSpPr>
        <p:spPr bwMode="auto">
          <a:xfrm>
            <a:off x="2987675" y="981075"/>
            <a:ext cx="3168650" cy="539750"/>
          </a:xfrm>
          <a:prstGeom prst="rect">
            <a:avLst/>
          </a:prstGeom>
          <a:pattFill prst="smCheck">
            <a:fgClr>
              <a:schemeClr val="accent1"/>
            </a:fgClr>
            <a:bgClr>
              <a:srgbClr val="FFFFFF"/>
            </a:bgClr>
          </a:pattFill>
          <a:ln w="9525">
            <a:solidFill>
              <a:schemeClr val="tx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9</a:t>
            </a:r>
            <a:r>
              <a:rPr lang="zh-CN" altLang="en-US" sz="3200" b="1">
                <a:solidFill>
                  <a:srgbClr val="FF0000"/>
                </a:solidFill>
                <a:latin typeface="宋体" panose="02010600030101010101" pitchFamily="2" charset="-122"/>
                <a:ea typeface="仿宋_GB2312" pitchFamily="49" charset="-122"/>
              </a:rPr>
              <a:t>．小数运算 </a:t>
            </a:r>
          </a:p>
        </p:txBody>
      </p:sp>
      <p:sp>
        <p:nvSpPr>
          <p:cNvPr id="807939" name="Rectangle 3"/>
          <p:cNvSpPr>
            <a:spLocks noChangeArrowheads="1"/>
          </p:cNvSpPr>
          <p:nvPr/>
        </p:nvSpPr>
        <p:spPr bwMode="auto">
          <a:xfrm>
            <a:off x="1763713" y="1557338"/>
            <a:ext cx="7056437"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15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5000"/>
              </a:spcBef>
            </a:pPr>
            <a:r>
              <a:rPr lang="zh-CN" altLang="en-US" sz="3200" b="1">
                <a:solidFill>
                  <a:srgbClr val="FF6600"/>
                </a:solidFill>
                <a:latin typeface="宋体" panose="02010600030101010101" pitchFamily="2" charset="-122"/>
                <a:ea typeface="仿宋_GB2312" pitchFamily="49" charset="-122"/>
              </a:rPr>
              <a:t>整数运算的问题</a:t>
            </a:r>
            <a:endParaRPr lang="zh-CN" altLang="en-US" b="1">
              <a:solidFill>
                <a:srgbClr val="FF6600"/>
              </a:solidFill>
              <a:latin typeface="宋体" panose="02010600030101010101" pitchFamily="2" charset="-122"/>
            </a:endParaRPr>
          </a:p>
          <a:p>
            <a:pPr algn="just" eaLnBrk="1" hangingPunct="1">
              <a:lnSpc>
                <a:spcPct val="80000"/>
              </a:lnSpc>
              <a:spcBef>
                <a:spcPct val="15000"/>
              </a:spcBef>
            </a:pPr>
            <a:r>
              <a:rPr lang="zh-CN" altLang="en-US" b="1">
                <a:solidFill>
                  <a:schemeClr val="folHlink"/>
                </a:solidFill>
                <a:latin typeface="宋体" panose="02010600030101010101" pitchFamily="2" charset="-122"/>
              </a:rPr>
              <a:t>（</a:t>
            </a:r>
            <a:r>
              <a:rPr lang="en-US" altLang="zh-CN" b="1">
                <a:solidFill>
                  <a:schemeClr val="folHlink"/>
                </a:solidFill>
                <a:latin typeface="宋体" panose="02010600030101010101" pitchFamily="2" charset="-122"/>
              </a:rPr>
              <a:t>1</a:t>
            </a:r>
            <a:r>
              <a:rPr lang="zh-CN" altLang="en-US" b="1">
                <a:solidFill>
                  <a:schemeClr val="folHlink"/>
                </a:solidFill>
                <a:latin typeface="宋体" panose="02010600030101010101" pitchFamily="2" charset="-122"/>
              </a:rPr>
              <a:t>）两个</a:t>
            </a:r>
            <a:r>
              <a:rPr lang="en-US" altLang="zh-CN" b="1">
                <a:solidFill>
                  <a:schemeClr val="folHlink"/>
                </a:solidFill>
                <a:latin typeface="宋体" panose="02010600030101010101" pitchFamily="2" charset="-122"/>
              </a:rPr>
              <a:t>16</a:t>
            </a:r>
            <a:r>
              <a:rPr lang="zh-CN" altLang="en-US" b="1">
                <a:solidFill>
                  <a:schemeClr val="folHlink"/>
                </a:solidFill>
                <a:latin typeface="宋体" panose="02010600030101010101" pitchFamily="2" charset="-122"/>
              </a:rPr>
              <a:t>位整数相乘，乘积总是</a:t>
            </a:r>
            <a:r>
              <a:rPr lang="zh-CN" altLang="en-US" b="1">
                <a:solidFill>
                  <a:schemeClr val="folHlink"/>
                </a:solidFill>
              </a:rPr>
              <a:t>“</a:t>
            </a:r>
            <a:r>
              <a:rPr lang="zh-CN" altLang="en-US" b="1">
                <a:solidFill>
                  <a:schemeClr val="folHlink"/>
                </a:solidFill>
                <a:latin typeface="宋体" panose="02010600030101010101" pitchFamily="2" charset="-122"/>
              </a:rPr>
              <a:t>向左增长</a:t>
            </a:r>
            <a:r>
              <a:rPr lang="zh-CN" altLang="en-US" b="1">
                <a:solidFill>
                  <a:schemeClr val="folHlink"/>
                </a:solidFill>
              </a:rPr>
              <a:t>”</a:t>
            </a:r>
            <a:r>
              <a:rPr lang="zh-CN" altLang="en-US" b="1">
                <a:solidFill>
                  <a:schemeClr val="folHlink"/>
                </a:solidFill>
                <a:latin typeface="宋体" panose="02010600030101010101" pitchFamily="2" charset="-122"/>
              </a:rPr>
              <a:t>。</a:t>
            </a:r>
            <a:r>
              <a:rPr lang="zh-CN" altLang="en-US" b="1">
                <a:latin typeface="宋体" panose="02010600030101010101" pitchFamily="2" charset="-122"/>
              </a:rPr>
              <a:t>这意味着多次相乘后，乘积将会很快超出定点器件的数据范围。</a:t>
            </a:r>
          </a:p>
          <a:p>
            <a:pPr algn="just" eaLnBrk="1" hangingPunct="1">
              <a:lnSpc>
                <a:spcPct val="80000"/>
              </a:lnSpc>
              <a:spcBef>
                <a:spcPct val="15000"/>
              </a:spcBef>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）保存</a:t>
            </a:r>
            <a:r>
              <a:rPr lang="en-US" altLang="zh-CN" b="1">
                <a:latin typeface="宋体" panose="02010600030101010101" pitchFamily="2" charset="-122"/>
              </a:rPr>
              <a:t>32</a:t>
            </a:r>
            <a:r>
              <a:rPr lang="zh-CN" altLang="en-US" b="1">
                <a:latin typeface="宋体" panose="02010600030101010101" pitchFamily="2" charset="-122"/>
              </a:rPr>
              <a:t>位乘积到存储器，要</a:t>
            </a:r>
            <a:r>
              <a:rPr lang="zh-CN" altLang="en-US" b="1">
                <a:solidFill>
                  <a:schemeClr val="folHlink"/>
                </a:solidFill>
                <a:latin typeface="宋体" panose="02010600030101010101" pitchFamily="2" charset="-122"/>
              </a:rPr>
              <a:t>开销</a:t>
            </a:r>
            <a:r>
              <a:rPr lang="en-US" altLang="zh-CN" b="1">
                <a:solidFill>
                  <a:schemeClr val="folHlink"/>
                </a:solidFill>
                <a:latin typeface="宋体" panose="02010600030101010101" pitchFamily="2" charset="-122"/>
              </a:rPr>
              <a:t>2</a:t>
            </a:r>
            <a:r>
              <a:rPr lang="zh-CN" altLang="en-US" b="1">
                <a:solidFill>
                  <a:schemeClr val="folHlink"/>
                </a:solidFill>
                <a:latin typeface="宋体" panose="02010600030101010101" pitchFamily="2" charset="-122"/>
              </a:rPr>
              <a:t>个机器周期以及</a:t>
            </a:r>
            <a:r>
              <a:rPr lang="en-US" altLang="zh-CN" b="1">
                <a:solidFill>
                  <a:schemeClr val="folHlink"/>
                </a:solidFill>
                <a:latin typeface="宋体" panose="02010600030101010101" pitchFamily="2" charset="-122"/>
              </a:rPr>
              <a:t>2</a:t>
            </a:r>
            <a:r>
              <a:rPr lang="zh-CN" altLang="en-US" b="1">
                <a:solidFill>
                  <a:schemeClr val="folHlink"/>
                </a:solidFill>
                <a:latin typeface="宋体" panose="02010600030101010101" pitchFamily="2" charset="-122"/>
              </a:rPr>
              <a:t>个字的存储器单元。</a:t>
            </a:r>
          </a:p>
          <a:p>
            <a:pPr algn="just" eaLnBrk="1" hangingPunct="1">
              <a:lnSpc>
                <a:spcPct val="80000"/>
              </a:lnSpc>
              <a:spcBef>
                <a:spcPct val="15000"/>
              </a:spcBef>
            </a:pPr>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）由于乘法器都是</a:t>
            </a:r>
            <a:r>
              <a:rPr lang="en-US" altLang="zh-CN" b="1">
                <a:latin typeface="宋体" panose="02010600030101010101" pitchFamily="2" charset="-122"/>
              </a:rPr>
              <a:t>16</a:t>
            </a:r>
            <a:r>
              <a:rPr lang="zh-CN" altLang="en-US" b="1">
                <a:latin typeface="宋体" panose="02010600030101010101" pitchFamily="2" charset="-122"/>
              </a:rPr>
              <a:t>位相乘，因此</a:t>
            </a:r>
            <a:r>
              <a:rPr lang="zh-CN" altLang="en-US" b="1">
                <a:solidFill>
                  <a:schemeClr val="folHlink"/>
                </a:solidFill>
                <a:latin typeface="宋体" panose="02010600030101010101" pitchFamily="2" charset="-122"/>
              </a:rPr>
              <a:t>很难在后续的递推运算中，将</a:t>
            </a:r>
            <a:r>
              <a:rPr lang="en-US" altLang="zh-CN" b="1">
                <a:solidFill>
                  <a:schemeClr val="folHlink"/>
                </a:solidFill>
                <a:latin typeface="宋体" panose="02010600030101010101" pitchFamily="2" charset="-122"/>
              </a:rPr>
              <a:t>32</a:t>
            </a:r>
            <a:r>
              <a:rPr lang="zh-CN" altLang="en-US" b="1">
                <a:solidFill>
                  <a:schemeClr val="folHlink"/>
                </a:solidFill>
                <a:latin typeface="宋体" panose="02010600030101010101" pitchFamily="2" charset="-122"/>
              </a:rPr>
              <a:t>位乘积作为乘法器的输入。</a:t>
            </a:r>
            <a:endParaRPr lang="zh-CN" altLang="en-US" b="1">
              <a:solidFill>
                <a:schemeClr val="folHlink"/>
              </a:solidFill>
            </a:endParaRPr>
          </a:p>
          <a:p>
            <a:pPr algn="just" eaLnBrk="1" hangingPunct="1">
              <a:lnSpc>
                <a:spcPct val="80000"/>
              </a:lnSpc>
              <a:spcBef>
                <a:spcPct val="15000"/>
              </a:spcBef>
            </a:pPr>
            <a:r>
              <a:rPr lang="zh-CN" altLang="en-US" sz="3200" b="1">
                <a:solidFill>
                  <a:srgbClr val="FF00FF"/>
                </a:solidFill>
                <a:latin typeface="宋体" panose="02010600030101010101" pitchFamily="2" charset="-122"/>
                <a:ea typeface="仿宋_GB2312" pitchFamily="49" charset="-122"/>
              </a:rPr>
              <a:t>小数运算的优点</a:t>
            </a:r>
          </a:p>
          <a:p>
            <a:pPr algn="just" eaLnBrk="1" hangingPunct="1">
              <a:lnSpc>
                <a:spcPct val="80000"/>
              </a:lnSpc>
              <a:spcBef>
                <a:spcPct val="15000"/>
              </a:spcBef>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a:t>
            </a:r>
            <a:r>
              <a:rPr lang="zh-CN" altLang="en-US" b="1">
                <a:solidFill>
                  <a:srgbClr val="FF0000"/>
                </a:solidFill>
                <a:latin typeface="宋体" panose="02010600030101010101" pitchFamily="2" charset="-122"/>
              </a:rPr>
              <a:t>）乘积总是</a:t>
            </a:r>
            <a:r>
              <a:rPr lang="zh-CN" altLang="en-US" b="1">
                <a:solidFill>
                  <a:srgbClr val="FF0000"/>
                </a:solidFill>
              </a:rPr>
              <a:t>“</a:t>
            </a:r>
            <a:r>
              <a:rPr lang="zh-CN" altLang="en-US" b="1">
                <a:solidFill>
                  <a:srgbClr val="FF0000"/>
                </a:solidFill>
                <a:latin typeface="宋体" panose="02010600030101010101" pitchFamily="2" charset="-122"/>
              </a:rPr>
              <a:t>向右增长</a:t>
            </a:r>
            <a:r>
              <a:rPr lang="zh-CN" altLang="en-US" b="1">
                <a:solidFill>
                  <a:srgbClr val="FF0000"/>
                </a:solidFill>
              </a:rPr>
              <a:t>”</a:t>
            </a:r>
            <a:r>
              <a:rPr lang="zh-CN" altLang="en-US" b="1">
                <a:solidFill>
                  <a:srgbClr val="FF0000"/>
                </a:solidFill>
                <a:latin typeface="宋体" panose="02010600030101010101" pitchFamily="2" charset="-122"/>
              </a:rPr>
              <a:t>。</a:t>
            </a:r>
            <a:r>
              <a:rPr lang="zh-CN" altLang="en-US" b="1">
                <a:latin typeface="宋体" panose="02010600030101010101" pitchFamily="2" charset="-122"/>
              </a:rPr>
              <a:t>这就味着超出定点器件数据范围的将是不太感兴趣的部分。</a:t>
            </a:r>
          </a:p>
          <a:p>
            <a:pPr algn="just" eaLnBrk="1" hangingPunct="1">
              <a:lnSpc>
                <a:spcPct val="80000"/>
              </a:lnSpc>
              <a:spcBef>
                <a:spcPct val="15000"/>
              </a:spcBef>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）既可以存储</a:t>
            </a:r>
            <a:r>
              <a:rPr lang="en-US" altLang="zh-CN" b="1">
                <a:latin typeface="宋体" panose="02010600030101010101" pitchFamily="2" charset="-122"/>
              </a:rPr>
              <a:t>32</a:t>
            </a:r>
            <a:r>
              <a:rPr lang="zh-CN" altLang="en-US" b="1">
                <a:latin typeface="宋体" panose="02010600030101010101" pitchFamily="2" charset="-122"/>
              </a:rPr>
              <a:t>位乘积，也可以存储高</a:t>
            </a:r>
            <a:r>
              <a:rPr lang="en-US" altLang="zh-CN" b="1">
                <a:latin typeface="宋体" panose="02010600030101010101" pitchFamily="2" charset="-122"/>
              </a:rPr>
              <a:t>16</a:t>
            </a:r>
            <a:r>
              <a:rPr lang="zh-CN" altLang="en-US" b="1">
                <a:latin typeface="宋体" panose="02010600030101010101" pitchFamily="2" charset="-122"/>
              </a:rPr>
              <a:t>位乘积，这就</a:t>
            </a:r>
            <a:r>
              <a:rPr lang="zh-CN" altLang="en-US" b="1">
                <a:solidFill>
                  <a:srgbClr val="FF0000"/>
                </a:solidFill>
                <a:latin typeface="宋体" panose="02010600030101010101" pitchFamily="2" charset="-122"/>
              </a:rPr>
              <a:t>允许用较少的资源保存结果。</a:t>
            </a:r>
          </a:p>
          <a:p>
            <a:pPr algn="just" eaLnBrk="1" hangingPunct="1">
              <a:lnSpc>
                <a:spcPct val="80000"/>
              </a:lnSpc>
              <a:spcBef>
                <a:spcPct val="15000"/>
              </a:spcBef>
            </a:pP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3</a:t>
            </a:r>
            <a:r>
              <a:rPr lang="zh-CN" altLang="en-US" b="1">
                <a:solidFill>
                  <a:srgbClr val="FF0000"/>
                </a:solidFill>
                <a:latin typeface="宋体" panose="02010600030101010101" pitchFamily="2" charset="-122"/>
              </a:rPr>
              <a:t>）可以用于递推运算。</a:t>
            </a:r>
          </a:p>
        </p:txBody>
      </p:sp>
      <p:sp>
        <p:nvSpPr>
          <p:cNvPr id="807940" name="Rectangle 4" descr="小棋盘"/>
          <p:cNvSpPr>
            <a:spLocks noChangeArrowheads="1"/>
          </p:cNvSpPr>
          <p:nvPr/>
        </p:nvSpPr>
        <p:spPr bwMode="auto">
          <a:xfrm>
            <a:off x="304800" y="2362200"/>
            <a:ext cx="1066800" cy="27305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zh-CN" altLang="en-US" sz="3200" b="1">
                <a:solidFill>
                  <a:srgbClr val="FF0000"/>
                </a:solidFill>
                <a:latin typeface="宋体" panose="02010600030101010101" pitchFamily="2" charset="-122"/>
                <a:ea typeface="仿宋_GB2312" pitchFamily="49" charset="-122"/>
              </a:rPr>
              <a:t>小数运算与整数运算的比较</a:t>
            </a:r>
            <a:endParaRPr lang="zh-CN" altLang="en-US" sz="2800" b="1">
              <a:solidFill>
                <a:srgbClr val="FF0000"/>
              </a:solidFill>
              <a:latin typeface="宋体" panose="02010600030101010101" pitchFamily="2" charset="-122"/>
              <a:ea typeface="仿宋_GB2312" pitchFamily="49" charset="-122"/>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07938"/>
                                        </p:tgtEl>
                                        <p:attrNameLst>
                                          <p:attrName>style.visibility</p:attrName>
                                        </p:attrNameLst>
                                      </p:cBhvr>
                                      <p:to>
                                        <p:strVal val="visible"/>
                                      </p:to>
                                    </p:set>
                                    <p:animEffect transition="in" filter="slide(fromBottom)">
                                      <p:cBhvr>
                                        <p:cTn id="7" dur="500"/>
                                        <p:tgtEl>
                                          <p:spTgt spid="807938"/>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07940"/>
                                        </p:tgtEl>
                                        <p:attrNameLst>
                                          <p:attrName>style.visibility</p:attrName>
                                        </p:attrNameLst>
                                      </p:cBhvr>
                                      <p:to>
                                        <p:strVal val="visible"/>
                                      </p:to>
                                    </p:set>
                                    <p:animEffect transition="in" filter="slide(fromLeft)">
                                      <p:cBhvr>
                                        <p:cTn id="11" dur="500"/>
                                        <p:tgtEl>
                                          <p:spTgt spid="807940"/>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807939"/>
                                        </p:tgtEl>
                                        <p:attrNameLst>
                                          <p:attrName>style.visibility</p:attrName>
                                        </p:attrNameLst>
                                      </p:cBhvr>
                                      <p:to>
                                        <p:strVal val="visible"/>
                                      </p:to>
                                    </p:set>
                                    <p:animEffect transition="in" filter="blinds(horizontal)">
                                      <p:cBhvr>
                                        <p:cTn id="15" dur="500"/>
                                        <p:tgtEl>
                                          <p:spTgt spid="807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7938" grpId="0" animBg="1"/>
      <p:bldP spid="807939" grpId="0"/>
      <p:bldP spid="80794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3ECE062-EFD9-467D-91E7-92D5B9EFEF43}" type="slidenum">
              <a:rPr lang="en-US" altLang="zh-CN" sz="1400"/>
              <a:pPr eaLnBrk="1" hangingPunct="1"/>
              <a:t>28</a:t>
            </a:fld>
            <a:endParaRPr lang="en-US" altLang="zh-CN" sz="1400"/>
          </a:p>
        </p:txBody>
      </p:sp>
      <p:sp>
        <p:nvSpPr>
          <p:cNvPr id="808962" name="Rectangle 2"/>
          <p:cNvSpPr>
            <a:spLocks noChangeArrowheads="1"/>
          </p:cNvSpPr>
          <p:nvPr/>
        </p:nvSpPr>
        <p:spPr bwMode="auto">
          <a:xfrm>
            <a:off x="323850" y="1844675"/>
            <a:ext cx="85344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8418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dirty="0">
                <a:latin typeface="宋体" panose="02010600030101010101" pitchFamily="2" charset="-122"/>
              </a:rPr>
              <a:t>C54x</a:t>
            </a:r>
            <a:r>
              <a:rPr lang="zh-CN" altLang="en-US" b="1" dirty="0">
                <a:latin typeface="宋体" panose="02010600030101010101" pitchFamily="2" charset="-122"/>
              </a:rPr>
              <a:t>采用</a:t>
            </a:r>
            <a:r>
              <a:rPr lang="en-US" altLang="zh-CN" b="1" dirty="0">
                <a:latin typeface="宋体" panose="02010600030101010101" pitchFamily="2" charset="-122"/>
              </a:rPr>
              <a:t>2</a:t>
            </a:r>
            <a:r>
              <a:rPr lang="zh-CN" altLang="en-US" b="1" dirty="0">
                <a:latin typeface="宋体" panose="02010600030101010101" pitchFamily="2" charset="-122"/>
              </a:rPr>
              <a:t>的补码表示小数，其最高位为符号位，数值范围从</a:t>
            </a:r>
            <a:r>
              <a:rPr lang="en-US" altLang="zh-CN" b="1" dirty="0">
                <a:latin typeface="宋体" panose="02010600030101010101" pitchFamily="2" charset="-122"/>
              </a:rPr>
              <a:t>-1</a:t>
            </a:r>
            <a:r>
              <a:rPr lang="zh-CN" altLang="en-US" b="1" dirty="0">
                <a:latin typeface="宋体" panose="02010600030101010101" pitchFamily="2" charset="-122"/>
              </a:rPr>
              <a:t>～</a:t>
            </a:r>
            <a:r>
              <a:rPr lang="en-US" altLang="zh-CN" b="1" dirty="0">
                <a:latin typeface="宋体" panose="02010600030101010101" pitchFamily="2" charset="-122"/>
              </a:rPr>
              <a:t>1</a:t>
            </a:r>
            <a:r>
              <a:rPr lang="zh-CN" altLang="en-US" b="1" dirty="0">
                <a:latin typeface="宋体" panose="02010600030101010101" pitchFamily="2" charset="-122"/>
              </a:rPr>
              <a:t>。一个</a:t>
            </a:r>
            <a:r>
              <a:rPr lang="en-US" altLang="zh-CN" b="1" dirty="0">
                <a:latin typeface="宋体" panose="02010600030101010101" pitchFamily="2" charset="-122"/>
              </a:rPr>
              <a:t>16</a:t>
            </a:r>
            <a:r>
              <a:rPr lang="zh-CN" altLang="en-US" b="1" dirty="0">
                <a:latin typeface="宋体" panose="02010600030101010101" pitchFamily="2" charset="-122"/>
              </a:rPr>
              <a:t>位</a:t>
            </a:r>
            <a:r>
              <a:rPr lang="en-US" altLang="zh-CN" b="1" dirty="0">
                <a:latin typeface="宋体" panose="02010600030101010101" pitchFamily="2" charset="-122"/>
              </a:rPr>
              <a:t>2</a:t>
            </a:r>
            <a:r>
              <a:rPr lang="zh-CN" altLang="en-US" b="1" dirty="0">
                <a:latin typeface="宋体" panose="02010600030101010101" pitchFamily="2" charset="-122"/>
              </a:rPr>
              <a:t>的补码小数（</a:t>
            </a:r>
            <a:r>
              <a:rPr lang="en-US" altLang="zh-CN" b="1" dirty="0">
                <a:latin typeface="宋体" panose="02010600030101010101" pitchFamily="2" charset="-122"/>
              </a:rPr>
              <a:t>Q15</a:t>
            </a:r>
            <a:r>
              <a:rPr lang="zh-CN" altLang="en-US" b="1" dirty="0">
                <a:latin typeface="宋体" panose="02010600030101010101" pitchFamily="2" charset="-122"/>
              </a:rPr>
              <a:t>格式）的每一位的权值为：</a:t>
            </a:r>
            <a:endParaRPr lang="zh-CN" altLang="en-US" b="1" dirty="0"/>
          </a:p>
          <a:p>
            <a:pPr algn="just"/>
            <a:r>
              <a:rPr lang="zh-CN" altLang="en-US" b="1" dirty="0">
                <a:latin typeface="宋体" panose="02010600030101010101" pitchFamily="2" charset="-122"/>
              </a:rPr>
              <a:t>  </a:t>
            </a:r>
            <a:r>
              <a:rPr lang="en-US" altLang="zh-CN" b="1" dirty="0">
                <a:solidFill>
                  <a:schemeClr val="tx2"/>
                </a:solidFill>
                <a:latin typeface="宋体" panose="02010600030101010101" pitchFamily="2" charset="-122"/>
              </a:rPr>
              <a:t>MSB</a:t>
            </a:r>
            <a:r>
              <a:rPr lang="zh-CN" altLang="en-US" b="1" dirty="0">
                <a:latin typeface="宋体" panose="02010600030101010101" pitchFamily="2" charset="-122"/>
              </a:rPr>
              <a:t>（最高位）   </a:t>
            </a:r>
            <a:r>
              <a:rPr lang="zh-CN" altLang="en-US" b="1" dirty="0">
                <a:solidFill>
                  <a:srgbClr val="FF00FF"/>
                </a:solidFill>
                <a:latin typeface="宋体" panose="02010600030101010101" pitchFamily="2" charset="-122"/>
              </a:rPr>
              <a:t>    </a:t>
            </a:r>
            <a:r>
              <a:rPr lang="en-US" altLang="zh-CN" b="1" dirty="0">
                <a:solidFill>
                  <a:srgbClr val="FF00FF"/>
                </a:solidFill>
              </a:rPr>
              <a:t>…</a:t>
            </a:r>
            <a:r>
              <a:rPr lang="en-US" altLang="zh-CN" b="1" dirty="0">
                <a:solidFill>
                  <a:srgbClr val="FF00FF"/>
                </a:solidFill>
                <a:latin typeface="宋体" panose="02010600030101010101" pitchFamily="2" charset="-122"/>
              </a:rPr>
              <a:t>   </a:t>
            </a:r>
            <a:r>
              <a:rPr lang="en-US" altLang="zh-CN" b="1" dirty="0">
                <a:latin typeface="宋体" panose="02010600030101010101" pitchFamily="2" charset="-122"/>
              </a:rPr>
              <a:t>     </a:t>
            </a:r>
            <a:r>
              <a:rPr lang="en-US" altLang="zh-CN" b="1" dirty="0">
                <a:solidFill>
                  <a:srgbClr val="FF00FF"/>
                </a:solidFill>
                <a:latin typeface="宋体" panose="02010600030101010101" pitchFamily="2" charset="-122"/>
              </a:rPr>
              <a:t>   LSB</a:t>
            </a:r>
            <a:r>
              <a:rPr lang="zh-CN" altLang="en-US" b="1" dirty="0">
                <a:latin typeface="宋体" panose="02010600030101010101" pitchFamily="2" charset="-122"/>
              </a:rPr>
              <a:t>（最低位）</a:t>
            </a:r>
            <a:endParaRPr lang="zh-CN" altLang="en-US" b="1" dirty="0"/>
          </a:p>
          <a:p>
            <a:pPr algn="just"/>
            <a:r>
              <a:rPr lang="zh-CN" altLang="en-US" b="1" dirty="0">
                <a:latin typeface="宋体" panose="02010600030101010101" pitchFamily="2" charset="-122"/>
              </a:rPr>
              <a:t>  </a:t>
            </a:r>
            <a:r>
              <a:rPr lang="en-US" altLang="zh-CN" b="1" dirty="0">
                <a:solidFill>
                  <a:schemeClr val="tx2"/>
                </a:solidFill>
                <a:latin typeface="宋体" panose="02010600030101010101" pitchFamily="2" charset="-122"/>
              </a:rPr>
              <a:t>-1.</a:t>
            </a:r>
            <a:r>
              <a:rPr lang="en-US" altLang="zh-CN" b="1" dirty="0">
                <a:latin typeface="宋体" panose="02010600030101010101" pitchFamily="2" charset="-122"/>
              </a:rPr>
              <a:t>     1/2     1/4    1/8   </a:t>
            </a:r>
            <a:r>
              <a:rPr lang="en-US" altLang="zh-CN" b="1" dirty="0">
                <a:solidFill>
                  <a:srgbClr val="FF00FF"/>
                </a:solidFill>
              </a:rPr>
              <a:t>…</a:t>
            </a:r>
            <a:r>
              <a:rPr lang="en-US" altLang="zh-CN" b="1" dirty="0">
                <a:solidFill>
                  <a:srgbClr val="FF00FF"/>
                </a:solidFill>
                <a:latin typeface="宋体" panose="02010600030101010101" pitchFamily="2" charset="-122"/>
              </a:rPr>
              <a:t>   2</a:t>
            </a:r>
            <a:r>
              <a:rPr lang="en-US" altLang="zh-CN" b="1" baseline="30000" dirty="0">
                <a:solidFill>
                  <a:srgbClr val="FF00FF"/>
                </a:solidFill>
                <a:latin typeface="宋体" panose="02010600030101010101" pitchFamily="2" charset="-122"/>
              </a:rPr>
              <a:t>-15</a:t>
            </a:r>
            <a:endParaRPr lang="en-US" altLang="zh-CN" b="1" dirty="0">
              <a:solidFill>
                <a:srgbClr val="FF00FF"/>
              </a:solidFill>
            </a:endParaRPr>
          </a:p>
          <a:p>
            <a:pPr algn="just"/>
            <a:r>
              <a:rPr lang="zh-CN" altLang="en-US" b="1" dirty="0">
                <a:solidFill>
                  <a:srgbClr val="FF6600"/>
                </a:solidFill>
                <a:latin typeface="宋体" panose="02010600030101010101" pitchFamily="2" charset="-122"/>
              </a:rPr>
              <a:t>一个十进制小数乘以</a:t>
            </a:r>
            <a:r>
              <a:rPr lang="en-US" altLang="zh-CN" b="1" dirty="0">
                <a:solidFill>
                  <a:srgbClr val="FF6600"/>
                </a:solidFill>
                <a:latin typeface="宋体" panose="02010600030101010101" pitchFamily="2" charset="-122"/>
              </a:rPr>
              <a:t>32768</a:t>
            </a:r>
            <a:r>
              <a:rPr lang="zh-CN" altLang="en-US" b="1" dirty="0">
                <a:solidFill>
                  <a:srgbClr val="FF6600"/>
                </a:solidFill>
                <a:latin typeface="宋体" panose="02010600030101010101" pitchFamily="2" charset="-122"/>
              </a:rPr>
              <a:t>之后再将其十进制整数部分转换成十六进制数，就能得到这个十进制小数的</a:t>
            </a:r>
            <a:r>
              <a:rPr lang="en-US" altLang="zh-CN" b="1" dirty="0">
                <a:solidFill>
                  <a:srgbClr val="FF6600"/>
                </a:solidFill>
                <a:latin typeface="宋体" panose="02010600030101010101" pitchFamily="2" charset="-122"/>
              </a:rPr>
              <a:t>2</a:t>
            </a:r>
            <a:r>
              <a:rPr lang="zh-CN" altLang="en-US" b="1" dirty="0">
                <a:solidFill>
                  <a:srgbClr val="FF6600"/>
                </a:solidFill>
                <a:latin typeface="宋体" panose="02010600030101010101" pitchFamily="2" charset="-122"/>
              </a:rPr>
              <a:t>的补码表示。</a:t>
            </a:r>
            <a:endParaRPr lang="zh-CN" altLang="en-US" b="1" dirty="0">
              <a:solidFill>
                <a:srgbClr val="FF6600"/>
              </a:solidFill>
            </a:endParaRPr>
          </a:p>
          <a:p>
            <a:pPr algn="just"/>
            <a:r>
              <a:rPr lang="zh-CN" altLang="en-US" b="1" dirty="0">
                <a:latin typeface="宋体" panose="02010600030101010101" pitchFamily="2" charset="-122"/>
              </a:rPr>
              <a:t>≈</a:t>
            </a:r>
            <a:r>
              <a:rPr lang="en-US" altLang="zh-CN" b="1" dirty="0">
                <a:latin typeface="宋体" panose="02010600030101010101" pitchFamily="2" charset="-122"/>
              </a:rPr>
              <a:t>1</a:t>
            </a:r>
            <a:r>
              <a:rPr lang="zh-CN" altLang="en-US" b="1" dirty="0">
                <a:latin typeface="宋体" panose="02010600030101010101" pitchFamily="2" charset="-122"/>
              </a:rPr>
              <a:t>　　　　　 →             　　　　        </a:t>
            </a:r>
            <a:r>
              <a:rPr lang="en-US" altLang="zh-CN" b="1" dirty="0">
                <a:latin typeface="宋体" panose="02010600030101010101" pitchFamily="2" charset="-122"/>
              </a:rPr>
              <a:t>7FFFh</a:t>
            </a:r>
            <a:endParaRPr lang="en-US" altLang="zh-CN" b="1" dirty="0"/>
          </a:p>
          <a:p>
            <a:pPr algn="just"/>
            <a:r>
              <a:rPr lang="en-US" altLang="zh-CN" b="1" dirty="0">
                <a:latin typeface="宋体" panose="02010600030101010101" pitchFamily="2" charset="-122"/>
              </a:rPr>
              <a:t>0.5</a:t>
            </a:r>
            <a:r>
              <a:rPr lang="zh-CN" altLang="en-US" b="1" dirty="0">
                <a:latin typeface="宋体" panose="02010600030101010101" pitchFamily="2" charset="-122"/>
              </a:rPr>
              <a:t>　正数：乘以</a:t>
            </a:r>
            <a:r>
              <a:rPr lang="en-US" altLang="zh-CN" b="1" dirty="0">
                <a:latin typeface="宋体" panose="02010600030101010101" pitchFamily="2" charset="-122"/>
              </a:rPr>
              <a:t>32768        </a:t>
            </a:r>
            <a:r>
              <a:rPr lang="zh-CN" altLang="en-US" b="1" dirty="0">
                <a:latin typeface="宋体" panose="02010600030101010101" pitchFamily="2" charset="-122"/>
              </a:rPr>
              <a:t>　　　　　　　   </a:t>
            </a:r>
            <a:r>
              <a:rPr lang="en-US" altLang="zh-CN" b="1" dirty="0">
                <a:latin typeface="宋体" panose="02010600030101010101" pitchFamily="2" charset="-122"/>
              </a:rPr>
              <a:t>4000h</a:t>
            </a:r>
            <a:endParaRPr lang="en-US" altLang="zh-CN" b="1" dirty="0"/>
          </a:p>
          <a:p>
            <a:pPr algn="just"/>
            <a:r>
              <a:rPr lang="en-US" altLang="zh-CN" b="1" dirty="0">
                <a:latin typeface="宋体" panose="02010600030101010101" pitchFamily="2" charset="-122"/>
              </a:rPr>
              <a:t>0      </a:t>
            </a:r>
            <a:r>
              <a:rPr lang="zh-CN" altLang="en-US" b="1" dirty="0">
                <a:latin typeface="宋体" panose="02010600030101010101" pitchFamily="2" charset="-122"/>
              </a:rPr>
              <a:t>　　　 →               </a:t>
            </a:r>
            <a:r>
              <a:rPr lang="zh-CN" altLang="en-US" b="1" dirty="0">
                <a:solidFill>
                  <a:srgbClr val="FF00FF"/>
                </a:solidFill>
                <a:latin typeface="宋体" panose="02010600030101010101" pitchFamily="2" charset="-122"/>
              </a:rPr>
              <a:t>　　　　　</a:t>
            </a:r>
            <a:r>
              <a:rPr lang="zh-CN" altLang="en-US" b="1" dirty="0">
                <a:latin typeface="宋体" panose="02010600030101010101" pitchFamily="2" charset="-122"/>
              </a:rPr>
              <a:t>    </a:t>
            </a:r>
            <a:r>
              <a:rPr lang="en-US" altLang="zh-CN" b="1" dirty="0">
                <a:latin typeface="宋体" panose="02010600030101010101" pitchFamily="2" charset="-122"/>
              </a:rPr>
              <a:t>0000h</a:t>
            </a:r>
            <a:endParaRPr lang="en-US" altLang="zh-CN" b="1" dirty="0"/>
          </a:p>
          <a:p>
            <a:pPr algn="just"/>
            <a:r>
              <a:rPr lang="en-US" altLang="zh-CN" b="1" dirty="0">
                <a:latin typeface="宋体" panose="02010600030101010101" pitchFamily="2" charset="-122"/>
              </a:rPr>
              <a:t>-0.5 </a:t>
            </a:r>
            <a:r>
              <a:rPr lang="zh-CN" altLang="en-US" b="1" dirty="0">
                <a:latin typeface="宋体" panose="02010600030101010101" pitchFamily="2" charset="-122"/>
              </a:rPr>
              <a:t>负数：其绝对值部分乘以</a:t>
            </a:r>
            <a:r>
              <a:rPr lang="en-US" altLang="zh-CN" b="1" dirty="0">
                <a:latin typeface="宋体" panose="02010600030101010101" pitchFamily="2" charset="-122"/>
              </a:rPr>
              <a:t>32768</a:t>
            </a:r>
            <a:r>
              <a:rPr lang="zh-CN" altLang="en-US" b="1" dirty="0">
                <a:latin typeface="宋体" panose="02010600030101010101" pitchFamily="2" charset="-122"/>
              </a:rPr>
              <a:t>，再取反加</a:t>
            </a:r>
            <a:r>
              <a:rPr lang="en-US" altLang="zh-CN" b="1" dirty="0">
                <a:latin typeface="宋体" panose="02010600030101010101" pitchFamily="2" charset="-122"/>
              </a:rPr>
              <a:t>1  C000h</a:t>
            </a:r>
            <a:endParaRPr lang="en-US" altLang="zh-CN" b="1" dirty="0"/>
          </a:p>
          <a:p>
            <a:pPr algn="just"/>
            <a:r>
              <a:rPr lang="en-US" altLang="zh-CN" b="1" dirty="0">
                <a:latin typeface="宋体" panose="02010600030101010101" pitchFamily="2" charset="-122"/>
              </a:rPr>
              <a:t>-1                                           8000h</a:t>
            </a:r>
          </a:p>
        </p:txBody>
      </p:sp>
      <p:sp>
        <p:nvSpPr>
          <p:cNvPr id="808963" name="Rectangle 3" descr="小棋盘"/>
          <p:cNvSpPr>
            <a:spLocks noChangeArrowheads="1"/>
          </p:cNvSpPr>
          <p:nvPr/>
        </p:nvSpPr>
        <p:spPr bwMode="auto">
          <a:xfrm>
            <a:off x="2124075" y="1125538"/>
            <a:ext cx="4343400" cy="539750"/>
          </a:xfrm>
          <a:prstGeom prst="rect">
            <a:avLst/>
          </a:prstGeom>
          <a:pattFill prst="smCheck">
            <a:fgClr>
              <a:schemeClr val="accent1"/>
            </a:fgClr>
            <a:bgClr>
              <a:srgbClr val="FFFFFF"/>
            </a:bgClr>
          </a:pattFill>
          <a:ln w="9525">
            <a:solidFill>
              <a:schemeClr val="tx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zh-CN" altLang="en-US" sz="3200" b="1">
                <a:solidFill>
                  <a:srgbClr val="FF0000"/>
                </a:solidFill>
                <a:latin typeface="宋体" panose="02010600030101010101" pitchFamily="2" charset="-122"/>
              </a:rPr>
              <a:t>（</a:t>
            </a:r>
            <a:r>
              <a:rPr lang="en-US" altLang="zh-CN" sz="3200" b="1">
                <a:solidFill>
                  <a:srgbClr val="FF0000"/>
                </a:solidFill>
                <a:latin typeface="宋体" panose="02010600030101010101" pitchFamily="2" charset="-122"/>
              </a:rPr>
              <a:t>1</a:t>
            </a:r>
            <a:r>
              <a:rPr lang="zh-CN" altLang="en-US" sz="3200" b="1">
                <a:solidFill>
                  <a:srgbClr val="FF0000"/>
                </a:solidFill>
                <a:latin typeface="宋体" panose="02010600030101010101" pitchFamily="2" charset="-122"/>
              </a:rPr>
              <a:t>）小数的表示方法</a:t>
            </a:r>
          </a:p>
        </p:txBody>
      </p:sp>
      <p:sp>
        <p:nvSpPr>
          <p:cNvPr id="2" name="矩形 1"/>
          <p:cNvSpPr/>
          <p:nvPr/>
        </p:nvSpPr>
        <p:spPr>
          <a:xfrm>
            <a:off x="1907704" y="6035309"/>
            <a:ext cx="5802871" cy="830997"/>
          </a:xfrm>
          <a:prstGeom prst="rect">
            <a:avLst/>
          </a:prstGeom>
          <a:ln>
            <a:solidFill>
              <a:schemeClr val="tx2"/>
            </a:solidFill>
          </a:ln>
        </p:spPr>
        <p:txBody>
          <a:bodyPr wrap="none">
            <a:spAutoFit/>
          </a:bodyPr>
          <a:lstStyle/>
          <a:p>
            <a:r>
              <a:rPr lang="en-US" altLang="zh-CN" b="1" dirty="0">
                <a:latin typeface="宋体" panose="02010600030101010101" pitchFamily="2" charset="-122"/>
              </a:rPr>
              <a:t>-0.5 × 32768 =</a:t>
            </a:r>
            <a:r>
              <a:rPr lang="en-US" altLang="zh-CN" dirty="0"/>
              <a:t>100</a:t>
            </a:r>
            <a:r>
              <a:rPr lang="zh-CN" altLang="en-US" dirty="0"/>
              <a:t> </a:t>
            </a:r>
            <a:r>
              <a:rPr lang="en-US" altLang="zh-CN" dirty="0"/>
              <a:t>0000</a:t>
            </a:r>
            <a:r>
              <a:rPr lang="zh-CN" altLang="en-US" dirty="0"/>
              <a:t> </a:t>
            </a:r>
            <a:r>
              <a:rPr lang="en-US" altLang="zh-CN" dirty="0"/>
              <a:t>0000</a:t>
            </a:r>
            <a:r>
              <a:rPr lang="zh-CN" altLang="en-US" dirty="0"/>
              <a:t> </a:t>
            </a:r>
            <a:r>
              <a:rPr lang="en-US" altLang="zh-CN" dirty="0"/>
              <a:t>0000</a:t>
            </a:r>
          </a:p>
          <a:p>
            <a:r>
              <a:rPr lang="en-US" altLang="zh-CN" dirty="0"/>
              <a:t>011</a:t>
            </a:r>
            <a:r>
              <a:rPr lang="zh-CN" altLang="en-US" dirty="0"/>
              <a:t> </a:t>
            </a:r>
            <a:r>
              <a:rPr lang="en-US" altLang="zh-CN" dirty="0"/>
              <a:t>1111</a:t>
            </a:r>
            <a:r>
              <a:rPr lang="zh-CN" altLang="en-US" dirty="0"/>
              <a:t> </a:t>
            </a:r>
            <a:r>
              <a:rPr lang="en-US" altLang="zh-CN" dirty="0"/>
              <a:t>1111</a:t>
            </a:r>
            <a:r>
              <a:rPr lang="zh-CN" altLang="en-US" dirty="0"/>
              <a:t> </a:t>
            </a:r>
            <a:r>
              <a:rPr lang="en-US" altLang="zh-CN" dirty="0"/>
              <a:t>1111</a:t>
            </a:r>
            <a:r>
              <a:rPr lang="zh-CN" altLang="en-US" dirty="0"/>
              <a:t> </a:t>
            </a:r>
            <a:r>
              <a:rPr lang="en-US" altLang="zh-CN" dirty="0"/>
              <a:t>+1= 100</a:t>
            </a:r>
            <a:r>
              <a:rPr lang="zh-CN" altLang="en-US" dirty="0"/>
              <a:t> </a:t>
            </a:r>
            <a:r>
              <a:rPr lang="en-US" altLang="zh-CN" dirty="0"/>
              <a:t>0000</a:t>
            </a:r>
            <a:r>
              <a:rPr lang="zh-CN" altLang="en-US" dirty="0"/>
              <a:t> </a:t>
            </a:r>
            <a:r>
              <a:rPr lang="en-US" altLang="zh-CN" dirty="0"/>
              <a:t>0000</a:t>
            </a:r>
            <a:r>
              <a:rPr lang="zh-CN" altLang="en-US" dirty="0"/>
              <a:t> </a:t>
            </a:r>
            <a:r>
              <a:rPr lang="en-US" altLang="zh-CN" dirty="0"/>
              <a:t>0000</a:t>
            </a:r>
            <a:endParaRPr lang="zh-CN" altLang="en-US" dirty="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08963"/>
                                        </p:tgtEl>
                                        <p:attrNameLst>
                                          <p:attrName>style.visibility</p:attrName>
                                        </p:attrNameLst>
                                      </p:cBhvr>
                                      <p:to>
                                        <p:strVal val="visible"/>
                                      </p:to>
                                    </p:set>
                                    <p:animEffect transition="in" filter="slide(fromTop)">
                                      <p:cBhvr>
                                        <p:cTn id="7" dur="500"/>
                                        <p:tgtEl>
                                          <p:spTgt spid="808963"/>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08962"/>
                                        </p:tgtEl>
                                        <p:attrNameLst>
                                          <p:attrName>style.visibility</p:attrName>
                                        </p:attrNameLst>
                                      </p:cBhvr>
                                      <p:to>
                                        <p:strVal val="visible"/>
                                      </p:to>
                                    </p:set>
                                    <p:animEffect transition="in" filter="blinds(horizontal)">
                                      <p:cBhvr>
                                        <p:cTn id="11" dur="500"/>
                                        <p:tgtEl>
                                          <p:spTgt spid="808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2" grpId="0"/>
      <p:bldP spid="80896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9F7D425-2E97-4894-AD04-358A3F11C18C}" type="slidenum">
              <a:rPr lang="en-US" altLang="zh-CN" sz="1400"/>
              <a:pPr eaLnBrk="1" hangingPunct="1"/>
              <a:t>29</a:t>
            </a:fld>
            <a:endParaRPr lang="en-US" altLang="zh-CN" sz="1400"/>
          </a:p>
        </p:txBody>
      </p:sp>
      <p:sp>
        <p:nvSpPr>
          <p:cNvPr id="809986" name="Rectangle 2"/>
          <p:cNvSpPr>
            <a:spLocks noChangeArrowheads="1"/>
          </p:cNvSpPr>
          <p:nvPr/>
        </p:nvSpPr>
        <p:spPr bwMode="auto">
          <a:xfrm>
            <a:off x="1752600" y="1066800"/>
            <a:ext cx="69342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746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rgbClr val="FF6600"/>
                </a:solidFill>
                <a:latin typeface="宋体" panose="02010600030101010101" pitchFamily="2" charset="-122"/>
              </a:rPr>
              <a:t>在汇编语言中，是不能直接写入十进制小数的，可写为整数运算式。</a:t>
            </a:r>
          </a:p>
          <a:p>
            <a:r>
              <a:rPr lang="zh-CN" altLang="en-US" sz="2800" b="1">
                <a:latin typeface="宋体" panose="02010600030101010101" pitchFamily="2" charset="-122"/>
              </a:rPr>
              <a:t>如果要定义一个系数</a:t>
            </a:r>
            <a:r>
              <a:rPr lang="en-US" altLang="zh-CN" sz="2800" b="1">
                <a:latin typeface="宋体" panose="02010600030101010101" pitchFamily="2" charset="-122"/>
              </a:rPr>
              <a:t>0.707</a:t>
            </a:r>
            <a:r>
              <a:rPr lang="zh-CN" altLang="en-US" sz="2800" b="1">
                <a:latin typeface="宋体" panose="02010600030101010101" pitchFamily="2" charset="-122"/>
              </a:rPr>
              <a:t>，可以写成：</a:t>
            </a:r>
          </a:p>
          <a:p>
            <a:r>
              <a:rPr lang="zh-CN" altLang="en-US" sz="2800" b="1">
                <a:solidFill>
                  <a:schemeClr val="tx2"/>
                </a:solidFill>
                <a:latin typeface="宋体" panose="02010600030101010101" pitchFamily="2" charset="-122"/>
              </a:rPr>
              <a:t>　　</a:t>
            </a:r>
            <a:r>
              <a:rPr lang="en-US" altLang="zh-CN" sz="2800" b="1">
                <a:solidFill>
                  <a:schemeClr val="tx2"/>
                </a:solidFill>
                <a:latin typeface="宋体" panose="02010600030101010101" pitchFamily="2" charset="-122"/>
              </a:rPr>
              <a:t>.word  32768*707/1000</a:t>
            </a:r>
          </a:p>
          <a:p>
            <a:r>
              <a:rPr lang="zh-CN" altLang="en-US" sz="2800" b="1">
                <a:solidFill>
                  <a:schemeClr val="folHlink"/>
                </a:solidFill>
                <a:latin typeface="宋体" panose="02010600030101010101" pitchFamily="2" charset="-122"/>
              </a:rPr>
              <a:t>不能写成</a:t>
            </a:r>
            <a:r>
              <a:rPr lang="en-US" altLang="zh-CN" sz="2800" b="1">
                <a:solidFill>
                  <a:schemeClr val="folHlink"/>
                </a:solidFill>
                <a:latin typeface="宋体" panose="02010600030101010101" pitchFamily="2" charset="-122"/>
              </a:rPr>
              <a:t>32768*0.707</a:t>
            </a:r>
            <a:r>
              <a:rPr lang="zh-CN" altLang="en-US" sz="2800" b="1">
                <a:solidFill>
                  <a:schemeClr val="folHlink"/>
                </a:solidFill>
                <a:latin typeface="宋体" panose="02010600030101010101" pitchFamily="2" charset="-122"/>
              </a:rPr>
              <a:t>。</a:t>
            </a:r>
          </a:p>
        </p:txBody>
      </p:sp>
      <p:sp>
        <p:nvSpPr>
          <p:cNvPr id="809987" name="AutoShape 3" descr="小棋盘"/>
          <p:cNvSpPr>
            <a:spLocks noChangeArrowheads="1"/>
          </p:cNvSpPr>
          <p:nvPr/>
        </p:nvSpPr>
        <p:spPr bwMode="auto">
          <a:xfrm>
            <a:off x="323850" y="1412875"/>
            <a:ext cx="1454150" cy="1371600"/>
          </a:xfrm>
          <a:prstGeom prst="irregularSeal1">
            <a:avLst/>
          </a:prstGeom>
          <a:pattFill prst="smCheck">
            <a:fgClr>
              <a:schemeClr val="accent1"/>
            </a:fgClr>
            <a:bgClr>
              <a:srgbClr val="FFFFFF"/>
            </a:bgClr>
          </a:pattFill>
          <a:ln w="9525">
            <a:solidFill>
              <a:srgbClr val="FF00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FF0000"/>
                </a:solidFill>
              </a:rPr>
              <a:t>注意</a:t>
            </a:r>
          </a:p>
        </p:txBody>
      </p:sp>
      <p:sp>
        <p:nvSpPr>
          <p:cNvPr id="809988" name="Rectangle 4" descr="小棋盘"/>
          <p:cNvSpPr>
            <a:spLocks noChangeArrowheads="1"/>
          </p:cNvSpPr>
          <p:nvPr/>
        </p:nvSpPr>
        <p:spPr bwMode="auto">
          <a:xfrm>
            <a:off x="2819400" y="3352800"/>
            <a:ext cx="26670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en-US" altLang="zh-CN" sz="3200" b="1">
                <a:solidFill>
                  <a:srgbClr val="FF0000"/>
                </a:solidFill>
                <a:latin typeface="宋体" panose="02010600030101010101" pitchFamily="2" charset="-122"/>
                <a:cs typeface="Times New Roman" panose="02020603050405020304" pitchFamily="18" charset="0"/>
              </a:rPr>
              <a:t>Q</a:t>
            </a:r>
            <a:r>
              <a:rPr lang="zh-CN" altLang="en-US" sz="3200" b="1">
                <a:solidFill>
                  <a:srgbClr val="FF0000"/>
                </a:solidFill>
                <a:latin typeface="宋体" panose="02010600030101010101" pitchFamily="2" charset="-122"/>
                <a:cs typeface="Times New Roman" panose="02020603050405020304" pitchFamily="18" charset="0"/>
              </a:rPr>
              <a:t>格式表示法</a:t>
            </a:r>
            <a:r>
              <a:rPr lang="zh-CN" altLang="en-US" sz="3200" b="1">
                <a:solidFill>
                  <a:srgbClr val="FF0000"/>
                </a:solidFill>
                <a:latin typeface="宋体" panose="02010600030101010101" pitchFamily="2" charset="-122"/>
              </a:rPr>
              <a:t> </a:t>
            </a:r>
          </a:p>
        </p:txBody>
      </p:sp>
      <p:sp>
        <p:nvSpPr>
          <p:cNvPr id="809989" name="Rectangle 5"/>
          <p:cNvSpPr>
            <a:spLocks noChangeArrowheads="1"/>
          </p:cNvSpPr>
          <p:nvPr/>
        </p:nvSpPr>
        <p:spPr bwMode="auto">
          <a:xfrm>
            <a:off x="250825" y="4005263"/>
            <a:ext cx="845820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97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pPr>
            <a:r>
              <a:rPr lang="zh-CN" altLang="en-US" sz="2800" b="1">
                <a:latin typeface="宋体" panose="02010600030101010101" pitchFamily="2" charset="-122"/>
              </a:rPr>
              <a:t>在</a:t>
            </a:r>
            <a:r>
              <a:rPr lang="en-US" altLang="zh-CN" sz="2800" b="1">
                <a:latin typeface="宋体" panose="02010600030101010101" pitchFamily="2" charset="-122"/>
              </a:rPr>
              <a:t>Q</a:t>
            </a:r>
            <a:r>
              <a:rPr lang="zh-CN" altLang="en-US" sz="2800" b="1">
                <a:latin typeface="宋体" panose="02010600030101010101" pitchFamily="2" charset="-122"/>
              </a:rPr>
              <a:t>格式中，</a:t>
            </a:r>
            <a:r>
              <a:rPr lang="en-US" altLang="zh-CN" sz="2800" b="1">
                <a:latin typeface="宋体" panose="02010600030101010101" pitchFamily="2" charset="-122"/>
              </a:rPr>
              <a:t>Q</a:t>
            </a:r>
            <a:r>
              <a:rPr lang="zh-CN" altLang="en-US" sz="2800" b="1">
                <a:latin typeface="宋体" panose="02010600030101010101" pitchFamily="2" charset="-122"/>
              </a:rPr>
              <a:t>之后的数字（如</a:t>
            </a:r>
            <a:r>
              <a:rPr lang="en-US" altLang="zh-CN" sz="2800" b="1">
                <a:latin typeface="宋体" panose="02010600030101010101" pitchFamily="2" charset="-122"/>
              </a:rPr>
              <a:t>Q15</a:t>
            </a:r>
            <a:r>
              <a:rPr lang="zh-CN" altLang="en-US" sz="2800" b="1">
                <a:latin typeface="宋体" panose="02010600030101010101" pitchFamily="2" charset="-122"/>
              </a:rPr>
              <a:t>格式中的</a:t>
            </a:r>
            <a:r>
              <a:rPr lang="en-US" altLang="zh-CN" sz="2800" b="1">
                <a:latin typeface="宋体" panose="02010600030101010101" pitchFamily="2" charset="-122"/>
              </a:rPr>
              <a:t>15</a:t>
            </a:r>
            <a:r>
              <a:rPr lang="zh-CN" altLang="en-US" sz="2800" b="1">
                <a:latin typeface="宋体" panose="02010600030101010101" pitchFamily="2" charset="-122"/>
              </a:rPr>
              <a:t>）决定小数点右边有多少位二进制位，故</a:t>
            </a:r>
            <a:r>
              <a:rPr lang="en-US" altLang="zh-CN" sz="2800" b="1">
                <a:latin typeface="宋体" panose="02010600030101010101" pitchFamily="2" charset="-122"/>
              </a:rPr>
              <a:t>Q15</a:t>
            </a:r>
            <a:r>
              <a:rPr lang="zh-CN" altLang="en-US" sz="2800" b="1">
                <a:latin typeface="宋体" panose="02010600030101010101" pitchFamily="2" charset="-122"/>
              </a:rPr>
              <a:t>表示在小数点后有</a:t>
            </a:r>
            <a:r>
              <a:rPr lang="en-US" altLang="zh-CN" sz="2800" b="1">
                <a:latin typeface="宋体" panose="02010600030101010101" pitchFamily="2" charset="-122"/>
              </a:rPr>
              <a:t>15</a:t>
            </a:r>
            <a:r>
              <a:rPr lang="zh-CN" altLang="en-US" sz="2800" b="1">
                <a:latin typeface="宋体" panose="02010600030101010101" pitchFamily="2" charset="-122"/>
              </a:rPr>
              <a:t>位小数。</a:t>
            </a:r>
          </a:p>
          <a:p>
            <a:pPr>
              <a:lnSpc>
                <a:spcPct val="80000"/>
              </a:lnSpc>
              <a:spcBef>
                <a:spcPct val="50000"/>
              </a:spcBef>
            </a:pPr>
            <a:r>
              <a:rPr lang="zh-CN" altLang="en-US" sz="2800" b="1">
                <a:solidFill>
                  <a:schemeClr val="tx2"/>
                </a:solidFill>
                <a:latin typeface="宋体" panose="02010600030101010101" pitchFamily="2" charset="-122"/>
              </a:rPr>
              <a:t>当用一个</a:t>
            </a:r>
            <a:r>
              <a:rPr lang="en-US" altLang="zh-CN" sz="2800" b="1">
                <a:solidFill>
                  <a:schemeClr val="tx2"/>
                </a:solidFill>
                <a:latin typeface="宋体" panose="02010600030101010101" pitchFamily="2" charset="-122"/>
              </a:rPr>
              <a:t>16</a:t>
            </a:r>
            <a:r>
              <a:rPr lang="zh-CN" altLang="en-US" sz="2800" b="1">
                <a:solidFill>
                  <a:schemeClr val="tx2"/>
                </a:solidFill>
                <a:latin typeface="宋体" panose="02010600030101010101" pitchFamily="2" charset="-122"/>
              </a:rPr>
              <a:t>位的字来表示</a:t>
            </a:r>
            <a:r>
              <a:rPr lang="en-US" altLang="zh-CN" sz="2800" b="1">
                <a:solidFill>
                  <a:schemeClr val="tx2"/>
                </a:solidFill>
                <a:latin typeface="宋体" panose="02010600030101010101" pitchFamily="2" charset="-122"/>
              </a:rPr>
              <a:t>Q15</a:t>
            </a:r>
            <a:r>
              <a:rPr lang="zh-CN" altLang="en-US" sz="2800" b="1">
                <a:solidFill>
                  <a:schemeClr val="tx2"/>
                </a:solidFill>
                <a:latin typeface="宋体" panose="02010600030101010101" pitchFamily="2" charset="-122"/>
              </a:rPr>
              <a:t>格式时，在</a:t>
            </a:r>
            <a:r>
              <a:rPr lang="en-US" altLang="zh-CN" sz="2800" b="1">
                <a:solidFill>
                  <a:schemeClr val="tx2"/>
                </a:solidFill>
                <a:latin typeface="宋体" panose="02010600030101010101" pitchFamily="2" charset="-122"/>
              </a:rPr>
              <a:t>MSB</a:t>
            </a:r>
            <a:r>
              <a:rPr lang="zh-CN" altLang="en-US" sz="2800" b="1">
                <a:solidFill>
                  <a:schemeClr val="tx2"/>
                </a:solidFill>
                <a:latin typeface="宋体" panose="02010600030101010101" pitchFamily="2" charset="-122"/>
              </a:rPr>
              <a:t>（最高位）的右边有一个小数点，而</a:t>
            </a:r>
            <a:r>
              <a:rPr lang="en-US" altLang="zh-CN" sz="2800" b="1">
                <a:solidFill>
                  <a:schemeClr val="tx2"/>
                </a:solidFill>
                <a:latin typeface="宋体" panose="02010600030101010101" pitchFamily="2" charset="-122"/>
              </a:rPr>
              <a:t>MSB</a:t>
            </a:r>
            <a:r>
              <a:rPr lang="zh-CN" altLang="en-US" sz="2800" b="1">
                <a:solidFill>
                  <a:schemeClr val="tx2"/>
                </a:solidFill>
                <a:latin typeface="宋体" panose="02010600030101010101" pitchFamily="2" charset="-122"/>
              </a:rPr>
              <a:t>表示符号位。</a:t>
            </a:r>
            <a:r>
              <a:rPr lang="zh-CN" altLang="en-US" sz="2800" b="1">
                <a:latin typeface="宋体" panose="02010600030101010101" pitchFamily="2" charset="-122"/>
              </a:rPr>
              <a:t>所以</a:t>
            </a:r>
            <a:r>
              <a:rPr lang="en-US" altLang="zh-CN" sz="2800" b="1">
                <a:latin typeface="宋体" panose="02010600030101010101" pitchFamily="2" charset="-122"/>
              </a:rPr>
              <a:t>Q15</a:t>
            </a:r>
            <a:r>
              <a:rPr lang="zh-CN" altLang="en-US" sz="2800" b="1">
                <a:latin typeface="宋体" panose="02010600030101010101" pitchFamily="2" charset="-122"/>
              </a:rPr>
              <a:t>的表示数字可表示范围从</a:t>
            </a:r>
            <a:r>
              <a:rPr lang="en-US" altLang="zh-CN" sz="2800" b="1">
                <a:latin typeface="宋体" panose="02010600030101010101" pitchFamily="2" charset="-122"/>
              </a:rPr>
              <a:t>+1</a:t>
            </a:r>
            <a:r>
              <a:rPr lang="zh-CN" altLang="en-US" sz="2800" b="1">
                <a:latin typeface="宋体" panose="02010600030101010101" pitchFamily="2" charset="-122"/>
              </a:rPr>
              <a:t>（以</a:t>
            </a:r>
            <a:r>
              <a:rPr lang="en-US" altLang="zh-CN" sz="2800" b="1">
                <a:latin typeface="宋体" panose="02010600030101010101" pitchFamily="2" charset="-122"/>
              </a:rPr>
              <a:t>+0.999997</a:t>
            </a:r>
            <a:r>
              <a:rPr lang="zh-CN" altLang="en-US" sz="2800" b="1">
                <a:latin typeface="宋体" panose="02010600030101010101" pitchFamily="2" charset="-122"/>
              </a:rPr>
              <a:t>表示）到</a:t>
            </a:r>
            <a:r>
              <a:rPr lang="en-US" altLang="zh-CN" sz="2800" b="1">
                <a:latin typeface="宋体" panose="02010600030101010101" pitchFamily="2" charset="-122"/>
              </a:rPr>
              <a:t>-1</a:t>
            </a:r>
            <a:r>
              <a:rPr lang="zh-CN" altLang="en-US" sz="2800" b="1">
                <a:latin typeface="宋体" panose="02010600030101010101" pitchFamily="2" charset="-122"/>
              </a:rPr>
              <a:t>的值。</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809987"/>
                                        </p:tgtEl>
                                        <p:attrNameLst>
                                          <p:attrName>style.visibility</p:attrName>
                                        </p:attrNameLst>
                                      </p:cBhvr>
                                      <p:to>
                                        <p:strVal val="visible"/>
                                      </p:to>
                                    </p:set>
                                    <p:anim calcmode="lin" valueType="num">
                                      <p:cBhvr>
                                        <p:cTn id="7" dur="500" fill="hold"/>
                                        <p:tgtEl>
                                          <p:spTgt spid="809987"/>
                                        </p:tgtEl>
                                        <p:attrNameLst>
                                          <p:attrName>ppt_w</p:attrName>
                                        </p:attrNameLst>
                                      </p:cBhvr>
                                      <p:tavLst>
                                        <p:tav tm="0">
                                          <p:val>
                                            <p:fltVal val="0"/>
                                          </p:val>
                                        </p:tav>
                                        <p:tav tm="100000">
                                          <p:val>
                                            <p:strVal val="#ppt_w"/>
                                          </p:val>
                                        </p:tav>
                                      </p:tavLst>
                                    </p:anim>
                                    <p:anim calcmode="lin" valueType="num">
                                      <p:cBhvr>
                                        <p:cTn id="8" dur="500" fill="hold"/>
                                        <p:tgtEl>
                                          <p:spTgt spid="809987"/>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809986"/>
                                        </p:tgtEl>
                                        <p:attrNameLst>
                                          <p:attrName>style.visibility</p:attrName>
                                        </p:attrNameLst>
                                      </p:cBhvr>
                                      <p:to>
                                        <p:strVal val="visible"/>
                                      </p:to>
                                    </p:set>
                                    <p:animEffect transition="in" filter="slide(fromTop)">
                                      <p:cBhvr>
                                        <p:cTn id="12" dur="500"/>
                                        <p:tgtEl>
                                          <p:spTgt spid="809986"/>
                                        </p:tgtEl>
                                      </p:cBhvr>
                                    </p:animEffect>
                                  </p:childTnLst>
                                </p:cTn>
                              </p:par>
                            </p:childTnLst>
                          </p:cTn>
                        </p:par>
                        <p:par>
                          <p:cTn id="13" fill="hold" nodeType="afterGroup">
                            <p:stCondLst>
                              <p:cond delay="1000"/>
                            </p:stCondLst>
                            <p:childTnLst>
                              <p:par>
                                <p:cTn id="14" presetID="12" presetClass="entr" presetSubtype="2" fill="hold" grpId="0" nodeType="afterEffect">
                                  <p:stCondLst>
                                    <p:cond delay="0"/>
                                  </p:stCondLst>
                                  <p:childTnLst>
                                    <p:set>
                                      <p:cBhvr>
                                        <p:cTn id="15" dur="1" fill="hold">
                                          <p:stCondLst>
                                            <p:cond delay="0"/>
                                          </p:stCondLst>
                                        </p:cTn>
                                        <p:tgtEl>
                                          <p:spTgt spid="809988"/>
                                        </p:tgtEl>
                                        <p:attrNameLst>
                                          <p:attrName>style.visibility</p:attrName>
                                        </p:attrNameLst>
                                      </p:cBhvr>
                                      <p:to>
                                        <p:strVal val="visible"/>
                                      </p:to>
                                    </p:set>
                                    <p:animEffect transition="in" filter="slide(fromRight)">
                                      <p:cBhvr>
                                        <p:cTn id="16" dur="500"/>
                                        <p:tgtEl>
                                          <p:spTgt spid="809988"/>
                                        </p:tgtEl>
                                      </p:cBhvr>
                                    </p:animEffect>
                                  </p:childTnLst>
                                </p:cTn>
                              </p:par>
                            </p:childTnLst>
                          </p:cTn>
                        </p:par>
                        <p:par>
                          <p:cTn id="17" fill="hold" nodeType="afterGroup">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809989"/>
                                        </p:tgtEl>
                                        <p:attrNameLst>
                                          <p:attrName>style.visibility</p:attrName>
                                        </p:attrNameLst>
                                      </p:cBhvr>
                                      <p:to>
                                        <p:strVal val="visible"/>
                                      </p:to>
                                    </p:set>
                                    <p:animEffect transition="in" filter="blinds(horizontal)">
                                      <p:cBhvr>
                                        <p:cTn id="20" dur="500"/>
                                        <p:tgtEl>
                                          <p:spTgt spid="809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986" grpId="0"/>
      <p:bldP spid="809987" grpId="0" animBg="1"/>
      <p:bldP spid="809988" grpId="0" animBg="1"/>
      <p:bldP spid="80998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0855C4E-BF8F-4D93-A722-E01162396626}" type="slidenum">
              <a:rPr lang="en-US" altLang="zh-CN" sz="1400"/>
              <a:pPr eaLnBrk="1" hangingPunct="1"/>
              <a:t>30</a:t>
            </a:fld>
            <a:endParaRPr lang="en-US" altLang="zh-CN" sz="1400"/>
          </a:p>
        </p:txBody>
      </p:sp>
      <p:sp>
        <p:nvSpPr>
          <p:cNvPr id="811010" name="Rectangle 2"/>
          <p:cNvSpPr>
            <a:spLocks noChangeArrowheads="1"/>
          </p:cNvSpPr>
          <p:nvPr/>
        </p:nvSpPr>
        <p:spPr bwMode="auto">
          <a:xfrm>
            <a:off x="107950" y="1371600"/>
            <a:ext cx="8856663"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eaLnBrk="0" hangingPunct="0">
              <a:tabLst>
                <a:tab pos="49530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49530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49530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49530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495300" algn="l"/>
              </a:tabLs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通过合适的</a:t>
            </a:r>
            <a:r>
              <a:rPr lang="en-US" altLang="zh-CN" sz="2800" b="1">
                <a:latin typeface="宋体" panose="02010600030101010101" pitchFamily="2" charset="-122"/>
              </a:rPr>
              <a:t>Q</a:t>
            </a:r>
            <a:r>
              <a:rPr lang="zh-CN" altLang="en-US" sz="2800" b="1">
                <a:latin typeface="宋体" panose="02010600030101010101" pitchFamily="2" charset="-122"/>
              </a:rPr>
              <a:t>格式，可以把数值根据所需的精确度做适当的转换，以便定点数的</a:t>
            </a:r>
            <a:r>
              <a:rPr lang="en-US" altLang="zh-CN" sz="2800" b="1">
                <a:latin typeface="宋体" panose="02010600030101010101" pitchFamily="2" charset="-122"/>
              </a:rPr>
              <a:t>DSP</a:t>
            </a:r>
            <a:r>
              <a:rPr lang="zh-CN" altLang="en-US" sz="2800" b="1">
                <a:latin typeface="宋体" panose="02010600030101010101" pitchFamily="2" charset="-122"/>
              </a:rPr>
              <a:t>也可以处理高精度的浮点数。下面以</a:t>
            </a:r>
            <a:r>
              <a:rPr lang="en-US" altLang="zh-CN" sz="2800" b="1">
                <a:latin typeface="宋体" panose="02010600030101010101" pitchFamily="2" charset="-122"/>
              </a:rPr>
              <a:t>Q15</a:t>
            </a:r>
            <a:r>
              <a:rPr lang="zh-CN" altLang="en-US" sz="2800" b="1">
                <a:latin typeface="宋体" panose="02010600030101010101" pitchFamily="2" charset="-122"/>
              </a:rPr>
              <a:t>为例，说明转换的过程。</a:t>
            </a:r>
            <a:endParaRPr lang="zh-CN" altLang="en-US" sz="2800" b="1"/>
          </a:p>
          <a:p>
            <a:pPr algn="just"/>
            <a:r>
              <a:rPr lang="en-US" altLang="zh-CN" sz="2800" b="1">
                <a:solidFill>
                  <a:schemeClr val="tx2"/>
                </a:solidFill>
                <a:latin typeface="宋体" panose="02010600030101010101" pitchFamily="2" charset="-122"/>
              </a:rPr>
              <a:t>1</a:t>
            </a:r>
            <a:r>
              <a:rPr lang="zh-CN" altLang="en-US" sz="2800" b="1">
                <a:solidFill>
                  <a:schemeClr val="tx2"/>
                </a:solidFill>
                <a:latin typeface="宋体" panose="02010600030101010101" pitchFamily="2" charset="-122"/>
              </a:rPr>
              <a:t>）先确定准备转换的十进制数值</a:t>
            </a:r>
            <a:r>
              <a:rPr lang="en-US" altLang="zh-CN" sz="2800" b="1">
                <a:solidFill>
                  <a:schemeClr val="tx2"/>
                </a:solidFill>
                <a:latin typeface="宋体" panose="02010600030101010101" pitchFamily="2" charset="-122"/>
              </a:rPr>
              <a:t>N</a:t>
            </a:r>
            <a:r>
              <a:rPr lang="zh-CN" altLang="en-US" sz="2800" b="1">
                <a:solidFill>
                  <a:schemeClr val="tx2"/>
                </a:solidFill>
                <a:latin typeface="宋体" panose="02010600030101010101" pitchFamily="2" charset="-122"/>
              </a:rPr>
              <a:t>，是在</a:t>
            </a:r>
            <a:r>
              <a:rPr lang="en-US" altLang="zh-CN" sz="2800" b="1">
                <a:solidFill>
                  <a:schemeClr val="tx2"/>
                </a:solidFill>
                <a:latin typeface="宋体" panose="02010600030101010101" pitchFamily="2" charset="-122"/>
              </a:rPr>
              <a:t>Q15</a:t>
            </a:r>
            <a:r>
              <a:rPr lang="zh-CN" altLang="en-US" sz="2800" b="1">
                <a:solidFill>
                  <a:schemeClr val="tx2"/>
                </a:solidFill>
                <a:latin typeface="宋体" panose="02010600030101010101" pitchFamily="2" charset="-122"/>
              </a:rPr>
              <a:t>格式的数值范围之间，即</a:t>
            </a:r>
            <a:r>
              <a:rPr lang="en-US" altLang="zh-CN" sz="2800" b="1">
                <a:solidFill>
                  <a:schemeClr val="tx2"/>
                </a:solidFill>
                <a:latin typeface="宋体" panose="02010600030101010101" pitchFamily="2" charset="-122"/>
              </a:rPr>
              <a:t>-1.000000≤N≤+0.999997</a:t>
            </a:r>
            <a:r>
              <a:rPr lang="zh-CN" altLang="en-US" sz="2800" b="1">
                <a:solidFill>
                  <a:schemeClr val="tx2"/>
                </a:solidFill>
                <a:latin typeface="宋体" panose="02010600030101010101" pitchFamily="2" charset="-122"/>
              </a:rPr>
              <a:t>。</a:t>
            </a:r>
            <a:endParaRPr lang="zh-CN" altLang="en-US" sz="2800" b="1">
              <a:solidFill>
                <a:schemeClr val="tx2"/>
              </a:solidFill>
            </a:endParaRPr>
          </a:p>
          <a:p>
            <a:pPr algn="just"/>
            <a:r>
              <a:rPr lang="en-US" altLang="zh-CN" sz="2800" b="1">
                <a:solidFill>
                  <a:schemeClr val="folHlink"/>
                </a:solidFill>
                <a:latin typeface="宋体" panose="02010600030101010101" pitchFamily="2" charset="-122"/>
              </a:rPr>
              <a:t>2</a:t>
            </a:r>
            <a:r>
              <a:rPr lang="zh-CN" altLang="en-US" sz="2800" b="1">
                <a:solidFill>
                  <a:schemeClr val="folHlink"/>
                </a:solidFill>
                <a:latin typeface="宋体" panose="02010600030101010101" pitchFamily="2" charset="-122"/>
              </a:rPr>
              <a:t>）数值</a:t>
            </a:r>
            <a:r>
              <a:rPr lang="en-US" altLang="zh-CN" sz="2800" b="1">
                <a:solidFill>
                  <a:schemeClr val="folHlink"/>
                </a:solidFill>
                <a:latin typeface="宋体" panose="02010600030101010101" pitchFamily="2" charset="-122"/>
              </a:rPr>
              <a:t>N</a:t>
            </a:r>
            <a:r>
              <a:rPr lang="zh-CN" altLang="en-US" sz="2800" b="1">
                <a:solidFill>
                  <a:schemeClr val="folHlink"/>
                </a:solidFill>
                <a:latin typeface="宋体" panose="02010600030101010101" pitchFamily="2" charset="-122"/>
              </a:rPr>
              <a:t>乘以</a:t>
            </a:r>
            <a:r>
              <a:rPr lang="en-US" altLang="zh-CN" sz="2800" b="1">
                <a:solidFill>
                  <a:schemeClr val="folHlink"/>
                </a:solidFill>
                <a:latin typeface="宋体" panose="02010600030101010101" pitchFamily="2" charset="-122"/>
              </a:rPr>
              <a:t>2</a:t>
            </a:r>
            <a:r>
              <a:rPr lang="en-US" altLang="zh-CN" sz="2800" b="1" baseline="30000">
                <a:solidFill>
                  <a:schemeClr val="folHlink"/>
                </a:solidFill>
                <a:latin typeface="宋体" panose="02010600030101010101" pitchFamily="2" charset="-122"/>
              </a:rPr>
              <a:t>15</a:t>
            </a:r>
            <a:r>
              <a:rPr lang="zh-CN" altLang="en-US" sz="2800" b="1">
                <a:solidFill>
                  <a:schemeClr val="folHlink"/>
                </a:solidFill>
                <a:latin typeface="宋体" panose="02010600030101010101" pitchFamily="2" charset="-122"/>
              </a:rPr>
              <a:t>，即</a:t>
            </a:r>
            <a:r>
              <a:rPr lang="en-US" altLang="zh-CN" sz="2800" b="1">
                <a:solidFill>
                  <a:schemeClr val="folHlink"/>
                </a:solidFill>
                <a:latin typeface="宋体" panose="02010600030101010101" pitchFamily="2" charset="-122"/>
              </a:rPr>
              <a:t>N'=N×2</a:t>
            </a:r>
            <a:r>
              <a:rPr lang="en-US" altLang="zh-CN" sz="2800" b="1" baseline="30000">
                <a:solidFill>
                  <a:schemeClr val="folHlink"/>
                </a:solidFill>
                <a:latin typeface="宋体" panose="02010600030101010101" pitchFamily="2" charset="-122"/>
              </a:rPr>
              <a:t>15</a:t>
            </a:r>
            <a:r>
              <a:rPr lang="en-US" altLang="zh-CN" sz="2800" b="1">
                <a:solidFill>
                  <a:schemeClr val="folHlink"/>
                </a:solidFill>
                <a:latin typeface="宋体" panose="02010600030101010101" pitchFamily="2" charset="-122"/>
              </a:rPr>
              <a:t>=N×32768</a:t>
            </a:r>
            <a:endParaRPr lang="en-US" altLang="zh-CN" sz="2800" b="1">
              <a:solidFill>
                <a:schemeClr val="folHlink"/>
              </a:solidFill>
            </a:endParaRPr>
          </a:p>
          <a:p>
            <a:pPr algn="just"/>
            <a:r>
              <a:rPr lang="en-US" altLang="zh-CN" sz="2800" b="1">
                <a:solidFill>
                  <a:srgbClr val="FF00FF"/>
                </a:solidFill>
                <a:latin typeface="宋体" panose="02010600030101010101" pitchFamily="2" charset="-122"/>
              </a:rPr>
              <a:t>3</a:t>
            </a:r>
            <a:r>
              <a:rPr lang="zh-CN" altLang="en-US" sz="2800" b="1">
                <a:solidFill>
                  <a:srgbClr val="FF00FF"/>
                </a:solidFill>
                <a:latin typeface="宋体" panose="02010600030101010101" pitchFamily="2" charset="-122"/>
              </a:rPr>
              <a:t>）把步骤</a:t>
            </a:r>
            <a:r>
              <a:rPr lang="en-US" altLang="zh-CN" sz="2800" b="1">
                <a:solidFill>
                  <a:srgbClr val="FF00FF"/>
                </a:solidFill>
                <a:latin typeface="宋体" panose="02010600030101010101" pitchFamily="2" charset="-122"/>
              </a:rPr>
              <a:t>2</a:t>
            </a:r>
            <a:r>
              <a:rPr lang="zh-CN" altLang="en-US" sz="2800" b="1">
                <a:solidFill>
                  <a:srgbClr val="FF00FF"/>
                </a:solidFill>
                <a:latin typeface="宋体" panose="02010600030101010101" pitchFamily="2" charset="-122"/>
              </a:rPr>
              <a:t>）的结果加</a:t>
            </a:r>
            <a:r>
              <a:rPr lang="en-US" altLang="zh-CN" sz="2800" b="1">
                <a:solidFill>
                  <a:srgbClr val="FF00FF"/>
                </a:solidFill>
                <a:latin typeface="宋体" panose="02010600030101010101" pitchFamily="2" charset="-122"/>
              </a:rPr>
              <a:t>2</a:t>
            </a:r>
            <a:r>
              <a:rPr lang="en-US" altLang="zh-CN" sz="2800" b="1" baseline="30000">
                <a:solidFill>
                  <a:srgbClr val="FF00FF"/>
                </a:solidFill>
                <a:latin typeface="宋体" panose="02010600030101010101" pitchFamily="2" charset="-122"/>
              </a:rPr>
              <a:t>16</a:t>
            </a:r>
            <a:r>
              <a:rPr lang="zh-CN" altLang="en-US" sz="2800" b="1">
                <a:solidFill>
                  <a:srgbClr val="FF00FF"/>
                </a:solidFill>
                <a:latin typeface="宋体" panose="02010600030101010101" pitchFamily="2" charset="-122"/>
              </a:rPr>
              <a:t>，即</a:t>
            </a:r>
            <a:r>
              <a:rPr lang="en-US" altLang="zh-CN" sz="2800" b="1">
                <a:solidFill>
                  <a:srgbClr val="FF00FF"/>
                </a:solidFill>
                <a:latin typeface="宋体" panose="02010600030101010101" pitchFamily="2" charset="-122"/>
              </a:rPr>
              <a:t>N''=N'+2</a:t>
            </a:r>
            <a:r>
              <a:rPr lang="en-US" altLang="zh-CN" sz="2800" b="1" baseline="30000">
                <a:solidFill>
                  <a:srgbClr val="FF00FF"/>
                </a:solidFill>
                <a:latin typeface="宋体" panose="02010600030101010101" pitchFamily="2" charset="-122"/>
              </a:rPr>
              <a:t>16</a:t>
            </a:r>
            <a:r>
              <a:rPr lang="en-US" altLang="zh-CN" sz="2800" b="1">
                <a:solidFill>
                  <a:srgbClr val="FF00FF"/>
                </a:solidFill>
                <a:latin typeface="宋体" panose="02010600030101010101" pitchFamily="2" charset="-122"/>
              </a:rPr>
              <a:t>=N'+65536</a:t>
            </a:r>
            <a:r>
              <a:rPr lang="zh-CN" altLang="en-US" sz="2800" b="1">
                <a:solidFill>
                  <a:srgbClr val="FF00FF"/>
                </a:solidFill>
                <a:latin typeface="宋体" panose="02010600030101010101" pitchFamily="2" charset="-122"/>
              </a:rPr>
              <a:t>。</a:t>
            </a:r>
            <a:endParaRPr lang="zh-CN" altLang="en-US" sz="2800" b="1">
              <a:solidFill>
                <a:srgbClr val="FF00FF"/>
              </a:solidFill>
            </a:endParaRPr>
          </a:p>
          <a:p>
            <a:pPr algn="just"/>
            <a:r>
              <a:rPr lang="en-US" altLang="zh-CN" sz="2800" b="1">
                <a:solidFill>
                  <a:srgbClr val="FF6600"/>
                </a:solidFill>
                <a:latin typeface="宋体" panose="02010600030101010101" pitchFamily="2" charset="-122"/>
              </a:rPr>
              <a:t>4</a:t>
            </a:r>
            <a:r>
              <a:rPr lang="zh-CN" altLang="en-US" sz="2800" b="1">
                <a:solidFill>
                  <a:srgbClr val="FF6600"/>
                </a:solidFill>
                <a:latin typeface="宋体" panose="02010600030101010101" pitchFamily="2" charset="-122"/>
              </a:rPr>
              <a:t>）步骤</a:t>
            </a:r>
            <a:r>
              <a:rPr lang="en-US" altLang="zh-CN" sz="2800" b="1">
                <a:solidFill>
                  <a:srgbClr val="FF6600"/>
                </a:solidFill>
                <a:latin typeface="宋体" panose="02010600030101010101" pitchFamily="2" charset="-122"/>
              </a:rPr>
              <a:t>3</a:t>
            </a:r>
            <a:r>
              <a:rPr lang="zh-CN" altLang="en-US" sz="2800" b="1">
                <a:solidFill>
                  <a:srgbClr val="FF6600"/>
                </a:solidFill>
                <a:latin typeface="宋体" panose="02010600030101010101" pitchFamily="2" charset="-122"/>
              </a:rPr>
              <a:t>）的结果转换成十六进制，并把第</a:t>
            </a:r>
            <a:r>
              <a:rPr lang="en-US" altLang="zh-CN" sz="2800" b="1">
                <a:solidFill>
                  <a:srgbClr val="FF6600"/>
                </a:solidFill>
                <a:latin typeface="宋体" panose="02010600030101010101" pitchFamily="2" charset="-122"/>
              </a:rPr>
              <a:t>17</a:t>
            </a:r>
            <a:r>
              <a:rPr lang="zh-CN" altLang="en-US" sz="2800" b="1">
                <a:solidFill>
                  <a:srgbClr val="FF6600"/>
                </a:solidFill>
                <a:latin typeface="宋体" panose="02010600030101010101" pitchFamily="2" charset="-122"/>
              </a:rPr>
              <a:t>位舍弃掉，得到的结果就是</a:t>
            </a:r>
            <a:r>
              <a:rPr lang="en-US" altLang="zh-CN" sz="2800" b="1">
                <a:solidFill>
                  <a:srgbClr val="FF6600"/>
                </a:solidFill>
                <a:latin typeface="宋体" panose="02010600030101010101" pitchFamily="2" charset="-122"/>
              </a:rPr>
              <a:t>N</a:t>
            </a:r>
            <a:r>
              <a:rPr lang="zh-CN" altLang="en-US" sz="2800" b="1">
                <a:solidFill>
                  <a:srgbClr val="FF6600"/>
                </a:solidFill>
                <a:latin typeface="宋体" panose="02010600030101010101" pitchFamily="2" charset="-122"/>
              </a:rPr>
              <a:t>的</a:t>
            </a:r>
            <a:r>
              <a:rPr lang="en-US" altLang="zh-CN" sz="2800" b="1">
                <a:solidFill>
                  <a:srgbClr val="FF6600"/>
                </a:solidFill>
                <a:latin typeface="宋体" panose="02010600030101010101" pitchFamily="2" charset="-122"/>
              </a:rPr>
              <a:t>Q15</a:t>
            </a:r>
            <a:r>
              <a:rPr lang="zh-CN" altLang="en-US" sz="2800" b="1">
                <a:solidFill>
                  <a:srgbClr val="FF6600"/>
                </a:solidFill>
                <a:latin typeface="宋体" panose="02010600030101010101" pitchFamily="2" charset="-122"/>
              </a:rPr>
              <a:t>转换值。</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11010"/>
                                        </p:tgtEl>
                                        <p:attrNameLst>
                                          <p:attrName>style.visibility</p:attrName>
                                        </p:attrNameLst>
                                      </p:cBhvr>
                                      <p:to>
                                        <p:strVal val="visible"/>
                                      </p:to>
                                    </p:set>
                                    <p:animEffect transition="in" filter="blinds(horizontal)">
                                      <p:cBhvr>
                                        <p:cTn id="7" dur="500"/>
                                        <p:tgtEl>
                                          <p:spTgt spid="811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5846664-54E6-4996-9439-5AACCD4AF8A9}" type="slidenum">
              <a:rPr lang="en-US" altLang="zh-CN" sz="1400"/>
              <a:pPr eaLnBrk="1" hangingPunct="1"/>
              <a:t>31</a:t>
            </a:fld>
            <a:endParaRPr lang="en-US" altLang="zh-CN" sz="1400"/>
          </a:p>
        </p:txBody>
      </p:sp>
      <p:sp>
        <p:nvSpPr>
          <p:cNvPr id="812034" name="Rectangle 2"/>
          <p:cNvSpPr>
            <a:spLocks noChangeArrowheads="1"/>
          </p:cNvSpPr>
          <p:nvPr/>
        </p:nvSpPr>
        <p:spPr bwMode="auto">
          <a:xfrm>
            <a:off x="381000" y="1066800"/>
            <a:ext cx="84582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dirty="0">
                <a:latin typeface="宋体" panose="02010600030101010101" pitchFamily="2" charset="-122"/>
              </a:rPr>
              <a:t>下面通过把</a:t>
            </a:r>
            <a:r>
              <a:rPr lang="en-US" altLang="zh-CN" sz="2800" b="1" dirty="0">
                <a:latin typeface="宋体" panose="02010600030101010101" pitchFamily="2" charset="-122"/>
              </a:rPr>
              <a:t>-0.2345</a:t>
            </a:r>
            <a:r>
              <a:rPr lang="zh-CN" altLang="en-US" sz="2800" b="1" dirty="0">
                <a:latin typeface="宋体" panose="02010600030101010101" pitchFamily="2" charset="-122"/>
              </a:rPr>
              <a:t>及</a:t>
            </a:r>
            <a:r>
              <a:rPr lang="en-US" altLang="zh-CN" sz="2800" b="1" dirty="0">
                <a:latin typeface="宋体" panose="02010600030101010101" pitchFamily="2" charset="-122"/>
              </a:rPr>
              <a:t>+0.2345</a:t>
            </a:r>
            <a:r>
              <a:rPr lang="zh-CN" altLang="en-US" sz="2800" b="1" dirty="0">
                <a:latin typeface="宋体" panose="02010600030101010101" pitchFamily="2" charset="-122"/>
              </a:rPr>
              <a:t>转换成</a:t>
            </a:r>
            <a:r>
              <a:rPr lang="en-US" altLang="zh-CN" sz="2800" b="1" dirty="0">
                <a:latin typeface="宋体" panose="02010600030101010101" pitchFamily="2" charset="-122"/>
              </a:rPr>
              <a:t>Q15</a:t>
            </a:r>
            <a:r>
              <a:rPr lang="zh-CN" altLang="en-US" sz="2800" b="1" dirty="0">
                <a:latin typeface="宋体" panose="02010600030101010101" pitchFamily="2" charset="-122"/>
              </a:rPr>
              <a:t>格式来说明转换方法。</a:t>
            </a:r>
            <a:endParaRPr lang="zh-CN" altLang="en-US" sz="2800" b="1" dirty="0"/>
          </a:p>
          <a:p>
            <a:pPr algn="just"/>
            <a:r>
              <a:rPr lang="en-US" altLang="zh-CN" sz="2800" b="1" dirty="0">
                <a:latin typeface="宋体" panose="02010600030101010101" pitchFamily="2" charset="-122"/>
              </a:rPr>
              <a:t>-0.2345</a:t>
            </a:r>
            <a:r>
              <a:rPr lang="zh-CN" altLang="en-US" sz="2800" b="1" dirty="0">
                <a:latin typeface="宋体" panose="02010600030101010101" pitchFamily="2" charset="-122"/>
              </a:rPr>
              <a:t>的转换为：</a:t>
            </a:r>
            <a:endParaRPr lang="zh-CN" altLang="en-US" sz="2800" b="1" dirty="0"/>
          </a:p>
          <a:p>
            <a:pPr algn="just"/>
            <a:r>
              <a:rPr lang="en-US" altLang="zh-CN" sz="2800" b="1" dirty="0">
                <a:latin typeface="宋体" panose="02010600030101010101" pitchFamily="2" charset="-122"/>
              </a:rPr>
              <a:t>-0.2345×32768=-7684.1≈-7684</a:t>
            </a:r>
            <a:endParaRPr lang="en-US" altLang="zh-CN" sz="2800" b="1" dirty="0"/>
          </a:p>
          <a:p>
            <a:pPr algn="just"/>
            <a:r>
              <a:rPr lang="en-US" altLang="zh-CN" sz="2800" b="1" dirty="0">
                <a:latin typeface="宋体" panose="02010600030101010101" pitchFamily="2" charset="-122"/>
              </a:rPr>
              <a:t>-7684+65536=57852</a:t>
            </a:r>
            <a:endParaRPr lang="en-US" altLang="zh-CN" sz="2800" b="1" dirty="0"/>
          </a:p>
          <a:p>
            <a:pPr algn="just"/>
            <a:r>
              <a:rPr lang="en-US" altLang="zh-CN" sz="2800" b="1" dirty="0">
                <a:latin typeface="宋体" panose="02010600030101010101" pitchFamily="2" charset="-122"/>
              </a:rPr>
              <a:t>57852</a:t>
            </a:r>
            <a:r>
              <a:rPr lang="zh-CN" altLang="en-US" sz="2800" b="1" dirty="0">
                <a:latin typeface="宋体" panose="02010600030101010101" pitchFamily="2" charset="-122"/>
              </a:rPr>
              <a:t>转换成十六进制数值为</a:t>
            </a:r>
            <a:r>
              <a:rPr lang="en-US" altLang="zh-CN" sz="2800" b="1" dirty="0">
                <a:latin typeface="宋体" panose="02010600030101010101" pitchFamily="2" charset="-122"/>
              </a:rPr>
              <a:t>0E1FCh</a:t>
            </a:r>
            <a:r>
              <a:rPr lang="zh-CN" altLang="en-US" sz="2800" b="1" dirty="0">
                <a:latin typeface="宋体" panose="02010600030101010101" pitchFamily="2" charset="-122"/>
              </a:rPr>
              <a:t>，所以结果为</a:t>
            </a:r>
            <a:r>
              <a:rPr lang="en-US" altLang="zh-CN" sz="2800" b="1" dirty="0">
                <a:latin typeface="宋体" panose="02010600030101010101" pitchFamily="2" charset="-122"/>
              </a:rPr>
              <a:t>E1FCh</a:t>
            </a:r>
            <a:r>
              <a:rPr lang="zh-CN" altLang="en-US" sz="2800" b="1" dirty="0">
                <a:latin typeface="宋体" panose="02010600030101010101" pitchFamily="2" charset="-122"/>
              </a:rPr>
              <a:t>。</a:t>
            </a:r>
            <a:endParaRPr lang="zh-CN" altLang="en-US" sz="2800" b="1" dirty="0"/>
          </a:p>
          <a:p>
            <a:pPr algn="just"/>
            <a:r>
              <a:rPr lang="en-US" altLang="zh-CN" sz="2800" b="1" dirty="0">
                <a:latin typeface="宋体" panose="02010600030101010101" pitchFamily="2" charset="-122"/>
              </a:rPr>
              <a:t>+0.2345</a:t>
            </a:r>
            <a:r>
              <a:rPr lang="zh-CN" altLang="en-US" sz="2800" b="1" dirty="0">
                <a:latin typeface="宋体" panose="02010600030101010101" pitchFamily="2" charset="-122"/>
              </a:rPr>
              <a:t>的转换为：</a:t>
            </a:r>
            <a:endParaRPr lang="zh-CN" altLang="en-US" sz="2800" b="1" dirty="0"/>
          </a:p>
          <a:p>
            <a:pPr algn="just"/>
            <a:r>
              <a:rPr lang="en-US" altLang="zh-CN" sz="2800" b="1" dirty="0">
                <a:latin typeface="宋体" panose="02010600030101010101" pitchFamily="2" charset="-122"/>
              </a:rPr>
              <a:t>0.2345×32768=7684.1≈7684</a:t>
            </a:r>
            <a:endParaRPr lang="en-US" altLang="zh-CN" sz="2800" b="1" dirty="0"/>
          </a:p>
          <a:p>
            <a:pPr algn="just"/>
            <a:r>
              <a:rPr lang="en-US" altLang="zh-CN" sz="2800" b="1" dirty="0">
                <a:latin typeface="宋体" panose="02010600030101010101" pitchFamily="2" charset="-122"/>
              </a:rPr>
              <a:t>7684+65536=</a:t>
            </a:r>
            <a:r>
              <a:rPr lang="zh-CN" altLang="en-US" sz="2800" b="1" dirty="0">
                <a:latin typeface="宋体" panose="02010600030101010101" pitchFamily="2" charset="-122"/>
              </a:rPr>
              <a:t> </a:t>
            </a:r>
            <a:r>
              <a:rPr lang="en-US" altLang="zh-CN" sz="2800" b="1" dirty="0">
                <a:latin typeface="宋体" panose="02010600030101010101" pitchFamily="2" charset="-122"/>
              </a:rPr>
              <a:t>73220</a:t>
            </a:r>
            <a:endParaRPr lang="en-US" altLang="zh-CN" sz="2800" b="1" dirty="0"/>
          </a:p>
          <a:p>
            <a:r>
              <a:rPr lang="en-US" altLang="zh-CN" sz="2800" b="1" dirty="0">
                <a:latin typeface="宋体" panose="02010600030101010101" pitchFamily="2" charset="-122"/>
              </a:rPr>
              <a:t>73220</a:t>
            </a:r>
            <a:r>
              <a:rPr lang="zh-CN" altLang="en-US" sz="2800" b="1" dirty="0">
                <a:latin typeface="宋体" panose="02010600030101010101" pitchFamily="2" charset="-122"/>
              </a:rPr>
              <a:t>转换成十六进制数值为</a:t>
            </a:r>
            <a:r>
              <a:rPr lang="en-US" altLang="zh-CN" sz="2800" b="1" dirty="0">
                <a:latin typeface="宋体" panose="02010600030101010101" pitchFamily="2" charset="-122"/>
              </a:rPr>
              <a:t>11E04h</a:t>
            </a:r>
            <a:r>
              <a:rPr lang="zh-CN" altLang="en-US" sz="2800" b="1" dirty="0">
                <a:latin typeface="宋体" panose="02010600030101010101" pitchFamily="2" charset="-122"/>
              </a:rPr>
              <a:t>，并把第</a:t>
            </a:r>
            <a:r>
              <a:rPr lang="en-US" altLang="zh-CN" sz="2800" b="1" dirty="0">
                <a:latin typeface="宋体" panose="02010600030101010101" pitchFamily="2" charset="-122"/>
              </a:rPr>
              <a:t>17</a:t>
            </a:r>
            <a:r>
              <a:rPr lang="zh-CN" altLang="en-US" sz="2800" b="1" dirty="0">
                <a:latin typeface="宋体" panose="02010600030101010101" pitchFamily="2" charset="-122"/>
              </a:rPr>
              <a:t>位舍弃掉，结果为</a:t>
            </a:r>
            <a:r>
              <a:rPr lang="en-US" altLang="zh-CN" sz="2800" b="1" dirty="0">
                <a:latin typeface="宋体" panose="02010600030101010101" pitchFamily="2" charset="-122"/>
              </a:rPr>
              <a:t>1E04h</a:t>
            </a:r>
            <a:r>
              <a:rPr lang="zh-CN" altLang="en-US" sz="2800" b="1" dirty="0">
                <a:latin typeface="宋体" panose="02010600030101010101" pitchFamily="2" charset="-122"/>
              </a:rPr>
              <a:t>。</a:t>
            </a:r>
            <a:r>
              <a:rPr lang="zh-CN" altLang="en-US" sz="1100" b="1" dirty="0"/>
              <a:t> </a:t>
            </a:r>
            <a:endParaRPr lang="zh-CN" altLang="en-US" b="1" dirty="0"/>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12034"/>
                                        </p:tgtEl>
                                        <p:attrNameLst>
                                          <p:attrName>style.visibility</p:attrName>
                                        </p:attrNameLst>
                                      </p:cBhvr>
                                      <p:to>
                                        <p:strVal val="visible"/>
                                      </p:to>
                                    </p:set>
                                    <p:animEffect transition="in" filter="blinds(horizontal)">
                                      <p:cBhvr>
                                        <p:cTn id="7" dur="500"/>
                                        <p:tgtEl>
                                          <p:spTgt spid="812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3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A6CD44A-3DFE-4665-8F9E-491A937AA0D3}" type="slidenum">
              <a:rPr lang="en-US" altLang="zh-CN" sz="1400"/>
              <a:pPr eaLnBrk="1" hangingPunct="1"/>
              <a:t>32</a:t>
            </a:fld>
            <a:endParaRPr lang="en-US" altLang="zh-CN" sz="1400"/>
          </a:p>
        </p:txBody>
      </p:sp>
      <p:sp>
        <p:nvSpPr>
          <p:cNvPr id="813058" name="Rectangle 2"/>
          <p:cNvSpPr>
            <a:spLocks noChangeArrowheads="1"/>
          </p:cNvSpPr>
          <p:nvPr/>
        </p:nvSpPr>
        <p:spPr bwMode="auto">
          <a:xfrm>
            <a:off x="323850" y="1916113"/>
            <a:ext cx="85344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b="1">
                <a:latin typeface="宋体" panose="02010600030101010101" pitchFamily="2" charset="-122"/>
              </a:rPr>
              <a:t>以字长为</a:t>
            </a:r>
            <a:r>
              <a:rPr lang="en-US" altLang="zh-CN" b="1">
                <a:latin typeface="宋体" panose="02010600030101010101" pitchFamily="2" charset="-122"/>
              </a:rPr>
              <a:t>4</a:t>
            </a:r>
            <a:r>
              <a:rPr lang="zh-CN" altLang="en-US" b="1">
                <a:latin typeface="宋体" panose="02010600030101010101" pitchFamily="2" charset="-122"/>
              </a:rPr>
              <a:t>位和</a:t>
            </a:r>
            <a:r>
              <a:rPr lang="en-US" altLang="zh-CN" b="1">
                <a:latin typeface="宋体" panose="02010600030101010101" pitchFamily="2" charset="-122"/>
              </a:rPr>
              <a:t>8</a:t>
            </a:r>
            <a:r>
              <a:rPr lang="zh-CN" altLang="en-US" b="1">
                <a:latin typeface="宋体" panose="02010600030101010101" pitchFamily="2" charset="-122"/>
              </a:rPr>
              <a:t>位累加器为例，先看一个小数乘法的例子。</a:t>
            </a:r>
          </a:p>
          <a:p>
            <a:pPr algn="just" eaLnBrk="1" hangingPunct="1"/>
            <a:r>
              <a:rPr lang="zh-CN" altLang="en-US" b="1">
                <a:latin typeface="宋体" panose="02010600030101010101" pitchFamily="2" charset="-122"/>
              </a:rPr>
              <a:t>       </a:t>
            </a:r>
            <a:r>
              <a:rPr lang="en-US" altLang="zh-CN" b="1">
                <a:latin typeface="宋体" panose="02010600030101010101" pitchFamily="2" charset="-122"/>
              </a:rPr>
              <a:t>0 1 0 0</a:t>
            </a:r>
            <a:r>
              <a:rPr lang="zh-CN" altLang="en-US" b="1">
                <a:latin typeface="宋体" panose="02010600030101010101" pitchFamily="2" charset="-122"/>
              </a:rPr>
              <a:t>（</a:t>
            </a:r>
            <a:r>
              <a:rPr lang="en-US" altLang="zh-CN" b="1">
                <a:solidFill>
                  <a:srgbClr val="FF0000"/>
                </a:solidFill>
                <a:latin typeface="宋体" panose="02010600030101010101" pitchFamily="2" charset="-122"/>
              </a:rPr>
              <a:t>0.5</a:t>
            </a:r>
            <a:r>
              <a:rPr lang="en-US" altLang="zh-CN" b="1">
                <a:latin typeface="宋体" panose="02010600030101010101" pitchFamily="2" charset="-122"/>
              </a:rPr>
              <a:t>→2</a:t>
            </a:r>
            <a:r>
              <a:rPr lang="en-US" altLang="zh-CN" b="1" baseline="30000">
                <a:solidFill>
                  <a:schemeClr val="folHlink"/>
                </a:solidFill>
                <a:latin typeface="宋体" panose="02010600030101010101" pitchFamily="2" charset="-122"/>
              </a:rPr>
              <a:t>3</a:t>
            </a:r>
            <a:r>
              <a:rPr lang="en-US" altLang="zh-CN" b="1">
                <a:latin typeface="宋体" panose="02010600030101010101" pitchFamily="2" charset="-122"/>
              </a:rPr>
              <a:t>×0.5=</a:t>
            </a:r>
            <a:r>
              <a:rPr lang="zh-CN" altLang="en-US" b="1">
                <a:latin typeface="宋体" panose="02010600030101010101" pitchFamily="2" charset="-122"/>
              </a:rPr>
              <a:t>（</a:t>
            </a:r>
            <a:r>
              <a:rPr lang="en-US" altLang="zh-CN" b="1">
                <a:latin typeface="宋体" panose="02010600030101010101" pitchFamily="2" charset="-122"/>
              </a:rPr>
              <a:t>4</a:t>
            </a:r>
            <a:r>
              <a:rPr lang="zh-CN" altLang="en-US" b="1">
                <a:latin typeface="宋体" panose="02010600030101010101" pitchFamily="2" charset="-122"/>
              </a:rPr>
              <a:t>）</a:t>
            </a:r>
            <a:r>
              <a:rPr lang="en-US" altLang="zh-CN" b="1" baseline="-30000">
                <a:latin typeface="宋体" panose="02010600030101010101" pitchFamily="2" charset="-122"/>
              </a:rPr>
              <a:t>10</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0100</a:t>
            </a:r>
            <a:r>
              <a:rPr lang="zh-CN" altLang="en-US" b="1">
                <a:latin typeface="宋体" panose="02010600030101010101" pitchFamily="2" charset="-122"/>
              </a:rPr>
              <a:t>）</a:t>
            </a:r>
            <a:r>
              <a:rPr lang="en-US" altLang="zh-CN" b="1" baseline="-30000">
                <a:latin typeface="宋体" panose="02010600030101010101" pitchFamily="2" charset="-122"/>
              </a:rPr>
              <a:t>2</a:t>
            </a:r>
            <a:r>
              <a:rPr lang="zh-CN" altLang="en-US" b="1">
                <a:latin typeface="宋体" panose="02010600030101010101" pitchFamily="2" charset="-122"/>
              </a:rPr>
              <a:t>）</a:t>
            </a:r>
          </a:p>
          <a:p>
            <a:pPr algn="just" eaLnBrk="1" hangingPunct="1"/>
            <a:r>
              <a:rPr lang="en-US" altLang="zh-CN" b="1" u="sng">
                <a:latin typeface="宋体" panose="02010600030101010101" pitchFamily="2" charset="-122"/>
              </a:rPr>
              <a:t>×     1 1 0 1</a:t>
            </a:r>
            <a:r>
              <a:rPr lang="zh-CN" altLang="en-US" b="1">
                <a:latin typeface="宋体" panose="02010600030101010101" pitchFamily="2" charset="-122"/>
              </a:rPr>
              <a:t>（</a:t>
            </a:r>
            <a:r>
              <a:rPr lang="en-US" altLang="zh-CN" b="1">
                <a:solidFill>
                  <a:srgbClr val="FF0000"/>
                </a:solidFill>
                <a:latin typeface="宋体" panose="02010600030101010101" pitchFamily="2" charset="-122"/>
              </a:rPr>
              <a:t>-0.375</a:t>
            </a:r>
            <a:r>
              <a:rPr lang="en-US" altLang="zh-CN" b="1">
                <a:latin typeface="宋体" panose="02010600030101010101" pitchFamily="2" charset="-122"/>
              </a:rPr>
              <a:t>→2</a:t>
            </a:r>
            <a:r>
              <a:rPr lang="en-US" altLang="zh-CN" b="1" baseline="30000">
                <a:solidFill>
                  <a:schemeClr val="folHlink"/>
                </a:solidFill>
                <a:latin typeface="宋体" panose="02010600030101010101" pitchFamily="2" charset="-122"/>
              </a:rPr>
              <a:t>3</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-0.375</a:t>
            </a:r>
            <a:r>
              <a:rPr lang="zh-CN" altLang="en-US" b="1">
                <a:latin typeface="宋体" panose="02010600030101010101" pitchFamily="2" charset="-122"/>
              </a:rPr>
              <a:t>）</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a:t>
            </a:r>
            <a:r>
              <a:rPr lang="en-US" altLang="zh-CN" b="1" baseline="-30000">
                <a:latin typeface="宋体" panose="02010600030101010101" pitchFamily="2" charset="-122"/>
              </a:rPr>
              <a:t>10</a:t>
            </a:r>
          </a:p>
          <a:p>
            <a:pPr algn="just" eaLnBrk="1" hangingPunct="1"/>
            <a:r>
              <a:rPr lang="en-US" altLang="zh-CN" b="1" baseline="-30000">
                <a:latin typeface="宋体" panose="02010600030101010101" pitchFamily="2" charset="-122"/>
              </a:rPr>
              <a:t>          </a:t>
            </a:r>
            <a:r>
              <a:rPr lang="en-US" altLang="zh-CN" b="1">
                <a:latin typeface="宋体" panose="02010600030101010101" pitchFamily="2" charset="-122"/>
              </a:rPr>
              <a:t>0 1 0 0</a:t>
            </a:r>
            <a:r>
              <a:rPr lang="en-US" altLang="zh-CN" b="1" baseline="-30000">
                <a:latin typeface="宋体" panose="02010600030101010101" pitchFamily="2" charset="-122"/>
              </a:rPr>
              <a:t>                        </a:t>
            </a:r>
            <a:r>
              <a:rPr lang="en-US" altLang="zh-CN" b="1">
                <a:latin typeface="宋体" panose="02010600030101010101" pitchFamily="2" charset="-122"/>
              </a:rPr>
              <a:t>=</a:t>
            </a:r>
            <a:r>
              <a:rPr lang="zh-CN" altLang="en-US" b="1">
                <a:latin typeface="宋体" panose="02010600030101010101" pitchFamily="2" charset="-122"/>
              </a:rPr>
              <a:t>（</a:t>
            </a:r>
            <a:r>
              <a:rPr lang="en-US" altLang="zh-CN" b="1">
                <a:latin typeface="宋体" panose="02010600030101010101" pitchFamily="2" charset="-122"/>
              </a:rPr>
              <a:t>1101</a:t>
            </a:r>
            <a:r>
              <a:rPr lang="zh-CN" altLang="en-US"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r>
              <a:rPr lang="zh-CN" altLang="en-US" b="1"/>
              <a:t>      </a:t>
            </a:r>
          </a:p>
          <a:p>
            <a:pPr algn="just" eaLnBrk="1" hangingPunct="1"/>
            <a:r>
              <a:rPr lang="zh-CN" altLang="en-US" b="1"/>
              <a:t>          </a:t>
            </a:r>
            <a:r>
              <a:rPr lang="en-US" altLang="zh-CN" b="1">
                <a:latin typeface="宋体" panose="02010600030101010101" pitchFamily="2" charset="-122"/>
              </a:rPr>
              <a:t>0 0 0 0</a:t>
            </a:r>
            <a:endParaRPr lang="en-US" altLang="zh-CN" b="1"/>
          </a:p>
          <a:p>
            <a:pPr algn="just" eaLnBrk="1" hangingPunct="1"/>
            <a:r>
              <a:rPr lang="en-US" altLang="zh-CN" b="1">
                <a:latin typeface="宋体" panose="02010600030101010101" pitchFamily="2" charset="-122"/>
              </a:rPr>
              <a:t>   0 1 0 0</a:t>
            </a:r>
            <a:endParaRPr lang="en-US" altLang="zh-CN" b="1"/>
          </a:p>
          <a:p>
            <a:pPr algn="just" eaLnBrk="1" hangingPunct="1"/>
            <a:r>
              <a:rPr lang="en-US" altLang="zh-CN" b="1" u="sng">
                <a:solidFill>
                  <a:srgbClr val="FF00FF"/>
                </a:solidFill>
                <a:latin typeface="宋体" panose="02010600030101010101" pitchFamily="2" charset="-122"/>
              </a:rPr>
              <a:t> 1</a:t>
            </a:r>
            <a:r>
              <a:rPr lang="en-US" altLang="zh-CN" b="1" u="sng">
                <a:latin typeface="宋体" panose="02010600030101010101" pitchFamily="2" charset="-122"/>
              </a:rPr>
              <a:t> 1 0 0       </a:t>
            </a:r>
            <a:r>
              <a:rPr lang="zh-CN" altLang="en-US" b="1" u="sng">
                <a:latin typeface="宋体" panose="02010600030101010101" pitchFamily="2" charset="-122"/>
              </a:rPr>
              <a:t>（</a:t>
            </a:r>
            <a:r>
              <a:rPr lang="en-US" altLang="zh-CN" b="1" u="sng">
                <a:latin typeface="宋体" panose="02010600030101010101" pitchFamily="2" charset="-122"/>
              </a:rPr>
              <a:t>-0100</a:t>
            </a:r>
            <a:r>
              <a:rPr lang="zh-CN" altLang="en-US" b="1" u="sng">
                <a:latin typeface="宋体" panose="02010600030101010101" pitchFamily="2" charset="-122"/>
              </a:rPr>
              <a:t>）</a:t>
            </a:r>
            <a:endParaRPr lang="zh-CN" altLang="en-US" b="1" u="sng"/>
          </a:p>
          <a:p>
            <a:pPr algn="just" eaLnBrk="1" hangingPunct="1"/>
            <a:r>
              <a:rPr lang="en-US" altLang="zh-CN" b="1" u="sng">
                <a:solidFill>
                  <a:srgbClr val="FF0000"/>
                </a:solidFill>
                <a:latin typeface="宋体" panose="02010600030101010101" pitchFamily="2" charset="-122"/>
              </a:rPr>
              <a:t>?</a:t>
            </a:r>
            <a:r>
              <a:rPr lang="en-US" altLang="zh-CN" b="1" u="sng">
                <a:solidFill>
                  <a:srgbClr val="FF00FF"/>
                </a:solidFill>
                <a:latin typeface="宋体" panose="02010600030101010101" pitchFamily="2" charset="-122"/>
              </a:rPr>
              <a:t>1</a:t>
            </a:r>
            <a:r>
              <a:rPr lang="en-US" altLang="zh-CN" b="1" u="sng">
                <a:solidFill>
                  <a:schemeClr val="tx2"/>
                </a:solidFill>
                <a:latin typeface="宋体" panose="02010600030101010101" pitchFamily="2" charset="-122"/>
              </a:rPr>
              <a:t> </a:t>
            </a:r>
            <a:r>
              <a:rPr lang="en-US" altLang="zh-CN" b="1" u="sng">
                <a:latin typeface="宋体" panose="02010600030101010101" pitchFamily="2" charset="-122"/>
              </a:rPr>
              <a:t>1 1</a:t>
            </a:r>
            <a:r>
              <a:rPr lang="en-US" altLang="zh-CN" b="1">
                <a:latin typeface="宋体" panose="02010600030101010101" pitchFamily="2" charset="-122"/>
              </a:rPr>
              <a:t> </a:t>
            </a:r>
            <a:r>
              <a:rPr lang="en-US" altLang="zh-CN" b="1" u="sng">
                <a:latin typeface="宋体" panose="02010600030101010101" pitchFamily="2" charset="-122"/>
              </a:rPr>
              <a:t>0 1 0 0</a:t>
            </a:r>
            <a:r>
              <a:rPr lang="en-US" altLang="zh-CN" b="1">
                <a:latin typeface="宋体" panose="02010600030101010101" pitchFamily="2" charset="-122"/>
              </a:rPr>
              <a:t> </a:t>
            </a:r>
            <a:r>
              <a:rPr lang="zh-CN" altLang="en-US" b="1">
                <a:latin typeface="宋体" panose="02010600030101010101" pitchFamily="2" charset="-122"/>
              </a:rPr>
              <a:t>（</a:t>
            </a:r>
            <a:r>
              <a:rPr lang="en-US" altLang="zh-CN" b="1">
                <a:solidFill>
                  <a:srgbClr val="FF6600"/>
                </a:solidFill>
                <a:latin typeface="宋体" panose="02010600030101010101" pitchFamily="2" charset="-122"/>
              </a:rPr>
              <a:t>-0.1875</a:t>
            </a:r>
            <a:r>
              <a:rPr lang="en-US" altLang="zh-CN" b="1">
                <a:latin typeface="宋体" panose="02010600030101010101" pitchFamily="2" charset="-122"/>
              </a:rPr>
              <a:t>=-12/2</a:t>
            </a:r>
            <a:r>
              <a:rPr lang="en-US" altLang="zh-CN" b="1" baseline="30000">
                <a:solidFill>
                  <a:schemeClr val="folHlink"/>
                </a:solidFill>
                <a:latin typeface="宋体" panose="02010600030101010101" pitchFamily="2" charset="-122"/>
              </a:rPr>
              <a:t>6</a:t>
            </a:r>
            <a:r>
              <a:rPr lang="en-US" altLang="zh-CN" b="1">
                <a:latin typeface="宋体" panose="02010600030101010101" pitchFamily="2" charset="-122"/>
              </a:rPr>
              <a:t>←-12=</a:t>
            </a:r>
            <a:r>
              <a:rPr lang="zh-CN" altLang="en-US" b="1">
                <a:latin typeface="宋体" panose="02010600030101010101" pitchFamily="2" charset="-122"/>
              </a:rPr>
              <a:t>（</a:t>
            </a:r>
            <a:r>
              <a:rPr lang="en-US" altLang="zh-CN" b="1">
                <a:latin typeface="宋体" panose="02010600030101010101" pitchFamily="2" charset="-122"/>
              </a:rPr>
              <a:t>1110100</a:t>
            </a:r>
            <a:r>
              <a:rPr lang="zh-CN" altLang="en-US" b="1">
                <a:latin typeface="宋体" panose="02010600030101010101" pitchFamily="2" charset="-122"/>
              </a:rPr>
              <a:t>）</a:t>
            </a:r>
            <a:r>
              <a:rPr lang="zh-CN" altLang="en-US" b="1" baseline="-30000">
                <a:latin typeface="宋体" panose="02010600030101010101" pitchFamily="2" charset="-122"/>
              </a:rPr>
              <a:t>补</a:t>
            </a:r>
            <a:r>
              <a:rPr lang="zh-CN" altLang="en-US" b="1">
                <a:latin typeface="宋体" panose="02010600030101010101" pitchFamily="2" charset="-122"/>
              </a:rPr>
              <a:t>）</a:t>
            </a:r>
          </a:p>
        </p:txBody>
      </p:sp>
      <p:sp>
        <p:nvSpPr>
          <p:cNvPr id="813059" name="Rectangle 3" descr="小棋盘"/>
          <p:cNvSpPr>
            <a:spLocks noChangeArrowheads="1"/>
          </p:cNvSpPr>
          <p:nvPr/>
        </p:nvSpPr>
        <p:spPr bwMode="auto">
          <a:xfrm>
            <a:off x="1676400" y="1219200"/>
            <a:ext cx="55626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zh-CN" altLang="en-US" sz="3200" b="1">
                <a:solidFill>
                  <a:srgbClr val="FF0000"/>
                </a:solidFill>
                <a:latin typeface="宋体" panose="02010600030101010101" pitchFamily="2" charset="-122"/>
              </a:rPr>
              <a:t>（</a:t>
            </a:r>
            <a:r>
              <a:rPr lang="en-US" altLang="zh-CN" sz="3200" b="1">
                <a:solidFill>
                  <a:srgbClr val="FF0000"/>
                </a:solidFill>
                <a:latin typeface="宋体" panose="02010600030101010101" pitchFamily="2" charset="-122"/>
              </a:rPr>
              <a:t>2</a:t>
            </a:r>
            <a:r>
              <a:rPr lang="zh-CN" altLang="en-US" sz="3200" b="1">
                <a:solidFill>
                  <a:srgbClr val="FF0000"/>
                </a:solidFill>
                <a:latin typeface="宋体" panose="02010600030101010101" pitchFamily="2" charset="-122"/>
              </a:rPr>
              <a:t>）小数乘法与冗余符号位</a:t>
            </a:r>
          </a:p>
        </p:txBody>
      </p:sp>
      <p:sp>
        <p:nvSpPr>
          <p:cNvPr id="46085" name="Rectangle 4"/>
          <p:cNvSpPr>
            <a:spLocks noChangeArrowheads="1"/>
          </p:cNvSpPr>
          <p:nvPr/>
        </p:nvSpPr>
        <p:spPr bwMode="auto">
          <a:xfrm>
            <a:off x="6227763" y="5300663"/>
            <a:ext cx="1260475" cy="11969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latin typeface="宋体" panose="02010600030101010101" pitchFamily="2" charset="-122"/>
              </a:rPr>
              <a:t>0001011</a:t>
            </a:r>
          </a:p>
          <a:p>
            <a:pPr eaLnBrk="1" hangingPunct="1"/>
            <a:r>
              <a:rPr lang="en-US" altLang="zh-CN" b="1" u="sng">
                <a:latin typeface="宋体" panose="02010600030101010101" pitchFamily="2" charset="-122"/>
              </a:rPr>
              <a:t>+     1</a:t>
            </a:r>
          </a:p>
          <a:p>
            <a:pPr eaLnBrk="1" hangingPunct="1"/>
            <a:r>
              <a:rPr lang="en-US" altLang="zh-CN" b="1">
                <a:latin typeface="宋体" panose="02010600030101010101" pitchFamily="2" charset="-122"/>
              </a:rPr>
              <a:t>0001100</a:t>
            </a:r>
          </a:p>
        </p:txBody>
      </p:sp>
      <p:sp>
        <p:nvSpPr>
          <p:cNvPr id="46086" name="Line 5"/>
          <p:cNvSpPr>
            <a:spLocks noChangeShapeType="1"/>
          </p:cNvSpPr>
          <p:nvPr/>
        </p:nvSpPr>
        <p:spPr bwMode="auto">
          <a:xfrm>
            <a:off x="6732588" y="4868863"/>
            <a:ext cx="0" cy="504825"/>
          </a:xfrm>
          <a:prstGeom prst="line">
            <a:avLst/>
          </a:prstGeom>
          <a:noFill/>
          <a:ln w="38100">
            <a:solidFill>
              <a:schemeClr val="bg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87" name="AutoShape 6"/>
          <p:cNvSpPr>
            <a:spLocks noChangeArrowheads="1"/>
          </p:cNvSpPr>
          <p:nvPr/>
        </p:nvSpPr>
        <p:spPr bwMode="auto">
          <a:xfrm>
            <a:off x="900113" y="5445125"/>
            <a:ext cx="1511300" cy="936625"/>
          </a:xfrm>
          <a:prstGeom prst="wedgeRectCallout">
            <a:avLst>
              <a:gd name="adj1" fmla="val -64074"/>
              <a:gd name="adj2" fmla="val -110000"/>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p>
        </p:txBody>
      </p:sp>
      <p:sp>
        <p:nvSpPr>
          <p:cNvPr id="46088" name="Text Box 7"/>
          <p:cNvSpPr txBox="1">
            <a:spLocks noChangeArrowheads="1"/>
          </p:cNvSpPr>
          <p:nvPr/>
        </p:nvSpPr>
        <p:spPr bwMode="auto">
          <a:xfrm>
            <a:off x="1187450" y="5516563"/>
            <a:ext cx="86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FF"/>
                </a:solidFill>
              </a:rPr>
              <a:t>保留符号</a:t>
            </a:r>
          </a:p>
        </p:txBody>
      </p:sp>
      <p:sp>
        <p:nvSpPr>
          <p:cNvPr id="46089" name="Line 8"/>
          <p:cNvSpPr>
            <a:spLocks noChangeShapeType="1"/>
          </p:cNvSpPr>
          <p:nvPr/>
        </p:nvSpPr>
        <p:spPr bwMode="auto">
          <a:xfrm>
            <a:off x="4140200" y="3068638"/>
            <a:ext cx="719138" cy="1512887"/>
          </a:xfrm>
          <a:prstGeom prst="line">
            <a:avLst/>
          </a:prstGeom>
          <a:noFill/>
          <a:ln w="28575">
            <a:solidFill>
              <a:schemeClr val="folHlink"/>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90" name="Rectangle 9"/>
          <p:cNvSpPr>
            <a:spLocks noChangeArrowheads="1"/>
          </p:cNvSpPr>
          <p:nvPr/>
        </p:nvSpPr>
        <p:spPr bwMode="auto">
          <a:xfrm>
            <a:off x="4572000" y="3500438"/>
            <a:ext cx="955675" cy="46672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latin typeface="宋体" panose="02010600030101010101" pitchFamily="2" charset="-122"/>
              </a:rPr>
              <a:t>3+3=6</a:t>
            </a:r>
          </a:p>
        </p:txBody>
      </p:sp>
      <p:sp>
        <p:nvSpPr>
          <p:cNvPr id="46091" name="Line 10"/>
          <p:cNvSpPr>
            <a:spLocks noChangeShapeType="1"/>
          </p:cNvSpPr>
          <p:nvPr/>
        </p:nvSpPr>
        <p:spPr bwMode="auto">
          <a:xfrm>
            <a:off x="6804025" y="4941888"/>
            <a:ext cx="0" cy="287337"/>
          </a:xfrm>
          <a:prstGeom prst="line">
            <a:avLst/>
          </a:prstGeom>
          <a:noFill/>
          <a:ln w="3810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92" name="Line 11"/>
          <p:cNvSpPr>
            <a:spLocks noChangeShapeType="1"/>
          </p:cNvSpPr>
          <p:nvPr/>
        </p:nvSpPr>
        <p:spPr bwMode="auto">
          <a:xfrm>
            <a:off x="5651500" y="5997575"/>
            <a:ext cx="360363"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093" name="Line 12"/>
          <p:cNvSpPr>
            <a:spLocks noChangeShapeType="1"/>
          </p:cNvSpPr>
          <p:nvPr/>
        </p:nvSpPr>
        <p:spPr bwMode="auto">
          <a:xfrm flipV="1">
            <a:off x="5651500" y="5013325"/>
            <a:ext cx="0" cy="1008063"/>
          </a:xfrm>
          <a:prstGeom prst="line">
            <a:avLst/>
          </a:prstGeom>
          <a:noFill/>
          <a:ln w="38100">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94" name="Rectangle 13"/>
          <p:cNvSpPr>
            <a:spLocks noChangeArrowheads="1"/>
          </p:cNvSpPr>
          <p:nvPr/>
        </p:nvSpPr>
        <p:spPr bwMode="auto">
          <a:xfrm>
            <a:off x="2916238" y="5300663"/>
            <a:ext cx="1412875" cy="11969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latin typeface="宋体" panose="02010600030101010101" pitchFamily="2" charset="-122"/>
              </a:rPr>
              <a:t>     </a:t>
            </a:r>
            <a:r>
              <a:rPr lang="en-US" altLang="zh-CN" b="1">
                <a:solidFill>
                  <a:srgbClr val="FF0000"/>
                </a:solidFill>
                <a:latin typeface="宋体" panose="02010600030101010101" pitchFamily="2" charset="-122"/>
              </a:rPr>
              <a:t>0.5</a:t>
            </a:r>
          </a:p>
          <a:p>
            <a:pPr eaLnBrk="1" hangingPunct="1"/>
            <a:r>
              <a:rPr lang="en-US" altLang="zh-CN" b="1" u="sng"/>
              <a:t>×</a:t>
            </a:r>
            <a:r>
              <a:rPr lang="en-US" altLang="zh-CN" b="1" u="sng">
                <a:latin typeface="宋体" panose="02010600030101010101" pitchFamily="2" charset="-122"/>
              </a:rPr>
              <a:t> </a:t>
            </a:r>
            <a:r>
              <a:rPr lang="en-US" altLang="zh-CN" b="1" u="sng">
                <a:solidFill>
                  <a:srgbClr val="FF0000"/>
                </a:solidFill>
                <a:latin typeface="宋体" panose="02010600030101010101" pitchFamily="2" charset="-122"/>
              </a:rPr>
              <a:t>0.375</a:t>
            </a:r>
          </a:p>
          <a:p>
            <a:pPr eaLnBrk="1" hangingPunct="1"/>
            <a:r>
              <a:rPr lang="en-US" altLang="zh-CN" b="1">
                <a:solidFill>
                  <a:srgbClr val="FF6600"/>
                </a:solidFill>
              </a:rPr>
              <a:t>     0.1875</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13059"/>
                                        </p:tgtEl>
                                        <p:attrNameLst>
                                          <p:attrName>style.visibility</p:attrName>
                                        </p:attrNameLst>
                                      </p:cBhvr>
                                      <p:to>
                                        <p:strVal val="visible"/>
                                      </p:to>
                                    </p:set>
                                    <p:animEffect transition="in" filter="slide(fromTop)">
                                      <p:cBhvr>
                                        <p:cTn id="7" dur="500"/>
                                        <p:tgtEl>
                                          <p:spTgt spid="81305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13058"/>
                                        </p:tgtEl>
                                        <p:attrNameLst>
                                          <p:attrName>style.visibility</p:attrName>
                                        </p:attrNameLst>
                                      </p:cBhvr>
                                      <p:to>
                                        <p:strVal val="visible"/>
                                      </p:to>
                                    </p:set>
                                    <p:animEffect transition="in" filter="blinds(horizontal)">
                                      <p:cBhvr>
                                        <p:cTn id="11" dur="500"/>
                                        <p:tgtEl>
                                          <p:spTgt spid="813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058" grpId="0"/>
      <p:bldP spid="81305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CD81E69-76E3-4E0B-984B-DA03AB74295D}" type="slidenum">
              <a:rPr lang="en-US" altLang="zh-CN" sz="1400"/>
              <a:pPr eaLnBrk="1" hangingPunct="1"/>
              <a:t>33</a:t>
            </a:fld>
            <a:endParaRPr lang="en-US" altLang="zh-CN" sz="1400"/>
          </a:p>
        </p:txBody>
      </p:sp>
      <p:sp>
        <p:nvSpPr>
          <p:cNvPr id="814082" name="Rectangle 2"/>
          <p:cNvSpPr>
            <a:spLocks noChangeArrowheads="1"/>
          </p:cNvSpPr>
          <p:nvPr/>
        </p:nvSpPr>
        <p:spPr bwMode="auto">
          <a:xfrm>
            <a:off x="381000" y="1219200"/>
            <a:ext cx="83820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8418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上述乘积是</a:t>
            </a:r>
            <a:r>
              <a:rPr lang="en-US" altLang="zh-CN" sz="2800" b="1">
                <a:latin typeface="宋体" panose="02010600030101010101" pitchFamily="2" charset="-122"/>
              </a:rPr>
              <a:t>7</a:t>
            </a:r>
            <a:r>
              <a:rPr lang="zh-CN" altLang="en-US" sz="2800" b="1">
                <a:latin typeface="宋体" panose="02010600030101010101" pitchFamily="2" charset="-122"/>
              </a:rPr>
              <a:t>位，当将其送到</a:t>
            </a:r>
            <a:r>
              <a:rPr lang="en-US" altLang="zh-CN" sz="2800" b="1">
                <a:latin typeface="宋体" panose="02010600030101010101" pitchFamily="2" charset="-122"/>
              </a:rPr>
              <a:t>8</a:t>
            </a:r>
            <a:r>
              <a:rPr lang="zh-CN" altLang="en-US" sz="2800" b="1">
                <a:latin typeface="宋体" panose="02010600030101010101" pitchFamily="2" charset="-122"/>
              </a:rPr>
              <a:t>位累加器时，为保持乘积的符号，必须进行符号位扩展，这样，累加器中的值为</a:t>
            </a:r>
            <a:r>
              <a:rPr lang="en-US" altLang="zh-CN" sz="2800" b="1">
                <a:latin typeface="宋体" panose="02010600030101010101" pitchFamily="2" charset="-122"/>
              </a:rPr>
              <a:t>11110100</a:t>
            </a:r>
            <a:r>
              <a:rPr lang="zh-CN" altLang="en-US" sz="2800" b="1">
                <a:latin typeface="宋体" panose="02010600030101010101" pitchFamily="2" charset="-122"/>
              </a:rPr>
              <a:t>（</a:t>
            </a:r>
            <a:r>
              <a:rPr lang="en-US" altLang="zh-CN" sz="2800" b="1">
                <a:latin typeface="宋体" panose="02010600030101010101" pitchFamily="2" charset="-122"/>
              </a:rPr>
              <a:t>-0.09375=-12/2</a:t>
            </a:r>
            <a:r>
              <a:rPr lang="en-US" altLang="zh-CN" sz="2800" b="1" baseline="30000">
                <a:latin typeface="宋体" panose="02010600030101010101" pitchFamily="2" charset="-122"/>
              </a:rPr>
              <a:t>7</a:t>
            </a:r>
            <a:r>
              <a:rPr lang="zh-CN" altLang="en-US" sz="2800" b="1">
                <a:latin typeface="宋体" panose="02010600030101010101" pitchFamily="2" charset="-122"/>
              </a:rPr>
              <a:t>），出现了冗余符号位。原因是：</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S x x x   </a:t>
            </a:r>
            <a:r>
              <a:rPr lang="zh-CN" altLang="en-US" sz="2800" b="1">
                <a:latin typeface="宋体" panose="02010600030101010101" pitchFamily="2" charset="-122"/>
              </a:rPr>
              <a:t>（</a:t>
            </a:r>
            <a:r>
              <a:rPr lang="en-US" altLang="zh-CN" sz="2800" b="1">
                <a:latin typeface="宋体" panose="02010600030101010101" pitchFamily="2" charset="-122"/>
              </a:rPr>
              <a:t>Q3</a:t>
            </a:r>
            <a:r>
              <a:rPr lang="zh-CN" altLang="en-US" sz="2800" b="1">
                <a:latin typeface="宋体" panose="02010600030101010101" pitchFamily="2" charset="-122"/>
              </a:rPr>
              <a:t>）</a:t>
            </a:r>
            <a:endParaRPr lang="zh-CN" altLang="en-US" sz="2800" b="1"/>
          </a:p>
          <a:p>
            <a:pPr algn="just"/>
            <a:r>
              <a:rPr lang="zh-CN" altLang="en-US" sz="2800" b="1" u="sng">
                <a:latin typeface="宋体" panose="02010600030101010101" pitchFamily="2" charset="-122"/>
              </a:rPr>
              <a:t>  </a:t>
            </a:r>
            <a:r>
              <a:rPr lang="en-US" altLang="zh-CN" sz="2800" b="1" u="sng">
                <a:latin typeface="宋体" panose="02010600030101010101" pitchFamily="2" charset="-122"/>
              </a:rPr>
              <a:t>×    S y y y   </a:t>
            </a:r>
            <a:r>
              <a:rPr lang="zh-CN" altLang="en-US" sz="2800" b="1" u="sng">
                <a:latin typeface="宋体" panose="02010600030101010101" pitchFamily="2" charset="-122"/>
              </a:rPr>
              <a:t>（</a:t>
            </a:r>
            <a:r>
              <a:rPr lang="en-US" altLang="zh-CN" sz="2800" b="1" u="sng">
                <a:latin typeface="宋体" panose="02010600030101010101" pitchFamily="2" charset="-122"/>
              </a:rPr>
              <a:t>Q3</a:t>
            </a:r>
            <a:r>
              <a:rPr lang="zh-CN" altLang="en-US" sz="2800" b="1" u="sng">
                <a:latin typeface="宋体" panose="02010600030101010101" pitchFamily="2" charset="-122"/>
              </a:rPr>
              <a:t>）</a:t>
            </a:r>
            <a:endParaRPr lang="zh-CN" altLang="en-US" sz="2800" b="1" u="sng"/>
          </a:p>
          <a:p>
            <a:pPr algn="just"/>
            <a:r>
              <a:rPr lang="en-US" altLang="zh-CN" sz="2800" b="1" u="sng">
                <a:solidFill>
                  <a:srgbClr val="FF0000"/>
                </a:solidFill>
                <a:latin typeface="宋体" panose="02010600030101010101" pitchFamily="2" charset="-122"/>
              </a:rPr>
              <a:t>S</a:t>
            </a:r>
            <a:r>
              <a:rPr lang="en-US" altLang="zh-CN" sz="2800" b="1" u="sng">
                <a:latin typeface="宋体" panose="02010600030101010101" pitchFamily="2" charset="-122"/>
              </a:rPr>
              <a:t> S z z</a:t>
            </a:r>
            <a:r>
              <a:rPr lang="en-US" altLang="zh-CN" sz="2800" b="1">
                <a:latin typeface="宋体" panose="02010600030101010101" pitchFamily="2" charset="-122"/>
              </a:rPr>
              <a:t> </a:t>
            </a:r>
            <a:r>
              <a:rPr lang="en-US" altLang="zh-CN" sz="2800" b="1" u="sng">
                <a:latin typeface="宋体" panose="02010600030101010101" pitchFamily="2" charset="-122"/>
              </a:rPr>
              <a:t>z z z z</a:t>
            </a:r>
            <a:r>
              <a:rPr lang="en-US" altLang="zh-CN" sz="2800" b="1">
                <a:latin typeface="宋体" panose="02010600030101010101" pitchFamily="2" charset="-122"/>
              </a:rPr>
              <a:t>   </a:t>
            </a:r>
            <a:r>
              <a:rPr lang="zh-CN" altLang="en-US" sz="2800" b="1">
                <a:latin typeface="宋体" panose="02010600030101010101" pitchFamily="2" charset="-122"/>
              </a:rPr>
              <a:t>（</a:t>
            </a:r>
            <a:r>
              <a:rPr lang="en-US" altLang="zh-CN" sz="2800" b="1">
                <a:latin typeface="宋体" panose="02010600030101010101" pitchFamily="2" charset="-122"/>
              </a:rPr>
              <a:t>Q6</a:t>
            </a:r>
            <a:r>
              <a:rPr lang="zh-CN" altLang="en-US" sz="2800" b="1">
                <a:latin typeface="宋体" panose="02010600030101010101" pitchFamily="2" charset="-122"/>
              </a:rPr>
              <a:t>格式）</a:t>
            </a:r>
            <a:endParaRPr lang="zh-CN" altLang="en-US" sz="2800" b="1"/>
          </a:p>
          <a:p>
            <a:pPr algn="just"/>
            <a:r>
              <a:rPr lang="zh-CN" altLang="en-US" sz="2800" b="1">
                <a:solidFill>
                  <a:srgbClr val="FF00FF"/>
                </a:solidFill>
                <a:latin typeface="宋体" panose="02010600030101010101" pitchFamily="2" charset="-122"/>
              </a:rPr>
              <a:t>即两个带符号数相乘，得到的乘积带有</a:t>
            </a:r>
            <a:r>
              <a:rPr lang="en-US" altLang="zh-CN" sz="2800" b="1">
                <a:solidFill>
                  <a:srgbClr val="FF00FF"/>
                </a:solidFill>
                <a:latin typeface="宋体" panose="02010600030101010101" pitchFamily="2" charset="-122"/>
              </a:rPr>
              <a:t>2</a:t>
            </a:r>
            <a:r>
              <a:rPr lang="zh-CN" altLang="en-US" sz="2800" b="1">
                <a:solidFill>
                  <a:srgbClr val="FF00FF"/>
                </a:solidFill>
                <a:latin typeface="宋体" panose="02010600030101010101" pitchFamily="2" charset="-122"/>
              </a:rPr>
              <a:t>个符号位，造成错误的结果。</a:t>
            </a:r>
          </a:p>
          <a:p>
            <a:pPr algn="just"/>
            <a:r>
              <a:rPr lang="zh-CN" altLang="en-US" sz="2800" b="1">
                <a:latin typeface="宋体" panose="02010600030101010101" pitchFamily="2" charset="-122"/>
              </a:rPr>
              <a:t>同样，</a:t>
            </a:r>
            <a:r>
              <a:rPr lang="zh-CN" altLang="en-US" sz="2800" b="1">
                <a:solidFill>
                  <a:srgbClr val="FF6600"/>
                </a:solidFill>
                <a:latin typeface="宋体" panose="02010600030101010101" pitchFamily="2" charset="-122"/>
              </a:rPr>
              <a:t>对于两个十六位数相乘，乘积只有</a:t>
            </a:r>
            <a:r>
              <a:rPr lang="en-US" altLang="zh-CN" sz="2800" b="1">
                <a:solidFill>
                  <a:srgbClr val="FF6600"/>
                </a:solidFill>
                <a:latin typeface="宋体" panose="02010600030101010101" pitchFamily="2" charset="-122"/>
              </a:rPr>
              <a:t>30</a:t>
            </a:r>
            <a:r>
              <a:rPr lang="zh-CN" altLang="en-US" sz="2800" b="1">
                <a:solidFill>
                  <a:srgbClr val="FF6600"/>
                </a:solidFill>
                <a:latin typeface="宋体" panose="02010600030101010101" pitchFamily="2" charset="-122"/>
              </a:rPr>
              <a:t>位，在最高的两位也是符号位，同样会造成错误的结果。</a:t>
            </a:r>
          </a:p>
        </p:txBody>
      </p:sp>
      <p:sp>
        <p:nvSpPr>
          <p:cNvPr id="47108" name="Rectangle 3"/>
          <p:cNvSpPr>
            <a:spLocks noChangeArrowheads="1"/>
          </p:cNvSpPr>
          <p:nvPr/>
        </p:nvSpPr>
        <p:spPr bwMode="auto">
          <a:xfrm>
            <a:off x="6300788" y="3041650"/>
            <a:ext cx="2357437" cy="528638"/>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0000"/>
                </a:solidFill>
              </a:rPr>
              <a:t>不等于</a:t>
            </a:r>
            <a:r>
              <a:rPr lang="en-US" altLang="zh-CN" sz="2800" b="1">
                <a:solidFill>
                  <a:srgbClr val="FF0000"/>
                </a:solidFill>
              </a:rPr>
              <a:t>-0.1875</a:t>
            </a:r>
          </a:p>
        </p:txBody>
      </p:sp>
      <p:sp>
        <p:nvSpPr>
          <p:cNvPr id="47109" name="Line 4"/>
          <p:cNvSpPr>
            <a:spLocks noChangeShapeType="1"/>
          </p:cNvSpPr>
          <p:nvPr/>
        </p:nvSpPr>
        <p:spPr bwMode="auto">
          <a:xfrm>
            <a:off x="6011863" y="2565400"/>
            <a:ext cx="288925" cy="43180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7110" name="Rectangle 5"/>
          <p:cNvSpPr>
            <a:spLocks noChangeArrowheads="1"/>
          </p:cNvSpPr>
          <p:nvPr/>
        </p:nvSpPr>
        <p:spPr bwMode="auto">
          <a:xfrm>
            <a:off x="250825" y="3068638"/>
            <a:ext cx="904875" cy="528637"/>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0000"/>
                </a:solidFill>
              </a:rPr>
              <a:t>添加</a:t>
            </a:r>
          </a:p>
        </p:txBody>
      </p:sp>
      <p:sp>
        <p:nvSpPr>
          <p:cNvPr id="47111" name="Line 6"/>
          <p:cNvSpPr>
            <a:spLocks noChangeShapeType="1"/>
          </p:cNvSpPr>
          <p:nvPr/>
        </p:nvSpPr>
        <p:spPr bwMode="auto">
          <a:xfrm>
            <a:off x="539750" y="3644900"/>
            <a:ext cx="288925" cy="431800"/>
          </a:xfrm>
          <a:prstGeom prst="line">
            <a:avLst/>
          </a:prstGeom>
          <a:noFill/>
          <a:ln w="952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14082"/>
                                        </p:tgtEl>
                                        <p:attrNameLst>
                                          <p:attrName>style.visibility</p:attrName>
                                        </p:attrNameLst>
                                      </p:cBhvr>
                                      <p:to>
                                        <p:strVal val="visible"/>
                                      </p:to>
                                    </p:set>
                                    <p:animEffect transition="in" filter="blinds(horizontal)">
                                      <p:cBhvr>
                                        <p:cTn id="7" dur="500"/>
                                        <p:tgtEl>
                                          <p:spTgt spid="814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08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4E4FCC1-8ED4-4BEB-91A2-EAB959CB9A1E}" type="slidenum">
              <a:rPr lang="en-US" altLang="zh-CN" sz="1400"/>
              <a:pPr eaLnBrk="1" hangingPunct="1"/>
              <a:t>34</a:t>
            </a:fld>
            <a:endParaRPr lang="en-US" altLang="zh-CN" sz="1400"/>
          </a:p>
        </p:txBody>
      </p:sp>
      <p:sp>
        <p:nvSpPr>
          <p:cNvPr id="815106" name="Rectangle 2"/>
          <p:cNvSpPr>
            <a:spLocks noChangeArrowheads="1"/>
          </p:cNvSpPr>
          <p:nvPr/>
        </p:nvSpPr>
        <p:spPr bwMode="auto">
          <a:xfrm>
            <a:off x="228600" y="1295400"/>
            <a:ext cx="86106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rgbClr val="FF00FF"/>
                </a:solidFill>
                <a:latin typeface="宋体" panose="02010600030101010101" pitchFamily="2" charset="-122"/>
              </a:rPr>
              <a:t>解决冗余符号的办法是：在程序中设定状态寄存器</a:t>
            </a:r>
            <a:r>
              <a:rPr lang="en-US" altLang="zh-CN" sz="2800" b="1">
                <a:solidFill>
                  <a:srgbClr val="FF00FF"/>
                </a:solidFill>
                <a:latin typeface="宋体" panose="02010600030101010101" pitchFamily="2" charset="-122"/>
              </a:rPr>
              <a:t>ST1</a:t>
            </a:r>
            <a:r>
              <a:rPr lang="zh-CN" altLang="en-US" sz="2800" b="1">
                <a:solidFill>
                  <a:srgbClr val="FF00FF"/>
                </a:solidFill>
                <a:latin typeface="宋体" panose="02010600030101010101" pitchFamily="2" charset="-122"/>
              </a:rPr>
              <a:t>中的</a:t>
            </a:r>
            <a:r>
              <a:rPr lang="en-US" altLang="zh-CN" sz="2800" b="1">
                <a:solidFill>
                  <a:schemeClr val="tx2"/>
                </a:solidFill>
                <a:latin typeface="宋体" panose="02010600030101010101" pitchFamily="2" charset="-122"/>
              </a:rPr>
              <a:t>FRCT</a:t>
            </a:r>
            <a:r>
              <a:rPr lang="zh-CN" altLang="en-US" sz="2800" b="1">
                <a:solidFill>
                  <a:srgbClr val="FF00FF"/>
                </a:solidFill>
                <a:latin typeface="宋体" panose="02010600030101010101" pitchFamily="2" charset="-122"/>
              </a:rPr>
              <a:t>（小数方式）位</a:t>
            </a:r>
            <a:r>
              <a:rPr lang="en-US" altLang="zh-CN" sz="2800" b="1">
                <a:solidFill>
                  <a:srgbClr val="FF00FF"/>
                </a:solidFill>
                <a:latin typeface="宋体" panose="02010600030101010101" pitchFamily="2" charset="-122"/>
              </a:rPr>
              <a:t>1</a:t>
            </a:r>
            <a:r>
              <a:rPr lang="zh-CN" altLang="en-US" sz="2800" b="1">
                <a:solidFill>
                  <a:srgbClr val="FF00FF"/>
                </a:solidFill>
                <a:latin typeface="宋体" panose="02010600030101010101" pitchFamily="2" charset="-122"/>
              </a:rPr>
              <a:t>，在乘法器将结果传送至累加器时就能自动地左移</a:t>
            </a:r>
            <a:r>
              <a:rPr lang="en-US" altLang="zh-CN" sz="2800" b="1">
                <a:solidFill>
                  <a:srgbClr val="FF00FF"/>
                </a:solidFill>
                <a:latin typeface="宋体" panose="02010600030101010101" pitchFamily="2" charset="-122"/>
              </a:rPr>
              <a:t>1</a:t>
            </a:r>
            <a:r>
              <a:rPr lang="zh-CN" altLang="en-US" sz="2800" b="1">
                <a:solidFill>
                  <a:srgbClr val="FF00FF"/>
                </a:solidFill>
                <a:latin typeface="宋体" panose="02010600030101010101" pitchFamily="2" charset="-122"/>
              </a:rPr>
              <a:t>位，</a:t>
            </a:r>
            <a:r>
              <a:rPr lang="zh-CN" altLang="en-US" sz="2800" b="1">
                <a:latin typeface="宋体" panose="02010600030101010101" pitchFamily="2" charset="-122"/>
              </a:rPr>
              <a:t>累加器中的结果为：Ｓ</a:t>
            </a:r>
            <a:r>
              <a:rPr lang="en-US" altLang="zh-CN" sz="2800" b="1">
                <a:latin typeface="宋体" panose="02010600030101010101" pitchFamily="2" charset="-122"/>
              </a:rPr>
              <a:t>zzzzzz0</a:t>
            </a:r>
            <a:r>
              <a:rPr lang="zh-CN" altLang="en-US" sz="2800" b="1">
                <a:latin typeface="宋体" panose="02010600030101010101" pitchFamily="2" charset="-122"/>
              </a:rPr>
              <a:t>（</a:t>
            </a:r>
            <a:r>
              <a:rPr lang="en-US" altLang="zh-CN" sz="2800" b="1">
                <a:latin typeface="宋体" panose="02010600030101010101" pitchFamily="2" charset="-122"/>
              </a:rPr>
              <a:t>Q7</a:t>
            </a:r>
            <a:r>
              <a:rPr lang="zh-CN" altLang="en-US" sz="2800" b="1">
                <a:latin typeface="宋体" panose="02010600030101010101" pitchFamily="2" charset="-122"/>
              </a:rPr>
              <a:t>格式），即</a:t>
            </a:r>
            <a:r>
              <a:rPr lang="en-US" altLang="zh-CN" sz="2800" b="1">
                <a:latin typeface="宋体" panose="02010600030101010101" pitchFamily="2" charset="-122"/>
              </a:rPr>
              <a:t>11101000</a:t>
            </a:r>
            <a:r>
              <a:rPr lang="zh-CN" altLang="en-US" sz="2800" b="1">
                <a:latin typeface="宋体" panose="02010600030101010101" pitchFamily="2" charset="-122"/>
              </a:rPr>
              <a:t>（</a:t>
            </a:r>
            <a:r>
              <a:rPr lang="en-US" altLang="zh-CN" sz="2800" b="1">
                <a:latin typeface="宋体" panose="02010600030101010101" pitchFamily="2" charset="-122"/>
              </a:rPr>
              <a:t>-0.1875=-24/2</a:t>
            </a:r>
            <a:r>
              <a:rPr lang="en-US" altLang="zh-CN" sz="2800" b="1" baseline="30000">
                <a:latin typeface="宋体" panose="02010600030101010101" pitchFamily="2" charset="-122"/>
              </a:rPr>
              <a:t>7</a:t>
            </a:r>
            <a:r>
              <a:rPr lang="en-US" altLang="zh-CN" sz="2800" b="1">
                <a:latin typeface="宋体" panose="02010600030101010101" pitchFamily="2" charset="-122"/>
              </a:rPr>
              <a:t>←-24=</a:t>
            </a:r>
            <a:r>
              <a:rPr lang="zh-CN" altLang="en-US" sz="2800" b="1">
                <a:latin typeface="宋体" panose="02010600030101010101" pitchFamily="2" charset="-122"/>
              </a:rPr>
              <a:t>（</a:t>
            </a:r>
            <a:r>
              <a:rPr lang="en-US" altLang="zh-CN" sz="2800" b="1">
                <a:latin typeface="宋体" panose="02010600030101010101" pitchFamily="2" charset="-122"/>
              </a:rPr>
              <a:t>11101000</a:t>
            </a:r>
            <a:r>
              <a:rPr lang="zh-CN" altLang="en-US" sz="2800" b="1">
                <a:latin typeface="宋体" panose="02010600030101010101" pitchFamily="2" charset="-122"/>
              </a:rPr>
              <a:t>）</a:t>
            </a:r>
            <a:r>
              <a:rPr lang="zh-CN" altLang="en-US" sz="2800" b="1" baseline="-30000">
                <a:latin typeface="宋体" panose="02010600030101010101" pitchFamily="2" charset="-122"/>
              </a:rPr>
              <a:t>补</a:t>
            </a:r>
            <a:r>
              <a:rPr lang="zh-CN" altLang="en-US" sz="2800" b="1">
                <a:latin typeface="宋体" panose="02010600030101010101" pitchFamily="2" charset="-122"/>
              </a:rPr>
              <a:t>），自动地消去了两个带符号数相乘时产生的冗余符号位。所以在小数乘法编程时，应当事先设置</a:t>
            </a:r>
            <a:r>
              <a:rPr lang="en-US" altLang="zh-CN" sz="2800" b="1">
                <a:latin typeface="宋体" panose="02010600030101010101" pitchFamily="2" charset="-122"/>
              </a:rPr>
              <a:t>FRCT</a:t>
            </a:r>
            <a:r>
              <a:rPr lang="zh-CN" altLang="en-US" sz="2800" b="1">
                <a:latin typeface="宋体" panose="02010600030101010101" pitchFamily="2" charset="-122"/>
              </a:rPr>
              <a:t>位：</a:t>
            </a:r>
            <a:endParaRPr lang="zh-CN" altLang="en-US" sz="2800" b="1"/>
          </a:p>
          <a:p>
            <a:pPr algn="just"/>
            <a:r>
              <a:rPr lang="zh-CN" altLang="en-US" sz="2800" b="1">
                <a:latin typeface="宋体" panose="02010600030101010101" pitchFamily="2" charset="-122"/>
              </a:rPr>
              <a:t>　　</a:t>
            </a:r>
            <a:r>
              <a:rPr lang="en-US" altLang="zh-CN" sz="2800" b="1">
                <a:solidFill>
                  <a:schemeClr val="tx2"/>
                </a:solidFill>
                <a:latin typeface="宋体" panose="02010600030101010101" pitchFamily="2" charset="-122"/>
              </a:rPr>
              <a:t>SSBX    FRCT</a:t>
            </a:r>
            <a:endParaRPr lang="en-US" altLang="zh-CN" sz="2800" b="1">
              <a:solidFill>
                <a:schemeClr val="tx2"/>
              </a:solidFill>
            </a:endParaRPr>
          </a:p>
          <a:p>
            <a:pPr algn="just"/>
            <a:r>
              <a:rPr lang="zh-CN" altLang="en-US" sz="2800" b="1">
                <a:latin typeface="宋体" panose="02010600030101010101" pitchFamily="2" charset="-122"/>
              </a:rPr>
              <a:t>　　</a:t>
            </a:r>
            <a:r>
              <a:rPr lang="en-US" altLang="zh-CN" sz="2800" b="1"/>
              <a:t>…</a:t>
            </a:r>
            <a:r>
              <a:rPr lang="en-US" altLang="zh-CN" sz="2800" b="1">
                <a:latin typeface="宋体" panose="02010600030101010101" pitchFamily="2" charset="-122"/>
              </a:rPr>
              <a:t>     </a:t>
            </a:r>
            <a:endParaRPr lang="en-US" altLang="zh-CN" sz="2800" b="1"/>
          </a:p>
          <a:p>
            <a:pPr algn="just"/>
            <a:r>
              <a:rPr lang="zh-CN" altLang="en-US" sz="2800" b="1">
                <a:latin typeface="宋体" panose="02010600030101010101" pitchFamily="2" charset="-122"/>
              </a:rPr>
              <a:t>　　</a:t>
            </a:r>
            <a:r>
              <a:rPr lang="en-US" altLang="zh-CN" sz="2800" b="1">
                <a:latin typeface="宋体" panose="02010600030101010101" pitchFamily="2" charset="-122"/>
              </a:rPr>
              <a:t>MPY     *AR2,*AR3,A</a:t>
            </a:r>
            <a:endParaRPr lang="en-US" altLang="zh-CN" sz="2800" b="1"/>
          </a:p>
          <a:p>
            <a:pPr algn="just"/>
            <a:r>
              <a:rPr lang="zh-CN" altLang="en-US" sz="2800" b="1">
                <a:latin typeface="宋体" panose="02010600030101010101" pitchFamily="2" charset="-122"/>
              </a:rPr>
              <a:t>　　</a:t>
            </a:r>
            <a:r>
              <a:rPr lang="en-US" altLang="zh-CN" sz="2800" b="1">
                <a:latin typeface="宋体" panose="02010600030101010101" pitchFamily="2" charset="-122"/>
              </a:rPr>
              <a:t>STH     A,@Z</a:t>
            </a:r>
            <a:endParaRPr lang="en-US" altLang="zh-CN" sz="2800" b="1"/>
          </a:p>
          <a:p>
            <a:pPr algn="just"/>
            <a:r>
              <a:rPr lang="zh-CN" altLang="en-US" sz="2800" b="1">
                <a:latin typeface="宋体" panose="02010600030101010101" pitchFamily="2" charset="-122"/>
              </a:rPr>
              <a:t>这样，</a:t>
            </a:r>
            <a:r>
              <a:rPr lang="en-US" altLang="zh-CN" sz="2800" b="1">
                <a:latin typeface="宋体" panose="02010600030101010101" pitchFamily="2" charset="-122"/>
              </a:rPr>
              <a:t>C54x</a:t>
            </a:r>
            <a:r>
              <a:rPr lang="zh-CN" altLang="en-US" sz="2800" b="1">
                <a:latin typeface="宋体" panose="02010600030101010101" pitchFamily="2" charset="-122"/>
              </a:rPr>
              <a:t>就完成了</a:t>
            </a:r>
            <a:r>
              <a:rPr lang="en-US" altLang="zh-CN" sz="2800" b="1">
                <a:latin typeface="宋体" panose="02010600030101010101" pitchFamily="2" charset="-122"/>
              </a:rPr>
              <a:t>Q15*Q15=Q15</a:t>
            </a:r>
            <a:r>
              <a:rPr lang="zh-CN" altLang="en-US" sz="2800" b="1">
                <a:latin typeface="宋体" panose="02010600030101010101" pitchFamily="2" charset="-122"/>
              </a:rPr>
              <a:t>的小数乘法。</a:t>
            </a:r>
            <a:endParaRPr lang="zh-CN" altLang="en-US" sz="2800" b="1"/>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15106"/>
                                        </p:tgtEl>
                                        <p:attrNameLst>
                                          <p:attrName>style.visibility</p:attrName>
                                        </p:attrNameLst>
                                      </p:cBhvr>
                                      <p:to>
                                        <p:strVal val="visible"/>
                                      </p:to>
                                    </p:set>
                                    <p:animEffect transition="in" filter="blinds(horizontal)">
                                      <p:cBhvr>
                                        <p:cTn id="7" dur="500"/>
                                        <p:tgtEl>
                                          <p:spTgt spid="815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CFD0E408-C9CD-4FBC-A6F8-EF82D2754D84}" type="slidenum">
              <a:rPr lang="en-US" altLang="zh-CN" sz="1400"/>
              <a:pPr eaLnBrk="1" hangingPunct="1"/>
              <a:t>35</a:t>
            </a:fld>
            <a:endParaRPr lang="en-US" altLang="zh-CN" sz="1400"/>
          </a:p>
        </p:txBody>
      </p:sp>
      <p:grpSp>
        <p:nvGrpSpPr>
          <p:cNvPr id="2" name="Group 2"/>
          <p:cNvGrpSpPr>
            <a:grpSpLocks/>
          </p:cNvGrpSpPr>
          <p:nvPr/>
        </p:nvGrpSpPr>
        <p:grpSpPr bwMode="auto">
          <a:xfrm>
            <a:off x="304800" y="990600"/>
            <a:ext cx="8534400" cy="4941888"/>
            <a:chOff x="192" y="624"/>
            <a:chExt cx="5376" cy="3113"/>
          </a:xfrm>
        </p:grpSpPr>
        <p:sp>
          <p:nvSpPr>
            <p:cNvPr id="3077" name="Rectangle 3"/>
            <p:cNvSpPr>
              <a:spLocks noChangeArrowheads="1"/>
            </p:cNvSpPr>
            <p:nvPr/>
          </p:nvSpPr>
          <p:spPr bwMode="auto">
            <a:xfrm>
              <a:off x="192" y="720"/>
              <a:ext cx="5376" cy="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5-13</a:t>
              </a:r>
              <a:r>
                <a:rPr lang="en-US" altLang="zh-CN" sz="2800" b="1">
                  <a:latin typeface="宋体" panose="02010600030101010101" pitchFamily="2" charset="-122"/>
                </a:rPr>
                <a:t>  </a:t>
              </a:r>
              <a:r>
                <a:rPr lang="zh-CN" altLang="en-US" sz="2800" b="1">
                  <a:latin typeface="宋体" panose="02010600030101010101" pitchFamily="2" charset="-122"/>
                </a:rPr>
                <a:t>编制计算        的程序段，其中数据均为小数：</a:t>
              </a:r>
              <a:r>
                <a:rPr lang="en-US" altLang="zh-CN" sz="2800" b="1">
                  <a:latin typeface="宋体" panose="02010600030101010101" pitchFamily="2" charset="-122"/>
                </a:rPr>
                <a:t>a</a:t>
              </a:r>
              <a:r>
                <a:rPr lang="en-US" altLang="zh-CN" sz="2800" b="1" baseline="-30000">
                  <a:latin typeface="宋体" panose="02010600030101010101" pitchFamily="2" charset="-122"/>
                </a:rPr>
                <a:t>1</a:t>
              </a:r>
              <a:r>
                <a:rPr lang="en-US" altLang="zh-CN" sz="2800" b="1">
                  <a:latin typeface="宋体" panose="02010600030101010101" pitchFamily="2" charset="-122"/>
                </a:rPr>
                <a:t>=0.1,a</a:t>
              </a:r>
              <a:r>
                <a:rPr lang="en-US" altLang="zh-CN" sz="2800" b="1" baseline="-30000">
                  <a:latin typeface="宋体" panose="02010600030101010101" pitchFamily="2" charset="-122"/>
                </a:rPr>
                <a:t>2</a:t>
              </a:r>
              <a:r>
                <a:rPr lang="en-US" altLang="zh-CN" sz="2800" b="1">
                  <a:latin typeface="宋体" panose="02010600030101010101" pitchFamily="2" charset="-122"/>
                </a:rPr>
                <a:t>=0.2,a</a:t>
              </a:r>
              <a:r>
                <a:rPr lang="en-US" altLang="zh-CN" sz="2800" b="1" baseline="-30000">
                  <a:latin typeface="宋体" panose="02010600030101010101" pitchFamily="2" charset="-122"/>
                </a:rPr>
                <a:t>3</a:t>
              </a:r>
              <a:r>
                <a:rPr lang="en-US" altLang="zh-CN" sz="2800" b="1">
                  <a:latin typeface="宋体" panose="02010600030101010101" pitchFamily="2" charset="-122"/>
                </a:rPr>
                <a:t>=-0.3,a</a:t>
              </a:r>
              <a:r>
                <a:rPr lang="en-US" altLang="zh-CN" sz="2800" b="1" baseline="-30000">
                  <a:latin typeface="宋体" panose="02010600030101010101" pitchFamily="2" charset="-122"/>
                </a:rPr>
                <a:t>4</a:t>
              </a:r>
              <a:r>
                <a:rPr lang="en-US" altLang="zh-CN" sz="2800" b="1">
                  <a:latin typeface="宋体" panose="02010600030101010101" pitchFamily="2" charset="-122"/>
                </a:rPr>
                <a:t>=0.4,x</a:t>
              </a:r>
              <a:r>
                <a:rPr lang="en-US" altLang="zh-CN" sz="2800" b="1" baseline="-30000">
                  <a:latin typeface="宋体" panose="02010600030101010101" pitchFamily="2" charset="-122"/>
                </a:rPr>
                <a:t>1</a:t>
              </a:r>
              <a:r>
                <a:rPr lang="en-US" altLang="zh-CN" sz="2800" b="1">
                  <a:latin typeface="宋体" panose="02010600030101010101" pitchFamily="2" charset="-122"/>
                </a:rPr>
                <a:t>=0.8,</a:t>
              </a:r>
            </a:p>
            <a:p>
              <a:pPr algn="just" eaLnBrk="1" hangingPunct="1"/>
              <a:r>
                <a:rPr lang="en-US" altLang="zh-CN" sz="2800" b="1">
                  <a:latin typeface="宋体" panose="02010600030101010101" pitchFamily="2" charset="-122"/>
                </a:rPr>
                <a:t>x</a:t>
              </a:r>
              <a:r>
                <a:rPr lang="en-US" altLang="zh-CN" sz="2800" b="1" baseline="-30000">
                  <a:latin typeface="宋体" panose="02010600030101010101" pitchFamily="2" charset="-122"/>
                </a:rPr>
                <a:t>2</a:t>
              </a:r>
              <a:r>
                <a:rPr lang="en-US" altLang="zh-CN" sz="2800" b="1">
                  <a:latin typeface="宋体" panose="02010600030101010101" pitchFamily="2" charset="-122"/>
                </a:rPr>
                <a:t>=0.6,x</a:t>
              </a:r>
              <a:r>
                <a:rPr lang="en-US" altLang="zh-CN" sz="2800" b="1" baseline="-30000">
                  <a:latin typeface="宋体" panose="02010600030101010101" pitchFamily="2" charset="-122"/>
                </a:rPr>
                <a:t>3</a:t>
              </a:r>
              <a:r>
                <a:rPr lang="en-US" altLang="zh-CN" sz="2800" b="1">
                  <a:latin typeface="宋体" panose="02010600030101010101" pitchFamily="2" charset="-122"/>
                </a:rPr>
                <a:t>=-0.4,x</a:t>
              </a:r>
              <a:r>
                <a:rPr lang="en-US" altLang="zh-CN" sz="2800" b="1" baseline="-30000">
                  <a:latin typeface="宋体" panose="02010600030101010101" pitchFamily="2" charset="-122"/>
                </a:rPr>
                <a:t>4</a:t>
              </a:r>
              <a:r>
                <a:rPr lang="en-US" altLang="zh-CN" sz="2800" b="1">
                  <a:latin typeface="宋体" panose="02010600030101010101" pitchFamily="2" charset="-122"/>
                </a:rPr>
                <a:t>=-0.2</a:t>
              </a:r>
              <a:r>
                <a:rPr lang="zh-CN" altLang="en-US" sz="2800" b="1">
                  <a:latin typeface="宋体" panose="02010600030101010101" pitchFamily="2" charset="-122"/>
                </a:rPr>
                <a:t>。</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.title  </a:t>
              </a:r>
              <a:r>
                <a:rPr lang="en-US" altLang="zh-CN" sz="2800" b="1"/>
                <a:t>“</a:t>
              </a:r>
              <a:r>
                <a:rPr lang="en-US" altLang="zh-CN" sz="2800" b="1">
                  <a:latin typeface="宋体" panose="02010600030101010101" pitchFamily="2" charset="-122"/>
                </a:rPr>
                <a:t>cjy4.asm</a:t>
              </a:r>
              <a:r>
                <a:rPr lang="en-US" altLang="zh-CN" sz="2800" b="1"/>
                <a:t>”</a:t>
              </a:r>
            </a:p>
            <a:p>
              <a:pPr algn="just"/>
              <a:r>
                <a:rPr lang="en-US" altLang="zh-CN" sz="2800" b="1">
                  <a:latin typeface="宋体" panose="02010600030101010101" pitchFamily="2" charset="-122"/>
                </a:rPr>
                <a:t>      </a:t>
              </a:r>
              <a:r>
                <a:rPr lang="en-US" altLang="zh-CN" sz="2800" b="1">
                  <a:solidFill>
                    <a:schemeClr val="folHlink"/>
                  </a:solidFill>
                  <a:latin typeface="宋体" panose="02010600030101010101" pitchFamily="2" charset="-122"/>
                </a:rPr>
                <a:t>.mmregs</a:t>
              </a:r>
              <a:endParaRPr lang="en-US" altLang="zh-CN" sz="2800" b="1">
                <a:solidFill>
                  <a:schemeClr val="folHlink"/>
                </a:solidFill>
              </a:endParaRPr>
            </a:p>
            <a:p>
              <a:pPr algn="just"/>
              <a:r>
                <a:rPr lang="en-US" altLang="zh-CN" sz="2800" b="1">
                  <a:latin typeface="宋体" panose="02010600030101010101" pitchFamily="2" charset="-122"/>
                </a:rPr>
                <a:t>STACK .usect   </a:t>
              </a:r>
              <a:r>
                <a:rPr lang="en-US" altLang="zh-CN" sz="2800" b="1"/>
                <a:t>“</a:t>
              </a:r>
              <a:r>
                <a:rPr lang="en-US" altLang="zh-CN" sz="2800" b="1">
                  <a:latin typeface="宋体" panose="02010600030101010101" pitchFamily="2" charset="-122"/>
                </a:rPr>
                <a:t>STACK</a:t>
              </a:r>
              <a:r>
                <a:rPr lang="en-US" altLang="zh-CN" sz="2800" b="1"/>
                <a:t>”</a:t>
              </a:r>
              <a:r>
                <a:rPr lang="en-US" altLang="zh-CN" sz="2800" b="1">
                  <a:latin typeface="宋体" panose="02010600030101010101" pitchFamily="2" charset="-122"/>
                </a:rPr>
                <a:t>,10H</a:t>
              </a:r>
              <a:endParaRPr lang="en-US" altLang="zh-CN" sz="2800" b="1"/>
            </a:p>
            <a:p>
              <a:pPr algn="just"/>
              <a:r>
                <a:rPr lang="en-US" altLang="zh-CN" sz="2800" b="1">
                  <a:latin typeface="宋体" panose="02010600030101010101" pitchFamily="2" charset="-122"/>
                </a:rPr>
                <a:t>      .bss      a,4   </a:t>
              </a:r>
              <a:r>
                <a:rPr lang="zh-CN" altLang="en-US" sz="2800" b="1">
                  <a:latin typeface="宋体" panose="02010600030101010101" pitchFamily="2" charset="-122"/>
                </a:rPr>
                <a:t>；为</a:t>
              </a:r>
              <a:r>
                <a:rPr lang="en-US" altLang="zh-CN" sz="2800" b="1">
                  <a:latin typeface="宋体" panose="02010600030101010101" pitchFamily="2" charset="-122"/>
                </a:rPr>
                <a:t>a</a:t>
              </a:r>
              <a:r>
                <a:rPr lang="zh-CN" altLang="en-US" sz="2800" b="1">
                  <a:latin typeface="宋体" panose="02010600030101010101" pitchFamily="2" charset="-122"/>
                </a:rPr>
                <a:t>分配</a:t>
              </a:r>
              <a:r>
                <a:rPr lang="en-US" altLang="zh-CN" sz="2800" b="1">
                  <a:latin typeface="宋体" panose="02010600030101010101" pitchFamily="2" charset="-122"/>
                </a:rPr>
                <a:t>4</a:t>
              </a:r>
              <a:r>
                <a:rPr lang="zh-CN" altLang="en-US" sz="2800" b="1">
                  <a:latin typeface="宋体" panose="02010600030101010101" pitchFamily="2" charset="-122"/>
                </a:rPr>
                <a:t>个存储单元</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.bss      x,4   </a:t>
              </a:r>
              <a:r>
                <a:rPr lang="zh-CN" altLang="en-US" sz="2800" b="1">
                  <a:latin typeface="宋体" panose="02010600030101010101" pitchFamily="2" charset="-122"/>
                </a:rPr>
                <a:t>；为</a:t>
              </a:r>
              <a:r>
                <a:rPr lang="en-US" altLang="zh-CN" sz="2800" b="1">
                  <a:latin typeface="宋体" panose="02010600030101010101" pitchFamily="2" charset="-122"/>
                </a:rPr>
                <a:t>x</a:t>
              </a:r>
              <a:r>
                <a:rPr lang="zh-CN" altLang="en-US" sz="2800" b="1">
                  <a:latin typeface="宋体" panose="02010600030101010101" pitchFamily="2" charset="-122"/>
                </a:rPr>
                <a:t>分配</a:t>
              </a:r>
              <a:r>
                <a:rPr lang="en-US" altLang="zh-CN" sz="2800" b="1">
                  <a:latin typeface="宋体" panose="02010600030101010101" pitchFamily="2" charset="-122"/>
                </a:rPr>
                <a:t>4</a:t>
              </a:r>
              <a:r>
                <a:rPr lang="zh-CN" altLang="en-US" sz="2800" b="1">
                  <a:latin typeface="宋体" panose="02010600030101010101" pitchFamily="2" charset="-122"/>
                </a:rPr>
                <a:t>个存储单元</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.bss      y,1   </a:t>
              </a:r>
              <a:r>
                <a:rPr lang="zh-CN" altLang="en-US" sz="2800" b="1">
                  <a:latin typeface="宋体" panose="02010600030101010101" pitchFamily="2" charset="-122"/>
                </a:rPr>
                <a:t>；为结果</a:t>
              </a:r>
              <a:r>
                <a:rPr lang="en-US" altLang="zh-CN" sz="2800" b="1">
                  <a:latin typeface="宋体" panose="02010600030101010101" pitchFamily="2" charset="-122"/>
                </a:rPr>
                <a:t>y</a:t>
              </a:r>
              <a:r>
                <a:rPr lang="zh-CN" altLang="en-US" sz="2800" b="1">
                  <a:latin typeface="宋体" panose="02010600030101010101" pitchFamily="2" charset="-122"/>
                </a:rPr>
                <a:t>分配</a:t>
              </a:r>
              <a:r>
                <a:rPr lang="en-US" altLang="zh-CN" sz="2800" b="1">
                  <a:latin typeface="宋体" panose="02010600030101010101" pitchFamily="2" charset="-122"/>
                </a:rPr>
                <a:t>1</a:t>
              </a:r>
              <a:r>
                <a:rPr lang="zh-CN" altLang="en-US" sz="2800" b="1">
                  <a:latin typeface="宋体" panose="02010600030101010101" pitchFamily="2" charset="-122"/>
                </a:rPr>
                <a:t>个存储单元</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.def      start</a:t>
              </a:r>
              <a:endParaRPr lang="en-US" altLang="zh-CN" sz="2800" b="1"/>
            </a:p>
            <a:p>
              <a:pPr algn="just"/>
              <a:r>
                <a:rPr lang="en-US" altLang="zh-CN" sz="2800" b="1">
                  <a:latin typeface="宋体" panose="02010600030101010101" pitchFamily="2" charset="-122"/>
                </a:rPr>
                <a:t>      .data           </a:t>
              </a:r>
              <a:r>
                <a:rPr lang="zh-CN" altLang="en-US" sz="2800" b="1">
                  <a:latin typeface="宋体" panose="02010600030101010101" pitchFamily="2" charset="-122"/>
                </a:rPr>
                <a:t>；定义数据代码段</a:t>
              </a:r>
              <a:endParaRPr lang="zh-CN" altLang="en-US" sz="2800" b="1"/>
            </a:p>
          </p:txBody>
        </p:sp>
        <p:graphicFrame>
          <p:nvGraphicFramePr>
            <p:cNvPr id="3074" name="Object 4"/>
            <p:cNvGraphicFramePr>
              <a:graphicFrameLocks noChangeAspect="1"/>
            </p:cNvGraphicFramePr>
            <p:nvPr/>
          </p:nvGraphicFramePr>
          <p:xfrm>
            <a:off x="2112" y="624"/>
            <a:ext cx="864" cy="505"/>
          </p:xfrm>
          <a:graphic>
            <a:graphicData uri="http://schemas.openxmlformats.org/presentationml/2006/ole">
              <mc:AlternateContent xmlns:mc="http://schemas.openxmlformats.org/markup-compatibility/2006">
                <mc:Choice xmlns:v="urn:schemas-microsoft-com:vml" Requires="v">
                  <p:oleObj spid="_x0000_s2050" name="公式" r:id="rId3" imgW="736600" imgH="431800" progId="">
                    <p:embed/>
                  </p:oleObj>
                </mc:Choice>
                <mc:Fallback>
                  <p:oleObj name="公式" r:id="rId3" imgW="736600" imgH="431800" progId="">
                    <p:embed/>
                    <p:pic>
                      <p:nvPicPr>
                        <p:cNvPr id="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2" y="624"/>
                          <a:ext cx="864" cy="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B695CEE-4D37-4D84-840D-0905C41778DC}" type="slidenum">
              <a:rPr lang="en-US" altLang="zh-CN" sz="1400"/>
              <a:pPr eaLnBrk="1" hangingPunct="1"/>
              <a:t>36</a:t>
            </a:fld>
            <a:endParaRPr lang="en-US" altLang="zh-CN" sz="1400"/>
          </a:p>
        </p:txBody>
      </p:sp>
      <p:sp>
        <p:nvSpPr>
          <p:cNvPr id="817154" name="Rectangle 2"/>
          <p:cNvSpPr>
            <a:spLocks noChangeArrowheads="1"/>
          </p:cNvSpPr>
          <p:nvPr/>
        </p:nvSpPr>
        <p:spPr bwMode="auto">
          <a:xfrm>
            <a:off x="323850" y="1125538"/>
            <a:ext cx="8458200" cy="500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b="1">
                <a:latin typeface="宋体" panose="02010600030101010101" pitchFamily="2" charset="-122"/>
              </a:rPr>
              <a:t>table: .word     1*32768/10 </a:t>
            </a:r>
            <a:r>
              <a:rPr lang="zh-CN" altLang="en-US" sz="2800" b="1">
                <a:latin typeface="宋体" panose="02010600030101010101" pitchFamily="2" charset="-122"/>
              </a:rPr>
              <a:t>；在</a:t>
            </a:r>
            <a:r>
              <a:rPr lang="en-US" altLang="zh-CN" sz="2800" b="1">
                <a:latin typeface="宋体" panose="02010600030101010101" pitchFamily="2" charset="-122"/>
              </a:rPr>
              <a:t>table</a:t>
            </a:r>
            <a:r>
              <a:rPr lang="zh-CN" altLang="en-US" sz="2800" b="1">
                <a:latin typeface="宋体" panose="02010600030101010101" pitchFamily="2" charset="-122"/>
              </a:rPr>
              <a:t>开始的</a:t>
            </a:r>
            <a:r>
              <a:rPr lang="en-US" altLang="zh-CN" sz="2800" b="1">
                <a:latin typeface="宋体" panose="02010600030101010101" pitchFamily="2" charset="-122"/>
              </a:rPr>
              <a:t>8</a:t>
            </a:r>
            <a:r>
              <a:rPr lang="zh-CN" altLang="en-US" sz="2800" b="1">
                <a:latin typeface="宋体" panose="02010600030101010101" pitchFamily="2" charset="-122"/>
              </a:rPr>
              <a:t>个</a:t>
            </a:r>
            <a:endParaRPr lang="zh-CN" altLang="en-US" sz="2800" b="1"/>
          </a:p>
          <a:p>
            <a:pPr algn="ctr">
              <a:spcBef>
                <a:spcPct val="50000"/>
              </a:spcBef>
            </a:pPr>
            <a:r>
              <a:rPr lang="zh-CN" altLang="en-US" sz="2800" b="1">
                <a:latin typeface="宋体" panose="02010600030101010101" pitchFamily="2" charset="-122"/>
              </a:rPr>
              <a:t> </a:t>
            </a:r>
            <a:r>
              <a:rPr lang="en-US" altLang="zh-CN" sz="2800" b="1">
                <a:latin typeface="宋体" panose="02010600030101010101" pitchFamily="2" charset="-122"/>
              </a:rPr>
              <a:t>.word     2*32768/10 </a:t>
            </a:r>
            <a:r>
              <a:rPr lang="zh-CN" altLang="en-US" sz="2800" b="1">
                <a:latin typeface="宋体" panose="02010600030101010101" pitchFamily="2" charset="-122"/>
              </a:rPr>
              <a:t>；地址放数据</a:t>
            </a:r>
            <a:endParaRPr lang="zh-CN" altLang="en-US" sz="2800" b="1"/>
          </a:p>
          <a:p>
            <a:pPr>
              <a:spcBef>
                <a:spcPct val="50000"/>
              </a:spcBef>
            </a:pPr>
            <a:r>
              <a:rPr lang="zh-CN" altLang="en-US" sz="2800" b="1">
                <a:latin typeface="宋体" panose="02010600030101010101" pitchFamily="2" charset="-122"/>
              </a:rPr>
              <a:t>       </a:t>
            </a:r>
            <a:r>
              <a:rPr lang="en-US" altLang="zh-CN" sz="2800" b="1">
                <a:latin typeface="宋体" panose="02010600030101010101" pitchFamily="2" charset="-122"/>
              </a:rPr>
              <a:t>.word     -3*32768/10</a:t>
            </a:r>
            <a:endParaRPr lang="en-US" altLang="zh-CN" sz="2800" b="1"/>
          </a:p>
          <a:p>
            <a:pPr>
              <a:spcBef>
                <a:spcPct val="50000"/>
              </a:spcBef>
            </a:pPr>
            <a:r>
              <a:rPr lang="en-US" altLang="zh-CN" sz="2800" b="1"/>
              <a:t>              </a:t>
            </a:r>
            <a:r>
              <a:rPr lang="en-US" altLang="zh-CN" sz="2800" b="1">
                <a:latin typeface="宋体" panose="02010600030101010101" pitchFamily="2" charset="-122"/>
              </a:rPr>
              <a:t>.word     4*32768/10</a:t>
            </a:r>
            <a:endParaRPr lang="en-US" altLang="zh-CN" sz="2800" b="1"/>
          </a:p>
          <a:p>
            <a:pPr>
              <a:spcBef>
                <a:spcPct val="50000"/>
              </a:spcBef>
            </a:pPr>
            <a:r>
              <a:rPr lang="en-US" altLang="zh-CN" sz="2800" b="1"/>
              <a:t>              </a:t>
            </a:r>
            <a:r>
              <a:rPr lang="en-US" altLang="zh-CN" sz="2800" b="1">
                <a:latin typeface="宋体" panose="02010600030101010101" pitchFamily="2" charset="-122"/>
              </a:rPr>
              <a:t>.word     8*32768/10</a:t>
            </a:r>
            <a:endParaRPr lang="en-US" altLang="zh-CN" sz="2800" b="1"/>
          </a:p>
          <a:p>
            <a:pPr>
              <a:spcBef>
                <a:spcPct val="50000"/>
              </a:spcBef>
            </a:pPr>
            <a:r>
              <a:rPr lang="en-US" altLang="zh-CN" sz="2800" b="1"/>
              <a:t>              </a:t>
            </a:r>
            <a:r>
              <a:rPr lang="en-US" altLang="zh-CN" sz="2800" b="1">
                <a:latin typeface="宋体" panose="02010600030101010101" pitchFamily="2" charset="-122"/>
              </a:rPr>
              <a:t>.word     6*32768/10</a:t>
            </a:r>
            <a:endParaRPr lang="en-US" altLang="zh-CN" sz="2800" b="1"/>
          </a:p>
          <a:p>
            <a:pPr>
              <a:spcBef>
                <a:spcPct val="50000"/>
              </a:spcBef>
            </a:pPr>
            <a:r>
              <a:rPr lang="en-US" altLang="zh-CN" sz="2800" b="1"/>
              <a:t>              </a:t>
            </a:r>
            <a:r>
              <a:rPr lang="en-US" altLang="zh-CN" sz="2800" b="1">
                <a:latin typeface="宋体" panose="02010600030101010101" pitchFamily="2" charset="-122"/>
              </a:rPr>
              <a:t>.word     -4*32768/10</a:t>
            </a:r>
            <a:endParaRPr lang="en-US" altLang="zh-CN" sz="2800" b="1"/>
          </a:p>
          <a:p>
            <a:pPr>
              <a:spcBef>
                <a:spcPct val="50000"/>
              </a:spcBef>
            </a:pPr>
            <a:r>
              <a:rPr lang="en-US" altLang="zh-CN" sz="2800" b="1"/>
              <a:t>              </a:t>
            </a:r>
            <a:r>
              <a:rPr lang="en-US" altLang="zh-CN" sz="2800" b="1">
                <a:latin typeface="宋体" panose="02010600030101010101" pitchFamily="2" charset="-122"/>
              </a:rPr>
              <a:t>.word     -2*32768/10</a:t>
            </a:r>
            <a:endParaRPr lang="en-US" altLang="zh-CN" sz="2800" b="1"/>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17154"/>
                                        </p:tgtEl>
                                        <p:attrNameLst>
                                          <p:attrName>style.visibility</p:attrName>
                                        </p:attrNameLst>
                                      </p:cBhvr>
                                      <p:to>
                                        <p:strVal val="visible"/>
                                      </p:to>
                                    </p:set>
                                    <p:animEffect transition="in" filter="blinds(horizontal)">
                                      <p:cBhvr>
                                        <p:cTn id="7" dur="500"/>
                                        <p:tgtEl>
                                          <p:spTgt spid="817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715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B473BCF-E5CE-46FF-96E3-D03E088DA2B3}" type="slidenum">
              <a:rPr lang="en-US" altLang="zh-CN" sz="1400"/>
              <a:pPr eaLnBrk="1" hangingPunct="1"/>
              <a:t>37</a:t>
            </a:fld>
            <a:endParaRPr lang="en-US" altLang="zh-CN" sz="1400"/>
          </a:p>
        </p:txBody>
      </p:sp>
      <p:sp>
        <p:nvSpPr>
          <p:cNvPr id="818178" name="Rectangle 2"/>
          <p:cNvSpPr>
            <a:spLocks noChangeArrowheads="1"/>
          </p:cNvSpPr>
          <p:nvPr/>
        </p:nvSpPr>
        <p:spPr bwMode="auto">
          <a:xfrm>
            <a:off x="304800" y="990600"/>
            <a:ext cx="86106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latin typeface="宋体" panose="02010600030101010101" pitchFamily="2" charset="-122"/>
              </a:rPr>
              <a:t>      .text        </a:t>
            </a:r>
            <a:r>
              <a:rPr lang="zh-CN" altLang="en-US" b="1">
                <a:latin typeface="宋体" panose="02010600030101010101" pitchFamily="2" charset="-122"/>
              </a:rPr>
              <a:t>；定义可执行程序代码段</a:t>
            </a:r>
            <a:endParaRPr lang="zh-CN" altLang="en-US" b="1"/>
          </a:p>
          <a:p>
            <a:pPr algn="just"/>
            <a:r>
              <a:rPr lang="en-US" altLang="zh-CN" b="1">
                <a:solidFill>
                  <a:srgbClr val="FF00FF"/>
                </a:solidFill>
                <a:latin typeface="宋体" panose="02010600030101010101" pitchFamily="2" charset="-122"/>
              </a:rPr>
              <a:t>start:SSBX FRCT</a:t>
            </a:r>
            <a:r>
              <a:rPr lang="en-US" altLang="zh-CN" b="1">
                <a:latin typeface="宋体" panose="02010600030101010101" pitchFamily="2" charset="-122"/>
              </a:rPr>
              <a:t>    </a:t>
            </a:r>
            <a:r>
              <a:rPr lang="zh-CN" altLang="en-US" b="1">
                <a:latin typeface="宋体" panose="02010600030101010101" pitchFamily="2" charset="-122"/>
              </a:rPr>
              <a:t>；设置</a:t>
            </a:r>
            <a:r>
              <a:rPr lang="en-US" altLang="zh-CN" b="1">
                <a:latin typeface="宋体" panose="02010600030101010101" pitchFamily="2" charset="-122"/>
              </a:rPr>
              <a:t>FRCT</a:t>
            </a:r>
            <a:r>
              <a:rPr lang="zh-CN" altLang="en-US" b="1">
                <a:latin typeface="宋体" panose="02010600030101010101" pitchFamily="2" charset="-122"/>
              </a:rPr>
              <a:t>位，表示进行小数乘</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STM  #a,AR1  </a:t>
            </a:r>
            <a:r>
              <a:rPr lang="zh-CN" altLang="en-US" b="1">
                <a:latin typeface="宋体" panose="02010600030101010101" pitchFamily="2" charset="-122"/>
              </a:rPr>
              <a:t>；将</a:t>
            </a:r>
            <a:r>
              <a:rPr lang="en-US" altLang="zh-CN" b="1">
                <a:latin typeface="宋体" panose="02010600030101010101" pitchFamily="2" charset="-122"/>
              </a:rPr>
              <a:t>x</a:t>
            </a:r>
            <a:r>
              <a:rPr lang="zh-CN" altLang="en-US" b="1">
                <a:latin typeface="宋体" panose="02010600030101010101" pitchFamily="2" charset="-122"/>
              </a:rPr>
              <a:t>的首地址传给</a:t>
            </a:r>
            <a:r>
              <a:rPr lang="en-US" altLang="zh-CN" b="1">
                <a:latin typeface="宋体" panose="02010600030101010101" pitchFamily="2" charset="-122"/>
              </a:rPr>
              <a:t>AR1</a:t>
            </a:r>
            <a:endParaRPr lang="en-US" altLang="zh-CN" b="1"/>
          </a:p>
          <a:p>
            <a:pPr algn="just"/>
            <a:r>
              <a:rPr lang="en-US" altLang="zh-CN" b="1">
                <a:latin typeface="宋体" panose="02010600030101010101" pitchFamily="2" charset="-122"/>
              </a:rPr>
              <a:t>      RPT  #7      </a:t>
            </a:r>
            <a:r>
              <a:rPr lang="zh-CN" altLang="en-US" b="1">
                <a:latin typeface="宋体" panose="02010600030101010101" pitchFamily="2" charset="-122"/>
              </a:rPr>
              <a:t>；重复</a:t>
            </a:r>
            <a:r>
              <a:rPr lang="en-US" altLang="zh-CN" b="1">
                <a:latin typeface="宋体" panose="02010600030101010101" pitchFamily="2" charset="-122"/>
              </a:rPr>
              <a:t>8</a:t>
            </a:r>
            <a:r>
              <a:rPr lang="zh-CN" altLang="en-US" b="1">
                <a:latin typeface="宋体" panose="02010600030101010101" pitchFamily="2" charset="-122"/>
              </a:rPr>
              <a:t>次下条指令</a:t>
            </a:r>
            <a:endParaRPr lang="zh-CN" altLang="en-US" b="1"/>
          </a:p>
          <a:p>
            <a:pPr algn="just"/>
            <a:r>
              <a:rPr lang="zh-CN" altLang="en-US" b="1">
                <a:latin typeface="宋体" panose="02010600030101010101" pitchFamily="2" charset="-122"/>
              </a:rPr>
              <a:t>      </a:t>
            </a:r>
            <a:r>
              <a:rPr lang="en-US" altLang="zh-CN" sz="2000" b="1">
                <a:latin typeface="宋体" panose="02010600030101010101" pitchFamily="2" charset="-122"/>
              </a:rPr>
              <a:t>MVPD table,*AR1+</a:t>
            </a:r>
            <a:r>
              <a:rPr lang="en-US" altLang="zh-CN" b="1">
                <a:latin typeface="宋体" panose="02010600030101010101" pitchFamily="2" charset="-122"/>
              </a:rPr>
              <a:t> </a:t>
            </a:r>
            <a:r>
              <a:rPr lang="zh-CN" altLang="en-US" b="1">
                <a:latin typeface="宋体" panose="02010600030101010101" pitchFamily="2" charset="-122"/>
              </a:rPr>
              <a:t>；将程序空间</a:t>
            </a:r>
            <a:r>
              <a:rPr lang="en-US" altLang="zh-CN" b="1">
                <a:latin typeface="宋体" panose="02010600030101010101" pitchFamily="2" charset="-122"/>
              </a:rPr>
              <a:t>8</a:t>
            </a:r>
            <a:r>
              <a:rPr lang="zh-CN" altLang="en-US" b="1">
                <a:latin typeface="宋体" panose="02010600030101010101" pitchFamily="2" charset="-122"/>
              </a:rPr>
              <a:t>个数传给数据存储器</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STM  #x,AR2  </a:t>
            </a:r>
            <a:r>
              <a:rPr lang="zh-CN" altLang="en-US" sz="2000" b="1">
                <a:latin typeface="宋体" panose="02010600030101010101" pitchFamily="2" charset="-122"/>
              </a:rPr>
              <a:t>；将数据存储器第一个数</a:t>
            </a:r>
            <a:r>
              <a:rPr lang="en-US" altLang="zh-CN" sz="2000" b="1">
                <a:latin typeface="宋体" panose="02010600030101010101" pitchFamily="2" charset="-122"/>
              </a:rPr>
              <a:t>x</a:t>
            </a:r>
            <a:r>
              <a:rPr lang="en-US" altLang="zh-CN" sz="2000" b="1" baseline="-30000">
                <a:latin typeface="宋体" panose="02010600030101010101" pitchFamily="2" charset="-122"/>
              </a:rPr>
              <a:t>1</a:t>
            </a:r>
            <a:r>
              <a:rPr lang="zh-CN" altLang="en-US" sz="2000" b="1">
                <a:latin typeface="宋体" panose="02010600030101010101" pitchFamily="2" charset="-122"/>
              </a:rPr>
              <a:t>的地址传给</a:t>
            </a:r>
            <a:r>
              <a:rPr lang="en-US" altLang="zh-CN" sz="2000" b="1">
                <a:latin typeface="宋体" panose="02010600030101010101" pitchFamily="2" charset="-122"/>
              </a:rPr>
              <a:t>AR2</a:t>
            </a:r>
            <a:endParaRPr lang="en-US" altLang="zh-CN" sz="2000" b="1"/>
          </a:p>
          <a:p>
            <a:pPr algn="just"/>
            <a:r>
              <a:rPr lang="en-US" altLang="zh-CN" b="1">
                <a:latin typeface="宋体" panose="02010600030101010101" pitchFamily="2" charset="-122"/>
              </a:rPr>
              <a:t>      STM  #a,AR3  </a:t>
            </a:r>
            <a:r>
              <a:rPr lang="zh-CN" altLang="en-US" sz="2000" b="1">
                <a:latin typeface="宋体" panose="02010600030101010101" pitchFamily="2" charset="-122"/>
              </a:rPr>
              <a:t>；将数据存储器第五个数</a:t>
            </a:r>
            <a:r>
              <a:rPr lang="en-US" altLang="zh-CN" sz="2000" b="1">
                <a:latin typeface="宋体" panose="02010600030101010101" pitchFamily="2" charset="-122"/>
              </a:rPr>
              <a:t>a</a:t>
            </a:r>
            <a:r>
              <a:rPr lang="en-US" altLang="zh-CN" sz="2000" b="1" baseline="-30000">
                <a:latin typeface="宋体" panose="02010600030101010101" pitchFamily="2" charset="-122"/>
              </a:rPr>
              <a:t>1</a:t>
            </a:r>
            <a:r>
              <a:rPr lang="zh-CN" altLang="en-US" sz="2000" b="1">
                <a:latin typeface="宋体" panose="02010600030101010101" pitchFamily="2" charset="-122"/>
              </a:rPr>
              <a:t>的地址传给</a:t>
            </a:r>
            <a:r>
              <a:rPr lang="en-US" altLang="zh-CN" sz="2000" b="1">
                <a:latin typeface="宋体" panose="02010600030101010101" pitchFamily="2" charset="-122"/>
              </a:rPr>
              <a:t>AR3</a:t>
            </a:r>
            <a:endParaRPr lang="en-US" altLang="zh-CN" sz="2000" b="1"/>
          </a:p>
          <a:p>
            <a:pPr algn="just"/>
            <a:r>
              <a:rPr lang="en-US" altLang="zh-CN" b="1">
                <a:latin typeface="宋体" panose="02010600030101010101" pitchFamily="2" charset="-122"/>
              </a:rPr>
              <a:t>      </a:t>
            </a:r>
            <a:r>
              <a:rPr lang="en-US" altLang="zh-CN" b="1">
                <a:solidFill>
                  <a:schemeClr val="folHlink"/>
                </a:solidFill>
                <a:latin typeface="宋体" panose="02010600030101010101" pitchFamily="2" charset="-122"/>
              </a:rPr>
              <a:t>RPTZ A,#3</a:t>
            </a:r>
            <a:r>
              <a:rPr lang="en-US" altLang="zh-CN" b="1">
                <a:latin typeface="宋体" panose="02010600030101010101" pitchFamily="2" charset="-122"/>
              </a:rPr>
              <a:t>    </a:t>
            </a:r>
            <a:r>
              <a:rPr lang="zh-CN" altLang="en-US" b="1">
                <a:latin typeface="宋体" panose="02010600030101010101" pitchFamily="2" charset="-122"/>
              </a:rPr>
              <a:t>；将</a:t>
            </a:r>
            <a:r>
              <a:rPr lang="en-US" altLang="zh-CN" b="1">
                <a:latin typeface="宋体" panose="02010600030101010101" pitchFamily="2" charset="-122"/>
              </a:rPr>
              <a:t>A</a:t>
            </a:r>
            <a:r>
              <a:rPr lang="zh-CN" altLang="en-US" b="1">
                <a:latin typeface="宋体" panose="02010600030101010101" pitchFamily="2" charset="-122"/>
              </a:rPr>
              <a:t>清零，重复</a:t>
            </a:r>
            <a:r>
              <a:rPr lang="en-US" altLang="zh-CN" b="1">
                <a:latin typeface="宋体" panose="02010600030101010101" pitchFamily="2" charset="-122"/>
              </a:rPr>
              <a:t>4</a:t>
            </a:r>
            <a:r>
              <a:rPr lang="zh-CN" altLang="en-US" b="1">
                <a:latin typeface="宋体" panose="02010600030101010101" pitchFamily="2" charset="-122"/>
              </a:rPr>
              <a:t>次下条指令</a:t>
            </a:r>
            <a:endParaRPr lang="zh-CN" altLang="en-US" b="1"/>
          </a:p>
          <a:p>
            <a:pPr algn="just"/>
            <a:r>
              <a:rPr lang="zh-CN" altLang="en-US" b="1">
                <a:latin typeface="宋体" panose="02010600030101010101" pitchFamily="2" charset="-122"/>
              </a:rPr>
              <a:t>      </a:t>
            </a:r>
            <a:r>
              <a:rPr lang="en-US" altLang="zh-CN" b="1">
                <a:solidFill>
                  <a:schemeClr val="folHlink"/>
                </a:solidFill>
                <a:latin typeface="宋体" panose="02010600030101010101" pitchFamily="2" charset="-122"/>
              </a:rPr>
              <a:t>MAC  *AR2+,*AR3+,A</a:t>
            </a:r>
            <a:r>
              <a:rPr lang="en-US" altLang="zh-CN" b="1">
                <a:latin typeface="宋体" panose="02010600030101010101" pitchFamily="2" charset="-122"/>
              </a:rPr>
              <a:t> </a:t>
            </a:r>
            <a:r>
              <a:rPr lang="zh-CN" altLang="en-US" b="1">
                <a:latin typeface="宋体" panose="02010600030101010101" pitchFamily="2" charset="-122"/>
              </a:rPr>
              <a:t>；执行乘法累加和，结果放在</a:t>
            </a:r>
            <a:r>
              <a:rPr lang="en-US" altLang="zh-CN" b="1">
                <a:latin typeface="宋体" panose="02010600030101010101" pitchFamily="2" charset="-122"/>
              </a:rPr>
              <a:t>A</a:t>
            </a:r>
            <a:r>
              <a:rPr lang="zh-CN" altLang="en-US" b="1">
                <a:latin typeface="宋体" panose="02010600030101010101" pitchFamily="2" charset="-122"/>
              </a:rPr>
              <a:t>中         </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STH  A,@y    </a:t>
            </a:r>
            <a:r>
              <a:rPr lang="zh-CN" altLang="en-US" b="1">
                <a:latin typeface="宋体" panose="02010600030101010101" pitchFamily="2" charset="-122"/>
              </a:rPr>
              <a:t>；将</a:t>
            </a:r>
            <a:r>
              <a:rPr lang="en-US" altLang="zh-CN" b="1">
                <a:latin typeface="宋体" panose="02010600030101010101" pitchFamily="2" charset="-122"/>
              </a:rPr>
              <a:t>A</a:t>
            </a:r>
            <a:r>
              <a:rPr lang="zh-CN" altLang="en-US" b="1">
                <a:latin typeface="宋体" panose="02010600030101010101" pitchFamily="2" charset="-122"/>
              </a:rPr>
              <a:t>的高端字存入结果</a:t>
            </a:r>
            <a:r>
              <a:rPr lang="en-US" altLang="zh-CN" b="1">
                <a:latin typeface="宋体" panose="02010600030101010101" pitchFamily="2" charset="-122"/>
              </a:rPr>
              <a:t>y</a:t>
            </a:r>
            <a:r>
              <a:rPr lang="zh-CN" altLang="en-US" b="1">
                <a:latin typeface="宋体" panose="02010600030101010101" pitchFamily="2" charset="-122"/>
              </a:rPr>
              <a:t>，低端字省去</a:t>
            </a:r>
            <a:endParaRPr lang="zh-CN" altLang="en-US" b="1"/>
          </a:p>
          <a:p>
            <a:pPr algn="just"/>
            <a:r>
              <a:rPr lang="en-US" altLang="zh-CN" b="1">
                <a:latin typeface="宋体" panose="02010600030101010101" pitchFamily="2" charset="-122"/>
              </a:rPr>
              <a:t>end:  B    end     </a:t>
            </a:r>
            <a:r>
              <a:rPr lang="zh-CN" altLang="en-US" b="1">
                <a:latin typeface="宋体" panose="02010600030101010101" pitchFamily="2" charset="-122"/>
              </a:rPr>
              <a:t>；原处循环等待</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.end</a:t>
            </a:r>
            <a:endParaRPr lang="en-US" altLang="zh-CN" b="1"/>
          </a:p>
          <a:p>
            <a:pPr algn="just"/>
            <a:r>
              <a:rPr lang="en-US" altLang="zh-CN" b="1">
                <a:latin typeface="宋体" panose="02010600030101010101" pitchFamily="2" charset="-122"/>
              </a:rPr>
              <a:t>    </a:t>
            </a:r>
            <a:r>
              <a:rPr lang="zh-CN" altLang="en-US" b="1">
                <a:latin typeface="宋体" panose="02010600030101010101" pitchFamily="2" charset="-122"/>
              </a:rPr>
              <a:t>结果</a:t>
            </a:r>
            <a:r>
              <a:rPr lang="en-US" altLang="zh-CN" b="1">
                <a:latin typeface="宋体" panose="02010600030101010101" pitchFamily="2" charset="-122"/>
              </a:rPr>
              <a:t>y=0x1EB7</a:t>
            </a:r>
            <a:r>
              <a:rPr lang="zh-CN" altLang="en-US" b="1">
                <a:latin typeface="宋体" panose="02010600030101010101" pitchFamily="2" charset="-122"/>
              </a:rPr>
              <a:t>。转换为十进制数：</a:t>
            </a:r>
          </a:p>
          <a:p>
            <a:pPr algn="just"/>
            <a:r>
              <a:rPr lang="zh-CN" altLang="en-US" b="1">
                <a:latin typeface="宋体" panose="02010600030101010101" pitchFamily="2" charset="-122"/>
              </a:rPr>
              <a:t>        </a:t>
            </a:r>
            <a:r>
              <a:rPr lang="en-US" altLang="zh-CN" b="1">
                <a:latin typeface="宋体" panose="02010600030101010101" pitchFamily="2" charset="-122"/>
              </a:rPr>
              <a:t>y=</a:t>
            </a:r>
            <a:r>
              <a:rPr lang="zh-CN" altLang="en-US" b="1">
                <a:latin typeface="宋体" panose="02010600030101010101" pitchFamily="2" charset="-122"/>
              </a:rPr>
              <a:t>（</a:t>
            </a:r>
            <a:r>
              <a:rPr lang="en-US" altLang="zh-CN" b="1">
                <a:latin typeface="宋体" panose="02010600030101010101" pitchFamily="2" charset="-122"/>
              </a:rPr>
              <a:t>1×16</a:t>
            </a:r>
            <a:r>
              <a:rPr lang="en-US" altLang="zh-CN" b="1" baseline="30000">
                <a:latin typeface="宋体" panose="02010600030101010101" pitchFamily="2" charset="-122"/>
              </a:rPr>
              <a:t>3</a:t>
            </a:r>
            <a:r>
              <a:rPr lang="en-US" altLang="zh-CN" b="1">
                <a:latin typeface="宋体" panose="02010600030101010101" pitchFamily="2" charset="-122"/>
              </a:rPr>
              <a:t>+14×16</a:t>
            </a:r>
            <a:r>
              <a:rPr lang="en-US" altLang="zh-CN" b="1" baseline="30000">
                <a:latin typeface="宋体" panose="02010600030101010101" pitchFamily="2" charset="-122"/>
              </a:rPr>
              <a:t>2</a:t>
            </a:r>
            <a:r>
              <a:rPr lang="en-US" altLang="zh-CN" b="1">
                <a:latin typeface="宋体" panose="02010600030101010101" pitchFamily="2" charset="-122"/>
              </a:rPr>
              <a:t>+11×16</a:t>
            </a:r>
            <a:r>
              <a:rPr lang="en-US" altLang="zh-CN" b="1" baseline="30000">
                <a:latin typeface="宋体" panose="02010600030101010101" pitchFamily="2" charset="-122"/>
              </a:rPr>
              <a:t>1</a:t>
            </a:r>
            <a:r>
              <a:rPr lang="en-US" altLang="zh-CN" b="1">
                <a:latin typeface="宋体" panose="02010600030101010101" pitchFamily="2" charset="-122"/>
              </a:rPr>
              <a:t>+7×16</a:t>
            </a:r>
            <a:r>
              <a:rPr lang="en-US" altLang="zh-CN" b="1" baseline="30000">
                <a:latin typeface="宋体" panose="02010600030101010101" pitchFamily="2" charset="-122"/>
              </a:rPr>
              <a:t>0</a:t>
            </a:r>
            <a:r>
              <a:rPr lang="zh-CN" altLang="en-US" b="1">
                <a:latin typeface="宋体" panose="02010600030101010101" pitchFamily="2" charset="-122"/>
              </a:rPr>
              <a:t>）</a:t>
            </a:r>
            <a:r>
              <a:rPr lang="en-US" altLang="zh-CN" b="1">
                <a:latin typeface="宋体" panose="02010600030101010101" pitchFamily="2" charset="-122"/>
              </a:rPr>
              <a:t>/32768=0.24</a:t>
            </a:r>
            <a:endParaRPr lang="en-US" altLang="zh-CN" b="1"/>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18178"/>
                                        </p:tgtEl>
                                        <p:attrNameLst>
                                          <p:attrName>style.visibility</p:attrName>
                                        </p:attrNameLst>
                                      </p:cBhvr>
                                      <p:to>
                                        <p:strVal val="visible"/>
                                      </p:to>
                                    </p:set>
                                    <p:animEffect transition="in" filter="blinds(horizontal)">
                                      <p:cBhvr>
                                        <p:cTn id="7" dur="500"/>
                                        <p:tgtEl>
                                          <p:spTgt spid="818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817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CB642E9D-0EF1-4182-85C9-82D039DE2191}" type="slidenum">
              <a:rPr lang="en-US" altLang="zh-CN" sz="1400"/>
              <a:pPr eaLnBrk="1" hangingPunct="1"/>
              <a:t>38</a:t>
            </a:fld>
            <a:endParaRPr lang="en-US" altLang="zh-CN" sz="1400"/>
          </a:p>
        </p:txBody>
      </p:sp>
      <p:sp>
        <p:nvSpPr>
          <p:cNvPr id="819202" name="Rectangle 2" descr="小棋盘"/>
          <p:cNvSpPr>
            <a:spLocks noChangeArrowheads="1"/>
          </p:cNvSpPr>
          <p:nvPr/>
        </p:nvSpPr>
        <p:spPr bwMode="auto">
          <a:xfrm>
            <a:off x="2895600" y="1066800"/>
            <a:ext cx="33528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10</a:t>
            </a:r>
            <a:r>
              <a:rPr lang="zh-CN" altLang="en-US" sz="3200" b="1">
                <a:solidFill>
                  <a:srgbClr val="FF0000"/>
                </a:solidFill>
                <a:latin typeface="宋体" panose="02010600030101010101" pitchFamily="2" charset="-122"/>
                <a:ea typeface="仿宋_GB2312" pitchFamily="49" charset="-122"/>
              </a:rPr>
              <a:t>． 除法运算 </a:t>
            </a:r>
          </a:p>
        </p:txBody>
      </p:sp>
      <p:sp>
        <p:nvSpPr>
          <p:cNvPr id="819203" name="Rectangle 3"/>
          <p:cNvSpPr>
            <a:spLocks noChangeArrowheads="1"/>
          </p:cNvSpPr>
          <p:nvPr/>
        </p:nvSpPr>
        <p:spPr bwMode="auto">
          <a:xfrm>
            <a:off x="381000" y="2590800"/>
            <a:ext cx="84582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5000"/>
              </a:spcBef>
            </a:pPr>
            <a:r>
              <a:rPr lang="zh-CN" altLang="en-US" sz="2800" b="1">
                <a:latin typeface="宋体" panose="02010600030101010101" pitchFamily="2" charset="-122"/>
              </a:rPr>
              <a:t>条件减法指令的功能如下：</a:t>
            </a:r>
          </a:p>
          <a:p>
            <a:pPr algn="just" eaLnBrk="1" hangingPunct="1">
              <a:lnSpc>
                <a:spcPct val="80000"/>
              </a:lnSpc>
              <a:spcBef>
                <a:spcPct val="15000"/>
              </a:spcBef>
            </a:pPr>
            <a:r>
              <a:rPr lang="en-US" altLang="zh-CN" sz="2800" b="1">
                <a:solidFill>
                  <a:srgbClr val="FF00FF"/>
                </a:solidFill>
                <a:latin typeface="宋体" panose="02010600030101010101" pitchFamily="2" charset="-122"/>
              </a:rPr>
              <a:t>SUBC  Smem</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src</a:t>
            </a:r>
            <a:r>
              <a:rPr lang="en-US" altLang="zh-CN" sz="2800" b="1">
                <a:latin typeface="宋体" panose="02010600030101010101" pitchFamily="2" charset="-122"/>
              </a:rPr>
              <a:t> </a:t>
            </a:r>
            <a:r>
              <a:rPr lang="zh-CN" altLang="en-US" sz="2800" b="1">
                <a:latin typeface="宋体" panose="02010600030101010101" pitchFamily="2" charset="-122"/>
              </a:rPr>
              <a:t>；（</a:t>
            </a:r>
            <a:r>
              <a:rPr lang="en-US" altLang="zh-CN" sz="2800" b="1">
                <a:latin typeface="宋体" panose="02010600030101010101" pitchFamily="2" charset="-122"/>
              </a:rPr>
              <a:t>src</a:t>
            </a:r>
            <a:r>
              <a:rPr lang="zh-CN" altLang="en-US" sz="2800" b="1">
                <a:latin typeface="宋体" panose="02010600030101010101" pitchFamily="2" charset="-122"/>
              </a:rPr>
              <a:t>）</a:t>
            </a:r>
            <a:r>
              <a:rPr lang="en-US" altLang="zh-CN" sz="2800" b="1">
                <a:latin typeface="宋体" panose="02010600030101010101" pitchFamily="2" charset="-122"/>
              </a:rPr>
              <a:t>-</a:t>
            </a:r>
            <a:r>
              <a:rPr lang="zh-CN" altLang="en-US" sz="2800" b="1">
                <a:latin typeface="宋体" panose="02010600030101010101" pitchFamily="2" charset="-122"/>
              </a:rPr>
              <a:t>（</a:t>
            </a:r>
            <a:r>
              <a:rPr lang="en-US" altLang="zh-CN" sz="2800" b="1">
                <a:latin typeface="宋体" panose="02010600030101010101" pitchFamily="2" charset="-122"/>
              </a:rPr>
              <a:t>Smem</a:t>
            </a:r>
            <a:r>
              <a:rPr lang="zh-CN" altLang="en-US" sz="2800" b="1">
                <a:latin typeface="宋体" panose="02010600030101010101" pitchFamily="2" charset="-122"/>
              </a:rPr>
              <a:t>）</a:t>
            </a:r>
            <a:r>
              <a:rPr lang="en-US" altLang="zh-CN" sz="2800" b="1">
                <a:latin typeface="宋体" panose="02010600030101010101" pitchFamily="2" charset="-122"/>
              </a:rPr>
              <a:t>&lt;&lt;15 →ALU</a:t>
            </a:r>
          </a:p>
          <a:p>
            <a:pPr algn="just" eaLnBrk="1" hangingPunct="1">
              <a:lnSpc>
                <a:spcPct val="80000"/>
              </a:lnSpc>
              <a:spcBef>
                <a:spcPct val="15000"/>
              </a:spcBef>
            </a:pPr>
            <a:r>
              <a:rPr lang="zh-CN" altLang="en-US" sz="2800" b="1">
                <a:solidFill>
                  <a:srgbClr val="FF00FF"/>
                </a:solidFill>
                <a:latin typeface="宋体" panose="02010600030101010101" pitchFamily="2" charset="-122"/>
              </a:rPr>
              <a:t>　　　　　　　　</a:t>
            </a:r>
            <a:r>
              <a:rPr lang="zh-CN" altLang="en-US" sz="2800" b="1">
                <a:latin typeface="宋体" panose="02010600030101010101" pitchFamily="2" charset="-122"/>
              </a:rPr>
              <a:t>；输出端，如果</a:t>
            </a:r>
            <a:r>
              <a:rPr lang="en-US" altLang="zh-CN" sz="2800" b="1">
                <a:latin typeface="宋体" panose="02010600030101010101" pitchFamily="2" charset="-122"/>
              </a:rPr>
              <a:t>ALU</a:t>
            </a:r>
            <a:r>
              <a:rPr lang="zh-CN" altLang="en-US" sz="2800" b="1">
                <a:latin typeface="宋体" panose="02010600030101010101" pitchFamily="2" charset="-122"/>
              </a:rPr>
              <a:t>输出端≥</a:t>
            </a:r>
            <a:r>
              <a:rPr lang="en-US" altLang="zh-CN" sz="2800" b="1">
                <a:latin typeface="宋体" panose="02010600030101010101" pitchFamily="2" charset="-122"/>
              </a:rPr>
              <a:t>0,</a:t>
            </a:r>
          </a:p>
          <a:p>
            <a:pPr algn="just" eaLnBrk="1" hangingPunct="1">
              <a:lnSpc>
                <a:spcPct val="80000"/>
              </a:lnSpc>
              <a:spcBef>
                <a:spcPct val="15000"/>
              </a:spcBef>
            </a:pPr>
            <a:r>
              <a:rPr lang="en-US" altLang="zh-CN" sz="2800" b="1">
                <a:latin typeface="宋体" panose="02010600030101010101" pitchFamily="2" charset="-122"/>
              </a:rPr>
              <a:t>                </a:t>
            </a:r>
            <a:r>
              <a:rPr lang="zh-CN" altLang="en-US" sz="2800" b="1">
                <a:latin typeface="宋体" panose="02010600030101010101" pitchFamily="2" charset="-122"/>
              </a:rPr>
              <a:t>；则（</a:t>
            </a:r>
            <a:r>
              <a:rPr lang="en-US" altLang="zh-CN" sz="2800" b="1">
                <a:latin typeface="宋体" panose="02010600030101010101" pitchFamily="2" charset="-122"/>
              </a:rPr>
              <a:t>ALU</a:t>
            </a:r>
            <a:r>
              <a:rPr lang="zh-CN" altLang="en-US" sz="2800" b="1">
                <a:latin typeface="宋体" panose="02010600030101010101" pitchFamily="2" charset="-122"/>
              </a:rPr>
              <a:t>输出端）</a:t>
            </a:r>
            <a:r>
              <a:rPr lang="en-US" altLang="zh-CN" sz="2800" b="1">
                <a:latin typeface="宋体" panose="02010600030101010101" pitchFamily="2" charset="-122"/>
              </a:rPr>
              <a:t>&lt;&lt;1+1→src</a:t>
            </a:r>
            <a:r>
              <a:rPr lang="zh-CN" altLang="en-US" sz="2800" b="1">
                <a:latin typeface="宋体" panose="02010600030101010101" pitchFamily="2" charset="-122"/>
              </a:rPr>
              <a:t>，</a:t>
            </a:r>
          </a:p>
          <a:p>
            <a:pPr algn="just" eaLnBrk="1" hangingPunct="1">
              <a:lnSpc>
                <a:spcPct val="80000"/>
              </a:lnSpc>
              <a:spcBef>
                <a:spcPct val="15000"/>
              </a:spcBef>
            </a:pPr>
            <a:r>
              <a:rPr lang="zh-CN" altLang="en-US" sz="2800" b="1">
                <a:solidFill>
                  <a:srgbClr val="FF00FF"/>
                </a:solidFill>
                <a:latin typeface="宋体" panose="02010600030101010101" pitchFamily="2" charset="-122"/>
              </a:rPr>
              <a:t>　　　　　　　　</a:t>
            </a:r>
            <a:r>
              <a:rPr lang="zh-CN" altLang="en-US" sz="2800" b="1">
                <a:latin typeface="宋体" panose="02010600030101010101" pitchFamily="2" charset="-122"/>
              </a:rPr>
              <a:t>；否则（</a:t>
            </a:r>
            <a:r>
              <a:rPr lang="en-US" altLang="zh-CN" sz="2800" b="1">
                <a:latin typeface="宋体" panose="02010600030101010101" pitchFamily="2" charset="-122"/>
              </a:rPr>
              <a:t>src</a:t>
            </a:r>
            <a:r>
              <a:rPr lang="zh-CN" altLang="en-US" sz="2800" b="1">
                <a:latin typeface="宋体" panose="02010600030101010101" pitchFamily="2" charset="-122"/>
              </a:rPr>
              <a:t>）</a:t>
            </a:r>
            <a:r>
              <a:rPr lang="en-US" altLang="zh-CN" sz="2800" b="1">
                <a:latin typeface="宋体" panose="02010600030101010101" pitchFamily="2" charset="-122"/>
              </a:rPr>
              <a:t>&lt;&lt;1→src</a:t>
            </a:r>
            <a:r>
              <a:rPr lang="zh-CN" altLang="en-US" sz="2800" b="1">
                <a:latin typeface="宋体" panose="02010600030101010101" pitchFamily="2" charset="-122"/>
              </a:rPr>
              <a:t>。</a:t>
            </a:r>
          </a:p>
        </p:txBody>
      </p:sp>
      <p:sp>
        <p:nvSpPr>
          <p:cNvPr id="819204" name="Rectangle 4" descr="小棋盘"/>
          <p:cNvSpPr>
            <a:spLocks noChangeArrowheads="1"/>
          </p:cNvSpPr>
          <p:nvPr/>
        </p:nvSpPr>
        <p:spPr bwMode="auto">
          <a:xfrm>
            <a:off x="381000" y="1828800"/>
            <a:ext cx="83058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zh-CN" altLang="en-US" sz="3200" b="1">
                <a:solidFill>
                  <a:srgbClr val="FF0000"/>
                </a:solidFill>
                <a:latin typeface="宋体" panose="02010600030101010101" pitchFamily="2" charset="-122"/>
                <a:ea typeface="仿宋_GB2312" pitchFamily="49" charset="-122"/>
              </a:rPr>
              <a:t>方法：减法指令加重复指令实现无符号运算</a:t>
            </a:r>
            <a:endParaRPr lang="zh-CN" altLang="en-US" sz="2800" b="1">
              <a:solidFill>
                <a:srgbClr val="FF0000"/>
              </a:solidFill>
              <a:latin typeface="宋体" panose="02010600030101010101" pitchFamily="2" charset="-122"/>
              <a:ea typeface="仿宋_GB2312" pitchFamily="49" charset="-122"/>
            </a:endParaRPr>
          </a:p>
        </p:txBody>
      </p:sp>
      <p:sp>
        <p:nvSpPr>
          <p:cNvPr id="819205" name="Rectangle 5" descr="小棋盘"/>
          <p:cNvSpPr>
            <a:spLocks noChangeArrowheads="1"/>
          </p:cNvSpPr>
          <p:nvPr/>
        </p:nvSpPr>
        <p:spPr bwMode="auto">
          <a:xfrm>
            <a:off x="468313" y="5157788"/>
            <a:ext cx="8305800" cy="442912"/>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5000"/>
              </a:spcBef>
            </a:pP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1</a:t>
            </a:r>
            <a:r>
              <a:rPr lang="zh-CN" altLang="en-US" sz="2800" b="1">
                <a:solidFill>
                  <a:srgbClr val="FF0000"/>
                </a:solidFill>
                <a:latin typeface="宋体" panose="02010600030101010101" pitchFamily="2" charset="-122"/>
              </a:rPr>
              <a:t>）当｜被除数｜＜｜除数｜  此时商为小数。</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19202"/>
                                        </p:tgtEl>
                                        <p:attrNameLst>
                                          <p:attrName>style.visibility</p:attrName>
                                        </p:attrNameLst>
                                      </p:cBhvr>
                                      <p:to>
                                        <p:strVal val="visible"/>
                                      </p:to>
                                    </p:set>
                                    <p:animEffect transition="in" filter="slide(fromTop)">
                                      <p:cBhvr>
                                        <p:cTn id="7" dur="500"/>
                                        <p:tgtEl>
                                          <p:spTgt spid="819202"/>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19204"/>
                                        </p:tgtEl>
                                        <p:attrNameLst>
                                          <p:attrName>style.visibility</p:attrName>
                                        </p:attrNameLst>
                                      </p:cBhvr>
                                      <p:to>
                                        <p:strVal val="visible"/>
                                      </p:to>
                                    </p:set>
                                    <p:animEffect transition="in" filter="slide(fromBottom)">
                                      <p:cBhvr>
                                        <p:cTn id="11" dur="500"/>
                                        <p:tgtEl>
                                          <p:spTgt spid="819204"/>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819203"/>
                                        </p:tgtEl>
                                        <p:attrNameLst>
                                          <p:attrName>style.visibility</p:attrName>
                                        </p:attrNameLst>
                                      </p:cBhvr>
                                      <p:to>
                                        <p:strVal val="visible"/>
                                      </p:to>
                                    </p:set>
                                    <p:animEffect transition="in" filter="blinds(horizontal)">
                                      <p:cBhvr>
                                        <p:cTn id="15" dur="500"/>
                                        <p:tgtEl>
                                          <p:spTgt spid="819203"/>
                                        </p:tgtEl>
                                      </p:cBhvr>
                                    </p:animEffect>
                                  </p:childTnLst>
                                </p:cTn>
                              </p:par>
                            </p:childTnLst>
                          </p:cTn>
                        </p:par>
                        <p:par>
                          <p:cTn id="16" fill="hold" nodeType="afterGroup">
                            <p:stCondLst>
                              <p:cond delay="1500"/>
                            </p:stCondLst>
                            <p:childTnLst>
                              <p:par>
                                <p:cTn id="17" presetID="12" presetClass="entr" presetSubtype="4" fill="hold" grpId="0" nodeType="afterEffect">
                                  <p:stCondLst>
                                    <p:cond delay="0"/>
                                  </p:stCondLst>
                                  <p:childTnLst>
                                    <p:set>
                                      <p:cBhvr>
                                        <p:cTn id="18" dur="1" fill="hold">
                                          <p:stCondLst>
                                            <p:cond delay="0"/>
                                          </p:stCondLst>
                                        </p:cTn>
                                        <p:tgtEl>
                                          <p:spTgt spid="819205"/>
                                        </p:tgtEl>
                                        <p:attrNameLst>
                                          <p:attrName>style.visibility</p:attrName>
                                        </p:attrNameLst>
                                      </p:cBhvr>
                                      <p:to>
                                        <p:strVal val="visible"/>
                                      </p:to>
                                    </p:set>
                                    <p:animEffect transition="in" filter="slide(fromBottom)">
                                      <p:cBhvr>
                                        <p:cTn id="19" dur="500"/>
                                        <p:tgtEl>
                                          <p:spTgt spid="819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2" grpId="0" animBg="1"/>
      <p:bldP spid="819203" grpId="0"/>
      <p:bldP spid="819204" grpId="0" animBg="1"/>
      <p:bldP spid="81920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2A1D0E8-EE88-4B12-9C86-B2CC214EA4A7}" type="slidenum">
              <a:rPr lang="en-US" altLang="zh-CN" sz="1400"/>
              <a:pPr eaLnBrk="1" hangingPunct="1"/>
              <a:t>39</a:t>
            </a:fld>
            <a:endParaRPr lang="en-US" altLang="zh-CN" sz="1400"/>
          </a:p>
        </p:txBody>
      </p:sp>
      <p:sp>
        <p:nvSpPr>
          <p:cNvPr id="820226" name="Rectangle 2"/>
          <p:cNvSpPr>
            <a:spLocks noChangeArrowheads="1"/>
          </p:cNvSpPr>
          <p:nvPr/>
        </p:nvSpPr>
        <p:spPr bwMode="auto">
          <a:xfrm>
            <a:off x="228600" y="914400"/>
            <a:ext cx="84582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5-14</a:t>
            </a:r>
            <a:r>
              <a:rPr lang="en-US" altLang="zh-CN" sz="2800" b="1">
                <a:latin typeface="宋体" panose="02010600030101010101" pitchFamily="2" charset="-122"/>
              </a:rPr>
              <a:t>  </a:t>
            </a:r>
            <a:r>
              <a:rPr lang="zh-CN" altLang="en-US" sz="2800" b="1">
                <a:latin typeface="宋体" panose="02010600030101010101" pitchFamily="2" charset="-122"/>
              </a:rPr>
              <a:t>编写</a:t>
            </a:r>
            <a:r>
              <a:rPr lang="en-US" altLang="zh-CN" sz="2800" b="1">
                <a:latin typeface="宋体" panose="02010600030101010101" pitchFamily="2" charset="-122"/>
              </a:rPr>
              <a:t>0.4÷</a:t>
            </a:r>
            <a:r>
              <a:rPr lang="zh-CN" altLang="en-US" sz="2800" b="1">
                <a:latin typeface="宋体" panose="02010600030101010101" pitchFamily="2" charset="-122"/>
              </a:rPr>
              <a:t>（</a:t>
            </a:r>
            <a:r>
              <a:rPr lang="en-US" altLang="zh-CN" sz="2800" b="1">
                <a:latin typeface="宋体" panose="02010600030101010101" pitchFamily="2" charset="-122"/>
              </a:rPr>
              <a:t>-0.8</a:t>
            </a:r>
            <a:r>
              <a:rPr lang="zh-CN" altLang="en-US" sz="2800" b="1">
                <a:latin typeface="宋体" panose="02010600030101010101" pitchFamily="2" charset="-122"/>
              </a:rPr>
              <a:t>）的程序段。</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.title  </a:t>
            </a:r>
            <a:r>
              <a:rPr lang="en-US" altLang="zh-CN" sz="2800" b="1"/>
              <a:t>“</a:t>
            </a:r>
            <a:r>
              <a:rPr lang="en-US" altLang="zh-CN" sz="2800" b="1">
                <a:latin typeface="宋体" panose="02010600030101010101" pitchFamily="2" charset="-122"/>
              </a:rPr>
              <a:t>cjy5.asm</a:t>
            </a:r>
            <a:r>
              <a:rPr lang="en-US" altLang="zh-CN" sz="2800" b="1"/>
              <a:t>”</a:t>
            </a:r>
          </a:p>
          <a:p>
            <a:pPr algn="just"/>
            <a:r>
              <a:rPr lang="zh-CN" altLang="en-US" sz="2800" b="1">
                <a:latin typeface="宋体" panose="02010600030101010101" pitchFamily="2" charset="-122"/>
              </a:rPr>
              <a:t>　　　</a:t>
            </a:r>
            <a:r>
              <a:rPr lang="en-US" altLang="zh-CN" sz="2800" b="1">
                <a:latin typeface="宋体" panose="02010600030101010101" pitchFamily="2" charset="-122"/>
              </a:rPr>
              <a:t>.mmregs</a:t>
            </a:r>
            <a:endParaRPr lang="en-US" altLang="zh-CN" sz="2800" b="1"/>
          </a:p>
          <a:p>
            <a:pPr algn="just"/>
            <a:r>
              <a:rPr lang="en-US" altLang="zh-CN" sz="2800" b="1">
                <a:latin typeface="宋体" panose="02010600030101010101" pitchFamily="2" charset="-122"/>
              </a:rPr>
              <a:t>STACK .usect </a:t>
            </a:r>
            <a:r>
              <a:rPr lang="en-US" altLang="zh-CN" sz="2800" b="1"/>
              <a:t>“</a:t>
            </a:r>
            <a:r>
              <a:rPr lang="en-US" altLang="zh-CN" sz="2800" b="1">
                <a:latin typeface="宋体" panose="02010600030101010101" pitchFamily="2" charset="-122"/>
              </a:rPr>
              <a:t>STACK</a:t>
            </a:r>
            <a:r>
              <a:rPr lang="en-US" altLang="zh-CN" sz="2800" b="1"/>
              <a:t>”</a:t>
            </a:r>
            <a:r>
              <a:rPr lang="en-US" altLang="zh-CN" sz="2800" b="1">
                <a:latin typeface="宋体" panose="02010600030101010101" pitchFamily="2" charset="-122"/>
              </a:rPr>
              <a:t>,10H</a:t>
            </a:r>
            <a:endParaRPr lang="en-US" altLang="zh-CN" sz="2800" b="1"/>
          </a:p>
          <a:p>
            <a:pPr algn="just"/>
            <a:r>
              <a:rPr lang="zh-CN" altLang="en-US" sz="2800" b="1">
                <a:latin typeface="宋体" panose="02010600030101010101" pitchFamily="2" charset="-122"/>
              </a:rPr>
              <a:t>　　　</a:t>
            </a:r>
            <a:r>
              <a:rPr lang="en-US" altLang="zh-CN" sz="2800" b="1">
                <a:latin typeface="宋体" panose="02010600030101010101" pitchFamily="2" charset="-122"/>
              </a:rPr>
              <a:t>.bss    num,1       </a:t>
            </a:r>
            <a:r>
              <a:rPr lang="zh-CN" altLang="en-US" sz="2800" b="1">
                <a:latin typeface="宋体" panose="02010600030101010101" pitchFamily="2" charset="-122"/>
              </a:rPr>
              <a:t>；为分子分配单元</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.bss    den,1       </a:t>
            </a:r>
            <a:r>
              <a:rPr lang="zh-CN" altLang="en-US" sz="2800" b="1">
                <a:latin typeface="宋体" panose="02010600030101010101" pitchFamily="2" charset="-122"/>
              </a:rPr>
              <a:t>；为分母分配单元</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.bss    quot,1      </a:t>
            </a:r>
            <a:r>
              <a:rPr lang="zh-CN" altLang="en-US" sz="2800" b="1">
                <a:latin typeface="宋体" panose="02010600030101010101" pitchFamily="2" charset="-122"/>
              </a:rPr>
              <a:t>；为商分配单元</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.data               </a:t>
            </a:r>
            <a:r>
              <a:rPr lang="zh-CN" altLang="en-US" sz="2800" b="1">
                <a:latin typeface="宋体" panose="02010600030101010101" pitchFamily="2" charset="-122"/>
              </a:rPr>
              <a:t>；定义数据段起始地址</a:t>
            </a:r>
            <a:endParaRPr lang="zh-CN" altLang="en-US" sz="2800" b="1"/>
          </a:p>
          <a:p>
            <a:pPr algn="just"/>
            <a:r>
              <a:rPr lang="en-US" altLang="zh-CN" sz="2800" b="1">
                <a:latin typeface="宋体" panose="02010600030101010101" pitchFamily="2" charset="-122"/>
              </a:rPr>
              <a:t>table:.word   4*32768/10  </a:t>
            </a:r>
            <a:r>
              <a:rPr lang="zh-CN" altLang="en-US" sz="2800" b="1">
                <a:latin typeface="宋体" panose="02010600030101010101" pitchFamily="2" charset="-122"/>
              </a:rPr>
              <a:t>；在以</a:t>
            </a:r>
            <a:r>
              <a:rPr lang="en-US" altLang="zh-CN" sz="2800" b="1">
                <a:latin typeface="宋体" panose="02010600030101010101" pitchFamily="2" charset="-122"/>
              </a:rPr>
              <a:t>table</a:t>
            </a:r>
            <a:r>
              <a:rPr lang="zh-CN" altLang="en-US" sz="2800" b="1">
                <a:latin typeface="宋体" panose="02010600030101010101" pitchFamily="2" charset="-122"/>
              </a:rPr>
              <a:t>为地址的</a:t>
            </a:r>
          </a:p>
          <a:p>
            <a:pPr algn="just"/>
            <a:r>
              <a:rPr lang="zh-CN" altLang="en-US" sz="2800" b="1">
                <a:latin typeface="宋体" panose="02010600030101010101" pitchFamily="2" charset="-122"/>
              </a:rPr>
              <a:t>　　　　　　　　　　　　　；单元放入 </a:t>
            </a:r>
            <a:r>
              <a:rPr lang="en-US" altLang="zh-CN" sz="2800" b="1">
                <a:latin typeface="宋体" panose="02010600030101010101" pitchFamily="2" charset="-122"/>
              </a:rPr>
              <a:t>0.4</a:t>
            </a:r>
            <a:endParaRPr lang="en-US" altLang="zh-CN" sz="2800" b="1"/>
          </a:p>
          <a:p>
            <a:pPr algn="just"/>
            <a:r>
              <a:rPr lang="zh-CN" altLang="en-US" sz="2800" b="1">
                <a:latin typeface="宋体" panose="02010600030101010101" pitchFamily="2" charset="-122"/>
              </a:rPr>
              <a:t>　　　</a:t>
            </a:r>
            <a:r>
              <a:rPr lang="en-US" altLang="zh-CN" sz="2800" b="1">
                <a:latin typeface="宋体" panose="02010600030101010101" pitchFamily="2" charset="-122"/>
              </a:rPr>
              <a:t>.word   -8*32768/10 </a:t>
            </a:r>
            <a:r>
              <a:rPr lang="zh-CN" altLang="en-US" sz="2800" b="1">
                <a:latin typeface="宋体" panose="02010600030101010101" pitchFamily="2" charset="-122"/>
              </a:rPr>
              <a:t>；在以</a:t>
            </a:r>
            <a:r>
              <a:rPr lang="en-US" altLang="zh-CN" sz="2800" b="1">
                <a:latin typeface="宋体" panose="02010600030101010101" pitchFamily="2" charset="-122"/>
              </a:rPr>
              <a:t>table</a:t>
            </a:r>
            <a:r>
              <a:rPr lang="zh-CN" altLang="en-US" sz="2800" b="1">
                <a:latin typeface="宋体" panose="02010600030101010101" pitchFamily="2" charset="-122"/>
              </a:rPr>
              <a:t>为地址的</a:t>
            </a:r>
          </a:p>
          <a:p>
            <a:pPr algn="just"/>
            <a:r>
              <a:rPr lang="zh-CN" altLang="en-US" sz="2800" b="1">
                <a:latin typeface="宋体" panose="02010600030101010101" pitchFamily="2" charset="-122"/>
              </a:rPr>
              <a:t>　</a:t>
            </a:r>
            <a:r>
              <a:rPr lang="zh-CN" altLang="en-US" sz="2800" b="1">
                <a:solidFill>
                  <a:srgbClr val="FF0000"/>
                </a:solidFill>
                <a:latin typeface="宋体" panose="02010600030101010101" pitchFamily="2" charset="-122"/>
              </a:rPr>
              <a:t>　　　　　　　　　</a:t>
            </a:r>
            <a:r>
              <a:rPr lang="zh-CN" altLang="en-US" sz="2800" b="1">
                <a:latin typeface="宋体" panose="02010600030101010101" pitchFamily="2" charset="-122"/>
              </a:rPr>
              <a:t>　　　；下一单元放入</a:t>
            </a:r>
            <a:r>
              <a:rPr lang="en-US" altLang="zh-CN" sz="2800" b="1">
                <a:latin typeface="宋体" panose="02010600030101010101" pitchFamily="2" charset="-122"/>
              </a:rPr>
              <a:t>-0.8</a:t>
            </a:r>
            <a:endParaRPr lang="en-US" altLang="zh-CN" sz="2800" b="1"/>
          </a:p>
          <a:p>
            <a:pPr algn="just"/>
            <a:r>
              <a:rPr lang="zh-CN" altLang="en-US" sz="2800" b="1">
                <a:latin typeface="宋体" panose="02010600030101010101" pitchFamily="2" charset="-122"/>
              </a:rPr>
              <a:t>　　　</a:t>
            </a:r>
            <a:r>
              <a:rPr lang="en-US" altLang="zh-CN" sz="2800" b="1">
                <a:latin typeface="宋体" panose="02010600030101010101" pitchFamily="2" charset="-122"/>
              </a:rPr>
              <a:t>.def    start</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0226"/>
                                        </p:tgtEl>
                                        <p:attrNameLst>
                                          <p:attrName>style.visibility</p:attrName>
                                        </p:attrNameLst>
                                      </p:cBhvr>
                                      <p:to>
                                        <p:strVal val="visible"/>
                                      </p:to>
                                    </p:set>
                                    <p:animEffect transition="in" filter="blinds(horizontal)">
                                      <p:cBhvr>
                                        <p:cTn id="7" dur="500"/>
                                        <p:tgtEl>
                                          <p:spTgt spid="820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2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37AC8EB-9453-4F21-894E-4A1161EDAE4C}" type="slidenum">
              <a:rPr lang="en-US" altLang="zh-CN" sz="1400"/>
              <a:pPr eaLnBrk="1" hangingPunct="1"/>
              <a:t>40</a:t>
            </a:fld>
            <a:endParaRPr lang="en-US" altLang="zh-CN" sz="1400"/>
          </a:p>
        </p:txBody>
      </p:sp>
      <p:sp>
        <p:nvSpPr>
          <p:cNvPr id="821250" name="Rectangle 2"/>
          <p:cNvSpPr>
            <a:spLocks noChangeArrowheads="1"/>
          </p:cNvSpPr>
          <p:nvPr/>
        </p:nvSpPr>
        <p:spPr bwMode="auto">
          <a:xfrm>
            <a:off x="228600" y="928688"/>
            <a:ext cx="8736013" cy="584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75000"/>
              </a:lnSpc>
              <a:spcBef>
                <a:spcPct val="10000"/>
              </a:spcBef>
            </a:pPr>
            <a:r>
              <a:rPr lang="en-US" altLang="zh-CN" b="1">
                <a:latin typeface="宋体" panose="02010600030101010101" pitchFamily="2" charset="-122"/>
              </a:rPr>
              <a:t>       </a:t>
            </a:r>
            <a:r>
              <a:rPr lang="en-US" altLang="zh-CN" sz="2000" b="1">
                <a:latin typeface="宋体" panose="02010600030101010101" pitchFamily="2" charset="-122"/>
              </a:rPr>
              <a:t>.text              </a:t>
            </a:r>
            <a:r>
              <a:rPr lang="zh-CN" altLang="en-US" sz="2000" b="1">
                <a:latin typeface="宋体" panose="02010600030101010101" pitchFamily="2" charset="-122"/>
              </a:rPr>
              <a:t>；定义数据段起始地址</a:t>
            </a:r>
            <a:endParaRPr lang="zh-CN" altLang="en-US" sz="2000" b="1"/>
          </a:p>
          <a:p>
            <a:pPr algn="just">
              <a:lnSpc>
                <a:spcPct val="75000"/>
              </a:lnSpc>
              <a:spcBef>
                <a:spcPct val="10000"/>
              </a:spcBef>
            </a:pPr>
            <a:r>
              <a:rPr lang="en-US" altLang="zh-CN" b="1">
                <a:latin typeface="宋体" panose="02010600030101010101" pitchFamily="2" charset="-122"/>
              </a:rPr>
              <a:t>start: STM  #num,AR1   </a:t>
            </a:r>
            <a:r>
              <a:rPr lang="zh-CN" altLang="en-US" b="1">
                <a:latin typeface="宋体" panose="02010600030101010101" pitchFamily="2" charset="-122"/>
              </a:rPr>
              <a:t>；将分子所在单元的地址传给</a:t>
            </a:r>
            <a:r>
              <a:rPr lang="en-US" altLang="zh-CN" b="1">
                <a:latin typeface="宋体" panose="02010600030101010101" pitchFamily="2" charset="-122"/>
              </a:rPr>
              <a:t>AR1</a:t>
            </a:r>
            <a:endParaRPr lang="en-US" altLang="zh-CN" b="1"/>
          </a:p>
          <a:p>
            <a:pPr algn="just">
              <a:lnSpc>
                <a:spcPct val="75000"/>
              </a:lnSpc>
              <a:spcBef>
                <a:spcPct val="10000"/>
              </a:spcBef>
            </a:pPr>
            <a:r>
              <a:rPr lang="en-US" altLang="zh-CN" b="1">
                <a:latin typeface="宋体" panose="02010600030101010101" pitchFamily="2" charset="-122"/>
              </a:rPr>
              <a:t>       RPT  #1         </a:t>
            </a:r>
            <a:r>
              <a:rPr lang="zh-CN" altLang="en-US" b="1">
                <a:latin typeface="宋体" panose="02010600030101010101" pitchFamily="2" charset="-122"/>
              </a:rPr>
              <a:t>；重复执行下一指令</a:t>
            </a:r>
            <a:r>
              <a:rPr lang="en-US" altLang="zh-CN" b="1">
                <a:latin typeface="宋体" panose="02010600030101010101" pitchFamily="2" charset="-122"/>
              </a:rPr>
              <a:t>2</a:t>
            </a:r>
            <a:r>
              <a:rPr lang="zh-CN" altLang="en-US" b="1">
                <a:latin typeface="宋体" panose="02010600030101010101" pitchFamily="2" charset="-122"/>
              </a:rPr>
              <a:t>次</a:t>
            </a:r>
            <a:endParaRPr lang="zh-CN" altLang="en-US" b="1"/>
          </a:p>
          <a:p>
            <a:pPr algn="just">
              <a:lnSpc>
                <a:spcPct val="75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MVPD table,*AR1+</a:t>
            </a:r>
            <a:r>
              <a:rPr lang="zh-CN" altLang="en-US" b="1">
                <a:latin typeface="宋体" panose="02010600030101010101" pitchFamily="2" charset="-122"/>
              </a:rPr>
              <a:t>；</a:t>
            </a:r>
            <a:r>
              <a:rPr lang="zh-CN" altLang="en-US" sz="2000" b="1">
                <a:latin typeface="宋体" panose="02010600030101010101" pitchFamily="2" charset="-122"/>
              </a:rPr>
              <a:t>传送程序空间的</a:t>
            </a:r>
            <a:r>
              <a:rPr lang="en-US" altLang="zh-CN" sz="2000" b="1">
                <a:latin typeface="宋体" panose="02010600030101010101" pitchFamily="2" charset="-122"/>
              </a:rPr>
              <a:t>2</a:t>
            </a:r>
            <a:r>
              <a:rPr lang="zh-CN" altLang="en-US" sz="2000" b="1">
                <a:latin typeface="宋体" panose="02010600030101010101" pitchFamily="2" charset="-122"/>
              </a:rPr>
              <a:t>个数据（分子、分母）</a:t>
            </a:r>
          </a:p>
          <a:p>
            <a:pPr algn="just">
              <a:lnSpc>
                <a:spcPct val="75000"/>
              </a:lnSpc>
              <a:spcBef>
                <a:spcPct val="10000"/>
              </a:spcBef>
            </a:pPr>
            <a:r>
              <a:rPr lang="zh-CN" altLang="en-US" sz="2000" b="1">
                <a:latin typeface="宋体" panose="02010600030101010101" pitchFamily="2" charset="-122"/>
              </a:rPr>
              <a:t>                            ；至地址为</a:t>
            </a:r>
            <a:r>
              <a:rPr lang="en-US" altLang="zh-CN" sz="2000" b="1">
                <a:latin typeface="宋体" panose="02010600030101010101" pitchFamily="2" charset="-122"/>
              </a:rPr>
              <a:t>num</a:t>
            </a:r>
            <a:r>
              <a:rPr lang="zh-CN" altLang="en-US" sz="2000" b="1">
                <a:latin typeface="宋体" panose="02010600030101010101" pitchFamily="2" charset="-122"/>
              </a:rPr>
              <a:t>开始的数据存储器单元</a:t>
            </a:r>
            <a:endParaRPr lang="zh-CN" altLang="en-US" sz="2000" b="1"/>
          </a:p>
          <a:p>
            <a:pPr algn="just">
              <a:lnSpc>
                <a:spcPct val="75000"/>
              </a:lnSpc>
              <a:spcBef>
                <a:spcPct val="10000"/>
              </a:spcBef>
            </a:pPr>
            <a:r>
              <a:rPr lang="zh-CN" altLang="en-US" b="1">
                <a:latin typeface="宋体" panose="02010600030101010101" pitchFamily="2" charset="-122"/>
              </a:rPr>
              <a:t>       </a:t>
            </a:r>
            <a:r>
              <a:rPr lang="en-US" altLang="zh-CN" b="1">
                <a:solidFill>
                  <a:schemeClr val="folHlink"/>
                </a:solidFill>
                <a:latin typeface="宋体" panose="02010600030101010101" pitchFamily="2" charset="-122"/>
              </a:rPr>
              <a:t>LD   @den,16,A</a:t>
            </a:r>
            <a:r>
              <a:rPr lang="en-US" altLang="zh-CN" b="1">
                <a:latin typeface="宋体" panose="02010600030101010101" pitchFamily="2" charset="-122"/>
              </a:rPr>
              <a:t>  </a:t>
            </a:r>
            <a:r>
              <a:rPr lang="zh-CN" altLang="en-US" b="1">
                <a:latin typeface="宋体" panose="02010600030101010101" pitchFamily="2" charset="-122"/>
              </a:rPr>
              <a:t>；将分母移到累加器</a:t>
            </a:r>
            <a:r>
              <a:rPr lang="en-US" altLang="zh-CN" b="1">
                <a:latin typeface="宋体" panose="02010600030101010101" pitchFamily="2" charset="-122"/>
              </a:rPr>
              <a:t>A</a:t>
            </a:r>
            <a:r>
              <a:rPr lang="zh-CN" altLang="en-US" b="1">
                <a:latin typeface="宋体" panose="02010600030101010101" pitchFamily="2" charset="-122"/>
              </a:rPr>
              <a:t>（</a:t>
            </a:r>
            <a:r>
              <a:rPr lang="en-US" altLang="zh-CN" b="1">
                <a:latin typeface="宋体" panose="02010600030101010101" pitchFamily="2" charset="-122"/>
              </a:rPr>
              <a:t>31</a:t>
            </a:r>
            <a:r>
              <a:rPr lang="zh-CN" altLang="en-US" b="1">
                <a:latin typeface="宋体" panose="02010600030101010101" pitchFamily="2" charset="-122"/>
              </a:rPr>
              <a:t>～</a:t>
            </a:r>
            <a:r>
              <a:rPr lang="en-US" altLang="zh-CN" b="1">
                <a:latin typeface="宋体" panose="02010600030101010101" pitchFamily="2" charset="-122"/>
              </a:rPr>
              <a:t>16</a:t>
            </a:r>
            <a:r>
              <a:rPr lang="zh-CN" altLang="en-US" b="1">
                <a:latin typeface="宋体" panose="02010600030101010101" pitchFamily="2" charset="-122"/>
              </a:rPr>
              <a:t>）</a:t>
            </a:r>
            <a:endParaRPr lang="zh-CN" altLang="en-US" b="1"/>
          </a:p>
          <a:p>
            <a:pPr algn="just">
              <a:lnSpc>
                <a:spcPct val="75000"/>
              </a:lnSpc>
              <a:spcBef>
                <a:spcPct val="10000"/>
              </a:spcBef>
            </a:pPr>
            <a:r>
              <a:rPr lang="zh-CN" altLang="en-US" b="1">
                <a:latin typeface="宋体" panose="02010600030101010101" pitchFamily="2" charset="-122"/>
              </a:rPr>
              <a:t>       </a:t>
            </a:r>
            <a:r>
              <a:rPr lang="en-US" altLang="zh-CN" b="1">
                <a:solidFill>
                  <a:schemeClr val="folHlink"/>
                </a:solidFill>
                <a:latin typeface="宋体" panose="02010600030101010101" pitchFamily="2" charset="-122"/>
              </a:rPr>
              <a:t>MPYA @num</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num</a:t>
            </a:r>
            <a:r>
              <a:rPr lang="zh-CN" altLang="en-US" b="1">
                <a:latin typeface="宋体" panose="02010600030101010101" pitchFamily="2" charset="-122"/>
              </a:rPr>
              <a:t>）*（ </a:t>
            </a:r>
            <a:r>
              <a:rPr lang="en-US" altLang="zh-CN" b="1">
                <a:latin typeface="宋体" panose="02010600030101010101" pitchFamily="2" charset="-122"/>
              </a:rPr>
              <a:t>A</a:t>
            </a:r>
            <a:r>
              <a:rPr lang="zh-CN" altLang="en-US" b="1">
                <a:latin typeface="宋体" panose="02010600030101010101" pitchFamily="2" charset="-122"/>
              </a:rPr>
              <a:t>（</a:t>
            </a:r>
            <a:r>
              <a:rPr lang="en-US" altLang="zh-CN" b="1">
                <a:latin typeface="宋体" panose="02010600030101010101" pitchFamily="2" charset="-122"/>
              </a:rPr>
              <a:t>31</a:t>
            </a:r>
            <a:r>
              <a:rPr lang="zh-CN" altLang="en-US" b="1">
                <a:latin typeface="宋体" panose="02010600030101010101" pitchFamily="2" charset="-122"/>
              </a:rPr>
              <a:t>～</a:t>
            </a:r>
            <a:r>
              <a:rPr lang="en-US" altLang="zh-CN" b="1">
                <a:latin typeface="宋体" panose="02010600030101010101" pitchFamily="2" charset="-122"/>
              </a:rPr>
              <a:t>16</a:t>
            </a:r>
            <a:r>
              <a:rPr lang="zh-CN" altLang="en-US" b="1">
                <a:latin typeface="宋体" panose="02010600030101010101" pitchFamily="2" charset="-122"/>
              </a:rPr>
              <a:t>））→</a:t>
            </a:r>
            <a:r>
              <a:rPr lang="en-US" altLang="zh-CN" b="1">
                <a:latin typeface="宋体" panose="02010600030101010101" pitchFamily="2" charset="-122"/>
              </a:rPr>
              <a:t>B</a:t>
            </a:r>
            <a:r>
              <a:rPr lang="zh-CN" altLang="en-US" b="1">
                <a:latin typeface="宋体" panose="02010600030101010101" pitchFamily="2" charset="-122"/>
              </a:rPr>
              <a:t>，</a:t>
            </a:r>
          </a:p>
          <a:p>
            <a:pPr algn="just">
              <a:lnSpc>
                <a:spcPct val="75000"/>
              </a:lnSpc>
              <a:spcBef>
                <a:spcPct val="10000"/>
              </a:spcBef>
            </a:pPr>
            <a:r>
              <a:rPr lang="zh-CN" altLang="en-US" b="1">
                <a:latin typeface="宋体" panose="02010600030101010101" pitchFamily="2" charset="-122"/>
              </a:rPr>
              <a:t>                       ；获取商的符号（在累加器</a:t>
            </a:r>
            <a:r>
              <a:rPr lang="en-US" altLang="zh-CN" b="1">
                <a:latin typeface="宋体" panose="02010600030101010101" pitchFamily="2" charset="-122"/>
              </a:rPr>
              <a:t>B</a:t>
            </a:r>
            <a:r>
              <a:rPr lang="zh-CN" altLang="en-US" b="1">
                <a:latin typeface="宋体" panose="02010600030101010101" pitchFamily="2" charset="-122"/>
              </a:rPr>
              <a:t>中）</a:t>
            </a:r>
            <a:endParaRPr lang="zh-CN" altLang="en-US" b="1"/>
          </a:p>
          <a:p>
            <a:pPr algn="just">
              <a:lnSpc>
                <a:spcPct val="75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ABS  A          </a:t>
            </a:r>
            <a:r>
              <a:rPr lang="zh-CN" altLang="en-US" b="1">
                <a:latin typeface="宋体" panose="02010600030101010101" pitchFamily="2" charset="-122"/>
              </a:rPr>
              <a:t>；分母取绝对值</a:t>
            </a:r>
            <a:endParaRPr lang="zh-CN" altLang="en-US" b="1"/>
          </a:p>
          <a:p>
            <a:pPr algn="just">
              <a:lnSpc>
                <a:spcPct val="75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STH  A,@den     </a:t>
            </a:r>
            <a:r>
              <a:rPr lang="zh-CN" altLang="en-US" b="1">
                <a:latin typeface="宋体" panose="02010600030101010101" pitchFamily="2" charset="-122"/>
              </a:rPr>
              <a:t>；分母绝对值存回原处</a:t>
            </a:r>
            <a:endParaRPr lang="zh-CN" altLang="en-US" b="1"/>
          </a:p>
          <a:p>
            <a:pPr algn="just">
              <a:lnSpc>
                <a:spcPct val="75000"/>
              </a:lnSpc>
              <a:spcBef>
                <a:spcPct val="10000"/>
              </a:spcBef>
            </a:pPr>
            <a:r>
              <a:rPr lang="zh-CN" altLang="en-US" b="1">
                <a:latin typeface="宋体" panose="02010600030101010101" pitchFamily="2" charset="-122"/>
              </a:rPr>
              <a:t>       </a:t>
            </a:r>
            <a:r>
              <a:rPr lang="en-US" altLang="zh-CN" b="1">
                <a:solidFill>
                  <a:srgbClr val="FF0000"/>
                </a:solidFill>
                <a:latin typeface="宋体" panose="02010600030101010101" pitchFamily="2" charset="-122"/>
              </a:rPr>
              <a:t>LD   @num,16,A  </a:t>
            </a:r>
            <a:r>
              <a:rPr lang="zh-CN" altLang="en-US" b="1">
                <a:solidFill>
                  <a:srgbClr val="FF0000"/>
                </a:solidFill>
                <a:latin typeface="宋体" panose="02010600030101010101" pitchFamily="2" charset="-122"/>
              </a:rPr>
              <a:t>；分子加载到</a:t>
            </a:r>
            <a:r>
              <a:rPr lang="en-US" altLang="zh-CN" b="1">
                <a:solidFill>
                  <a:srgbClr val="FF0000"/>
                </a:solidFill>
                <a:latin typeface="宋体" panose="02010600030101010101" pitchFamily="2" charset="-122"/>
              </a:rPr>
              <a:t>A</a:t>
            </a: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31</a:t>
            </a: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16</a:t>
            </a:r>
            <a:r>
              <a:rPr lang="zh-CN" altLang="en-US" b="1">
                <a:solidFill>
                  <a:srgbClr val="FF0000"/>
                </a:solidFill>
                <a:latin typeface="宋体" panose="02010600030101010101" pitchFamily="2" charset="-122"/>
              </a:rPr>
              <a:t>）</a:t>
            </a:r>
            <a:endParaRPr lang="zh-CN" altLang="en-US" b="1">
              <a:solidFill>
                <a:srgbClr val="FF0000"/>
              </a:solidFill>
            </a:endParaRPr>
          </a:p>
          <a:p>
            <a:pPr algn="just">
              <a:lnSpc>
                <a:spcPct val="75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ABS  A          </a:t>
            </a:r>
            <a:r>
              <a:rPr lang="zh-CN" altLang="en-US" b="1">
                <a:latin typeface="宋体" panose="02010600030101010101" pitchFamily="2" charset="-122"/>
              </a:rPr>
              <a:t>；分子取绝对值</a:t>
            </a:r>
            <a:endParaRPr lang="zh-CN" altLang="en-US" b="1"/>
          </a:p>
          <a:p>
            <a:pPr algn="just">
              <a:lnSpc>
                <a:spcPct val="75000"/>
              </a:lnSpc>
              <a:spcBef>
                <a:spcPct val="10000"/>
              </a:spcBef>
            </a:pPr>
            <a:r>
              <a:rPr lang="zh-CN" altLang="en-US" b="1">
                <a:latin typeface="宋体" panose="02010600030101010101" pitchFamily="2" charset="-122"/>
              </a:rPr>
              <a:t>       </a:t>
            </a:r>
            <a:r>
              <a:rPr lang="en-US" altLang="zh-CN" b="1">
                <a:solidFill>
                  <a:schemeClr val="tx2"/>
                </a:solidFill>
                <a:latin typeface="宋体" panose="02010600030101010101" pitchFamily="2" charset="-122"/>
              </a:rPr>
              <a:t>RPT  #14        </a:t>
            </a: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15</a:t>
            </a:r>
            <a:r>
              <a:rPr lang="zh-CN" altLang="en-US" b="1">
                <a:solidFill>
                  <a:schemeClr val="tx2"/>
                </a:solidFill>
                <a:latin typeface="宋体" panose="02010600030101010101" pitchFamily="2" charset="-122"/>
              </a:rPr>
              <a:t>次减法循环，完成除法</a:t>
            </a:r>
            <a:endParaRPr lang="zh-CN" altLang="en-US" b="1">
              <a:solidFill>
                <a:schemeClr val="tx2"/>
              </a:solidFill>
            </a:endParaRPr>
          </a:p>
          <a:p>
            <a:pPr algn="just">
              <a:lnSpc>
                <a:spcPct val="75000"/>
              </a:lnSpc>
              <a:spcBef>
                <a:spcPct val="10000"/>
              </a:spcBef>
            </a:pPr>
            <a:r>
              <a:rPr lang="zh-CN" altLang="en-US" b="1">
                <a:solidFill>
                  <a:schemeClr val="tx2"/>
                </a:solidFill>
                <a:latin typeface="宋体" panose="02010600030101010101" pitchFamily="2" charset="-122"/>
              </a:rPr>
              <a:t>       </a:t>
            </a:r>
            <a:r>
              <a:rPr lang="en-US" altLang="zh-CN" b="1">
                <a:solidFill>
                  <a:schemeClr val="tx2"/>
                </a:solidFill>
                <a:latin typeface="宋体" panose="02010600030101010101" pitchFamily="2" charset="-122"/>
              </a:rPr>
              <a:t>SUBC @den,A</a:t>
            </a:r>
            <a:r>
              <a:rPr lang="en-US" altLang="zh-CN" b="1">
                <a:latin typeface="宋体" panose="02010600030101010101" pitchFamily="2" charset="-122"/>
              </a:rPr>
              <a:t>     </a:t>
            </a:r>
            <a:r>
              <a:rPr lang="zh-CN" altLang="en-US" b="1">
                <a:latin typeface="宋体" panose="02010600030101010101" pitchFamily="2" charset="-122"/>
              </a:rPr>
              <a:t>；</a:t>
            </a:r>
            <a:r>
              <a:rPr lang="en-US" altLang="zh-CN" b="1">
                <a:solidFill>
                  <a:srgbClr val="FF0000"/>
                </a:solidFill>
              </a:rPr>
              <a:t>num-</a:t>
            </a:r>
            <a:r>
              <a:rPr lang="en-US" altLang="zh-CN" b="1">
                <a:solidFill>
                  <a:schemeClr val="tx2"/>
                </a:solidFill>
              </a:rPr>
              <a:t>den</a:t>
            </a:r>
            <a:endParaRPr lang="en-US" altLang="zh-CN" b="1"/>
          </a:p>
          <a:p>
            <a:pPr algn="just">
              <a:lnSpc>
                <a:spcPct val="75000"/>
              </a:lnSpc>
              <a:spcBef>
                <a:spcPct val="10000"/>
              </a:spcBef>
            </a:pPr>
            <a:r>
              <a:rPr lang="en-US" altLang="zh-CN" b="1">
                <a:latin typeface="宋体" panose="02010600030101010101" pitchFamily="2" charset="-122"/>
              </a:rPr>
              <a:t>       </a:t>
            </a:r>
            <a:r>
              <a:rPr lang="en-US" altLang="zh-CN" b="1">
                <a:solidFill>
                  <a:srgbClr val="FF00FF"/>
                </a:solidFill>
                <a:latin typeface="宋体" panose="02010600030101010101" pitchFamily="2" charset="-122"/>
              </a:rPr>
              <a:t>XC   1,BLT</a:t>
            </a:r>
            <a:r>
              <a:rPr lang="en-US" altLang="zh-CN" b="1">
                <a:latin typeface="宋体" panose="02010600030101010101" pitchFamily="2" charset="-122"/>
              </a:rPr>
              <a:t>      </a:t>
            </a:r>
            <a:r>
              <a:rPr lang="zh-CN" altLang="en-US" sz="2000" b="1">
                <a:latin typeface="宋体" panose="02010600030101010101" pitchFamily="2" charset="-122"/>
              </a:rPr>
              <a:t>；如果</a:t>
            </a:r>
            <a:r>
              <a:rPr lang="en-US" altLang="zh-CN" sz="2000" b="1">
                <a:latin typeface="宋体" panose="02010600030101010101" pitchFamily="2" charset="-122"/>
              </a:rPr>
              <a:t>B&lt;0</a:t>
            </a:r>
            <a:r>
              <a:rPr lang="zh-CN" altLang="en-US" sz="2000" b="1">
                <a:latin typeface="宋体" panose="02010600030101010101" pitchFamily="2" charset="-122"/>
              </a:rPr>
              <a:t>（商是负数），则需要变号</a:t>
            </a:r>
            <a:r>
              <a:rPr lang="zh-CN" altLang="en-US" b="1">
                <a:latin typeface="宋体" panose="02010600030101010101" pitchFamily="2" charset="-122"/>
              </a:rPr>
              <a:t>           </a:t>
            </a:r>
          </a:p>
          <a:p>
            <a:pPr algn="just">
              <a:lnSpc>
                <a:spcPct val="75000"/>
              </a:lnSpc>
              <a:spcBef>
                <a:spcPct val="10000"/>
              </a:spcBef>
            </a:pPr>
            <a:r>
              <a:rPr lang="zh-CN" altLang="en-US" b="1">
                <a:latin typeface="宋体" panose="02010600030101010101" pitchFamily="2" charset="-122"/>
              </a:rPr>
              <a:t>       </a:t>
            </a:r>
            <a:r>
              <a:rPr lang="en-US" altLang="zh-CN" b="1">
                <a:solidFill>
                  <a:srgbClr val="FF00FF"/>
                </a:solidFill>
                <a:latin typeface="宋体" panose="02010600030101010101" pitchFamily="2" charset="-122"/>
              </a:rPr>
              <a:t>NEG  A</a:t>
            </a:r>
            <a:r>
              <a:rPr lang="en-US" altLang="zh-CN" b="1">
                <a:latin typeface="宋体" panose="02010600030101010101" pitchFamily="2" charset="-122"/>
              </a:rPr>
              <a:t>          </a:t>
            </a:r>
            <a:r>
              <a:rPr lang="zh-CN" altLang="en-US" sz="2000" b="1">
                <a:latin typeface="宋体" panose="02010600030101010101" pitchFamily="2" charset="-122"/>
              </a:rPr>
              <a:t>；如果</a:t>
            </a:r>
            <a:r>
              <a:rPr lang="en-US" altLang="zh-CN" sz="2000" b="1">
                <a:latin typeface="宋体" panose="02010600030101010101" pitchFamily="2" charset="-122"/>
              </a:rPr>
              <a:t>B&lt;0</a:t>
            </a:r>
            <a:r>
              <a:rPr lang="zh-CN" altLang="en-US" sz="2000" b="1">
                <a:latin typeface="宋体" panose="02010600030101010101" pitchFamily="2" charset="-122"/>
              </a:rPr>
              <a:t>执行求反，否则跳过此指令</a:t>
            </a:r>
            <a:endParaRPr lang="zh-CN" altLang="en-US" sz="2000" b="1"/>
          </a:p>
          <a:p>
            <a:pPr algn="just">
              <a:lnSpc>
                <a:spcPct val="75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STL  A,@quot    </a:t>
            </a:r>
            <a:r>
              <a:rPr lang="zh-CN" altLang="en-US" b="1">
                <a:latin typeface="宋体" panose="02010600030101010101" pitchFamily="2" charset="-122"/>
              </a:rPr>
              <a:t>；保存商</a:t>
            </a:r>
            <a:endParaRPr lang="zh-CN" altLang="en-US" b="1"/>
          </a:p>
          <a:p>
            <a:pPr>
              <a:lnSpc>
                <a:spcPct val="75000"/>
              </a:lnSpc>
            </a:pPr>
            <a:r>
              <a:rPr lang="en-US" altLang="zh-CN" b="1">
                <a:latin typeface="宋体" panose="02010600030101010101" pitchFamily="2" charset="-122"/>
              </a:rPr>
              <a:t>end:   B     end</a:t>
            </a:r>
            <a:r>
              <a:rPr lang="en-US" altLang="zh-CN" b="1"/>
              <a:t> </a:t>
            </a:r>
          </a:p>
          <a:p>
            <a:pPr>
              <a:lnSpc>
                <a:spcPct val="75000"/>
              </a:lnSpc>
            </a:pPr>
            <a:r>
              <a:rPr lang="en-US" altLang="zh-CN" b="1">
                <a:latin typeface="宋体" panose="02010600030101010101" pitchFamily="2" charset="-122"/>
              </a:rPr>
              <a:t>       .end</a:t>
            </a:r>
            <a:r>
              <a:rPr lang="en-US" altLang="zh-CN" b="1"/>
              <a:t> </a:t>
            </a:r>
          </a:p>
        </p:txBody>
      </p:sp>
      <p:sp>
        <p:nvSpPr>
          <p:cNvPr id="53252" name="AutoShape 3"/>
          <p:cNvSpPr>
            <a:spLocks/>
          </p:cNvSpPr>
          <p:nvPr/>
        </p:nvSpPr>
        <p:spPr bwMode="auto">
          <a:xfrm>
            <a:off x="1042988" y="2492375"/>
            <a:ext cx="215900" cy="431800"/>
          </a:xfrm>
          <a:prstGeom prst="leftBrace">
            <a:avLst>
              <a:gd name="adj1" fmla="val 16667"/>
              <a:gd name="adj2" fmla="val 50000"/>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folHlink"/>
              </a:solidFill>
            </a:endParaRPr>
          </a:p>
        </p:txBody>
      </p:sp>
      <p:sp>
        <p:nvSpPr>
          <p:cNvPr id="53253" name="Rectangle 4"/>
          <p:cNvSpPr>
            <a:spLocks noChangeArrowheads="1"/>
          </p:cNvSpPr>
          <p:nvPr/>
        </p:nvSpPr>
        <p:spPr bwMode="auto">
          <a:xfrm>
            <a:off x="179388" y="2349500"/>
            <a:ext cx="7921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chemeClr val="folHlink"/>
                </a:solidFill>
              </a:rPr>
              <a:t>取商的符号</a:t>
            </a:r>
          </a:p>
        </p:txBody>
      </p:sp>
      <p:sp>
        <p:nvSpPr>
          <p:cNvPr id="53254" name="AutoShape 5"/>
          <p:cNvSpPr>
            <a:spLocks/>
          </p:cNvSpPr>
          <p:nvPr/>
        </p:nvSpPr>
        <p:spPr bwMode="auto">
          <a:xfrm>
            <a:off x="971550" y="4797425"/>
            <a:ext cx="215900" cy="431800"/>
          </a:xfrm>
          <a:prstGeom prst="leftBrace">
            <a:avLst>
              <a:gd name="adj1" fmla="val 16667"/>
              <a:gd name="adj2" fmla="val 50000"/>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folHlink"/>
              </a:solidFill>
            </a:endParaRPr>
          </a:p>
        </p:txBody>
      </p:sp>
      <p:sp>
        <p:nvSpPr>
          <p:cNvPr id="53255" name="Rectangle 6"/>
          <p:cNvSpPr>
            <a:spLocks noChangeArrowheads="1"/>
          </p:cNvSpPr>
          <p:nvPr/>
        </p:nvSpPr>
        <p:spPr bwMode="auto">
          <a:xfrm>
            <a:off x="179388" y="4581525"/>
            <a:ext cx="7921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chemeClr val="tx2"/>
                </a:solidFill>
              </a:rPr>
              <a:t>除法运算</a:t>
            </a:r>
          </a:p>
        </p:txBody>
      </p:sp>
      <p:sp>
        <p:nvSpPr>
          <p:cNvPr id="53256" name="AutoShape 7"/>
          <p:cNvSpPr>
            <a:spLocks/>
          </p:cNvSpPr>
          <p:nvPr/>
        </p:nvSpPr>
        <p:spPr bwMode="auto">
          <a:xfrm>
            <a:off x="1042988" y="5373688"/>
            <a:ext cx="215900" cy="431800"/>
          </a:xfrm>
          <a:prstGeom prst="leftBrace">
            <a:avLst>
              <a:gd name="adj1" fmla="val 16667"/>
              <a:gd name="adj2" fmla="val 50000"/>
            </a:avLst>
          </a:prstGeom>
          <a:noFill/>
          <a:ln w="381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folHlink"/>
              </a:solidFill>
            </a:endParaRPr>
          </a:p>
        </p:txBody>
      </p:sp>
      <p:sp>
        <p:nvSpPr>
          <p:cNvPr id="53257" name="Rectangle 8"/>
          <p:cNvSpPr>
            <a:spLocks noChangeArrowheads="1"/>
          </p:cNvSpPr>
          <p:nvPr/>
        </p:nvSpPr>
        <p:spPr bwMode="auto">
          <a:xfrm>
            <a:off x="179388" y="5230813"/>
            <a:ext cx="7921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FF00FF"/>
                </a:solidFill>
              </a:rPr>
              <a:t>还原商的符号</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1250"/>
                                        </p:tgtEl>
                                        <p:attrNameLst>
                                          <p:attrName>style.visibility</p:attrName>
                                        </p:attrNameLst>
                                      </p:cBhvr>
                                      <p:to>
                                        <p:strVal val="visible"/>
                                      </p:to>
                                    </p:set>
                                    <p:animEffect transition="in" filter="blinds(horizontal)">
                                      <p:cBhvr>
                                        <p:cTn id="7" dur="500"/>
                                        <p:tgtEl>
                                          <p:spTgt spid="821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5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7D22335-4556-4F6B-9739-9C4BA5C8E3A5}" type="slidenum">
              <a:rPr lang="en-US" altLang="zh-CN" sz="1400"/>
              <a:pPr eaLnBrk="1" hangingPunct="1"/>
              <a:t>41</a:t>
            </a:fld>
            <a:endParaRPr lang="en-US" altLang="zh-CN" sz="1400"/>
          </a:p>
        </p:txBody>
      </p:sp>
      <p:sp>
        <p:nvSpPr>
          <p:cNvPr id="822275" name="Text Box 3" descr="小棋盘"/>
          <p:cNvSpPr txBox="1">
            <a:spLocks noChangeArrowheads="1"/>
          </p:cNvSpPr>
          <p:nvPr/>
        </p:nvSpPr>
        <p:spPr bwMode="auto">
          <a:xfrm>
            <a:off x="1835150" y="1052513"/>
            <a:ext cx="4391025" cy="428625"/>
          </a:xfrm>
          <a:prstGeom prst="rect">
            <a:avLst/>
          </a:prstGeom>
          <a:pattFill prst="smCheck">
            <a:fgClr>
              <a:schemeClr val="accent1"/>
            </a:fgClr>
            <a:bgClr>
              <a:srgbClr val="FFFFFF"/>
            </a:bgClr>
          </a:pattFill>
          <a:ln w="9525">
            <a:solidFill>
              <a:srgbClr val="FF00FF"/>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kumimoji="0" lang="en-US" altLang="zh-CN" sz="2000" b="1">
                <a:solidFill>
                  <a:schemeClr val="tx2"/>
                </a:solidFill>
                <a:latin typeface="宋体" panose="02010600030101010101" pitchFamily="2" charset="-122"/>
              </a:rPr>
              <a:t>a</a:t>
            </a:r>
            <a:r>
              <a:rPr kumimoji="0" lang="zh-CN" altLang="en-US" sz="2000" b="1">
                <a:solidFill>
                  <a:schemeClr val="tx2"/>
                </a:solidFill>
                <a:latin typeface="宋体" panose="02010600030101010101" pitchFamily="2" charset="-122"/>
              </a:rPr>
              <a:t>）｜被除数｜＜｜除数｜商为小数</a:t>
            </a:r>
            <a:endParaRPr kumimoji="0" lang="zh-CN" altLang="en-US" sz="2000" b="1">
              <a:solidFill>
                <a:schemeClr val="tx2"/>
              </a:solidFill>
            </a:endParaRPr>
          </a:p>
        </p:txBody>
      </p:sp>
      <p:sp>
        <p:nvSpPr>
          <p:cNvPr id="54276" name="Text Box 4"/>
          <p:cNvSpPr txBox="1">
            <a:spLocks noChangeArrowheads="1"/>
          </p:cNvSpPr>
          <p:nvPr/>
        </p:nvSpPr>
        <p:spPr bwMode="auto">
          <a:xfrm>
            <a:off x="3779838" y="1844675"/>
            <a:ext cx="4319587" cy="47148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pPr>
            <a:r>
              <a:rPr lang="zh-CN" altLang="en-US" sz="1800" b="1">
                <a:solidFill>
                  <a:srgbClr val="FF6600"/>
                </a:solidFill>
              </a:rPr>
              <a:t>第一次</a:t>
            </a:r>
            <a:r>
              <a:rPr lang="en-US" altLang="zh-CN" sz="1800" b="1">
                <a:solidFill>
                  <a:srgbClr val="FF6600"/>
                </a:solidFill>
              </a:rPr>
              <a:t>(src)      </a:t>
            </a:r>
            <a:r>
              <a:rPr lang="zh-CN" altLang="en-US" sz="1800" b="1">
                <a:solidFill>
                  <a:srgbClr val="FF6600"/>
                </a:solidFill>
              </a:rPr>
              <a:t>分子左移</a:t>
            </a:r>
            <a:r>
              <a:rPr lang="en-US" altLang="zh-CN" sz="1800" b="1">
                <a:solidFill>
                  <a:srgbClr val="FF6600"/>
                </a:solidFill>
              </a:rPr>
              <a:t>4</a:t>
            </a:r>
            <a:r>
              <a:rPr lang="zh-CN" altLang="en-US" sz="1800" b="1">
                <a:solidFill>
                  <a:srgbClr val="FF6600"/>
                </a:solidFill>
              </a:rPr>
              <a:t>位  </a:t>
            </a:r>
            <a:r>
              <a:rPr lang="en-US" altLang="zh-CN" sz="1800" b="1">
                <a:solidFill>
                  <a:srgbClr val="FF6600"/>
                </a:solidFill>
              </a:rPr>
              <a:t>0011  0000</a:t>
            </a:r>
          </a:p>
          <a:p>
            <a:pPr eaLnBrk="1" hangingPunct="1">
              <a:lnSpc>
                <a:spcPct val="90000"/>
              </a:lnSpc>
            </a:pPr>
            <a:r>
              <a:rPr lang="zh-CN" altLang="en-US" sz="1800" b="1">
                <a:solidFill>
                  <a:schemeClr val="folHlink"/>
                </a:solidFill>
              </a:rPr>
              <a:t>第二次</a:t>
            </a:r>
            <a:r>
              <a:rPr lang="en-US" altLang="zh-CN" sz="1800" b="1">
                <a:solidFill>
                  <a:schemeClr val="folHlink"/>
                </a:solidFill>
              </a:rPr>
              <a:t>(Smem)</a:t>
            </a:r>
            <a:r>
              <a:rPr lang="zh-CN" altLang="en-US" sz="1800" b="1">
                <a:solidFill>
                  <a:schemeClr val="folHlink"/>
                </a:solidFill>
              </a:rPr>
              <a:t>分母左移</a:t>
            </a:r>
            <a:r>
              <a:rPr lang="en-US" altLang="zh-CN" sz="1800" b="1">
                <a:solidFill>
                  <a:schemeClr val="folHlink"/>
                </a:solidFill>
              </a:rPr>
              <a:t>3</a:t>
            </a:r>
            <a:r>
              <a:rPr lang="zh-CN" altLang="en-US" sz="1800" b="1">
                <a:solidFill>
                  <a:schemeClr val="folHlink"/>
                </a:solidFill>
              </a:rPr>
              <a:t>位 </a:t>
            </a:r>
            <a:r>
              <a:rPr lang="en-US" altLang="zh-CN" sz="1800" b="1">
                <a:solidFill>
                  <a:schemeClr val="folHlink"/>
                </a:solidFill>
              </a:rPr>
              <a:t>-  011  0 </a:t>
            </a:r>
          </a:p>
          <a:p>
            <a:pPr eaLnBrk="1" hangingPunct="1">
              <a:lnSpc>
                <a:spcPct val="90000"/>
              </a:lnSpc>
            </a:pPr>
            <a:r>
              <a:rPr lang="en-US" altLang="zh-CN" sz="1800" b="1">
                <a:solidFill>
                  <a:schemeClr val="folHlink"/>
                </a:solidFill>
              </a:rPr>
              <a:t>ALU                                         0000  0000     </a:t>
            </a:r>
          </a:p>
          <a:p>
            <a:pPr eaLnBrk="1" hangingPunct="1">
              <a:lnSpc>
                <a:spcPct val="90000"/>
              </a:lnSpc>
            </a:pPr>
            <a:r>
              <a:rPr lang="en-US" altLang="zh-CN" sz="1800" b="1">
                <a:solidFill>
                  <a:schemeClr val="folHlink"/>
                </a:solidFill>
              </a:rPr>
              <a:t>ALU≥0 ALU</a:t>
            </a:r>
            <a:r>
              <a:rPr lang="zh-CN" altLang="en-US" sz="1800" b="1">
                <a:solidFill>
                  <a:schemeClr val="folHlink"/>
                </a:solidFill>
              </a:rPr>
              <a:t>左移</a:t>
            </a:r>
            <a:r>
              <a:rPr lang="en-US" altLang="zh-CN" sz="1800" b="1">
                <a:solidFill>
                  <a:schemeClr val="folHlink"/>
                </a:solidFill>
              </a:rPr>
              <a:t>1</a:t>
            </a:r>
            <a:r>
              <a:rPr lang="zh-CN" altLang="en-US" sz="1800" b="1">
                <a:solidFill>
                  <a:schemeClr val="folHlink"/>
                </a:solidFill>
              </a:rPr>
              <a:t>位           </a:t>
            </a:r>
            <a:r>
              <a:rPr lang="en-US" altLang="zh-CN" sz="1800" b="1">
                <a:solidFill>
                  <a:schemeClr val="folHlink"/>
                </a:solidFill>
              </a:rPr>
              <a:t>0000  0000</a:t>
            </a:r>
          </a:p>
          <a:p>
            <a:pPr eaLnBrk="1" hangingPunct="1">
              <a:lnSpc>
                <a:spcPct val="90000"/>
              </a:lnSpc>
            </a:pPr>
            <a:r>
              <a:rPr lang="en-US" altLang="zh-CN" sz="1800" b="1">
                <a:solidFill>
                  <a:schemeClr val="folHlink"/>
                </a:solidFill>
              </a:rPr>
              <a:t>                                               +                1</a:t>
            </a:r>
          </a:p>
          <a:p>
            <a:pPr eaLnBrk="1" hangingPunct="1">
              <a:lnSpc>
                <a:spcPct val="90000"/>
              </a:lnSpc>
            </a:pPr>
            <a:r>
              <a:rPr lang="zh-CN" altLang="en-US" sz="1800" b="1">
                <a:solidFill>
                  <a:schemeClr val="tx2"/>
                </a:solidFill>
              </a:rPr>
              <a:t>第三次</a:t>
            </a:r>
            <a:r>
              <a:rPr lang="en-US" altLang="zh-CN" sz="1800" b="1">
                <a:solidFill>
                  <a:schemeClr val="tx2"/>
                </a:solidFill>
              </a:rPr>
              <a:t>(src)                             0000  0001</a:t>
            </a:r>
          </a:p>
          <a:p>
            <a:pPr eaLnBrk="1" hangingPunct="1">
              <a:lnSpc>
                <a:spcPct val="90000"/>
              </a:lnSpc>
            </a:pPr>
            <a:r>
              <a:rPr lang="en-US" altLang="zh-CN" sz="1800" b="1">
                <a:solidFill>
                  <a:schemeClr val="tx2"/>
                </a:solidFill>
              </a:rPr>
              <a:t>           (Smem)</a:t>
            </a:r>
            <a:r>
              <a:rPr lang="zh-CN" altLang="en-US" sz="1800" b="1">
                <a:solidFill>
                  <a:schemeClr val="tx2"/>
                </a:solidFill>
              </a:rPr>
              <a:t>分母左移</a:t>
            </a:r>
            <a:r>
              <a:rPr lang="en-US" altLang="zh-CN" sz="1800" b="1">
                <a:solidFill>
                  <a:schemeClr val="tx2"/>
                </a:solidFill>
              </a:rPr>
              <a:t>3</a:t>
            </a:r>
            <a:r>
              <a:rPr lang="zh-CN" altLang="en-US" sz="1800" b="1">
                <a:solidFill>
                  <a:schemeClr val="tx2"/>
                </a:solidFill>
              </a:rPr>
              <a:t>位 </a:t>
            </a:r>
            <a:r>
              <a:rPr lang="en-US" altLang="zh-CN" sz="1800" b="1">
                <a:solidFill>
                  <a:schemeClr val="tx2"/>
                </a:solidFill>
              </a:rPr>
              <a:t>-  011  0</a:t>
            </a:r>
          </a:p>
          <a:p>
            <a:pPr eaLnBrk="1" hangingPunct="1">
              <a:lnSpc>
                <a:spcPct val="90000"/>
              </a:lnSpc>
            </a:pPr>
            <a:r>
              <a:rPr lang="en-US" altLang="zh-CN" sz="1800" b="1">
                <a:solidFill>
                  <a:schemeClr val="tx2"/>
                </a:solidFill>
              </a:rPr>
              <a:t>            ALU                            1101  0001</a:t>
            </a:r>
          </a:p>
          <a:p>
            <a:pPr eaLnBrk="1" hangingPunct="1">
              <a:lnSpc>
                <a:spcPct val="90000"/>
              </a:lnSpc>
            </a:pPr>
            <a:r>
              <a:rPr lang="en-US" altLang="zh-CN" sz="1800" b="1">
                <a:solidFill>
                  <a:schemeClr val="tx2"/>
                </a:solidFill>
              </a:rPr>
              <a:t>ALU</a:t>
            </a:r>
            <a:r>
              <a:rPr lang="zh-CN" altLang="en-US" sz="1800" b="1">
                <a:solidFill>
                  <a:schemeClr val="tx2"/>
                </a:solidFill>
              </a:rPr>
              <a:t>＜</a:t>
            </a:r>
            <a:r>
              <a:rPr lang="en-US" altLang="zh-CN" sz="1800" b="1">
                <a:solidFill>
                  <a:schemeClr val="tx2"/>
                </a:solidFill>
              </a:rPr>
              <a:t>0 (src) </a:t>
            </a:r>
            <a:r>
              <a:rPr lang="zh-CN" altLang="en-US" sz="1800" b="1">
                <a:solidFill>
                  <a:schemeClr val="tx2"/>
                </a:solidFill>
              </a:rPr>
              <a:t>左移一位         </a:t>
            </a:r>
            <a:r>
              <a:rPr lang="en-US" altLang="zh-CN" sz="1800" b="1">
                <a:solidFill>
                  <a:schemeClr val="tx2"/>
                </a:solidFill>
              </a:rPr>
              <a:t>0000  0001 </a:t>
            </a:r>
          </a:p>
          <a:p>
            <a:pPr eaLnBrk="1" hangingPunct="1">
              <a:lnSpc>
                <a:spcPct val="90000"/>
              </a:lnSpc>
            </a:pPr>
            <a:r>
              <a:rPr lang="en-US" altLang="zh-CN" sz="1800" b="1">
                <a:solidFill>
                  <a:schemeClr val="tx2"/>
                </a:solidFill>
              </a:rPr>
              <a:t>                                                 0000  0010</a:t>
            </a:r>
          </a:p>
          <a:p>
            <a:pPr eaLnBrk="1" hangingPunct="1">
              <a:lnSpc>
                <a:spcPct val="90000"/>
              </a:lnSpc>
            </a:pPr>
            <a:r>
              <a:rPr lang="zh-CN" altLang="en-US" sz="1800" b="1">
                <a:solidFill>
                  <a:srgbClr val="FF00FF"/>
                </a:solidFill>
              </a:rPr>
              <a:t>第四次</a:t>
            </a:r>
            <a:r>
              <a:rPr lang="en-US" altLang="zh-CN" sz="1800" b="1">
                <a:solidFill>
                  <a:srgbClr val="FF00FF"/>
                </a:solidFill>
              </a:rPr>
              <a:t>(src)                             0000  0010</a:t>
            </a:r>
          </a:p>
          <a:p>
            <a:pPr eaLnBrk="1" hangingPunct="1">
              <a:lnSpc>
                <a:spcPct val="90000"/>
              </a:lnSpc>
            </a:pPr>
            <a:r>
              <a:rPr lang="en-US" altLang="zh-CN" sz="1800" b="1">
                <a:solidFill>
                  <a:srgbClr val="FF00FF"/>
                </a:solidFill>
              </a:rPr>
              <a:t>           (Smem)</a:t>
            </a:r>
            <a:r>
              <a:rPr lang="zh-CN" altLang="en-US" sz="1800" b="1">
                <a:solidFill>
                  <a:srgbClr val="FF00FF"/>
                </a:solidFill>
              </a:rPr>
              <a:t>分母左移</a:t>
            </a:r>
            <a:r>
              <a:rPr lang="en-US" altLang="zh-CN" sz="1800" b="1">
                <a:solidFill>
                  <a:srgbClr val="FF00FF"/>
                </a:solidFill>
              </a:rPr>
              <a:t>3</a:t>
            </a:r>
            <a:r>
              <a:rPr lang="zh-CN" altLang="en-US" sz="1800" b="1">
                <a:solidFill>
                  <a:srgbClr val="FF00FF"/>
                </a:solidFill>
              </a:rPr>
              <a:t>位 </a:t>
            </a:r>
            <a:r>
              <a:rPr lang="en-US" altLang="zh-CN" sz="1800" b="1">
                <a:solidFill>
                  <a:srgbClr val="FF00FF"/>
                </a:solidFill>
              </a:rPr>
              <a:t>-  011  0</a:t>
            </a:r>
          </a:p>
          <a:p>
            <a:pPr eaLnBrk="1" hangingPunct="1">
              <a:lnSpc>
                <a:spcPct val="90000"/>
              </a:lnSpc>
            </a:pPr>
            <a:r>
              <a:rPr lang="en-US" altLang="zh-CN" sz="1800" b="1">
                <a:solidFill>
                  <a:srgbClr val="FF00FF"/>
                </a:solidFill>
              </a:rPr>
              <a:t>               ALU                         1101  0010</a:t>
            </a:r>
          </a:p>
          <a:p>
            <a:pPr eaLnBrk="1" hangingPunct="1">
              <a:lnSpc>
                <a:spcPct val="90000"/>
              </a:lnSpc>
            </a:pPr>
            <a:r>
              <a:rPr lang="en-US" altLang="zh-CN" sz="1800" b="1">
                <a:solidFill>
                  <a:srgbClr val="FF00FF"/>
                </a:solidFill>
              </a:rPr>
              <a:t>ALU</a:t>
            </a:r>
            <a:r>
              <a:rPr lang="zh-CN" altLang="en-US" sz="1800" b="1">
                <a:solidFill>
                  <a:srgbClr val="FF00FF"/>
                </a:solidFill>
              </a:rPr>
              <a:t>＜</a:t>
            </a:r>
            <a:r>
              <a:rPr lang="en-US" altLang="zh-CN" sz="1800" b="1">
                <a:solidFill>
                  <a:srgbClr val="FF00FF"/>
                </a:solidFill>
              </a:rPr>
              <a:t>0 (src) </a:t>
            </a:r>
            <a:r>
              <a:rPr lang="zh-CN" altLang="en-US" sz="1800" b="1">
                <a:solidFill>
                  <a:srgbClr val="FF00FF"/>
                </a:solidFill>
              </a:rPr>
              <a:t>左移一位        </a:t>
            </a:r>
            <a:r>
              <a:rPr lang="en-US" altLang="zh-CN" sz="1800" b="1">
                <a:solidFill>
                  <a:srgbClr val="FF00FF"/>
                </a:solidFill>
              </a:rPr>
              <a:t>0000  0010</a:t>
            </a:r>
          </a:p>
          <a:p>
            <a:pPr eaLnBrk="1" hangingPunct="1">
              <a:lnSpc>
                <a:spcPct val="90000"/>
              </a:lnSpc>
            </a:pPr>
            <a:r>
              <a:rPr lang="en-US" altLang="zh-CN" sz="1800" b="1">
                <a:solidFill>
                  <a:srgbClr val="FF00FF"/>
                </a:solidFill>
              </a:rPr>
              <a:t>                                                 0000  0100</a:t>
            </a:r>
          </a:p>
          <a:p>
            <a:pPr eaLnBrk="1" hangingPunct="1">
              <a:lnSpc>
                <a:spcPct val="90000"/>
              </a:lnSpc>
            </a:pPr>
            <a:r>
              <a:rPr lang="en-US" altLang="zh-CN" sz="1800" b="1">
                <a:solidFill>
                  <a:srgbClr val="FF00FF"/>
                </a:solidFill>
              </a:rPr>
              <a:t>          (src)                               0000  0100</a:t>
            </a:r>
          </a:p>
          <a:p>
            <a:pPr eaLnBrk="1" hangingPunct="1">
              <a:lnSpc>
                <a:spcPct val="90000"/>
              </a:lnSpc>
            </a:pPr>
            <a:r>
              <a:rPr lang="zh-CN" altLang="en-US" sz="1800" b="1"/>
              <a:t>取符号                                  </a:t>
            </a:r>
            <a:r>
              <a:rPr lang="en-US" altLang="zh-CN" sz="1800" b="1"/>
              <a:t>- 0000  0100</a:t>
            </a:r>
          </a:p>
          <a:p>
            <a:pPr eaLnBrk="1" hangingPunct="1">
              <a:lnSpc>
                <a:spcPct val="90000"/>
              </a:lnSpc>
            </a:pPr>
            <a:r>
              <a:rPr lang="zh-CN" altLang="en-US" sz="1800" b="1"/>
              <a:t>保存商</a:t>
            </a:r>
            <a:r>
              <a:rPr lang="en-US" altLang="zh-CN" sz="1800" b="1"/>
              <a:t>(src) </a:t>
            </a:r>
            <a:r>
              <a:rPr lang="zh-CN" altLang="en-US" sz="1800" b="1"/>
              <a:t>低字节→商     </a:t>
            </a:r>
            <a:r>
              <a:rPr lang="en-US" altLang="zh-CN" sz="1800" b="1"/>
              <a:t>quot= - 0100</a:t>
            </a:r>
          </a:p>
          <a:p>
            <a:pPr eaLnBrk="1" hangingPunct="1">
              <a:lnSpc>
                <a:spcPct val="90000"/>
              </a:lnSpc>
            </a:pPr>
            <a:r>
              <a:rPr lang="zh-CN" altLang="en-US" sz="1800" b="1">
                <a:solidFill>
                  <a:srgbClr val="FF0000"/>
                </a:solidFill>
              </a:rPr>
              <a:t>十进制转换输出  </a:t>
            </a:r>
            <a:r>
              <a:rPr lang="en-US" altLang="zh-CN" sz="1800" b="1">
                <a:solidFill>
                  <a:srgbClr val="FF0000"/>
                </a:solidFill>
              </a:rPr>
              <a:t>-0100=-4 →-4/8= - 0.5</a:t>
            </a:r>
          </a:p>
        </p:txBody>
      </p:sp>
      <p:sp>
        <p:nvSpPr>
          <p:cNvPr id="54277" name="Rectangle 21"/>
          <p:cNvSpPr>
            <a:spLocks noChangeArrowheads="1"/>
          </p:cNvSpPr>
          <p:nvPr/>
        </p:nvSpPr>
        <p:spPr bwMode="auto">
          <a:xfrm>
            <a:off x="323850" y="2565400"/>
            <a:ext cx="2808288" cy="161607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FFFF99"/>
                </a:solidFill>
              </a:rPr>
              <a:t>以</a:t>
            </a:r>
            <a:r>
              <a:rPr lang="en-US" altLang="zh-CN" sz="2000" b="1">
                <a:solidFill>
                  <a:srgbClr val="FFFF99"/>
                </a:solidFill>
              </a:rPr>
              <a:t>Q3</a:t>
            </a:r>
            <a:r>
              <a:rPr lang="zh-CN" altLang="en-US" sz="2000" b="1">
                <a:solidFill>
                  <a:srgbClr val="FFFF99"/>
                </a:solidFill>
              </a:rPr>
              <a:t>格式为例</a:t>
            </a:r>
            <a:r>
              <a:rPr lang="en-US" altLang="zh-CN" sz="2000" b="1">
                <a:solidFill>
                  <a:srgbClr val="FFFF99"/>
                </a:solidFill>
              </a:rPr>
              <a:t>0.4/(-0.8) </a:t>
            </a:r>
          </a:p>
          <a:p>
            <a:pPr eaLnBrk="1" hangingPunct="1"/>
            <a:r>
              <a:rPr lang="en-US" altLang="zh-CN" sz="2000" b="1">
                <a:solidFill>
                  <a:srgbClr val="FFFF99"/>
                </a:solidFill>
              </a:rPr>
              <a:t>               </a:t>
            </a:r>
            <a:r>
              <a:rPr lang="zh-CN" altLang="en-US" sz="2000" b="1">
                <a:solidFill>
                  <a:schemeClr val="bg1"/>
                </a:solidFill>
              </a:rPr>
              <a:t>被除数</a:t>
            </a:r>
            <a:r>
              <a:rPr lang="en-US" altLang="zh-CN" sz="2000" b="1">
                <a:solidFill>
                  <a:schemeClr val="bg1"/>
                </a:solidFill>
              </a:rPr>
              <a:t>0.4×8=3.2→0011 </a:t>
            </a:r>
          </a:p>
          <a:p>
            <a:pPr algn="ctr" eaLnBrk="1" hangingPunct="1"/>
            <a:r>
              <a:rPr lang="zh-CN" altLang="en-US" sz="2000" b="1">
                <a:solidFill>
                  <a:schemeClr val="bg1"/>
                </a:solidFill>
              </a:rPr>
              <a:t>运算               </a:t>
            </a:r>
          </a:p>
          <a:p>
            <a:pPr eaLnBrk="1" hangingPunct="1"/>
            <a:r>
              <a:rPr lang="zh-CN" altLang="en-US" sz="2000" b="1">
                <a:solidFill>
                  <a:schemeClr val="bg1"/>
                </a:solidFill>
              </a:rPr>
              <a:t>除数</a:t>
            </a:r>
            <a:r>
              <a:rPr lang="en-US" altLang="zh-CN" sz="2000" b="1">
                <a:solidFill>
                  <a:schemeClr val="bg1"/>
                </a:solidFill>
              </a:rPr>
              <a:t>0.8×8=6.4→0110</a:t>
            </a:r>
            <a:r>
              <a:rPr lang="en-US" altLang="zh-CN" sz="2000">
                <a:solidFill>
                  <a:schemeClr val="bg1"/>
                </a:solidFill>
              </a:rPr>
              <a:t> </a:t>
            </a:r>
          </a:p>
        </p:txBody>
      </p:sp>
      <p:sp>
        <p:nvSpPr>
          <p:cNvPr id="54278" name="Line 22"/>
          <p:cNvSpPr>
            <a:spLocks noChangeShapeType="1"/>
          </p:cNvSpPr>
          <p:nvPr/>
        </p:nvSpPr>
        <p:spPr bwMode="auto">
          <a:xfrm>
            <a:off x="5140325" y="6037263"/>
            <a:ext cx="2590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279" name="Line 23"/>
          <p:cNvSpPr>
            <a:spLocks noChangeShapeType="1"/>
          </p:cNvSpPr>
          <p:nvPr/>
        </p:nvSpPr>
        <p:spPr bwMode="auto">
          <a:xfrm>
            <a:off x="5148263" y="5068888"/>
            <a:ext cx="2590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280" name="Line 24"/>
          <p:cNvSpPr>
            <a:spLocks noChangeShapeType="1"/>
          </p:cNvSpPr>
          <p:nvPr/>
        </p:nvSpPr>
        <p:spPr bwMode="auto">
          <a:xfrm>
            <a:off x="5156200" y="4324350"/>
            <a:ext cx="2590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281" name="Line 25"/>
          <p:cNvSpPr>
            <a:spLocks noChangeShapeType="1"/>
          </p:cNvSpPr>
          <p:nvPr/>
        </p:nvSpPr>
        <p:spPr bwMode="auto">
          <a:xfrm>
            <a:off x="5140325" y="3797300"/>
            <a:ext cx="2590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282" name="Line 26"/>
          <p:cNvSpPr>
            <a:spLocks noChangeShapeType="1"/>
          </p:cNvSpPr>
          <p:nvPr/>
        </p:nvSpPr>
        <p:spPr bwMode="auto">
          <a:xfrm>
            <a:off x="5148263" y="3068638"/>
            <a:ext cx="2590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283" name="AutoShape 27"/>
          <p:cNvSpPr>
            <a:spLocks noChangeArrowheads="1"/>
          </p:cNvSpPr>
          <p:nvPr/>
        </p:nvSpPr>
        <p:spPr bwMode="auto">
          <a:xfrm>
            <a:off x="6659563" y="1268413"/>
            <a:ext cx="1008062" cy="360362"/>
          </a:xfrm>
          <a:prstGeom prst="wedgeRectCallout">
            <a:avLst>
              <a:gd name="adj1" fmla="val -34565"/>
              <a:gd name="adj2" fmla="val 117403"/>
            </a:avLst>
          </a:prstGeom>
          <a:solidFill>
            <a:schemeClr val="accent1"/>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a:t>累加器</a:t>
            </a:r>
            <a:r>
              <a:rPr lang="en-US" altLang="zh-CN" sz="1600" b="1"/>
              <a:t>A</a:t>
            </a:r>
          </a:p>
        </p:txBody>
      </p:sp>
      <p:sp>
        <p:nvSpPr>
          <p:cNvPr id="54284" name="AutoShape 28"/>
          <p:cNvSpPr>
            <a:spLocks noChangeArrowheads="1"/>
          </p:cNvSpPr>
          <p:nvPr/>
        </p:nvSpPr>
        <p:spPr bwMode="auto">
          <a:xfrm>
            <a:off x="7885113" y="2781300"/>
            <a:ext cx="1008062" cy="360363"/>
          </a:xfrm>
          <a:prstGeom prst="wedgeRectCallout">
            <a:avLst>
              <a:gd name="adj1" fmla="val -85907"/>
              <a:gd name="adj2" fmla="val 56606"/>
            </a:avLst>
          </a:prstGeom>
          <a:solidFill>
            <a:srgbClr val="CC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a:t>累加器</a:t>
            </a:r>
            <a:r>
              <a:rPr lang="en-US" altLang="zh-CN" sz="1600" b="1"/>
              <a:t>A</a:t>
            </a:r>
          </a:p>
        </p:txBody>
      </p:sp>
      <p:sp>
        <p:nvSpPr>
          <p:cNvPr id="54285" name="AutoShape 29"/>
          <p:cNvSpPr>
            <a:spLocks noChangeArrowheads="1"/>
          </p:cNvSpPr>
          <p:nvPr/>
        </p:nvSpPr>
        <p:spPr bwMode="auto">
          <a:xfrm>
            <a:off x="7956550" y="4005263"/>
            <a:ext cx="1008063" cy="360362"/>
          </a:xfrm>
          <a:prstGeom prst="wedgeRectCallout">
            <a:avLst>
              <a:gd name="adj1" fmla="val -86380"/>
              <a:gd name="adj2" fmla="val 55287"/>
            </a:avLst>
          </a:prstGeom>
          <a:solidFill>
            <a:schemeClr val="accent2"/>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a:t>累加器</a:t>
            </a:r>
            <a:r>
              <a:rPr lang="en-US" altLang="zh-CN" sz="1600" b="1"/>
              <a:t>A</a:t>
            </a:r>
          </a:p>
        </p:txBody>
      </p:sp>
      <p:sp>
        <p:nvSpPr>
          <p:cNvPr id="54286" name="AutoShape 30"/>
          <p:cNvSpPr>
            <a:spLocks noChangeArrowheads="1"/>
          </p:cNvSpPr>
          <p:nvPr/>
        </p:nvSpPr>
        <p:spPr bwMode="auto">
          <a:xfrm>
            <a:off x="7956550" y="4797425"/>
            <a:ext cx="1008063" cy="360363"/>
          </a:xfrm>
          <a:prstGeom prst="wedgeRectCallout">
            <a:avLst>
              <a:gd name="adj1" fmla="val -84329"/>
              <a:gd name="adj2" fmla="val 56167"/>
            </a:avLst>
          </a:prstGeom>
          <a:solidFill>
            <a:srgbClr val="FFFF99"/>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a:t>累加器</a:t>
            </a:r>
            <a:r>
              <a:rPr lang="en-US" altLang="zh-CN" sz="1600" b="1"/>
              <a:t>A</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2275"/>
                                        </p:tgtEl>
                                        <p:attrNameLst>
                                          <p:attrName>style.visibility</p:attrName>
                                        </p:attrNameLst>
                                      </p:cBhvr>
                                      <p:to>
                                        <p:strVal val="visible"/>
                                      </p:to>
                                    </p:set>
                                    <p:animEffect transition="in" filter="blinds(horizontal)">
                                      <p:cBhvr>
                                        <p:cTn id="7" dur="500"/>
                                        <p:tgtEl>
                                          <p:spTgt spid="822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27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31BD121-9FC0-43B6-9CC8-8761D3B421CC}" type="slidenum">
              <a:rPr lang="en-US" altLang="zh-CN" sz="1400"/>
              <a:pPr eaLnBrk="1" hangingPunct="1"/>
              <a:t>42</a:t>
            </a:fld>
            <a:endParaRPr lang="en-US" altLang="zh-CN" sz="1400"/>
          </a:p>
        </p:txBody>
      </p:sp>
      <p:sp>
        <p:nvSpPr>
          <p:cNvPr id="823298" name="Rectangle 2" descr="小棋盘"/>
          <p:cNvSpPr>
            <a:spLocks noChangeArrowheads="1"/>
          </p:cNvSpPr>
          <p:nvPr/>
        </p:nvSpPr>
        <p:spPr bwMode="auto">
          <a:xfrm>
            <a:off x="684213" y="1125538"/>
            <a:ext cx="7772400" cy="442912"/>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5000"/>
              </a:spcBef>
            </a:pPr>
            <a:r>
              <a:rPr lang="zh-CN" altLang="en-US" sz="2800" b="1">
                <a:solidFill>
                  <a:srgbClr val="FF0000"/>
                </a:solidFill>
                <a:latin typeface="宋体" panose="02010600030101010101" pitchFamily="2" charset="-122"/>
                <a:cs typeface="Times New Roman" panose="02020603050405020304" pitchFamily="18" charset="0"/>
              </a:rPr>
              <a:t>（</a:t>
            </a:r>
            <a:r>
              <a:rPr lang="en-US" altLang="zh-CN" sz="2800" b="1">
                <a:solidFill>
                  <a:srgbClr val="FF0000"/>
                </a:solidFill>
                <a:latin typeface="宋体" panose="02010600030101010101" pitchFamily="2" charset="-122"/>
                <a:cs typeface="Times New Roman" panose="02020603050405020304" pitchFamily="18" charset="0"/>
              </a:rPr>
              <a:t>2</a:t>
            </a:r>
            <a:r>
              <a:rPr lang="zh-CN" altLang="en-US" sz="2800" b="1">
                <a:solidFill>
                  <a:srgbClr val="FF0000"/>
                </a:solidFill>
                <a:latin typeface="宋体" panose="02010600030101010101" pitchFamily="2" charset="-122"/>
                <a:cs typeface="Times New Roman" panose="02020603050405020304" pitchFamily="18" charset="0"/>
              </a:rPr>
              <a:t>）当｜被除数｜≥｜除数｜时  商为整数。</a:t>
            </a:r>
            <a:r>
              <a:rPr lang="zh-CN" altLang="en-US" sz="2800" b="1">
                <a:solidFill>
                  <a:srgbClr val="FF0000"/>
                </a:solidFill>
                <a:latin typeface="宋体" panose="02010600030101010101" pitchFamily="2" charset="-122"/>
              </a:rPr>
              <a:t> </a:t>
            </a:r>
          </a:p>
        </p:txBody>
      </p:sp>
      <p:sp>
        <p:nvSpPr>
          <p:cNvPr id="823299" name="Rectangle 3"/>
          <p:cNvSpPr>
            <a:spLocks noChangeArrowheads="1"/>
          </p:cNvSpPr>
          <p:nvPr/>
        </p:nvSpPr>
        <p:spPr bwMode="auto">
          <a:xfrm>
            <a:off x="250825" y="1916113"/>
            <a:ext cx="8534400"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34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5-15  </a:t>
            </a:r>
            <a:r>
              <a:rPr lang="zh-CN" altLang="en-US" sz="2800" b="1">
                <a:latin typeface="宋体" panose="02010600030101010101" pitchFamily="2" charset="-122"/>
              </a:rPr>
              <a:t>编写</a:t>
            </a:r>
            <a:r>
              <a:rPr lang="en-US" altLang="zh-CN" sz="2800" b="1">
                <a:latin typeface="宋体" panose="02010600030101010101" pitchFamily="2" charset="-122"/>
              </a:rPr>
              <a:t>16384÷512</a:t>
            </a:r>
            <a:r>
              <a:rPr lang="zh-CN" altLang="en-US" sz="2800" b="1">
                <a:latin typeface="宋体" panose="02010600030101010101" pitchFamily="2" charset="-122"/>
              </a:rPr>
              <a:t>的程序段。</a:t>
            </a:r>
            <a:endParaRPr lang="zh-CN" altLang="en-US" sz="2800" b="1"/>
          </a:p>
          <a:p>
            <a:pPr algn="just"/>
            <a:r>
              <a:rPr lang="zh-CN" altLang="en-US" sz="2800" b="1">
                <a:latin typeface="宋体" panose="02010600030101010101" pitchFamily="2" charset="-122"/>
              </a:rPr>
              <a:t>将上例程序段仅作两处修改，其它不变，就得本例的程序段：</a:t>
            </a:r>
            <a:endParaRPr lang="zh-CN" altLang="en-US" sz="2800" b="1"/>
          </a:p>
          <a:p>
            <a:pPr algn="just"/>
            <a:r>
              <a:rPr lang="en-US" altLang="zh-CN" sz="2800" b="1">
                <a:solidFill>
                  <a:srgbClr val="FF00FF"/>
                </a:solidFill>
                <a:latin typeface="宋体" panose="02010600030101010101" pitchFamily="2" charset="-122"/>
              </a:rPr>
              <a:t>LD  @num,16,A     </a:t>
            </a:r>
            <a:r>
              <a:rPr lang="zh-CN" altLang="en-US" sz="2800" b="1">
                <a:solidFill>
                  <a:srgbClr val="FF00FF"/>
                </a:solidFill>
                <a:latin typeface="宋体" panose="02010600030101010101" pitchFamily="2" charset="-122"/>
              </a:rPr>
              <a:t>改成    </a:t>
            </a:r>
            <a:r>
              <a:rPr lang="en-US" altLang="zh-CN" sz="2800" b="1">
                <a:solidFill>
                  <a:srgbClr val="FF00FF"/>
                </a:solidFill>
                <a:latin typeface="宋体" panose="02010600030101010101" pitchFamily="2" charset="-122"/>
              </a:rPr>
              <a:t>LD  @num,A</a:t>
            </a:r>
            <a:endParaRPr lang="en-US" altLang="zh-CN" sz="2800" b="1">
              <a:solidFill>
                <a:srgbClr val="FF00FF"/>
              </a:solidFill>
            </a:endParaRPr>
          </a:p>
          <a:p>
            <a:pPr algn="just"/>
            <a:r>
              <a:rPr lang="en-US" altLang="zh-CN" sz="2800" b="1">
                <a:solidFill>
                  <a:srgbClr val="FF00FF"/>
                </a:solidFill>
                <a:latin typeface="宋体" panose="02010600030101010101" pitchFamily="2" charset="-122"/>
              </a:rPr>
              <a:t>RPT #14           </a:t>
            </a:r>
            <a:r>
              <a:rPr lang="zh-CN" altLang="en-US" sz="2800" b="1">
                <a:solidFill>
                  <a:srgbClr val="FF00FF"/>
                </a:solidFill>
                <a:latin typeface="宋体" panose="02010600030101010101" pitchFamily="2" charset="-122"/>
              </a:rPr>
              <a:t>改成    </a:t>
            </a:r>
            <a:r>
              <a:rPr lang="en-US" altLang="zh-CN" sz="2800" b="1">
                <a:solidFill>
                  <a:srgbClr val="FF00FF"/>
                </a:solidFill>
                <a:latin typeface="宋体" panose="02010600030101010101" pitchFamily="2" charset="-122"/>
              </a:rPr>
              <a:t>RPT #15</a:t>
            </a:r>
            <a:endParaRPr lang="en-US" altLang="zh-CN" sz="2800" b="1">
              <a:solidFill>
                <a:srgbClr val="FF00FF"/>
              </a:solidFill>
            </a:endParaRPr>
          </a:p>
          <a:p>
            <a:pPr algn="just"/>
            <a:r>
              <a:rPr lang="zh-CN" altLang="en-US" sz="2800" b="1">
                <a:latin typeface="宋体" panose="02010600030101010101" pitchFamily="2" charset="-122"/>
              </a:rPr>
              <a:t>本例的程序段为：</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.title  </a:t>
            </a:r>
            <a:r>
              <a:rPr lang="en-US" altLang="zh-CN" sz="2800" b="1"/>
              <a:t>“</a:t>
            </a:r>
            <a:r>
              <a:rPr lang="en-US" altLang="zh-CN" sz="2800" b="1">
                <a:latin typeface="宋体" panose="02010600030101010101" pitchFamily="2" charset="-122"/>
              </a:rPr>
              <a:t>cjy6.asm</a:t>
            </a:r>
            <a:r>
              <a:rPr lang="en-US" altLang="zh-CN" sz="2800" b="1"/>
              <a:t>”</a:t>
            </a:r>
          </a:p>
          <a:p>
            <a:pPr algn="just"/>
            <a:r>
              <a:rPr lang="en-US" altLang="zh-CN" sz="2800" b="1">
                <a:latin typeface="宋体" panose="02010600030101010101" pitchFamily="2" charset="-122"/>
              </a:rPr>
              <a:t>        .mmregs</a:t>
            </a:r>
            <a:endParaRPr lang="en-US" altLang="zh-CN" sz="2800" b="1"/>
          </a:p>
          <a:p>
            <a:pPr algn="just"/>
            <a:r>
              <a:rPr lang="en-US" altLang="zh-CN" sz="2800" b="1">
                <a:latin typeface="宋体" panose="02010600030101010101" pitchFamily="2" charset="-122"/>
              </a:rPr>
              <a:t>STACK   .usect </a:t>
            </a:r>
            <a:r>
              <a:rPr lang="en-US" altLang="zh-CN" sz="2800" b="1"/>
              <a:t>“</a:t>
            </a:r>
            <a:r>
              <a:rPr lang="en-US" altLang="zh-CN" sz="2800" b="1">
                <a:latin typeface="宋体" panose="02010600030101010101" pitchFamily="2" charset="-122"/>
              </a:rPr>
              <a:t>STACK</a:t>
            </a:r>
            <a:r>
              <a:rPr lang="en-US" altLang="zh-CN" sz="2800" b="1"/>
              <a:t>”</a:t>
            </a:r>
            <a:r>
              <a:rPr lang="en-US" altLang="zh-CN" sz="2800" b="1">
                <a:latin typeface="宋体" panose="02010600030101010101" pitchFamily="2" charset="-122"/>
              </a:rPr>
              <a:t>,10H</a:t>
            </a:r>
            <a:endParaRPr lang="en-US" altLang="zh-CN" sz="2800" b="1"/>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23298"/>
                                        </p:tgtEl>
                                        <p:attrNameLst>
                                          <p:attrName>style.visibility</p:attrName>
                                        </p:attrNameLst>
                                      </p:cBhvr>
                                      <p:to>
                                        <p:strVal val="visible"/>
                                      </p:to>
                                    </p:set>
                                    <p:animEffect transition="in" filter="slide(fromBottom)">
                                      <p:cBhvr>
                                        <p:cTn id="7" dur="500"/>
                                        <p:tgtEl>
                                          <p:spTgt spid="82329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23299"/>
                                        </p:tgtEl>
                                        <p:attrNameLst>
                                          <p:attrName>style.visibility</p:attrName>
                                        </p:attrNameLst>
                                      </p:cBhvr>
                                      <p:to>
                                        <p:strVal val="visible"/>
                                      </p:to>
                                    </p:set>
                                    <p:animEffect transition="in" filter="blinds(horizontal)">
                                      <p:cBhvr>
                                        <p:cTn id="11" dur="500"/>
                                        <p:tgtEl>
                                          <p:spTgt spid="823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298" grpId="0" animBg="1"/>
      <p:bldP spid="82329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C5C6A00A-A653-47C6-B68B-8C8A0F2C8D45}" type="slidenum">
              <a:rPr lang="en-US" altLang="zh-CN" sz="1400"/>
              <a:pPr eaLnBrk="1" hangingPunct="1"/>
              <a:t>43</a:t>
            </a:fld>
            <a:endParaRPr lang="en-US" altLang="zh-CN" sz="1400"/>
          </a:p>
        </p:txBody>
      </p:sp>
      <p:sp>
        <p:nvSpPr>
          <p:cNvPr id="824322" name="Rectangle 2"/>
          <p:cNvSpPr>
            <a:spLocks noChangeArrowheads="1"/>
          </p:cNvSpPr>
          <p:nvPr/>
        </p:nvSpPr>
        <p:spPr bwMode="auto">
          <a:xfrm>
            <a:off x="304800" y="1066800"/>
            <a:ext cx="8686800" cy="539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
              </a:spcBef>
            </a:pPr>
            <a:r>
              <a:rPr lang="en-US" altLang="zh-CN" sz="2800" b="1">
                <a:latin typeface="宋体" panose="02010600030101010101" pitchFamily="2" charset="-122"/>
              </a:rPr>
              <a:t>       .bss    num,1   </a:t>
            </a:r>
            <a:r>
              <a:rPr lang="zh-CN" altLang="en-US" sz="2800" b="1">
                <a:latin typeface="宋体" panose="02010600030101010101" pitchFamily="2" charset="-122"/>
              </a:rPr>
              <a:t>；为分子分配单元</a:t>
            </a:r>
            <a:endParaRPr lang="zh-CN" altLang="en-US" sz="2800" b="1"/>
          </a:p>
          <a:p>
            <a:pPr>
              <a:lnSpc>
                <a:spcPct val="80000"/>
              </a:lnSpc>
              <a:spcBef>
                <a:spcPct val="5000"/>
              </a:spcBef>
            </a:pPr>
            <a:r>
              <a:rPr lang="zh-CN" altLang="en-US" sz="2800" b="1">
                <a:latin typeface="宋体" panose="02010600030101010101" pitchFamily="2" charset="-122"/>
              </a:rPr>
              <a:t>       </a:t>
            </a:r>
            <a:r>
              <a:rPr lang="en-US" altLang="zh-CN" sz="2800" b="1">
                <a:latin typeface="宋体" panose="02010600030101010101" pitchFamily="2" charset="-122"/>
              </a:rPr>
              <a:t>.bss    den,1   </a:t>
            </a:r>
            <a:r>
              <a:rPr lang="zh-CN" altLang="en-US" sz="2800" b="1">
                <a:latin typeface="宋体" panose="02010600030101010101" pitchFamily="2" charset="-122"/>
              </a:rPr>
              <a:t>；为分母分配单元</a:t>
            </a:r>
            <a:endParaRPr lang="zh-CN" altLang="en-US" sz="2800" b="1"/>
          </a:p>
          <a:p>
            <a:pPr>
              <a:lnSpc>
                <a:spcPct val="80000"/>
              </a:lnSpc>
              <a:spcBef>
                <a:spcPct val="5000"/>
              </a:spcBef>
            </a:pPr>
            <a:r>
              <a:rPr lang="zh-CN" altLang="en-US" sz="2800" b="1">
                <a:latin typeface="宋体" panose="02010600030101010101" pitchFamily="2" charset="-122"/>
              </a:rPr>
              <a:t>       </a:t>
            </a:r>
            <a:r>
              <a:rPr lang="en-US" altLang="zh-CN" sz="2800" b="1">
                <a:latin typeface="宋体" panose="02010600030101010101" pitchFamily="2" charset="-122"/>
              </a:rPr>
              <a:t>.bss    quot,1  </a:t>
            </a:r>
            <a:r>
              <a:rPr lang="zh-CN" altLang="en-US" sz="2800" b="1">
                <a:latin typeface="宋体" panose="02010600030101010101" pitchFamily="2" charset="-122"/>
              </a:rPr>
              <a:t>；为商分配单元</a:t>
            </a:r>
            <a:endParaRPr lang="zh-CN" altLang="en-US" sz="2800" b="1"/>
          </a:p>
          <a:p>
            <a:pPr>
              <a:lnSpc>
                <a:spcPct val="80000"/>
              </a:lnSpc>
              <a:spcBef>
                <a:spcPct val="5000"/>
              </a:spcBef>
            </a:pPr>
            <a:r>
              <a:rPr lang="zh-CN" altLang="en-US" sz="2800" b="1">
                <a:latin typeface="宋体" panose="02010600030101010101" pitchFamily="2" charset="-122"/>
              </a:rPr>
              <a:t>       </a:t>
            </a:r>
            <a:r>
              <a:rPr lang="en-US" altLang="zh-CN" sz="2800" b="1">
                <a:latin typeface="宋体" panose="02010600030101010101" pitchFamily="2" charset="-122"/>
              </a:rPr>
              <a:t>.data           </a:t>
            </a:r>
            <a:r>
              <a:rPr lang="zh-CN" altLang="en-US" sz="2800" b="1">
                <a:latin typeface="宋体" panose="02010600030101010101" pitchFamily="2" charset="-122"/>
              </a:rPr>
              <a:t>；定义数据段起始地址</a:t>
            </a:r>
            <a:endParaRPr lang="zh-CN" altLang="en-US" sz="2800" b="1"/>
          </a:p>
          <a:p>
            <a:pPr>
              <a:lnSpc>
                <a:spcPct val="80000"/>
              </a:lnSpc>
              <a:spcBef>
                <a:spcPct val="5000"/>
              </a:spcBef>
            </a:pPr>
            <a:r>
              <a:rPr lang="en-US" altLang="zh-CN" sz="2800" b="1">
                <a:latin typeface="宋体" panose="02010600030101010101" pitchFamily="2" charset="-122"/>
              </a:rPr>
              <a:t>table: .word   16384   </a:t>
            </a:r>
            <a:r>
              <a:rPr lang="zh-CN" altLang="en-US" sz="2800" b="1">
                <a:latin typeface="宋体" panose="02010600030101010101" pitchFamily="2" charset="-122"/>
              </a:rPr>
              <a:t>；在以</a:t>
            </a:r>
            <a:r>
              <a:rPr lang="en-US" altLang="zh-CN" sz="2800" b="1">
                <a:latin typeface="宋体" panose="02010600030101010101" pitchFamily="2" charset="-122"/>
              </a:rPr>
              <a:t>table</a:t>
            </a:r>
            <a:r>
              <a:rPr lang="zh-CN" altLang="en-US" sz="2800" b="1">
                <a:latin typeface="宋体" panose="02010600030101010101" pitchFamily="2" charset="-122"/>
              </a:rPr>
              <a:t>为地址</a:t>
            </a:r>
          </a:p>
          <a:p>
            <a:pPr>
              <a:lnSpc>
                <a:spcPct val="80000"/>
              </a:lnSpc>
              <a:spcBef>
                <a:spcPct val="5000"/>
              </a:spcBef>
            </a:pPr>
            <a:r>
              <a:rPr lang="zh-CN" altLang="en-US" sz="2800" b="1">
                <a:latin typeface="宋体" panose="02010600030101010101" pitchFamily="2" charset="-122"/>
              </a:rPr>
              <a:t>                       ；的单元放入</a:t>
            </a:r>
            <a:r>
              <a:rPr lang="en-US" altLang="zh-CN" sz="2800" b="1">
                <a:latin typeface="宋体" panose="02010600030101010101" pitchFamily="2" charset="-122"/>
              </a:rPr>
              <a:t>16384</a:t>
            </a:r>
            <a:endParaRPr lang="en-US" altLang="zh-CN" sz="2800" b="1"/>
          </a:p>
          <a:p>
            <a:pPr>
              <a:lnSpc>
                <a:spcPct val="80000"/>
              </a:lnSpc>
              <a:spcBef>
                <a:spcPct val="5000"/>
              </a:spcBef>
            </a:pPr>
            <a:r>
              <a:rPr lang="en-US" altLang="zh-CN" sz="2800" b="1">
                <a:latin typeface="宋体" panose="02010600030101010101" pitchFamily="2" charset="-122"/>
              </a:rPr>
              <a:t>       .word   512     </a:t>
            </a:r>
            <a:r>
              <a:rPr lang="zh-CN" altLang="en-US" sz="2800" b="1">
                <a:latin typeface="宋体" panose="02010600030101010101" pitchFamily="2" charset="-122"/>
              </a:rPr>
              <a:t>；在以</a:t>
            </a:r>
            <a:r>
              <a:rPr lang="en-US" altLang="zh-CN" sz="2800" b="1">
                <a:latin typeface="宋体" panose="02010600030101010101" pitchFamily="2" charset="-122"/>
              </a:rPr>
              <a:t>table</a:t>
            </a:r>
            <a:r>
              <a:rPr lang="zh-CN" altLang="en-US" sz="2800" b="1">
                <a:latin typeface="宋体" panose="02010600030101010101" pitchFamily="2" charset="-122"/>
              </a:rPr>
              <a:t>为地址</a:t>
            </a:r>
          </a:p>
          <a:p>
            <a:pPr>
              <a:lnSpc>
                <a:spcPct val="80000"/>
              </a:lnSpc>
              <a:spcBef>
                <a:spcPct val="5000"/>
              </a:spcBef>
            </a:pPr>
            <a:r>
              <a:rPr lang="zh-CN" altLang="en-US" sz="2800" b="1">
                <a:latin typeface="宋体" panose="02010600030101010101" pitchFamily="2" charset="-122"/>
              </a:rPr>
              <a:t>                       ；的下一单元放入</a:t>
            </a:r>
            <a:r>
              <a:rPr lang="en-US" altLang="zh-CN" sz="2800" b="1">
                <a:latin typeface="宋体" panose="02010600030101010101" pitchFamily="2" charset="-122"/>
              </a:rPr>
              <a:t>512</a:t>
            </a:r>
            <a:endParaRPr lang="en-US" altLang="zh-CN" sz="2800" b="1"/>
          </a:p>
          <a:p>
            <a:pPr>
              <a:lnSpc>
                <a:spcPct val="80000"/>
              </a:lnSpc>
              <a:spcBef>
                <a:spcPct val="5000"/>
              </a:spcBef>
            </a:pPr>
            <a:r>
              <a:rPr lang="en-US" altLang="zh-CN" sz="2800" b="1">
                <a:latin typeface="宋体" panose="02010600030101010101" pitchFamily="2" charset="-122"/>
              </a:rPr>
              <a:t>       .def    start</a:t>
            </a:r>
          </a:p>
          <a:p>
            <a:pPr algn="just">
              <a:lnSpc>
                <a:spcPct val="80000"/>
              </a:lnSpc>
              <a:spcBef>
                <a:spcPct val="5000"/>
              </a:spcBef>
            </a:pPr>
            <a:r>
              <a:rPr lang="en-US" altLang="zh-CN" sz="2800" b="1">
                <a:latin typeface="宋体" panose="02010600030101010101" pitchFamily="2" charset="-122"/>
              </a:rPr>
              <a:t>       .text           </a:t>
            </a:r>
            <a:r>
              <a:rPr lang="zh-CN" altLang="en-US" sz="2800" b="1">
                <a:latin typeface="宋体" panose="02010600030101010101" pitchFamily="2" charset="-122"/>
              </a:rPr>
              <a:t>；定义数据段起始地址</a:t>
            </a:r>
          </a:p>
          <a:p>
            <a:pPr algn="just">
              <a:lnSpc>
                <a:spcPct val="80000"/>
              </a:lnSpc>
              <a:spcBef>
                <a:spcPct val="5000"/>
              </a:spcBef>
            </a:pPr>
            <a:r>
              <a:rPr lang="en-US" altLang="zh-CN" sz="2800" b="1">
                <a:latin typeface="宋体" panose="02010600030101010101" pitchFamily="2" charset="-122"/>
              </a:rPr>
              <a:t>start: STM     #num,AR1</a:t>
            </a:r>
            <a:r>
              <a:rPr lang="zh-CN" altLang="en-US" sz="2000" b="1">
                <a:latin typeface="宋体" panose="02010600030101010101" pitchFamily="2" charset="-122"/>
              </a:rPr>
              <a:t>；将分子所在单元地址传给</a:t>
            </a:r>
            <a:r>
              <a:rPr lang="en-US" altLang="zh-CN" sz="2000" b="1">
                <a:latin typeface="宋体" panose="02010600030101010101" pitchFamily="2" charset="-122"/>
              </a:rPr>
              <a:t>AR1</a:t>
            </a:r>
          </a:p>
          <a:p>
            <a:pPr algn="just">
              <a:lnSpc>
                <a:spcPct val="80000"/>
              </a:lnSpc>
              <a:spcBef>
                <a:spcPct val="5000"/>
              </a:spcBef>
            </a:pPr>
            <a:r>
              <a:rPr lang="en-US" altLang="zh-CN" sz="2800" b="1">
                <a:latin typeface="宋体" panose="02010600030101010101" pitchFamily="2" charset="-122"/>
              </a:rPr>
              <a:t>       RPT     #1      </a:t>
            </a:r>
            <a:r>
              <a:rPr lang="zh-CN" altLang="en-US" sz="2800" b="1">
                <a:latin typeface="宋体" panose="02010600030101010101" pitchFamily="2" charset="-122"/>
              </a:rPr>
              <a:t>；重复执行下一指令</a:t>
            </a:r>
            <a:r>
              <a:rPr lang="en-US" altLang="zh-CN" sz="2800" b="1">
                <a:latin typeface="宋体" panose="02010600030101010101" pitchFamily="2" charset="-122"/>
              </a:rPr>
              <a:t>2</a:t>
            </a:r>
            <a:r>
              <a:rPr lang="zh-CN" altLang="en-US" sz="2800" b="1">
                <a:latin typeface="宋体" panose="02010600030101010101" pitchFamily="2" charset="-122"/>
              </a:rPr>
              <a:t>次</a:t>
            </a:r>
          </a:p>
          <a:p>
            <a:pPr algn="just">
              <a:lnSpc>
                <a:spcPct val="80000"/>
              </a:lnSpc>
              <a:spcBef>
                <a:spcPct val="5000"/>
              </a:spcBef>
            </a:pPr>
            <a:r>
              <a:rPr lang="zh-CN" altLang="en-US" sz="2800" b="1">
                <a:latin typeface="宋体" panose="02010600030101010101" pitchFamily="2" charset="-122"/>
              </a:rPr>
              <a:t>       </a:t>
            </a:r>
            <a:r>
              <a:rPr lang="en-US" altLang="zh-CN" sz="2800" b="1">
                <a:latin typeface="宋体" panose="02010600030101010101" pitchFamily="2" charset="-122"/>
              </a:rPr>
              <a:t>MVPD    </a:t>
            </a:r>
            <a:r>
              <a:rPr lang="en-US" altLang="zh-CN" sz="2000" b="1">
                <a:latin typeface="宋体" panose="02010600030101010101" pitchFamily="2" charset="-122"/>
              </a:rPr>
              <a:t>able,*AR1+ </a:t>
            </a:r>
            <a:r>
              <a:rPr lang="zh-CN" altLang="en-US" sz="2800" b="1">
                <a:latin typeface="宋体" panose="02010600030101010101" pitchFamily="2" charset="-122"/>
              </a:rPr>
              <a:t>；传送程序空间的</a:t>
            </a:r>
            <a:r>
              <a:rPr lang="en-US" altLang="zh-CN" sz="2800" b="1">
                <a:latin typeface="宋体" panose="02010600030101010101" pitchFamily="2" charset="-122"/>
              </a:rPr>
              <a:t>2</a:t>
            </a:r>
          </a:p>
          <a:p>
            <a:pPr algn="just">
              <a:lnSpc>
                <a:spcPct val="80000"/>
              </a:lnSpc>
              <a:spcBef>
                <a:spcPct val="5000"/>
              </a:spcBef>
            </a:pPr>
            <a:r>
              <a:rPr lang="en-US" altLang="zh-CN" sz="2800" b="1">
                <a:latin typeface="宋体" panose="02010600030101010101" pitchFamily="2" charset="-122"/>
                <a:cs typeface="Times New Roman" panose="02020603050405020304" pitchFamily="18" charset="0"/>
              </a:rPr>
              <a:t>                       </a:t>
            </a:r>
            <a:r>
              <a:rPr lang="zh-CN" altLang="en-US" sz="2000" b="1">
                <a:latin typeface="宋体" panose="02010600030101010101" pitchFamily="2" charset="-122"/>
                <a:cs typeface="Times New Roman" panose="02020603050405020304" pitchFamily="18" charset="0"/>
              </a:rPr>
              <a:t>；</a:t>
            </a:r>
            <a:r>
              <a:rPr lang="zh-CN" altLang="en-US" sz="2000" b="1">
                <a:latin typeface="宋体" panose="02010600030101010101" pitchFamily="2" charset="-122"/>
              </a:rPr>
              <a:t>数据（分子、分母）至</a:t>
            </a:r>
            <a:r>
              <a:rPr lang="zh-CN" altLang="en-US" sz="2000" b="1">
                <a:latin typeface="宋体" panose="02010600030101010101" pitchFamily="2" charset="-122"/>
                <a:cs typeface="Times New Roman" panose="02020603050405020304" pitchFamily="18" charset="0"/>
              </a:rPr>
              <a:t>地址为</a:t>
            </a:r>
          </a:p>
          <a:p>
            <a:pPr algn="just">
              <a:lnSpc>
                <a:spcPct val="80000"/>
              </a:lnSpc>
              <a:spcBef>
                <a:spcPct val="5000"/>
              </a:spcBef>
            </a:pPr>
            <a:r>
              <a:rPr lang="zh-CN" altLang="en-US" sz="2000" b="1">
                <a:latin typeface="宋体" panose="02010600030101010101" pitchFamily="2" charset="-122"/>
                <a:cs typeface="Times New Roman" panose="02020603050405020304" pitchFamily="18" charset="0"/>
              </a:rPr>
              <a:t>                                ； </a:t>
            </a:r>
            <a:r>
              <a:rPr lang="en-US" altLang="zh-CN" sz="2000" b="1">
                <a:latin typeface="宋体" panose="02010600030101010101" pitchFamily="2" charset="-122"/>
                <a:cs typeface="Times New Roman" panose="02020603050405020304" pitchFamily="18" charset="0"/>
              </a:rPr>
              <a:t>num</a:t>
            </a:r>
            <a:r>
              <a:rPr lang="zh-CN" altLang="en-US" sz="2000" b="1">
                <a:latin typeface="宋体" panose="02010600030101010101" pitchFamily="2" charset="-122"/>
                <a:cs typeface="Times New Roman" panose="02020603050405020304" pitchFamily="18" charset="0"/>
              </a:rPr>
              <a:t>开始的数据存储器单元</a:t>
            </a:r>
            <a:r>
              <a:rPr lang="zh-CN" altLang="en-US" sz="2000" b="1">
                <a:latin typeface="宋体" panose="02010600030101010101" pitchFamily="2" charset="-122"/>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4322"/>
                                        </p:tgtEl>
                                        <p:attrNameLst>
                                          <p:attrName>style.visibility</p:attrName>
                                        </p:attrNameLst>
                                      </p:cBhvr>
                                      <p:to>
                                        <p:strVal val="visible"/>
                                      </p:to>
                                    </p:set>
                                    <p:animEffect transition="in" filter="blinds(horizontal)">
                                      <p:cBhvr>
                                        <p:cTn id="7" dur="500"/>
                                        <p:tgtEl>
                                          <p:spTgt spid="824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8A9AA68-DA6D-4E27-B761-CFF9A7F45E2E}" type="slidenum">
              <a:rPr lang="en-US" altLang="zh-CN" sz="1400"/>
              <a:pPr eaLnBrk="1" hangingPunct="1"/>
              <a:t>44</a:t>
            </a:fld>
            <a:endParaRPr lang="en-US" altLang="zh-CN" sz="1400"/>
          </a:p>
        </p:txBody>
      </p:sp>
      <p:sp>
        <p:nvSpPr>
          <p:cNvPr id="825346" name="Rectangle 2"/>
          <p:cNvSpPr>
            <a:spLocks noChangeArrowheads="1"/>
          </p:cNvSpPr>
          <p:nvPr/>
        </p:nvSpPr>
        <p:spPr bwMode="auto">
          <a:xfrm>
            <a:off x="1042988" y="1125538"/>
            <a:ext cx="7891462"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latin typeface="宋体" panose="02010600030101010101" pitchFamily="2" charset="-122"/>
              </a:rPr>
              <a:t>   </a:t>
            </a:r>
            <a:r>
              <a:rPr lang="en-US" altLang="zh-CN" b="1">
                <a:solidFill>
                  <a:schemeClr val="folHlink"/>
                </a:solidFill>
                <a:latin typeface="宋体" panose="02010600030101010101" pitchFamily="2" charset="-122"/>
              </a:rPr>
              <a:t>LD   @den,16,A</a:t>
            </a:r>
            <a:r>
              <a:rPr lang="en-US" altLang="zh-CN" b="1">
                <a:latin typeface="宋体" panose="02010600030101010101" pitchFamily="2" charset="-122"/>
              </a:rPr>
              <a:t>  </a:t>
            </a:r>
            <a:r>
              <a:rPr lang="zh-CN" altLang="en-US" b="1">
                <a:latin typeface="宋体" panose="02010600030101010101" pitchFamily="2" charset="-122"/>
              </a:rPr>
              <a:t>；将分母移到累加器</a:t>
            </a:r>
            <a:r>
              <a:rPr lang="en-US" altLang="zh-CN" b="1">
                <a:latin typeface="宋体" panose="02010600030101010101" pitchFamily="2" charset="-122"/>
              </a:rPr>
              <a:t>A</a:t>
            </a:r>
            <a:r>
              <a:rPr lang="zh-CN" altLang="en-US" b="1">
                <a:latin typeface="宋体" panose="02010600030101010101" pitchFamily="2" charset="-122"/>
              </a:rPr>
              <a:t>（</a:t>
            </a:r>
            <a:r>
              <a:rPr lang="en-US" altLang="zh-CN" b="1">
                <a:latin typeface="宋体" panose="02010600030101010101" pitchFamily="2" charset="-122"/>
              </a:rPr>
              <a:t>31</a:t>
            </a:r>
            <a:r>
              <a:rPr lang="zh-CN" altLang="en-US" b="1">
                <a:latin typeface="宋体" panose="02010600030101010101" pitchFamily="2" charset="-122"/>
              </a:rPr>
              <a:t>～</a:t>
            </a:r>
            <a:r>
              <a:rPr lang="en-US" altLang="zh-CN" b="1">
                <a:latin typeface="宋体" panose="02010600030101010101" pitchFamily="2" charset="-122"/>
              </a:rPr>
              <a:t>16</a:t>
            </a:r>
            <a:r>
              <a:rPr lang="zh-CN" altLang="en-US" b="1">
                <a:latin typeface="宋体" panose="02010600030101010101" pitchFamily="2" charset="-122"/>
              </a:rPr>
              <a:t>）</a:t>
            </a:r>
            <a:endParaRPr lang="zh-CN" altLang="en-US" b="1"/>
          </a:p>
          <a:p>
            <a:pPr algn="just"/>
            <a:r>
              <a:rPr lang="zh-CN" altLang="en-US" b="1">
                <a:latin typeface="宋体" panose="02010600030101010101" pitchFamily="2" charset="-122"/>
              </a:rPr>
              <a:t>   </a:t>
            </a:r>
            <a:r>
              <a:rPr lang="en-US" altLang="zh-CN" b="1">
                <a:solidFill>
                  <a:schemeClr val="folHlink"/>
                </a:solidFill>
                <a:latin typeface="宋体" panose="02010600030101010101" pitchFamily="2" charset="-122"/>
              </a:rPr>
              <a:t>MPYA @num</a:t>
            </a:r>
            <a:r>
              <a:rPr lang="en-US" altLang="zh-CN" b="1">
                <a:latin typeface="宋体" panose="02010600030101010101" pitchFamily="2" charset="-122"/>
              </a:rPr>
              <a:t>       </a:t>
            </a:r>
            <a:r>
              <a:rPr lang="zh-CN" altLang="en-US" b="1">
                <a:latin typeface="宋体" panose="02010600030101010101" pitchFamily="2" charset="-122"/>
              </a:rPr>
              <a:t>；（</a:t>
            </a:r>
            <a:r>
              <a:rPr lang="en-US" altLang="zh-CN" b="1">
                <a:latin typeface="宋体" panose="02010600030101010101" pitchFamily="2" charset="-122"/>
              </a:rPr>
              <a:t>num</a:t>
            </a:r>
            <a:r>
              <a:rPr lang="zh-CN" altLang="en-US" b="1">
                <a:latin typeface="宋体" panose="02010600030101010101" pitchFamily="2" charset="-122"/>
              </a:rPr>
              <a:t>）*（ </a:t>
            </a:r>
            <a:r>
              <a:rPr lang="en-US" altLang="zh-CN" b="1">
                <a:latin typeface="宋体" panose="02010600030101010101" pitchFamily="2" charset="-122"/>
              </a:rPr>
              <a:t>A</a:t>
            </a:r>
            <a:r>
              <a:rPr lang="zh-CN" altLang="en-US" b="1">
                <a:latin typeface="宋体" panose="02010600030101010101" pitchFamily="2" charset="-122"/>
              </a:rPr>
              <a:t>（</a:t>
            </a:r>
            <a:r>
              <a:rPr lang="en-US" altLang="zh-CN" b="1">
                <a:latin typeface="宋体" panose="02010600030101010101" pitchFamily="2" charset="-122"/>
              </a:rPr>
              <a:t>31</a:t>
            </a:r>
            <a:r>
              <a:rPr lang="zh-CN" altLang="en-US" b="1">
                <a:latin typeface="宋体" panose="02010600030101010101" pitchFamily="2" charset="-122"/>
              </a:rPr>
              <a:t>～</a:t>
            </a:r>
            <a:r>
              <a:rPr lang="en-US" altLang="zh-CN" b="1">
                <a:latin typeface="宋体" panose="02010600030101010101" pitchFamily="2" charset="-122"/>
              </a:rPr>
              <a:t>16</a:t>
            </a:r>
            <a:r>
              <a:rPr lang="zh-CN" altLang="en-US" b="1">
                <a:latin typeface="宋体" panose="02010600030101010101" pitchFamily="2" charset="-122"/>
              </a:rPr>
              <a:t>））→</a:t>
            </a:r>
            <a:r>
              <a:rPr lang="en-US" altLang="zh-CN" b="1">
                <a:latin typeface="宋体" panose="02010600030101010101" pitchFamily="2" charset="-122"/>
              </a:rPr>
              <a:t>B</a:t>
            </a:r>
            <a:r>
              <a:rPr lang="zh-CN" altLang="en-US" b="1">
                <a:latin typeface="宋体" panose="02010600030101010101" pitchFamily="2" charset="-122"/>
              </a:rPr>
              <a:t>，</a:t>
            </a:r>
            <a:endParaRPr lang="zh-CN" altLang="en-US" b="1"/>
          </a:p>
          <a:p>
            <a:pPr algn="just"/>
            <a:r>
              <a:rPr lang="zh-CN" altLang="en-US" b="1">
                <a:latin typeface="宋体" panose="02010600030101010101" pitchFamily="2" charset="-122"/>
              </a:rPr>
              <a:t>                   ；获取商的符号（在累加器</a:t>
            </a:r>
            <a:r>
              <a:rPr lang="en-US" altLang="zh-CN" b="1">
                <a:latin typeface="宋体" panose="02010600030101010101" pitchFamily="2" charset="-122"/>
              </a:rPr>
              <a:t>B</a:t>
            </a:r>
            <a:r>
              <a:rPr lang="zh-CN" altLang="en-US" b="1">
                <a:latin typeface="宋体" panose="02010600030101010101" pitchFamily="2" charset="-122"/>
              </a:rPr>
              <a:t>中）</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ABS     A       </a:t>
            </a:r>
            <a:r>
              <a:rPr lang="zh-CN" altLang="en-US" b="1">
                <a:latin typeface="宋体" panose="02010600030101010101" pitchFamily="2" charset="-122"/>
              </a:rPr>
              <a:t>；分母取绝对值</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STH     A,@den  </a:t>
            </a:r>
            <a:r>
              <a:rPr lang="zh-CN" altLang="en-US" b="1">
                <a:latin typeface="宋体" panose="02010600030101010101" pitchFamily="2" charset="-122"/>
              </a:rPr>
              <a:t>；分母绝对值存回原处</a:t>
            </a:r>
            <a:endParaRPr lang="zh-CN" altLang="en-US" b="1"/>
          </a:p>
          <a:p>
            <a:pPr algn="just"/>
            <a:r>
              <a:rPr lang="zh-CN" altLang="en-US" b="1">
                <a:latin typeface="宋体" panose="02010600030101010101" pitchFamily="2" charset="-122"/>
              </a:rPr>
              <a:t>   </a:t>
            </a:r>
            <a:r>
              <a:rPr lang="en-US" altLang="zh-CN" b="1">
                <a:solidFill>
                  <a:srgbClr val="FF0000"/>
                </a:solidFill>
                <a:latin typeface="宋体" panose="02010600030101010101" pitchFamily="2" charset="-122"/>
              </a:rPr>
              <a:t>LD      @num,A  </a:t>
            </a:r>
            <a:r>
              <a:rPr lang="zh-CN" altLang="en-US" b="1">
                <a:solidFill>
                  <a:srgbClr val="FF0000"/>
                </a:solidFill>
                <a:latin typeface="宋体" panose="02010600030101010101" pitchFamily="2" charset="-122"/>
              </a:rPr>
              <a:t>；分子加载到</a:t>
            </a:r>
            <a:r>
              <a:rPr lang="en-US" altLang="zh-CN" b="1">
                <a:solidFill>
                  <a:srgbClr val="FF0000"/>
                </a:solidFill>
                <a:latin typeface="宋体" panose="02010600030101010101" pitchFamily="2" charset="-122"/>
              </a:rPr>
              <a:t>A</a:t>
            </a: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15</a:t>
            </a: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0</a:t>
            </a:r>
            <a:r>
              <a:rPr lang="zh-CN" altLang="en-US" b="1">
                <a:solidFill>
                  <a:srgbClr val="FF0000"/>
                </a:solidFill>
                <a:latin typeface="宋体" panose="02010600030101010101" pitchFamily="2" charset="-122"/>
              </a:rPr>
              <a:t>）</a:t>
            </a:r>
            <a:endParaRPr lang="zh-CN" altLang="en-US" b="1">
              <a:solidFill>
                <a:srgbClr val="FF0000"/>
              </a:solidFill>
            </a:endParaRPr>
          </a:p>
          <a:p>
            <a:pPr algn="just"/>
            <a:r>
              <a:rPr lang="zh-CN" altLang="en-US" b="1">
                <a:latin typeface="宋体" panose="02010600030101010101" pitchFamily="2" charset="-122"/>
              </a:rPr>
              <a:t>   </a:t>
            </a:r>
            <a:r>
              <a:rPr lang="en-US" altLang="zh-CN" b="1">
                <a:latin typeface="宋体" panose="02010600030101010101" pitchFamily="2" charset="-122"/>
              </a:rPr>
              <a:t>ABS     A       </a:t>
            </a:r>
            <a:r>
              <a:rPr lang="zh-CN" altLang="en-US" b="1">
                <a:latin typeface="宋体" panose="02010600030101010101" pitchFamily="2" charset="-122"/>
              </a:rPr>
              <a:t>；分子取绝对值</a:t>
            </a:r>
            <a:endParaRPr lang="zh-CN" altLang="en-US" b="1"/>
          </a:p>
          <a:p>
            <a:pPr algn="just"/>
            <a:r>
              <a:rPr lang="zh-CN" altLang="en-US" b="1">
                <a:latin typeface="宋体" panose="02010600030101010101" pitchFamily="2" charset="-122"/>
              </a:rPr>
              <a:t>   </a:t>
            </a:r>
            <a:r>
              <a:rPr lang="en-US" altLang="zh-CN" b="1">
                <a:solidFill>
                  <a:schemeClr val="tx2"/>
                </a:solidFill>
                <a:latin typeface="宋体" panose="02010600030101010101" pitchFamily="2" charset="-122"/>
              </a:rPr>
              <a:t>RPT     #15     </a:t>
            </a: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16</a:t>
            </a:r>
            <a:r>
              <a:rPr lang="zh-CN" altLang="en-US" b="1">
                <a:solidFill>
                  <a:schemeClr val="tx2"/>
                </a:solidFill>
                <a:latin typeface="宋体" panose="02010600030101010101" pitchFamily="2" charset="-122"/>
              </a:rPr>
              <a:t>次减法循环，完成除法</a:t>
            </a:r>
            <a:endParaRPr lang="zh-CN" altLang="en-US" b="1">
              <a:solidFill>
                <a:schemeClr val="tx2"/>
              </a:solidFill>
            </a:endParaRPr>
          </a:p>
          <a:p>
            <a:pPr algn="just"/>
            <a:r>
              <a:rPr lang="zh-CN" altLang="en-US" b="1">
                <a:solidFill>
                  <a:schemeClr val="tx2"/>
                </a:solidFill>
                <a:latin typeface="宋体" panose="02010600030101010101" pitchFamily="2" charset="-122"/>
              </a:rPr>
              <a:t>   </a:t>
            </a:r>
            <a:r>
              <a:rPr lang="en-US" altLang="zh-CN" b="1">
                <a:solidFill>
                  <a:schemeClr val="tx2"/>
                </a:solidFill>
                <a:latin typeface="宋体" panose="02010600030101010101" pitchFamily="2" charset="-122"/>
              </a:rPr>
              <a:t>SUBC    @den,A</a:t>
            </a:r>
            <a:r>
              <a:rPr lang="en-US" altLang="zh-CN" b="1">
                <a:latin typeface="宋体" panose="02010600030101010101" pitchFamily="2" charset="-122"/>
              </a:rPr>
              <a:t>  </a:t>
            </a:r>
            <a:r>
              <a:rPr lang="zh-CN" altLang="en-US" b="1">
                <a:latin typeface="宋体" panose="02010600030101010101" pitchFamily="2" charset="-122"/>
              </a:rPr>
              <a:t>；</a:t>
            </a:r>
            <a:r>
              <a:rPr lang="en-US" altLang="zh-CN" b="1">
                <a:solidFill>
                  <a:srgbClr val="FF0000"/>
                </a:solidFill>
                <a:latin typeface="宋体" panose="02010600030101010101" pitchFamily="2" charset="-122"/>
              </a:rPr>
              <a:t>num-</a:t>
            </a:r>
            <a:r>
              <a:rPr lang="en-US" altLang="zh-CN" b="1">
                <a:solidFill>
                  <a:schemeClr val="tx2"/>
                </a:solidFill>
                <a:latin typeface="宋体" panose="02010600030101010101" pitchFamily="2" charset="-122"/>
              </a:rPr>
              <a:t>den</a:t>
            </a:r>
            <a:endParaRPr lang="en-US" altLang="zh-CN" b="1"/>
          </a:p>
          <a:p>
            <a:pPr algn="just"/>
            <a:r>
              <a:rPr lang="en-US" altLang="zh-CN" b="1">
                <a:latin typeface="宋体" panose="02010600030101010101" pitchFamily="2" charset="-122"/>
              </a:rPr>
              <a:t>   </a:t>
            </a:r>
            <a:r>
              <a:rPr lang="en-US" altLang="zh-CN" b="1">
                <a:solidFill>
                  <a:srgbClr val="FF00FF"/>
                </a:solidFill>
                <a:latin typeface="宋体" panose="02010600030101010101" pitchFamily="2" charset="-122"/>
              </a:rPr>
              <a:t>XC      1,BLT</a:t>
            </a:r>
            <a:r>
              <a:rPr lang="en-US" altLang="zh-CN" b="1">
                <a:latin typeface="宋体" panose="02010600030101010101" pitchFamily="2" charset="-122"/>
              </a:rPr>
              <a:t>   </a:t>
            </a:r>
            <a:r>
              <a:rPr lang="zh-CN" altLang="en-US" b="1">
                <a:latin typeface="宋体" panose="02010600030101010101" pitchFamily="2" charset="-122"/>
              </a:rPr>
              <a:t>；</a:t>
            </a:r>
            <a:r>
              <a:rPr lang="zh-CN" altLang="en-US" sz="2000" b="1">
                <a:latin typeface="宋体" panose="02010600030101010101" pitchFamily="2" charset="-122"/>
              </a:rPr>
              <a:t>如果</a:t>
            </a:r>
            <a:r>
              <a:rPr lang="en-US" altLang="zh-CN" sz="2000" b="1">
                <a:latin typeface="宋体" panose="02010600030101010101" pitchFamily="2" charset="-122"/>
              </a:rPr>
              <a:t>B&lt;0</a:t>
            </a:r>
            <a:r>
              <a:rPr lang="zh-CN" altLang="en-US" sz="2000" b="1">
                <a:latin typeface="宋体" panose="02010600030101010101" pitchFamily="2" charset="-122"/>
              </a:rPr>
              <a:t>（商是负数），则需要变号</a:t>
            </a:r>
            <a:endParaRPr lang="zh-CN" altLang="en-US" sz="2000" b="1"/>
          </a:p>
          <a:p>
            <a:pPr algn="just"/>
            <a:r>
              <a:rPr lang="zh-CN" altLang="en-US" b="1">
                <a:latin typeface="宋体" panose="02010600030101010101" pitchFamily="2" charset="-122"/>
              </a:rPr>
              <a:t>   </a:t>
            </a:r>
            <a:r>
              <a:rPr lang="en-US" altLang="zh-CN" b="1">
                <a:solidFill>
                  <a:srgbClr val="FF00FF"/>
                </a:solidFill>
                <a:latin typeface="宋体" panose="02010600030101010101" pitchFamily="2" charset="-122"/>
              </a:rPr>
              <a:t>NEG     A</a:t>
            </a:r>
            <a:r>
              <a:rPr lang="en-US" altLang="zh-CN" b="1">
                <a:latin typeface="宋体" panose="02010600030101010101" pitchFamily="2" charset="-122"/>
              </a:rPr>
              <a:t>       </a:t>
            </a:r>
            <a:r>
              <a:rPr lang="zh-CN" altLang="en-US" b="1">
                <a:latin typeface="宋体" panose="02010600030101010101" pitchFamily="2" charset="-122"/>
              </a:rPr>
              <a:t>；</a:t>
            </a:r>
            <a:r>
              <a:rPr lang="zh-CN" altLang="en-US" sz="2000" b="1">
                <a:latin typeface="宋体" panose="02010600030101010101" pitchFamily="2" charset="-122"/>
              </a:rPr>
              <a:t>如果</a:t>
            </a:r>
            <a:r>
              <a:rPr lang="en-US" altLang="zh-CN" sz="2000" b="1">
                <a:latin typeface="宋体" panose="02010600030101010101" pitchFamily="2" charset="-122"/>
              </a:rPr>
              <a:t>B&lt;0</a:t>
            </a:r>
            <a:r>
              <a:rPr lang="zh-CN" altLang="en-US" sz="2000" b="1">
                <a:latin typeface="宋体" panose="02010600030101010101" pitchFamily="2" charset="-122"/>
              </a:rPr>
              <a:t>执行求反，否则跳过此指令</a:t>
            </a:r>
            <a:endParaRPr lang="zh-CN" altLang="en-US" sz="2000" b="1"/>
          </a:p>
          <a:p>
            <a:pPr algn="just"/>
            <a:r>
              <a:rPr lang="zh-CN" altLang="en-US" b="1">
                <a:latin typeface="宋体" panose="02010600030101010101" pitchFamily="2" charset="-122"/>
              </a:rPr>
              <a:t>   </a:t>
            </a:r>
            <a:r>
              <a:rPr lang="en-US" altLang="zh-CN" b="1">
                <a:latin typeface="宋体" panose="02010600030101010101" pitchFamily="2" charset="-122"/>
              </a:rPr>
              <a:t>STL     A,@quot </a:t>
            </a:r>
            <a:r>
              <a:rPr lang="zh-CN" altLang="en-US" b="1">
                <a:latin typeface="宋体" panose="02010600030101010101" pitchFamily="2" charset="-122"/>
              </a:rPr>
              <a:t>；保存商</a:t>
            </a:r>
            <a:endParaRPr lang="zh-CN" altLang="en-US" b="1"/>
          </a:p>
          <a:p>
            <a:pPr algn="just"/>
            <a:r>
              <a:rPr lang="en-US" altLang="zh-CN" b="1">
                <a:latin typeface="宋体" panose="02010600030101010101" pitchFamily="2" charset="-122"/>
              </a:rPr>
              <a:t>end:B end</a:t>
            </a:r>
            <a:endParaRPr lang="en-US" altLang="zh-CN" b="1"/>
          </a:p>
          <a:p>
            <a:pPr algn="just"/>
            <a:r>
              <a:rPr lang="en-US" altLang="zh-CN" b="1">
                <a:latin typeface="宋体" panose="02010600030101010101" pitchFamily="2" charset="-122"/>
              </a:rPr>
              <a:t>   .end            </a:t>
            </a:r>
            <a:r>
              <a:rPr lang="zh-CN" altLang="en-US" b="1">
                <a:latin typeface="宋体" panose="02010600030101010101" pitchFamily="2" charset="-122"/>
              </a:rPr>
              <a:t>；</a:t>
            </a:r>
            <a:r>
              <a:rPr lang="zh-CN" altLang="en-US" b="1">
                <a:latin typeface="宋体" panose="02010600030101010101" pitchFamily="2" charset="-122"/>
                <a:cs typeface="Times New Roman" panose="02020603050405020304" pitchFamily="18" charset="0"/>
              </a:rPr>
              <a:t>结果为</a:t>
            </a:r>
            <a:r>
              <a:rPr lang="en-US" altLang="zh-CN" b="1">
                <a:latin typeface="宋体" panose="02010600030101010101" pitchFamily="2" charset="-122"/>
                <a:cs typeface="Times New Roman" panose="02020603050405020304" pitchFamily="18" charset="0"/>
              </a:rPr>
              <a:t>quot=0x0020=32</a:t>
            </a:r>
            <a:r>
              <a:rPr lang="zh-CN" altLang="en-US" b="1">
                <a:latin typeface="宋体" panose="02010600030101010101" pitchFamily="2" charset="-122"/>
                <a:cs typeface="Times New Roman" panose="02020603050405020304" pitchFamily="18" charset="0"/>
              </a:rPr>
              <a:t>。</a:t>
            </a:r>
            <a:r>
              <a:rPr lang="zh-CN" altLang="en-US" b="1">
                <a:latin typeface="宋体" panose="02010600030101010101" pitchFamily="2" charset="-122"/>
              </a:rPr>
              <a:t> </a:t>
            </a:r>
          </a:p>
        </p:txBody>
      </p:sp>
      <p:sp>
        <p:nvSpPr>
          <p:cNvPr id="57348" name="AutoShape 3"/>
          <p:cNvSpPr>
            <a:spLocks/>
          </p:cNvSpPr>
          <p:nvPr/>
        </p:nvSpPr>
        <p:spPr bwMode="auto">
          <a:xfrm>
            <a:off x="1187450" y="1412875"/>
            <a:ext cx="215900" cy="431800"/>
          </a:xfrm>
          <a:prstGeom prst="leftBrace">
            <a:avLst>
              <a:gd name="adj1" fmla="val 16667"/>
              <a:gd name="adj2" fmla="val 50000"/>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folHlink"/>
              </a:solidFill>
            </a:endParaRPr>
          </a:p>
        </p:txBody>
      </p:sp>
      <p:sp>
        <p:nvSpPr>
          <p:cNvPr id="57349" name="Rectangle 4"/>
          <p:cNvSpPr>
            <a:spLocks noChangeArrowheads="1"/>
          </p:cNvSpPr>
          <p:nvPr/>
        </p:nvSpPr>
        <p:spPr bwMode="auto">
          <a:xfrm>
            <a:off x="179388" y="1270000"/>
            <a:ext cx="7921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chemeClr val="folHlink"/>
                </a:solidFill>
              </a:rPr>
              <a:t>取商的符号</a:t>
            </a:r>
          </a:p>
        </p:txBody>
      </p:sp>
      <p:sp>
        <p:nvSpPr>
          <p:cNvPr id="57350" name="AutoShape 5"/>
          <p:cNvSpPr>
            <a:spLocks/>
          </p:cNvSpPr>
          <p:nvPr/>
        </p:nvSpPr>
        <p:spPr bwMode="auto">
          <a:xfrm>
            <a:off x="1116013" y="3933825"/>
            <a:ext cx="215900" cy="431800"/>
          </a:xfrm>
          <a:prstGeom prst="leftBrace">
            <a:avLst>
              <a:gd name="adj1" fmla="val 16667"/>
              <a:gd name="adj2" fmla="val 50000"/>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folHlink"/>
              </a:solidFill>
            </a:endParaRPr>
          </a:p>
        </p:txBody>
      </p:sp>
      <p:sp>
        <p:nvSpPr>
          <p:cNvPr id="57351" name="Rectangle 6"/>
          <p:cNvSpPr>
            <a:spLocks noChangeArrowheads="1"/>
          </p:cNvSpPr>
          <p:nvPr/>
        </p:nvSpPr>
        <p:spPr bwMode="auto">
          <a:xfrm>
            <a:off x="179388" y="3716338"/>
            <a:ext cx="7921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chemeClr val="tx2"/>
                </a:solidFill>
              </a:rPr>
              <a:t>除法运算</a:t>
            </a:r>
          </a:p>
        </p:txBody>
      </p:sp>
      <p:sp>
        <p:nvSpPr>
          <p:cNvPr id="57352" name="AutoShape 7"/>
          <p:cNvSpPr>
            <a:spLocks/>
          </p:cNvSpPr>
          <p:nvPr/>
        </p:nvSpPr>
        <p:spPr bwMode="auto">
          <a:xfrm>
            <a:off x="1116013" y="4581525"/>
            <a:ext cx="215900" cy="431800"/>
          </a:xfrm>
          <a:prstGeom prst="leftBrace">
            <a:avLst>
              <a:gd name="adj1" fmla="val 16667"/>
              <a:gd name="adj2" fmla="val 50000"/>
            </a:avLst>
          </a:prstGeom>
          <a:noFill/>
          <a:ln w="381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folHlink"/>
              </a:solidFill>
            </a:endParaRPr>
          </a:p>
        </p:txBody>
      </p:sp>
      <p:sp>
        <p:nvSpPr>
          <p:cNvPr id="57353" name="Rectangle 8"/>
          <p:cNvSpPr>
            <a:spLocks noChangeArrowheads="1"/>
          </p:cNvSpPr>
          <p:nvPr/>
        </p:nvSpPr>
        <p:spPr bwMode="auto">
          <a:xfrm>
            <a:off x="179388" y="4365625"/>
            <a:ext cx="7921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FF00FF"/>
                </a:solidFill>
              </a:rPr>
              <a:t>还原商的符号</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5346"/>
                                        </p:tgtEl>
                                        <p:attrNameLst>
                                          <p:attrName>style.visibility</p:attrName>
                                        </p:attrNameLst>
                                      </p:cBhvr>
                                      <p:to>
                                        <p:strVal val="visible"/>
                                      </p:to>
                                    </p:set>
                                    <p:animEffect transition="in" filter="blinds(horizontal)">
                                      <p:cBhvr>
                                        <p:cTn id="7" dur="500"/>
                                        <p:tgtEl>
                                          <p:spTgt spid="825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1140671-B0B6-4390-A045-212AB73444B6}" type="slidenum">
              <a:rPr lang="en-US" altLang="zh-CN" sz="1400"/>
              <a:pPr eaLnBrk="1" hangingPunct="1"/>
              <a:t>45</a:t>
            </a:fld>
            <a:endParaRPr lang="en-US" altLang="zh-CN" sz="1400"/>
          </a:p>
        </p:txBody>
      </p:sp>
      <p:sp>
        <p:nvSpPr>
          <p:cNvPr id="58371" name="Rectangle 9"/>
          <p:cNvSpPr>
            <a:spLocks noChangeArrowheads="1"/>
          </p:cNvSpPr>
          <p:nvPr/>
        </p:nvSpPr>
        <p:spPr bwMode="auto">
          <a:xfrm>
            <a:off x="4398963" y="1108075"/>
            <a:ext cx="4321175" cy="561022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zh-CN" altLang="en-US" sz="1800" b="1">
                <a:solidFill>
                  <a:srgbClr val="FF6600"/>
                </a:solidFill>
              </a:rPr>
              <a:t>第一次</a:t>
            </a:r>
            <a:r>
              <a:rPr lang="en-US" altLang="zh-CN" sz="1800" b="1">
                <a:solidFill>
                  <a:srgbClr val="FF6600"/>
                </a:solidFill>
              </a:rPr>
              <a:t>(src)                         0000  0110</a:t>
            </a:r>
          </a:p>
          <a:p>
            <a:pPr eaLnBrk="1" hangingPunct="1">
              <a:lnSpc>
                <a:spcPct val="85000"/>
              </a:lnSpc>
            </a:pPr>
            <a:r>
              <a:rPr lang="en-US" altLang="zh-CN" sz="1800" b="1">
                <a:solidFill>
                  <a:srgbClr val="FF6600"/>
                </a:solidFill>
              </a:rPr>
              <a:t>         (Smem)</a:t>
            </a:r>
            <a:r>
              <a:rPr lang="zh-CN" altLang="en-US" sz="1800" b="1">
                <a:solidFill>
                  <a:srgbClr val="FF6600"/>
                </a:solidFill>
              </a:rPr>
              <a:t>分母左移</a:t>
            </a:r>
            <a:r>
              <a:rPr lang="en-US" altLang="zh-CN" sz="1800" b="1">
                <a:solidFill>
                  <a:srgbClr val="FF6600"/>
                </a:solidFill>
              </a:rPr>
              <a:t>3</a:t>
            </a:r>
            <a:r>
              <a:rPr lang="zh-CN" altLang="en-US" sz="1800" b="1">
                <a:solidFill>
                  <a:srgbClr val="FF6600"/>
                </a:solidFill>
              </a:rPr>
              <a:t>位 </a:t>
            </a:r>
            <a:r>
              <a:rPr lang="en-US" altLang="zh-CN" sz="1800" b="1">
                <a:solidFill>
                  <a:srgbClr val="FF6600"/>
                </a:solidFill>
              </a:rPr>
              <a:t>- 001 1      </a:t>
            </a:r>
          </a:p>
          <a:p>
            <a:pPr eaLnBrk="1" hangingPunct="1">
              <a:lnSpc>
                <a:spcPct val="85000"/>
              </a:lnSpc>
            </a:pPr>
            <a:r>
              <a:rPr lang="en-US" altLang="zh-CN" sz="1800" b="1">
                <a:solidFill>
                  <a:srgbClr val="FF6600"/>
                </a:solidFill>
              </a:rPr>
              <a:t>           ALU                         1110  1110</a:t>
            </a:r>
          </a:p>
          <a:p>
            <a:pPr eaLnBrk="1" hangingPunct="1">
              <a:lnSpc>
                <a:spcPct val="85000"/>
              </a:lnSpc>
            </a:pPr>
            <a:r>
              <a:rPr lang="en-US" altLang="zh-CN" sz="1800" b="1">
                <a:solidFill>
                  <a:srgbClr val="FF6600"/>
                </a:solidFill>
              </a:rPr>
              <a:t>ALU</a:t>
            </a:r>
            <a:r>
              <a:rPr lang="zh-CN" altLang="en-US" sz="1800" b="1">
                <a:solidFill>
                  <a:srgbClr val="FF6600"/>
                </a:solidFill>
              </a:rPr>
              <a:t>＜</a:t>
            </a:r>
            <a:r>
              <a:rPr lang="en-US" altLang="zh-CN" sz="1800" b="1">
                <a:solidFill>
                  <a:srgbClr val="FF6600"/>
                </a:solidFill>
              </a:rPr>
              <a:t>0 (src) </a:t>
            </a:r>
            <a:r>
              <a:rPr lang="zh-CN" altLang="en-US" sz="1800" b="1">
                <a:solidFill>
                  <a:srgbClr val="FF6600"/>
                </a:solidFill>
              </a:rPr>
              <a:t>左移一位     </a:t>
            </a:r>
            <a:r>
              <a:rPr lang="en-US" altLang="zh-CN" sz="1800" b="1">
                <a:solidFill>
                  <a:srgbClr val="FF6600"/>
                </a:solidFill>
              </a:rPr>
              <a:t>0000  0110</a:t>
            </a:r>
          </a:p>
          <a:p>
            <a:pPr eaLnBrk="1" hangingPunct="1">
              <a:lnSpc>
                <a:spcPct val="85000"/>
              </a:lnSpc>
            </a:pPr>
            <a:r>
              <a:rPr lang="en-US" altLang="zh-CN" sz="1800" b="1">
                <a:solidFill>
                  <a:srgbClr val="FF6600"/>
                </a:solidFill>
              </a:rPr>
              <a:t>                                             0000  1100</a:t>
            </a:r>
          </a:p>
          <a:p>
            <a:pPr eaLnBrk="1" hangingPunct="1">
              <a:lnSpc>
                <a:spcPct val="85000"/>
              </a:lnSpc>
            </a:pPr>
            <a:r>
              <a:rPr lang="zh-CN" altLang="en-US" sz="1800" b="1">
                <a:solidFill>
                  <a:schemeClr val="folHlink"/>
                </a:solidFill>
              </a:rPr>
              <a:t>第二次</a:t>
            </a:r>
            <a:r>
              <a:rPr lang="en-US" altLang="zh-CN" sz="1800" b="1">
                <a:solidFill>
                  <a:schemeClr val="folHlink"/>
                </a:solidFill>
              </a:rPr>
              <a:t>(src)                         0000  1100</a:t>
            </a:r>
          </a:p>
          <a:p>
            <a:pPr eaLnBrk="1" hangingPunct="1">
              <a:lnSpc>
                <a:spcPct val="85000"/>
              </a:lnSpc>
            </a:pPr>
            <a:r>
              <a:rPr lang="en-US" altLang="zh-CN" sz="1800" b="1">
                <a:solidFill>
                  <a:schemeClr val="folHlink"/>
                </a:solidFill>
              </a:rPr>
              <a:t>         (Smem)</a:t>
            </a:r>
            <a:r>
              <a:rPr lang="zh-CN" altLang="en-US" sz="1800" b="1">
                <a:solidFill>
                  <a:schemeClr val="folHlink"/>
                </a:solidFill>
              </a:rPr>
              <a:t>分母左移</a:t>
            </a:r>
            <a:r>
              <a:rPr lang="en-US" altLang="zh-CN" sz="1800" b="1">
                <a:solidFill>
                  <a:schemeClr val="folHlink"/>
                </a:solidFill>
              </a:rPr>
              <a:t>3</a:t>
            </a:r>
            <a:r>
              <a:rPr lang="zh-CN" altLang="en-US" sz="1800" b="1">
                <a:solidFill>
                  <a:schemeClr val="folHlink"/>
                </a:solidFill>
              </a:rPr>
              <a:t>位 </a:t>
            </a:r>
            <a:r>
              <a:rPr lang="en-US" altLang="zh-CN" sz="1800" b="1">
                <a:solidFill>
                  <a:schemeClr val="folHlink"/>
                </a:solidFill>
              </a:rPr>
              <a:t>- 001 1</a:t>
            </a:r>
          </a:p>
          <a:p>
            <a:pPr eaLnBrk="1" hangingPunct="1">
              <a:lnSpc>
                <a:spcPct val="85000"/>
              </a:lnSpc>
            </a:pPr>
            <a:r>
              <a:rPr lang="en-US" altLang="zh-CN" sz="1800" b="1">
                <a:solidFill>
                  <a:schemeClr val="folHlink"/>
                </a:solidFill>
              </a:rPr>
              <a:t>           ALU                         1110  0100</a:t>
            </a:r>
          </a:p>
          <a:p>
            <a:pPr eaLnBrk="1" hangingPunct="1">
              <a:lnSpc>
                <a:spcPct val="85000"/>
              </a:lnSpc>
            </a:pPr>
            <a:r>
              <a:rPr lang="en-US" altLang="zh-CN" sz="1800" b="1">
                <a:solidFill>
                  <a:schemeClr val="folHlink"/>
                </a:solidFill>
              </a:rPr>
              <a:t>ALU</a:t>
            </a:r>
            <a:r>
              <a:rPr lang="zh-CN" altLang="en-US" sz="1800" b="1">
                <a:solidFill>
                  <a:schemeClr val="folHlink"/>
                </a:solidFill>
              </a:rPr>
              <a:t>＜</a:t>
            </a:r>
            <a:r>
              <a:rPr lang="en-US" altLang="zh-CN" sz="1800" b="1">
                <a:solidFill>
                  <a:schemeClr val="folHlink"/>
                </a:solidFill>
              </a:rPr>
              <a:t>0 (src) </a:t>
            </a:r>
            <a:r>
              <a:rPr lang="zh-CN" altLang="en-US" sz="1800" b="1">
                <a:solidFill>
                  <a:schemeClr val="folHlink"/>
                </a:solidFill>
              </a:rPr>
              <a:t>左移一位     </a:t>
            </a:r>
            <a:r>
              <a:rPr lang="en-US" altLang="zh-CN" sz="1800" b="1">
                <a:solidFill>
                  <a:schemeClr val="folHlink"/>
                </a:solidFill>
              </a:rPr>
              <a:t>0000  1100</a:t>
            </a:r>
          </a:p>
          <a:p>
            <a:pPr eaLnBrk="1" hangingPunct="1">
              <a:lnSpc>
                <a:spcPct val="85000"/>
              </a:lnSpc>
            </a:pPr>
            <a:r>
              <a:rPr lang="en-US" altLang="zh-CN" sz="1800" b="1">
                <a:solidFill>
                  <a:schemeClr val="folHlink"/>
                </a:solidFill>
              </a:rPr>
              <a:t>                                             0001  1000</a:t>
            </a:r>
          </a:p>
          <a:p>
            <a:pPr eaLnBrk="1" hangingPunct="1">
              <a:lnSpc>
                <a:spcPct val="85000"/>
              </a:lnSpc>
            </a:pPr>
            <a:r>
              <a:rPr lang="zh-CN" altLang="en-US" sz="1800" b="1">
                <a:solidFill>
                  <a:schemeClr val="tx2"/>
                </a:solidFill>
              </a:rPr>
              <a:t>第三次</a:t>
            </a:r>
            <a:r>
              <a:rPr lang="en-US" altLang="zh-CN" sz="1800" b="1">
                <a:solidFill>
                  <a:schemeClr val="tx2"/>
                </a:solidFill>
              </a:rPr>
              <a:t>(src)                          0001  1000</a:t>
            </a:r>
          </a:p>
          <a:p>
            <a:pPr eaLnBrk="1" hangingPunct="1">
              <a:lnSpc>
                <a:spcPct val="85000"/>
              </a:lnSpc>
            </a:pPr>
            <a:r>
              <a:rPr lang="en-US" altLang="zh-CN" sz="1800" b="1">
                <a:solidFill>
                  <a:schemeClr val="tx2"/>
                </a:solidFill>
              </a:rPr>
              <a:t>         (Smem)</a:t>
            </a:r>
            <a:r>
              <a:rPr lang="zh-CN" altLang="en-US" sz="1800" b="1">
                <a:solidFill>
                  <a:schemeClr val="tx2"/>
                </a:solidFill>
              </a:rPr>
              <a:t>分母左移</a:t>
            </a:r>
            <a:r>
              <a:rPr lang="en-US" altLang="zh-CN" sz="1800" b="1">
                <a:solidFill>
                  <a:schemeClr val="tx2"/>
                </a:solidFill>
              </a:rPr>
              <a:t>3</a:t>
            </a:r>
            <a:r>
              <a:rPr lang="zh-CN" altLang="en-US" sz="1800" b="1">
                <a:solidFill>
                  <a:schemeClr val="tx2"/>
                </a:solidFill>
              </a:rPr>
              <a:t>位 </a:t>
            </a:r>
            <a:r>
              <a:rPr lang="en-US" altLang="zh-CN" sz="1800" b="1">
                <a:solidFill>
                  <a:schemeClr val="tx2"/>
                </a:solidFill>
              </a:rPr>
              <a:t>- 001  1</a:t>
            </a:r>
          </a:p>
          <a:p>
            <a:pPr eaLnBrk="1" hangingPunct="1">
              <a:lnSpc>
                <a:spcPct val="85000"/>
              </a:lnSpc>
            </a:pPr>
            <a:r>
              <a:rPr lang="en-US" altLang="zh-CN" sz="1800" b="1">
                <a:solidFill>
                  <a:schemeClr val="tx2"/>
                </a:solidFill>
              </a:rPr>
              <a:t>             ALU                        0000  0000</a:t>
            </a:r>
          </a:p>
          <a:p>
            <a:pPr eaLnBrk="1" hangingPunct="1">
              <a:lnSpc>
                <a:spcPct val="85000"/>
              </a:lnSpc>
            </a:pPr>
            <a:r>
              <a:rPr lang="en-US" altLang="zh-CN" sz="1800" b="1">
                <a:solidFill>
                  <a:schemeClr val="tx2"/>
                </a:solidFill>
              </a:rPr>
              <a:t>ALU≥0 ALU</a:t>
            </a:r>
            <a:r>
              <a:rPr lang="zh-CN" altLang="en-US" sz="1800" b="1">
                <a:solidFill>
                  <a:schemeClr val="tx2"/>
                </a:solidFill>
              </a:rPr>
              <a:t>左移</a:t>
            </a:r>
            <a:r>
              <a:rPr lang="en-US" altLang="zh-CN" sz="1800" b="1">
                <a:solidFill>
                  <a:schemeClr val="tx2"/>
                </a:solidFill>
              </a:rPr>
              <a:t>1</a:t>
            </a:r>
            <a:r>
              <a:rPr lang="zh-CN" altLang="en-US" sz="1800" b="1">
                <a:solidFill>
                  <a:schemeClr val="tx2"/>
                </a:solidFill>
              </a:rPr>
              <a:t>位        </a:t>
            </a:r>
            <a:r>
              <a:rPr lang="en-US" altLang="zh-CN" sz="1800" b="1">
                <a:solidFill>
                  <a:schemeClr val="tx2"/>
                </a:solidFill>
              </a:rPr>
              <a:t>0000  0000</a:t>
            </a:r>
          </a:p>
          <a:p>
            <a:pPr eaLnBrk="1" hangingPunct="1">
              <a:lnSpc>
                <a:spcPct val="85000"/>
              </a:lnSpc>
            </a:pPr>
            <a:r>
              <a:rPr lang="en-US" altLang="zh-CN" sz="1800" b="1">
                <a:solidFill>
                  <a:schemeClr val="tx2"/>
                </a:solidFill>
              </a:rPr>
              <a:t>                                             +               1</a:t>
            </a:r>
          </a:p>
          <a:p>
            <a:pPr eaLnBrk="1" hangingPunct="1">
              <a:lnSpc>
                <a:spcPct val="85000"/>
              </a:lnSpc>
            </a:pPr>
            <a:r>
              <a:rPr lang="zh-CN" altLang="en-US" sz="1800" b="1">
                <a:solidFill>
                  <a:srgbClr val="FF00FF"/>
                </a:solidFill>
              </a:rPr>
              <a:t>第四次</a:t>
            </a:r>
            <a:r>
              <a:rPr lang="en-US" altLang="zh-CN" sz="1800" b="1">
                <a:solidFill>
                  <a:srgbClr val="FF00FF"/>
                </a:solidFill>
              </a:rPr>
              <a:t>(src)                          0000  0001</a:t>
            </a:r>
          </a:p>
          <a:p>
            <a:pPr eaLnBrk="1" hangingPunct="1">
              <a:lnSpc>
                <a:spcPct val="85000"/>
              </a:lnSpc>
            </a:pPr>
            <a:r>
              <a:rPr lang="en-US" altLang="zh-CN" sz="1800" b="1">
                <a:solidFill>
                  <a:srgbClr val="FF00FF"/>
                </a:solidFill>
              </a:rPr>
              <a:t>         (Smem)</a:t>
            </a:r>
            <a:r>
              <a:rPr lang="zh-CN" altLang="en-US" sz="1800" b="1">
                <a:solidFill>
                  <a:srgbClr val="FF00FF"/>
                </a:solidFill>
              </a:rPr>
              <a:t>分母左移</a:t>
            </a:r>
            <a:r>
              <a:rPr lang="en-US" altLang="zh-CN" sz="1800" b="1">
                <a:solidFill>
                  <a:srgbClr val="FF00FF"/>
                </a:solidFill>
              </a:rPr>
              <a:t>3</a:t>
            </a:r>
            <a:r>
              <a:rPr lang="zh-CN" altLang="en-US" sz="1800" b="1">
                <a:solidFill>
                  <a:srgbClr val="FF00FF"/>
                </a:solidFill>
              </a:rPr>
              <a:t>位 </a:t>
            </a:r>
            <a:r>
              <a:rPr lang="en-US" altLang="zh-CN" sz="1800" b="1">
                <a:solidFill>
                  <a:srgbClr val="FF00FF"/>
                </a:solidFill>
              </a:rPr>
              <a:t>- 001 1</a:t>
            </a:r>
          </a:p>
          <a:p>
            <a:pPr eaLnBrk="1" hangingPunct="1">
              <a:lnSpc>
                <a:spcPct val="85000"/>
              </a:lnSpc>
            </a:pPr>
            <a:r>
              <a:rPr lang="en-US" altLang="zh-CN" sz="1800" b="1">
                <a:solidFill>
                  <a:srgbClr val="FF00FF"/>
                </a:solidFill>
              </a:rPr>
              <a:t>            ALU                         1110  1001</a:t>
            </a:r>
          </a:p>
          <a:p>
            <a:pPr eaLnBrk="1" hangingPunct="1">
              <a:lnSpc>
                <a:spcPct val="85000"/>
              </a:lnSpc>
            </a:pPr>
            <a:r>
              <a:rPr lang="en-US" altLang="zh-CN" sz="1800" b="1">
                <a:solidFill>
                  <a:srgbClr val="FF00FF"/>
                </a:solidFill>
              </a:rPr>
              <a:t>ALU</a:t>
            </a:r>
            <a:r>
              <a:rPr lang="zh-CN" altLang="en-US" sz="1800" b="1">
                <a:solidFill>
                  <a:srgbClr val="FF00FF"/>
                </a:solidFill>
              </a:rPr>
              <a:t>＜</a:t>
            </a:r>
            <a:r>
              <a:rPr lang="en-US" altLang="zh-CN" sz="1800" b="1">
                <a:solidFill>
                  <a:srgbClr val="FF00FF"/>
                </a:solidFill>
              </a:rPr>
              <a:t>0 (src) </a:t>
            </a:r>
            <a:r>
              <a:rPr lang="zh-CN" altLang="en-US" sz="1800" b="1">
                <a:solidFill>
                  <a:srgbClr val="FF00FF"/>
                </a:solidFill>
              </a:rPr>
              <a:t>左移一位      </a:t>
            </a:r>
            <a:r>
              <a:rPr lang="en-US" altLang="zh-CN" sz="1800" b="1">
                <a:solidFill>
                  <a:srgbClr val="FF00FF"/>
                </a:solidFill>
              </a:rPr>
              <a:t>0000  0001</a:t>
            </a:r>
          </a:p>
          <a:p>
            <a:pPr eaLnBrk="1" hangingPunct="1">
              <a:lnSpc>
                <a:spcPct val="85000"/>
              </a:lnSpc>
            </a:pPr>
            <a:r>
              <a:rPr lang="en-US" altLang="zh-CN" sz="1800" b="1">
                <a:solidFill>
                  <a:srgbClr val="FF00FF"/>
                </a:solidFill>
              </a:rPr>
              <a:t>                                              0000  0010</a:t>
            </a:r>
          </a:p>
          <a:p>
            <a:pPr eaLnBrk="1" hangingPunct="1">
              <a:lnSpc>
                <a:spcPct val="85000"/>
              </a:lnSpc>
            </a:pPr>
            <a:r>
              <a:rPr lang="en-US" altLang="zh-CN" sz="1800" b="1">
                <a:solidFill>
                  <a:srgbClr val="FF00FF"/>
                </a:solidFill>
              </a:rPr>
              <a:t>                (src)                       0000  0010</a:t>
            </a:r>
          </a:p>
          <a:p>
            <a:pPr eaLnBrk="1" hangingPunct="1">
              <a:lnSpc>
                <a:spcPct val="85000"/>
              </a:lnSpc>
            </a:pPr>
            <a:r>
              <a:rPr lang="zh-CN" altLang="en-US" sz="1800" b="1"/>
              <a:t>取符号                                </a:t>
            </a:r>
            <a:r>
              <a:rPr lang="en-US" altLang="zh-CN" sz="1800" b="1"/>
              <a:t>- 0000  0010</a:t>
            </a:r>
          </a:p>
          <a:p>
            <a:pPr eaLnBrk="1" hangingPunct="1">
              <a:lnSpc>
                <a:spcPct val="85000"/>
              </a:lnSpc>
            </a:pPr>
            <a:r>
              <a:rPr lang="zh-CN" altLang="en-US" sz="1800" b="1"/>
              <a:t>保存商</a:t>
            </a:r>
            <a:r>
              <a:rPr lang="en-US" altLang="zh-CN" sz="1800" b="1"/>
              <a:t>(src) </a:t>
            </a:r>
            <a:r>
              <a:rPr lang="zh-CN" altLang="en-US" sz="1800" b="1"/>
              <a:t>低字节→商  </a:t>
            </a:r>
            <a:r>
              <a:rPr lang="en-US" altLang="zh-CN" sz="1800" b="1"/>
              <a:t>quot= - 0100</a:t>
            </a:r>
          </a:p>
          <a:p>
            <a:pPr eaLnBrk="1" hangingPunct="1">
              <a:lnSpc>
                <a:spcPct val="85000"/>
              </a:lnSpc>
            </a:pPr>
            <a:r>
              <a:rPr lang="zh-CN" altLang="en-US" sz="1800" b="1">
                <a:solidFill>
                  <a:srgbClr val="FF0000"/>
                </a:solidFill>
              </a:rPr>
              <a:t>十进制转换输出  </a:t>
            </a:r>
            <a:r>
              <a:rPr lang="en-US" altLang="zh-CN" sz="1800" b="1">
                <a:solidFill>
                  <a:srgbClr val="FF0000"/>
                </a:solidFill>
              </a:rPr>
              <a:t>-0100=-2</a:t>
            </a:r>
          </a:p>
        </p:txBody>
      </p:sp>
      <p:sp>
        <p:nvSpPr>
          <p:cNvPr id="908298" name="Text Box 10" descr="小棋盘"/>
          <p:cNvSpPr txBox="1">
            <a:spLocks noChangeArrowheads="1"/>
          </p:cNvSpPr>
          <p:nvPr/>
        </p:nvSpPr>
        <p:spPr bwMode="auto">
          <a:xfrm>
            <a:off x="250825" y="1341438"/>
            <a:ext cx="4105275" cy="428625"/>
          </a:xfrm>
          <a:prstGeom prst="rect">
            <a:avLst/>
          </a:prstGeom>
          <a:pattFill prst="smCheck">
            <a:fgClr>
              <a:schemeClr val="accent1"/>
            </a:fgClr>
            <a:bgClr>
              <a:srgbClr val="FFFFFF"/>
            </a:bgClr>
          </a:pattFill>
          <a:ln w="9525">
            <a:solidFill>
              <a:srgbClr val="FF00FF"/>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kumimoji="0" lang="en-US" altLang="zh-CN" sz="2000" b="1">
                <a:solidFill>
                  <a:schemeClr val="tx2"/>
                </a:solidFill>
                <a:latin typeface="宋体" panose="02010600030101010101" pitchFamily="2" charset="-122"/>
              </a:rPr>
              <a:t>b)</a:t>
            </a:r>
            <a:r>
              <a:rPr kumimoji="0" lang="zh-CN" altLang="en-US" sz="2000" b="1">
                <a:solidFill>
                  <a:schemeClr val="tx2"/>
                </a:solidFill>
                <a:latin typeface="宋体" panose="02010600030101010101" pitchFamily="2" charset="-122"/>
              </a:rPr>
              <a:t>｜被除数｜≥｜除数｜商为整数</a:t>
            </a:r>
            <a:endParaRPr kumimoji="0" lang="zh-CN" altLang="en-US" sz="2000" b="1">
              <a:solidFill>
                <a:schemeClr val="tx2"/>
              </a:solidFill>
            </a:endParaRPr>
          </a:p>
        </p:txBody>
      </p:sp>
      <p:sp>
        <p:nvSpPr>
          <p:cNvPr id="58373" name="Line 11"/>
          <p:cNvSpPr>
            <a:spLocks noChangeShapeType="1"/>
          </p:cNvSpPr>
          <p:nvPr/>
        </p:nvSpPr>
        <p:spPr bwMode="auto">
          <a:xfrm>
            <a:off x="5934075" y="2281238"/>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74" name="Line 12"/>
          <p:cNvSpPr>
            <a:spLocks noChangeShapeType="1"/>
          </p:cNvSpPr>
          <p:nvPr/>
        </p:nvSpPr>
        <p:spPr bwMode="auto">
          <a:xfrm>
            <a:off x="5926138" y="2722563"/>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75" name="Line 13"/>
          <p:cNvSpPr>
            <a:spLocks noChangeShapeType="1"/>
          </p:cNvSpPr>
          <p:nvPr/>
        </p:nvSpPr>
        <p:spPr bwMode="auto">
          <a:xfrm>
            <a:off x="5911850" y="3435350"/>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76" name="Line 14"/>
          <p:cNvSpPr>
            <a:spLocks noChangeShapeType="1"/>
          </p:cNvSpPr>
          <p:nvPr/>
        </p:nvSpPr>
        <p:spPr bwMode="auto">
          <a:xfrm>
            <a:off x="5973763" y="3914775"/>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77" name="Line 15"/>
          <p:cNvSpPr>
            <a:spLocks noChangeShapeType="1"/>
          </p:cNvSpPr>
          <p:nvPr/>
        </p:nvSpPr>
        <p:spPr bwMode="auto">
          <a:xfrm>
            <a:off x="5967413" y="5065713"/>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78" name="Line 16"/>
          <p:cNvSpPr>
            <a:spLocks noChangeShapeType="1"/>
          </p:cNvSpPr>
          <p:nvPr/>
        </p:nvSpPr>
        <p:spPr bwMode="auto">
          <a:xfrm>
            <a:off x="5973763" y="5529263"/>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79" name="Line 17"/>
          <p:cNvSpPr>
            <a:spLocks noChangeShapeType="1"/>
          </p:cNvSpPr>
          <p:nvPr/>
        </p:nvSpPr>
        <p:spPr bwMode="auto">
          <a:xfrm>
            <a:off x="5989638" y="6010275"/>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80" name="Line 18"/>
          <p:cNvSpPr>
            <a:spLocks noChangeShapeType="1"/>
          </p:cNvSpPr>
          <p:nvPr/>
        </p:nvSpPr>
        <p:spPr bwMode="auto">
          <a:xfrm>
            <a:off x="5973763" y="4592638"/>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81" name="Rectangle 19"/>
          <p:cNvSpPr>
            <a:spLocks noChangeArrowheads="1"/>
          </p:cNvSpPr>
          <p:nvPr/>
        </p:nvSpPr>
        <p:spPr bwMode="auto">
          <a:xfrm>
            <a:off x="684213" y="2565400"/>
            <a:ext cx="2736850" cy="22828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FF99"/>
                </a:solidFill>
              </a:rPr>
              <a:t>以</a:t>
            </a:r>
            <a:r>
              <a:rPr lang="en-US" altLang="zh-CN" b="1">
                <a:solidFill>
                  <a:srgbClr val="FFFF99"/>
                </a:solidFill>
              </a:rPr>
              <a:t>Q3</a:t>
            </a:r>
            <a:r>
              <a:rPr lang="zh-CN" altLang="en-US" b="1">
                <a:solidFill>
                  <a:srgbClr val="FFFF99"/>
                </a:solidFill>
              </a:rPr>
              <a:t>格式为例 </a:t>
            </a:r>
          </a:p>
          <a:p>
            <a:pPr algn="ctr" eaLnBrk="1" hangingPunct="1"/>
            <a:r>
              <a:rPr lang="en-US" altLang="zh-CN" b="1">
                <a:solidFill>
                  <a:srgbClr val="FFFF99"/>
                </a:solidFill>
              </a:rPr>
              <a:t>(-0.8) / 0.4</a:t>
            </a:r>
            <a:r>
              <a:rPr lang="en-US" altLang="zh-CN" b="1">
                <a:solidFill>
                  <a:srgbClr val="FF0000"/>
                </a:solidFill>
              </a:rPr>
              <a:t>  </a:t>
            </a:r>
          </a:p>
          <a:p>
            <a:pPr algn="ctr" eaLnBrk="1" hangingPunct="1"/>
            <a:r>
              <a:rPr lang="en-US" altLang="zh-CN" b="1">
                <a:solidFill>
                  <a:schemeClr val="bg1"/>
                </a:solidFill>
              </a:rPr>
              <a:t>            </a:t>
            </a:r>
            <a:r>
              <a:rPr lang="zh-CN" altLang="en-US" b="1">
                <a:solidFill>
                  <a:schemeClr val="bg1"/>
                </a:solidFill>
              </a:rPr>
              <a:t>被除数</a:t>
            </a:r>
            <a:r>
              <a:rPr lang="en-US" altLang="zh-CN" b="1">
                <a:solidFill>
                  <a:schemeClr val="bg1"/>
                </a:solidFill>
              </a:rPr>
              <a:t>0.8×8=6.4→0110</a:t>
            </a:r>
          </a:p>
          <a:p>
            <a:pPr algn="ctr" eaLnBrk="1" hangingPunct="1"/>
            <a:r>
              <a:rPr lang="zh-CN" altLang="en-US" b="1">
                <a:solidFill>
                  <a:schemeClr val="bg1"/>
                </a:solidFill>
              </a:rPr>
              <a:t>除数</a:t>
            </a:r>
          </a:p>
          <a:p>
            <a:pPr eaLnBrk="1" hangingPunct="1"/>
            <a:r>
              <a:rPr lang="en-US" altLang="zh-CN" b="1">
                <a:solidFill>
                  <a:schemeClr val="bg1"/>
                </a:solidFill>
              </a:rPr>
              <a:t>0.4×8=3.2→0011</a:t>
            </a:r>
            <a:r>
              <a:rPr lang="en-US" altLang="zh-CN"/>
              <a:t> </a:t>
            </a:r>
          </a:p>
        </p:txBody>
      </p:sp>
      <p:sp>
        <p:nvSpPr>
          <p:cNvPr id="58382" name="Line 20"/>
          <p:cNvSpPr>
            <a:spLocks noChangeShapeType="1"/>
          </p:cNvSpPr>
          <p:nvPr/>
        </p:nvSpPr>
        <p:spPr bwMode="auto">
          <a:xfrm>
            <a:off x="5911850" y="1571625"/>
            <a:ext cx="208915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83" name="AutoShape 22"/>
          <p:cNvSpPr>
            <a:spLocks noChangeArrowheads="1"/>
          </p:cNvSpPr>
          <p:nvPr/>
        </p:nvSpPr>
        <p:spPr bwMode="auto">
          <a:xfrm>
            <a:off x="7740650" y="620713"/>
            <a:ext cx="1008063" cy="360362"/>
          </a:xfrm>
          <a:prstGeom prst="wedgeRectCallout">
            <a:avLst>
              <a:gd name="adj1" fmla="val -35671"/>
              <a:gd name="adj2" fmla="val 83921"/>
            </a:avLst>
          </a:prstGeom>
          <a:solidFill>
            <a:schemeClr val="accent1"/>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a:t>累加器</a:t>
            </a:r>
            <a:r>
              <a:rPr lang="en-US" altLang="zh-CN" sz="1600" b="1"/>
              <a:t>A</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08298"/>
                                        </p:tgtEl>
                                        <p:attrNameLst>
                                          <p:attrName>style.visibility</p:attrName>
                                        </p:attrNameLst>
                                      </p:cBhvr>
                                      <p:to>
                                        <p:strVal val="visible"/>
                                      </p:to>
                                    </p:set>
                                    <p:animEffect transition="in" filter="blinds(horizontal)">
                                      <p:cBhvr>
                                        <p:cTn id="7" dur="500"/>
                                        <p:tgtEl>
                                          <p:spTgt spid="908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829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EC37BD4-3A4F-4C83-B499-70D2D9A15F0C}" type="slidenum">
              <a:rPr lang="en-US" altLang="zh-CN" sz="1400"/>
              <a:pPr eaLnBrk="1" hangingPunct="1"/>
              <a:t>46</a:t>
            </a:fld>
            <a:endParaRPr lang="en-US" altLang="zh-CN" sz="1400"/>
          </a:p>
        </p:txBody>
      </p:sp>
      <p:sp>
        <p:nvSpPr>
          <p:cNvPr id="826370" name="Rectangle 2" descr="小棋盘"/>
          <p:cNvSpPr>
            <a:spLocks noChangeArrowheads="1"/>
          </p:cNvSpPr>
          <p:nvPr/>
        </p:nvSpPr>
        <p:spPr bwMode="auto">
          <a:xfrm>
            <a:off x="1447800" y="1219200"/>
            <a:ext cx="5988050" cy="650875"/>
          </a:xfrm>
          <a:prstGeom prst="rect">
            <a:avLst/>
          </a:prstGeom>
          <a:pattFill prst="smCheck">
            <a:fgClr>
              <a:schemeClr val="accent1"/>
            </a:fgClr>
            <a:bgClr>
              <a:schemeClr val="bg1"/>
            </a:bgClr>
          </a:pattFill>
          <a:ln w="9525">
            <a:solidFill>
              <a:srgbClr val="FF00FF"/>
            </a:solidFill>
            <a:miter lim="800000"/>
            <a:headEnd/>
            <a:tailEnd/>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solidFill>
                  <a:srgbClr val="FF0000"/>
                </a:solidFill>
                <a:latin typeface="宋体" panose="02010600030101010101" pitchFamily="2" charset="-122"/>
              </a:rPr>
              <a:t>第二节</a:t>
            </a:r>
            <a:r>
              <a:rPr lang="zh-CN" altLang="en-US" sz="3600" b="1">
                <a:solidFill>
                  <a:srgbClr val="FF0000"/>
                </a:solidFill>
              </a:rPr>
              <a:t>  </a:t>
            </a:r>
            <a:r>
              <a:rPr lang="en-US" altLang="zh-CN" sz="3600" b="1">
                <a:solidFill>
                  <a:srgbClr val="FF0000"/>
                </a:solidFill>
              </a:rPr>
              <a:t>DSP</a:t>
            </a:r>
            <a:r>
              <a:rPr lang="zh-CN" altLang="en-US" sz="3600" b="1">
                <a:solidFill>
                  <a:srgbClr val="FF0000"/>
                </a:solidFill>
                <a:latin typeface="宋体" panose="02010600030101010101" pitchFamily="2" charset="-122"/>
              </a:rPr>
              <a:t>的浮点运算方法</a:t>
            </a:r>
            <a:r>
              <a:rPr lang="zh-CN" altLang="en-US" sz="3600" b="1">
                <a:solidFill>
                  <a:srgbClr val="FF0000"/>
                </a:solidFill>
              </a:rPr>
              <a:t> </a:t>
            </a:r>
          </a:p>
        </p:txBody>
      </p:sp>
      <p:sp>
        <p:nvSpPr>
          <p:cNvPr id="826371" name="Rectangle 3" descr="小棋盘"/>
          <p:cNvSpPr>
            <a:spLocks noChangeArrowheads="1"/>
          </p:cNvSpPr>
          <p:nvPr/>
        </p:nvSpPr>
        <p:spPr bwMode="auto">
          <a:xfrm>
            <a:off x="1981200" y="2057400"/>
            <a:ext cx="47244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1</a:t>
            </a:r>
            <a:r>
              <a:rPr lang="zh-CN" altLang="en-US" sz="3200" b="1">
                <a:solidFill>
                  <a:srgbClr val="FF0000"/>
                </a:solidFill>
                <a:latin typeface="宋体" panose="02010600030101010101" pitchFamily="2" charset="-122"/>
                <a:ea typeface="仿宋_GB2312" pitchFamily="49" charset="-122"/>
              </a:rPr>
              <a:t>．浮点数的表示方法 </a:t>
            </a:r>
          </a:p>
        </p:txBody>
      </p:sp>
      <p:sp>
        <p:nvSpPr>
          <p:cNvPr id="826372" name="Rectangle 4"/>
          <p:cNvSpPr>
            <a:spLocks noChangeArrowheads="1"/>
          </p:cNvSpPr>
          <p:nvPr/>
        </p:nvSpPr>
        <p:spPr bwMode="auto">
          <a:xfrm>
            <a:off x="1447800" y="2819400"/>
            <a:ext cx="6934200" cy="156368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solidFill>
                  <a:schemeClr val="tx2"/>
                </a:solidFill>
              </a:rPr>
              <a:t>(1) </a:t>
            </a:r>
            <a:r>
              <a:rPr lang="en-US" altLang="zh-CN" sz="3200" b="1">
                <a:solidFill>
                  <a:schemeClr val="tx2"/>
                </a:solidFill>
                <a:latin typeface="宋体" panose="02010600030101010101" pitchFamily="2" charset="-122"/>
              </a:rPr>
              <a:t>C54x</a:t>
            </a:r>
            <a:r>
              <a:rPr lang="en-US" altLang="zh-CN" sz="3200" b="1">
                <a:solidFill>
                  <a:schemeClr val="tx2"/>
                </a:solidFill>
              </a:rPr>
              <a:t> </a:t>
            </a:r>
            <a:r>
              <a:rPr lang="zh-CN" altLang="en-US" sz="3200" b="1">
                <a:solidFill>
                  <a:schemeClr val="tx2"/>
                </a:solidFill>
              </a:rPr>
              <a:t>本身是定点</a:t>
            </a:r>
            <a:r>
              <a:rPr lang="en-US" altLang="zh-CN" sz="3200" b="1">
                <a:solidFill>
                  <a:schemeClr val="tx2"/>
                </a:solidFill>
              </a:rPr>
              <a:t>DSP</a:t>
            </a:r>
            <a:r>
              <a:rPr lang="zh-CN" altLang="en-US" sz="3200" b="1">
                <a:solidFill>
                  <a:schemeClr val="tx2"/>
                </a:solidFill>
              </a:rPr>
              <a:t>芯片；</a:t>
            </a:r>
          </a:p>
          <a:p>
            <a:pPr eaLnBrk="1" hangingPunct="1"/>
            <a:r>
              <a:rPr lang="en-US" altLang="zh-CN" sz="3200" b="1">
                <a:solidFill>
                  <a:schemeClr val="tx2"/>
                </a:solidFill>
              </a:rPr>
              <a:t>(2)</a:t>
            </a:r>
            <a:r>
              <a:rPr lang="zh-CN" altLang="en-US" sz="3200" b="1">
                <a:solidFill>
                  <a:schemeClr val="tx2"/>
                </a:solidFill>
              </a:rPr>
              <a:t>用定点</a:t>
            </a:r>
            <a:r>
              <a:rPr lang="en-US" altLang="zh-CN" sz="3200" b="1">
                <a:solidFill>
                  <a:schemeClr val="tx2"/>
                </a:solidFill>
              </a:rPr>
              <a:t>DSP</a:t>
            </a:r>
            <a:r>
              <a:rPr lang="zh-CN" altLang="en-US" sz="3200" b="1">
                <a:solidFill>
                  <a:schemeClr val="tx2"/>
                </a:solidFill>
              </a:rPr>
              <a:t>芯片进行浮点数运算，必须先将定点数转换为浮点数。</a:t>
            </a:r>
            <a:endParaRPr lang="zh-CN" altLang="en-US" sz="2800" b="1">
              <a:solidFill>
                <a:schemeClr val="tx2"/>
              </a:solidFill>
            </a:endParaRPr>
          </a:p>
        </p:txBody>
      </p:sp>
      <p:sp>
        <p:nvSpPr>
          <p:cNvPr id="826373" name="Rectangle 5" descr="小棋盘"/>
          <p:cNvSpPr>
            <a:spLocks noChangeArrowheads="1"/>
          </p:cNvSpPr>
          <p:nvPr/>
        </p:nvSpPr>
        <p:spPr bwMode="auto">
          <a:xfrm>
            <a:off x="381000" y="3200400"/>
            <a:ext cx="735013" cy="1074738"/>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b="1">
                <a:solidFill>
                  <a:srgbClr val="FF0000"/>
                </a:solidFill>
                <a:latin typeface="宋体" panose="02010600030101010101" pitchFamily="2" charset="-122"/>
                <a:ea typeface="仿宋_GB2312" pitchFamily="49" charset="-122"/>
              </a:rPr>
              <a:t>要</a:t>
            </a:r>
          </a:p>
          <a:p>
            <a:pPr algn="just" eaLnBrk="1" hangingPunct="1">
              <a:lnSpc>
                <a:spcPct val="90000"/>
              </a:lnSpc>
              <a:spcBef>
                <a:spcPct val="20000"/>
              </a:spcBef>
            </a:pPr>
            <a:r>
              <a:rPr lang="zh-CN" altLang="en-US" sz="3200" b="1">
                <a:solidFill>
                  <a:srgbClr val="FF0000"/>
                </a:solidFill>
                <a:latin typeface="宋体" panose="02010600030101010101" pitchFamily="2" charset="-122"/>
                <a:ea typeface="仿宋_GB2312" pitchFamily="49" charset="-122"/>
              </a:rPr>
              <a:t>点</a:t>
            </a:r>
            <a:endParaRPr lang="zh-CN" altLang="en-US" sz="3200" b="1">
              <a:solidFill>
                <a:srgbClr val="FF0000"/>
              </a:solidFill>
              <a:latin typeface="宋体" panose="02010600030101010101" pitchFamily="2" charset="-122"/>
              <a:cs typeface="Times New Roman" panose="02020603050405020304" pitchFamily="18" charset="0"/>
            </a:endParaRPr>
          </a:p>
        </p:txBody>
      </p:sp>
      <p:sp>
        <p:nvSpPr>
          <p:cNvPr id="826374" name="Rectangle 6" descr="小棋盘"/>
          <p:cNvSpPr>
            <a:spLocks noChangeArrowheads="1"/>
          </p:cNvSpPr>
          <p:nvPr/>
        </p:nvSpPr>
        <p:spPr bwMode="auto">
          <a:xfrm>
            <a:off x="2057400" y="4572000"/>
            <a:ext cx="4724400" cy="107632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FF0000"/>
                </a:solidFill>
                <a:latin typeface="宋体" panose="02010600030101010101" pitchFamily="2" charset="-122"/>
                <a:ea typeface="仿宋_GB2312" pitchFamily="49" charset="-122"/>
              </a:rPr>
              <a:t>浮点数表示定点数</a:t>
            </a:r>
            <a:r>
              <a:rPr lang="zh-CN" altLang="en-US" sz="3200" b="1">
                <a:solidFill>
                  <a:srgbClr val="FF0000"/>
                </a:solidFill>
                <a:latin typeface="宋体" panose="02010600030101010101" pitchFamily="2" charset="-122"/>
                <a:cs typeface="Times New Roman" panose="02020603050405020304" pitchFamily="18" charset="0"/>
              </a:rPr>
              <a:t>，采用尾数和指数两部分来表示</a:t>
            </a:r>
            <a:endParaRPr lang="zh-CN" altLang="en-US" sz="3200" b="1">
              <a:solidFill>
                <a:srgbClr val="FF0000"/>
              </a:solidFill>
              <a:latin typeface="宋体" panose="02010600030101010101" pitchFamily="2" charset="-122"/>
              <a:ea typeface="仿宋_GB2312" pitchFamily="49" charset="-122"/>
            </a:endParaRPr>
          </a:p>
        </p:txBody>
      </p:sp>
      <p:sp>
        <p:nvSpPr>
          <p:cNvPr id="826375" name="Rectangle 7"/>
          <p:cNvSpPr>
            <a:spLocks noChangeArrowheads="1"/>
          </p:cNvSpPr>
          <p:nvPr/>
        </p:nvSpPr>
        <p:spPr bwMode="auto">
          <a:xfrm>
            <a:off x="1371600" y="5867400"/>
            <a:ext cx="6773863" cy="58896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chemeClr val="folHlink"/>
                </a:solidFill>
                <a:latin typeface="宋体" panose="02010600030101010101" pitchFamily="2" charset="-122"/>
              </a:rPr>
              <a:t>定点数</a:t>
            </a:r>
            <a:r>
              <a:rPr lang="en-US" altLang="zh-CN" sz="3200" b="1">
                <a:solidFill>
                  <a:schemeClr val="folHlink"/>
                </a:solidFill>
                <a:latin typeface="宋体" panose="02010600030101010101" pitchFamily="2" charset="-122"/>
              </a:rPr>
              <a:t>=</a:t>
            </a:r>
            <a:r>
              <a:rPr lang="zh-CN" altLang="en-US" sz="3200" b="1">
                <a:solidFill>
                  <a:schemeClr val="folHlink"/>
                </a:solidFill>
                <a:latin typeface="宋体" panose="02010600030101010101" pitchFamily="2" charset="-122"/>
              </a:rPr>
              <a:t>尾数</a:t>
            </a:r>
            <a:r>
              <a:rPr lang="en-US" altLang="zh-CN" sz="3200" b="1">
                <a:solidFill>
                  <a:schemeClr val="folHlink"/>
                </a:solidFill>
                <a:latin typeface="宋体" panose="02010600030101010101" pitchFamily="2" charset="-122"/>
              </a:rPr>
              <a:t>×2</a:t>
            </a:r>
            <a:r>
              <a:rPr lang="en-US" altLang="zh-CN" sz="3200" b="1" baseline="30000">
                <a:solidFill>
                  <a:schemeClr val="folHlink"/>
                </a:solidFill>
                <a:latin typeface="宋体" panose="02010600030101010101" pitchFamily="2" charset="-122"/>
              </a:rPr>
              <a:t>-</a:t>
            </a:r>
            <a:r>
              <a:rPr lang="zh-CN" altLang="en-US" sz="3200" b="1" baseline="30000">
                <a:solidFill>
                  <a:schemeClr val="folHlink"/>
                </a:solidFill>
                <a:latin typeface="宋体" panose="02010600030101010101" pitchFamily="2" charset="-122"/>
              </a:rPr>
              <a:t>（指数）    </a:t>
            </a:r>
            <a:r>
              <a:rPr lang="zh-CN" altLang="en-US" sz="3200" b="1">
                <a:solidFill>
                  <a:schemeClr val="folHlink"/>
                </a:solidFill>
                <a:latin typeface="宋体" panose="02010600030101010101" pitchFamily="2" charset="-122"/>
              </a:rPr>
              <a:t>或 </a:t>
            </a:r>
            <a:r>
              <a:rPr lang="en-US" altLang="zh-CN" sz="3200" b="1">
                <a:solidFill>
                  <a:schemeClr val="folHlink"/>
                </a:solidFill>
                <a:latin typeface="宋体" panose="02010600030101010101" pitchFamily="2" charset="-122"/>
              </a:rPr>
              <a:t>x=m×2</a:t>
            </a:r>
            <a:r>
              <a:rPr lang="en-US" altLang="zh-CN" sz="3200" b="1" baseline="30000">
                <a:solidFill>
                  <a:schemeClr val="folHlink"/>
                </a:solidFill>
                <a:latin typeface="宋体" panose="02010600030101010101" pitchFamily="2" charset="-122"/>
              </a:rPr>
              <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26370"/>
                                        </p:tgtEl>
                                        <p:attrNameLst>
                                          <p:attrName>style.visibility</p:attrName>
                                        </p:attrNameLst>
                                      </p:cBhvr>
                                      <p:to>
                                        <p:strVal val="visible"/>
                                      </p:to>
                                    </p:set>
                                    <p:animEffect transition="in" filter="slide(fromTop)">
                                      <p:cBhvr>
                                        <p:cTn id="7" dur="500"/>
                                        <p:tgtEl>
                                          <p:spTgt spid="826370"/>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26371"/>
                                        </p:tgtEl>
                                        <p:attrNameLst>
                                          <p:attrName>style.visibility</p:attrName>
                                        </p:attrNameLst>
                                      </p:cBhvr>
                                      <p:to>
                                        <p:strVal val="visible"/>
                                      </p:to>
                                    </p:set>
                                    <p:animEffect transition="in" filter="slide(fromBottom)">
                                      <p:cBhvr>
                                        <p:cTn id="11" dur="500"/>
                                        <p:tgtEl>
                                          <p:spTgt spid="826371"/>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826373"/>
                                        </p:tgtEl>
                                        <p:attrNameLst>
                                          <p:attrName>style.visibility</p:attrName>
                                        </p:attrNameLst>
                                      </p:cBhvr>
                                      <p:to>
                                        <p:strVal val="visible"/>
                                      </p:to>
                                    </p:set>
                                    <p:animEffect transition="in" filter="slide(fromBottom)">
                                      <p:cBhvr>
                                        <p:cTn id="15" dur="500"/>
                                        <p:tgtEl>
                                          <p:spTgt spid="826373"/>
                                        </p:tgtEl>
                                      </p:cBhvr>
                                    </p:animEffect>
                                  </p:childTnLst>
                                </p:cTn>
                              </p:par>
                            </p:childTnLst>
                          </p:cTn>
                        </p:par>
                        <p:par>
                          <p:cTn id="16" fill="hold" nodeType="afterGroup">
                            <p:stCondLst>
                              <p:cond delay="1500"/>
                            </p:stCondLst>
                            <p:childTnLst>
                              <p:par>
                                <p:cTn id="17" presetID="12" presetClass="entr" presetSubtype="4" fill="hold" grpId="0" nodeType="afterEffect">
                                  <p:stCondLst>
                                    <p:cond delay="0"/>
                                  </p:stCondLst>
                                  <p:childTnLst>
                                    <p:set>
                                      <p:cBhvr>
                                        <p:cTn id="18" dur="1" fill="hold">
                                          <p:stCondLst>
                                            <p:cond delay="0"/>
                                          </p:stCondLst>
                                        </p:cTn>
                                        <p:tgtEl>
                                          <p:spTgt spid="826372"/>
                                        </p:tgtEl>
                                        <p:attrNameLst>
                                          <p:attrName>style.visibility</p:attrName>
                                        </p:attrNameLst>
                                      </p:cBhvr>
                                      <p:to>
                                        <p:strVal val="visible"/>
                                      </p:to>
                                    </p:set>
                                    <p:animEffect transition="in" filter="slide(fromBottom)">
                                      <p:cBhvr>
                                        <p:cTn id="19" dur="500"/>
                                        <p:tgtEl>
                                          <p:spTgt spid="826372"/>
                                        </p:tgtEl>
                                      </p:cBhvr>
                                    </p:animEffect>
                                  </p:childTnLst>
                                </p:cTn>
                              </p:par>
                            </p:childTnLst>
                          </p:cTn>
                        </p:par>
                        <p:par>
                          <p:cTn id="20" fill="hold" nodeType="afterGroup">
                            <p:stCondLst>
                              <p:cond delay="2000"/>
                            </p:stCondLst>
                            <p:childTnLst>
                              <p:par>
                                <p:cTn id="21" presetID="12" presetClass="entr" presetSubtype="4" fill="hold" grpId="0" nodeType="afterEffect">
                                  <p:stCondLst>
                                    <p:cond delay="0"/>
                                  </p:stCondLst>
                                  <p:childTnLst>
                                    <p:set>
                                      <p:cBhvr>
                                        <p:cTn id="22" dur="1" fill="hold">
                                          <p:stCondLst>
                                            <p:cond delay="0"/>
                                          </p:stCondLst>
                                        </p:cTn>
                                        <p:tgtEl>
                                          <p:spTgt spid="826374"/>
                                        </p:tgtEl>
                                        <p:attrNameLst>
                                          <p:attrName>style.visibility</p:attrName>
                                        </p:attrNameLst>
                                      </p:cBhvr>
                                      <p:to>
                                        <p:strVal val="visible"/>
                                      </p:to>
                                    </p:set>
                                    <p:animEffect transition="in" filter="slide(fromBottom)">
                                      <p:cBhvr>
                                        <p:cTn id="23" dur="500"/>
                                        <p:tgtEl>
                                          <p:spTgt spid="826374"/>
                                        </p:tgtEl>
                                      </p:cBhvr>
                                    </p:animEffect>
                                  </p:childTnLst>
                                </p:cTn>
                              </p:par>
                            </p:childTnLst>
                          </p:cTn>
                        </p:par>
                        <p:par>
                          <p:cTn id="24" fill="hold" nodeType="afterGroup">
                            <p:stCondLst>
                              <p:cond delay="2500"/>
                            </p:stCondLst>
                            <p:childTnLst>
                              <p:par>
                                <p:cTn id="25" presetID="12" presetClass="entr" presetSubtype="4" fill="hold" grpId="0" nodeType="afterEffect">
                                  <p:stCondLst>
                                    <p:cond delay="0"/>
                                  </p:stCondLst>
                                  <p:childTnLst>
                                    <p:set>
                                      <p:cBhvr>
                                        <p:cTn id="26" dur="1" fill="hold">
                                          <p:stCondLst>
                                            <p:cond delay="0"/>
                                          </p:stCondLst>
                                        </p:cTn>
                                        <p:tgtEl>
                                          <p:spTgt spid="826375"/>
                                        </p:tgtEl>
                                        <p:attrNameLst>
                                          <p:attrName>style.visibility</p:attrName>
                                        </p:attrNameLst>
                                      </p:cBhvr>
                                      <p:to>
                                        <p:strVal val="visible"/>
                                      </p:to>
                                    </p:set>
                                    <p:animEffect transition="in" filter="slide(fromBottom)">
                                      <p:cBhvr>
                                        <p:cTn id="27" dur="500"/>
                                        <p:tgtEl>
                                          <p:spTgt spid="826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0" grpId="0" animBg="1"/>
      <p:bldP spid="826371" grpId="0" animBg="1"/>
      <p:bldP spid="826372" grpId="0" animBg="1"/>
      <p:bldP spid="826373" grpId="0" animBg="1"/>
      <p:bldP spid="826374" grpId="0" animBg="1"/>
      <p:bldP spid="82637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17B66C3-66A2-4268-A2E8-3807C0D56E44}" type="slidenum">
              <a:rPr lang="en-US" altLang="zh-CN" sz="1400"/>
              <a:pPr eaLnBrk="1" hangingPunct="1"/>
              <a:t>47</a:t>
            </a:fld>
            <a:endParaRPr lang="en-US" altLang="zh-CN" sz="1400"/>
          </a:p>
        </p:txBody>
      </p:sp>
      <p:sp>
        <p:nvSpPr>
          <p:cNvPr id="827394" name="Rectangle 2" descr="小棋盘"/>
          <p:cNvSpPr>
            <a:spLocks noChangeArrowheads="1"/>
          </p:cNvSpPr>
          <p:nvPr/>
        </p:nvSpPr>
        <p:spPr bwMode="auto">
          <a:xfrm>
            <a:off x="1905000" y="1143000"/>
            <a:ext cx="48768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2</a:t>
            </a:r>
            <a:r>
              <a:rPr lang="zh-CN" altLang="en-US" sz="3200" b="1">
                <a:solidFill>
                  <a:srgbClr val="FF0000"/>
                </a:solidFill>
                <a:latin typeface="宋体" panose="02010600030101010101" pitchFamily="2" charset="-122"/>
                <a:ea typeface="仿宋_GB2312" pitchFamily="49" charset="-122"/>
              </a:rPr>
              <a:t>．定点数转换成浮点数 </a:t>
            </a:r>
          </a:p>
        </p:txBody>
      </p:sp>
      <p:sp>
        <p:nvSpPr>
          <p:cNvPr id="827395" name="Rectangle 3"/>
          <p:cNvSpPr>
            <a:spLocks noChangeArrowheads="1"/>
          </p:cNvSpPr>
          <p:nvPr/>
        </p:nvSpPr>
        <p:spPr bwMode="auto">
          <a:xfrm>
            <a:off x="1116013" y="4797425"/>
            <a:ext cx="7620000" cy="18097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dirty="0">
                <a:latin typeface="宋体" panose="02010600030101010101" pitchFamily="2" charset="-122"/>
              </a:rPr>
              <a:t>这是一条提取指数的指令，所提取的指数保存在</a:t>
            </a:r>
            <a:r>
              <a:rPr lang="en-US" altLang="zh-CN" sz="2800" b="1" dirty="0">
                <a:latin typeface="宋体" panose="02010600030101010101" pitchFamily="2" charset="-122"/>
              </a:rPr>
              <a:t>T</a:t>
            </a:r>
            <a:r>
              <a:rPr lang="zh-CN" altLang="en-US" sz="2800" b="1" dirty="0">
                <a:latin typeface="宋体" panose="02010600030101010101" pitchFamily="2" charset="-122"/>
              </a:rPr>
              <a:t>寄存器中。</a:t>
            </a:r>
            <a:r>
              <a:rPr lang="zh-CN" altLang="en-US" sz="2800" b="1" dirty="0">
                <a:solidFill>
                  <a:schemeClr val="tx2"/>
                </a:solidFill>
                <a:latin typeface="宋体" panose="02010600030101010101" pitchFamily="2" charset="-122"/>
              </a:rPr>
              <a:t>如果累加器</a:t>
            </a:r>
            <a:r>
              <a:rPr lang="en-US" altLang="zh-CN" sz="2800" b="1" dirty="0">
                <a:solidFill>
                  <a:schemeClr val="tx2"/>
                </a:solidFill>
                <a:latin typeface="宋体" panose="02010600030101010101" pitchFamily="2" charset="-122"/>
              </a:rPr>
              <a:t>A=0</a:t>
            </a:r>
            <a:r>
              <a:rPr lang="zh-CN" altLang="en-US" sz="2800" b="1" dirty="0">
                <a:solidFill>
                  <a:schemeClr val="tx2"/>
                </a:solidFill>
                <a:latin typeface="宋体" panose="02010600030101010101" pitchFamily="2" charset="-122"/>
              </a:rPr>
              <a:t>，则</a:t>
            </a:r>
            <a:r>
              <a:rPr lang="en-US" altLang="zh-CN" sz="2800" b="1" dirty="0">
                <a:solidFill>
                  <a:schemeClr val="tx2"/>
                </a:solidFill>
                <a:latin typeface="宋体" panose="02010600030101010101" pitchFamily="2" charset="-122"/>
              </a:rPr>
              <a:t>0→T</a:t>
            </a:r>
            <a:r>
              <a:rPr lang="zh-CN" altLang="en-US" sz="2800" b="1" dirty="0">
                <a:solidFill>
                  <a:schemeClr val="tx2"/>
                </a:solidFill>
                <a:latin typeface="宋体" panose="02010600030101010101" pitchFamily="2" charset="-122"/>
              </a:rPr>
              <a:t>；否则，累加器</a:t>
            </a:r>
            <a:r>
              <a:rPr lang="en-US" altLang="zh-CN" sz="2800" b="1" dirty="0">
                <a:solidFill>
                  <a:schemeClr val="tx2"/>
                </a:solidFill>
                <a:latin typeface="宋体" panose="02010600030101010101" pitchFamily="2" charset="-122"/>
              </a:rPr>
              <a:t>A</a:t>
            </a:r>
            <a:r>
              <a:rPr lang="zh-CN" altLang="en-US" sz="2800" b="1" dirty="0">
                <a:solidFill>
                  <a:schemeClr val="tx2"/>
                </a:solidFill>
                <a:latin typeface="宋体" panose="02010600030101010101" pitchFamily="2" charset="-122"/>
              </a:rPr>
              <a:t>的</a:t>
            </a:r>
            <a:r>
              <a:rPr lang="zh-CN" altLang="en-US" sz="2800" b="1" dirty="0">
                <a:solidFill>
                  <a:schemeClr val="accent6">
                    <a:lumMod val="50000"/>
                  </a:schemeClr>
                </a:solidFill>
                <a:latin typeface="宋体" panose="02010600030101010101" pitchFamily="2" charset="-122"/>
              </a:rPr>
              <a:t>冗余符号位数减</a:t>
            </a:r>
            <a:r>
              <a:rPr lang="en-US" altLang="zh-CN" sz="2800" b="1" dirty="0">
                <a:solidFill>
                  <a:schemeClr val="accent6">
                    <a:lumMod val="50000"/>
                  </a:schemeClr>
                </a:solidFill>
                <a:latin typeface="宋体" panose="02010600030101010101" pitchFamily="2" charset="-122"/>
              </a:rPr>
              <a:t>8</a:t>
            </a:r>
            <a:r>
              <a:rPr lang="en-US" altLang="zh-CN" sz="2800" b="1" dirty="0">
                <a:solidFill>
                  <a:schemeClr val="tx2"/>
                </a:solidFill>
                <a:latin typeface="宋体" panose="02010600030101010101" pitchFamily="2" charset="-122"/>
              </a:rPr>
              <a:t>→T</a:t>
            </a:r>
            <a:r>
              <a:rPr lang="zh-CN" altLang="en-US" sz="2800" b="1" dirty="0">
                <a:solidFill>
                  <a:schemeClr val="tx2"/>
                </a:solidFill>
                <a:latin typeface="宋体" panose="02010600030101010101" pitchFamily="2" charset="-122"/>
              </a:rPr>
              <a:t>。累加器</a:t>
            </a:r>
            <a:r>
              <a:rPr lang="en-US" altLang="zh-CN" sz="2800" b="1" dirty="0">
                <a:solidFill>
                  <a:schemeClr val="tx2"/>
                </a:solidFill>
                <a:latin typeface="宋体" panose="02010600030101010101" pitchFamily="2" charset="-122"/>
              </a:rPr>
              <a:t>A</a:t>
            </a:r>
            <a:r>
              <a:rPr lang="zh-CN" altLang="en-US" sz="2800" b="1" dirty="0">
                <a:solidFill>
                  <a:schemeClr val="tx2"/>
                </a:solidFill>
                <a:latin typeface="宋体" panose="02010600030101010101" pitchFamily="2" charset="-122"/>
              </a:rPr>
              <a:t>中的内容不变。</a:t>
            </a:r>
          </a:p>
        </p:txBody>
      </p:sp>
      <p:sp>
        <p:nvSpPr>
          <p:cNvPr id="827396" name="Rectangle 4" descr="小棋盘"/>
          <p:cNvSpPr>
            <a:spLocks noChangeArrowheads="1"/>
          </p:cNvSpPr>
          <p:nvPr/>
        </p:nvSpPr>
        <p:spPr bwMode="auto">
          <a:xfrm>
            <a:off x="228600" y="4495800"/>
            <a:ext cx="742950" cy="18542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b="1">
                <a:solidFill>
                  <a:srgbClr val="FF0000"/>
                </a:solidFill>
                <a:latin typeface="宋体" panose="02010600030101010101" pitchFamily="2" charset="-122"/>
                <a:ea typeface="仿宋_GB2312" pitchFamily="49" charset="-122"/>
              </a:rPr>
              <a:t>转换要点</a:t>
            </a:r>
            <a:endParaRPr lang="zh-CN" altLang="en-US" sz="3200" b="1">
              <a:solidFill>
                <a:srgbClr val="FF0000"/>
              </a:solidFill>
              <a:latin typeface="宋体" panose="02010600030101010101" pitchFamily="2" charset="-122"/>
              <a:cs typeface="Times New Roman" panose="02020603050405020304" pitchFamily="18" charset="0"/>
            </a:endParaRPr>
          </a:p>
        </p:txBody>
      </p:sp>
      <p:sp>
        <p:nvSpPr>
          <p:cNvPr id="827397" name="Rectangle 5" descr="小棋盘"/>
          <p:cNvSpPr>
            <a:spLocks noChangeArrowheads="1"/>
          </p:cNvSpPr>
          <p:nvPr/>
        </p:nvSpPr>
        <p:spPr bwMode="auto">
          <a:xfrm>
            <a:off x="1258888" y="3581400"/>
            <a:ext cx="7489825" cy="107632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008000"/>
                </a:solidFill>
                <a:latin typeface="宋体" panose="02010600030101010101" pitchFamily="2" charset="-122"/>
              </a:rPr>
              <a:t>（</a:t>
            </a:r>
            <a:r>
              <a:rPr lang="en-US" altLang="zh-CN" sz="3200" b="1">
                <a:solidFill>
                  <a:srgbClr val="008000"/>
                </a:solidFill>
                <a:latin typeface="宋体" panose="02010600030101010101" pitchFamily="2" charset="-122"/>
              </a:rPr>
              <a:t>1</a:t>
            </a:r>
            <a:r>
              <a:rPr lang="zh-CN" altLang="en-US" sz="3200" b="1">
                <a:solidFill>
                  <a:srgbClr val="008000"/>
                </a:solidFill>
                <a:latin typeface="宋体" panose="02010600030101010101" pitchFamily="2" charset="-122"/>
              </a:rPr>
              <a:t>）先将定点数放在累加器</a:t>
            </a:r>
            <a:r>
              <a:rPr lang="en-US" altLang="zh-CN" sz="3200" b="1">
                <a:solidFill>
                  <a:srgbClr val="008000"/>
                </a:solidFill>
                <a:latin typeface="宋体" panose="02010600030101010101" pitchFamily="2" charset="-122"/>
              </a:rPr>
              <a:t>A</a:t>
            </a:r>
            <a:r>
              <a:rPr lang="zh-CN" altLang="en-US" sz="3200" b="1">
                <a:solidFill>
                  <a:srgbClr val="008000"/>
                </a:solidFill>
                <a:latin typeface="宋体" panose="02010600030101010101" pitchFamily="2" charset="-122"/>
              </a:rPr>
              <a:t>或</a:t>
            </a:r>
            <a:r>
              <a:rPr lang="en-US" altLang="zh-CN" sz="3200" b="1">
                <a:solidFill>
                  <a:srgbClr val="008000"/>
                </a:solidFill>
                <a:latin typeface="宋体" panose="02010600030101010101" pitchFamily="2" charset="-122"/>
              </a:rPr>
              <a:t>B</a:t>
            </a:r>
            <a:r>
              <a:rPr lang="zh-CN" altLang="en-US" sz="3200" b="1">
                <a:solidFill>
                  <a:srgbClr val="008000"/>
                </a:solidFill>
                <a:latin typeface="宋体" panose="02010600030101010101" pitchFamily="2" charset="-122"/>
              </a:rPr>
              <a:t>中，然后</a:t>
            </a:r>
            <a:r>
              <a:rPr lang="zh-CN" altLang="en-US" sz="3200" b="1">
                <a:solidFill>
                  <a:schemeClr val="tx2"/>
                </a:solidFill>
                <a:latin typeface="宋体" panose="02010600030101010101" pitchFamily="2" charset="-122"/>
              </a:rPr>
              <a:t>用指令：</a:t>
            </a:r>
            <a:r>
              <a:rPr lang="en-US" altLang="zh-CN" sz="3200" b="1">
                <a:solidFill>
                  <a:schemeClr val="folHlink"/>
                </a:solidFill>
                <a:latin typeface="宋体" panose="02010600030101010101" pitchFamily="2" charset="-122"/>
              </a:rPr>
              <a:t>EXP A </a:t>
            </a:r>
            <a:r>
              <a:rPr lang="zh-CN" altLang="en-US" sz="3200" b="1">
                <a:solidFill>
                  <a:schemeClr val="folHlink"/>
                </a:solidFill>
                <a:latin typeface="宋体" panose="02010600030101010101" pitchFamily="2" charset="-122"/>
              </a:rPr>
              <a:t>或</a:t>
            </a:r>
            <a:r>
              <a:rPr lang="en-US" altLang="zh-CN" sz="3200" b="1">
                <a:solidFill>
                  <a:schemeClr val="folHlink"/>
                </a:solidFill>
                <a:latin typeface="宋体" panose="02010600030101010101" pitchFamily="2" charset="-122"/>
              </a:rPr>
              <a:t>EXP B</a:t>
            </a:r>
            <a:r>
              <a:rPr lang="zh-CN" altLang="en-US" sz="3200" b="1">
                <a:solidFill>
                  <a:schemeClr val="folHlink"/>
                </a:solidFill>
                <a:latin typeface="宋体" panose="02010600030101010101" pitchFamily="2" charset="-122"/>
              </a:rPr>
              <a:t>提取指数。</a:t>
            </a:r>
          </a:p>
        </p:txBody>
      </p:sp>
      <p:sp>
        <p:nvSpPr>
          <p:cNvPr id="827398" name="AutoShape 6" descr="小棋盘"/>
          <p:cNvSpPr>
            <a:spLocks noChangeArrowheads="1"/>
          </p:cNvSpPr>
          <p:nvPr/>
        </p:nvSpPr>
        <p:spPr bwMode="auto">
          <a:xfrm>
            <a:off x="179388" y="1557338"/>
            <a:ext cx="1390650" cy="1371600"/>
          </a:xfrm>
          <a:prstGeom prst="irregularSeal1">
            <a:avLst/>
          </a:prstGeom>
          <a:pattFill prst="smCheck">
            <a:fgClr>
              <a:schemeClr val="accent1"/>
            </a:fgClr>
            <a:bgClr>
              <a:srgbClr val="FFFFFF"/>
            </a:bgClr>
          </a:pattFill>
          <a:ln w="9525">
            <a:solidFill>
              <a:srgbClr val="FF00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FF0000"/>
                </a:solidFill>
              </a:rPr>
              <a:t>注意</a:t>
            </a:r>
          </a:p>
        </p:txBody>
      </p:sp>
      <p:sp>
        <p:nvSpPr>
          <p:cNvPr id="827399" name="Rectangle 7"/>
          <p:cNvSpPr>
            <a:spLocks noChangeArrowheads="1"/>
          </p:cNvSpPr>
          <p:nvPr/>
        </p:nvSpPr>
        <p:spPr bwMode="auto">
          <a:xfrm>
            <a:off x="1619250" y="1844675"/>
            <a:ext cx="648176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由于</a:t>
            </a:r>
            <a:r>
              <a:rPr lang="en-US" altLang="zh-CN" sz="2800" b="1">
                <a:latin typeface="宋体" panose="02010600030101010101" pitchFamily="2" charset="-122"/>
              </a:rPr>
              <a:t>C54x DSP</a:t>
            </a:r>
            <a:r>
              <a:rPr lang="zh-CN" altLang="en-US" sz="2800" b="1">
                <a:latin typeface="宋体" panose="02010600030101010101" pitchFamily="2" charset="-122"/>
              </a:rPr>
              <a:t>用</a:t>
            </a:r>
            <a:r>
              <a:rPr lang="en-US" altLang="zh-CN" sz="2800" b="1">
                <a:latin typeface="宋体" panose="02010600030101010101" pitchFamily="2" charset="-122"/>
              </a:rPr>
              <a:t>16</a:t>
            </a:r>
            <a:r>
              <a:rPr lang="zh-CN" altLang="en-US" sz="2800" b="1">
                <a:latin typeface="宋体" panose="02010600030101010101" pitchFamily="2" charset="-122"/>
              </a:rPr>
              <a:t>位表示数字，其对浮点数的表示采用一个单元保存指数和一个单元保存尾数的两个</a:t>
            </a:r>
            <a:r>
              <a:rPr lang="en-US" altLang="zh-CN" sz="2800" b="1">
                <a:latin typeface="宋体" panose="02010600030101010101" pitchFamily="2" charset="-122"/>
              </a:rPr>
              <a:t>16</a:t>
            </a:r>
            <a:r>
              <a:rPr lang="zh-CN" altLang="en-US" sz="2800" b="1">
                <a:latin typeface="宋体" panose="02010600030101010101" pitchFamily="2" charset="-122"/>
              </a:rPr>
              <a:t>位表示法。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827394"/>
                                        </p:tgtEl>
                                        <p:attrNameLst>
                                          <p:attrName>style.visibility</p:attrName>
                                        </p:attrNameLst>
                                      </p:cBhvr>
                                      <p:to>
                                        <p:strVal val="visible"/>
                                      </p:to>
                                    </p:set>
                                    <p:anim calcmode="lin" valueType="num">
                                      <p:cBhvr>
                                        <p:cTn id="7" dur="500" fill="hold"/>
                                        <p:tgtEl>
                                          <p:spTgt spid="827394"/>
                                        </p:tgtEl>
                                        <p:attrNameLst>
                                          <p:attrName>ppt_w</p:attrName>
                                        </p:attrNameLst>
                                      </p:cBhvr>
                                      <p:tavLst>
                                        <p:tav tm="0">
                                          <p:val>
                                            <p:fltVal val="0"/>
                                          </p:val>
                                        </p:tav>
                                        <p:tav tm="100000">
                                          <p:val>
                                            <p:strVal val="#ppt_w"/>
                                          </p:val>
                                        </p:tav>
                                      </p:tavLst>
                                    </p:anim>
                                    <p:anim calcmode="lin" valueType="num">
                                      <p:cBhvr>
                                        <p:cTn id="8" dur="500" fill="hold"/>
                                        <p:tgtEl>
                                          <p:spTgt spid="827394"/>
                                        </p:tgtEl>
                                        <p:attrNameLst>
                                          <p:attrName>ppt_h</p:attrName>
                                        </p:attrNameLst>
                                      </p:cBhvr>
                                      <p:tavLst>
                                        <p:tav tm="0">
                                          <p:val>
                                            <p:fltVal val="0"/>
                                          </p:val>
                                        </p:tav>
                                        <p:tav tm="100000">
                                          <p:val>
                                            <p:strVal val="#ppt_h"/>
                                          </p:val>
                                        </p:tav>
                                      </p:tavLst>
                                    </p:anim>
                                    <p:animEffect transition="in" filter="fade">
                                      <p:cBhvr>
                                        <p:cTn id="9" dur="500"/>
                                        <p:tgtEl>
                                          <p:spTgt spid="827394"/>
                                        </p:tgtEl>
                                      </p:cBhvr>
                                    </p:animEffect>
                                  </p:childTnLst>
                                </p:cTn>
                              </p:par>
                            </p:childTnLst>
                          </p:cTn>
                        </p:par>
                        <p:par>
                          <p:cTn id="10" fill="hold" nodeType="afterGroup">
                            <p:stCondLst>
                              <p:cond delay="500"/>
                            </p:stCondLst>
                            <p:childTnLst>
                              <p:par>
                                <p:cTn id="11" presetID="23" presetClass="entr" presetSubtype="16" fill="hold" grpId="0" nodeType="afterEffect">
                                  <p:stCondLst>
                                    <p:cond delay="0"/>
                                  </p:stCondLst>
                                  <p:childTnLst>
                                    <p:set>
                                      <p:cBhvr>
                                        <p:cTn id="12" dur="1" fill="hold">
                                          <p:stCondLst>
                                            <p:cond delay="0"/>
                                          </p:stCondLst>
                                        </p:cTn>
                                        <p:tgtEl>
                                          <p:spTgt spid="827398"/>
                                        </p:tgtEl>
                                        <p:attrNameLst>
                                          <p:attrName>style.visibility</p:attrName>
                                        </p:attrNameLst>
                                      </p:cBhvr>
                                      <p:to>
                                        <p:strVal val="visible"/>
                                      </p:to>
                                    </p:set>
                                    <p:anim calcmode="lin" valueType="num">
                                      <p:cBhvr>
                                        <p:cTn id="13" dur="500" fill="hold"/>
                                        <p:tgtEl>
                                          <p:spTgt spid="827398"/>
                                        </p:tgtEl>
                                        <p:attrNameLst>
                                          <p:attrName>ppt_w</p:attrName>
                                        </p:attrNameLst>
                                      </p:cBhvr>
                                      <p:tavLst>
                                        <p:tav tm="0">
                                          <p:val>
                                            <p:fltVal val="0"/>
                                          </p:val>
                                        </p:tav>
                                        <p:tav tm="100000">
                                          <p:val>
                                            <p:strVal val="#ppt_w"/>
                                          </p:val>
                                        </p:tav>
                                      </p:tavLst>
                                    </p:anim>
                                    <p:anim calcmode="lin" valueType="num">
                                      <p:cBhvr>
                                        <p:cTn id="14" dur="500" fill="hold"/>
                                        <p:tgtEl>
                                          <p:spTgt spid="827398"/>
                                        </p:tgtEl>
                                        <p:attrNameLst>
                                          <p:attrName>ppt_h</p:attrName>
                                        </p:attrNameLst>
                                      </p:cBhvr>
                                      <p:tavLst>
                                        <p:tav tm="0">
                                          <p:val>
                                            <p:fltVal val="0"/>
                                          </p:val>
                                        </p:tav>
                                        <p:tav tm="100000">
                                          <p:val>
                                            <p:strVal val="#ppt_h"/>
                                          </p:val>
                                        </p:tav>
                                      </p:tavLst>
                                    </p:anim>
                                  </p:childTnLst>
                                </p:cTn>
                              </p:par>
                            </p:childTnLst>
                          </p:cTn>
                        </p:par>
                        <p:par>
                          <p:cTn id="15" fill="hold" nodeType="afterGroup">
                            <p:stCondLst>
                              <p:cond delay="1000"/>
                            </p:stCondLst>
                            <p:childTnLst>
                              <p:par>
                                <p:cTn id="16" presetID="12" presetClass="entr" presetSubtype="4" fill="hold" grpId="0" nodeType="afterEffect">
                                  <p:stCondLst>
                                    <p:cond delay="0"/>
                                  </p:stCondLst>
                                  <p:childTnLst>
                                    <p:set>
                                      <p:cBhvr>
                                        <p:cTn id="17" dur="1" fill="hold">
                                          <p:stCondLst>
                                            <p:cond delay="0"/>
                                          </p:stCondLst>
                                        </p:cTn>
                                        <p:tgtEl>
                                          <p:spTgt spid="827399"/>
                                        </p:tgtEl>
                                        <p:attrNameLst>
                                          <p:attrName>style.visibility</p:attrName>
                                        </p:attrNameLst>
                                      </p:cBhvr>
                                      <p:to>
                                        <p:strVal val="visible"/>
                                      </p:to>
                                    </p:set>
                                    <p:animEffect transition="in" filter="slide(fromBottom)">
                                      <p:cBhvr>
                                        <p:cTn id="18" dur="500"/>
                                        <p:tgtEl>
                                          <p:spTgt spid="827399"/>
                                        </p:tgtEl>
                                      </p:cBhvr>
                                    </p:animEffect>
                                  </p:childTnLst>
                                </p:cTn>
                              </p:par>
                            </p:childTnLst>
                          </p:cTn>
                        </p:par>
                        <p:par>
                          <p:cTn id="19" fill="hold" nodeType="afterGroup">
                            <p:stCondLst>
                              <p:cond delay="1500"/>
                            </p:stCondLst>
                            <p:childTnLst>
                              <p:par>
                                <p:cTn id="20" presetID="12" presetClass="entr" presetSubtype="4" fill="hold" grpId="0" nodeType="afterEffect">
                                  <p:stCondLst>
                                    <p:cond delay="0"/>
                                  </p:stCondLst>
                                  <p:childTnLst>
                                    <p:set>
                                      <p:cBhvr>
                                        <p:cTn id="21" dur="1" fill="hold">
                                          <p:stCondLst>
                                            <p:cond delay="0"/>
                                          </p:stCondLst>
                                        </p:cTn>
                                        <p:tgtEl>
                                          <p:spTgt spid="827397"/>
                                        </p:tgtEl>
                                        <p:attrNameLst>
                                          <p:attrName>style.visibility</p:attrName>
                                        </p:attrNameLst>
                                      </p:cBhvr>
                                      <p:to>
                                        <p:strVal val="visible"/>
                                      </p:to>
                                    </p:set>
                                    <p:animEffect transition="in" filter="slide(fromBottom)">
                                      <p:cBhvr>
                                        <p:cTn id="22" dur="500"/>
                                        <p:tgtEl>
                                          <p:spTgt spid="827397"/>
                                        </p:tgtEl>
                                      </p:cBhvr>
                                    </p:animEffect>
                                  </p:childTnLst>
                                </p:cTn>
                              </p:par>
                            </p:childTnLst>
                          </p:cTn>
                        </p:par>
                        <p:par>
                          <p:cTn id="23" fill="hold" nodeType="afterGroup">
                            <p:stCondLst>
                              <p:cond delay="2000"/>
                            </p:stCondLst>
                            <p:childTnLst>
                              <p:par>
                                <p:cTn id="24" presetID="12" presetClass="entr" presetSubtype="8" fill="hold" grpId="0" nodeType="afterEffect">
                                  <p:stCondLst>
                                    <p:cond delay="0"/>
                                  </p:stCondLst>
                                  <p:childTnLst>
                                    <p:set>
                                      <p:cBhvr>
                                        <p:cTn id="25" dur="1" fill="hold">
                                          <p:stCondLst>
                                            <p:cond delay="0"/>
                                          </p:stCondLst>
                                        </p:cTn>
                                        <p:tgtEl>
                                          <p:spTgt spid="827396"/>
                                        </p:tgtEl>
                                        <p:attrNameLst>
                                          <p:attrName>style.visibility</p:attrName>
                                        </p:attrNameLst>
                                      </p:cBhvr>
                                      <p:to>
                                        <p:strVal val="visible"/>
                                      </p:to>
                                    </p:set>
                                    <p:animEffect transition="in" filter="slide(fromLeft)">
                                      <p:cBhvr>
                                        <p:cTn id="26" dur="500"/>
                                        <p:tgtEl>
                                          <p:spTgt spid="827396"/>
                                        </p:tgtEl>
                                      </p:cBhvr>
                                    </p:animEffect>
                                  </p:childTnLst>
                                </p:cTn>
                              </p:par>
                            </p:childTnLst>
                          </p:cTn>
                        </p:par>
                        <p:par>
                          <p:cTn id="27" fill="hold" nodeType="afterGroup">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827395"/>
                                        </p:tgtEl>
                                        <p:attrNameLst>
                                          <p:attrName>style.visibility</p:attrName>
                                        </p:attrNameLst>
                                      </p:cBhvr>
                                      <p:to>
                                        <p:strVal val="visible"/>
                                      </p:to>
                                    </p:set>
                                    <p:animEffect transition="in" filter="slide(fromBottom)">
                                      <p:cBhvr>
                                        <p:cTn id="30" dur="500"/>
                                        <p:tgtEl>
                                          <p:spTgt spid="827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4" grpId="0" animBg="1"/>
      <p:bldP spid="827395" grpId="0" animBg="1"/>
      <p:bldP spid="827396" grpId="0" animBg="1"/>
      <p:bldP spid="827397" grpId="0" animBg="1"/>
      <p:bldP spid="827398" grpId="0" animBg="1"/>
      <p:bldP spid="82739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5A5C1CD-A356-4CE8-94BC-995AE8EB079F}" type="slidenum">
              <a:rPr lang="en-US" altLang="zh-CN" sz="1400"/>
              <a:pPr eaLnBrk="1" hangingPunct="1"/>
              <a:t>48</a:t>
            </a:fld>
            <a:endParaRPr lang="en-US" altLang="zh-CN" sz="1400"/>
          </a:p>
        </p:txBody>
      </p:sp>
      <p:sp>
        <p:nvSpPr>
          <p:cNvPr id="828418" name="Rectangle 2"/>
          <p:cNvSpPr>
            <a:spLocks noChangeArrowheads="1"/>
          </p:cNvSpPr>
          <p:nvPr/>
        </p:nvSpPr>
        <p:spPr bwMode="auto">
          <a:xfrm>
            <a:off x="304800" y="1295400"/>
            <a:ext cx="85344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例</a:t>
            </a:r>
            <a:r>
              <a:rPr lang="en-US" altLang="zh-CN" sz="2800" b="1">
                <a:latin typeface="宋体" panose="02010600030101010101" pitchFamily="2" charset="-122"/>
              </a:rPr>
              <a:t>5-16  </a:t>
            </a:r>
            <a:r>
              <a:rPr lang="zh-CN" altLang="en-US" sz="2800" b="1">
                <a:latin typeface="宋体" panose="02010600030101010101" pitchFamily="2" charset="-122"/>
              </a:rPr>
              <a:t>提取</a:t>
            </a:r>
            <a:r>
              <a:rPr lang="en-US" altLang="zh-CN" sz="2800" b="1">
                <a:latin typeface="宋体" panose="02010600030101010101" pitchFamily="2" charset="-122"/>
              </a:rPr>
              <a:t>A=FF FFFF FFCB</a:t>
            </a:r>
            <a:r>
              <a:rPr lang="zh-CN" altLang="en-US" sz="2800" b="1">
                <a:latin typeface="宋体" panose="02010600030101010101" pitchFamily="2" charset="-122"/>
              </a:rPr>
              <a:t>中的指数值。</a:t>
            </a:r>
          </a:p>
          <a:p>
            <a:pPr algn="just"/>
            <a:r>
              <a:rPr lang="zh-CN" altLang="en-US" sz="2800" b="1">
                <a:latin typeface="宋体" panose="02010600030101010101" pitchFamily="2" charset="-122"/>
              </a:rPr>
              <a:t>　　</a:t>
            </a:r>
            <a:r>
              <a:rPr lang="zh-CN" altLang="en-US" sz="2800" b="1">
                <a:solidFill>
                  <a:srgbClr val="FF00FF"/>
                </a:solidFill>
                <a:latin typeface="宋体" panose="02010600030101010101" pitchFamily="2" charset="-122"/>
              </a:rPr>
              <a:t>执行指令：　</a:t>
            </a:r>
            <a:r>
              <a:rPr lang="en-US" altLang="zh-CN" sz="2800" b="1">
                <a:solidFill>
                  <a:srgbClr val="FF00FF"/>
                </a:solidFill>
                <a:latin typeface="宋体" panose="02010600030101010101" pitchFamily="2" charset="-122"/>
              </a:rPr>
              <a:t>EXP  A </a:t>
            </a:r>
          </a:p>
          <a:p>
            <a:pPr algn="just"/>
            <a:r>
              <a:rPr lang="en-US" altLang="zh-CN" sz="2800" b="1">
                <a:latin typeface="宋体" panose="02010600030101010101" pitchFamily="2" charset="-122"/>
              </a:rPr>
              <a:t> </a:t>
            </a:r>
            <a:r>
              <a:rPr lang="zh-CN" altLang="en-US" sz="2800" b="1">
                <a:latin typeface="宋体" panose="02010600030101010101" pitchFamily="2" charset="-122"/>
              </a:rPr>
              <a:t>执行前                   执行后</a:t>
            </a:r>
          </a:p>
          <a:p>
            <a:pPr algn="just"/>
            <a:r>
              <a:rPr lang="zh-CN" altLang="en-US" sz="2800" b="1">
                <a:latin typeface="宋体" panose="02010600030101010101" pitchFamily="2" charset="-122"/>
              </a:rPr>
              <a:t> </a:t>
            </a:r>
            <a:r>
              <a:rPr lang="en-US" altLang="zh-CN" sz="2800" b="1">
                <a:solidFill>
                  <a:schemeClr val="folHlink"/>
                </a:solidFill>
                <a:latin typeface="宋体" panose="02010600030101010101" pitchFamily="2" charset="-122"/>
              </a:rPr>
              <a:t>A=FF FFFF FFCB         A=FF FFFF FFCB</a:t>
            </a:r>
          </a:p>
          <a:p>
            <a:pPr algn="just"/>
            <a:r>
              <a:rPr lang="en-US" altLang="zh-CN" sz="2800" b="1">
                <a:latin typeface="宋体" panose="02010600030101010101" pitchFamily="2" charset="-122"/>
              </a:rPr>
              <a:t> </a:t>
            </a:r>
            <a:r>
              <a:rPr lang="en-US" altLang="zh-CN" sz="2800" b="1">
                <a:solidFill>
                  <a:schemeClr val="tx2"/>
                </a:solidFill>
                <a:latin typeface="宋体" panose="02010600030101010101" pitchFamily="2" charset="-122"/>
              </a:rPr>
              <a:t>T=        0000</a:t>
            </a:r>
            <a:r>
              <a:rPr lang="en-US" altLang="zh-CN" sz="2800" b="1">
                <a:latin typeface="宋体" panose="02010600030101010101" pitchFamily="2" charset="-122"/>
              </a:rPr>
              <a:t>         </a:t>
            </a:r>
            <a:r>
              <a:rPr lang="en-US" altLang="zh-CN" sz="2800" b="1">
                <a:solidFill>
                  <a:srgbClr val="FF0000"/>
                </a:solidFill>
                <a:latin typeface="宋体" panose="02010600030101010101" pitchFamily="2" charset="-122"/>
              </a:rPr>
              <a:t>T=        0019  </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25</a:t>
            </a:r>
            <a:r>
              <a:rPr lang="zh-CN" altLang="en-US" sz="2800" b="1">
                <a:solidFill>
                  <a:srgbClr val="FF0000"/>
                </a:solidFill>
                <a:latin typeface="宋体" panose="02010600030101010101" pitchFamily="2" charset="-122"/>
              </a:rPr>
              <a:t>）</a:t>
            </a:r>
          </a:p>
          <a:p>
            <a:pPr algn="just"/>
            <a:r>
              <a:rPr lang="zh-CN" altLang="en-US" sz="2800" b="1">
                <a:latin typeface="宋体" panose="02010600030101010101" pitchFamily="2" charset="-122"/>
              </a:rPr>
              <a:t>   本例中，由于</a:t>
            </a:r>
            <a:r>
              <a:rPr lang="en-US" altLang="zh-CN" sz="2800" b="1">
                <a:latin typeface="宋体" panose="02010600030101010101" pitchFamily="2" charset="-122"/>
              </a:rPr>
              <a:t>A≠0</a:t>
            </a:r>
            <a:r>
              <a:rPr lang="zh-CN" altLang="en-US" sz="2800" b="1">
                <a:latin typeface="宋体" panose="02010600030101010101" pitchFamily="2" charset="-122"/>
              </a:rPr>
              <a:t>，需要先求出</a:t>
            </a:r>
            <a:r>
              <a:rPr lang="en-US" altLang="zh-CN" sz="2800" b="1">
                <a:latin typeface="宋体" panose="02010600030101010101" pitchFamily="2" charset="-122"/>
              </a:rPr>
              <a:t>A</a:t>
            </a:r>
            <a:r>
              <a:rPr lang="zh-CN" altLang="en-US" sz="2800" b="1">
                <a:latin typeface="宋体" panose="02010600030101010101" pitchFamily="2" charset="-122"/>
              </a:rPr>
              <a:t>的冗余符号位并减去</a:t>
            </a:r>
            <a:r>
              <a:rPr lang="en-US" altLang="zh-CN" sz="2800" b="1">
                <a:latin typeface="宋体" panose="02010600030101010101" pitchFamily="2" charset="-122"/>
              </a:rPr>
              <a:t>8</a:t>
            </a:r>
            <a:r>
              <a:rPr lang="zh-CN" altLang="en-US" sz="2800" b="1">
                <a:latin typeface="宋体" panose="02010600030101010101" pitchFamily="2" charset="-122"/>
              </a:rPr>
              <a:t>。</a:t>
            </a:r>
          </a:p>
          <a:p>
            <a:pPr algn="just"/>
            <a:r>
              <a:rPr lang="en-US" altLang="zh-CN" sz="2800" b="1">
                <a:latin typeface="宋体" panose="02010600030101010101" pitchFamily="2" charset="-122"/>
              </a:rPr>
              <a:t>A=F   F    F   F   F   F   F    F   C   B</a:t>
            </a:r>
          </a:p>
          <a:p>
            <a:pPr algn="just"/>
            <a:r>
              <a:rPr lang="en-US" altLang="zh-CN" sz="2800" b="1" u="sng">
                <a:latin typeface="宋体" panose="02010600030101010101" pitchFamily="2" charset="-122"/>
              </a:rPr>
              <a:t> </a:t>
            </a:r>
            <a:r>
              <a:rPr lang="en-US" altLang="zh-CN" b="1" u="sng">
                <a:solidFill>
                  <a:schemeClr val="tx2"/>
                </a:solidFill>
                <a:latin typeface="宋体" panose="02010600030101010101" pitchFamily="2" charset="-122"/>
              </a:rPr>
              <a:t>1111 1111 1111 1111 1111 1111 1111 1111</a:t>
            </a:r>
            <a:r>
              <a:rPr lang="en-US" altLang="zh-CN" b="1" u="sng">
                <a:latin typeface="宋体" panose="02010600030101010101" pitchFamily="2" charset="-122"/>
              </a:rPr>
              <a:t> </a:t>
            </a:r>
            <a:r>
              <a:rPr lang="en-US" altLang="zh-CN" b="1" u="sng">
                <a:solidFill>
                  <a:schemeClr val="tx2"/>
                </a:solidFill>
                <a:latin typeface="宋体" panose="02010600030101010101" pitchFamily="2" charset="-122"/>
              </a:rPr>
              <a:t>1</a:t>
            </a:r>
            <a:r>
              <a:rPr lang="en-US" altLang="zh-CN" b="1">
                <a:latin typeface="宋体" panose="02010600030101010101" pitchFamily="2" charset="-122"/>
              </a:rPr>
              <a:t>100 1011 </a:t>
            </a:r>
          </a:p>
          <a:p>
            <a:pPr algn="just"/>
            <a:r>
              <a:rPr lang="en-US" altLang="zh-CN" sz="2800" b="1">
                <a:solidFill>
                  <a:schemeClr val="tx2"/>
                </a:solidFill>
                <a:latin typeface="宋体" panose="02010600030101010101" pitchFamily="2" charset="-122"/>
              </a:rPr>
              <a:t>33</a:t>
            </a:r>
            <a:r>
              <a:rPr lang="zh-CN" altLang="en-US" sz="2800" b="1">
                <a:solidFill>
                  <a:schemeClr val="tx2"/>
                </a:solidFill>
                <a:latin typeface="宋体" panose="02010600030101010101" pitchFamily="2" charset="-122"/>
              </a:rPr>
              <a:t>位冗余符号位</a:t>
            </a:r>
            <a:r>
              <a:rPr lang="en-US" altLang="zh-CN" sz="2800" b="1">
                <a:solidFill>
                  <a:schemeClr val="tx2"/>
                </a:solidFill>
                <a:latin typeface="宋体" panose="02010600030101010101" pitchFamily="2" charset="-122"/>
              </a:rPr>
              <a:t>1</a:t>
            </a:r>
            <a:r>
              <a:rPr lang="zh-CN" altLang="en-US" sz="2800" b="1">
                <a:latin typeface="宋体" panose="02010600030101010101" pitchFamily="2" charset="-122"/>
              </a:rPr>
              <a:t>，  </a:t>
            </a:r>
            <a:r>
              <a:rPr lang="en-US" altLang="zh-CN" sz="2800" b="1">
                <a:solidFill>
                  <a:srgbClr val="FF0000"/>
                </a:solidFill>
                <a:latin typeface="宋体" panose="02010600030101010101" pitchFamily="2" charset="-122"/>
              </a:rPr>
              <a:t>33-8=25=0x0019</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8418"/>
                                        </p:tgtEl>
                                        <p:attrNameLst>
                                          <p:attrName>style.visibility</p:attrName>
                                        </p:attrNameLst>
                                      </p:cBhvr>
                                      <p:to>
                                        <p:strVal val="visible"/>
                                      </p:to>
                                    </p:set>
                                    <p:animEffect transition="in" filter="blinds(horizontal)">
                                      <p:cBhvr>
                                        <p:cTn id="7" dur="500"/>
                                        <p:tgtEl>
                                          <p:spTgt spid="828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84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8B408D0-3EA1-4099-B7F9-32AE871BB15D}" type="slidenum">
              <a:rPr lang="en-US" altLang="zh-CN" sz="1400"/>
              <a:pPr eaLnBrk="1" hangingPunct="1"/>
              <a:t>49</a:t>
            </a:fld>
            <a:endParaRPr lang="en-US" altLang="zh-CN" sz="1400"/>
          </a:p>
        </p:txBody>
      </p:sp>
      <p:sp>
        <p:nvSpPr>
          <p:cNvPr id="829442" name="Rectangle 2"/>
          <p:cNvSpPr>
            <a:spLocks noChangeArrowheads="1"/>
          </p:cNvSpPr>
          <p:nvPr/>
        </p:nvSpPr>
        <p:spPr bwMode="auto">
          <a:xfrm>
            <a:off x="304800" y="1066800"/>
            <a:ext cx="85344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5-17  </a:t>
            </a:r>
            <a:r>
              <a:rPr lang="zh-CN" altLang="en-US" sz="2800" b="1">
                <a:latin typeface="宋体" panose="02010600030101010101" pitchFamily="2" charset="-122"/>
              </a:rPr>
              <a:t>提取</a:t>
            </a:r>
            <a:r>
              <a:rPr lang="en-US" altLang="zh-CN" sz="2800" b="1">
                <a:latin typeface="宋体" panose="02010600030101010101" pitchFamily="2" charset="-122"/>
              </a:rPr>
              <a:t>B=07 8543 2105</a:t>
            </a:r>
            <a:r>
              <a:rPr lang="zh-CN" altLang="en-US" sz="2800" b="1">
                <a:latin typeface="宋体" panose="02010600030101010101" pitchFamily="2" charset="-122"/>
              </a:rPr>
              <a:t>中的指数值。</a:t>
            </a:r>
            <a:endParaRPr lang="zh-CN" altLang="en-US" sz="2800" b="1"/>
          </a:p>
          <a:p>
            <a:pPr algn="just"/>
            <a:r>
              <a:rPr lang="zh-CN" altLang="en-US" sz="2800" b="1">
                <a:solidFill>
                  <a:schemeClr val="tx2"/>
                </a:solidFill>
                <a:latin typeface="宋体" panose="02010600030101010101" pitchFamily="2" charset="-122"/>
              </a:rPr>
              <a:t>执行指令： </a:t>
            </a:r>
            <a:r>
              <a:rPr lang="en-US" altLang="zh-CN" sz="2800" b="1">
                <a:solidFill>
                  <a:schemeClr val="tx2"/>
                </a:solidFill>
                <a:latin typeface="宋体" panose="02010600030101010101" pitchFamily="2" charset="-122"/>
              </a:rPr>
              <a:t>EXP B</a:t>
            </a:r>
            <a:endParaRPr lang="en-US" altLang="zh-CN" sz="2800" b="1">
              <a:solidFill>
                <a:schemeClr val="tx2"/>
              </a:solidFill>
            </a:endParaRPr>
          </a:p>
          <a:p>
            <a:pPr algn="just"/>
            <a:r>
              <a:rPr lang="en-US" altLang="zh-CN" sz="2800" b="1">
                <a:latin typeface="宋体" panose="02010600030101010101" pitchFamily="2" charset="-122"/>
              </a:rPr>
              <a:t>      </a:t>
            </a:r>
            <a:r>
              <a:rPr lang="zh-CN" altLang="en-US" sz="2800" b="1">
                <a:latin typeface="宋体" panose="02010600030101010101" pitchFamily="2" charset="-122"/>
              </a:rPr>
              <a:t>执行前                执行后</a:t>
            </a:r>
            <a:endParaRPr lang="zh-CN" altLang="en-US" sz="2800" b="1"/>
          </a:p>
          <a:p>
            <a:pPr algn="just"/>
            <a:r>
              <a:rPr lang="zh-CN" altLang="en-US" sz="2800" b="1">
                <a:latin typeface="宋体" panose="02010600030101010101" pitchFamily="2" charset="-122"/>
              </a:rPr>
              <a:t>   </a:t>
            </a:r>
            <a:r>
              <a:rPr lang="en-US" altLang="zh-CN" sz="2800" b="1">
                <a:solidFill>
                  <a:schemeClr val="folHlink"/>
                </a:solidFill>
                <a:latin typeface="宋体" panose="02010600030101010101" pitchFamily="2" charset="-122"/>
              </a:rPr>
              <a:t>B=07 8543 2105        B=07 8543 2105</a:t>
            </a:r>
            <a:endParaRPr lang="en-US" altLang="zh-CN" sz="2800" b="1">
              <a:solidFill>
                <a:schemeClr val="folHlink"/>
              </a:solidFill>
            </a:endParaRPr>
          </a:p>
          <a:p>
            <a:pPr algn="just"/>
            <a:r>
              <a:rPr lang="en-US" altLang="zh-CN" sz="2800" b="1">
                <a:latin typeface="宋体" panose="02010600030101010101" pitchFamily="2" charset="-122"/>
              </a:rPr>
              <a:t>   </a:t>
            </a:r>
            <a:r>
              <a:rPr lang="en-US" altLang="zh-CN" sz="2800" b="1">
                <a:solidFill>
                  <a:schemeClr val="tx2"/>
                </a:solidFill>
                <a:latin typeface="宋体" panose="02010600030101010101" pitchFamily="2" charset="-122"/>
              </a:rPr>
              <a:t>T=        0007</a:t>
            </a:r>
            <a:r>
              <a:rPr lang="en-US" altLang="zh-CN" sz="2800" b="1">
                <a:latin typeface="宋体" panose="02010600030101010101" pitchFamily="2" charset="-122"/>
              </a:rPr>
              <a:t>        </a:t>
            </a:r>
            <a:r>
              <a:rPr lang="en-US" altLang="zh-CN" sz="2800" b="1">
                <a:solidFill>
                  <a:srgbClr val="FF0000"/>
                </a:solidFill>
                <a:latin typeface="宋体" panose="02010600030101010101" pitchFamily="2" charset="-122"/>
              </a:rPr>
              <a:t>T=        FFFC </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-4</a:t>
            </a:r>
            <a:r>
              <a:rPr lang="zh-CN" altLang="en-US" sz="2800" b="1">
                <a:solidFill>
                  <a:srgbClr val="FF0000"/>
                </a:solidFill>
                <a:latin typeface="宋体" panose="02010600030101010101" pitchFamily="2" charset="-122"/>
              </a:rPr>
              <a:t>）</a:t>
            </a:r>
            <a:endParaRPr lang="zh-CN" altLang="en-US" sz="2800" b="1">
              <a:solidFill>
                <a:srgbClr val="FF0000"/>
              </a:solidFill>
            </a:endParaRPr>
          </a:p>
          <a:p>
            <a:pPr algn="just"/>
            <a:r>
              <a:rPr lang="zh-CN" altLang="en-US" sz="2800" b="1">
                <a:latin typeface="宋体" panose="02010600030101010101" pitchFamily="2" charset="-122"/>
              </a:rPr>
              <a:t>  本例中，由于</a:t>
            </a:r>
            <a:r>
              <a:rPr lang="en-US" altLang="zh-CN" sz="2800" b="1">
                <a:latin typeface="宋体" panose="02010600030101010101" pitchFamily="2" charset="-122"/>
              </a:rPr>
              <a:t>B≠0</a:t>
            </a:r>
            <a:r>
              <a:rPr lang="zh-CN" altLang="en-US" sz="2800" b="1">
                <a:latin typeface="宋体" panose="02010600030101010101" pitchFamily="2" charset="-122"/>
              </a:rPr>
              <a:t>，需要先求出</a:t>
            </a:r>
            <a:r>
              <a:rPr lang="en-US" altLang="zh-CN" sz="2800" b="1">
                <a:latin typeface="宋体" panose="02010600030101010101" pitchFamily="2" charset="-122"/>
              </a:rPr>
              <a:t>B</a:t>
            </a:r>
            <a:r>
              <a:rPr lang="zh-CN" altLang="en-US" sz="2800" b="1">
                <a:latin typeface="宋体" panose="02010600030101010101" pitchFamily="2" charset="-122"/>
              </a:rPr>
              <a:t>的冗余符号位并减去</a:t>
            </a:r>
            <a:r>
              <a:rPr lang="en-US" altLang="zh-CN" sz="2800" b="1">
                <a:latin typeface="宋体" panose="02010600030101010101" pitchFamily="2" charset="-122"/>
              </a:rPr>
              <a:t>8</a:t>
            </a:r>
            <a:r>
              <a:rPr lang="zh-CN" altLang="en-US" sz="2800" b="1">
                <a:latin typeface="宋体" panose="02010600030101010101" pitchFamily="2" charset="-122"/>
              </a:rPr>
              <a:t>。</a:t>
            </a:r>
            <a:endParaRPr lang="zh-CN" altLang="en-US" sz="2800" b="1"/>
          </a:p>
          <a:p>
            <a:pPr algn="just"/>
            <a:r>
              <a:rPr lang="zh-CN" altLang="en-US" sz="2800" b="1">
                <a:latin typeface="宋体" panose="02010600030101010101" pitchFamily="2" charset="-122"/>
              </a:rPr>
              <a:t> </a:t>
            </a:r>
            <a:r>
              <a:rPr lang="en-US" altLang="zh-CN" sz="2800" b="1">
                <a:latin typeface="宋体" panose="02010600030101010101" pitchFamily="2" charset="-122"/>
              </a:rPr>
              <a:t>B= 0   7    8   5   4   3    2   1   0   5</a:t>
            </a:r>
            <a:endParaRPr lang="en-US" altLang="zh-CN" sz="2800" b="1"/>
          </a:p>
          <a:p>
            <a:pPr algn="just"/>
            <a:r>
              <a:rPr lang="en-US" altLang="zh-CN" sz="2800" b="1" u="sng">
                <a:solidFill>
                  <a:srgbClr val="FF00FF"/>
                </a:solidFill>
                <a:latin typeface="宋体" panose="02010600030101010101" pitchFamily="2" charset="-122"/>
              </a:rPr>
              <a:t>   </a:t>
            </a:r>
            <a:r>
              <a:rPr lang="en-US" altLang="zh-CN" b="1" u="sng">
                <a:solidFill>
                  <a:srgbClr val="FF00FF"/>
                </a:solidFill>
                <a:latin typeface="宋体" panose="02010600030101010101" pitchFamily="2" charset="-122"/>
              </a:rPr>
              <a:t>0000</a:t>
            </a:r>
            <a:r>
              <a:rPr lang="en-US" altLang="zh-CN" b="1">
                <a:latin typeface="宋体" panose="02010600030101010101" pitchFamily="2" charset="-122"/>
              </a:rPr>
              <a:t> 0111 1000 0101 0100 0011 0010 0001 0000 0101 </a:t>
            </a:r>
            <a:endParaRPr lang="en-US" altLang="zh-CN" b="1"/>
          </a:p>
          <a:p>
            <a:pPr algn="just"/>
            <a:r>
              <a:rPr lang="en-US" altLang="zh-CN" sz="2800" b="1">
                <a:solidFill>
                  <a:srgbClr val="FF00FF"/>
                </a:solidFill>
                <a:latin typeface="宋体" panose="02010600030101010101" pitchFamily="2" charset="-122"/>
              </a:rPr>
              <a:t>4</a:t>
            </a:r>
            <a:r>
              <a:rPr lang="zh-CN" altLang="en-US" sz="2800" b="1">
                <a:solidFill>
                  <a:srgbClr val="FF00FF"/>
                </a:solidFill>
                <a:latin typeface="宋体" panose="02010600030101010101" pitchFamily="2" charset="-122"/>
              </a:rPr>
              <a:t>位冗余符号位</a:t>
            </a:r>
            <a:r>
              <a:rPr lang="en-US" altLang="zh-CN" sz="2800" b="1">
                <a:solidFill>
                  <a:srgbClr val="FF00FF"/>
                </a:solidFill>
                <a:latin typeface="宋体" panose="02010600030101010101" pitchFamily="2" charset="-122"/>
              </a:rPr>
              <a:t>0</a:t>
            </a:r>
            <a:r>
              <a:rPr lang="zh-CN" altLang="en-US" sz="2800" b="1">
                <a:latin typeface="宋体" panose="02010600030101010101" pitchFamily="2" charset="-122"/>
              </a:rPr>
              <a:t>，  </a:t>
            </a:r>
            <a:r>
              <a:rPr lang="en-US" altLang="zh-CN" sz="2800" b="1">
                <a:solidFill>
                  <a:srgbClr val="FF6600"/>
                </a:solidFill>
                <a:latin typeface="宋体" panose="02010600030101010101" pitchFamily="2" charset="-122"/>
              </a:rPr>
              <a:t>4-8=-4=0xFFFC</a:t>
            </a:r>
            <a:endParaRPr lang="en-US" altLang="zh-CN" sz="2800" b="1">
              <a:solidFill>
                <a:srgbClr val="FF6600"/>
              </a:solidFill>
            </a:endParaRPr>
          </a:p>
          <a:p>
            <a:pPr algn="just"/>
            <a:r>
              <a:rPr lang="en-US" altLang="zh-CN" sz="2800" b="1">
                <a:solidFill>
                  <a:srgbClr val="FF0000"/>
                </a:solidFill>
                <a:latin typeface="宋体" panose="02010600030101010101" pitchFamily="2" charset="-122"/>
              </a:rPr>
              <a:t>-4=-</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0x0004</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1111 1111 1111 1011+1</a:t>
            </a:r>
            <a:r>
              <a:rPr lang="zh-CN" altLang="en-US" sz="2800" b="1">
                <a:solidFill>
                  <a:srgbClr val="FF0000"/>
                </a:solidFill>
                <a:latin typeface="宋体" panose="02010600030101010101" pitchFamily="2" charset="-122"/>
              </a:rPr>
              <a:t>）</a:t>
            </a:r>
            <a:r>
              <a:rPr lang="zh-CN" altLang="en-US" sz="2800" b="1" baseline="-30000">
                <a:solidFill>
                  <a:srgbClr val="FF0000"/>
                </a:solidFill>
                <a:latin typeface="宋体" panose="02010600030101010101" pitchFamily="2" charset="-122"/>
              </a:rPr>
              <a:t>补</a:t>
            </a:r>
            <a:r>
              <a:rPr lang="en-US" altLang="zh-CN" sz="2800" b="1">
                <a:solidFill>
                  <a:srgbClr val="FF0000"/>
                </a:solidFill>
                <a:latin typeface="宋体" panose="02010600030101010101" pitchFamily="2" charset="-122"/>
              </a:rPr>
              <a:t>=</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0xFFFC</a:t>
            </a:r>
            <a:r>
              <a:rPr lang="zh-CN" altLang="en-US" sz="2800" b="1">
                <a:latin typeface="宋体" panose="02010600030101010101" pitchFamily="2" charset="-122"/>
              </a:rPr>
              <a:t>）</a:t>
            </a:r>
            <a:r>
              <a:rPr lang="zh-CN" altLang="en-US" sz="2800" b="1" baseline="-30000">
                <a:latin typeface="宋体" panose="02010600030101010101" pitchFamily="2" charset="-122"/>
              </a:rPr>
              <a:t> 补</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9442"/>
                                        </p:tgtEl>
                                        <p:attrNameLst>
                                          <p:attrName>style.visibility</p:attrName>
                                        </p:attrNameLst>
                                      </p:cBhvr>
                                      <p:to>
                                        <p:strVal val="visible"/>
                                      </p:to>
                                    </p:set>
                                    <p:animEffect transition="in" filter="blinds(horizontal)">
                                      <p:cBhvr>
                                        <p:cTn id="7" dur="500"/>
                                        <p:tgtEl>
                                          <p:spTgt spid="829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4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38F567E5-5EB9-4538-B087-EC19D33AD241}" type="slidenum">
              <a:rPr lang="en-US" altLang="zh-CN" sz="1400"/>
              <a:pPr eaLnBrk="1" hangingPunct="1"/>
              <a:t>50</a:t>
            </a:fld>
            <a:endParaRPr lang="en-US" altLang="zh-CN" sz="1400"/>
          </a:p>
        </p:txBody>
      </p:sp>
      <p:sp>
        <p:nvSpPr>
          <p:cNvPr id="830466" name="Rectangle 2" descr="小棋盘"/>
          <p:cNvSpPr>
            <a:spLocks noChangeArrowheads="1"/>
          </p:cNvSpPr>
          <p:nvPr/>
        </p:nvSpPr>
        <p:spPr bwMode="auto">
          <a:xfrm>
            <a:off x="1371600" y="1066800"/>
            <a:ext cx="6477000" cy="588963"/>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FF0000"/>
                </a:solidFill>
                <a:latin typeface="宋体" panose="02010600030101010101" pitchFamily="2" charset="-122"/>
              </a:rPr>
              <a:t>（</a:t>
            </a:r>
            <a:r>
              <a:rPr lang="en-US" altLang="zh-CN" sz="3200" b="1">
                <a:solidFill>
                  <a:srgbClr val="FF0000"/>
                </a:solidFill>
                <a:latin typeface="宋体" panose="02010600030101010101" pitchFamily="2" charset="-122"/>
              </a:rPr>
              <a:t>2</a:t>
            </a:r>
            <a:r>
              <a:rPr lang="zh-CN" altLang="en-US" sz="3200" b="1">
                <a:solidFill>
                  <a:srgbClr val="FF0000"/>
                </a:solidFill>
                <a:latin typeface="宋体" panose="02010600030101010101" pitchFamily="2" charset="-122"/>
              </a:rPr>
              <a:t>）</a:t>
            </a:r>
            <a:r>
              <a:rPr lang="zh-CN" altLang="en-US" sz="3200" b="1">
                <a:solidFill>
                  <a:srgbClr val="FF0000"/>
                </a:solidFill>
                <a:latin typeface="宋体" panose="02010600030101010101" pitchFamily="2" charset="-122"/>
                <a:cs typeface="Times New Roman" panose="02020603050405020304" pitchFamily="18" charset="0"/>
              </a:rPr>
              <a:t>使用指令 </a:t>
            </a:r>
            <a:r>
              <a:rPr lang="en-US" altLang="zh-CN" sz="3200" b="1">
                <a:solidFill>
                  <a:srgbClr val="FF0000"/>
                </a:solidFill>
                <a:latin typeface="宋体" panose="02010600030101010101" pitchFamily="2" charset="-122"/>
                <a:cs typeface="Times New Roman" panose="02020603050405020304" pitchFamily="18" charset="0"/>
              </a:rPr>
              <a:t>ST  T</a:t>
            </a:r>
            <a:r>
              <a:rPr lang="zh-CN" altLang="en-US" sz="3200" b="1">
                <a:solidFill>
                  <a:srgbClr val="FF0000"/>
                </a:solidFill>
                <a:latin typeface="宋体" panose="02010600030101010101" pitchFamily="2" charset="-122"/>
                <a:cs typeface="Times New Roman" panose="02020603050405020304" pitchFamily="18" charset="0"/>
              </a:rPr>
              <a:t>，</a:t>
            </a:r>
            <a:r>
              <a:rPr lang="en-US" altLang="zh-CN" sz="3200" b="1">
                <a:solidFill>
                  <a:srgbClr val="FF0000"/>
                </a:solidFill>
                <a:latin typeface="宋体" panose="02010600030101010101" pitchFamily="2" charset="-122"/>
                <a:cs typeface="Times New Roman" panose="02020603050405020304" pitchFamily="18" charset="0"/>
              </a:rPr>
              <a:t>EXPONENT</a:t>
            </a:r>
          </a:p>
        </p:txBody>
      </p:sp>
      <p:sp>
        <p:nvSpPr>
          <p:cNvPr id="830467" name="Rectangle 3"/>
          <p:cNvSpPr>
            <a:spLocks noChangeArrowheads="1"/>
          </p:cNvSpPr>
          <p:nvPr/>
        </p:nvSpPr>
        <p:spPr bwMode="auto">
          <a:xfrm>
            <a:off x="1143000" y="1828800"/>
            <a:ext cx="7605713" cy="235743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rgbClr val="FF00FF"/>
                </a:solidFill>
                <a:latin typeface="宋体" panose="02010600030101010101" pitchFamily="2" charset="-122"/>
              </a:rPr>
              <a:t>将保存在</a:t>
            </a:r>
            <a:r>
              <a:rPr lang="en-US" altLang="zh-CN" sz="2800" b="1">
                <a:solidFill>
                  <a:srgbClr val="FF00FF"/>
                </a:solidFill>
                <a:latin typeface="宋体" panose="02010600030101010101" pitchFamily="2" charset="-122"/>
              </a:rPr>
              <a:t>T</a:t>
            </a:r>
            <a:r>
              <a:rPr lang="zh-CN" altLang="en-US" sz="2800" b="1">
                <a:solidFill>
                  <a:srgbClr val="FF00FF"/>
                </a:solidFill>
                <a:latin typeface="宋体" panose="02010600030101010101" pitchFamily="2" charset="-122"/>
              </a:rPr>
              <a:t>寄存器中的指数存放到数据存储器的指定单元</a:t>
            </a:r>
            <a:r>
              <a:rPr lang="en-US" altLang="zh-CN" sz="2800" b="1">
                <a:solidFill>
                  <a:srgbClr val="FF00FF"/>
                </a:solidFill>
                <a:latin typeface="宋体" panose="02010600030101010101" pitchFamily="2" charset="-122"/>
              </a:rPr>
              <a:t>EXPONENT</a:t>
            </a:r>
            <a:r>
              <a:rPr lang="zh-CN" altLang="en-US" sz="2800" b="1">
                <a:solidFill>
                  <a:srgbClr val="FF00FF"/>
                </a:solidFill>
                <a:latin typeface="宋体" panose="02010600030101010101" pitchFamily="2" charset="-122"/>
              </a:rPr>
              <a:t>中。</a:t>
            </a:r>
          </a:p>
          <a:p>
            <a:r>
              <a:rPr lang="zh-CN" altLang="en-US" sz="2800" b="1">
                <a:latin typeface="宋体" panose="02010600030101010101" pitchFamily="2" charset="-122"/>
              </a:rPr>
              <a:t>如 </a:t>
            </a:r>
            <a:r>
              <a:rPr lang="en-US" altLang="zh-CN" sz="2800" b="1">
                <a:solidFill>
                  <a:schemeClr val="tx2"/>
                </a:solidFill>
                <a:latin typeface="宋体" panose="02010600030101010101" pitchFamily="2" charset="-122"/>
              </a:rPr>
              <a:t>EXP  A</a:t>
            </a:r>
          </a:p>
          <a:p>
            <a:pPr algn="just"/>
            <a:r>
              <a:rPr lang="en-US" altLang="zh-CN" sz="2800" b="1">
                <a:solidFill>
                  <a:schemeClr val="tx2"/>
                </a:solidFill>
                <a:latin typeface="宋体" panose="02010600030101010101" pitchFamily="2" charset="-122"/>
              </a:rPr>
              <a:t>   ST   T</a:t>
            </a:r>
            <a:r>
              <a:rPr lang="zh-CN" altLang="en-US" sz="2800" b="1">
                <a:solidFill>
                  <a:schemeClr val="tx2"/>
                </a:solidFill>
                <a:latin typeface="宋体" panose="02010600030101010101" pitchFamily="2" charset="-122"/>
              </a:rPr>
              <a:t>，</a:t>
            </a:r>
            <a:r>
              <a:rPr lang="en-US" altLang="zh-CN" sz="2800" b="1">
                <a:solidFill>
                  <a:schemeClr val="tx2"/>
                </a:solidFill>
                <a:latin typeface="宋体" panose="02010600030101010101" pitchFamily="2" charset="-122"/>
              </a:rPr>
              <a:t>@</a:t>
            </a:r>
            <a:r>
              <a:rPr lang="en-US" altLang="zh-CN" sz="3200" b="1">
                <a:solidFill>
                  <a:schemeClr val="tx2"/>
                </a:solidFill>
              </a:rPr>
              <a:t>EXPONENT</a:t>
            </a:r>
            <a:r>
              <a:rPr lang="en-US" altLang="zh-CN" sz="2800" b="1">
                <a:latin typeface="宋体" panose="02010600030101010101" pitchFamily="2" charset="-122"/>
              </a:rPr>
              <a:t> </a:t>
            </a:r>
            <a:r>
              <a:rPr lang="zh-CN" altLang="en-US" sz="2800" b="1">
                <a:latin typeface="宋体" panose="02010600030101010101" pitchFamily="2" charset="-122"/>
              </a:rPr>
              <a:t>；将指数存入</a:t>
            </a:r>
          </a:p>
          <a:p>
            <a:pPr algn="just"/>
            <a:r>
              <a:rPr lang="zh-CN" altLang="en-US" sz="2800" b="1">
                <a:latin typeface="宋体" panose="02010600030101010101" pitchFamily="2" charset="-122"/>
              </a:rPr>
              <a:t>；数据存储器</a:t>
            </a:r>
            <a:r>
              <a:rPr lang="en-US" altLang="zh-CN" sz="3200" b="1"/>
              <a:t>EXPONENT</a:t>
            </a:r>
            <a:r>
              <a:rPr lang="zh-CN" altLang="en-US" sz="2800" b="1">
                <a:latin typeface="宋体" panose="02010600030101010101" pitchFamily="2" charset="-122"/>
              </a:rPr>
              <a:t>所指定的单元中。</a:t>
            </a:r>
          </a:p>
        </p:txBody>
      </p:sp>
      <p:sp>
        <p:nvSpPr>
          <p:cNvPr id="830468" name="Rectangle 4" descr="小棋盘"/>
          <p:cNvSpPr>
            <a:spLocks noChangeArrowheads="1"/>
          </p:cNvSpPr>
          <p:nvPr/>
        </p:nvSpPr>
        <p:spPr bwMode="auto">
          <a:xfrm>
            <a:off x="304800" y="2286000"/>
            <a:ext cx="609600" cy="16383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转换要点</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830469" name="Rectangle 5" descr="小棋盘"/>
          <p:cNvSpPr>
            <a:spLocks noChangeArrowheads="1"/>
          </p:cNvSpPr>
          <p:nvPr/>
        </p:nvSpPr>
        <p:spPr bwMode="auto">
          <a:xfrm>
            <a:off x="1295400" y="4191000"/>
            <a:ext cx="6477000" cy="588963"/>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FF0000"/>
                </a:solidFill>
                <a:latin typeface="宋体" panose="02010600030101010101" pitchFamily="2" charset="-122"/>
                <a:cs typeface="Times New Roman" panose="02020603050405020304" pitchFamily="18" charset="0"/>
              </a:rPr>
              <a:t>（</a:t>
            </a:r>
            <a:r>
              <a:rPr lang="en-US" altLang="zh-CN" sz="3200" b="1">
                <a:solidFill>
                  <a:srgbClr val="FF0000"/>
                </a:solidFill>
                <a:latin typeface="宋体" panose="02010600030101010101" pitchFamily="2" charset="-122"/>
                <a:cs typeface="Times New Roman" panose="02020603050405020304" pitchFamily="18" charset="0"/>
              </a:rPr>
              <a:t>3</a:t>
            </a:r>
            <a:r>
              <a:rPr lang="zh-CN" altLang="en-US" sz="3200" b="1">
                <a:solidFill>
                  <a:srgbClr val="FF0000"/>
                </a:solidFill>
                <a:latin typeface="宋体" panose="02010600030101010101" pitchFamily="2" charset="-122"/>
                <a:cs typeface="Times New Roman" panose="02020603050405020304" pitchFamily="18" charset="0"/>
              </a:rPr>
              <a:t>）使用指令</a:t>
            </a:r>
            <a:r>
              <a:rPr lang="en-US" altLang="zh-CN" sz="3200" b="1">
                <a:solidFill>
                  <a:srgbClr val="FF0000"/>
                </a:solidFill>
                <a:latin typeface="宋体" panose="02010600030101010101" pitchFamily="2" charset="-122"/>
                <a:cs typeface="Times New Roman" panose="02020603050405020304" pitchFamily="18" charset="0"/>
              </a:rPr>
              <a:t>NORM   A</a:t>
            </a:r>
            <a:endParaRPr lang="en-US" altLang="zh-CN" sz="3200" b="1">
              <a:solidFill>
                <a:srgbClr val="FF0000"/>
              </a:solidFill>
              <a:latin typeface="宋体" panose="02010600030101010101" pitchFamily="2" charset="-122"/>
            </a:endParaRPr>
          </a:p>
        </p:txBody>
      </p:sp>
      <p:sp>
        <p:nvSpPr>
          <p:cNvPr id="830470" name="Rectangle 6"/>
          <p:cNvSpPr>
            <a:spLocks noChangeArrowheads="1"/>
          </p:cNvSpPr>
          <p:nvPr/>
        </p:nvSpPr>
        <p:spPr bwMode="auto">
          <a:xfrm>
            <a:off x="228600" y="4876800"/>
            <a:ext cx="8610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00FF"/>
                </a:solidFill>
                <a:latin typeface="宋体" panose="02010600030101010101" pitchFamily="2" charset="-122"/>
                <a:cs typeface="Times New Roman" panose="02020603050405020304" pitchFamily="18" charset="0"/>
              </a:rPr>
              <a:t>按Ｔ寄存器中的内容对累加器</a:t>
            </a:r>
            <a:r>
              <a:rPr lang="en-US" altLang="zh-CN" sz="2800" b="1">
                <a:solidFill>
                  <a:srgbClr val="FF00FF"/>
                </a:solidFill>
                <a:latin typeface="宋体" panose="02010600030101010101" pitchFamily="2" charset="-122"/>
                <a:cs typeface="Times New Roman" panose="02020603050405020304" pitchFamily="18" charset="0"/>
              </a:rPr>
              <a:t>A</a:t>
            </a:r>
            <a:r>
              <a:rPr lang="zh-CN" altLang="en-US" sz="2800" b="1">
                <a:solidFill>
                  <a:srgbClr val="FF00FF"/>
                </a:solidFill>
                <a:latin typeface="宋体" panose="02010600030101010101" pitchFamily="2" charset="-122"/>
                <a:cs typeface="Times New Roman" panose="02020603050405020304" pitchFamily="18" charset="0"/>
              </a:rPr>
              <a:t>进行归一化处理</a:t>
            </a:r>
            <a:r>
              <a:rPr lang="zh-CN" altLang="en-US" sz="2800" b="1">
                <a:latin typeface="宋体" panose="02010600030101010101" pitchFamily="2" charset="-122"/>
                <a:cs typeface="Times New Roman" panose="02020603050405020304" pitchFamily="18" charset="0"/>
              </a:rPr>
              <a:t>。</a:t>
            </a:r>
            <a:r>
              <a:rPr lang="zh-CN" altLang="en-US" sz="2800" b="1">
                <a:solidFill>
                  <a:schemeClr val="tx2"/>
                </a:solidFill>
                <a:latin typeface="宋体" panose="02010600030101010101" pitchFamily="2" charset="-122"/>
                <a:cs typeface="Times New Roman" panose="02020603050405020304" pitchFamily="18" charset="0"/>
              </a:rPr>
              <a:t>这里的将定点数转换成浮点数所进行的归一化处理，指通过左移或右移，使一个二进制数变为一个小数，且小数点后的第一个数不为零，移动的位数用指数表示。</a:t>
            </a:r>
            <a:r>
              <a:rPr lang="zh-CN" altLang="en-US" sz="2800" b="1">
                <a:latin typeface="宋体" panose="02010600030101010101" pitchFamily="2" charset="-122"/>
                <a:cs typeface="Times New Roman" panose="02020603050405020304" pitchFamily="18" charset="0"/>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30466"/>
                                        </p:tgtEl>
                                        <p:attrNameLst>
                                          <p:attrName>style.visibility</p:attrName>
                                        </p:attrNameLst>
                                      </p:cBhvr>
                                      <p:to>
                                        <p:strVal val="visible"/>
                                      </p:to>
                                    </p:set>
                                    <p:anim calcmode="lin" valueType="num">
                                      <p:cBhvr additive="base">
                                        <p:cTn id="7" dur="500" fill="hold"/>
                                        <p:tgtEl>
                                          <p:spTgt spid="830466"/>
                                        </p:tgtEl>
                                        <p:attrNameLst>
                                          <p:attrName>ppt_x</p:attrName>
                                        </p:attrNameLst>
                                      </p:cBhvr>
                                      <p:tavLst>
                                        <p:tav tm="0">
                                          <p:val>
                                            <p:strVal val="#ppt_x"/>
                                          </p:val>
                                        </p:tav>
                                        <p:tav tm="100000">
                                          <p:val>
                                            <p:strVal val="#ppt_x"/>
                                          </p:val>
                                        </p:tav>
                                      </p:tavLst>
                                    </p:anim>
                                    <p:anim calcmode="lin" valueType="num">
                                      <p:cBhvr additive="base">
                                        <p:cTn id="8" dur="500" fill="hold"/>
                                        <p:tgtEl>
                                          <p:spTgt spid="830466"/>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830467"/>
                                        </p:tgtEl>
                                        <p:attrNameLst>
                                          <p:attrName>style.visibility</p:attrName>
                                        </p:attrNameLst>
                                      </p:cBhvr>
                                      <p:to>
                                        <p:strVal val="visible"/>
                                      </p:to>
                                    </p:set>
                                    <p:animEffect transition="in" filter="blinds(horizontal)">
                                      <p:cBhvr>
                                        <p:cTn id="12" dur="500"/>
                                        <p:tgtEl>
                                          <p:spTgt spid="830467"/>
                                        </p:tgtEl>
                                      </p:cBhvr>
                                    </p:animEffect>
                                  </p:childTnLst>
                                </p:cTn>
                              </p:par>
                            </p:childTnLst>
                          </p:cTn>
                        </p:par>
                        <p:par>
                          <p:cTn id="13" fill="hold" nodeType="afterGroup">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830468"/>
                                        </p:tgtEl>
                                        <p:attrNameLst>
                                          <p:attrName>style.visibility</p:attrName>
                                        </p:attrNameLst>
                                      </p:cBhvr>
                                      <p:to>
                                        <p:strVal val="visible"/>
                                      </p:to>
                                    </p:set>
                                    <p:anim calcmode="lin" valueType="num">
                                      <p:cBhvr additive="base">
                                        <p:cTn id="16" dur="500" fill="hold"/>
                                        <p:tgtEl>
                                          <p:spTgt spid="830468"/>
                                        </p:tgtEl>
                                        <p:attrNameLst>
                                          <p:attrName>ppt_x</p:attrName>
                                        </p:attrNameLst>
                                      </p:cBhvr>
                                      <p:tavLst>
                                        <p:tav tm="0">
                                          <p:val>
                                            <p:strVal val="0-#ppt_w/2"/>
                                          </p:val>
                                        </p:tav>
                                        <p:tav tm="100000">
                                          <p:val>
                                            <p:strVal val="#ppt_x"/>
                                          </p:val>
                                        </p:tav>
                                      </p:tavLst>
                                    </p:anim>
                                    <p:anim calcmode="lin" valueType="num">
                                      <p:cBhvr additive="base">
                                        <p:cTn id="17" dur="500" fill="hold"/>
                                        <p:tgtEl>
                                          <p:spTgt spid="830468"/>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830469"/>
                                        </p:tgtEl>
                                        <p:attrNameLst>
                                          <p:attrName>style.visibility</p:attrName>
                                        </p:attrNameLst>
                                      </p:cBhvr>
                                      <p:to>
                                        <p:strVal val="visible"/>
                                      </p:to>
                                    </p:set>
                                    <p:anim calcmode="lin" valueType="num">
                                      <p:cBhvr additive="base">
                                        <p:cTn id="21" dur="500" fill="hold"/>
                                        <p:tgtEl>
                                          <p:spTgt spid="830469"/>
                                        </p:tgtEl>
                                        <p:attrNameLst>
                                          <p:attrName>ppt_x</p:attrName>
                                        </p:attrNameLst>
                                      </p:cBhvr>
                                      <p:tavLst>
                                        <p:tav tm="0">
                                          <p:val>
                                            <p:strVal val="#ppt_x"/>
                                          </p:val>
                                        </p:tav>
                                        <p:tav tm="100000">
                                          <p:val>
                                            <p:strVal val="#ppt_x"/>
                                          </p:val>
                                        </p:tav>
                                      </p:tavLst>
                                    </p:anim>
                                    <p:anim calcmode="lin" valueType="num">
                                      <p:cBhvr additive="base">
                                        <p:cTn id="22" dur="500" fill="hold"/>
                                        <p:tgtEl>
                                          <p:spTgt spid="830469"/>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830470"/>
                                        </p:tgtEl>
                                        <p:attrNameLst>
                                          <p:attrName>style.visibility</p:attrName>
                                        </p:attrNameLst>
                                      </p:cBhvr>
                                      <p:to>
                                        <p:strVal val="visible"/>
                                      </p:to>
                                    </p:set>
                                    <p:anim calcmode="lin" valueType="num">
                                      <p:cBhvr additive="base">
                                        <p:cTn id="26" dur="500" fill="hold"/>
                                        <p:tgtEl>
                                          <p:spTgt spid="830470"/>
                                        </p:tgtEl>
                                        <p:attrNameLst>
                                          <p:attrName>ppt_x</p:attrName>
                                        </p:attrNameLst>
                                      </p:cBhvr>
                                      <p:tavLst>
                                        <p:tav tm="0">
                                          <p:val>
                                            <p:strVal val="#ppt_x"/>
                                          </p:val>
                                        </p:tav>
                                        <p:tav tm="100000">
                                          <p:val>
                                            <p:strVal val="#ppt_x"/>
                                          </p:val>
                                        </p:tav>
                                      </p:tavLst>
                                    </p:anim>
                                    <p:anim calcmode="lin" valueType="num">
                                      <p:cBhvr additive="base">
                                        <p:cTn id="27" dur="500" fill="hold"/>
                                        <p:tgtEl>
                                          <p:spTgt spid="830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466" grpId="0" animBg="1"/>
      <p:bldP spid="830467" grpId="0" animBg="1"/>
      <p:bldP spid="830468" grpId="0" animBg="1"/>
      <p:bldP spid="830469" grpId="0" animBg="1"/>
      <p:bldP spid="83047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DF6F0AF-FE54-40B6-AFD6-E732DD80F901}" type="slidenum">
              <a:rPr lang="en-US" altLang="zh-CN" sz="1400"/>
              <a:pPr eaLnBrk="1" hangingPunct="1"/>
              <a:t>51</a:t>
            </a:fld>
            <a:endParaRPr lang="en-US" altLang="zh-CN" sz="1400"/>
          </a:p>
        </p:txBody>
      </p:sp>
      <p:sp>
        <p:nvSpPr>
          <p:cNvPr id="831490" name="Rectangle 2"/>
          <p:cNvSpPr>
            <a:spLocks noChangeArrowheads="1"/>
          </p:cNvSpPr>
          <p:nvPr/>
        </p:nvSpPr>
        <p:spPr bwMode="auto">
          <a:xfrm>
            <a:off x="762000" y="1143000"/>
            <a:ext cx="73914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例如</a:t>
            </a:r>
            <a:r>
              <a:rPr lang="en-US" altLang="zh-CN" sz="2800" b="1">
                <a:latin typeface="宋体" panose="02010600030101010101" pitchFamily="2" charset="-122"/>
              </a:rPr>
              <a:t>:</a:t>
            </a:r>
            <a:endParaRPr lang="en-US" altLang="zh-CN" sz="2800" b="1"/>
          </a:p>
          <a:p>
            <a:pPr algn="just"/>
            <a:r>
              <a:rPr lang="en-US" altLang="zh-CN" sz="2800" b="1">
                <a:latin typeface="宋体" panose="02010600030101010101" pitchFamily="2" charset="-122"/>
              </a:rPr>
              <a:t>0.3=(0.010011)</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-0</a:t>
            </a:r>
            <a:r>
              <a:rPr lang="en-US" altLang="zh-CN" sz="2800" b="1">
                <a:latin typeface="宋体" panose="02010600030101010101" pitchFamily="2" charset="-122"/>
              </a:rPr>
              <a:t>=(0.10011)</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-1</a:t>
            </a:r>
            <a:r>
              <a:rPr lang="zh-CN" altLang="en-US" sz="2800" b="1">
                <a:latin typeface="宋体" panose="02010600030101010101" pitchFamily="2" charset="-122"/>
              </a:rPr>
              <a:t>，</a:t>
            </a:r>
            <a:endParaRPr lang="zh-CN" altLang="en-US" sz="2800" b="1"/>
          </a:p>
          <a:p>
            <a:pPr algn="just"/>
            <a:r>
              <a:rPr lang="en-US" altLang="zh-CN" sz="2800" b="1">
                <a:latin typeface="宋体" panose="02010600030101010101" pitchFamily="2" charset="-122"/>
              </a:rPr>
              <a:t>-0.8=-0.8×2</a:t>
            </a:r>
            <a:r>
              <a:rPr lang="en-US" altLang="zh-CN" sz="2800" b="1" baseline="30000">
                <a:latin typeface="宋体" panose="02010600030101010101" pitchFamily="2" charset="-122"/>
              </a:rPr>
              <a:t>-0</a:t>
            </a:r>
            <a:r>
              <a:rPr lang="en-US" altLang="zh-CN" sz="2800" b="1">
                <a:latin typeface="宋体" panose="02010600030101010101" pitchFamily="2" charset="-122"/>
              </a:rPr>
              <a:t>=-(0.110011)</a:t>
            </a:r>
            <a:r>
              <a:rPr lang="en-US" altLang="zh-CN" sz="2800" b="1" baseline="-30000">
                <a:latin typeface="宋体" panose="02010600030101010101" pitchFamily="2" charset="-122"/>
              </a:rPr>
              <a:t> 2</a:t>
            </a:r>
            <a:r>
              <a:rPr lang="en-US" altLang="zh-CN" sz="2800" b="1">
                <a:latin typeface="宋体" panose="02010600030101010101" pitchFamily="2" charset="-122"/>
              </a:rPr>
              <a:t>×2</a:t>
            </a:r>
            <a:r>
              <a:rPr lang="en-US" altLang="zh-CN" sz="2800" b="1" baseline="30000">
                <a:latin typeface="宋体" panose="02010600030101010101" pitchFamily="2" charset="-122"/>
              </a:rPr>
              <a:t>-0</a:t>
            </a:r>
            <a:r>
              <a:rPr lang="zh-CN" altLang="en-US" sz="2800" b="1">
                <a:latin typeface="宋体" panose="02010600030101010101" pitchFamily="2" charset="-122"/>
              </a:rPr>
              <a:t>，</a:t>
            </a:r>
            <a:endParaRPr lang="zh-CN" altLang="en-US" sz="2800" b="1"/>
          </a:p>
          <a:p>
            <a:pPr algn="just"/>
            <a:r>
              <a:rPr lang="en-US" altLang="zh-CN" sz="2800" b="1">
                <a:latin typeface="宋体" panose="02010600030101010101" pitchFamily="2" charset="-122"/>
              </a:rPr>
              <a:t>-0.24=-(0.001111)×2</a:t>
            </a:r>
            <a:r>
              <a:rPr lang="en-US" altLang="zh-CN" sz="2800" b="1" baseline="30000">
                <a:latin typeface="宋体" panose="02010600030101010101" pitchFamily="2" charset="-122"/>
              </a:rPr>
              <a:t>-0</a:t>
            </a:r>
            <a:r>
              <a:rPr lang="en-US" altLang="zh-CN" sz="2800" b="1">
                <a:latin typeface="宋体" panose="02010600030101010101" pitchFamily="2" charset="-122"/>
              </a:rPr>
              <a:t>=-(0.1111)</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-2</a:t>
            </a:r>
            <a:r>
              <a:rPr lang="zh-CN" altLang="en-US" sz="2800" b="1">
                <a:latin typeface="宋体" panose="02010600030101010101" pitchFamily="2" charset="-122"/>
              </a:rPr>
              <a:t>。</a:t>
            </a:r>
            <a:endParaRPr lang="zh-CN" altLang="en-US" sz="2800" b="1"/>
          </a:p>
          <a:p>
            <a:pPr algn="just"/>
            <a:r>
              <a:rPr lang="en-US" altLang="zh-CN" sz="2800" b="1">
                <a:latin typeface="宋体" panose="02010600030101010101" pitchFamily="2" charset="-122"/>
              </a:rPr>
              <a:t>3=(11)</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-0</a:t>
            </a:r>
            <a:r>
              <a:rPr lang="en-US" altLang="zh-CN" sz="2800" b="1">
                <a:latin typeface="宋体" panose="02010600030101010101" pitchFamily="2" charset="-122"/>
              </a:rPr>
              <a:t>=(0.11)</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2</a:t>
            </a:r>
            <a:r>
              <a:rPr lang="en-US" altLang="zh-CN" sz="2800" b="1">
                <a:latin typeface="宋体" panose="02010600030101010101" pitchFamily="2" charset="-122"/>
              </a:rPr>
              <a:t> </a:t>
            </a:r>
            <a:endParaRPr lang="en-US" altLang="zh-CN" sz="2800" b="1"/>
          </a:p>
          <a:p>
            <a:pPr algn="just"/>
            <a:r>
              <a:rPr lang="en-US" altLang="zh-CN" sz="2800" b="1">
                <a:latin typeface="宋体" panose="02010600030101010101" pitchFamily="2" charset="-122"/>
              </a:rPr>
              <a:t>-8=-(1000)</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-0</a:t>
            </a:r>
            <a:r>
              <a:rPr lang="en-US" altLang="zh-CN" sz="2800" b="1">
                <a:latin typeface="宋体" panose="02010600030101010101" pitchFamily="2" charset="-122"/>
              </a:rPr>
              <a:t>=-(0.1)</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4</a:t>
            </a:r>
            <a:endParaRPr lang="en-US" altLang="zh-CN" sz="2800" b="1"/>
          </a:p>
          <a:p>
            <a:pPr algn="just"/>
            <a:r>
              <a:rPr lang="en-US" altLang="zh-CN" sz="2800" b="1">
                <a:latin typeface="宋体" panose="02010600030101010101" pitchFamily="2" charset="-122"/>
              </a:rPr>
              <a:t>-24=-(11000)</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-0</a:t>
            </a:r>
            <a:r>
              <a:rPr lang="en-US" altLang="zh-CN" sz="2800" b="1">
                <a:latin typeface="宋体" panose="02010600030101010101" pitchFamily="2" charset="-122"/>
              </a:rPr>
              <a:t>=-(0.11)</a:t>
            </a:r>
            <a:r>
              <a:rPr lang="en-US" altLang="zh-CN" sz="2800" b="1" baseline="-30000">
                <a:latin typeface="宋体" panose="02010600030101010101" pitchFamily="2" charset="-122"/>
              </a:rPr>
              <a:t>2</a:t>
            </a:r>
            <a:r>
              <a:rPr lang="en-US" altLang="zh-CN" sz="2800" b="1">
                <a:latin typeface="宋体" panose="02010600030101010101" pitchFamily="2" charset="-122"/>
              </a:rPr>
              <a:t>×2</a:t>
            </a:r>
            <a:r>
              <a:rPr lang="en-US" altLang="zh-CN" sz="2800" b="1" baseline="30000">
                <a:latin typeface="宋体" panose="02010600030101010101" pitchFamily="2" charset="-122"/>
              </a:rPr>
              <a:t>5</a:t>
            </a:r>
            <a:endParaRPr lang="en-US" altLang="zh-CN" sz="2800" b="1"/>
          </a:p>
        </p:txBody>
      </p:sp>
      <p:sp>
        <p:nvSpPr>
          <p:cNvPr id="831491" name="Rectangle 3"/>
          <p:cNvSpPr>
            <a:spLocks noChangeArrowheads="1"/>
          </p:cNvSpPr>
          <p:nvPr/>
        </p:nvSpPr>
        <p:spPr bwMode="auto">
          <a:xfrm>
            <a:off x="755650" y="4941888"/>
            <a:ext cx="76327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
              </a:spcBef>
            </a:pPr>
            <a:r>
              <a:rPr lang="zh-CN" altLang="en-US" sz="3600" b="1" baseline="30000">
                <a:solidFill>
                  <a:schemeClr val="tx2"/>
                </a:solidFill>
                <a:latin typeface="宋体" panose="02010600030101010101" pitchFamily="2" charset="-122"/>
              </a:rPr>
              <a:t>上例中，对于小数，当转换成小数点后第一位为</a:t>
            </a:r>
            <a:r>
              <a:rPr lang="en-US" altLang="zh-CN" sz="3600" b="1" baseline="30000">
                <a:solidFill>
                  <a:schemeClr val="tx2"/>
                </a:solidFill>
                <a:latin typeface="宋体" panose="02010600030101010101" pitchFamily="2" charset="-122"/>
              </a:rPr>
              <a:t>1</a:t>
            </a:r>
            <a:r>
              <a:rPr lang="zh-CN" altLang="en-US" sz="3600" b="1" baseline="30000">
                <a:solidFill>
                  <a:schemeClr val="tx2"/>
                </a:solidFill>
                <a:latin typeface="宋体" panose="02010600030101010101" pitchFamily="2" charset="-122"/>
              </a:rPr>
              <a:t>的归一化数时，通过将小数点右移实现，指数为负数。对于整数，则将小数点左移实现，指数为正数。</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31490"/>
                                        </p:tgtEl>
                                        <p:attrNameLst>
                                          <p:attrName>style.visibility</p:attrName>
                                        </p:attrNameLst>
                                      </p:cBhvr>
                                      <p:to>
                                        <p:strVal val="visible"/>
                                      </p:to>
                                    </p:set>
                                    <p:animEffect transition="in" filter="blinds(horizontal)">
                                      <p:cBhvr>
                                        <p:cTn id="7" dur="500"/>
                                        <p:tgtEl>
                                          <p:spTgt spid="831490"/>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31491"/>
                                        </p:tgtEl>
                                        <p:attrNameLst>
                                          <p:attrName>style.visibility</p:attrName>
                                        </p:attrNameLst>
                                      </p:cBhvr>
                                      <p:to>
                                        <p:strVal val="visible"/>
                                      </p:to>
                                    </p:set>
                                    <p:animEffect transition="in" filter="slide(fromBottom)">
                                      <p:cBhvr>
                                        <p:cTn id="11" dur="500"/>
                                        <p:tgtEl>
                                          <p:spTgt spid="831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490" grpId="0"/>
      <p:bldP spid="83149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C35BEFDB-F797-4C9C-976D-FBC3067EF1C1}" type="slidenum">
              <a:rPr lang="en-US" altLang="zh-CN" sz="1400"/>
              <a:pPr eaLnBrk="1" hangingPunct="1"/>
              <a:t>52</a:t>
            </a:fld>
            <a:endParaRPr lang="en-US" altLang="zh-CN" sz="1400"/>
          </a:p>
        </p:txBody>
      </p:sp>
      <p:sp>
        <p:nvSpPr>
          <p:cNvPr id="832514" name="Rectangle 2"/>
          <p:cNvSpPr>
            <a:spLocks noChangeArrowheads="1"/>
          </p:cNvSpPr>
          <p:nvPr/>
        </p:nvSpPr>
        <p:spPr bwMode="auto">
          <a:xfrm>
            <a:off x="228600" y="1143000"/>
            <a:ext cx="8686800"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5-18  </a:t>
            </a:r>
            <a:r>
              <a:rPr lang="zh-CN" altLang="en-US" sz="2800" b="1">
                <a:latin typeface="宋体" panose="02010600030101010101" pitchFamily="2" charset="-122"/>
              </a:rPr>
              <a:t>对累加器</a:t>
            </a:r>
            <a:r>
              <a:rPr lang="en-US" altLang="zh-CN" sz="2800" b="1">
                <a:latin typeface="宋体" panose="02010600030101010101" pitchFamily="2" charset="-122"/>
              </a:rPr>
              <a:t>A</a:t>
            </a:r>
            <a:r>
              <a:rPr lang="zh-CN" altLang="en-US" sz="2800" b="1">
                <a:latin typeface="宋体" panose="02010600030101010101" pitchFamily="2" charset="-122"/>
              </a:rPr>
              <a:t>进行归一化处理。</a:t>
            </a:r>
            <a:endParaRPr lang="zh-CN" altLang="en-US" sz="2800" b="1"/>
          </a:p>
          <a:p>
            <a:pPr algn="just"/>
            <a:r>
              <a:rPr lang="zh-CN" altLang="en-US" sz="2800" b="1">
                <a:solidFill>
                  <a:schemeClr val="tx2"/>
                </a:solidFill>
                <a:latin typeface="宋体" panose="02010600030101010101" pitchFamily="2" charset="-122"/>
              </a:rPr>
              <a:t>执行指令：　</a:t>
            </a:r>
            <a:r>
              <a:rPr lang="en-US" altLang="zh-CN" sz="2800" b="1">
                <a:solidFill>
                  <a:schemeClr val="tx2"/>
                </a:solidFill>
                <a:latin typeface="宋体" panose="02010600030101010101" pitchFamily="2" charset="-122"/>
              </a:rPr>
              <a:t>NORM   A</a:t>
            </a:r>
            <a:endParaRPr lang="en-US" altLang="zh-CN" sz="2800" b="1">
              <a:solidFill>
                <a:schemeClr val="tx2"/>
              </a:solidFill>
            </a:endParaRPr>
          </a:p>
          <a:p>
            <a:pPr algn="just"/>
            <a:r>
              <a:rPr lang="zh-CN" altLang="en-US" sz="2800" b="1">
                <a:latin typeface="宋体" panose="02010600030101010101" pitchFamily="2" charset="-122"/>
              </a:rPr>
              <a:t>　　执行前                执行后</a:t>
            </a:r>
            <a:endParaRPr lang="zh-CN" altLang="en-US" sz="2800" b="1"/>
          </a:p>
          <a:p>
            <a:pPr algn="just"/>
            <a:r>
              <a:rPr lang="en-US" altLang="zh-CN" sz="2800" b="1">
                <a:solidFill>
                  <a:schemeClr val="folHlink"/>
                </a:solidFill>
                <a:latin typeface="宋体" panose="02010600030101010101" pitchFamily="2" charset="-122"/>
              </a:rPr>
              <a:t>A=FF FFFF F001</a:t>
            </a:r>
            <a:r>
              <a:rPr lang="en-US" altLang="zh-CN" sz="2800" b="1">
                <a:latin typeface="宋体" panose="02010600030101010101" pitchFamily="2" charset="-122"/>
              </a:rPr>
              <a:t>        </a:t>
            </a:r>
            <a:r>
              <a:rPr lang="en-US" altLang="zh-CN" sz="2800" b="1">
                <a:solidFill>
                  <a:srgbClr val="FF0000"/>
                </a:solidFill>
                <a:latin typeface="宋体" panose="02010600030101010101" pitchFamily="2" charset="-122"/>
              </a:rPr>
              <a:t>A=FF 8008 0000</a:t>
            </a:r>
            <a:endParaRPr lang="en-US" altLang="zh-CN" sz="2800" b="1">
              <a:solidFill>
                <a:srgbClr val="FF0000"/>
              </a:solidFill>
            </a:endParaRPr>
          </a:p>
          <a:p>
            <a:pPr algn="just"/>
            <a:r>
              <a:rPr lang="en-US" altLang="zh-CN" sz="2800" b="1">
                <a:latin typeface="宋体" panose="02010600030101010101" pitchFamily="2" charset="-122"/>
              </a:rPr>
              <a:t>T=        </a:t>
            </a:r>
            <a:r>
              <a:rPr lang="en-US" altLang="zh-CN" sz="2800" b="1">
                <a:solidFill>
                  <a:srgbClr val="FF00FF"/>
                </a:solidFill>
                <a:latin typeface="宋体" panose="02010600030101010101" pitchFamily="2" charset="-122"/>
              </a:rPr>
              <a:t>0013H</a:t>
            </a:r>
            <a:r>
              <a:rPr lang="en-US" altLang="zh-CN" sz="2800" b="1">
                <a:latin typeface="宋体" panose="02010600030101010101" pitchFamily="2" charset="-122"/>
              </a:rPr>
              <a:t>       </a:t>
            </a:r>
            <a:r>
              <a:rPr lang="en-US" altLang="zh-CN" sz="2800" b="1">
                <a:solidFill>
                  <a:srgbClr val="FF00FF"/>
                </a:solidFill>
                <a:latin typeface="宋体" panose="02010600030101010101" pitchFamily="2" charset="-122"/>
              </a:rPr>
              <a:t>T=        0013H</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19</a:t>
            </a:r>
            <a:r>
              <a:rPr lang="zh-CN" altLang="en-US" sz="2800" b="1">
                <a:solidFill>
                  <a:srgbClr val="FF00FF"/>
                </a:solidFill>
                <a:latin typeface="宋体" panose="02010600030101010101" pitchFamily="2" charset="-122"/>
              </a:rPr>
              <a:t>）</a:t>
            </a:r>
            <a:endParaRPr lang="zh-CN" altLang="en-US" sz="2800" b="1">
              <a:solidFill>
                <a:srgbClr val="FF00FF"/>
              </a:solidFill>
            </a:endParaRPr>
          </a:p>
          <a:p>
            <a:pPr algn="just"/>
            <a:r>
              <a:rPr lang="zh-CN" altLang="en-US" sz="2800" b="1">
                <a:latin typeface="宋体" panose="02010600030101010101" pitchFamily="2" charset="-122"/>
              </a:rPr>
              <a:t>执行时，按</a:t>
            </a:r>
            <a:r>
              <a:rPr lang="en-US" altLang="zh-CN" sz="2800" b="1">
                <a:latin typeface="宋体" panose="02010600030101010101" pitchFamily="2" charset="-122"/>
              </a:rPr>
              <a:t>T</a:t>
            </a:r>
            <a:r>
              <a:rPr lang="zh-CN" altLang="en-US" sz="2800" b="1">
                <a:latin typeface="宋体" panose="02010600030101010101" pitchFamily="2" charset="-122"/>
              </a:rPr>
              <a:t>中的十进制数值，这里为正</a:t>
            </a:r>
            <a:r>
              <a:rPr lang="en-US" altLang="zh-CN" sz="2800" b="1">
                <a:latin typeface="宋体" panose="02010600030101010101" pitchFamily="2" charset="-122"/>
              </a:rPr>
              <a:t>19</a:t>
            </a:r>
            <a:r>
              <a:rPr lang="zh-CN" altLang="en-US" sz="2800" b="1">
                <a:latin typeface="宋体" panose="02010600030101010101" pitchFamily="2" charset="-122"/>
              </a:rPr>
              <a:t>，对累加器</a:t>
            </a:r>
            <a:r>
              <a:rPr lang="en-US" altLang="zh-CN" sz="2800" b="1">
                <a:latin typeface="宋体" panose="02010600030101010101" pitchFamily="2" charset="-122"/>
              </a:rPr>
              <a:t>A</a:t>
            </a:r>
            <a:r>
              <a:rPr lang="zh-CN" altLang="en-US" sz="2800" b="1">
                <a:latin typeface="宋体" panose="02010600030101010101" pitchFamily="2" charset="-122"/>
              </a:rPr>
              <a:t>中的值左移</a:t>
            </a:r>
            <a:r>
              <a:rPr lang="en-US" altLang="zh-CN" sz="2800" b="1">
                <a:latin typeface="宋体" panose="02010600030101010101" pitchFamily="2" charset="-122"/>
              </a:rPr>
              <a:t>19</a:t>
            </a:r>
            <a:r>
              <a:rPr lang="zh-CN" altLang="en-US" sz="2800" b="1">
                <a:latin typeface="宋体" panose="02010600030101010101" pitchFamily="2" charset="-122"/>
              </a:rPr>
              <a:t>位，即将在</a:t>
            </a:r>
            <a:r>
              <a:rPr lang="en-US" altLang="zh-CN" sz="2800" b="1">
                <a:latin typeface="宋体" panose="02010600030101010101" pitchFamily="2" charset="-122"/>
              </a:rPr>
              <a:t>A=FF FFFF F001</a:t>
            </a:r>
            <a:r>
              <a:rPr lang="zh-CN" altLang="en-US" sz="2800" b="1">
                <a:latin typeface="宋体" panose="02010600030101010101" pitchFamily="2" charset="-122"/>
              </a:rPr>
              <a:t>中的值左移</a:t>
            </a:r>
            <a:r>
              <a:rPr lang="en-US" altLang="zh-CN" sz="2800" b="1">
                <a:latin typeface="宋体" panose="02010600030101010101" pitchFamily="2" charset="-122"/>
              </a:rPr>
              <a:t>19</a:t>
            </a:r>
            <a:r>
              <a:rPr lang="zh-CN" altLang="en-US" sz="2800" b="1">
                <a:latin typeface="宋体" panose="02010600030101010101" pitchFamily="2" charset="-122"/>
              </a:rPr>
              <a:t>位，低位添零，高位溢出丢弃。</a:t>
            </a:r>
            <a:endParaRPr lang="zh-CN" altLang="en-US" sz="2800" b="1"/>
          </a:p>
          <a:p>
            <a:pPr algn="just"/>
            <a:r>
              <a:rPr lang="en-US" altLang="zh-CN" sz="2800" b="1">
                <a:latin typeface="宋体" panose="02010600030101010101" pitchFamily="2" charset="-122"/>
              </a:rPr>
              <a:t>A=</a:t>
            </a:r>
            <a:r>
              <a:rPr lang="en-US" altLang="zh-CN" b="1">
                <a:latin typeface="宋体" panose="02010600030101010101" pitchFamily="2" charset="-122"/>
              </a:rPr>
              <a:t>(</a:t>
            </a:r>
            <a:r>
              <a:rPr lang="en-US" altLang="zh-CN" sz="2000" b="1">
                <a:latin typeface="宋体" panose="02010600030101010101" pitchFamily="2" charset="-122"/>
              </a:rPr>
              <a:t>1111 1111  1111 1111 1111 1111  1111 0000 0000 0001</a:t>
            </a:r>
            <a:r>
              <a:rPr lang="en-US" altLang="zh-CN" b="1">
                <a:latin typeface="宋体" panose="02010600030101010101" pitchFamily="2" charset="-122"/>
              </a:rPr>
              <a:t> )</a:t>
            </a:r>
            <a:r>
              <a:rPr lang="en-US" altLang="zh-CN" b="1" baseline="-30000">
                <a:latin typeface="宋体" panose="02010600030101010101" pitchFamily="2" charset="-122"/>
              </a:rPr>
              <a:t>2</a:t>
            </a:r>
            <a:endParaRPr lang="en-US" altLang="zh-CN" b="1"/>
          </a:p>
          <a:p>
            <a:pPr algn="just"/>
            <a:r>
              <a:rPr lang="en-US" altLang="zh-CN" sz="2800" b="1">
                <a:latin typeface="宋体" panose="02010600030101010101" pitchFamily="2" charset="-122"/>
              </a:rPr>
              <a:t>←</a:t>
            </a:r>
            <a:r>
              <a:rPr lang="en-US" altLang="zh-CN" sz="1600" b="1" u="sng">
                <a:solidFill>
                  <a:srgbClr val="FF00FF"/>
                </a:solidFill>
                <a:latin typeface="宋体" panose="02010600030101010101" pitchFamily="2" charset="-122"/>
              </a:rPr>
              <a:t>1111 1111  1111 1111</a:t>
            </a:r>
            <a:r>
              <a:rPr lang="en-US" altLang="zh-CN" sz="1600" b="1" u="sng">
                <a:latin typeface="宋体" panose="02010600030101010101" pitchFamily="2" charset="-122"/>
              </a:rPr>
              <a:t> </a:t>
            </a:r>
            <a:r>
              <a:rPr lang="en-US" altLang="zh-CN" sz="1600" b="1" u="sng">
                <a:solidFill>
                  <a:srgbClr val="FF00FF"/>
                </a:solidFill>
                <a:latin typeface="宋体" panose="02010600030101010101" pitchFamily="2" charset="-122"/>
              </a:rPr>
              <a:t>111</a:t>
            </a:r>
            <a:r>
              <a:rPr lang="en-US" altLang="zh-CN" sz="1600" b="1">
                <a:latin typeface="宋体" panose="02010600030101010101" pitchFamily="2" charset="-122"/>
              </a:rPr>
              <a:t>1 1111  1111 0000 0000 0001  </a:t>
            </a:r>
            <a:r>
              <a:rPr lang="en-US" altLang="zh-CN" sz="1600" b="1" u="sng">
                <a:solidFill>
                  <a:schemeClr val="tx2"/>
                </a:solidFill>
                <a:latin typeface="宋体" panose="02010600030101010101" pitchFamily="2" charset="-122"/>
              </a:rPr>
              <a:t>0000 0000 0000 0000 000</a:t>
            </a:r>
            <a:endParaRPr lang="en-US" altLang="zh-CN" sz="1600" b="1">
              <a:solidFill>
                <a:schemeClr val="tx2"/>
              </a:solidFill>
            </a:endParaRPr>
          </a:p>
          <a:p>
            <a:pPr algn="just"/>
            <a:r>
              <a:rPr lang="zh-CN" altLang="en-US" sz="2000" b="1">
                <a:latin typeface="宋体" panose="02010600030101010101" pitchFamily="2" charset="-122"/>
              </a:rPr>
              <a:t>　　</a:t>
            </a:r>
            <a:r>
              <a:rPr lang="zh-CN" altLang="en-US" sz="2000" b="1">
                <a:solidFill>
                  <a:srgbClr val="FF00FF"/>
                </a:solidFill>
                <a:latin typeface="宋体" panose="02010600030101010101" pitchFamily="2" charset="-122"/>
              </a:rPr>
              <a:t>左移出去掉的</a:t>
            </a:r>
            <a:r>
              <a:rPr lang="en-US" altLang="zh-CN" sz="2000" b="1">
                <a:solidFill>
                  <a:srgbClr val="FF00FF"/>
                </a:solidFill>
                <a:latin typeface="宋体" panose="02010600030101010101" pitchFamily="2" charset="-122"/>
              </a:rPr>
              <a:t>19</a:t>
            </a:r>
            <a:r>
              <a:rPr lang="zh-CN" altLang="en-US" sz="2000" b="1">
                <a:solidFill>
                  <a:srgbClr val="FF00FF"/>
                </a:solidFill>
                <a:latin typeface="宋体" panose="02010600030101010101" pitchFamily="2" charset="-122"/>
              </a:rPr>
              <a:t>位</a:t>
            </a:r>
            <a:r>
              <a:rPr lang="zh-CN" altLang="en-US" sz="2000" b="1">
                <a:latin typeface="宋体" panose="02010600030101010101" pitchFamily="2" charset="-122"/>
              </a:rPr>
              <a:t>                           </a:t>
            </a:r>
            <a:r>
              <a:rPr lang="zh-CN" altLang="en-US" sz="2000" b="1">
                <a:solidFill>
                  <a:schemeClr val="tx2"/>
                </a:solidFill>
                <a:latin typeface="宋体" panose="02010600030101010101" pitchFamily="2" charset="-122"/>
              </a:rPr>
              <a:t>左移进</a:t>
            </a:r>
            <a:r>
              <a:rPr lang="en-US" altLang="zh-CN" sz="2000" b="1">
                <a:solidFill>
                  <a:schemeClr val="tx2"/>
                </a:solidFill>
                <a:latin typeface="宋体" panose="02010600030101010101" pitchFamily="2" charset="-122"/>
              </a:rPr>
              <a:t>19</a:t>
            </a:r>
            <a:r>
              <a:rPr lang="zh-CN" altLang="en-US" sz="2000" b="1">
                <a:solidFill>
                  <a:schemeClr val="tx2"/>
                </a:solidFill>
                <a:latin typeface="宋体" panose="02010600030101010101" pitchFamily="2" charset="-122"/>
              </a:rPr>
              <a:t>位添</a:t>
            </a:r>
            <a:r>
              <a:rPr lang="en-US" altLang="zh-CN" sz="2000" b="1">
                <a:solidFill>
                  <a:schemeClr val="tx2"/>
                </a:solidFill>
                <a:latin typeface="宋体" panose="02010600030101010101" pitchFamily="2" charset="-122"/>
              </a:rPr>
              <a:t>0</a:t>
            </a:r>
            <a:endParaRPr lang="en-US" altLang="zh-CN" sz="2000" b="1">
              <a:solidFill>
                <a:schemeClr val="tx2"/>
              </a:solidFill>
            </a:endParaRPr>
          </a:p>
          <a:p>
            <a:pPr algn="just"/>
            <a:r>
              <a:rPr lang="en-US" altLang="zh-CN" sz="2800" b="1">
                <a:latin typeface="宋体" panose="02010600030101010101" pitchFamily="2" charset="-122"/>
              </a:rPr>
              <a:t>←</a:t>
            </a:r>
            <a:r>
              <a:rPr lang="en-US" altLang="zh-CN" sz="1600" b="1">
                <a:latin typeface="宋体" panose="02010600030101010101" pitchFamily="2" charset="-122"/>
              </a:rPr>
              <a:t>(1111 1111  1000 0000 0000 1</a:t>
            </a:r>
            <a:r>
              <a:rPr lang="en-US" altLang="zh-CN" sz="1600" b="1" u="sng">
                <a:solidFill>
                  <a:schemeClr val="tx2"/>
                </a:solidFill>
                <a:latin typeface="宋体" panose="02010600030101010101" pitchFamily="2" charset="-122"/>
              </a:rPr>
              <a:t>000  0000 0000 0000</a:t>
            </a:r>
            <a:r>
              <a:rPr lang="en-US" altLang="zh-CN" sz="1600" b="1" u="sng">
                <a:latin typeface="宋体" panose="02010600030101010101" pitchFamily="2" charset="-122"/>
              </a:rPr>
              <a:t> </a:t>
            </a:r>
            <a:r>
              <a:rPr lang="en-US" altLang="zh-CN" sz="1600" b="1" u="sng">
                <a:solidFill>
                  <a:schemeClr val="tx2"/>
                </a:solidFill>
                <a:latin typeface="宋体" panose="02010600030101010101" pitchFamily="2" charset="-122"/>
              </a:rPr>
              <a:t>0000</a:t>
            </a:r>
            <a:r>
              <a:rPr lang="en-US" altLang="zh-CN" sz="1600" b="1">
                <a:latin typeface="宋体" panose="02010600030101010101" pitchFamily="2" charset="-122"/>
              </a:rPr>
              <a:t>)</a:t>
            </a:r>
            <a:r>
              <a:rPr lang="en-US" altLang="zh-CN" sz="1600" b="1" baseline="-30000">
                <a:latin typeface="宋体" panose="02010600030101010101" pitchFamily="2" charset="-122"/>
              </a:rPr>
              <a:t>2</a:t>
            </a:r>
            <a:r>
              <a:rPr lang="en-US" altLang="zh-CN" sz="1600" b="1">
                <a:latin typeface="宋体" panose="02010600030101010101" pitchFamily="2" charset="-122"/>
              </a:rPr>
              <a:t>=</a:t>
            </a:r>
            <a:r>
              <a:rPr lang="zh-CN" altLang="en-US" sz="1600" b="1">
                <a:latin typeface="宋体" panose="02010600030101010101" pitchFamily="2" charset="-122"/>
              </a:rPr>
              <a:t>（</a:t>
            </a:r>
            <a:r>
              <a:rPr lang="en-US" altLang="zh-CN" sz="1600" b="1">
                <a:latin typeface="宋体" panose="02010600030101010101" pitchFamily="2" charset="-122"/>
              </a:rPr>
              <a:t>FF 8008 0000</a:t>
            </a:r>
            <a:r>
              <a:rPr lang="zh-CN" altLang="en-US" sz="1600" b="1">
                <a:latin typeface="宋体" panose="02010600030101010101" pitchFamily="2" charset="-122"/>
              </a:rPr>
              <a:t>）</a:t>
            </a:r>
            <a:r>
              <a:rPr lang="en-US" altLang="zh-CN" sz="1600" b="1" baseline="-30000">
                <a:latin typeface="宋体" panose="02010600030101010101" pitchFamily="2" charset="-122"/>
              </a:rPr>
              <a:t>16</a:t>
            </a:r>
            <a:endParaRPr lang="en-US" altLang="zh-CN" sz="1600" b="1"/>
          </a:p>
          <a:p>
            <a:endParaRPr lang="en-US" altLang="zh-CN" sz="1600" b="1"/>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32514"/>
                                        </p:tgtEl>
                                        <p:attrNameLst>
                                          <p:attrName>style.visibility</p:attrName>
                                        </p:attrNameLst>
                                      </p:cBhvr>
                                      <p:to>
                                        <p:strVal val="visible"/>
                                      </p:to>
                                    </p:set>
                                    <p:animEffect transition="in" filter="blinds(horizontal)">
                                      <p:cBhvr>
                                        <p:cTn id="7" dur="500"/>
                                        <p:tgtEl>
                                          <p:spTgt spid="832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51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B397048-7834-4B7D-A06E-53A85D54FFF2}" type="slidenum">
              <a:rPr lang="en-US" altLang="zh-CN" sz="1400"/>
              <a:pPr eaLnBrk="1" hangingPunct="1"/>
              <a:t>53</a:t>
            </a:fld>
            <a:endParaRPr lang="en-US" altLang="zh-CN" sz="1400"/>
          </a:p>
        </p:txBody>
      </p:sp>
      <p:sp>
        <p:nvSpPr>
          <p:cNvPr id="833538" name="Rectangle 2"/>
          <p:cNvSpPr>
            <a:spLocks noChangeArrowheads="1"/>
          </p:cNvSpPr>
          <p:nvPr/>
        </p:nvSpPr>
        <p:spPr bwMode="auto">
          <a:xfrm>
            <a:off x="152400" y="1143000"/>
            <a:ext cx="8686800" cy="503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5-19  </a:t>
            </a:r>
            <a:r>
              <a:rPr lang="zh-CN" altLang="en-US" sz="2800" b="1">
                <a:latin typeface="宋体" panose="02010600030101010101" pitchFamily="2" charset="-122"/>
              </a:rPr>
              <a:t>对累加器</a:t>
            </a:r>
            <a:r>
              <a:rPr lang="en-US" altLang="zh-CN" sz="2800" b="1">
                <a:latin typeface="宋体" panose="02010600030101010101" pitchFamily="2" charset="-122"/>
              </a:rPr>
              <a:t>B</a:t>
            </a:r>
            <a:r>
              <a:rPr lang="zh-CN" altLang="en-US" sz="2800" b="1">
                <a:latin typeface="宋体" panose="02010600030101010101" pitchFamily="2" charset="-122"/>
              </a:rPr>
              <a:t>中的值进行归一化处理后存入</a:t>
            </a:r>
            <a:r>
              <a:rPr lang="en-US" altLang="zh-CN" sz="2800" b="1">
                <a:latin typeface="宋体" panose="02010600030101010101" pitchFamily="2" charset="-122"/>
              </a:rPr>
              <a:t>A</a:t>
            </a:r>
            <a:r>
              <a:rPr lang="zh-CN" altLang="en-US" sz="2800" b="1">
                <a:latin typeface="宋体" panose="02010600030101010101" pitchFamily="2" charset="-122"/>
              </a:rPr>
              <a:t>。</a:t>
            </a:r>
            <a:endParaRPr lang="zh-CN" altLang="en-US" sz="2800" b="1"/>
          </a:p>
          <a:p>
            <a:pPr algn="just"/>
            <a:r>
              <a:rPr lang="zh-CN" altLang="en-US" sz="2800" b="1">
                <a:latin typeface="宋体" panose="02010600030101010101" pitchFamily="2" charset="-122"/>
              </a:rPr>
              <a:t>执行指令： </a:t>
            </a:r>
            <a:r>
              <a:rPr lang="en-US" altLang="zh-CN" sz="2800" b="1">
                <a:latin typeface="宋体" panose="02010600030101010101" pitchFamily="2" charset="-122"/>
              </a:rPr>
              <a:t>NORM   B, A</a:t>
            </a:r>
            <a:endParaRPr lang="en-US" altLang="zh-CN" sz="2800" b="1"/>
          </a:p>
          <a:p>
            <a:pPr algn="just"/>
            <a:r>
              <a:rPr lang="zh-CN" altLang="en-US" sz="2800" b="1">
                <a:latin typeface="宋体" panose="02010600030101010101" pitchFamily="2" charset="-122"/>
              </a:rPr>
              <a:t>　　　执行前      　       执行后</a:t>
            </a:r>
            <a:endParaRPr lang="zh-CN" altLang="en-US" sz="2800" b="1"/>
          </a:p>
          <a:p>
            <a:pPr algn="just"/>
            <a:r>
              <a:rPr lang="zh-CN" altLang="en-US" sz="2800" b="1">
                <a:latin typeface="宋体" panose="02010600030101010101" pitchFamily="2" charset="-122"/>
              </a:rPr>
              <a:t>　</a:t>
            </a:r>
            <a:r>
              <a:rPr lang="en-US" altLang="zh-CN" sz="2800" b="1">
                <a:solidFill>
                  <a:schemeClr val="folHlink"/>
                </a:solidFill>
                <a:latin typeface="宋体" panose="02010600030101010101" pitchFamily="2" charset="-122"/>
              </a:rPr>
              <a:t>A=FF FFFF F001</a:t>
            </a:r>
            <a:r>
              <a:rPr lang="en-US" altLang="zh-CN" sz="2800" b="1">
                <a:latin typeface="宋体" panose="02010600030101010101" pitchFamily="2" charset="-122"/>
              </a:rPr>
              <a:t>   </a:t>
            </a:r>
            <a:r>
              <a:rPr lang="zh-CN" altLang="en-US" sz="2800" b="1">
                <a:latin typeface="宋体" panose="02010600030101010101" pitchFamily="2" charset="-122"/>
              </a:rPr>
              <a:t>　    </a:t>
            </a:r>
            <a:r>
              <a:rPr lang="en-US" altLang="zh-CN" sz="2800" b="1">
                <a:solidFill>
                  <a:srgbClr val="FF0000"/>
                </a:solidFill>
                <a:latin typeface="宋体" panose="02010600030101010101" pitchFamily="2" charset="-122"/>
              </a:rPr>
              <a:t>A=00 4214 1414</a:t>
            </a:r>
            <a:endParaRPr lang="en-US" altLang="zh-CN" sz="2800" b="1">
              <a:solidFill>
                <a:srgbClr val="FF0000"/>
              </a:solidFill>
            </a:endParaRPr>
          </a:p>
          <a:p>
            <a:pPr algn="just"/>
            <a:r>
              <a:rPr lang="zh-CN" altLang="en-US" sz="2800" b="1">
                <a:latin typeface="宋体" panose="02010600030101010101" pitchFamily="2" charset="-122"/>
              </a:rPr>
              <a:t>　</a:t>
            </a:r>
            <a:r>
              <a:rPr lang="en-US" altLang="zh-CN" sz="2800" b="1">
                <a:solidFill>
                  <a:schemeClr val="tx2"/>
                </a:solidFill>
                <a:latin typeface="宋体" panose="02010600030101010101" pitchFamily="2" charset="-122"/>
              </a:rPr>
              <a:t>B=21 0A0A 0A0A   </a:t>
            </a:r>
            <a:r>
              <a:rPr lang="zh-CN" altLang="en-US" sz="2800" b="1">
                <a:solidFill>
                  <a:schemeClr val="tx2"/>
                </a:solidFill>
                <a:latin typeface="宋体" panose="02010600030101010101" pitchFamily="2" charset="-122"/>
              </a:rPr>
              <a:t>　    </a:t>
            </a:r>
            <a:r>
              <a:rPr lang="en-US" altLang="zh-CN" sz="2800" b="1">
                <a:solidFill>
                  <a:schemeClr val="tx2"/>
                </a:solidFill>
                <a:latin typeface="宋体" panose="02010600030101010101" pitchFamily="2" charset="-122"/>
              </a:rPr>
              <a:t>B=21 0A0A 0A0A</a:t>
            </a:r>
            <a:endParaRPr lang="en-US" altLang="zh-CN" sz="2800" b="1">
              <a:solidFill>
                <a:schemeClr val="tx2"/>
              </a:solidFill>
            </a:endParaRPr>
          </a:p>
          <a:p>
            <a:pPr algn="just"/>
            <a:r>
              <a:rPr lang="zh-CN" altLang="en-US" sz="2800" b="1">
                <a:solidFill>
                  <a:schemeClr val="tx2"/>
                </a:solidFill>
                <a:latin typeface="宋体" panose="02010600030101010101" pitchFamily="2" charset="-122"/>
              </a:rPr>
              <a:t>　</a:t>
            </a:r>
            <a:r>
              <a:rPr lang="en-US" altLang="zh-CN" sz="2800" b="1">
                <a:solidFill>
                  <a:schemeClr val="tx2"/>
                </a:solidFill>
                <a:latin typeface="宋体" panose="02010600030101010101" pitchFamily="2" charset="-122"/>
              </a:rPr>
              <a:t>T=        FFF9H        T=        FFF9H</a:t>
            </a:r>
            <a:r>
              <a:rPr lang="zh-CN" altLang="en-US" sz="2800" b="1">
                <a:solidFill>
                  <a:schemeClr val="tx2"/>
                </a:solidFill>
                <a:latin typeface="宋体" panose="02010600030101010101" pitchFamily="2" charset="-122"/>
              </a:rPr>
              <a:t>（</a:t>
            </a:r>
            <a:r>
              <a:rPr lang="en-US" altLang="zh-CN" sz="2800" b="1">
                <a:solidFill>
                  <a:schemeClr val="tx2"/>
                </a:solidFill>
                <a:latin typeface="宋体" panose="02010600030101010101" pitchFamily="2" charset="-122"/>
              </a:rPr>
              <a:t>-7</a:t>
            </a:r>
            <a:r>
              <a:rPr lang="zh-CN" altLang="en-US" sz="2800" b="1">
                <a:solidFill>
                  <a:schemeClr val="tx2"/>
                </a:solidFill>
                <a:latin typeface="宋体" panose="02010600030101010101" pitchFamily="2" charset="-122"/>
              </a:rPr>
              <a:t>）</a:t>
            </a:r>
            <a:endParaRPr lang="zh-CN" altLang="en-US" sz="2800" b="1">
              <a:solidFill>
                <a:schemeClr val="tx2"/>
              </a:solidFill>
            </a:endParaRPr>
          </a:p>
          <a:p>
            <a:pPr algn="just"/>
            <a:r>
              <a:rPr lang="zh-CN" altLang="en-US" sz="2800" b="1">
                <a:latin typeface="宋体" panose="02010600030101010101" pitchFamily="2" charset="-122"/>
              </a:rPr>
              <a:t>将</a:t>
            </a:r>
            <a:r>
              <a:rPr lang="en-US" altLang="zh-CN" sz="2800" b="1">
                <a:latin typeface="宋体" panose="02010600030101010101" pitchFamily="2" charset="-122"/>
              </a:rPr>
              <a:t>B</a:t>
            </a:r>
            <a:r>
              <a:rPr lang="zh-CN" altLang="en-US" sz="2800" b="1">
                <a:latin typeface="宋体" panose="02010600030101010101" pitchFamily="2" charset="-122"/>
              </a:rPr>
              <a:t>移</a:t>
            </a:r>
            <a:r>
              <a:rPr lang="en-US" altLang="zh-CN" sz="2800" b="1">
                <a:latin typeface="宋体" panose="02010600030101010101" pitchFamily="2" charset="-122"/>
              </a:rPr>
              <a:t>-7</a:t>
            </a:r>
            <a:r>
              <a:rPr lang="zh-CN" altLang="en-US" sz="2800" b="1">
                <a:latin typeface="宋体" panose="02010600030101010101" pitchFamily="2" charset="-122"/>
              </a:rPr>
              <a:t>位，即右移</a:t>
            </a:r>
            <a:r>
              <a:rPr lang="en-US" altLang="zh-CN" sz="2800" b="1">
                <a:latin typeface="宋体" panose="02010600030101010101" pitchFamily="2" charset="-122"/>
              </a:rPr>
              <a:t>7</a:t>
            </a:r>
            <a:r>
              <a:rPr lang="zh-CN" altLang="en-US" sz="2800" b="1">
                <a:latin typeface="宋体" panose="02010600030101010101" pitchFamily="2" charset="-122"/>
              </a:rPr>
              <a:t>位：</a:t>
            </a:r>
            <a:endParaRPr lang="zh-CN" altLang="en-US" sz="2800" b="1"/>
          </a:p>
          <a:p>
            <a:pPr algn="just"/>
            <a:r>
              <a:rPr lang="en-US" altLang="zh-CN" sz="2800" b="1">
                <a:latin typeface="宋体" panose="02010600030101010101" pitchFamily="2" charset="-122"/>
              </a:rPr>
              <a:t>B=</a:t>
            </a:r>
            <a:r>
              <a:rPr lang="zh-CN" altLang="en-US" sz="2000" b="1">
                <a:latin typeface="宋体" panose="02010600030101010101" pitchFamily="2" charset="-122"/>
              </a:rPr>
              <a:t>（</a:t>
            </a:r>
            <a:r>
              <a:rPr lang="en-US" altLang="zh-CN" sz="2000" b="1">
                <a:latin typeface="宋体" panose="02010600030101010101" pitchFamily="2" charset="-122"/>
              </a:rPr>
              <a:t>0010 0001 0000 1010 0000 1010 0000 1010 0000 1010</a:t>
            </a:r>
            <a:r>
              <a:rPr lang="zh-CN" altLang="en-US" sz="2000" b="1">
                <a:latin typeface="宋体" panose="02010600030101010101" pitchFamily="2" charset="-122"/>
              </a:rPr>
              <a:t>）</a:t>
            </a:r>
            <a:r>
              <a:rPr lang="en-US" altLang="zh-CN" sz="2000" b="1" baseline="-30000">
                <a:latin typeface="宋体" panose="02010600030101010101" pitchFamily="2" charset="-122"/>
              </a:rPr>
              <a:t>2</a:t>
            </a:r>
            <a:endParaRPr lang="en-US" altLang="zh-CN" sz="2000" b="1"/>
          </a:p>
          <a:p>
            <a:pPr algn="just"/>
            <a:r>
              <a:rPr lang="en-US" altLang="zh-CN" sz="2800" b="1">
                <a:latin typeface="宋体" panose="02010600030101010101" pitchFamily="2" charset="-122"/>
              </a:rPr>
              <a:t>→ </a:t>
            </a:r>
            <a:r>
              <a:rPr lang="en-US" altLang="zh-CN" sz="2000" b="1" u="sng">
                <a:solidFill>
                  <a:srgbClr val="FF00FF"/>
                </a:solidFill>
                <a:latin typeface="宋体" panose="02010600030101010101" pitchFamily="2" charset="-122"/>
              </a:rPr>
              <a:t>0000 000</a:t>
            </a:r>
            <a:r>
              <a:rPr lang="en-US" altLang="zh-CN" sz="2000" b="1">
                <a:latin typeface="宋体" panose="02010600030101010101" pitchFamily="2" charset="-122"/>
              </a:rPr>
              <a:t> 0010 0001 0000 1010 0000 1010 0000 1010 0</a:t>
            </a:r>
            <a:r>
              <a:rPr lang="en-US" altLang="zh-CN" sz="2000" b="1" u="sng">
                <a:solidFill>
                  <a:srgbClr val="FF00FF"/>
                </a:solidFill>
                <a:latin typeface="宋体" panose="02010600030101010101" pitchFamily="2" charset="-122"/>
              </a:rPr>
              <a:t>000 1010</a:t>
            </a:r>
            <a:endParaRPr lang="en-US" altLang="zh-CN" sz="2000" b="1">
              <a:solidFill>
                <a:srgbClr val="FF00FF"/>
              </a:solidFill>
            </a:endParaRPr>
          </a:p>
          <a:p>
            <a:pPr algn="just"/>
            <a:r>
              <a:rPr lang="zh-CN" altLang="en-US" sz="2000" b="1">
                <a:latin typeface="宋体" panose="02010600030101010101" pitchFamily="2" charset="-122"/>
              </a:rPr>
              <a:t>　</a:t>
            </a:r>
            <a:r>
              <a:rPr lang="zh-CN" altLang="en-US" sz="2000" b="1">
                <a:solidFill>
                  <a:srgbClr val="FF00FF"/>
                </a:solidFill>
                <a:latin typeface="宋体" panose="02010600030101010101" pitchFamily="2" charset="-122"/>
              </a:rPr>
              <a:t>　右移进</a:t>
            </a:r>
            <a:r>
              <a:rPr lang="en-US" altLang="zh-CN" sz="2000" b="1">
                <a:solidFill>
                  <a:srgbClr val="FF00FF"/>
                </a:solidFill>
                <a:latin typeface="宋体" panose="02010600030101010101" pitchFamily="2" charset="-122"/>
              </a:rPr>
              <a:t>7</a:t>
            </a:r>
            <a:r>
              <a:rPr lang="zh-CN" altLang="en-US" sz="2000" b="1">
                <a:solidFill>
                  <a:srgbClr val="FF00FF"/>
                </a:solidFill>
                <a:latin typeface="宋体" panose="02010600030101010101" pitchFamily="2" charset="-122"/>
              </a:rPr>
              <a:t>位添</a:t>
            </a:r>
            <a:r>
              <a:rPr lang="en-US" altLang="zh-CN" sz="2000" b="1">
                <a:solidFill>
                  <a:srgbClr val="FF00FF"/>
                </a:solidFill>
                <a:latin typeface="宋体" panose="02010600030101010101" pitchFamily="2" charset="-122"/>
              </a:rPr>
              <a:t>0</a:t>
            </a:r>
            <a:r>
              <a:rPr lang="en-US" altLang="zh-CN" sz="2000" b="1">
                <a:latin typeface="宋体" panose="02010600030101010101" pitchFamily="2" charset="-122"/>
              </a:rPr>
              <a:t>                                    </a:t>
            </a:r>
            <a:r>
              <a:rPr lang="zh-CN" altLang="en-US" sz="2000" b="1">
                <a:solidFill>
                  <a:srgbClr val="FF00FF"/>
                </a:solidFill>
                <a:latin typeface="宋体" panose="02010600030101010101" pitchFamily="2" charset="-122"/>
              </a:rPr>
              <a:t>去掉移出的</a:t>
            </a:r>
            <a:r>
              <a:rPr lang="en-US" altLang="zh-CN" sz="2000" b="1">
                <a:solidFill>
                  <a:srgbClr val="FF00FF"/>
                </a:solidFill>
                <a:latin typeface="宋体" panose="02010600030101010101" pitchFamily="2" charset="-122"/>
              </a:rPr>
              <a:t>7</a:t>
            </a:r>
            <a:r>
              <a:rPr lang="zh-CN" altLang="en-US" sz="2000" b="1">
                <a:solidFill>
                  <a:srgbClr val="FF00FF"/>
                </a:solidFill>
                <a:latin typeface="宋体" panose="02010600030101010101" pitchFamily="2" charset="-122"/>
              </a:rPr>
              <a:t>位</a:t>
            </a:r>
            <a:endParaRPr lang="zh-CN" altLang="en-US" sz="2000" b="1">
              <a:solidFill>
                <a:srgbClr val="FF00FF"/>
              </a:solidFill>
            </a:endParaRPr>
          </a:p>
          <a:p>
            <a:r>
              <a:rPr lang="zh-CN" altLang="en-US" sz="2800" b="1">
                <a:latin typeface="宋体" panose="02010600030101010101" pitchFamily="2" charset="-122"/>
              </a:rPr>
              <a:t>→</a:t>
            </a:r>
            <a:r>
              <a:rPr lang="zh-CN" altLang="en-US" sz="2000" b="1">
                <a:latin typeface="宋体" panose="02010600030101010101" pitchFamily="2" charset="-122"/>
              </a:rPr>
              <a:t>（</a:t>
            </a:r>
            <a:r>
              <a:rPr lang="en-US" altLang="zh-CN" b="1" u="sng">
                <a:solidFill>
                  <a:srgbClr val="FF00FF"/>
                </a:solidFill>
                <a:latin typeface="宋体" panose="02010600030101010101" pitchFamily="2" charset="-122"/>
              </a:rPr>
              <a:t>0000 000</a:t>
            </a:r>
            <a:r>
              <a:rPr lang="en-US" altLang="zh-CN" b="1">
                <a:latin typeface="宋体" panose="02010600030101010101" pitchFamily="2" charset="-122"/>
              </a:rPr>
              <a:t>0 0100 0010 0001 0100 0001 0100 0001</a:t>
            </a:r>
            <a:r>
              <a:rPr lang="en-US" altLang="zh-CN" sz="1600" b="1">
                <a:latin typeface="宋体" panose="02010600030101010101" pitchFamily="2" charset="-122"/>
              </a:rPr>
              <a:t> </a:t>
            </a:r>
            <a:r>
              <a:rPr lang="en-US" altLang="zh-CN" b="1">
                <a:latin typeface="宋体" panose="02010600030101010101" pitchFamily="2" charset="-122"/>
              </a:rPr>
              <a:t>0100</a:t>
            </a:r>
            <a:r>
              <a:rPr lang="zh-CN" altLang="en-US" sz="2000" b="1">
                <a:latin typeface="宋体" panose="02010600030101010101" pitchFamily="2" charset="-122"/>
              </a:rPr>
              <a:t>）</a:t>
            </a:r>
            <a:r>
              <a:rPr lang="en-US" altLang="zh-CN" b="1" baseline="-30000">
                <a:latin typeface="宋体" panose="02010600030101010101" pitchFamily="2" charset="-122"/>
              </a:rPr>
              <a:t>2</a:t>
            </a:r>
          </a:p>
          <a:p>
            <a:r>
              <a:rPr lang="en-US" altLang="zh-CN" b="1">
                <a:latin typeface="宋体" panose="02010600030101010101" pitchFamily="2" charset="-122"/>
              </a:rPr>
              <a:t>=</a:t>
            </a:r>
            <a:r>
              <a:rPr lang="zh-CN" altLang="en-US" b="1">
                <a:solidFill>
                  <a:srgbClr val="FF0000"/>
                </a:solidFill>
                <a:latin typeface="宋体" panose="02010600030101010101" pitchFamily="2" charset="-122"/>
              </a:rPr>
              <a:t>（</a:t>
            </a:r>
            <a:r>
              <a:rPr lang="en-US" altLang="zh-CN" b="1">
                <a:solidFill>
                  <a:srgbClr val="FF0000"/>
                </a:solidFill>
                <a:latin typeface="宋体" panose="02010600030101010101" pitchFamily="2" charset="-122"/>
              </a:rPr>
              <a:t>00 4214 1414</a:t>
            </a:r>
            <a:r>
              <a:rPr lang="zh-CN" altLang="en-US" b="1">
                <a:solidFill>
                  <a:srgbClr val="FF0000"/>
                </a:solidFill>
                <a:latin typeface="宋体" panose="02010600030101010101" pitchFamily="2" charset="-122"/>
              </a:rPr>
              <a:t>）</a:t>
            </a:r>
            <a:r>
              <a:rPr lang="en-US" altLang="zh-CN" b="1" baseline="-30000">
                <a:solidFill>
                  <a:srgbClr val="FF0000"/>
                </a:solidFill>
                <a:latin typeface="宋体" panose="02010600030101010101" pitchFamily="2" charset="-122"/>
              </a:rPr>
              <a:t>16</a:t>
            </a:r>
            <a:r>
              <a:rPr lang="en-US" altLang="zh-CN" b="1">
                <a:latin typeface="宋体" panose="02010600030101010101" pitchFamily="2" charset="-122"/>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33538"/>
                                        </p:tgtEl>
                                        <p:attrNameLst>
                                          <p:attrName>style.visibility</p:attrName>
                                        </p:attrNameLst>
                                      </p:cBhvr>
                                      <p:to>
                                        <p:strVal val="visible"/>
                                      </p:to>
                                    </p:set>
                                    <p:animEffect transition="in" filter="blinds(horizontal)">
                                      <p:cBhvr>
                                        <p:cTn id="7" dur="500"/>
                                        <p:tgtEl>
                                          <p:spTgt spid="833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3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698C18E4-51E5-474A-BA10-C17599B237E7}" type="slidenum">
              <a:rPr lang="en-US" altLang="zh-CN" sz="1400"/>
              <a:pPr eaLnBrk="1" hangingPunct="1"/>
              <a:t>54</a:t>
            </a:fld>
            <a:endParaRPr lang="en-US" altLang="zh-CN" sz="1400"/>
          </a:p>
        </p:txBody>
      </p:sp>
      <p:sp>
        <p:nvSpPr>
          <p:cNvPr id="834562" name="Rectangle 2" descr="小棋盘"/>
          <p:cNvSpPr>
            <a:spLocks noChangeArrowheads="1"/>
          </p:cNvSpPr>
          <p:nvPr/>
        </p:nvSpPr>
        <p:spPr bwMode="auto">
          <a:xfrm>
            <a:off x="1905000" y="1143000"/>
            <a:ext cx="48768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3</a:t>
            </a:r>
            <a:r>
              <a:rPr lang="zh-CN" altLang="en-US" sz="3200" b="1">
                <a:solidFill>
                  <a:srgbClr val="FF0000"/>
                </a:solidFill>
                <a:latin typeface="宋体" panose="02010600030101010101" pitchFamily="2" charset="-122"/>
                <a:ea typeface="仿宋_GB2312" pitchFamily="49" charset="-122"/>
              </a:rPr>
              <a:t>．浮点数转换成定点数 </a:t>
            </a:r>
          </a:p>
        </p:txBody>
      </p:sp>
      <p:sp>
        <p:nvSpPr>
          <p:cNvPr id="834563" name="Rectangle 3" descr="小棋盘"/>
          <p:cNvSpPr>
            <a:spLocks noChangeArrowheads="1"/>
          </p:cNvSpPr>
          <p:nvPr/>
        </p:nvSpPr>
        <p:spPr bwMode="auto">
          <a:xfrm>
            <a:off x="381000" y="2667000"/>
            <a:ext cx="609600" cy="16383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转换要点</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834564" name="Rectangle 4" descr="小棋盘"/>
          <p:cNvSpPr>
            <a:spLocks noChangeArrowheads="1"/>
          </p:cNvSpPr>
          <p:nvPr/>
        </p:nvSpPr>
        <p:spPr bwMode="auto">
          <a:xfrm>
            <a:off x="1295400" y="2133600"/>
            <a:ext cx="7308850" cy="2538413"/>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008000"/>
                </a:solidFill>
                <a:latin typeface="宋体" panose="02010600030101010101" pitchFamily="2" charset="-122"/>
                <a:cs typeface="Times New Roman" panose="02020603050405020304" pitchFamily="18" charset="0"/>
              </a:rPr>
              <a:t>在将浮点数转换成定点数时，按指数值将尾数右移（指数为负时左移）即可。</a:t>
            </a:r>
          </a:p>
          <a:p>
            <a:r>
              <a:rPr lang="zh-CN" altLang="en-US" sz="3200" b="1">
                <a:solidFill>
                  <a:srgbClr val="FF00FF"/>
                </a:solidFill>
                <a:latin typeface="宋体" panose="02010600030101010101" pitchFamily="2" charset="-122"/>
                <a:cs typeface="Times New Roman" panose="02020603050405020304" pitchFamily="18" charset="0"/>
              </a:rPr>
              <a:t>其操作与定点数转换为浮点数相反。这种相反方向的移位是通过对指数取反实现的。</a:t>
            </a:r>
            <a:r>
              <a:rPr lang="zh-CN" altLang="en-US" sz="3200" b="1">
                <a:solidFill>
                  <a:srgbClr val="008000"/>
                </a:solidFill>
                <a:latin typeface="宋体" panose="02010600030101010101" pitchFamily="2" charset="-122"/>
              </a:rPr>
              <a:t> </a:t>
            </a:r>
          </a:p>
        </p:txBody>
      </p:sp>
      <p:sp>
        <p:nvSpPr>
          <p:cNvPr id="834565" name="Rectangle 5" descr="小棋盘"/>
          <p:cNvSpPr>
            <a:spLocks noChangeArrowheads="1"/>
          </p:cNvSpPr>
          <p:nvPr/>
        </p:nvSpPr>
        <p:spPr bwMode="auto">
          <a:xfrm>
            <a:off x="1524000" y="5105400"/>
            <a:ext cx="6172200" cy="107632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latin typeface="宋体" panose="02010600030101010101" pitchFamily="2" charset="-122"/>
              </a:rPr>
              <a:t>使</a:t>
            </a:r>
            <a:r>
              <a:rPr lang="zh-CN" altLang="en-US" sz="3200" b="1">
                <a:latin typeface="宋体" panose="02010600030101010101" pitchFamily="2" charset="-122"/>
                <a:cs typeface="Times New Roman" panose="02020603050405020304" pitchFamily="18" charset="0"/>
              </a:rPr>
              <a:t>用指令 </a:t>
            </a:r>
            <a:r>
              <a:rPr lang="zh-CN" altLang="en-US" sz="3200" b="1">
                <a:latin typeface="宋体" panose="02010600030101010101" pitchFamily="2" charset="-122"/>
              </a:rPr>
              <a:t> </a:t>
            </a:r>
            <a:r>
              <a:rPr lang="en-US" altLang="zh-CN" sz="3200" b="1">
                <a:solidFill>
                  <a:schemeClr val="tx2"/>
                </a:solidFill>
                <a:latin typeface="宋体" panose="02010600030101010101" pitchFamily="2" charset="-122"/>
                <a:cs typeface="Times New Roman" panose="02020603050405020304" pitchFamily="18" charset="0"/>
              </a:rPr>
              <a:t>NEG  A </a:t>
            </a:r>
          </a:p>
          <a:p>
            <a:r>
              <a:rPr lang="zh-CN" altLang="en-US" sz="3200" b="1">
                <a:solidFill>
                  <a:schemeClr val="tx2"/>
                </a:solidFill>
                <a:latin typeface="宋体" panose="02010600030101010101" pitchFamily="2" charset="-122"/>
              </a:rPr>
              <a:t>　　　　　</a:t>
            </a:r>
            <a:r>
              <a:rPr lang="en-US" altLang="zh-CN" sz="3200" b="1">
                <a:solidFill>
                  <a:schemeClr val="tx2"/>
                </a:solidFill>
                <a:latin typeface="宋体" panose="02010600030101010101" pitchFamily="2" charset="-122"/>
                <a:cs typeface="Times New Roman" panose="02020603050405020304" pitchFamily="18" charset="0"/>
              </a:rPr>
              <a:t>NORM A</a:t>
            </a:r>
            <a:r>
              <a:rPr lang="en-US" altLang="zh-CN" sz="3200" b="1">
                <a:solidFill>
                  <a:srgbClr val="008000"/>
                </a:solidFill>
                <a:latin typeface="宋体" panose="02010600030101010101" pitchFamily="2"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34562"/>
                                        </p:tgtEl>
                                        <p:attrNameLst>
                                          <p:attrName>style.visibility</p:attrName>
                                        </p:attrNameLst>
                                      </p:cBhvr>
                                      <p:to>
                                        <p:strVal val="visible"/>
                                      </p:to>
                                    </p:set>
                                    <p:animEffect transition="in" filter="slide(fromTop)">
                                      <p:cBhvr>
                                        <p:cTn id="7" dur="500"/>
                                        <p:tgtEl>
                                          <p:spTgt spid="834562"/>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34564"/>
                                        </p:tgtEl>
                                        <p:attrNameLst>
                                          <p:attrName>style.visibility</p:attrName>
                                        </p:attrNameLst>
                                      </p:cBhvr>
                                      <p:to>
                                        <p:strVal val="visible"/>
                                      </p:to>
                                    </p:set>
                                    <p:animEffect transition="in" filter="blinds(horizontal)">
                                      <p:cBhvr>
                                        <p:cTn id="11" dur="500"/>
                                        <p:tgtEl>
                                          <p:spTgt spid="834564"/>
                                        </p:tgtEl>
                                      </p:cBhvr>
                                    </p:animEffect>
                                  </p:childTnLst>
                                </p:cTn>
                              </p:par>
                              <p:par>
                                <p:cTn id="12" presetID="12" presetClass="entr" presetSubtype="8" fill="hold" grpId="0" nodeType="withEffect">
                                  <p:stCondLst>
                                    <p:cond delay="0"/>
                                  </p:stCondLst>
                                  <p:childTnLst>
                                    <p:set>
                                      <p:cBhvr>
                                        <p:cTn id="13" dur="1" fill="hold">
                                          <p:stCondLst>
                                            <p:cond delay="0"/>
                                          </p:stCondLst>
                                        </p:cTn>
                                        <p:tgtEl>
                                          <p:spTgt spid="834563"/>
                                        </p:tgtEl>
                                        <p:attrNameLst>
                                          <p:attrName>style.visibility</p:attrName>
                                        </p:attrNameLst>
                                      </p:cBhvr>
                                      <p:to>
                                        <p:strVal val="visible"/>
                                      </p:to>
                                    </p:set>
                                    <p:animEffect transition="in" filter="slide(fromLeft)">
                                      <p:cBhvr>
                                        <p:cTn id="14" dur="500"/>
                                        <p:tgtEl>
                                          <p:spTgt spid="834563"/>
                                        </p:tgtEl>
                                      </p:cBhvr>
                                    </p:animEffect>
                                  </p:childTnLst>
                                </p:cTn>
                              </p:par>
                            </p:childTnLst>
                          </p:cTn>
                        </p:par>
                        <p:par>
                          <p:cTn id="15" fill="hold" nodeType="afterGroup">
                            <p:stCondLst>
                              <p:cond delay="1000"/>
                            </p:stCondLst>
                            <p:childTnLst>
                              <p:par>
                                <p:cTn id="16" presetID="12" presetClass="entr" presetSubtype="4" fill="hold" grpId="0" nodeType="afterEffect">
                                  <p:stCondLst>
                                    <p:cond delay="0"/>
                                  </p:stCondLst>
                                  <p:childTnLst>
                                    <p:set>
                                      <p:cBhvr>
                                        <p:cTn id="17" dur="1" fill="hold">
                                          <p:stCondLst>
                                            <p:cond delay="0"/>
                                          </p:stCondLst>
                                        </p:cTn>
                                        <p:tgtEl>
                                          <p:spTgt spid="834565"/>
                                        </p:tgtEl>
                                        <p:attrNameLst>
                                          <p:attrName>style.visibility</p:attrName>
                                        </p:attrNameLst>
                                      </p:cBhvr>
                                      <p:to>
                                        <p:strVal val="visible"/>
                                      </p:to>
                                    </p:set>
                                    <p:animEffect transition="in" filter="slide(fromBottom)">
                                      <p:cBhvr>
                                        <p:cTn id="18" dur="500"/>
                                        <p:tgtEl>
                                          <p:spTgt spid="834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562" grpId="0" animBg="1"/>
      <p:bldP spid="834563" grpId="0" animBg="1"/>
      <p:bldP spid="834564" grpId="0" animBg="1"/>
      <p:bldP spid="83456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886C6B9-98FA-4B52-9F26-657BCED5929D}" type="slidenum">
              <a:rPr lang="en-US" altLang="zh-CN" sz="1400"/>
              <a:pPr eaLnBrk="1" hangingPunct="1"/>
              <a:t>55</a:t>
            </a:fld>
            <a:endParaRPr lang="en-US" altLang="zh-CN" sz="1400"/>
          </a:p>
        </p:txBody>
      </p:sp>
      <p:sp>
        <p:nvSpPr>
          <p:cNvPr id="835586" name="Rectangle 2"/>
          <p:cNvSpPr>
            <a:spLocks noChangeArrowheads="1"/>
          </p:cNvSpPr>
          <p:nvPr/>
        </p:nvSpPr>
        <p:spPr bwMode="auto">
          <a:xfrm>
            <a:off x="381000" y="1295400"/>
            <a:ext cx="85344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841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如指数在</a:t>
            </a:r>
            <a:r>
              <a:rPr lang="en-US" altLang="zh-CN" sz="2800" b="1">
                <a:latin typeface="宋体" panose="02010600030101010101" pitchFamily="2" charset="-122"/>
              </a:rPr>
              <a:t>A</a:t>
            </a:r>
            <a:r>
              <a:rPr lang="zh-CN" altLang="en-US" sz="2800" b="1">
                <a:latin typeface="宋体" panose="02010600030101010101" pitchFamily="2" charset="-122"/>
              </a:rPr>
              <a:t>中，尾数在</a:t>
            </a:r>
            <a:r>
              <a:rPr lang="en-US" altLang="zh-CN" sz="2800" b="1">
                <a:latin typeface="宋体" panose="02010600030101010101" pitchFamily="2" charset="-122"/>
              </a:rPr>
              <a:t>x</a:t>
            </a:r>
            <a:r>
              <a:rPr lang="zh-CN" altLang="en-US" sz="2800" b="1">
                <a:latin typeface="宋体" panose="02010600030101010101" pitchFamily="2" charset="-122"/>
              </a:rPr>
              <a:t>中，则将浮点数转换成定点数的指令为：</a:t>
            </a:r>
            <a:endParaRPr lang="zh-CN" altLang="en-US" sz="2800" b="1"/>
          </a:p>
          <a:p>
            <a:pPr algn="just"/>
            <a:r>
              <a:rPr lang="en-US" altLang="zh-CN" sz="2800" b="1">
                <a:solidFill>
                  <a:schemeClr val="tx2"/>
                </a:solidFill>
                <a:latin typeface="宋体" panose="02010600030101010101" pitchFamily="2" charset="-122"/>
              </a:rPr>
              <a:t>NEG  A</a:t>
            </a:r>
            <a:r>
              <a:rPr lang="en-US" altLang="zh-CN" sz="2800" b="1">
                <a:latin typeface="宋体" panose="02010600030101010101" pitchFamily="2" charset="-122"/>
              </a:rPr>
              <a:t>          </a:t>
            </a:r>
            <a:r>
              <a:rPr lang="zh-CN" altLang="en-US" sz="2800" b="1">
                <a:latin typeface="宋体" panose="02010600030101010101" pitchFamily="2" charset="-122"/>
              </a:rPr>
              <a:t>；指数反号</a:t>
            </a:r>
            <a:endParaRPr lang="zh-CN" altLang="en-US" sz="2800" b="1"/>
          </a:p>
          <a:p>
            <a:pPr algn="just"/>
            <a:r>
              <a:rPr lang="en-US" altLang="zh-CN" sz="2800" b="1">
                <a:latin typeface="宋体" panose="02010600030101010101" pitchFamily="2" charset="-122"/>
              </a:rPr>
              <a:t>STL  A,@temp    </a:t>
            </a:r>
            <a:r>
              <a:rPr lang="zh-CN" altLang="en-US" sz="2800" b="1">
                <a:latin typeface="宋体" panose="02010600030101010101" pitchFamily="2" charset="-122"/>
              </a:rPr>
              <a:t>；将指数暂存在数据存储单元中</a:t>
            </a:r>
            <a:endParaRPr lang="zh-CN" altLang="en-US" sz="2800" b="1"/>
          </a:p>
          <a:p>
            <a:pPr algn="just"/>
            <a:r>
              <a:rPr lang="en-US" altLang="zh-CN" sz="2800" b="1">
                <a:latin typeface="宋体" panose="02010600030101010101" pitchFamily="2" charset="-122"/>
              </a:rPr>
              <a:t>LD   @temp,T    </a:t>
            </a:r>
            <a:r>
              <a:rPr lang="zh-CN" altLang="en-US" sz="2800" b="1">
                <a:latin typeface="宋体" panose="02010600030101010101" pitchFamily="2" charset="-122"/>
              </a:rPr>
              <a:t>；将指数装入</a:t>
            </a:r>
            <a:r>
              <a:rPr lang="en-US" altLang="zh-CN" sz="2800" b="1">
                <a:latin typeface="宋体" panose="02010600030101010101" pitchFamily="2" charset="-122"/>
              </a:rPr>
              <a:t>T</a:t>
            </a:r>
            <a:r>
              <a:rPr lang="zh-CN" altLang="en-US" sz="2800" b="1">
                <a:latin typeface="宋体" panose="02010600030101010101" pitchFamily="2" charset="-122"/>
              </a:rPr>
              <a:t>寄存器</a:t>
            </a:r>
            <a:endParaRPr lang="zh-CN" altLang="en-US" sz="2800" b="1"/>
          </a:p>
          <a:p>
            <a:pPr algn="just"/>
            <a:r>
              <a:rPr lang="en-US" altLang="zh-CN" sz="2800" b="1">
                <a:latin typeface="宋体" panose="02010600030101010101" pitchFamily="2" charset="-122"/>
              </a:rPr>
              <a:t>LD   @x,16,A    </a:t>
            </a:r>
            <a:r>
              <a:rPr lang="zh-CN" altLang="en-US" sz="2800" b="1">
                <a:latin typeface="宋体" panose="02010600030101010101" pitchFamily="2" charset="-122"/>
              </a:rPr>
              <a:t>；将尾数装入</a:t>
            </a:r>
            <a:r>
              <a:rPr lang="en-US" altLang="zh-CN" sz="2800" b="1">
                <a:latin typeface="宋体" panose="02010600030101010101" pitchFamily="2" charset="-122"/>
              </a:rPr>
              <a:t>A</a:t>
            </a:r>
            <a:r>
              <a:rPr lang="zh-CN" altLang="en-US" sz="2800" b="1">
                <a:latin typeface="宋体" panose="02010600030101010101" pitchFamily="2" charset="-122"/>
              </a:rPr>
              <a:t>的高</a:t>
            </a:r>
            <a:r>
              <a:rPr lang="en-US" altLang="zh-CN" sz="2800" b="1">
                <a:latin typeface="宋体" panose="02010600030101010101" pitchFamily="2" charset="-122"/>
              </a:rPr>
              <a:t>16</a:t>
            </a:r>
            <a:r>
              <a:rPr lang="zh-CN" altLang="en-US" sz="2800" b="1">
                <a:latin typeface="宋体" panose="02010600030101010101" pitchFamily="2" charset="-122"/>
              </a:rPr>
              <a:t>位</a:t>
            </a:r>
            <a:endParaRPr lang="zh-CN" altLang="en-US" sz="2800" b="1"/>
          </a:p>
          <a:p>
            <a:pPr algn="just"/>
            <a:r>
              <a:rPr lang="en-US" altLang="zh-CN" sz="2800" b="1">
                <a:solidFill>
                  <a:schemeClr val="tx2"/>
                </a:solidFill>
                <a:latin typeface="宋体" panose="02010600030101010101" pitchFamily="2" charset="-122"/>
              </a:rPr>
              <a:t>NORM A</a:t>
            </a:r>
            <a:r>
              <a:rPr lang="en-US" altLang="zh-CN" sz="2800" b="1">
                <a:latin typeface="宋体" panose="02010600030101010101" pitchFamily="2" charset="-122"/>
              </a:rPr>
              <a:t>          </a:t>
            </a:r>
            <a:r>
              <a:rPr lang="zh-CN" altLang="en-US" sz="2800" b="1">
                <a:latin typeface="宋体" panose="02010600030101010101" pitchFamily="2" charset="-122"/>
              </a:rPr>
              <a:t>；</a:t>
            </a:r>
            <a:r>
              <a:rPr lang="zh-CN" altLang="en-US" sz="2800" b="1">
                <a:solidFill>
                  <a:srgbClr val="FF00FF"/>
                </a:solidFill>
                <a:latin typeface="宋体" panose="02010600030101010101" pitchFamily="2" charset="-122"/>
              </a:rPr>
              <a:t>将尾数按</a:t>
            </a:r>
            <a:r>
              <a:rPr lang="en-US" altLang="zh-CN" sz="2800" b="1">
                <a:solidFill>
                  <a:srgbClr val="FF00FF"/>
                </a:solidFill>
                <a:latin typeface="宋体" panose="02010600030101010101" pitchFamily="2" charset="-122"/>
              </a:rPr>
              <a:t>T</a:t>
            </a:r>
            <a:r>
              <a:rPr lang="zh-CN" altLang="en-US" sz="2800" b="1">
                <a:solidFill>
                  <a:srgbClr val="FF00FF"/>
                </a:solidFill>
                <a:latin typeface="宋体" panose="02010600030101010101" pitchFamily="2" charset="-122"/>
              </a:rPr>
              <a:t>移位</a:t>
            </a:r>
            <a:r>
              <a:rPr lang="en-US" altLang="zh-CN" sz="2800" b="1">
                <a:solidFill>
                  <a:srgbClr val="FF00FF"/>
                </a:solidFill>
                <a:latin typeface="宋体" panose="02010600030101010101" pitchFamily="2" charset="-122"/>
              </a:rPr>
              <a:t>,</a:t>
            </a:r>
            <a:r>
              <a:rPr lang="zh-CN" altLang="en-US" sz="2800" b="1">
                <a:solidFill>
                  <a:srgbClr val="FF00FF"/>
                </a:solidFill>
                <a:latin typeface="宋体" panose="02010600030101010101" pitchFamily="2" charset="-122"/>
              </a:rPr>
              <a:t>由于</a:t>
            </a:r>
            <a:r>
              <a:rPr lang="en-US" altLang="zh-CN" sz="2800" b="1">
                <a:solidFill>
                  <a:srgbClr val="FF00FF"/>
                </a:solidFill>
                <a:latin typeface="宋体" panose="02010600030101010101" pitchFamily="2" charset="-122"/>
              </a:rPr>
              <a:t>T</a:t>
            </a:r>
            <a:r>
              <a:rPr lang="zh-CN" altLang="en-US" sz="2800" b="1">
                <a:solidFill>
                  <a:srgbClr val="FF00FF"/>
                </a:solidFill>
                <a:latin typeface="宋体" panose="02010600030101010101" pitchFamily="2" charset="-122"/>
              </a:rPr>
              <a:t>中的指数  </a:t>
            </a:r>
          </a:p>
          <a:p>
            <a:pPr algn="just"/>
            <a:r>
              <a:rPr lang="zh-CN" altLang="en-US" sz="2800" b="1">
                <a:solidFill>
                  <a:srgbClr val="FF00FF"/>
                </a:solidFill>
                <a:latin typeface="宋体" panose="02010600030101010101" pitchFamily="2" charset="-122"/>
              </a:rPr>
              <a:t>                ；是已经取反了的，所进行的移</a:t>
            </a:r>
            <a:endParaRPr lang="zh-CN" altLang="en-US" sz="2800" b="1">
              <a:solidFill>
                <a:srgbClr val="FF00FF"/>
              </a:solidFill>
            </a:endParaRPr>
          </a:p>
          <a:p>
            <a:pPr algn="just"/>
            <a:r>
              <a:rPr lang="zh-CN" altLang="en-US" sz="2800" b="1">
                <a:solidFill>
                  <a:srgbClr val="FF00FF"/>
                </a:solidFill>
                <a:latin typeface="宋体" panose="02010600030101010101" pitchFamily="2" charset="-122"/>
              </a:rPr>
              <a:t>                ；位为反向移位。转换后的定点</a:t>
            </a:r>
          </a:p>
          <a:p>
            <a:pPr algn="just"/>
            <a:r>
              <a:rPr lang="zh-CN" altLang="en-US" sz="2800" b="1">
                <a:solidFill>
                  <a:srgbClr val="FF00FF"/>
                </a:solidFill>
                <a:latin typeface="宋体" panose="02010600030101010101" pitchFamily="2" charset="-122"/>
              </a:rPr>
              <a:t>                ；数在</a:t>
            </a:r>
            <a:r>
              <a:rPr lang="en-US" altLang="zh-CN" sz="2800" b="1">
                <a:solidFill>
                  <a:srgbClr val="FF00FF"/>
                </a:solidFill>
                <a:latin typeface="宋体" panose="02010600030101010101" pitchFamily="2" charset="-122"/>
              </a:rPr>
              <a:t>A</a:t>
            </a:r>
            <a:r>
              <a:rPr lang="zh-CN" altLang="en-US" sz="2800" b="1">
                <a:solidFill>
                  <a:srgbClr val="FF00FF"/>
                </a:solidFill>
                <a:latin typeface="宋体" panose="02010600030101010101" pitchFamily="2" charset="-122"/>
              </a:rPr>
              <a:t>中。</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35586"/>
                                        </p:tgtEl>
                                        <p:attrNameLst>
                                          <p:attrName>style.visibility</p:attrName>
                                        </p:attrNameLst>
                                      </p:cBhvr>
                                      <p:to>
                                        <p:strVal val="visible"/>
                                      </p:to>
                                    </p:set>
                                    <p:animEffect transition="in" filter="blinds(horizontal)">
                                      <p:cBhvr>
                                        <p:cTn id="7" dur="500"/>
                                        <p:tgtEl>
                                          <p:spTgt spid="835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58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092BD83-14F0-45D9-9DE4-4AA8E0E9B49A}" type="slidenum">
              <a:rPr lang="en-US" altLang="zh-CN" sz="1400"/>
              <a:pPr eaLnBrk="1" hangingPunct="1"/>
              <a:t>56</a:t>
            </a:fld>
            <a:endParaRPr lang="en-US" altLang="zh-CN" sz="1400"/>
          </a:p>
        </p:txBody>
      </p:sp>
      <p:sp>
        <p:nvSpPr>
          <p:cNvPr id="69635" name="Rectangle 3"/>
          <p:cNvSpPr>
            <a:spLocks noChangeArrowheads="1"/>
          </p:cNvSpPr>
          <p:nvPr/>
        </p:nvSpPr>
        <p:spPr bwMode="auto">
          <a:xfrm>
            <a:off x="609600" y="990600"/>
            <a:ext cx="8382000" cy="546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pPr>
            <a:r>
              <a:rPr lang="zh-CN" altLang="en-US" sz="2800" b="1">
                <a:ea typeface="黑体" panose="02010609060101010101" pitchFamily="49" charset="-122"/>
              </a:rPr>
              <a:t>例</a:t>
            </a:r>
            <a:r>
              <a:rPr lang="en-US" altLang="zh-CN" sz="2800" b="1">
                <a:ea typeface="黑体" panose="02010609060101010101" pitchFamily="49" charset="-122"/>
              </a:rPr>
              <a:t>5-20  </a:t>
            </a:r>
            <a:r>
              <a:rPr lang="zh-CN" altLang="en-US" sz="2800" b="1">
                <a:latin typeface="宋体" panose="02010600030101010101" pitchFamily="2" charset="-122"/>
              </a:rPr>
              <a:t>编写浮点乘法程序，完成</a:t>
            </a:r>
            <a:r>
              <a:rPr lang="en-US" altLang="zh-CN" sz="2800" b="1">
                <a:latin typeface="宋体" panose="02010600030101010101" pitchFamily="2" charset="-122"/>
              </a:rPr>
              <a:t>x1×x2=0.3×</a:t>
            </a:r>
            <a:r>
              <a:rPr lang="zh-CN" altLang="en-US" sz="2800" b="1">
                <a:latin typeface="宋体" panose="02010600030101010101" pitchFamily="2" charset="-122"/>
              </a:rPr>
              <a:t>（</a:t>
            </a:r>
            <a:r>
              <a:rPr lang="en-US" altLang="zh-CN" sz="2800" b="1">
                <a:latin typeface="宋体" panose="02010600030101010101" pitchFamily="2" charset="-122"/>
              </a:rPr>
              <a:t>-0.8</a:t>
            </a:r>
            <a:r>
              <a:rPr lang="zh-CN" altLang="en-US" sz="2800" b="1">
                <a:latin typeface="宋体" panose="02010600030101010101" pitchFamily="2" charset="-122"/>
              </a:rPr>
              <a:t>）运算。程序清单为：</a:t>
            </a:r>
            <a:endParaRPr lang="zh-CN" altLang="en-US" sz="2800" b="1"/>
          </a:p>
          <a:p>
            <a:pPr algn="just">
              <a:lnSpc>
                <a:spcPct val="90000"/>
              </a:lnSpc>
            </a:pPr>
            <a:r>
              <a:rPr lang="zh-CN" altLang="en-US" b="1">
                <a:latin typeface="宋体" panose="02010600030101010101" pitchFamily="2" charset="-122"/>
              </a:rPr>
              <a:t>        </a:t>
            </a:r>
            <a:r>
              <a:rPr lang="en-US" altLang="zh-CN" b="1">
                <a:latin typeface="宋体" panose="02010600030101010101" pitchFamily="2" charset="-122"/>
              </a:rPr>
              <a:t>.title  </a:t>
            </a:r>
            <a:r>
              <a:rPr lang="en-US" altLang="zh-CN" b="1"/>
              <a:t>“</a:t>
            </a:r>
            <a:r>
              <a:rPr lang="en-US" altLang="zh-CN" b="1">
                <a:latin typeface="宋体" panose="02010600030101010101" pitchFamily="2" charset="-122"/>
              </a:rPr>
              <a:t>float.asm</a:t>
            </a:r>
            <a:r>
              <a:rPr lang="en-US" altLang="zh-CN" b="1"/>
              <a:t>”</a:t>
            </a:r>
            <a:r>
              <a:rPr lang="en-US" altLang="zh-CN" b="1">
                <a:latin typeface="宋体" panose="02010600030101010101" pitchFamily="2" charset="-122"/>
              </a:rPr>
              <a:t> </a:t>
            </a:r>
            <a:r>
              <a:rPr lang="zh-CN" altLang="en-US" b="1">
                <a:latin typeface="宋体" panose="02010600030101010101" pitchFamily="2" charset="-122"/>
              </a:rPr>
              <a:t>；程序名</a:t>
            </a:r>
            <a:endParaRPr lang="zh-CN" altLang="en-US" b="1"/>
          </a:p>
          <a:p>
            <a:pPr algn="just">
              <a:lnSpc>
                <a:spcPct val="90000"/>
              </a:lnSpc>
            </a:pPr>
            <a:r>
              <a:rPr lang="zh-CN" altLang="en-US" b="1">
                <a:latin typeface="宋体" panose="02010600030101010101" pitchFamily="2" charset="-122"/>
              </a:rPr>
              <a:t>        </a:t>
            </a:r>
            <a:r>
              <a:rPr lang="en-US" altLang="zh-CN" sz="2000" b="1">
                <a:solidFill>
                  <a:srgbClr val="FF00FF"/>
                </a:solidFill>
              </a:rPr>
              <a:t>.mmregs</a:t>
            </a:r>
          </a:p>
          <a:p>
            <a:pPr algn="just">
              <a:lnSpc>
                <a:spcPct val="90000"/>
              </a:lnSpc>
            </a:pPr>
            <a:r>
              <a:rPr lang="en-US" altLang="zh-CN" b="1">
                <a:latin typeface="宋体" panose="02010600030101010101" pitchFamily="2" charset="-122"/>
              </a:rPr>
              <a:t>        .def    start    </a:t>
            </a:r>
            <a:r>
              <a:rPr lang="zh-CN" altLang="en-US" b="1">
                <a:latin typeface="宋体" panose="02010600030101010101" pitchFamily="2" charset="-122"/>
              </a:rPr>
              <a:t>；定义标号</a:t>
            </a:r>
            <a:endParaRPr lang="zh-CN" altLang="en-US" b="1"/>
          </a:p>
          <a:p>
            <a:pPr algn="just">
              <a:lnSpc>
                <a:spcPct val="90000"/>
              </a:lnSpc>
            </a:pPr>
            <a:r>
              <a:rPr lang="en-US" altLang="zh-CN" b="1">
                <a:latin typeface="宋体" panose="02010600030101010101" pitchFamily="2" charset="-122"/>
              </a:rPr>
              <a:t>STACK:  .</a:t>
            </a:r>
            <a:r>
              <a:rPr lang="en-US" altLang="zh-CN" sz="2000" b="1">
                <a:latin typeface="宋体" panose="02010600030101010101" pitchFamily="2" charset="-122"/>
              </a:rPr>
              <a:t>usect  </a:t>
            </a:r>
            <a:r>
              <a:rPr lang="en-US" altLang="zh-CN" sz="2000" b="1"/>
              <a:t>“</a:t>
            </a:r>
            <a:r>
              <a:rPr lang="en-US" altLang="zh-CN" sz="2000" b="1">
                <a:latin typeface="宋体" panose="02010600030101010101" pitchFamily="2" charset="-122"/>
              </a:rPr>
              <a:t>STACK</a:t>
            </a:r>
            <a:r>
              <a:rPr lang="en-US" altLang="zh-CN" sz="2000" b="1"/>
              <a:t>”</a:t>
            </a:r>
            <a:r>
              <a:rPr lang="en-US" altLang="zh-CN" sz="2000" b="1">
                <a:latin typeface="宋体" panose="02010600030101010101" pitchFamily="2" charset="-122"/>
              </a:rPr>
              <a:t>,100</a:t>
            </a:r>
            <a:r>
              <a:rPr lang="en-US" altLang="zh-CN" b="1">
                <a:latin typeface="宋体" panose="02010600030101010101" pitchFamily="2" charset="-122"/>
              </a:rPr>
              <a:t> </a:t>
            </a:r>
            <a:r>
              <a:rPr lang="zh-CN" altLang="en-US" b="1">
                <a:latin typeface="宋体" panose="02010600030101010101" pitchFamily="2" charset="-122"/>
              </a:rPr>
              <a:t>；设置堆栈</a:t>
            </a:r>
            <a:endParaRPr lang="zh-CN" altLang="en-US" b="1"/>
          </a:p>
          <a:p>
            <a:pPr algn="just">
              <a:lnSpc>
                <a:spcPct val="90000"/>
              </a:lnSpc>
            </a:pPr>
            <a:r>
              <a:rPr lang="zh-CN" altLang="en-US" b="1">
                <a:latin typeface="宋体" panose="02010600030101010101" pitchFamily="2" charset="-122"/>
              </a:rPr>
              <a:t>        </a:t>
            </a:r>
            <a:r>
              <a:rPr lang="en-US" altLang="zh-CN" b="1">
                <a:latin typeface="宋体" panose="02010600030101010101" pitchFamily="2" charset="-122"/>
              </a:rPr>
              <a:t>.bss  x1,1       </a:t>
            </a:r>
            <a:r>
              <a:rPr lang="zh-CN" altLang="en-US" sz="2000" b="1">
                <a:latin typeface="宋体" panose="02010600030101010101" pitchFamily="2" charset="-122"/>
              </a:rPr>
              <a:t>；为被乘数</a:t>
            </a:r>
            <a:r>
              <a:rPr lang="en-US" altLang="zh-CN" sz="2000" b="1">
                <a:latin typeface="宋体" panose="02010600030101010101" pitchFamily="2" charset="-122"/>
              </a:rPr>
              <a:t>x1</a:t>
            </a:r>
            <a:r>
              <a:rPr lang="zh-CN" altLang="en-US" sz="2000" b="1">
                <a:latin typeface="宋体" panose="02010600030101010101" pitchFamily="2" charset="-122"/>
              </a:rPr>
              <a:t>预留</a:t>
            </a:r>
            <a:r>
              <a:rPr lang="en-US" altLang="zh-CN" sz="2000" b="1">
                <a:latin typeface="宋体" panose="02010600030101010101" pitchFamily="2" charset="-122"/>
              </a:rPr>
              <a:t>1</a:t>
            </a:r>
            <a:r>
              <a:rPr lang="zh-CN" altLang="en-US" sz="2000" b="1">
                <a:latin typeface="宋体" panose="02010600030101010101" pitchFamily="2" charset="-122"/>
              </a:rPr>
              <a:t>个单元的空间</a:t>
            </a:r>
            <a:endParaRPr lang="zh-CN" altLang="en-US" sz="2000" b="1"/>
          </a:p>
          <a:p>
            <a:pPr algn="just">
              <a:lnSpc>
                <a:spcPct val="90000"/>
              </a:lnSpc>
            </a:pPr>
            <a:r>
              <a:rPr lang="zh-CN" altLang="en-US" b="1">
                <a:latin typeface="宋体" panose="02010600030101010101" pitchFamily="2" charset="-122"/>
              </a:rPr>
              <a:t>        </a:t>
            </a:r>
            <a:r>
              <a:rPr lang="en-US" altLang="zh-CN" b="1">
                <a:latin typeface="宋体" panose="02010600030101010101" pitchFamily="2" charset="-122"/>
              </a:rPr>
              <a:t>.bss  x2,1       </a:t>
            </a:r>
            <a:r>
              <a:rPr lang="zh-CN" altLang="en-US" sz="2000" b="1">
                <a:latin typeface="宋体" panose="02010600030101010101" pitchFamily="2" charset="-122"/>
              </a:rPr>
              <a:t>；为乘数</a:t>
            </a:r>
            <a:r>
              <a:rPr lang="en-US" altLang="zh-CN" sz="2000" b="1">
                <a:latin typeface="宋体" panose="02010600030101010101" pitchFamily="2" charset="-122"/>
              </a:rPr>
              <a:t>x2</a:t>
            </a:r>
            <a:r>
              <a:rPr lang="zh-CN" altLang="en-US" sz="2000" b="1">
                <a:latin typeface="宋体" panose="02010600030101010101" pitchFamily="2" charset="-122"/>
              </a:rPr>
              <a:t>预留</a:t>
            </a:r>
            <a:r>
              <a:rPr lang="en-US" altLang="zh-CN" sz="2000" b="1">
                <a:latin typeface="宋体" panose="02010600030101010101" pitchFamily="2" charset="-122"/>
              </a:rPr>
              <a:t>1</a:t>
            </a:r>
            <a:r>
              <a:rPr lang="zh-CN" altLang="en-US" sz="2000" b="1">
                <a:latin typeface="宋体" panose="02010600030101010101" pitchFamily="2" charset="-122"/>
              </a:rPr>
              <a:t>个单元的空间</a:t>
            </a:r>
            <a:endParaRPr lang="zh-CN" altLang="en-US" sz="2000" b="1"/>
          </a:p>
          <a:p>
            <a:pPr algn="just">
              <a:lnSpc>
                <a:spcPct val="90000"/>
              </a:lnSpc>
            </a:pPr>
            <a:r>
              <a:rPr lang="zh-CN" altLang="en-US" b="1">
                <a:latin typeface="宋体" panose="02010600030101010101" pitchFamily="2" charset="-122"/>
              </a:rPr>
              <a:t>        </a:t>
            </a:r>
            <a:r>
              <a:rPr lang="en-US" altLang="zh-CN" b="1">
                <a:latin typeface="宋体" panose="02010600030101010101" pitchFamily="2" charset="-122"/>
              </a:rPr>
              <a:t>.bss  e1,1       </a:t>
            </a:r>
            <a:r>
              <a:rPr lang="zh-CN" altLang="en-US" sz="2000" b="1">
                <a:latin typeface="宋体" panose="02010600030101010101" pitchFamily="2" charset="-122"/>
              </a:rPr>
              <a:t>；为被乘数的指数</a:t>
            </a:r>
            <a:r>
              <a:rPr lang="en-US" altLang="zh-CN" sz="2000" b="1">
                <a:latin typeface="宋体" panose="02010600030101010101" pitchFamily="2" charset="-122"/>
              </a:rPr>
              <a:t>e1</a:t>
            </a:r>
            <a:r>
              <a:rPr lang="zh-CN" altLang="en-US" sz="2000" b="1">
                <a:latin typeface="宋体" panose="02010600030101010101" pitchFamily="2" charset="-122"/>
              </a:rPr>
              <a:t>预留</a:t>
            </a:r>
            <a:r>
              <a:rPr lang="en-US" altLang="zh-CN" sz="2000" b="1">
                <a:latin typeface="宋体" panose="02010600030101010101" pitchFamily="2" charset="-122"/>
              </a:rPr>
              <a:t>1</a:t>
            </a:r>
            <a:r>
              <a:rPr lang="zh-CN" altLang="en-US" sz="2000" b="1">
                <a:latin typeface="宋体" panose="02010600030101010101" pitchFamily="2" charset="-122"/>
              </a:rPr>
              <a:t>个单元空间</a:t>
            </a:r>
            <a:endParaRPr lang="zh-CN" altLang="en-US" sz="2000" b="1"/>
          </a:p>
          <a:p>
            <a:pPr algn="just">
              <a:lnSpc>
                <a:spcPct val="90000"/>
              </a:lnSpc>
            </a:pPr>
            <a:r>
              <a:rPr lang="zh-CN" altLang="en-US" b="1">
                <a:latin typeface="宋体" panose="02010600030101010101" pitchFamily="2" charset="-122"/>
              </a:rPr>
              <a:t>        </a:t>
            </a:r>
            <a:r>
              <a:rPr lang="en-US" altLang="zh-CN" b="1">
                <a:latin typeface="宋体" panose="02010600030101010101" pitchFamily="2" charset="-122"/>
              </a:rPr>
              <a:t>.bss  m1,1       </a:t>
            </a:r>
            <a:r>
              <a:rPr lang="zh-CN" altLang="en-US" sz="2000" b="1">
                <a:latin typeface="宋体" panose="02010600030101010101" pitchFamily="2" charset="-122"/>
              </a:rPr>
              <a:t>；为被乘数的尾数</a:t>
            </a:r>
            <a:r>
              <a:rPr lang="en-US" altLang="zh-CN" sz="2000" b="1">
                <a:latin typeface="宋体" panose="02010600030101010101" pitchFamily="2" charset="-122"/>
              </a:rPr>
              <a:t>m1</a:t>
            </a:r>
            <a:r>
              <a:rPr lang="zh-CN" altLang="en-US" sz="2000" b="1">
                <a:latin typeface="宋体" panose="02010600030101010101" pitchFamily="2" charset="-122"/>
              </a:rPr>
              <a:t>预留</a:t>
            </a:r>
            <a:r>
              <a:rPr lang="en-US" altLang="zh-CN" sz="2000" b="1">
                <a:latin typeface="宋体" panose="02010600030101010101" pitchFamily="2" charset="-122"/>
              </a:rPr>
              <a:t>1</a:t>
            </a:r>
            <a:r>
              <a:rPr lang="zh-CN" altLang="en-US" sz="2000" b="1">
                <a:latin typeface="宋体" panose="02010600030101010101" pitchFamily="2" charset="-122"/>
              </a:rPr>
              <a:t>个单元空间</a:t>
            </a:r>
            <a:endParaRPr lang="zh-CN" altLang="en-US" sz="2000" b="1"/>
          </a:p>
          <a:p>
            <a:pPr algn="just">
              <a:lnSpc>
                <a:spcPct val="90000"/>
              </a:lnSpc>
            </a:pPr>
            <a:r>
              <a:rPr lang="zh-CN" altLang="en-US" b="1">
                <a:latin typeface="宋体" panose="02010600030101010101" pitchFamily="2" charset="-122"/>
              </a:rPr>
              <a:t>        </a:t>
            </a:r>
            <a:r>
              <a:rPr lang="en-US" altLang="zh-CN" b="1">
                <a:latin typeface="宋体" panose="02010600030101010101" pitchFamily="2" charset="-122"/>
              </a:rPr>
              <a:t>.bss  e2,1       </a:t>
            </a:r>
            <a:r>
              <a:rPr lang="zh-CN" altLang="en-US" sz="2000" b="1">
                <a:latin typeface="宋体" panose="02010600030101010101" pitchFamily="2" charset="-122"/>
              </a:rPr>
              <a:t>；为乘数的指数</a:t>
            </a:r>
            <a:r>
              <a:rPr lang="en-US" altLang="zh-CN" sz="2000" b="1">
                <a:latin typeface="宋体" panose="02010600030101010101" pitchFamily="2" charset="-122"/>
              </a:rPr>
              <a:t>e2</a:t>
            </a:r>
            <a:r>
              <a:rPr lang="zh-CN" altLang="en-US" sz="2000" b="1">
                <a:latin typeface="宋体" panose="02010600030101010101" pitchFamily="2" charset="-122"/>
              </a:rPr>
              <a:t>预留</a:t>
            </a:r>
            <a:r>
              <a:rPr lang="en-US" altLang="zh-CN" sz="2000" b="1">
                <a:latin typeface="宋体" panose="02010600030101010101" pitchFamily="2" charset="-122"/>
              </a:rPr>
              <a:t>1</a:t>
            </a:r>
            <a:r>
              <a:rPr lang="zh-CN" altLang="en-US" sz="2000" b="1">
                <a:latin typeface="宋体" panose="02010600030101010101" pitchFamily="2" charset="-122"/>
              </a:rPr>
              <a:t>个单元的空间</a:t>
            </a:r>
            <a:endParaRPr lang="zh-CN" altLang="en-US" sz="2000" b="1"/>
          </a:p>
          <a:p>
            <a:pPr algn="just">
              <a:lnSpc>
                <a:spcPct val="90000"/>
              </a:lnSpc>
            </a:pPr>
            <a:r>
              <a:rPr lang="zh-CN" altLang="en-US" b="1">
                <a:latin typeface="宋体" panose="02010600030101010101" pitchFamily="2" charset="-122"/>
              </a:rPr>
              <a:t>        </a:t>
            </a:r>
            <a:r>
              <a:rPr lang="en-US" altLang="zh-CN" b="1">
                <a:latin typeface="宋体" panose="02010600030101010101" pitchFamily="2" charset="-122"/>
              </a:rPr>
              <a:t>.bss  m2,1       </a:t>
            </a:r>
            <a:r>
              <a:rPr lang="zh-CN" altLang="en-US" sz="2000" b="1">
                <a:latin typeface="宋体" panose="02010600030101010101" pitchFamily="2" charset="-122"/>
              </a:rPr>
              <a:t>；为乘数的尾数</a:t>
            </a:r>
            <a:r>
              <a:rPr lang="en-US" altLang="zh-CN" sz="2000" b="1">
                <a:latin typeface="宋体" panose="02010600030101010101" pitchFamily="2" charset="-122"/>
              </a:rPr>
              <a:t>m2</a:t>
            </a:r>
            <a:r>
              <a:rPr lang="zh-CN" altLang="en-US" sz="2000" b="1">
                <a:latin typeface="宋体" panose="02010600030101010101" pitchFamily="2" charset="-122"/>
              </a:rPr>
              <a:t>预留</a:t>
            </a:r>
            <a:r>
              <a:rPr lang="en-US" altLang="zh-CN" sz="2000" b="1">
                <a:latin typeface="宋体" panose="02010600030101010101" pitchFamily="2" charset="-122"/>
              </a:rPr>
              <a:t>1</a:t>
            </a:r>
            <a:r>
              <a:rPr lang="zh-CN" altLang="en-US" sz="2000" b="1">
                <a:latin typeface="宋体" panose="02010600030101010101" pitchFamily="2" charset="-122"/>
              </a:rPr>
              <a:t>个单元的空间</a:t>
            </a:r>
            <a:r>
              <a:rPr lang="zh-CN" altLang="en-US" b="1">
                <a:latin typeface="宋体" panose="02010600030101010101" pitchFamily="2" charset="-122"/>
              </a:rPr>
              <a:t>   </a:t>
            </a:r>
          </a:p>
          <a:p>
            <a:pPr algn="just">
              <a:lnSpc>
                <a:spcPct val="90000"/>
              </a:lnSpc>
            </a:pPr>
            <a:r>
              <a:rPr lang="zh-CN" altLang="en-US" b="1">
                <a:latin typeface="宋体" panose="02010600030101010101" pitchFamily="2" charset="-122"/>
              </a:rPr>
              <a:t>        </a:t>
            </a:r>
            <a:r>
              <a:rPr lang="en-US" altLang="zh-CN" b="1">
                <a:latin typeface="宋体" panose="02010600030101010101" pitchFamily="2" charset="-122"/>
              </a:rPr>
              <a:t>.bss  ep,1       </a:t>
            </a:r>
            <a:r>
              <a:rPr lang="zh-CN" altLang="en-US" sz="2000" b="1">
                <a:latin typeface="宋体" panose="02010600030101010101" pitchFamily="2" charset="-122"/>
              </a:rPr>
              <a:t>；为乘积的指数</a:t>
            </a:r>
            <a:r>
              <a:rPr lang="en-US" altLang="zh-CN" sz="2000" b="1">
                <a:latin typeface="宋体" panose="02010600030101010101" pitchFamily="2" charset="-122"/>
              </a:rPr>
              <a:t>ep</a:t>
            </a:r>
            <a:r>
              <a:rPr lang="zh-CN" altLang="en-US" sz="2000" b="1">
                <a:latin typeface="宋体" panose="02010600030101010101" pitchFamily="2" charset="-122"/>
              </a:rPr>
              <a:t>预留</a:t>
            </a:r>
            <a:r>
              <a:rPr lang="en-US" altLang="zh-CN" sz="2000" b="1">
                <a:latin typeface="宋体" panose="02010600030101010101" pitchFamily="2" charset="-122"/>
              </a:rPr>
              <a:t>1</a:t>
            </a:r>
            <a:r>
              <a:rPr lang="zh-CN" altLang="en-US" sz="2000" b="1">
                <a:latin typeface="宋体" panose="02010600030101010101" pitchFamily="2" charset="-122"/>
              </a:rPr>
              <a:t>个单元的空间</a:t>
            </a:r>
            <a:endParaRPr lang="zh-CN" altLang="en-US" sz="2000" b="1"/>
          </a:p>
          <a:p>
            <a:pPr algn="just">
              <a:lnSpc>
                <a:spcPct val="90000"/>
              </a:lnSpc>
            </a:pPr>
            <a:r>
              <a:rPr lang="zh-CN" altLang="en-US" b="1"/>
              <a:t>                </a:t>
            </a:r>
            <a:r>
              <a:rPr lang="en-US" altLang="zh-CN" b="1">
                <a:latin typeface="宋体" panose="02010600030101010101" pitchFamily="2" charset="-122"/>
              </a:rPr>
              <a:t>.bss  mp,1       </a:t>
            </a:r>
            <a:r>
              <a:rPr lang="zh-CN" altLang="en-US" sz="2000" b="1">
                <a:latin typeface="宋体" panose="02010600030101010101" pitchFamily="2" charset="-122"/>
              </a:rPr>
              <a:t>；为乘积的尾数</a:t>
            </a:r>
            <a:r>
              <a:rPr lang="en-US" altLang="zh-CN" sz="2000" b="1">
                <a:latin typeface="宋体" panose="02010600030101010101" pitchFamily="2" charset="-122"/>
              </a:rPr>
              <a:t>mp</a:t>
            </a:r>
            <a:r>
              <a:rPr lang="zh-CN" altLang="en-US" sz="2000" b="1">
                <a:latin typeface="宋体" panose="02010600030101010101" pitchFamily="2" charset="-122"/>
              </a:rPr>
              <a:t>预留</a:t>
            </a:r>
            <a:r>
              <a:rPr lang="en-US" altLang="zh-CN" sz="2000" b="1">
                <a:latin typeface="宋体" panose="02010600030101010101" pitchFamily="2" charset="-122"/>
              </a:rPr>
              <a:t>1</a:t>
            </a:r>
            <a:r>
              <a:rPr lang="zh-CN" altLang="en-US" sz="2000" b="1">
                <a:latin typeface="宋体" panose="02010600030101010101" pitchFamily="2" charset="-122"/>
              </a:rPr>
              <a:t>个单元的空间</a:t>
            </a:r>
            <a:r>
              <a:rPr lang="zh-CN" altLang="en-US" b="1"/>
              <a:t> </a:t>
            </a:r>
          </a:p>
          <a:p>
            <a:pPr algn="just">
              <a:lnSpc>
                <a:spcPct val="90000"/>
              </a:lnSpc>
            </a:pPr>
            <a:r>
              <a:rPr lang="zh-CN" altLang="en-US" b="1"/>
              <a:t>                </a:t>
            </a:r>
            <a:r>
              <a:rPr lang="en-US" altLang="zh-CN" b="1">
                <a:latin typeface="宋体" panose="02010600030101010101" pitchFamily="2" charset="-122"/>
              </a:rPr>
              <a:t>.bss  product,1  </a:t>
            </a:r>
            <a:r>
              <a:rPr lang="zh-CN" altLang="en-US" b="1">
                <a:latin typeface="宋体" panose="02010600030101010101" pitchFamily="2" charset="-122"/>
              </a:rPr>
              <a:t>；为乘积留空间</a:t>
            </a:r>
            <a:endParaRPr lang="zh-CN" altLang="en-US" b="1"/>
          </a:p>
          <a:p>
            <a:pPr algn="just">
              <a:lnSpc>
                <a:spcPct val="90000"/>
              </a:lnSpc>
            </a:pPr>
            <a:r>
              <a:rPr lang="zh-CN" altLang="en-US" b="1"/>
              <a:t>                </a:t>
            </a:r>
            <a:r>
              <a:rPr lang="en-US" altLang="zh-CN" b="1">
                <a:latin typeface="宋体" panose="02010600030101010101" pitchFamily="2" charset="-122"/>
              </a:rPr>
              <a:t>.bss  temp,1     </a:t>
            </a:r>
            <a:r>
              <a:rPr lang="zh-CN" altLang="en-US" b="1">
                <a:latin typeface="宋体" panose="02010600030101010101" pitchFamily="2" charset="-122"/>
              </a:rPr>
              <a:t>；为暂存留空间</a:t>
            </a:r>
          </a:p>
        </p:txBody>
      </p:sp>
      <p:grpSp>
        <p:nvGrpSpPr>
          <p:cNvPr id="69636" name="Group 19"/>
          <p:cNvGrpSpPr>
            <a:grpSpLocks/>
          </p:cNvGrpSpPr>
          <p:nvPr/>
        </p:nvGrpSpPr>
        <p:grpSpPr bwMode="auto">
          <a:xfrm>
            <a:off x="63500" y="3213100"/>
            <a:ext cx="1835150" cy="3444875"/>
            <a:chOff x="40" y="1880"/>
            <a:chExt cx="1156" cy="2170"/>
          </a:xfrm>
        </p:grpSpPr>
        <p:sp>
          <p:nvSpPr>
            <p:cNvPr id="69637" name="Text Box 5"/>
            <p:cNvSpPr txBox="1">
              <a:spLocks noChangeArrowheads="1"/>
            </p:cNvSpPr>
            <p:nvPr/>
          </p:nvSpPr>
          <p:spPr bwMode="auto">
            <a:xfrm>
              <a:off x="40" y="1880"/>
              <a:ext cx="1156" cy="218"/>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rgbClr val="FF6600"/>
                  </a:solidFill>
                </a:rPr>
                <a:t>x1(</a:t>
              </a:r>
              <a:r>
                <a:rPr lang="zh-CN" altLang="en-US" sz="1600" b="1">
                  <a:solidFill>
                    <a:srgbClr val="FF6600"/>
                  </a:solidFill>
                </a:rPr>
                <a:t>被乘数</a:t>
              </a:r>
              <a:r>
                <a:rPr lang="en-US" altLang="zh-CN" sz="1600" b="1">
                  <a:solidFill>
                    <a:srgbClr val="FF6600"/>
                  </a:solidFill>
                </a:rPr>
                <a:t>)</a:t>
              </a:r>
            </a:p>
          </p:txBody>
        </p:sp>
        <p:sp>
          <p:nvSpPr>
            <p:cNvPr id="69638" name="Text Box 6"/>
            <p:cNvSpPr txBox="1">
              <a:spLocks noChangeArrowheads="1"/>
            </p:cNvSpPr>
            <p:nvPr/>
          </p:nvSpPr>
          <p:spPr bwMode="auto">
            <a:xfrm>
              <a:off x="40" y="2097"/>
              <a:ext cx="1156" cy="218"/>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rgbClr val="FF6600"/>
                  </a:solidFill>
                </a:rPr>
                <a:t>X2(</a:t>
              </a:r>
              <a:r>
                <a:rPr lang="zh-CN" altLang="en-US" sz="1600" b="1">
                  <a:solidFill>
                    <a:srgbClr val="FF6600"/>
                  </a:solidFill>
                </a:rPr>
                <a:t>乘数</a:t>
              </a:r>
              <a:r>
                <a:rPr lang="en-US" altLang="zh-CN" sz="1600" b="1">
                  <a:solidFill>
                    <a:srgbClr val="FF6600"/>
                  </a:solidFill>
                </a:rPr>
                <a:t>)</a:t>
              </a:r>
            </a:p>
          </p:txBody>
        </p:sp>
        <p:sp>
          <p:nvSpPr>
            <p:cNvPr id="69639" name="Text Box 7"/>
            <p:cNvSpPr txBox="1">
              <a:spLocks noChangeArrowheads="1"/>
            </p:cNvSpPr>
            <p:nvPr/>
          </p:nvSpPr>
          <p:spPr bwMode="auto">
            <a:xfrm>
              <a:off x="40" y="2309"/>
              <a:ext cx="1156" cy="218"/>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rgbClr val="660066"/>
                  </a:solidFill>
                </a:rPr>
                <a:t>e1(</a:t>
              </a:r>
              <a:r>
                <a:rPr lang="zh-CN" altLang="en-US" sz="1600" b="1">
                  <a:solidFill>
                    <a:srgbClr val="660066"/>
                  </a:solidFill>
                </a:rPr>
                <a:t>被乘数的指数</a:t>
              </a:r>
              <a:r>
                <a:rPr lang="en-US" altLang="zh-CN" sz="1600" b="1">
                  <a:solidFill>
                    <a:srgbClr val="660066"/>
                  </a:solidFill>
                </a:rPr>
                <a:t>)</a:t>
              </a:r>
            </a:p>
          </p:txBody>
        </p:sp>
        <p:sp>
          <p:nvSpPr>
            <p:cNvPr id="69640" name="Text Box 8"/>
            <p:cNvSpPr txBox="1">
              <a:spLocks noChangeArrowheads="1"/>
            </p:cNvSpPr>
            <p:nvPr/>
          </p:nvSpPr>
          <p:spPr bwMode="auto">
            <a:xfrm>
              <a:off x="40" y="2526"/>
              <a:ext cx="1156" cy="218"/>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rgbClr val="660066"/>
                  </a:solidFill>
                </a:rPr>
                <a:t>m1(</a:t>
              </a:r>
              <a:r>
                <a:rPr lang="zh-CN" altLang="en-US" sz="1600" b="1">
                  <a:solidFill>
                    <a:srgbClr val="660066"/>
                  </a:solidFill>
                </a:rPr>
                <a:t>被乘数的尾数</a:t>
              </a:r>
              <a:r>
                <a:rPr lang="en-US" altLang="zh-CN" sz="1600" b="1">
                  <a:solidFill>
                    <a:srgbClr val="660066"/>
                  </a:solidFill>
                </a:rPr>
                <a:t>)</a:t>
              </a:r>
            </a:p>
          </p:txBody>
        </p:sp>
        <p:sp>
          <p:nvSpPr>
            <p:cNvPr id="69641" name="Text Box 11"/>
            <p:cNvSpPr txBox="1">
              <a:spLocks noChangeArrowheads="1"/>
            </p:cNvSpPr>
            <p:nvPr/>
          </p:nvSpPr>
          <p:spPr bwMode="auto">
            <a:xfrm>
              <a:off x="40" y="2742"/>
              <a:ext cx="1156" cy="218"/>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chemeClr val="tx2"/>
                  </a:solidFill>
                </a:rPr>
                <a:t>e2(</a:t>
              </a:r>
              <a:r>
                <a:rPr lang="zh-CN" altLang="en-US" sz="1600" b="1">
                  <a:solidFill>
                    <a:schemeClr val="tx2"/>
                  </a:solidFill>
                </a:rPr>
                <a:t>乘数的指数</a:t>
              </a:r>
              <a:r>
                <a:rPr lang="en-US" altLang="zh-CN" sz="1600" b="1">
                  <a:solidFill>
                    <a:schemeClr val="tx2"/>
                  </a:solidFill>
                </a:rPr>
                <a:t>)</a:t>
              </a:r>
            </a:p>
          </p:txBody>
        </p:sp>
        <p:sp>
          <p:nvSpPr>
            <p:cNvPr id="69642" name="Text Box 12"/>
            <p:cNvSpPr txBox="1">
              <a:spLocks noChangeArrowheads="1"/>
            </p:cNvSpPr>
            <p:nvPr/>
          </p:nvSpPr>
          <p:spPr bwMode="auto">
            <a:xfrm>
              <a:off x="40" y="2969"/>
              <a:ext cx="1156" cy="218"/>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chemeClr val="tx2"/>
                  </a:solidFill>
                </a:rPr>
                <a:t>m2(</a:t>
              </a:r>
              <a:r>
                <a:rPr lang="zh-CN" altLang="en-US" sz="1600" b="1">
                  <a:solidFill>
                    <a:schemeClr val="tx2"/>
                  </a:solidFill>
                </a:rPr>
                <a:t>乘数的尾数</a:t>
              </a:r>
              <a:r>
                <a:rPr lang="en-US" altLang="zh-CN" sz="1600" b="1">
                  <a:solidFill>
                    <a:schemeClr val="tx2"/>
                  </a:solidFill>
                </a:rPr>
                <a:t>)</a:t>
              </a:r>
            </a:p>
          </p:txBody>
        </p:sp>
        <p:sp>
          <p:nvSpPr>
            <p:cNvPr id="69643" name="Text Box 13"/>
            <p:cNvSpPr txBox="1">
              <a:spLocks noChangeArrowheads="1"/>
            </p:cNvSpPr>
            <p:nvPr/>
          </p:nvSpPr>
          <p:spPr bwMode="auto">
            <a:xfrm>
              <a:off x="40" y="3181"/>
              <a:ext cx="1156" cy="218"/>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rgbClr val="FF00FF"/>
                  </a:solidFill>
                </a:rPr>
                <a:t>ep(</a:t>
              </a:r>
              <a:r>
                <a:rPr lang="zh-CN" altLang="en-US" sz="1600" b="1">
                  <a:solidFill>
                    <a:srgbClr val="FF00FF"/>
                  </a:solidFill>
                </a:rPr>
                <a:t>乘积的指数</a:t>
              </a:r>
              <a:r>
                <a:rPr lang="en-US" altLang="zh-CN" sz="1600" b="1">
                  <a:solidFill>
                    <a:srgbClr val="FF00FF"/>
                  </a:solidFill>
                </a:rPr>
                <a:t>)</a:t>
              </a:r>
            </a:p>
          </p:txBody>
        </p:sp>
        <p:sp>
          <p:nvSpPr>
            <p:cNvPr id="69644" name="Text Box 14"/>
            <p:cNvSpPr txBox="1">
              <a:spLocks noChangeArrowheads="1"/>
            </p:cNvSpPr>
            <p:nvPr/>
          </p:nvSpPr>
          <p:spPr bwMode="auto">
            <a:xfrm>
              <a:off x="40" y="3398"/>
              <a:ext cx="1156" cy="218"/>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rgbClr val="FF00FF"/>
                  </a:solidFill>
                </a:rPr>
                <a:t>mp(</a:t>
              </a:r>
              <a:r>
                <a:rPr lang="zh-CN" altLang="en-US" sz="1600" b="1">
                  <a:solidFill>
                    <a:srgbClr val="FF00FF"/>
                  </a:solidFill>
                </a:rPr>
                <a:t>乘积的尾数</a:t>
              </a:r>
              <a:r>
                <a:rPr lang="en-US" altLang="zh-CN" sz="1600" b="1">
                  <a:solidFill>
                    <a:srgbClr val="FF00FF"/>
                  </a:solidFill>
                </a:rPr>
                <a:t>)</a:t>
              </a:r>
            </a:p>
          </p:txBody>
        </p:sp>
        <p:sp>
          <p:nvSpPr>
            <p:cNvPr id="69645" name="Text Box 16"/>
            <p:cNvSpPr txBox="1">
              <a:spLocks noChangeArrowheads="1"/>
            </p:cNvSpPr>
            <p:nvPr/>
          </p:nvSpPr>
          <p:spPr bwMode="auto">
            <a:xfrm>
              <a:off x="40" y="3613"/>
              <a:ext cx="1156" cy="218"/>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rgbClr val="FF0000"/>
                  </a:solidFill>
                </a:rPr>
                <a:t>product(</a:t>
              </a:r>
              <a:r>
                <a:rPr lang="zh-CN" altLang="en-US" sz="1600" b="1">
                  <a:solidFill>
                    <a:srgbClr val="FF0000"/>
                  </a:solidFill>
                </a:rPr>
                <a:t>乘积</a:t>
              </a:r>
              <a:r>
                <a:rPr lang="en-US" altLang="zh-CN" sz="1600" b="1">
                  <a:solidFill>
                    <a:srgbClr val="FF0000"/>
                  </a:solidFill>
                </a:rPr>
                <a:t>)</a:t>
              </a:r>
            </a:p>
          </p:txBody>
        </p:sp>
        <p:sp>
          <p:nvSpPr>
            <p:cNvPr id="69646" name="Text Box 17"/>
            <p:cNvSpPr txBox="1">
              <a:spLocks noChangeArrowheads="1"/>
            </p:cNvSpPr>
            <p:nvPr/>
          </p:nvSpPr>
          <p:spPr bwMode="auto">
            <a:xfrm>
              <a:off x="40" y="3832"/>
              <a:ext cx="1156" cy="218"/>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600" b="1">
                  <a:solidFill>
                    <a:srgbClr val="660066"/>
                  </a:solidFill>
                </a:rPr>
                <a:t>temp(</a:t>
              </a:r>
              <a:r>
                <a:rPr lang="zh-CN" altLang="en-US" sz="1600" b="1">
                  <a:solidFill>
                    <a:srgbClr val="660066"/>
                  </a:solidFill>
                </a:rPr>
                <a:t>暂存单元</a:t>
              </a:r>
              <a:r>
                <a:rPr lang="en-US" altLang="zh-CN" sz="1600" b="1">
                  <a:solidFill>
                    <a:srgbClr val="660066"/>
                  </a:solidFill>
                </a:rPr>
                <a:t>)</a:t>
              </a:r>
            </a:p>
          </p:txBody>
        </p:sp>
      </p:grpSp>
    </p:spTree>
  </p:cSld>
  <p:clrMapOvr>
    <a:masterClrMapping/>
  </p:clrMapOvr>
  <p:transition spd="med">
    <p:pull dir="l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6D50DEB4-6468-497B-984A-C254DFF2C403}" type="slidenum">
              <a:rPr lang="en-US" altLang="zh-CN" sz="1400"/>
              <a:pPr eaLnBrk="1" hangingPunct="1"/>
              <a:t>57</a:t>
            </a:fld>
            <a:endParaRPr lang="en-US" altLang="zh-CN" sz="1400"/>
          </a:p>
        </p:txBody>
      </p:sp>
      <p:sp>
        <p:nvSpPr>
          <p:cNvPr id="837634" name="Rectangle 2"/>
          <p:cNvSpPr>
            <a:spLocks noChangeArrowheads="1"/>
          </p:cNvSpPr>
          <p:nvPr/>
        </p:nvSpPr>
        <p:spPr bwMode="auto">
          <a:xfrm>
            <a:off x="539750" y="1052513"/>
            <a:ext cx="8229600"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75000"/>
              </a:lnSpc>
              <a:spcBef>
                <a:spcPct val="10000"/>
              </a:spcBef>
            </a:pPr>
            <a:r>
              <a:rPr lang="en-US" altLang="zh-CN" b="1"/>
              <a:t>          </a:t>
            </a:r>
            <a:r>
              <a:rPr lang="en-US" altLang="zh-CN" sz="2000" b="1"/>
              <a:t>.data                                              </a:t>
            </a:r>
            <a:r>
              <a:rPr lang="zh-CN" altLang="en-US" sz="2000" b="1"/>
              <a:t>；定义数据段</a:t>
            </a:r>
          </a:p>
          <a:p>
            <a:pPr algn="just">
              <a:lnSpc>
                <a:spcPct val="75000"/>
              </a:lnSpc>
              <a:spcBef>
                <a:spcPct val="10000"/>
              </a:spcBef>
            </a:pPr>
            <a:r>
              <a:rPr lang="en-US" altLang="zh-CN" sz="2000" b="1"/>
              <a:t>table: .word      3*32768/10                     </a:t>
            </a:r>
            <a:r>
              <a:rPr lang="zh-CN" altLang="en-US" sz="2000" b="1"/>
              <a:t>；设初值 </a:t>
            </a:r>
            <a:r>
              <a:rPr lang="en-US" altLang="zh-CN" sz="2000" b="1"/>
              <a:t>0.3 </a:t>
            </a:r>
          </a:p>
          <a:p>
            <a:pPr algn="just">
              <a:lnSpc>
                <a:spcPct val="75000"/>
              </a:lnSpc>
              <a:spcBef>
                <a:spcPct val="10000"/>
              </a:spcBef>
            </a:pPr>
            <a:r>
              <a:rPr lang="en-US" altLang="zh-CN" sz="2000" b="1"/>
              <a:t>          .word      -8*32768/10                     </a:t>
            </a:r>
            <a:r>
              <a:rPr lang="zh-CN" altLang="en-US" sz="2000" b="1"/>
              <a:t>；设初值</a:t>
            </a:r>
            <a:r>
              <a:rPr lang="en-US" altLang="zh-CN" sz="2000" b="1"/>
              <a:t>-0.8</a:t>
            </a:r>
          </a:p>
          <a:p>
            <a:pPr algn="just">
              <a:lnSpc>
                <a:spcPct val="75000"/>
              </a:lnSpc>
              <a:spcBef>
                <a:spcPct val="10000"/>
              </a:spcBef>
            </a:pPr>
            <a:r>
              <a:rPr lang="en-US" altLang="zh-CN" sz="2000" b="1"/>
              <a:t>          .text                                                  </a:t>
            </a:r>
            <a:r>
              <a:rPr lang="zh-CN" altLang="en-US" sz="2000" b="1"/>
              <a:t>；定义代码段</a:t>
            </a:r>
          </a:p>
          <a:p>
            <a:pPr algn="just">
              <a:lnSpc>
                <a:spcPct val="75000"/>
              </a:lnSpc>
              <a:spcBef>
                <a:spcPct val="10000"/>
              </a:spcBef>
            </a:pPr>
            <a:r>
              <a:rPr lang="en-US" altLang="zh-CN" sz="2000" b="1"/>
              <a:t>start:  STM        #STACK+100,SP          </a:t>
            </a:r>
            <a:r>
              <a:rPr lang="zh-CN" altLang="en-US" sz="2000" b="1"/>
              <a:t>；设置堆栈指针初值</a:t>
            </a:r>
          </a:p>
          <a:p>
            <a:pPr algn="just">
              <a:lnSpc>
                <a:spcPct val="75000"/>
              </a:lnSpc>
              <a:spcBef>
                <a:spcPct val="10000"/>
              </a:spcBef>
            </a:pPr>
            <a:r>
              <a:rPr lang="zh-CN" altLang="en-US" sz="2000" b="1"/>
              <a:t>          </a:t>
            </a:r>
            <a:r>
              <a:rPr lang="en-US" altLang="zh-CN" sz="2000" b="1"/>
              <a:t>MVPD     table,@x1                       </a:t>
            </a:r>
            <a:r>
              <a:rPr lang="zh-CN" altLang="en-US" sz="2000" b="1"/>
              <a:t>；送</a:t>
            </a:r>
            <a:r>
              <a:rPr lang="en-US" altLang="zh-CN" sz="2000" b="1"/>
              <a:t>0.3</a:t>
            </a:r>
            <a:r>
              <a:rPr lang="zh-CN" altLang="en-US" sz="2000" b="1"/>
              <a:t>、</a:t>
            </a:r>
            <a:r>
              <a:rPr lang="en-US" altLang="zh-CN" sz="2000" b="1"/>
              <a:t>-0.8 </a:t>
            </a:r>
          </a:p>
          <a:p>
            <a:pPr algn="just">
              <a:lnSpc>
                <a:spcPct val="75000"/>
              </a:lnSpc>
              <a:spcBef>
                <a:spcPct val="10000"/>
              </a:spcBef>
            </a:pPr>
            <a:r>
              <a:rPr lang="en-US" altLang="zh-CN" sz="2000" b="1"/>
              <a:t>          MVPD     table+1,@x2                   </a:t>
            </a:r>
            <a:r>
              <a:rPr lang="zh-CN" altLang="en-US" sz="2000" b="1"/>
              <a:t>；至数据存储器</a:t>
            </a:r>
          </a:p>
          <a:p>
            <a:pPr algn="just">
              <a:lnSpc>
                <a:spcPct val="75000"/>
              </a:lnSpc>
              <a:spcBef>
                <a:spcPct val="10000"/>
              </a:spcBef>
            </a:pPr>
            <a:r>
              <a:rPr lang="zh-CN" altLang="en-US" sz="2000" b="1"/>
              <a:t>          </a:t>
            </a:r>
            <a:r>
              <a:rPr lang="en-US" altLang="zh-CN" sz="2000" b="1"/>
              <a:t>LD           @x1,16,A                        </a:t>
            </a:r>
            <a:r>
              <a:rPr lang="zh-CN" altLang="en-US" sz="2000" b="1"/>
              <a:t>；将</a:t>
            </a:r>
            <a:r>
              <a:rPr lang="en-US" altLang="zh-CN" sz="2000" b="1"/>
              <a:t>x1</a:t>
            </a:r>
            <a:r>
              <a:rPr lang="zh-CN" altLang="en-US" sz="2000" b="1"/>
              <a:t>送到</a:t>
            </a:r>
            <a:r>
              <a:rPr lang="en-US" altLang="zh-CN" sz="2000" b="1"/>
              <a:t>A</a:t>
            </a:r>
          </a:p>
          <a:p>
            <a:pPr algn="just">
              <a:lnSpc>
                <a:spcPct val="75000"/>
              </a:lnSpc>
              <a:spcBef>
                <a:spcPct val="10000"/>
              </a:spcBef>
            </a:pPr>
            <a:r>
              <a:rPr lang="en-US" altLang="zh-CN" b="1"/>
              <a:t>          </a:t>
            </a:r>
            <a:r>
              <a:rPr lang="en-US" altLang="zh-CN" b="1">
                <a:solidFill>
                  <a:schemeClr val="tx2"/>
                </a:solidFill>
              </a:rPr>
              <a:t>EXP         A</a:t>
            </a:r>
            <a:r>
              <a:rPr lang="en-US" altLang="zh-CN" b="1"/>
              <a:t>                          </a:t>
            </a:r>
            <a:r>
              <a:rPr lang="zh-CN" altLang="en-US" b="1"/>
              <a:t>；取</a:t>
            </a:r>
            <a:r>
              <a:rPr lang="en-US" altLang="zh-CN" b="1"/>
              <a:t>A</a:t>
            </a:r>
            <a:r>
              <a:rPr lang="zh-CN" altLang="en-US" b="1"/>
              <a:t>中指数</a:t>
            </a:r>
          </a:p>
          <a:p>
            <a:pPr algn="just">
              <a:lnSpc>
                <a:spcPct val="75000"/>
              </a:lnSpc>
              <a:spcBef>
                <a:spcPct val="10000"/>
              </a:spcBef>
            </a:pPr>
            <a:r>
              <a:rPr lang="zh-CN" altLang="en-US" b="1"/>
              <a:t>          </a:t>
            </a:r>
            <a:r>
              <a:rPr lang="en-US" altLang="zh-CN" b="1"/>
              <a:t>ST            T,@e1                  </a:t>
            </a:r>
            <a:r>
              <a:rPr lang="zh-CN" altLang="en-US" b="1"/>
              <a:t>；存指数到</a:t>
            </a:r>
            <a:r>
              <a:rPr lang="en-US" altLang="zh-CN" b="1"/>
              <a:t>e1</a:t>
            </a:r>
          </a:p>
          <a:p>
            <a:pPr algn="just">
              <a:lnSpc>
                <a:spcPct val="75000"/>
              </a:lnSpc>
              <a:spcBef>
                <a:spcPct val="10000"/>
              </a:spcBef>
            </a:pPr>
            <a:r>
              <a:rPr lang="en-US" altLang="zh-CN" b="1"/>
              <a:t>          </a:t>
            </a:r>
            <a:r>
              <a:rPr lang="en-US" altLang="zh-CN" b="1">
                <a:solidFill>
                  <a:schemeClr val="tx2"/>
                </a:solidFill>
              </a:rPr>
              <a:t>NORM     A</a:t>
            </a:r>
            <a:r>
              <a:rPr lang="en-US" altLang="zh-CN" b="1"/>
              <a:t>                          </a:t>
            </a:r>
            <a:r>
              <a:rPr lang="zh-CN" altLang="en-US" b="1"/>
              <a:t>；对</a:t>
            </a:r>
            <a:r>
              <a:rPr lang="en-US" altLang="zh-CN" b="1"/>
              <a:t>A</a:t>
            </a:r>
            <a:r>
              <a:rPr lang="zh-CN" altLang="en-US" b="1"/>
              <a:t>归一化               </a:t>
            </a:r>
          </a:p>
          <a:p>
            <a:pPr algn="just">
              <a:lnSpc>
                <a:spcPct val="75000"/>
              </a:lnSpc>
              <a:spcBef>
                <a:spcPct val="10000"/>
              </a:spcBef>
            </a:pPr>
            <a:r>
              <a:rPr lang="zh-CN" altLang="en-US" b="1"/>
              <a:t>          </a:t>
            </a:r>
            <a:r>
              <a:rPr lang="en-US" altLang="zh-CN" b="1"/>
              <a:t>STH          A,@m1               </a:t>
            </a:r>
            <a:r>
              <a:rPr lang="zh-CN" altLang="en-US" b="1"/>
              <a:t>；存尾数到</a:t>
            </a:r>
            <a:r>
              <a:rPr lang="en-US" altLang="zh-CN" b="1"/>
              <a:t>m1</a:t>
            </a:r>
          </a:p>
          <a:p>
            <a:pPr algn="just">
              <a:lnSpc>
                <a:spcPct val="75000"/>
              </a:lnSpc>
              <a:spcBef>
                <a:spcPct val="10000"/>
              </a:spcBef>
            </a:pPr>
            <a:r>
              <a:rPr lang="en-US" altLang="zh-CN" b="1"/>
              <a:t>          LD            @x2,16,A            </a:t>
            </a:r>
            <a:r>
              <a:rPr lang="zh-CN" altLang="en-US" b="1"/>
              <a:t>；将</a:t>
            </a:r>
            <a:r>
              <a:rPr lang="en-US" altLang="zh-CN" b="1"/>
              <a:t>x2</a:t>
            </a:r>
            <a:r>
              <a:rPr lang="zh-CN" altLang="en-US" b="1"/>
              <a:t>送到</a:t>
            </a:r>
            <a:r>
              <a:rPr lang="en-US" altLang="zh-CN" b="1"/>
              <a:t>A   </a:t>
            </a:r>
          </a:p>
          <a:p>
            <a:pPr algn="just">
              <a:lnSpc>
                <a:spcPct val="75000"/>
              </a:lnSpc>
              <a:spcBef>
                <a:spcPct val="10000"/>
              </a:spcBef>
            </a:pPr>
            <a:r>
              <a:rPr lang="en-US" altLang="zh-CN" b="1"/>
              <a:t>          </a:t>
            </a:r>
            <a:r>
              <a:rPr lang="en-US" altLang="zh-CN" b="1">
                <a:solidFill>
                  <a:srgbClr val="FF00FF"/>
                </a:solidFill>
              </a:rPr>
              <a:t>EXP          A</a:t>
            </a:r>
            <a:r>
              <a:rPr lang="en-US" altLang="zh-CN" b="1"/>
              <a:t>                          </a:t>
            </a:r>
            <a:r>
              <a:rPr lang="zh-CN" altLang="en-US" b="1"/>
              <a:t>；提取</a:t>
            </a:r>
            <a:r>
              <a:rPr lang="en-US" altLang="zh-CN" b="1"/>
              <a:t>A</a:t>
            </a:r>
            <a:r>
              <a:rPr lang="zh-CN" altLang="en-US" b="1"/>
              <a:t>中指数，放入</a:t>
            </a:r>
            <a:r>
              <a:rPr lang="en-US" altLang="zh-CN" b="1"/>
              <a:t>T</a:t>
            </a:r>
          </a:p>
          <a:p>
            <a:pPr algn="just">
              <a:lnSpc>
                <a:spcPct val="75000"/>
              </a:lnSpc>
              <a:spcBef>
                <a:spcPct val="10000"/>
              </a:spcBef>
            </a:pPr>
            <a:r>
              <a:rPr lang="en-US" altLang="zh-CN" b="1"/>
              <a:t>          ST             T,@e2                  </a:t>
            </a:r>
            <a:r>
              <a:rPr lang="zh-CN" altLang="en-US" b="1"/>
              <a:t>；保存</a:t>
            </a:r>
            <a:r>
              <a:rPr lang="en-US" altLang="zh-CN" b="1"/>
              <a:t>x2</a:t>
            </a:r>
            <a:r>
              <a:rPr lang="zh-CN" altLang="en-US" b="1"/>
              <a:t>的指数到</a:t>
            </a:r>
            <a:r>
              <a:rPr lang="en-US" altLang="zh-CN" b="1"/>
              <a:t>e2</a:t>
            </a:r>
          </a:p>
          <a:p>
            <a:pPr algn="just">
              <a:lnSpc>
                <a:spcPct val="75000"/>
              </a:lnSpc>
              <a:spcBef>
                <a:spcPct val="10000"/>
              </a:spcBef>
            </a:pPr>
            <a:r>
              <a:rPr lang="en-US" altLang="zh-CN" b="1">
                <a:solidFill>
                  <a:srgbClr val="FF00FF"/>
                </a:solidFill>
              </a:rPr>
              <a:t>          NORM      A</a:t>
            </a:r>
            <a:r>
              <a:rPr lang="en-US" altLang="zh-CN" b="1"/>
              <a:t>                         </a:t>
            </a:r>
            <a:r>
              <a:rPr lang="zh-CN" altLang="en-US" b="1"/>
              <a:t>；对累加器</a:t>
            </a:r>
            <a:r>
              <a:rPr lang="en-US" altLang="zh-CN" b="1"/>
              <a:t>A</a:t>
            </a:r>
            <a:r>
              <a:rPr lang="zh-CN" altLang="en-US" b="1"/>
              <a:t>归一化</a:t>
            </a:r>
          </a:p>
          <a:p>
            <a:pPr algn="just">
              <a:lnSpc>
                <a:spcPct val="75000"/>
              </a:lnSpc>
              <a:spcBef>
                <a:spcPct val="10000"/>
              </a:spcBef>
            </a:pPr>
            <a:r>
              <a:rPr lang="zh-CN" altLang="en-US" b="1"/>
              <a:t>　　  </a:t>
            </a:r>
            <a:r>
              <a:rPr lang="en-US" altLang="zh-CN" b="1"/>
              <a:t>STH          A,@m2                </a:t>
            </a:r>
            <a:r>
              <a:rPr lang="zh-CN" altLang="en-US" b="1"/>
              <a:t>；保存</a:t>
            </a:r>
            <a:r>
              <a:rPr lang="en-US" altLang="zh-CN" b="1"/>
              <a:t>x2</a:t>
            </a:r>
            <a:r>
              <a:rPr lang="zh-CN" altLang="en-US" b="1"/>
              <a:t>的尾数到</a:t>
            </a:r>
            <a:r>
              <a:rPr lang="en-US" altLang="zh-CN" b="1"/>
              <a:t>m2</a:t>
            </a:r>
          </a:p>
          <a:p>
            <a:pPr algn="just">
              <a:lnSpc>
                <a:spcPct val="75000"/>
              </a:lnSpc>
              <a:spcBef>
                <a:spcPct val="10000"/>
              </a:spcBef>
            </a:pPr>
            <a:r>
              <a:rPr lang="en-US" altLang="zh-CN" b="1"/>
              <a:t>          CALL       MULT                 </a:t>
            </a:r>
            <a:r>
              <a:rPr lang="zh-CN" altLang="en-US" b="1"/>
              <a:t>；调用浮点乘法子程序 </a:t>
            </a:r>
          </a:p>
          <a:p>
            <a:pPr algn="just">
              <a:lnSpc>
                <a:spcPct val="75000"/>
              </a:lnSpc>
              <a:spcBef>
                <a:spcPct val="10000"/>
              </a:spcBef>
            </a:pPr>
            <a:r>
              <a:rPr lang="en-US" altLang="zh-CN" b="1"/>
              <a:t>end:   B               end                       </a:t>
            </a:r>
            <a:r>
              <a:rPr lang="zh-CN" altLang="en-US" b="1"/>
              <a:t>；循环等待 </a:t>
            </a:r>
          </a:p>
        </p:txBody>
      </p:sp>
      <p:sp>
        <p:nvSpPr>
          <p:cNvPr id="70660" name="AutoShape 4"/>
          <p:cNvSpPr>
            <a:spLocks/>
          </p:cNvSpPr>
          <p:nvPr/>
        </p:nvSpPr>
        <p:spPr bwMode="auto">
          <a:xfrm>
            <a:off x="1171575" y="3276600"/>
            <a:ext cx="231775" cy="762000"/>
          </a:xfrm>
          <a:prstGeom prst="leftBrace">
            <a:avLst>
              <a:gd name="adj1" fmla="val 27397"/>
              <a:gd name="adj2" fmla="val 50000"/>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3200" b="1">
              <a:solidFill>
                <a:schemeClr val="accent2"/>
              </a:solidFill>
            </a:endParaRPr>
          </a:p>
        </p:txBody>
      </p:sp>
      <p:sp>
        <p:nvSpPr>
          <p:cNvPr id="70661" name="Rectangle 5"/>
          <p:cNvSpPr>
            <a:spLocks noChangeArrowheads="1"/>
          </p:cNvSpPr>
          <p:nvPr/>
        </p:nvSpPr>
        <p:spPr bwMode="auto">
          <a:xfrm>
            <a:off x="250825" y="3068638"/>
            <a:ext cx="10763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chemeClr val="tx2"/>
                </a:solidFill>
              </a:rPr>
              <a:t>得</a:t>
            </a:r>
            <a:r>
              <a:rPr lang="en-US" altLang="zh-CN" b="1">
                <a:solidFill>
                  <a:schemeClr val="tx2"/>
                </a:solidFill>
              </a:rPr>
              <a:t>0.3</a:t>
            </a:r>
          </a:p>
          <a:p>
            <a:pPr eaLnBrk="1" hangingPunct="1"/>
            <a:r>
              <a:rPr lang="zh-CN" altLang="en-US" b="1">
                <a:solidFill>
                  <a:schemeClr val="tx2"/>
                </a:solidFill>
              </a:rPr>
              <a:t>的浮</a:t>
            </a:r>
          </a:p>
          <a:p>
            <a:pPr eaLnBrk="1" hangingPunct="1"/>
            <a:r>
              <a:rPr lang="zh-CN" altLang="en-US" b="1">
                <a:solidFill>
                  <a:schemeClr val="tx2"/>
                </a:solidFill>
              </a:rPr>
              <a:t>点数</a:t>
            </a:r>
          </a:p>
        </p:txBody>
      </p:sp>
      <p:grpSp>
        <p:nvGrpSpPr>
          <p:cNvPr id="2" name="Group 6"/>
          <p:cNvGrpSpPr>
            <a:grpSpLocks/>
          </p:cNvGrpSpPr>
          <p:nvPr/>
        </p:nvGrpSpPr>
        <p:grpSpPr bwMode="auto">
          <a:xfrm>
            <a:off x="179388" y="4652963"/>
            <a:ext cx="1247775" cy="1187450"/>
            <a:chOff x="144" y="2928"/>
            <a:chExt cx="672" cy="748"/>
          </a:xfrm>
        </p:grpSpPr>
        <p:sp>
          <p:nvSpPr>
            <p:cNvPr id="70664" name="AutoShape 7"/>
            <p:cNvSpPr>
              <a:spLocks/>
            </p:cNvSpPr>
            <p:nvPr/>
          </p:nvSpPr>
          <p:spPr bwMode="auto">
            <a:xfrm>
              <a:off x="624" y="3072"/>
              <a:ext cx="192" cy="480"/>
            </a:xfrm>
            <a:prstGeom prst="leftBrace">
              <a:avLst>
                <a:gd name="adj1" fmla="val 20833"/>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3200" b="1">
                <a:solidFill>
                  <a:schemeClr val="accent2"/>
                </a:solidFill>
              </a:endParaRPr>
            </a:p>
          </p:txBody>
        </p:sp>
        <p:sp>
          <p:nvSpPr>
            <p:cNvPr id="70665" name="Rectangle 8"/>
            <p:cNvSpPr>
              <a:spLocks noChangeArrowheads="1"/>
            </p:cNvSpPr>
            <p:nvPr/>
          </p:nvSpPr>
          <p:spPr bwMode="auto">
            <a:xfrm>
              <a:off x="144" y="2928"/>
              <a:ext cx="576"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FF"/>
                  </a:solidFill>
                </a:rPr>
                <a:t>-0.8</a:t>
              </a:r>
            </a:p>
            <a:p>
              <a:pPr eaLnBrk="1" hangingPunct="1"/>
              <a:r>
                <a:rPr lang="zh-CN" altLang="en-US" b="1">
                  <a:solidFill>
                    <a:srgbClr val="FF00FF"/>
                  </a:solidFill>
                </a:rPr>
                <a:t>的浮</a:t>
              </a:r>
            </a:p>
            <a:p>
              <a:pPr eaLnBrk="1" hangingPunct="1"/>
              <a:r>
                <a:rPr lang="zh-CN" altLang="en-US" b="1">
                  <a:solidFill>
                    <a:srgbClr val="FF00FF"/>
                  </a:solidFill>
                </a:rPr>
                <a:t>点数</a:t>
              </a:r>
            </a:p>
          </p:txBody>
        </p:sp>
      </p:grpSp>
      <p:sp>
        <p:nvSpPr>
          <p:cNvPr id="70663" name="AutoShape 9"/>
          <p:cNvSpPr>
            <a:spLocks/>
          </p:cNvSpPr>
          <p:nvPr/>
        </p:nvSpPr>
        <p:spPr bwMode="auto">
          <a:xfrm>
            <a:off x="971550" y="4868863"/>
            <a:ext cx="376238" cy="762000"/>
          </a:xfrm>
          <a:prstGeom prst="leftBrace">
            <a:avLst>
              <a:gd name="adj1" fmla="val 16878"/>
              <a:gd name="adj2" fmla="val 50000"/>
            </a:avLst>
          </a:prstGeom>
          <a:noFill/>
          <a:ln w="381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3200" b="1">
              <a:solidFill>
                <a:srgbClr val="FF00FF"/>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37634"/>
                                        </p:tgtEl>
                                        <p:attrNameLst>
                                          <p:attrName>style.visibility</p:attrName>
                                        </p:attrNameLst>
                                      </p:cBhvr>
                                      <p:to>
                                        <p:strVal val="visible"/>
                                      </p:to>
                                    </p:set>
                                    <p:animEffect transition="in" filter="blinds(horizontal)">
                                      <p:cBhvr>
                                        <p:cTn id="7" dur="500"/>
                                        <p:tgtEl>
                                          <p:spTgt spid="837634"/>
                                        </p:tgtEl>
                                      </p:cBhvr>
                                    </p:animEffect>
                                  </p:childTnLst>
                                </p:cTn>
                              </p:par>
                            </p:childTnLst>
                          </p:cTn>
                        </p:par>
                        <p:par>
                          <p:cTn id="8" fill="hold" nodeType="afterGroup">
                            <p:stCondLst>
                              <p:cond delay="500"/>
                            </p:stCondLst>
                            <p:childTnLst>
                              <p:par>
                                <p:cTn id="9" presetID="2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3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F69E5C5-E9EB-4133-8072-98C171ABE62A}" type="slidenum">
              <a:rPr lang="en-US" altLang="zh-CN" sz="1400"/>
              <a:pPr eaLnBrk="1" hangingPunct="1"/>
              <a:t>58</a:t>
            </a:fld>
            <a:endParaRPr lang="en-US" altLang="zh-CN" sz="1400"/>
          </a:p>
        </p:txBody>
      </p:sp>
      <p:sp>
        <p:nvSpPr>
          <p:cNvPr id="838658" name="Rectangle 2"/>
          <p:cNvSpPr>
            <a:spLocks noChangeArrowheads="1"/>
          </p:cNvSpPr>
          <p:nvPr/>
        </p:nvSpPr>
        <p:spPr bwMode="auto">
          <a:xfrm>
            <a:off x="250825" y="1066800"/>
            <a:ext cx="8664575" cy="534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5000"/>
              </a:lnSpc>
              <a:spcBef>
                <a:spcPct val="10000"/>
              </a:spcBef>
            </a:pPr>
            <a:r>
              <a:rPr lang="en-US" altLang="zh-CN" b="1"/>
              <a:t>MULT: </a:t>
            </a:r>
            <a:r>
              <a:rPr lang="en-US" altLang="zh-CN" b="1">
                <a:solidFill>
                  <a:schemeClr val="tx2"/>
                </a:solidFill>
              </a:rPr>
              <a:t>SSBX  FRCT</a:t>
            </a:r>
            <a:r>
              <a:rPr lang="en-US" altLang="zh-CN" b="1"/>
              <a:t>       </a:t>
            </a:r>
            <a:r>
              <a:rPr lang="zh-CN" altLang="en-US" b="1"/>
              <a:t>；设置小数乘法运算</a:t>
            </a:r>
          </a:p>
          <a:p>
            <a:pPr algn="just">
              <a:lnSpc>
                <a:spcPct val="75000"/>
              </a:lnSpc>
              <a:spcBef>
                <a:spcPct val="10000"/>
              </a:spcBef>
            </a:pPr>
            <a:r>
              <a:rPr lang="zh-CN" altLang="en-US" b="1"/>
              <a:t>            </a:t>
            </a:r>
            <a:r>
              <a:rPr lang="en-US" altLang="zh-CN" b="1">
                <a:solidFill>
                  <a:srgbClr val="FF0000"/>
                </a:solidFill>
              </a:rPr>
              <a:t>SSBX    SXM</a:t>
            </a:r>
            <a:r>
              <a:rPr lang="en-US" altLang="zh-CN" b="1"/>
              <a:t>         </a:t>
            </a:r>
            <a:r>
              <a:rPr lang="zh-CN" altLang="en-US" b="1"/>
              <a:t>；数据进入</a:t>
            </a:r>
            <a:r>
              <a:rPr lang="en-US" altLang="zh-CN" b="1"/>
              <a:t>ALU</a:t>
            </a:r>
            <a:r>
              <a:rPr lang="zh-CN" altLang="en-US" b="1"/>
              <a:t>之前进行符号位扩展</a:t>
            </a:r>
          </a:p>
          <a:p>
            <a:pPr algn="just">
              <a:lnSpc>
                <a:spcPct val="75000"/>
              </a:lnSpc>
              <a:spcBef>
                <a:spcPct val="10000"/>
              </a:spcBef>
            </a:pPr>
            <a:r>
              <a:rPr lang="zh-CN" altLang="en-US" b="1"/>
              <a:t>            </a:t>
            </a:r>
            <a:r>
              <a:rPr lang="en-US" altLang="zh-CN" b="1"/>
              <a:t>LD        @e1,A       </a:t>
            </a:r>
            <a:r>
              <a:rPr lang="zh-CN" altLang="en-US" b="1"/>
              <a:t>；</a:t>
            </a:r>
            <a:r>
              <a:rPr lang="en-US" altLang="zh-CN" b="1"/>
              <a:t>x1</a:t>
            </a:r>
            <a:r>
              <a:rPr lang="zh-CN" altLang="en-US" b="1"/>
              <a:t>指数送</a:t>
            </a:r>
            <a:r>
              <a:rPr lang="en-US" altLang="zh-CN" b="1"/>
              <a:t>A</a:t>
            </a:r>
          </a:p>
          <a:p>
            <a:pPr algn="just">
              <a:lnSpc>
                <a:spcPct val="75000"/>
              </a:lnSpc>
              <a:spcBef>
                <a:spcPct val="10000"/>
              </a:spcBef>
            </a:pPr>
            <a:r>
              <a:rPr lang="en-US" altLang="zh-CN" b="1"/>
              <a:t>            ADD     @e2,A       </a:t>
            </a:r>
            <a:r>
              <a:rPr lang="zh-CN" altLang="en-US" b="1"/>
              <a:t>；</a:t>
            </a:r>
            <a:r>
              <a:rPr lang="en-US" altLang="zh-CN" b="1"/>
              <a:t>x2</a:t>
            </a:r>
            <a:r>
              <a:rPr lang="zh-CN" altLang="en-US" b="1"/>
              <a:t>与</a:t>
            </a:r>
            <a:r>
              <a:rPr lang="en-US" altLang="zh-CN" b="1"/>
              <a:t>x1</a:t>
            </a:r>
            <a:r>
              <a:rPr lang="zh-CN" altLang="en-US" b="1"/>
              <a:t>指数相加</a:t>
            </a:r>
          </a:p>
          <a:p>
            <a:pPr algn="just">
              <a:lnSpc>
                <a:spcPct val="75000"/>
              </a:lnSpc>
              <a:spcBef>
                <a:spcPct val="10000"/>
              </a:spcBef>
            </a:pPr>
            <a:r>
              <a:rPr lang="zh-CN" altLang="en-US" b="1"/>
              <a:t>            </a:t>
            </a:r>
            <a:r>
              <a:rPr lang="en-US" altLang="zh-CN" b="1"/>
              <a:t>STL       A,@ep       </a:t>
            </a:r>
            <a:r>
              <a:rPr lang="zh-CN" altLang="en-US" b="1"/>
              <a:t>；乘积指数存入</a:t>
            </a:r>
            <a:r>
              <a:rPr lang="en-US" altLang="zh-CN" b="1"/>
              <a:t>ep</a:t>
            </a:r>
          </a:p>
          <a:p>
            <a:pPr algn="just">
              <a:lnSpc>
                <a:spcPct val="75000"/>
              </a:lnSpc>
              <a:spcBef>
                <a:spcPct val="10000"/>
              </a:spcBef>
            </a:pPr>
            <a:r>
              <a:rPr lang="en-US" altLang="zh-CN" b="1"/>
              <a:t>            LD        @m1,T       </a:t>
            </a:r>
            <a:r>
              <a:rPr lang="zh-CN" altLang="en-US" b="1"/>
              <a:t>；</a:t>
            </a:r>
            <a:r>
              <a:rPr lang="en-US" altLang="zh-CN" b="1"/>
              <a:t>x1</a:t>
            </a:r>
            <a:r>
              <a:rPr lang="zh-CN" altLang="en-US" b="1"/>
              <a:t>尾数送</a:t>
            </a:r>
            <a:r>
              <a:rPr lang="en-US" altLang="zh-CN" b="1"/>
              <a:t>T</a:t>
            </a:r>
          </a:p>
          <a:p>
            <a:pPr algn="just">
              <a:lnSpc>
                <a:spcPct val="75000"/>
              </a:lnSpc>
              <a:spcBef>
                <a:spcPct val="10000"/>
              </a:spcBef>
            </a:pPr>
            <a:r>
              <a:rPr lang="en-US" altLang="zh-CN" b="1"/>
              <a:t>            MPY     @m2,A      </a:t>
            </a:r>
            <a:r>
              <a:rPr lang="zh-CN" altLang="en-US" b="1"/>
              <a:t>；</a:t>
            </a:r>
            <a:r>
              <a:rPr lang="en-US" altLang="zh-CN" b="1"/>
              <a:t>x1</a:t>
            </a:r>
            <a:r>
              <a:rPr lang="zh-CN" altLang="en-US" b="1"/>
              <a:t>与</a:t>
            </a:r>
            <a:r>
              <a:rPr lang="en-US" altLang="zh-CN" b="1"/>
              <a:t>x1</a:t>
            </a:r>
            <a:r>
              <a:rPr lang="zh-CN" altLang="en-US" b="1"/>
              <a:t>尾数相乘，结果在</a:t>
            </a:r>
            <a:r>
              <a:rPr lang="en-US" altLang="zh-CN" b="1"/>
              <a:t>A</a:t>
            </a:r>
            <a:r>
              <a:rPr lang="zh-CN" altLang="en-US" b="1"/>
              <a:t>中</a:t>
            </a:r>
          </a:p>
          <a:p>
            <a:pPr algn="just">
              <a:lnSpc>
                <a:spcPct val="75000"/>
              </a:lnSpc>
              <a:spcBef>
                <a:spcPct val="10000"/>
              </a:spcBef>
            </a:pPr>
            <a:r>
              <a:rPr lang="zh-CN" altLang="en-US" b="1"/>
              <a:t>            </a:t>
            </a:r>
            <a:r>
              <a:rPr lang="en-US" altLang="zh-CN" b="1">
                <a:solidFill>
                  <a:schemeClr val="tx2"/>
                </a:solidFill>
              </a:rPr>
              <a:t>EXP      A</a:t>
            </a:r>
            <a:r>
              <a:rPr lang="en-US" altLang="zh-CN" b="1"/>
              <a:t>                </a:t>
            </a:r>
            <a:r>
              <a:rPr lang="zh-CN" altLang="en-US" b="1"/>
              <a:t>；提取</a:t>
            </a:r>
            <a:r>
              <a:rPr lang="en-US" altLang="zh-CN" b="1"/>
              <a:t>A</a:t>
            </a:r>
            <a:r>
              <a:rPr lang="zh-CN" altLang="en-US" b="1"/>
              <a:t>中指数，放入</a:t>
            </a:r>
            <a:r>
              <a:rPr lang="en-US" altLang="zh-CN" b="1"/>
              <a:t>T</a:t>
            </a:r>
          </a:p>
          <a:p>
            <a:pPr algn="just">
              <a:lnSpc>
                <a:spcPct val="75000"/>
              </a:lnSpc>
              <a:spcBef>
                <a:spcPct val="10000"/>
              </a:spcBef>
            </a:pPr>
            <a:r>
              <a:rPr lang="en-US" altLang="zh-CN" b="1"/>
              <a:t>            ST         T,@temp   </a:t>
            </a:r>
            <a:r>
              <a:rPr lang="zh-CN" altLang="en-US" b="1"/>
              <a:t>；尾数乘积中提取的指数存入</a:t>
            </a:r>
            <a:r>
              <a:rPr lang="en-US" altLang="zh-CN" b="1"/>
              <a:t>temp</a:t>
            </a:r>
          </a:p>
          <a:p>
            <a:pPr algn="just">
              <a:lnSpc>
                <a:spcPct val="75000"/>
              </a:lnSpc>
              <a:spcBef>
                <a:spcPct val="10000"/>
              </a:spcBef>
            </a:pPr>
            <a:r>
              <a:rPr lang="en-US" altLang="zh-CN" b="1"/>
              <a:t>            </a:t>
            </a:r>
            <a:r>
              <a:rPr lang="en-US" altLang="zh-CN" b="1">
                <a:solidFill>
                  <a:schemeClr val="tx2"/>
                </a:solidFill>
              </a:rPr>
              <a:t>NORM A</a:t>
            </a:r>
            <a:r>
              <a:rPr lang="en-US" altLang="zh-CN" b="1"/>
              <a:t>                </a:t>
            </a:r>
            <a:r>
              <a:rPr lang="zh-CN" altLang="en-US" b="1"/>
              <a:t>；对累加器</a:t>
            </a:r>
            <a:r>
              <a:rPr lang="en-US" altLang="zh-CN" b="1"/>
              <a:t>A</a:t>
            </a:r>
            <a:r>
              <a:rPr lang="zh-CN" altLang="en-US" b="1"/>
              <a:t>进行归一化处理              </a:t>
            </a:r>
          </a:p>
          <a:p>
            <a:pPr algn="just">
              <a:lnSpc>
                <a:spcPct val="75000"/>
              </a:lnSpc>
              <a:spcBef>
                <a:spcPct val="10000"/>
              </a:spcBef>
            </a:pPr>
            <a:r>
              <a:rPr lang="zh-CN" altLang="en-US" b="1"/>
              <a:t>            </a:t>
            </a:r>
            <a:r>
              <a:rPr lang="en-US" altLang="zh-CN" b="1"/>
              <a:t>STH      A,@mp      </a:t>
            </a:r>
            <a:r>
              <a:rPr lang="zh-CN" altLang="en-US" b="1"/>
              <a:t>；保存提取指数后的尾数在</a:t>
            </a:r>
            <a:r>
              <a:rPr lang="en-US" altLang="zh-CN" b="1"/>
              <a:t>mp</a:t>
            </a:r>
            <a:r>
              <a:rPr lang="zh-CN" altLang="en-US" b="1"/>
              <a:t>中</a:t>
            </a:r>
          </a:p>
          <a:p>
            <a:pPr algn="just">
              <a:lnSpc>
                <a:spcPct val="75000"/>
              </a:lnSpc>
              <a:spcBef>
                <a:spcPct val="10000"/>
              </a:spcBef>
            </a:pPr>
            <a:r>
              <a:rPr lang="zh-CN" altLang="en-US" b="1"/>
              <a:t>            </a:t>
            </a:r>
            <a:r>
              <a:rPr lang="en-US" altLang="zh-CN" b="1"/>
              <a:t>LD        @temp,A   </a:t>
            </a:r>
            <a:r>
              <a:rPr lang="zh-CN" altLang="en-US" b="1"/>
              <a:t>；修正乘积指数，尾数乘积指数送</a:t>
            </a:r>
            <a:r>
              <a:rPr lang="en-US" altLang="zh-CN" b="1"/>
              <a:t>A</a:t>
            </a:r>
          </a:p>
          <a:p>
            <a:pPr algn="just">
              <a:lnSpc>
                <a:spcPct val="75000"/>
              </a:lnSpc>
              <a:spcBef>
                <a:spcPct val="10000"/>
              </a:spcBef>
            </a:pPr>
            <a:r>
              <a:rPr lang="en-US" altLang="zh-CN" b="1"/>
              <a:t>            ADD     @ep,A       </a:t>
            </a:r>
            <a:r>
              <a:rPr lang="zh-CN" altLang="en-US" b="1"/>
              <a:t>；（</a:t>
            </a:r>
            <a:r>
              <a:rPr lang="en-US" altLang="zh-CN" b="1"/>
              <a:t>ep</a:t>
            </a:r>
            <a:r>
              <a:rPr lang="zh-CN" altLang="en-US" b="1"/>
              <a:t>）</a:t>
            </a:r>
            <a:r>
              <a:rPr lang="en-US" altLang="zh-CN" b="1"/>
              <a:t>+</a:t>
            </a:r>
            <a:r>
              <a:rPr lang="zh-CN" altLang="en-US" b="1"/>
              <a:t>（</a:t>
            </a:r>
            <a:r>
              <a:rPr lang="en-US" altLang="zh-CN" b="1"/>
              <a:t>temp</a:t>
            </a:r>
            <a:r>
              <a:rPr lang="zh-CN" altLang="en-US" b="1"/>
              <a:t>）</a:t>
            </a:r>
          </a:p>
          <a:p>
            <a:pPr algn="just">
              <a:lnSpc>
                <a:spcPct val="75000"/>
              </a:lnSpc>
              <a:spcBef>
                <a:spcPct val="10000"/>
              </a:spcBef>
            </a:pPr>
            <a:r>
              <a:rPr lang="zh-CN" altLang="en-US" b="1"/>
              <a:t>            </a:t>
            </a:r>
            <a:r>
              <a:rPr lang="en-US" altLang="zh-CN" b="1"/>
              <a:t>STL       A,@ep       </a:t>
            </a:r>
            <a:r>
              <a:rPr lang="zh-CN" altLang="en-US" b="1"/>
              <a:t>；保存乘积指数在</a:t>
            </a:r>
            <a:r>
              <a:rPr lang="en-US" altLang="zh-CN" b="1"/>
              <a:t>ep</a:t>
            </a:r>
            <a:r>
              <a:rPr lang="zh-CN" altLang="en-US" b="1"/>
              <a:t>中</a:t>
            </a:r>
          </a:p>
          <a:p>
            <a:pPr algn="just">
              <a:lnSpc>
                <a:spcPct val="75000"/>
              </a:lnSpc>
              <a:spcBef>
                <a:spcPct val="10000"/>
              </a:spcBef>
            </a:pPr>
            <a:r>
              <a:rPr lang="zh-CN" altLang="en-US" b="1"/>
              <a:t>            </a:t>
            </a:r>
            <a:r>
              <a:rPr lang="en-US" altLang="zh-CN" b="1">
                <a:solidFill>
                  <a:srgbClr val="FF00FF"/>
                </a:solidFill>
              </a:rPr>
              <a:t>NEG      A</a:t>
            </a:r>
            <a:r>
              <a:rPr lang="en-US" altLang="zh-CN" b="1"/>
              <a:t>               </a:t>
            </a:r>
            <a:r>
              <a:rPr lang="zh-CN" altLang="en-US" b="1"/>
              <a:t>；将浮点数乘积转换成定点数</a:t>
            </a:r>
          </a:p>
          <a:p>
            <a:pPr algn="just">
              <a:lnSpc>
                <a:spcPct val="75000"/>
              </a:lnSpc>
              <a:spcBef>
                <a:spcPct val="10000"/>
              </a:spcBef>
            </a:pPr>
            <a:r>
              <a:rPr lang="zh-CN" altLang="en-US" b="1"/>
              <a:t>            </a:t>
            </a:r>
            <a:r>
              <a:rPr lang="en-US" altLang="zh-CN" b="1"/>
              <a:t>STL       A,@temp   </a:t>
            </a:r>
            <a:r>
              <a:rPr lang="zh-CN" altLang="en-US" b="1"/>
              <a:t>；乘积指数反号后存入</a:t>
            </a:r>
            <a:r>
              <a:rPr lang="en-US" altLang="zh-CN" b="1"/>
              <a:t>temp </a:t>
            </a:r>
          </a:p>
          <a:p>
            <a:pPr algn="just">
              <a:lnSpc>
                <a:spcPct val="75000"/>
              </a:lnSpc>
              <a:spcBef>
                <a:spcPct val="10000"/>
              </a:spcBef>
            </a:pPr>
            <a:r>
              <a:rPr lang="en-US" altLang="zh-CN" b="1"/>
              <a:t>            LD         @temp,T   </a:t>
            </a:r>
            <a:r>
              <a:rPr lang="zh-CN" altLang="en-US" b="1"/>
              <a:t>；并加载到</a:t>
            </a:r>
            <a:r>
              <a:rPr lang="en-US" altLang="zh-CN" b="1"/>
              <a:t>T</a:t>
            </a:r>
            <a:r>
              <a:rPr lang="zh-CN" altLang="en-US" b="1"/>
              <a:t>寄存器</a:t>
            </a:r>
          </a:p>
        </p:txBody>
      </p:sp>
      <p:grpSp>
        <p:nvGrpSpPr>
          <p:cNvPr id="2" name="Group 3"/>
          <p:cNvGrpSpPr>
            <a:grpSpLocks/>
          </p:cNvGrpSpPr>
          <p:nvPr/>
        </p:nvGrpSpPr>
        <p:grpSpPr bwMode="auto">
          <a:xfrm>
            <a:off x="228600" y="2971800"/>
            <a:ext cx="914400" cy="1616075"/>
            <a:chOff x="144" y="1872"/>
            <a:chExt cx="576" cy="1018"/>
          </a:xfrm>
        </p:grpSpPr>
        <p:sp>
          <p:nvSpPr>
            <p:cNvPr id="71685" name="Rectangle 4"/>
            <p:cNvSpPr>
              <a:spLocks noChangeArrowheads="1"/>
            </p:cNvSpPr>
            <p:nvPr/>
          </p:nvSpPr>
          <p:spPr bwMode="auto">
            <a:xfrm>
              <a:off x="144" y="1872"/>
              <a:ext cx="54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t>对积求指数并归一化</a:t>
              </a:r>
            </a:p>
          </p:txBody>
        </p:sp>
        <p:sp>
          <p:nvSpPr>
            <p:cNvPr id="71686" name="AutoShape 5"/>
            <p:cNvSpPr>
              <a:spLocks/>
            </p:cNvSpPr>
            <p:nvPr/>
          </p:nvSpPr>
          <p:spPr bwMode="auto">
            <a:xfrm>
              <a:off x="528" y="2160"/>
              <a:ext cx="192" cy="480"/>
            </a:xfrm>
            <a:prstGeom prst="leftBrace">
              <a:avLst>
                <a:gd name="adj1" fmla="val 20833"/>
                <a:gd name="adj2" fmla="val 50000"/>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3200" b="1">
                <a:solidFill>
                  <a:schemeClr val="accent2"/>
                </a:solidFill>
              </a:endParaRP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38658"/>
                                        </p:tgtEl>
                                        <p:attrNameLst>
                                          <p:attrName>style.visibility</p:attrName>
                                        </p:attrNameLst>
                                      </p:cBhvr>
                                      <p:to>
                                        <p:strVal val="visible"/>
                                      </p:to>
                                    </p:set>
                                    <p:animEffect transition="in" filter="blinds(horizontal)">
                                      <p:cBhvr>
                                        <p:cTn id="7" dur="500"/>
                                        <p:tgtEl>
                                          <p:spTgt spid="838658"/>
                                        </p:tgtEl>
                                      </p:cBhvr>
                                    </p:animEffect>
                                  </p:childTnLst>
                                </p:cTn>
                              </p:par>
                            </p:childTnLst>
                          </p:cTn>
                        </p:par>
                        <p:par>
                          <p:cTn id="8" fill="hold" nodeType="afterGroup">
                            <p:stCondLst>
                              <p:cond delay="500"/>
                            </p:stCondLst>
                            <p:childTnLst>
                              <p:par>
                                <p:cTn id="9" presetID="2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865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4506805-BBC1-4B07-942D-5F17B43E40C9}" type="slidenum">
              <a:rPr lang="en-US" altLang="zh-CN" sz="1400"/>
              <a:pPr eaLnBrk="1" hangingPunct="1"/>
              <a:t>59</a:t>
            </a:fld>
            <a:endParaRPr lang="en-US" altLang="zh-CN" sz="1400"/>
          </a:p>
        </p:txBody>
      </p:sp>
      <p:sp>
        <p:nvSpPr>
          <p:cNvPr id="839682" name="Rectangle 2"/>
          <p:cNvSpPr>
            <a:spLocks noChangeArrowheads="1"/>
          </p:cNvSpPr>
          <p:nvPr/>
        </p:nvSpPr>
        <p:spPr bwMode="auto">
          <a:xfrm>
            <a:off x="228600" y="990600"/>
            <a:ext cx="84582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143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t>LD        @mp,16,A     </a:t>
            </a:r>
            <a:r>
              <a:rPr lang="zh-CN" altLang="en-US" b="1"/>
              <a:t>；将乘积的尾数装入</a:t>
            </a:r>
            <a:r>
              <a:rPr lang="en-US" altLang="zh-CN" b="1"/>
              <a:t>A</a:t>
            </a:r>
            <a:r>
              <a:rPr lang="zh-CN" altLang="en-US" b="1"/>
              <a:t>的高</a:t>
            </a:r>
            <a:r>
              <a:rPr lang="en-US" altLang="zh-CN" b="1"/>
              <a:t>16</a:t>
            </a:r>
            <a:r>
              <a:rPr lang="zh-CN" altLang="en-US" b="1"/>
              <a:t>位</a:t>
            </a:r>
          </a:p>
          <a:p>
            <a:pPr algn="just"/>
            <a:r>
              <a:rPr lang="en-US" altLang="zh-CN" b="1"/>
              <a:t>NORM  A                   </a:t>
            </a:r>
            <a:r>
              <a:rPr lang="zh-CN" altLang="en-US" b="1"/>
              <a:t>；将尾数按</a:t>
            </a:r>
            <a:r>
              <a:rPr lang="en-US" altLang="zh-CN" b="1"/>
              <a:t>T</a:t>
            </a:r>
            <a:r>
              <a:rPr lang="zh-CN" altLang="en-US" b="1"/>
              <a:t>中的指数移位</a:t>
            </a:r>
          </a:p>
          <a:p>
            <a:pPr algn="just"/>
            <a:r>
              <a:rPr lang="en-US" altLang="zh-CN" b="1"/>
              <a:t>STH      A,@product   </a:t>
            </a:r>
            <a:r>
              <a:rPr lang="zh-CN" altLang="en-US" b="1"/>
              <a:t>；保存定点乘积到</a:t>
            </a:r>
            <a:r>
              <a:rPr lang="en-US" altLang="zh-CN" b="1"/>
              <a:t>product</a:t>
            </a:r>
            <a:r>
              <a:rPr lang="zh-CN" altLang="en-US" b="1"/>
              <a:t>中</a:t>
            </a:r>
          </a:p>
          <a:p>
            <a:pPr algn="just"/>
            <a:r>
              <a:rPr lang="en-US" altLang="zh-CN" b="1"/>
              <a:t>RET </a:t>
            </a:r>
            <a:r>
              <a:rPr lang="zh-CN" altLang="en-US" b="1"/>
              <a:t>　　                    ；返回</a:t>
            </a:r>
          </a:p>
          <a:p>
            <a:pPr algn="just"/>
            <a:r>
              <a:rPr lang="en-US" altLang="zh-CN" b="1"/>
              <a:t>.end</a:t>
            </a:r>
          </a:p>
        </p:txBody>
      </p:sp>
      <p:sp>
        <p:nvSpPr>
          <p:cNvPr id="839684" name="Rectangle 4"/>
          <p:cNvSpPr>
            <a:spLocks noChangeArrowheads="1"/>
          </p:cNvSpPr>
          <p:nvPr/>
        </p:nvSpPr>
        <p:spPr bwMode="auto">
          <a:xfrm>
            <a:off x="228600" y="2922588"/>
            <a:ext cx="42672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程序执行结果为：</a:t>
            </a:r>
            <a:endParaRPr lang="zh-CN" altLang="en-US" sz="2800" b="1"/>
          </a:p>
          <a:p>
            <a:pPr algn="just"/>
            <a:r>
              <a:rPr lang="en-US" altLang="zh-CN" sz="2800" b="1">
                <a:latin typeface="宋体" panose="02010600030101010101" pitchFamily="2" charset="-122"/>
              </a:rPr>
              <a:t>0.3×</a:t>
            </a:r>
            <a:r>
              <a:rPr lang="zh-CN" altLang="en-US" sz="2800" b="1">
                <a:latin typeface="宋体" panose="02010600030101010101" pitchFamily="2" charset="-122"/>
              </a:rPr>
              <a:t>（</a:t>
            </a:r>
            <a:r>
              <a:rPr lang="en-US" altLang="zh-CN" sz="2800" b="1">
                <a:latin typeface="宋体" panose="02010600030101010101" pitchFamily="2" charset="-122"/>
              </a:rPr>
              <a:t>-0.8</a:t>
            </a:r>
            <a:r>
              <a:rPr lang="zh-CN" altLang="en-US" sz="2800" b="1">
                <a:latin typeface="宋体" panose="02010600030101010101" pitchFamily="2" charset="-122"/>
              </a:rPr>
              <a:t>）乘积的浮点数尾数</a:t>
            </a:r>
            <a:r>
              <a:rPr lang="en-US" altLang="zh-CN" sz="2800" b="1">
                <a:latin typeface="宋体" panose="02010600030101010101" pitchFamily="2" charset="-122"/>
              </a:rPr>
              <a:t>0x8520</a:t>
            </a:r>
            <a:r>
              <a:rPr lang="zh-CN" altLang="en-US" sz="2800" b="1">
                <a:latin typeface="宋体" panose="02010600030101010101" pitchFamily="2" charset="-122"/>
              </a:rPr>
              <a:t>，指数为</a:t>
            </a:r>
            <a:r>
              <a:rPr lang="en-US" altLang="zh-CN" sz="2800" b="1">
                <a:latin typeface="宋体" panose="02010600030101010101" pitchFamily="2" charset="-122"/>
              </a:rPr>
              <a:t>0x0002</a:t>
            </a:r>
            <a:r>
              <a:rPr lang="zh-CN" altLang="en-US" sz="2800" b="1">
                <a:latin typeface="宋体" panose="02010600030101010101" pitchFamily="2" charset="-122"/>
              </a:rPr>
              <a:t>。乘积的定点数为</a:t>
            </a:r>
            <a:r>
              <a:rPr lang="en-US" altLang="zh-CN" sz="2800" b="1">
                <a:latin typeface="宋体" panose="02010600030101010101" pitchFamily="2" charset="-122"/>
              </a:rPr>
              <a:t>0xE148</a:t>
            </a:r>
            <a:r>
              <a:rPr lang="zh-CN" altLang="en-US" sz="2800" b="1">
                <a:latin typeface="宋体" panose="02010600030101010101" pitchFamily="2" charset="-122"/>
              </a:rPr>
              <a:t>，对应的十进制数为</a:t>
            </a:r>
            <a:r>
              <a:rPr lang="en-US" altLang="zh-CN" sz="2800" b="1">
                <a:latin typeface="宋体" panose="02010600030101010101" pitchFamily="2" charset="-122"/>
              </a:rPr>
              <a:t>-0.23999</a:t>
            </a:r>
            <a:r>
              <a:rPr lang="zh-CN" altLang="en-US" sz="2800" b="1">
                <a:latin typeface="宋体" panose="02010600030101010101" pitchFamily="2" charset="-122"/>
              </a:rPr>
              <a:t>。程序执行后数据存储器中的数据值如图</a:t>
            </a:r>
            <a:r>
              <a:rPr lang="en-US" altLang="zh-CN" sz="2800" b="1">
                <a:latin typeface="宋体" panose="02010600030101010101" pitchFamily="2" charset="-122"/>
              </a:rPr>
              <a:t>5-8</a:t>
            </a:r>
            <a:r>
              <a:rPr lang="zh-CN" altLang="en-US" sz="2800" b="1">
                <a:latin typeface="宋体" panose="02010600030101010101" pitchFamily="2" charset="-122"/>
              </a:rPr>
              <a:t>所示。</a:t>
            </a:r>
            <a:endParaRPr lang="zh-CN" altLang="en-US" sz="2800" b="1"/>
          </a:p>
        </p:txBody>
      </p:sp>
      <p:grpSp>
        <p:nvGrpSpPr>
          <p:cNvPr id="72709" name="Group 37"/>
          <p:cNvGrpSpPr>
            <a:grpSpLocks/>
          </p:cNvGrpSpPr>
          <p:nvPr/>
        </p:nvGrpSpPr>
        <p:grpSpPr bwMode="auto">
          <a:xfrm>
            <a:off x="4930775" y="2565400"/>
            <a:ext cx="2162175" cy="4056063"/>
            <a:chOff x="3106" y="1616"/>
            <a:chExt cx="1362" cy="2555"/>
          </a:xfrm>
        </p:grpSpPr>
        <p:sp>
          <p:nvSpPr>
            <p:cNvPr id="72710" name="Text Box 5"/>
            <p:cNvSpPr txBox="1">
              <a:spLocks noChangeArrowheads="1"/>
            </p:cNvSpPr>
            <p:nvPr/>
          </p:nvSpPr>
          <p:spPr bwMode="auto">
            <a:xfrm>
              <a:off x="3787" y="1616"/>
              <a:ext cx="681" cy="256"/>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2266</a:t>
              </a:r>
            </a:p>
          </p:txBody>
        </p:sp>
        <p:sp>
          <p:nvSpPr>
            <p:cNvPr id="72711" name="Text Box 6"/>
            <p:cNvSpPr txBox="1">
              <a:spLocks noChangeArrowheads="1"/>
            </p:cNvSpPr>
            <p:nvPr/>
          </p:nvSpPr>
          <p:spPr bwMode="auto">
            <a:xfrm>
              <a:off x="3787" y="1868"/>
              <a:ext cx="681" cy="256"/>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999A</a:t>
              </a:r>
            </a:p>
          </p:txBody>
        </p:sp>
        <p:sp>
          <p:nvSpPr>
            <p:cNvPr id="72712" name="Text Box 7"/>
            <p:cNvSpPr txBox="1">
              <a:spLocks noChangeArrowheads="1"/>
            </p:cNvSpPr>
            <p:nvPr/>
          </p:nvSpPr>
          <p:spPr bwMode="auto">
            <a:xfrm>
              <a:off x="3787" y="2130"/>
              <a:ext cx="681"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660066"/>
                  </a:solidFill>
                </a:rPr>
                <a:t>0001</a:t>
              </a:r>
            </a:p>
          </p:txBody>
        </p:sp>
        <p:sp>
          <p:nvSpPr>
            <p:cNvPr id="72713" name="Text Box 8"/>
            <p:cNvSpPr txBox="1">
              <a:spLocks noChangeArrowheads="1"/>
            </p:cNvSpPr>
            <p:nvPr/>
          </p:nvSpPr>
          <p:spPr bwMode="auto">
            <a:xfrm>
              <a:off x="3787" y="2383"/>
              <a:ext cx="681"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660066"/>
                  </a:solidFill>
                </a:rPr>
                <a:t>4CCC</a:t>
              </a:r>
            </a:p>
          </p:txBody>
        </p:sp>
        <p:sp>
          <p:nvSpPr>
            <p:cNvPr id="72714" name="Text Box 9"/>
            <p:cNvSpPr txBox="1">
              <a:spLocks noChangeArrowheads="1"/>
            </p:cNvSpPr>
            <p:nvPr/>
          </p:nvSpPr>
          <p:spPr bwMode="auto">
            <a:xfrm>
              <a:off x="3787" y="2635"/>
              <a:ext cx="681" cy="256"/>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0000</a:t>
              </a:r>
            </a:p>
          </p:txBody>
        </p:sp>
        <p:sp>
          <p:nvSpPr>
            <p:cNvPr id="72715" name="Text Box 10"/>
            <p:cNvSpPr txBox="1">
              <a:spLocks noChangeArrowheads="1"/>
            </p:cNvSpPr>
            <p:nvPr/>
          </p:nvSpPr>
          <p:spPr bwMode="auto">
            <a:xfrm>
              <a:off x="3787" y="2886"/>
              <a:ext cx="681" cy="256"/>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999A</a:t>
              </a:r>
            </a:p>
          </p:txBody>
        </p:sp>
        <p:sp>
          <p:nvSpPr>
            <p:cNvPr id="72716" name="Text Box 11"/>
            <p:cNvSpPr txBox="1">
              <a:spLocks noChangeArrowheads="1"/>
            </p:cNvSpPr>
            <p:nvPr/>
          </p:nvSpPr>
          <p:spPr bwMode="auto">
            <a:xfrm>
              <a:off x="3787" y="3148"/>
              <a:ext cx="681"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0002</a:t>
              </a:r>
            </a:p>
          </p:txBody>
        </p:sp>
        <p:sp>
          <p:nvSpPr>
            <p:cNvPr id="72717" name="Text Box 12"/>
            <p:cNvSpPr txBox="1">
              <a:spLocks noChangeArrowheads="1"/>
            </p:cNvSpPr>
            <p:nvPr/>
          </p:nvSpPr>
          <p:spPr bwMode="auto">
            <a:xfrm>
              <a:off x="3787" y="3400"/>
              <a:ext cx="681"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8520</a:t>
              </a:r>
            </a:p>
          </p:txBody>
        </p:sp>
        <p:sp>
          <p:nvSpPr>
            <p:cNvPr id="72718" name="Text Box 13"/>
            <p:cNvSpPr txBox="1">
              <a:spLocks noChangeArrowheads="1"/>
            </p:cNvSpPr>
            <p:nvPr/>
          </p:nvSpPr>
          <p:spPr bwMode="auto">
            <a:xfrm>
              <a:off x="3787" y="3653"/>
              <a:ext cx="681" cy="256"/>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E148</a:t>
              </a:r>
            </a:p>
          </p:txBody>
        </p:sp>
        <p:sp>
          <p:nvSpPr>
            <p:cNvPr id="72719" name="Text Box 14"/>
            <p:cNvSpPr txBox="1">
              <a:spLocks noChangeArrowheads="1"/>
            </p:cNvSpPr>
            <p:nvPr/>
          </p:nvSpPr>
          <p:spPr bwMode="auto">
            <a:xfrm>
              <a:off x="3787" y="3915"/>
              <a:ext cx="681" cy="256"/>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660066"/>
                  </a:solidFill>
                </a:rPr>
                <a:t>FFFE</a:t>
              </a:r>
            </a:p>
          </p:txBody>
        </p:sp>
        <p:sp>
          <p:nvSpPr>
            <p:cNvPr id="72720" name="Text Box 15"/>
            <p:cNvSpPr txBox="1">
              <a:spLocks noChangeArrowheads="1"/>
            </p:cNvSpPr>
            <p:nvPr/>
          </p:nvSpPr>
          <p:spPr bwMode="auto">
            <a:xfrm>
              <a:off x="3424" y="1616"/>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x1</a:t>
              </a:r>
            </a:p>
          </p:txBody>
        </p:sp>
        <p:sp>
          <p:nvSpPr>
            <p:cNvPr id="72721" name="Text Box 16"/>
            <p:cNvSpPr txBox="1">
              <a:spLocks noChangeArrowheads="1"/>
            </p:cNvSpPr>
            <p:nvPr/>
          </p:nvSpPr>
          <p:spPr bwMode="auto">
            <a:xfrm>
              <a:off x="3424" y="1888"/>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x2</a:t>
              </a:r>
            </a:p>
          </p:txBody>
        </p:sp>
        <p:sp>
          <p:nvSpPr>
            <p:cNvPr id="72722" name="Text Box 17"/>
            <p:cNvSpPr txBox="1">
              <a:spLocks noChangeArrowheads="1"/>
            </p:cNvSpPr>
            <p:nvPr/>
          </p:nvSpPr>
          <p:spPr bwMode="auto">
            <a:xfrm>
              <a:off x="3424" y="2160"/>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e1</a:t>
              </a:r>
            </a:p>
          </p:txBody>
        </p:sp>
        <p:sp>
          <p:nvSpPr>
            <p:cNvPr id="72723" name="Text Box 18"/>
            <p:cNvSpPr txBox="1">
              <a:spLocks noChangeArrowheads="1"/>
            </p:cNvSpPr>
            <p:nvPr/>
          </p:nvSpPr>
          <p:spPr bwMode="auto">
            <a:xfrm>
              <a:off x="3470" y="2387"/>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m1</a:t>
              </a:r>
            </a:p>
          </p:txBody>
        </p:sp>
        <p:sp>
          <p:nvSpPr>
            <p:cNvPr id="72724" name="Text Box 19"/>
            <p:cNvSpPr txBox="1">
              <a:spLocks noChangeArrowheads="1"/>
            </p:cNvSpPr>
            <p:nvPr/>
          </p:nvSpPr>
          <p:spPr bwMode="auto">
            <a:xfrm>
              <a:off x="3424" y="2659"/>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e2</a:t>
              </a:r>
            </a:p>
          </p:txBody>
        </p:sp>
        <p:sp>
          <p:nvSpPr>
            <p:cNvPr id="72725" name="Text Box 20"/>
            <p:cNvSpPr txBox="1">
              <a:spLocks noChangeArrowheads="1"/>
            </p:cNvSpPr>
            <p:nvPr/>
          </p:nvSpPr>
          <p:spPr bwMode="auto">
            <a:xfrm>
              <a:off x="3424" y="2862"/>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m2</a:t>
              </a:r>
            </a:p>
          </p:txBody>
        </p:sp>
        <p:sp>
          <p:nvSpPr>
            <p:cNvPr id="72726" name="Text Box 21"/>
            <p:cNvSpPr txBox="1">
              <a:spLocks noChangeArrowheads="1"/>
            </p:cNvSpPr>
            <p:nvPr/>
          </p:nvSpPr>
          <p:spPr bwMode="auto">
            <a:xfrm>
              <a:off x="3424" y="3134"/>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ep</a:t>
              </a:r>
            </a:p>
          </p:txBody>
        </p:sp>
        <p:sp>
          <p:nvSpPr>
            <p:cNvPr id="72727" name="Text Box 22"/>
            <p:cNvSpPr txBox="1">
              <a:spLocks noChangeArrowheads="1"/>
            </p:cNvSpPr>
            <p:nvPr/>
          </p:nvSpPr>
          <p:spPr bwMode="auto">
            <a:xfrm>
              <a:off x="3424" y="3406"/>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mp</a:t>
              </a:r>
            </a:p>
          </p:txBody>
        </p:sp>
        <p:sp>
          <p:nvSpPr>
            <p:cNvPr id="72728" name="Text Box 23"/>
            <p:cNvSpPr txBox="1">
              <a:spLocks noChangeArrowheads="1"/>
            </p:cNvSpPr>
            <p:nvPr/>
          </p:nvSpPr>
          <p:spPr bwMode="auto">
            <a:xfrm>
              <a:off x="3106" y="3633"/>
              <a:ext cx="6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product</a:t>
              </a:r>
            </a:p>
          </p:txBody>
        </p:sp>
        <p:sp>
          <p:nvSpPr>
            <p:cNvPr id="72729" name="Text Box 24"/>
            <p:cNvSpPr txBox="1">
              <a:spLocks noChangeArrowheads="1"/>
            </p:cNvSpPr>
            <p:nvPr/>
          </p:nvSpPr>
          <p:spPr bwMode="auto">
            <a:xfrm>
              <a:off x="3288" y="3905"/>
              <a:ext cx="5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temp</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39682"/>
                                        </p:tgtEl>
                                        <p:attrNameLst>
                                          <p:attrName>style.visibility</p:attrName>
                                        </p:attrNameLst>
                                      </p:cBhvr>
                                      <p:to>
                                        <p:strVal val="visible"/>
                                      </p:to>
                                    </p:set>
                                    <p:animEffect transition="in" filter="blinds(horizontal)">
                                      <p:cBhvr>
                                        <p:cTn id="7" dur="500"/>
                                        <p:tgtEl>
                                          <p:spTgt spid="839682"/>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39684"/>
                                        </p:tgtEl>
                                        <p:attrNameLst>
                                          <p:attrName>style.visibility</p:attrName>
                                        </p:attrNameLst>
                                      </p:cBhvr>
                                      <p:to>
                                        <p:strVal val="visible"/>
                                      </p:to>
                                    </p:set>
                                    <p:animEffect transition="in" filter="blinds(horizontal)">
                                      <p:cBhvr>
                                        <p:cTn id="11" dur="500"/>
                                        <p:tgtEl>
                                          <p:spTgt spid="839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682" grpId="0"/>
      <p:bldP spid="83968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7788717-889D-4F46-9F7D-838AA5AFB69F}" type="slidenum">
              <a:rPr lang="en-US" altLang="zh-CN" sz="1400"/>
              <a:pPr eaLnBrk="1" hangingPunct="1"/>
              <a:t>60</a:t>
            </a:fld>
            <a:endParaRPr lang="en-US" altLang="zh-CN" sz="1400"/>
          </a:p>
        </p:txBody>
      </p:sp>
      <p:sp>
        <p:nvSpPr>
          <p:cNvPr id="840706" name="Rectangle 2" descr="小棋盘"/>
          <p:cNvSpPr>
            <a:spLocks noChangeArrowheads="1"/>
          </p:cNvSpPr>
          <p:nvPr/>
        </p:nvSpPr>
        <p:spPr bwMode="auto">
          <a:xfrm>
            <a:off x="762000" y="1219200"/>
            <a:ext cx="7423150" cy="650875"/>
          </a:xfrm>
          <a:prstGeom prst="rect">
            <a:avLst/>
          </a:prstGeom>
          <a:pattFill prst="smCheck">
            <a:fgClr>
              <a:schemeClr val="accent1"/>
            </a:fgClr>
            <a:bgClr>
              <a:schemeClr val="bg1"/>
            </a:bgClr>
          </a:pattFill>
          <a:ln w="9525">
            <a:solidFill>
              <a:srgbClr val="FF00FF"/>
            </a:solidFill>
            <a:miter lim="800000"/>
            <a:headEnd/>
            <a:tailEnd/>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solidFill>
                  <a:srgbClr val="FF0000"/>
                </a:solidFill>
                <a:latin typeface="宋体" panose="02010600030101010101" pitchFamily="2" charset="-122"/>
              </a:rPr>
              <a:t>第三节  </a:t>
            </a:r>
            <a:r>
              <a:rPr lang="en-US" altLang="zh-CN" sz="3600" b="1">
                <a:solidFill>
                  <a:srgbClr val="FF0000"/>
                </a:solidFill>
                <a:latin typeface="宋体" panose="02010600030101010101" pitchFamily="2" charset="-122"/>
              </a:rPr>
              <a:t>DSP</a:t>
            </a:r>
            <a:r>
              <a:rPr lang="zh-CN" altLang="en-US" sz="3600" b="1">
                <a:solidFill>
                  <a:srgbClr val="FF0000"/>
                </a:solidFill>
                <a:latin typeface="宋体" panose="02010600030101010101" pitchFamily="2" charset="-122"/>
              </a:rPr>
              <a:t>在信号发生器上的应用</a:t>
            </a:r>
            <a:r>
              <a:rPr lang="zh-CN" altLang="en-US" sz="3600" b="1">
                <a:solidFill>
                  <a:srgbClr val="FF0000"/>
                </a:solidFill>
              </a:rPr>
              <a:t> </a:t>
            </a:r>
          </a:p>
        </p:txBody>
      </p:sp>
      <p:sp>
        <p:nvSpPr>
          <p:cNvPr id="840707" name="Rectangle 3" descr="小棋盘"/>
          <p:cNvSpPr>
            <a:spLocks noChangeArrowheads="1"/>
          </p:cNvSpPr>
          <p:nvPr/>
        </p:nvSpPr>
        <p:spPr bwMode="auto">
          <a:xfrm>
            <a:off x="1828800" y="2057400"/>
            <a:ext cx="53340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20000"/>
              </a:spcBef>
            </a:pPr>
            <a:r>
              <a:rPr lang="zh-CN" altLang="en-US" sz="3200" b="1">
                <a:solidFill>
                  <a:srgbClr val="FF0000"/>
                </a:solidFill>
                <a:latin typeface="宋体" panose="02010600030101010101" pitchFamily="2" charset="-122"/>
                <a:ea typeface="仿宋_GB2312" pitchFamily="49" charset="-122"/>
              </a:rPr>
              <a:t>一个角度正弦值的计算 </a:t>
            </a:r>
          </a:p>
        </p:txBody>
      </p:sp>
      <p:sp>
        <p:nvSpPr>
          <p:cNvPr id="840708" name="Rectangle 4" descr="小棋盘"/>
          <p:cNvSpPr>
            <a:spLocks noChangeArrowheads="1"/>
          </p:cNvSpPr>
          <p:nvPr/>
        </p:nvSpPr>
        <p:spPr bwMode="auto">
          <a:xfrm>
            <a:off x="107950" y="2852738"/>
            <a:ext cx="609600" cy="95567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要</a:t>
            </a:r>
          </a:p>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点</a:t>
            </a:r>
            <a:endParaRPr lang="zh-CN" altLang="en-US" sz="2800" b="1">
              <a:solidFill>
                <a:srgbClr val="FF0000"/>
              </a:solidFill>
              <a:latin typeface="宋体" panose="02010600030101010101" pitchFamily="2" charset="-122"/>
              <a:cs typeface="Times New Roman" panose="02020603050405020304" pitchFamily="18" charset="0"/>
            </a:endParaRPr>
          </a:p>
        </p:txBody>
      </p:sp>
      <p:graphicFrame>
        <p:nvGraphicFramePr>
          <p:cNvPr id="840709" name="Object 5" descr="小棋盘"/>
          <p:cNvGraphicFramePr>
            <a:graphicFrameLocks noChangeAspect="1"/>
          </p:cNvGraphicFramePr>
          <p:nvPr/>
        </p:nvGraphicFramePr>
        <p:xfrm>
          <a:off x="838200" y="2852738"/>
          <a:ext cx="8170863" cy="990600"/>
        </p:xfrm>
        <a:graphic>
          <a:graphicData uri="http://schemas.openxmlformats.org/presentationml/2006/ole">
            <mc:AlternateContent xmlns:mc="http://schemas.openxmlformats.org/markup-compatibility/2006">
              <mc:Choice xmlns:v="urn:schemas-microsoft-com:vml" Requires="v">
                <p:oleObj spid="_x0000_s3074" name="公式" r:id="rId3" imgW="4343400" imgH="419100" progId="">
                  <p:embed/>
                </p:oleObj>
              </mc:Choice>
              <mc:Fallback>
                <p:oleObj name="公式" r:id="rId3" imgW="4343400" imgH="419100" progId="">
                  <p:embed/>
                  <p:pic>
                    <p:nvPicPr>
                      <p:cNvPr id="0" name="Picture 17" descr="小棋盘"/>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852738"/>
                        <a:ext cx="8170863" cy="990600"/>
                      </a:xfrm>
                      <a:prstGeom prst="rect">
                        <a:avLst/>
                      </a:prstGeom>
                      <a:blipFill dpi="0" rotWithShape="0">
                        <a:blip r:embed="rId5"/>
                        <a:srcRect/>
                        <a:tile tx="0" ty="0" sx="100000" sy="100000" flip="none" algn="tl"/>
                      </a:blipFill>
                      <a:ln w="28575">
                        <a:solidFill>
                          <a:srgbClr val="FF00FF"/>
                        </a:solidFill>
                        <a:miter lim="800000"/>
                        <a:headEnd/>
                        <a:tailEnd/>
                      </a:ln>
                    </p:spPr>
                  </p:pic>
                </p:oleObj>
              </mc:Fallback>
            </mc:AlternateContent>
          </a:graphicData>
        </a:graphic>
      </p:graphicFrame>
      <p:sp>
        <p:nvSpPr>
          <p:cNvPr id="840710" name="Rectangle 6" descr="小棋盘"/>
          <p:cNvSpPr>
            <a:spLocks noChangeArrowheads="1"/>
          </p:cNvSpPr>
          <p:nvPr/>
        </p:nvSpPr>
        <p:spPr bwMode="auto">
          <a:xfrm>
            <a:off x="381000" y="4038600"/>
            <a:ext cx="8512175" cy="2538413"/>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rgbClr val="008000"/>
                </a:solidFill>
                <a:latin typeface="宋体" panose="02010600030101010101" pitchFamily="2" charset="-122"/>
                <a:cs typeface="Times New Roman" panose="02020603050405020304" pitchFamily="18" charset="0"/>
              </a:rPr>
              <a:t>   </a:t>
            </a:r>
            <a:r>
              <a:rPr lang="zh-CN" altLang="en-US" sz="3200" b="1">
                <a:solidFill>
                  <a:srgbClr val="008000"/>
                </a:solidFill>
                <a:latin typeface="宋体" panose="02010600030101010101" pitchFamily="2" charset="-122"/>
                <a:cs typeface="Times New Roman" panose="02020603050405020304" pitchFamily="18" charset="0"/>
              </a:rPr>
              <a:t>按</a:t>
            </a:r>
            <a:r>
              <a:rPr lang="en-US" altLang="zh-CN" sz="3200" b="1">
                <a:solidFill>
                  <a:srgbClr val="008000"/>
                </a:solidFill>
                <a:latin typeface="宋体" panose="02010600030101010101" pitchFamily="2" charset="-122"/>
                <a:cs typeface="Times New Roman" panose="02020603050405020304" pitchFamily="18" charset="0"/>
              </a:rPr>
              <a:t>C54x</a:t>
            </a:r>
            <a:r>
              <a:rPr lang="zh-CN" altLang="en-US" sz="3200" b="1">
                <a:solidFill>
                  <a:srgbClr val="008000"/>
                </a:solidFill>
                <a:latin typeface="宋体" panose="02010600030101010101" pitchFamily="2" charset="-122"/>
                <a:cs typeface="Times New Roman" panose="02020603050405020304" pitchFamily="18" charset="0"/>
              </a:rPr>
              <a:t>系列采用的</a:t>
            </a:r>
            <a:r>
              <a:rPr lang="en-US" altLang="zh-CN" sz="3200" b="1">
                <a:solidFill>
                  <a:srgbClr val="008000"/>
                </a:solidFill>
                <a:latin typeface="宋体" panose="02010600030101010101" pitchFamily="2" charset="-122"/>
                <a:cs typeface="Times New Roman" panose="02020603050405020304" pitchFamily="18" charset="0"/>
              </a:rPr>
              <a:t>Q15</a:t>
            </a:r>
            <a:r>
              <a:rPr lang="zh-CN" altLang="en-US" sz="3200" b="1">
                <a:solidFill>
                  <a:srgbClr val="008000"/>
                </a:solidFill>
                <a:latin typeface="宋体" panose="02010600030101010101" pitchFamily="2" charset="-122"/>
                <a:cs typeface="Times New Roman" panose="02020603050405020304" pitchFamily="18" charset="0"/>
              </a:rPr>
              <a:t>格式，将</a:t>
            </a:r>
            <a:r>
              <a:rPr lang="en-US" altLang="zh-CN" sz="3200" b="1" i="1">
                <a:solidFill>
                  <a:srgbClr val="008000"/>
                </a:solidFill>
                <a:latin typeface="宋体" panose="02010600030101010101" pitchFamily="2" charset="-122"/>
                <a:cs typeface="Times New Roman" panose="02020603050405020304" pitchFamily="18" charset="0"/>
              </a:rPr>
              <a:t>x</a:t>
            </a:r>
            <a:r>
              <a:rPr lang="en-US" altLang="zh-CN" sz="2800" b="1">
                <a:solidFill>
                  <a:srgbClr val="008000"/>
                </a:solidFill>
                <a:latin typeface="宋体" panose="02010600030101010101" pitchFamily="2" charset="-122"/>
                <a:cs typeface="Times New Roman" panose="02020603050405020304" pitchFamily="18" charset="0"/>
              </a:rPr>
              <a:t>=π/4</a:t>
            </a:r>
          </a:p>
          <a:p>
            <a:r>
              <a:rPr lang="en-US" altLang="zh-CN" sz="2800" b="1">
                <a:solidFill>
                  <a:srgbClr val="008000"/>
                </a:solidFill>
                <a:latin typeface="宋体" panose="02010600030101010101" pitchFamily="2" charset="-122"/>
                <a:cs typeface="Times New Roman" panose="02020603050405020304" pitchFamily="18" charset="0"/>
              </a:rPr>
              <a:t>=0.7854</a:t>
            </a:r>
            <a:r>
              <a:rPr lang="zh-CN" altLang="en-US" sz="3200" b="1">
                <a:solidFill>
                  <a:srgbClr val="008000"/>
                </a:solidFill>
                <a:latin typeface="宋体" panose="02010600030101010101" pitchFamily="2" charset="-122"/>
                <a:cs typeface="Times New Roman" panose="02020603050405020304" pitchFamily="18" charset="0"/>
              </a:rPr>
              <a:t>转换为十进制小数的</a:t>
            </a:r>
            <a:r>
              <a:rPr lang="en-US" altLang="zh-CN" sz="3200" b="1">
                <a:solidFill>
                  <a:srgbClr val="008000"/>
                </a:solidFill>
                <a:latin typeface="宋体" panose="02010600030101010101" pitchFamily="2" charset="-122"/>
                <a:cs typeface="Times New Roman" panose="02020603050405020304" pitchFamily="18" charset="0"/>
              </a:rPr>
              <a:t>2</a:t>
            </a:r>
            <a:r>
              <a:rPr lang="zh-CN" altLang="en-US" sz="3200" b="1">
                <a:solidFill>
                  <a:srgbClr val="008000"/>
                </a:solidFill>
                <a:latin typeface="宋体" panose="02010600030101010101" pitchFamily="2" charset="-122"/>
                <a:cs typeface="Times New Roman" panose="02020603050405020304" pitchFamily="18" charset="0"/>
              </a:rPr>
              <a:t>的补码形式为：  </a:t>
            </a:r>
            <a:endParaRPr lang="zh-CN" altLang="en-US" sz="3200" b="1">
              <a:solidFill>
                <a:srgbClr val="FF00FF"/>
              </a:solidFill>
              <a:latin typeface="宋体" panose="02010600030101010101" pitchFamily="2" charset="-122"/>
              <a:cs typeface="Times New Roman" panose="02020603050405020304" pitchFamily="18" charset="0"/>
            </a:endParaRPr>
          </a:p>
          <a:p>
            <a:r>
              <a:rPr lang="zh-CN" altLang="en-US" sz="3200" b="1">
                <a:solidFill>
                  <a:srgbClr val="FF00FF"/>
                </a:solidFill>
                <a:latin typeface="宋体" panose="02010600030101010101" pitchFamily="2" charset="-122"/>
                <a:cs typeface="Times New Roman" panose="02020603050405020304" pitchFamily="18" charset="0"/>
              </a:rPr>
              <a:t>       </a:t>
            </a:r>
            <a:r>
              <a:rPr lang="en-US" altLang="zh-CN" sz="3200" b="1" i="1">
                <a:solidFill>
                  <a:srgbClr val="FF00FF"/>
                </a:solidFill>
                <a:latin typeface="宋体" panose="02010600030101010101" pitchFamily="2" charset="-122"/>
                <a:cs typeface="Times New Roman" panose="02020603050405020304" pitchFamily="18" charset="0"/>
              </a:rPr>
              <a:t>x</a:t>
            </a:r>
            <a:r>
              <a:rPr lang="en-US" altLang="zh-CN" sz="3200" b="1">
                <a:solidFill>
                  <a:srgbClr val="FF00FF"/>
                </a:solidFill>
                <a:latin typeface="宋体" panose="02010600030101010101" pitchFamily="2" charset="-122"/>
                <a:cs typeface="Times New Roman" panose="02020603050405020304" pitchFamily="18" charset="0"/>
              </a:rPr>
              <a:t>=0.7854×32768=6487h</a:t>
            </a:r>
            <a:r>
              <a:rPr lang="zh-CN" altLang="en-US" sz="3200" b="1">
                <a:solidFill>
                  <a:srgbClr val="FF00FF"/>
                </a:solidFill>
                <a:latin typeface="宋体" panose="02010600030101010101" pitchFamily="2" charset="-122"/>
                <a:cs typeface="Times New Roman" panose="02020603050405020304" pitchFamily="18" charset="0"/>
              </a:rPr>
              <a:t>弧度。</a:t>
            </a:r>
          </a:p>
          <a:p>
            <a:r>
              <a:rPr lang="zh-CN" altLang="en-US" sz="3200" b="1">
                <a:solidFill>
                  <a:srgbClr val="008000"/>
                </a:solidFill>
                <a:latin typeface="宋体" panose="02010600030101010101" pitchFamily="2" charset="-122"/>
                <a:cs typeface="Times New Roman" panose="02020603050405020304" pitchFamily="18" charset="0"/>
              </a:rPr>
              <a:t>   再将要计算的值</a:t>
            </a:r>
            <a:r>
              <a:rPr lang="en-US" altLang="zh-CN" sz="3200" b="1" i="1">
                <a:solidFill>
                  <a:srgbClr val="008000"/>
                </a:solidFill>
                <a:latin typeface="宋体" panose="02010600030101010101" pitchFamily="2" charset="-122"/>
                <a:cs typeface="Times New Roman" panose="02020603050405020304" pitchFamily="18" charset="0"/>
              </a:rPr>
              <a:t>x</a:t>
            </a:r>
            <a:r>
              <a:rPr lang="zh-CN" altLang="en-US" sz="3200" b="1">
                <a:solidFill>
                  <a:srgbClr val="008000"/>
                </a:solidFill>
                <a:latin typeface="宋体" panose="02010600030101010101" pitchFamily="2" charset="-122"/>
                <a:cs typeface="Times New Roman" panose="02020603050405020304" pitchFamily="18" charset="0"/>
              </a:rPr>
              <a:t>放在</a:t>
            </a:r>
            <a:r>
              <a:rPr lang="en-US" altLang="zh-CN" sz="3200" b="1">
                <a:solidFill>
                  <a:srgbClr val="008000"/>
                </a:solidFill>
                <a:latin typeface="宋体" panose="02010600030101010101" pitchFamily="2" charset="-122"/>
                <a:cs typeface="Times New Roman" panose="02020603050405020304" pitchFamily="18" charset="0"/>
              </a:rPr>
              <a:t>d_x</a:t>
            </a:r>
            <a:r>
              <a:rPr lang="zh-CN" altLang="en-US" sz="3200" b="1">
                <a:solidFill>
                  <a:srgbClr val="008000"/>
                </a:solidFill>
                <a:latin typeface="宋体" panose="02010600030101010101" pitchFamily="2" charset="-122"/>
                <a:cs typeface="Times New Roman" panose="02020603050405020304" pitchFamily="18" charset="0"/>
              </a:rPr>
              <a:t>单元中，计算结果放在</a:t>
            </a:r>
            <a:r>
              <a:rPr lang="en-US" altLang="zh-CN" sz="3200" b="1">
                <a:solidFill>
                  <a:srgbClr val="008000"/>
                </a:solidFill>
                <a:latin typeface="宋体" panose="02010600030101010101" pitchFamily="2" charset="-122"/>
                <a:cs typeface="Times New Roman" panose="02020603050405020304" pitchFamily="18" charset="0"/>
              </a:rPr>
              <a:t>d_sinx</a:t>
            </a:r>
            <a:r>
              <a:rPr lang="zh-CN" altLang="en-US" sz="3200" b="1">
                <a:solidFill>
                  <a:srgbClr val="008000"/>
                </a:solidFill>
                <a:latin typeface="宋体" panose="02010600030101010101" pitchFamily="2" charset="-122"/>
                <a:cs typeface="Times New Roman" panose="02020603050405020304" pitchFamily="18" charset="0"/>
              </a:rPr>
              <a:t>单元中。</a:t>
            </a:r>
            <a:r>
              <a:rPr lang="zh-CN" altLang="en-US" sz="3200" b="1">
                <a:solidFill>
                  <a:srgbClr val="008000"/>
                </a:solidFill>
                <a:latin typeface="宋体" panose="02010600030101010101" pitchFamily="2" charset="-122"/>
                <a:ea typeface="仿宋_GB2312" pitchFamily="49" charset="-122"/>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40706"/>
                                        </p:tgtEl>
                                        <p:attrNameLst>
                                          <p:attrName>style.visibility</p:attrName>
                                        </p:attrNameLst>
                                      </p:cBhvr>
                                      <p:to>
                                        <p:strVal val="visible"/>
                                      </p:to>
                                    </p:set>
                                    <p:animEffect transition="in" filter="slide(fromTop)">
                                      <p:cBhvr>
                                        <p:cTn id="7" dur="500"/>
                                        <p:tgtEl>
                                          <p:spTgt spid="840706"/>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40707"/>
                                        </p:tgtEl>
                                        <p:attrNameLst>
                                          <p:attrName>style.visibility</p:attrName>
                                        </p:attrNameLst>
                                      </p:cBhvr>
                                      <p:to>
                                        <p:strVal val="visible"/>
                                      </p:to>
                                    </p:set>
                                    <p:animEffect transition="in" filter="slide(fromLeft)">
                                      <p:cBhvr>
                                        <p:cTn id="11" dur="500"/>
                                        <p:tgtEl>
                                          <p:spTgt spid="840707"/>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840708"/>
                                        </p:tgtEl>
                                        <p:attrNameLst>
                                          <p:attrName>style.visibility</p:attrName>
                                        </p:attrNameLst>
                                      </p:cBhvr>
                                      <p:to>
                                        <p:strVal val="visible"/>
                                      </p:to>
                                    </p:set>
                                    <p:animEffect transition="in" filter="slide(fromLeft)">
                                      <p:cBhvr>
                                        <p:cTn id="15" dur="500"/>
                                        <p:tgtEl>
                                          <p:spTgt spid="840708"/>
                                        </p:tgtEl>
                                      </p:cBhvr>
                                    </p:animEffect>
                                  </p:childTnLst>
                                </p:cTn>
                              </p:par>
                            </p:childTnLst>
                          </p:cTn>
                        </p:par>
                        <p:par>
                          <p:cTn id="16" fill="hold" nodeType="afterGroup">
                            <p:stCondLst>
                              <p:cond delay="1500"/>
                            </p:stCondLst>
                            <p:childTnLst>
                              <p:par>
                                <p:cTn id="17" presetID="12" presetClass="entr" presetSubtype="2" fill="hold" nodeType="afterEffect">
                                  <p:stCondLst>
                                    <p:cond delay="0"/>
                                  </p:stCondLst>
                                  <p:childTnLst>
                                    <p:set>
                                      <p:cBhvr>
                                        <p:cTn id="18" dur="1" fill="hold">
                                          <p:stCondLst>
                                            <p:cond delay="0"/>
                                          </p:stCondLst>
                                        </p:cTn>
                                        <p:tgtEl>
                                          <p:spTgt spid="840709"/>
                                        </p:tgtEl>
                                        <p:attrNameLst>
                                          <p:attrName>style.visibility</p:attrName>
                                        </p:attrNameLst>
                                      </p:cBhvr>
                                      <p:to>
                                        <p:strVal val="visible"/>
                                      </p:to>
                                    </p:set>
                                    <p:animEffect transition="in" filter="slide(fromRight)">
                                      <p:cBhvr>
                                        <p:cTn id="19" dur="500"/>
                                        <p:tgtEl>
                                          <p:spTgt spid="840709"/>
                                        </p:tgtEl>
                                      </p:cBhvr>
                                    </p:animEffect>
                                  </p:childTnLst>
                                </p:cTn>
                              </p:par>
                            </p:childTnLst>
                          </p:cTn>
                        </p:par>
                        <p:par>
                          <p:cTn id="20" fill="hold" nodeType="afterGroup">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840710"/>
                                        </p:tgtEl>
                                        <p:attrNameLst>
                                          <p:attrName>style.visibility</p:attrName>
                                        </p:attrNameLst>
                                      </p:cBhvr>
                                      <p:to>
                                        <p:strVal val="visible"/>
                                      </p:to>
                                    </p:set>
                                    <p:animEffect transition="in" filter="blinds(horizontal)">
                                      <p:cBhvr>
                                        <p:cTn id="23" dur="500"/>
                                        <p:tgtEl>
                                          <p:spTgt spid="840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06" grpId="0" animBg="1"/>
      <p:bldP spid="840707" grpId="0" animBg="1"/>
      <p:bldP spid="840708" grpId="0" animBg="1"/>
      <p:bldP spid="84071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3160BD10-891F-44D7-A4A1-CAA3BAA76629}" type="slidenum">
              <a:rPr lang="en-US" altLang="zh-CN" sz="1400"/>
              <a:pPr eaLnBrk="1" hangingPunct="1"/>
              <a:t>61</a:t>
            </a:fld>
            <a:endParaRPr lang="en-US" altLang="zh-CN" sz="1400"/>
          </a:p>
        </p:txBody>
      </p:sp>
      <p:grpSp>
        <p:nvGrpSpPr>
          <p:cNvPr id="5125" name="Group 32"/>
          <p:cNvGrpSpPr>
            <a:grpSpLocks/>
          </p:cNvGrpSpPr>
          <p:nvPr/>
        </p:nvGrpSpPr>
        <p:grpSpPr bwMode="auto">
          <a:xfrm>
            <a:off x="1042988" y="981075"/>
            <a:ext cx="2952750" cy="4143375"/>
            <a:chOff x="3651" y="709"/>
            <a:chExt cx="1678" cy="2610"/>
          </a:xfrm>
        </p:grpSpPr>
        <p:sp>
          <p:nvSpPr>
            <p:cNvPr id="5134" name="Text Box 4"/>
            <p:cNvSpPr txBox="1">
              <a:spLocks noChangeArrowheads="1"/>
            </p:cNvSpPr>
            <p:nvPr/>
          </p:nvSpPr>
          <p:spPr bwMode="auto">
            <a:xfrm>
              <a:off x="4514" y="1026"/>
              <a:ext cx="681" cy="256"/>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a:t>
              </a:r>
            </a:p>
          </p:txBody>
        </p:sp>
        <p:sp>
          <p:nvSpPr>
            <p:cNvPr id="5135" name="Text Box 5"/>
            <p:cNvSpPr txBox="1">
              <a:spLocks noChangeArrowheads="1"/>
            </p:cNvSpPr>
            <p:nvPr/>
          </p:nvSpPr>
          <p:spPr bwMode="auto">
            <a:xfrm>
              <a:off x="4514" y="1278"/>
              <a:ext cx="681" cy="256"/>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a:t>
              </a:r>
              <a:r>
                <a:rPr lang="en-US" altLang="zh-CN" sz="2000" b="1" baseline="30000">
                  <a:solidFill>
                    <a:srgbClr val="FF6600"/>
                  </a:solidFill>
                </a:rPr>
                <a:t>2</a:t>
              </a:r>
            </a:p>
          </p:txBody>
        </p:sp>
        <p:sp>
          <p:nvSpPr>
            <p:cNvPr id="5136" name="Text Box 6"/>
            <p:cNvSpPr txBox="1">
              <a:spLocks noChangeArrowheads="1"/>
            </p:cNvSpPr>
            <p:nvPr/>
          </p:nvSpPr>
          <p:spPr bwMode="auto">
            <a:xfrm>
              <a:off x="4514" y="1540"/>
              <a:ext cx="681" cy="256"/>
            </a:xfrm>
            <a:prstGeom prst="rect">
              <a:avLst/>
            </a:prstGeom>
            <a:solidFill>
              <a:schemeClr val="bg1"/>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zh-CN" altLang="zh-CN" sz="2000" b="1">
                <a:solidFill>
                  <a:srgbClr val="660066"/>
                </a:solidFill>
              </a:endParaRPr>
            </a:p>
          </p:txBody>
        </p:sp>
        <p:sp>
          <p:nvSpPr>
            <p:cNvPr id="5137" name="Text Box 7"/>
            <p:cNvSpPr txBox="1">
              <a:spLocks noChangeArrowheads="1"/>
            </p:cNvSpPr>
            <p:nvPr/>
          </p:nvSpPr>
          <p:spPr bwMode="auto">
            <a:xfrm>
              <a:off x="4514" y="1793"/>
              <a:ext cx="681" cy="256"/>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660066"/>
                  </a:solidFill>
                </a:rPr>
                <a:t>sinx</a:t>
              </a:r>
            </a:p>
          </p:txBody>
        </p:sp>
        <p:sp>
          <p:nvSpPr>
            <p:cNvPr id="5138" name="Text Box 8"/>
            <p:cNvSpPr txBox="1">
              <a:spLocks noChangeArrowheads="1"/>
            </p:cNvSpPr>
            <p:nvPr/>
          </p:nvSpPr>
          <p:spPr bwMode="auto">
            <a:xfrm>
              <a:off x="4514" y="2045"/>
              <a:ext cx="681" cy="256"/>
            </a:xfrm>
            <a:prstGeom prst="rect">
              <a:avLst/>
            </a:prstGeom>
            <a:solidFill>
              <a:schemeClr val="accent2"/>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(7fffh)</a:t>
              </a:r>
            </a:p>
          </p:txBody>
        </p:sp>
        <p:sp>
          <p:nvSpPr>
            <p:cNvPr id="5139" name="Text Box 9"/>
            <p:cNvSpPr txBox="1">
              <a:spLocks noChangeArrowheads="1"/>
            </p:cNvSpPr>
            <p:nvPr/>
          </p:nvSpPr>
          <p:spPr bwMode="auto">
            <a:xfrm>
              <a:off x="4514" y="2296"/>
              <a:ext cx="681"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(c1)</a:t>
              </a:r>
            </a:p>
          </p:txBody>
        </p:sp>
        <p:sp>
          <p:nvSpPr>
            <p:cNvPr id="5140" name="Text Box 10"/>
            <p:cNvSpPr txBox="1">
              <a:spLocks noChangeArrowheads="1"/>
            </p:cNvSpPr>
            <p:nvPr/>
          </p:nvSpPr>
          <p:spPr bwMode="auto">
            <a:xfrm>
              <a:off x="4514" y="2558"/>
              <a:ext cx="681"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(c2)</a:t>
              </a:r>
            </a:p>
          </p:txBody>
        </p:sp>
        <p:sp>
          <p:nvSpPr>
            <p:cNvPr id="5141" name="Text Box 11"/>
            <p:cNvSpPr txBox="1">
              <a:spLocks noChangeArrowheads="1"/>
            </p:cNvSpPr>
            <p:nvPr/>
          </p:nvSpPr>
          <p:spPr bwMode="auto">
            <a:xfrm>
              <a:off x="4514" y="2810"/>
              <a:ext cx="681"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(c3)</a:t>
              </a:r>
            </a:p>
          </p:txBody>
        </p:sp>
        <p:sp>
          <p:nvSpPr>
            <p:cNvPr id="5142" name="Text Box 12"/>
            <p:cNvSpPr txBox="1">
              <a:spLocks noChangeArrowheads="1"/>
            </p:cNvSpPr>
            <p:nvPr/>
          </p:nvSpPr>
          <p:spPr bwMode="auto">
            <a:xfrm>
              <a:off x="4514" y="3063"/>
              <a:ext cx="681"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(c4)</a:t>
              </a:r>
            </a:p>
          </p:txBody>
        </p:sp>
        <p:sp>
          <p:nvSpPr>
            <p:cNvPr id="5143" name="Text Box 14"/>
            <p:cNvSpPr txBox="1">
              <a:spLocks noChangeArrowheads="1"/>
            </p:cNvSpPr>
            <p:nvPr/>
          </p:nvSpPr>
          <p:spPr bwMode="auto">
            <a:xfrm>
              <a:off x="4151" y="1026"/>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d_x</a:t>
              </a:r>
            </a:p>
          </p:txBody>
        </p:sp>
        <p:sp>
          <p:nvSpPr>
            <p:cNvPr id="5144" name="Text Box 15"/>
            <p:cNvSpPr txBox="1">
              <a:spLocks noChangeArrowheads="1"/>
            </p:cNvSpPr>
            <p:nvPr/>
          </p:nvSpPr>
          <p:spPr bwMode="auto">
            <a:xfrm>
              <a:off x="3651" y="1298"/>
              <a:ext cx="8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d_squr_x</a:t>
              </a:r>
            </a:p>
          </p:txBody>
        </p:sp>
        <p:sp>
          <p:nvSpPr>
            <p:cNvPr id="5145" name="Text Box 16"/>
            <p:cNvSpPr txBox="1">
              <a:spLocks noChangeArrowheads="1"/>
            </p:cNvSpPr>
            <p:nvPr/>
          </p:nvSpPr>
          <p:spPr bwMode="auto">
            <a:xfrm>
              <a:off x="3767" y="1525"/>
              <a:ext cx="7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d_temp</a:t>
              </a:r>
            </a:p>
          </p:txBody>
        </p:sp>
        <p:sp>
          <p:nvSpPr>
            <p:cNvPr id="5146" name="Text Box 17"/>
            <p:cNvSpPr txBox="1">
              <a:spLocks noChangeArrowheads="1"/>
            </p:cNvSpPr>
            <p:nvPr/>
          </p:nvSpPr>
          <p:spPr bwMode="auto">
            <a:xfrm>
              <a:off x="3833" y="1797"/>
              <a:ext cx="6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d_sinx</a:t>
              </a:r>
            </a:p>
          </p:txBody>
        </p:sp>
        <p:sp>
          <p:nvSpPr>
            <p:cNvPr id="5147" name="Text Box 18"/>
            <p:cNvSpPr txBox="1">
              <a:spLocks noChangeArrowheads="1"/>
            </p:cNvSpPr>
            <p:nvPr/>
          </p:nvSpPr>
          <p:spPr bwMode="auto">
            <a:xfrm>
              <a:off x="4150" y="2024"/>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c_1</a:t>
              </a:r>
            </a:p>
          </p:txBody>
        </p:sp>
        <p:sp>
          <p:nvSpPr>
            <p:cNvPr id="5148" name="Text Box 19"/>
            <p:cNvSpPr txBox="1">
              <a:spLocks noChangeArrowheads="1"/>
            </p:cNvSpPr>
            <p:nvPr/>
          </p:nvSpPr>
          <p:spPr bwMode="auto">
            <a:xfrm>
              <a:off x="3787" y="2272"/>
              <a:ext cx="7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d_coeff</a:t>
              </a:r>
            </a:p>
          </p:txBody>
        </p:sp>
        <p:sp>
          <p:nvSpPr>
            <p:cNvPr id="5149" name="Text Box 24"/>
            <p:cNvSpPr txBox="1">
              <a:spLocks noChangeArrowheads="1"/>
            </p:cNvSpPr>
            <p:nvPr/>
          </p:nvSpPr>
          <p:spPr bwMode="auto">
            <a:xfrm>
              <a:off x="4150" y="709"/>
              <a:ext cx="11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grpSp>
      <p:grpSp>
        <p:nvGrpSpPr>
          <p:cNvPr id="5126" name="Group 33"/>
          <p:cNvGrpSpPr>
            <a:grpSpLocks/>
          </p:cNvGrpSpPr>
          <p:nvPr/>
        </p:nvGrpSpPr>
        <p:grpSpPr bwMode="auto">
          <a:xfrm>
            <a:off x="4572000" y="2060575"/>
            <a:ext cx="2736850" cy="2071688"/>
            <a:chOff x="5374" y="754"/>
            <a:chExt cx="1724" cy="1305"/>
          </a:xfrm>
        </p:grpSpPr>
        <p:sp>
          <p:nvSpPr>
            <p:cNvPr id="5127" name="Text Box 29"/>
            <p:cNvSpPr txBox="1">
              <a:spLocks noChangeArrowheads="1"/>
            </p:cNvSpPr>
            <p:nvPr/>
          </p:nvSpPr>
          <p:spPr bwMode="auto">
            <a:xfrm>
              <a:off x="5374" y="1012"/>
              <a:ext cx="7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t>table</a:t>
              </a:r>
            </a:p>
          </p:txBody>
        </p:sp>
        <p:grpSp>
          <p:nvGrpSpPr>
            <p:cNvPr id="5128" name="Group 31"/>
            <p:cNvGrpSpPr>
              <a:grpSpLocks/>
            </p:cNvGrpSpPr>
            <p:nvPr/>
          </p:nvGrpSpPr>
          <p:grpSpPr bwMode="auto">
            <a:xfrm>
              <a:off x="5760" y="754"/>
              <a:ext cx="1338" cy="1305"/>
              <a:chOff x="5760" y="754"/>
              <a:chExt cx="1338" cy="1305"/>
            </a:xfrm>
          </p:grpSpPr>
          <p:sp>
            <p:nvSpPr>
              <p:cNvPr id="5129" name="Text Box 25"/>
              <p:cNvSpPr txBox="1">
                <a:spLocks noChangeArrowheads="1"/>
              </p:cNvSpPr>
              <p:nvPr/>
            </p:nvSpPr>
            <p:spPr bwMode="auto">
              <a:xfrm>
                <a:off x="6101" y="1036"/>
                <a:ext cx="997"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c1=1/(8*9)</a:t>
                </a:r>
              </a:p>
            </p:txBody>
          </p:sp>
          <p:sp>
            <p:nvSpPr>
              <p:cNvPr id="5130" name="Text Box 26"/>
              <p:cNvSpPr txBox="1">
                <a:spLocks noChangeArrowheads="1"/>
              </p:cNvSpPr>
              <p:nvPr/>
            </p:nvSpPr>
            <p:spPr bwMode="auto">
              <a:xfrm>
                <a:off x="6101" y="1298"/>
                <a:ext cx="997"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c2=1/(6*7)</a:t>
                </a:r>
              </a:p>
            </p:txBody>
          </p:sp>
          <p:sp>
            <p:nvSpPr>
              <p:cNvPr id="5131" name="Text Box 27"/>
              <p:cNvSpPr txBox="1">
                <a:spLocks noChangeArrowheads="1"/>
              </p:cNvSpPr>
              <p:nvPr/>
            </p:nvSpPr>
            <p:spPr bwMode="auto">
              <a:xfrm>
                <a:off x="6101" y="1550"/>
                <a:ext cx="997"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c3=1/(4*5)</a:t>
                </a:r>
              </a:p>
            </p:txBody>
          </p:sp>
          <p:sp>
            <p:nvSpPr>
              <p:cNvPr id="5132" name="Text Box 28"/>
              <p:cNvSpPr txBox="1">
                <a:spLocks noChangeArrowheads="1"/>
              </p:cNvSpPr>
              <p:nvPr/>
            </p:nvSpPr>
            <p:spPr bwMode="auto">
              <a:xfrm>
                <a:off x="6101" y="1803"/>
                <a:ext cx="997" cy="256"/>
              </a:xfrm>
              <a:prstGeom prst="rect">
                <a:avLst/>
              </a:prstGeom>
              <a:solidFill>
                <a:srgbClr val="00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c4=1/(2*3)</a:t>
                </a:r>
              </a:p>
            </p:txBody>
          </p:sp>
          <p:sp>
            <p:nvSpPr>
              <p:cNvPr id="5133" name="Text Box 30"/>
              <p:cNvSpPr txBox="1">
                <a:spLocks noChangeArrowheads="1"/>
              </p:cNvSpPr>
              <p:nvPr/>
            </p:nvSpPr>
            <p:spPr bwMode="auto">
              <a:xfrm>
                <a:off x="5760" y="754"/>
                <a:ext cx="11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程序存储器</a:t>
                </a:r>
              </a:p>
            </p:txBody>
          </p:sp>
        </p:grpSp>
      </p:grpSp>
      <p:graphicFrame>
        <p:nvGraphicFramePr>
          <p:cNvPr id="841762" name="Object 34" descr="小棋盘"/>
          <p:cNvGraphicFramePr>
            <a:graphicFrameLocks noChangeAspect="1"/>
          </p:cNvGraphicFramePr>
          <p:nvPr/>
        </p:nvGraphicFramePr>
        <p:xfrm>
          <a:off x="323850" y="5300663"/>
          <a:ext cx="8643938" cy="649287"/>
        </p:xfrm>
        <a:graphic>
          <a:graphicData uri="http://schemas.openxmlformats.org/presentationml/2006/ole">
            <mc:AlternateContent xmlns:mc="http://schemas.openxmlformats.org/markup-compatibility/2006">
              <mc:Choice xmlns:v="urn:schemas-microsoft-com:vml" Requires="v">
                <p:oleObj spid="_x0000_s4098" name="公式" r:id="rId3" imgW="4343400" imgH="419100" progId="">
                  <p:embed/>
                </p:oleObj>
              </mc:Choice>
              <mc:Fallback>
                <p:oleObj name="公式" r:id="rId3" imgW="4343400" imgH="419100" progId="">
                  <p:embed/>
                  <p:pic>
                    <p:nvPicPr>
                      <p:cNvPr id="0" name="Picture 47" descr="小棋盘"/>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5300663"/>
                        <a:ext cx="8643938" cy="649287"/>
                      </a:xfrm>
                      <a:prstGeom prst="rect">
                        <a:avLst/>
                      </a:prstGeom>
                      <a:blipFill dpi="0" rotWithShape="0">
                        <a:blip r:embed="rId5"/>
                        <a:srcRect/>
                        <a:tile tx="0" ty="0" sx="100000" sy="100000" flip="none" algn="tl"/>
                      </a:blipFill>
                      <a:ln w="28575">
                        <a:solidFill>
                          <a:srgbClr val="FF00FF"/>
                        </a:solidFill>
                        <a:miter lim="800000"/>
                        <a:headEnd/>
                        <a:tailEnd/>
                      </a:ln>
                    </p:spPr>
                  </p:pic>
                </p:oleObj>
              </mc:Fallback>
            </mc:AlternateContent>
          </a:graphicData>
        </a:graphic>
      </p:graphicFrame>
      <p:graphicFrame>
        <p:nvGraphicFramePr>
          <p:cNvPr id="5123" name="Object 35"/>
          <p:cNvGraphicFramePr>
            <a:graphicFrameLocks noChangeAspect="1"/>
          </p:cNvGraphicFramePr>
          <p:nvPr/>
        </p:nvGraphicFramePr>
        <p:xfrm>
          <a:off x="0" y="5995988"/>
          <a:ext cx="9144000" cy="804862"/>
        </p:xfrm>
        <a:graphic>
          <a:graphicData uri="http://schemas.openxmlformats.org/presentationml/2006/ole">
            <mc:AlternateContent xmlns:mc="http://schemas.openxmlformats.org/markup-compatibility/2006">
              <mc:Choice xmlns:v="urn:schemas-microsoft-com:vml" Requires="v">
                <p:oleObj spid="_x0000_s4099" name="公式" r:id="rId6" imgW="2743200" imgH="241300" progId="">
                  <p:embed/>
                </p:oleObj>
              </mc:Choice>
              <mc:Fallback>
                <p:oleObj name="公式" r:id="rId6" imgW="2743200" imgH="241300" progId="">
                  <p:embed/>
                  <p:pic>
                    <p:nvPicPr>
                      <p:cNvPr id="0" name="Picture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5995988"/>
                        <a:ext cx="9144000" cy="804862"/>
                      </a:xfrm>
                      <a:prstGeom prst="rect">
                        <a:avLst/>
                      </a:prstGeom>
                      <a:solidFill>
                        <a:srgbClr val="FFFF99"/>
                      </a:solidFill>
                      <a:ln w="9525">
                        <a:solidFill>
                          <a:schemeClr val="bg2"/>
                        </a:solidFill>
                        <a:miter lim="800000"/>
                        <a:headEnd/>
                        <a:tailEnd/>
                      </a:ln>
                    </p:spPr>
                  </p:pic>
                </p:oleObj>
              </mc:Fallback>
            </mc:AlternateContent>
          </a:graphicData>
        </a:graphic>
      </p:graphicFrame>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841762"/>
                                        </p:tgtEl>
                                        <p:attrNameLst>
                                          <p:attrName>style.visibility</p:attrName>
                                        </p:attrNameLst>
                                      </p:cBhvr>
                                      <p:to>
                                        <p:strVal val="visible"/>
                                      </p:to>
                                    </p:set>
                                    <p:animEffect transition="in" filter="slide(fromRight)">
                                      <p:cBhvr>
                                        <p:cTn id="7" dur="500"/>
                                        <p:tgtEl>
                                          <p:spTgt spid="841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7643995-1EF5-43E2-8616-D408786A60C0}" type="slidenum">
              <a:rPr lang="en-US" altLang="zh-CN" sz="1400"/>
              <a:pPr eaLnBrk="1" hangingPunct="1"/>
              <a:t>62</a:t>
            </a:fld>
            <a:endParaRPr lang="en-US" altLang="zh-CN" sz="1400"/>
          </a:p>
        </p:txBody>
      </p:sp>
      <p:sp>
        <p:nvSpPr>
          <p:cNvPr id="842754" name="Rectangle 2"/>
          <p:cNvSpPr>
            <a:spLocks noChangeArrowheads="1"/>
          </p:cNvSpPr>
          <p:nvPr/>
        </p:nvSpPr>
        <p:spPr bwMode="auto">
          <a:xfrm>
            <a:off x="228600" y="1066800"/>
            <a:ext cx="8686800" cy="547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10000"/>
              </a:spcBef>
            </a:pPr>
            <a:r>
              <a:rPr lang="en-US" altLang="zh-CN" b="1"/>
              <a:t>             .title     “sinx.asm”      </a:t>
            </a:r>
            <a:r>
              <a:rPr lang="zh-CN" altLang="en-US" b="1"/>
              <a:t>；为程序取名</a:t>
            </a:r>
          </a:p>
          <a:p>
            <a:pPr algn="just">
              <a:lnSpc>
                <a:spcPct val="90000"/>
              </a:lnSpc>
              <a:spcBef>
                <a:spcPct val="10000"/>
              </a:spcBef>
            </a:pPr>
            <a:r>
              <a:rPr lang="zh-CN" altLang="en-US" b="1"/>
              <a:t>             </a:t>
            </a:r>
            <a:r>
              <a:rPr lang="en-US" altLang="zh-CN" b="1"/>
              <a:t>.mmregs                       </a:t>
            </a:r>
            <a:r>
              <a:rPr lang="zh-CN" altLang="en-US" b="1"/>
              <a:t>；定义存储器映象寄存器</a:t>
            </a:r>
          </a:p>
          <a:p>
            <a:pPr algn="just">
              <a:lnSpc>
                <a:spcPct val="90000"/>
              </a:lnSpc>
              <a:spcBef>
                <a:spcPct val="10000"/>
              </a:spcBef>
            </a:pPr>
            <a:r>
              <a:rPr lang="zh-CN" altLang="en-US" b="1"/>
              <a:t>             </a:t>
            </a:r>
            <a:r>
              <a:rPr lang="en-US" altLang="zh-CN" b="1"/>
              <a:t>.def    start                   </a:t>
            </a:r>
            <a:r>
              <a:rPr lang="zh-CN" altLang="en-US" b="1"/>
              <a:t>；定义标号</a:t>
            </a:r>
            <a:r>
              <a:rPr lang="en-US" altLang="zh-CN" b="1"/>
              <a:t>start </a:t>
            </a:r>
          </a:p>
          <a:p>
            <a:pPr algn="just">
              <a:lnSpc>
                <a:spcPct val="90000"/>
              </a:lnSpc>
              <a:spcBef>
                <a:spcPct val="10000"/>
              </a:spcBef>
            </a:pPr>
            <a:r>
              <a:rPr lang="en-US" altLang="zh-CN" b="1"/>
              <a:t>             .ref    sin_start,d_x,d_sinx </a:t>
            </a:r>
            <a:r>
              <a:rPr lang="zh-CN" altLang="en-US" b="1"/>
              <a:t>；引用别处定义的</a:t>
            </a:r>
          </a:p>
          <a:p>
            <a:pPr algn="just">
              <a:lnSpc>
                <a:spcPct val="90000"/>
              </a:lnSpc>
              <a:spcBef>
                <a:spcPct val="10000"/>
              </a:spcBef>
            </a:pPr>
            <a:r>
              <a:rPr lang="zh-CN" altLang="en-US" b="1"/>
              <a:t>                                                  ； </a:t>
            </a:r>
            <a:r>
              <a:rPr lang="en-US" altLang="zh-CN" b="1"/>
              <a:t>sin_start,d_x,d_sinx</a:t>
            </a:r>
          </a:p>
          <a:p>
            <a:pPr algn="just">
              <a:lnSpc>
                <a:spcPct val="90000"/>
              </a:lnSpc>
              <a:spcBef>
                <a:spcPct val="10000"/>
              </a:spcBef>
            </a:pPr>
            <a:r>
              <a:rPr lang="en-US" altLang="zh-CN" sz="2000" b="1"/>
              <a:t>STACK:.</a:t>
            </a:r>
            <a:r>
              <a:rPr lang="en-US" altLang="zh-CN" b="1"/>
              <a:t>usect  </a:t>
            </a:r>
            <a:r>
              <a:rPr lang="en-US" altLang="zh-CN" sz="2000" b="1"/>
              <a:t>“STACK”,</a:t>
            </a:r>
            <a:r>
              <a:rPr lang="en-US" altLang="zh-CN" b="1"/>
              <a:t>10      </a:t>
            </a:r>
            <a:r>
              <a:rPr lang="zh-CN" altLang="en-US" b="1"/>
              <a:t>；设置堆栈空间的大小和起始位置                                </a:t>
            </a:r>
          </a:p>
          <a:p>
            <a:pPr algn="just">
              <a:lnSpc>
                <a:spcPct val="90000"/>
              </a:lnSpc>
              <a:spcBef>
                <a:spcPct val="10000"/>
              </a:spcBef>
            </a:pPr>
            <a:r>
              <a:rPr lang="en-US" altLang="zh-CN" b="1"/>
              <a:t>start:    STM  #</a:t>
            </a:r>
            <a:r>
              <a:rPr lang="en-US" altLang="zh-CN" sz="2000" b="1"/>
              <a:t>STACK</a:t>
            </a:r>
            <a:r>
              <a:rPr lang="en-US" altLang="zh-CN" b="1"/>
              <a:t>+10,SP</a:t>
            </a:r>
            <a:r>
              <a:rPr lang="zh-CN" altLang="en-US" b="1"/>
              <a:t>；</a:t>
            </a:r>
            <a:r>
              <a:rPr lang="zh-CN" altLang="en-US" sz="2000" b="1"/>
              <a:t>设置堆栈指针初始指向的栈底位置</a:t>
            </a:r>
          </a:p>
          <a:p>
            <a:pPr algn="just">
              <a:lnSpc>
                <a:spcPct val="90000"/>
              </a:lnSpc>
              <a:spcBef>
                <a:spcPct val="10000"/>
              </a:spcBef>
            </a:pPr>
            <a:r>
              <a:rPr lang="zh-CN" altLang="en-US" b="1"/>
              <a:t>             </a:t>
            </a:r>
            <a:r>
              <a:rPr lang="en-US" altLang="zh-CN" b="1"/>
              <a:t>LD     #d_x,DP            </a:t>
            </a:r>
            <a:r>
              <a:rPr lang="zh-CN" altLang="en-US" b="1"/>
              <a:t>；</a:t>
            </a:r>
            <a:r>
              <a:rPr lang="zh-CN" altLang="en-US" sz="2000" b="1"/>
              <a:t>设置数据存储器页指针的起始位置</a:t>
            </a:r>
          </a:p>
          <a:p>
            <a:pPr algn="just">
              <a:lnSpc>
                <a:spcPct val="90000"/>
              </a:lnSpc>
              <a:spcBef>
                <a:spcPct val="10000"/>
              </a:spcBef>
            </a:pPr>
            <a:r>
              <a:rPr lang="zh-CN" altLang="en-US" b="1"/>
              <a:t>             </a:t>
            </a:r>
            <a:r>
              <a:rPr lang="en-US" altLang="zh-CN" b="1"/>
              <a:t>ST      #6487h,d_x       </a:t>
            </a:r>
            <a:r>
              <a:rPr lang="zh-CN" altLang="en-US" b="1"/>
              <a:t>；将</a:t>
            </a:r>
            <a:r>
              <a:rPr lang="en-US" altLang="zh-CN" b="1" i="1"/>
              <a:t>x</a:t>
            </a:r>
            <a:r>
              <a:rPr lang="zh-CN" altLang="en-US" b="1"/>
              <a:t>值送入地址为</a:t>
            </a:r>
            <a:r>
              <a:rPr lang="en-US" altLang="zh-CN" b="1"/>
              <a:t>d_x</a:t>
            </a:r>
            <a:r>
              <a:rPr lang="zh-CN" altLang="en-US" b="1"/>
              <a:t>的单元中</a:t>
            </a:r>
          </a:p>
          <a:p>
            <a:pPr algn="just">
              <a:lnSpc>
                <a:spcPct val="90000"/>
              </a:lnSpc>
              <a:spcBef>
                <a:spcPct val="10000"/>
              </a:spcBef>
            </a:pPr>
            <a:r>
              <a:rPr lang="zh-CN" altLang="en-US" b="1"/>
              <a:t>             </a:t>
            </a:r>
            <a:r>
              <a:rPr lang="en-US" altLang="zh-CN" b="1"/>
              <a:t>CALL  sin_start          </a:t>
            </a:r>
            <a:r>
              <a:rPr lang="zh-CN" altLang="en-US" b="1"/>
              <a:t>；调用计算正弦值的子程序</a:t>
            </a:r>
          </a:p>
          <a:p>
            <a:pPr algn="just">
              <a:lnSpc>
                <a:spcPct val="90000"/>
              </a:lnSpc>
              <a:spcBef>
                <a:spcPct val="10000"/>
              </a:spcBef>
            </a:pPr>
            <a:r>
              <a:rPr lang="en-US" altLang="zh-CN" b="1"/>
              <a:t>end:      B        end                     </a:t>
            </a:r>
            <a:r>
              <a:rPr lang="zh-CN" altLang="en-US" b="1"/>
              <a:t>；循环等待</a:t>
            </a:r>
          </a:p>
          <a:p>
            <a:pPr algn="just">
              <a:lnSpc>
                <a:spcPct val="90000"/>
              </a:lnSpc>
              <a:spcBef>
                <a:spcPct val="10000"/>
              </a:spcBef>
            </a:pPr>
            <a:r>
              <a:rPr lang="en-US" altLang="zh-CN" b="1"/>
              <a:t>sin_start:  </a:t>
            </a:r>
          </a:p>
          <a:p>
            <a:pPr algn="just">
              <a:lnSpc>
                <a:spcPct val="90000"/>
              </a:lnSpc>
              <a:spcBef>
                <a:spcPct val="10000"/>
              </a:spcBef>
            </a:pPr>
            <a:r>
              <a:rPr lang="en-US" altLang="zh-CN" b="1"/>
              <a:t>             .def    sin_start             </a:t>
            </a:r>
            <a:r>
              <a:rPr lang="zh-CN" altLang="en-US" b="1"/>
              <a:t>；定义标号</a:t>
            </a:r>
            <a:r>
              <a:rPr lang="en-US" altLang="zh-CN" b="1"/>
              <a:t>sin_start</a:t>
            </a:r>
            <a:r>
              <a:rPr lang="zh-CN" altLang="en-US" b="1"/>
              <a:t>的起始位置</a:t>
            </a:r>
          </a:p>
          <a:p>
            <a:pPr algn="just">
              <a:lnSpc>
                <a:spcPct val="90000"/>
              </a:lnSpc>
              <a:spcBef>
                <a:spcPct val="10000"/>
              </a:spcBef>
            </a:pPr>
            <a:r>
              <a:rPr lang="en-US" altLang="zh-CN" b="1"/>
              <a:t>d_coeff .usect  “coeff”,4           </a:t>
            </a:r>
            <a:r>
              <a:rPr lang="zh-CN" altLang="en-US" b="1"/>
              <a:t>；定义</a:t>
            </a:r>
            <a:r>
              <a:rPr lang="en-US" altLang="zh-CN" b="1"/>
              <a:t>4</a:t>
            </a:r>
            <a:r>
              <a:rPr lang="zh-CN" altLang="en-US" b="1"/>
              <a:t>个单元的未初始化段</a:t>
            </a:r>
            <a:r>
              <a:rPr lang="en-US" altLang="zh-CN" b="1"/>
              <a:t>coeff</a:t>
            </a:r>
          </a:p>
          <a:p>
            <a:pPr algn="just">
              <a:lnSpc>
                <a:spcPct val="75000"/>
              </a:lnSpc>
              <a:spcBef>
                <a:spcPct val="10000"/>
              </a:spcBef>
            </a:pPr>
            <a:r>
              <a:rPr lang="en-US" altLang="zh-CN" b="1">
                <a:latin typeface="宋体" panose="02010600030101010101" pitchFamily="2" charset="-122"/>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42754"/>
                                        </p:tgtEl>
                                        <p:attrNameLst>
                                          <p:attrName>style.visibility</p:attrName>
                                        </p:attrNameLst>
                                      </p:cBhvr>
                                      <p:to>
                                        <p:strVal val="visible"/>
                                      </p:to>
                                    </p:set>
                                    <p:animEffect transition="in" filter="blinds(horizontal)">
                                      <p:cBhvr>
                                        <p:cTn id="7" dur="500"/>
                                        <p:tgtEl>
                                          <p:spTgt spid="842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5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9FF7469-F05C-4981-A69A-24488F2DB8FE}" type="slidenum">
              <a:rPr lang="en-US" altLang="zh-CN" sz="1400"/>
              <a:pPr eaLnBrk="1" hangingPunct="1"/>
              <a:t>63</a:t>
            </a:fld>
            <a:endParaRPr lang="en-US" altLang="zh-CN" sz="1400"/>
          </a:p>
        </p:txBody>
      </p:sp>
      <p:sp>
        <p:nvSpPr>
          <p:cNvPr id="843778" name="Rectangle 2"/>
          <p:cNvSpPr>
            <a:spLocks noChangeArrowheads="1"/>
          </p:cNvSpPr>
          <p:nvPr/>
        </p:nvSpPr>
        <p:spPr bwMode="auto">
          <a:xfrm>
            <a:off x="228600" y="990600"/>
            <a:ext cx="8686800" cy="547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spcBef>
                <a:spcPct val="50000"/>
              </a:spcBef>
            </a:pPr>
            <a:r>
              <a:rPr lang="en-US" altLang="zh-CN" b="1"/>
              <a:t>                .data</a:t>
            </a:r>
          </a:p>
          <a:p>
            <a:pPr>
              <a:lnSpc>
                <a:spcPct val="75000"/>
              </a:lnSpc>
              <a:spcBef>
                <a:spcPct val="50000"/>
              </a:spcBef>
            </a:pPr>
            <a:r>
              <a:rPr lang="en-US" altLang="zh-CN" b="1"/>
              <a:t>table:       .word   01c7h          </a:t>
            </a:r>
            <a:r>
              <a:rPr lang="zh-CN" altLang="en-US" b="1"/>
              <a:t>；</a:t>
            </a:r>
            <a:r>
              <a:rPr lang="zh-CN" altLang="en-US" sz="2000" b="1"/>
              <a:t>在程序空间定义</a:t>
            </a:r>
            <a:r>
              <a:rPr lang="en-US" altLang="zh-CN" sz="2000" b="1"/>
              <a:t>4</a:t>
            </a:r>
            <a:r>
              <a:rPr lang="zh-CN" altLang="en-US" sz="2000" b="1"/>
              <a:t>个系数</a:t>
            </a:r>
            <a:r>
              <a:rPr lang="en-US" altLang="zh-CN" sz="2000" b="1"/>
              <a:t>,c1=1/</a:t>
            </a:r>
            <a:r>
              <a:rPr lang="zh-CN" altLang="en-US" sz="2000" b="1"/>
              <a:t>（</a:t>
            </a:r>
            <a:r>
              <a:rPr lang="en-US" altLang="zh-CN" sz="2000" b="1"/>
              <a:t>8*9</a:t>
            </a:r>
            <a:r>
              <a:rPr lang="zh-CN" altLang="en-US" sz="2000" b="1"/>
              <a:t>）</a:t>
            </a:r>
          </a:p>
          <a:p>
            <a:pPr>
              <a:lnSpc>
                <a:spcPct val="75000"/>
              </a:lnSpc>
              <a:spcBef>
                <a:spcPct val="50000"/>
              </a:spcBef>
            </a:pPr>
            <a:r>
              <a:rPr lang="zh-CN" altLang="en-US" b="1"/>
              <a:t>                </a:t>
            </a:r>
            <a:r>
              <a:rPr lang="en-US" altLang="zh-CN" b="1"/>
              <a:t>.word   030bh          </a:t>
            </a:r>
            <a:r>
              <a:rPr lang="zh-CN" altLang="en-US" b="1"/>
              <a:t>；</a:t>
            </a:r>
            <a:r>
              <a:rPr lang="en-US" altLang="zh-CN" b="1"/>
              <a:t>c2=1/</a:t>
            </a:r>
            <a:r>
              <a:rPr lang="zh-CN" altLang="en-US" b="1"/>
              <a:t>（</a:t>
            </a:r>
            <a:r>
              <a:rPr lang="en-US" altLang="zh-CN" b="1"/>
              <a:t>6*7</a:t>
            </a:r>
            <a:r>
              <a:rPr lang="zh-CN" altLang="en-US" b="1"/>
              <a:t>）</a:t>
            </a:r>
          </a:p>
          <a:p>
            <a:pPr>
              <a:lnSpc>
                <a:spcPct val="75000"/>
              </a:lnSpc>
              <a:spcBef>
                <a:spcPct val="50000"/>
              </a:spcBef>
            </a:pPr>
            <a:r>
              <a:rPr lang="zh-CN" altLang="en-US" b="1"/>
              <a:t>                </a:t>
            </a:r>
            <a:r>
              <a:rPr lang="en-US" altLang="zh-CN" b="1"/>
              <a:t>.word   0666h          </a:t>
            </a:r>
            <a:r>
              <a:rPr lang="zh-CN" altLang="en-US" b="1"/>
              <a:t>；</a:t>
            </a:r>
            <a:r>
              <a:rPr lang="en-US" altLang="zh-CN" b="1"/>
              <a:t>c3=1/</a:t>
            </a:r>
            <a:r>
              <a:rPr lang="zh-CN" altLang="en-US" b="1"/>
              <a:t>（</a:t>
            </a:r>
            <a:r>
              <a:rPr lang="en-US" altLang="zh-CN" b="1"/>
              <a:t>4*5</a:t>
            </a:r>
            <a:r>
              <a:rPr lang="zh-CN" altLang="en-US" b="1"/>
              <a:t>）</a:t>
            </a:r>
          </a:p>
          <a:p>
            <a:pPr>
              <a:lnSpc>
                <a:spcPct val="75000"/>
              </a:lnSpc>
              <a:spcBef>
                <a:spcPct val="50000"/>
              </a:spcBef>
            </a:pPr>
            <a:r>
              <a:rPr lang="zh-CN" altLang="en-US" b="1"/>
              <a:t>                </a:t>
            </a:r>
            <a:r>
              <a:rPr lang="en-US" altLang="zh-CN" b="1"/>
              <a:t>.word   1556h          </a:t>
            </a:r>
            <a:r>
              <a:rPr lang="zh-CN" altLang="en-US" b="1"/>
              <a:t>；</a:t>
            </a:r>
            <a:r>
              <a:rPr lang="en-US" altLang="zh-CN" b="1"/>
              <a:t>c4=1/</a:t>
            </a:r>
            <a:r>
              <a:rPr lang="zh-CN" altLang="en-US" b="1"/>
              <a:t>（</a:t>
            </a:r>
            <a:r>
              <a:rPr lang="en-US" altLang="zh-CN" b="1"/>
              <a:t>2*3</a:t>
            </a:r>
            <a:r>
              <a:rPr lang="zh-CN" altLang="en-US" b="1"/>
              <a:t>）</a:t>
            </a:r>
          </a:p>
          <a:p>
            <a:pPr>
              <a:lnSpc>
                <a:spcPct val="75000"/>
              </a:lnSpc>
              <a:spcBef>
                <a:spcPct val="50000"/>
              </a:spcBef>
            </a:pPr>
            <a:r>
              <a:rPr lang="en-US" altLang="zh-CN" b="1"/>
              <a:t>d_x          .usect  “sin_vars”,1 </a:t>
            </a:r>
            <a:r>
              <a:rPr lang="zh-CN" altLang="en-US" b="1"/>
              <a:t>；</a:t>
            </a:r>
            <a:r>
              <a:rPr lang="zh-CN" altLang="en-US" sz="2000" b="1"/>
              <a:t>在自定义的未初始化段</a:t>
            </a:r>
            <a:r>
              <a:rPr lang="en-US" altLang="zh-CN" sz="2000" b="1"/>
              <a:t>sin_vars</a:t>
            </a:r>
            <a:r>
              <a:rPr lang="zh-CN" altLang="en-US" sz="2000" b="1"/>
              <a:t>中</a:t>
            </a:r>
          </a:p>
          <a:p>
            <a:pPr>
              <a:lnSpc>
                <a:spcPct val="75000"/>
              </a:lnSpc>
              <a:spcBef>
                <a:spcPct val="50000"/>
              </a:spcBef>
            </a:pPr>
            <a:r>
              <a:rPr lang="en-US" altLang="zh-CN" b="1"/>
              <a:t>d_squr_x .usect  “sin_vars”,1 </a:t>
            </a:r>
            <a:r>
              <a:rPr lang="zh-CN" altLang="en-US" b="1"/>
              <a:t>；</a:t>
            </a:r>
            <a:r>
              <a:rPr lang="zh-CN" altLang="en-US" sz="2000" b="1"/>
              <a:t>保留</a:t>
            </a:r>
            <a:r>
              <a:rPr lang="en-US" altLang="zh-CN" sz="2000" b="1"/>
              <a:t>5</a:t>
            </a:r>
            <a:r>
              <a:rPr lang="zh-CN" altLang="en-US" sz="2000" b="1"/>
              <a:t>个单元的的空间，它们通常</a:t>
            </a:r>
          </a:p>
          <a:p>
            <a:pPr>
              <a:lnSpc>
                <a:spcPct val="75000"/>
              </a:lnSpc>
              <a:spcBef>
                <a:spcPct val="50000"/>
              </a:spcBef>
            </a:pPr>
            <a:r>
              <a:rPr lang="en-US" altLang="zh-CN" b="1"/>
              <a:t>d_temp    .usect  “sin_vars”,1 </a:t>
            </a:r>
            <a:r>
              <a:rPr lang="zh-CN" altLang="en-US" b="1"/>
              <a:t>；</a:t>
            </a:r>
            <a:r>
              <a:rPr lang="zh-CN" altLang="en-US" sz="2000" b="1"/>
              <a:t>被安排在</a:t>
            </a:r>
            <a:r>
              <a:rPr lang="en-US" altLang="zh-CN" sz="2000" b="1"/>
              <a:t>RAM</a:t>
            </a:r>
            <a:r>
              <a:rPr lang="zh-CN" altLang="en-US" sz="2000" b="1"/>
              <a:t>中，用于暂存变量</a:t>
            </a:r>
          </a:p>
          <a:p>
            <a:pPr>
              <a:lnSpc>
                <a:spcPct val="75000"/>
              </a:lnSpc>
              <a:spcBef>
                <a:spcPct val="50000"/>
              </a:spcBef>
            </a:pPr>
            <a:r>
              <a:rPr lang="en-US" altLang="zh-CN" b="1"/>
              <a:t>d_sinx     .usect  “sin_vars”,1 </a:t>
            </a:r>
          </a:p>
          <a:p>
            <a:pPr>
              <a:lnSpc>
                <a:spcPct val="75000"/>
              </a:lnSpc>
              <a:spcBef>
                <a:spcPct val="50000"/>
              </a:spcBef>
            </a:pPr>
            <a:r>
              <a:rPr lang="en-US" altLang="zh-CN" b="1"/>
              <a:t>c_1          .usect  “sin_vars”,1</a:t>
            </a:r>
          </a:p>
          <a:p>
            <a:pPr>
              <a:lnSpc>
                <a:spcPct val="75000"/>
              </a:lnSpc>
              <a:spcBef>
                <a:spcPct val="15000"/>
              </a:spcBef>
            </a:pPr>
            <a:r>
              <a:rPr lang="zh-CN" altLang="en-US" b="1"/>
              <a:t>　　　　</a:t>
            </a:r>
            <a:r>
              <a:rPr lang="en-US" altLang="zh-CN" b="1"/>
              <a:t>.text                         </a:t>
            </a:r>
            <a:r>
              <a:rPr lang="zh-CN" altLang="en-US" b="1"/>
              <a:t>；完成正弦计算的可执行代码段</a:t>
            </a:r>
          </a:p>
          <a:p>
            <a:pPr>
              <a:lnSpc>
                <a:spcPct val="75000"/>
              </a:lnSpc>
              <a:spcBef>
                <a:spcPct val="15000"/>
              </a:spcBef>
            </a:pPr>
            <a:r>
              <a:rPr lang="zh-CN" altLang="en-US" b="1"/>
              <a:t>　　　　</a:t>
            </a:r>
            <a:r>
              <a:rPr lang="en-US" altLang="zh-CN" b="1">
                <a:solidFill>
                  <a:srgbClr val="FF00FF"/>
                </a:solidFill>
              </a:rPr>
              <a:t>SSBX    FRCT</a:t>
            </a:r>
            <a:r>
              <a:rPr lang="en-US" altLang="zh-CN" b="1"/>
              <a:t>   </a:t>
            </a:r>
            <a:r>
              <a:rPr lang="zh-CN" altLang="en-US" b="1"/>
              <a:t>　 ；</a:t>
            </a:r>
            <a:r>
              <a:rPr lang="zh-CN" altLang="en-US" sz="2000" b="1"/>
              <a:t>设置进行小数乘法，以便自动左移一位             </a:t>
            </a:r>
          </a:p>
          <a:p>
            <a:pPr>
              <a:lnSpc>
                <a:spcPct val="75000"/>
              </a:lnSpc>
              <a:spcBef>
                <a:spcPct val="15000"/>
              </a:spcBef>
            </a:pPr>
            <a:r>
              <a:rPr lang="zh-CN" altLang="en-US" b="1"/>
              <a:t>　　　　</a:t>
            </a:r>
            <a:r>
              <a:rPr lang="en-US" altLang="zh-CN" b="1"/>
              <a:t>STM     #d_coeff,AR5</a:t>
            </a:r>
            <a:r>
              <a:rPr lang="zh-CN" altLang="en-US" b="1"/>
              <a:t>；将</a:t>
            </a:r>
            <a:r>
              <a:rPr lang="en-US" altLang="zh-CN" sz="2000" b="1"/>
              <a:t>4</a:t>
            </a:r>
            <a:r>
              <a:rPr lang="zh-CN" altLang="en-US" sz="2000" b="1"/>
              <a:t>个系数的首地址</a:t>
            </a:r>
            <a:r>
              <a:rPr lang="en-US" altLang="zh-CN" b="1"/>
              <a:t>d_coeff</a:t>
            </a:r>
            <a:r>
              <a:rPr lang="en-US" altLang="zh-CN" sz="2000" b="1"/>
              <a:t> </a:t>
            </a:r>
            <a:r>
              <a:rPr lang="zh-CN" altLang="en-US" sz="2000" b="1"/>
              <a:t>送</a:t>
            </a:r>
            <a:r>
              <a:rPr lang="en-US" altLang="zh-CN" sz="2000" b="1"/>
              <a:t>AR5</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43778"/>
                                        </p:tgtEl>
                                        <p:attrNameLst>
                                          <p:attrName>style.visibility</p:attrName>
                                        </p:attrNameLst>
                                      </p:cBhvr>
                                      <p:to>
                                        <p:strVal val="visible"/>
                                      </p:to>
                                    </p:set>
                                    <p:animEffect transition="in" filter="blinds(horizontal)">
                                      <p:cBhvr>
                                        <p:cTn id="7" dur="500"/>
                                        <p:tgtEl>
                                          <p:spTgt spid="843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377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044D40C-DA47-4F32-BFD3-CD2F8B04BFBA}" type="slidenum">
              <a:rPr lang="en-US" altLang="zh-CN" sz="1400"/>
              <a:pPr eaLnBrk="1" hangingPunct="1"/>
              <a:t>64</a:t>
            </a:fld>
            <a:endParaRPr lang="en-US" altLang="zh-CN" sz="1400"/>
          </a:p>
        </p:txBody>
      </p:sp>
      <p:sp>
        <p:nvSpPr>
          <p:cNvPr id="844802" name="Rectangle 2"/>
          <p:cNvSpPr>
            <a:spLocks noChangeArrowheads="1"/>
          </p:cNvSpPr>
          <p:nvPr/>
        </p:nvSpPr>
        <p:spPr bwMode="auto">
          <a:xfrm>
            <a:off x="304800" y="1143000"/>
            <a:ext cx="8686800"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spcBef>
                <a:spcPct val="15000"/>
              </a:spcBef>
            </a:pPr>
            <a:r>
              <a:rPr lang="en-US" altLang="zh-CN" b="1"/>
              <a:t>RPT       #3     </a:t>
            </a:r>
            <a:r>
              <a:rPr lang="zh-CN" altLang="en-US" b="1"/>
              <a:t>　　　　  ；</a:t>
            </a:r>
            <a:r>
              <a:rPr lang="zh-CN" altLang="en-US" sz="2000" b="1"/>
              <a:t>重复执行下一指令</a:t>
            </a:r>
            <a:r>
              <a:rPr lang="en-US" altLang="zh-CN" sz="2000" b="1"/>
              <a:t>4</a:t>
            </a:r>
            <a:r>
              <a:rPr lang="zh-CN" altLang="en-US" sz="2000" b="1"/>
              <a:t>次，以便将程序空</a:t>
            </a:r>
          </a:p>
          <a:p>
            <a:pPr>
              <a:lnSpc>
                <a:spcPct val="75000"/>
              </a:lnSpc>
              <a:spcBef>
                <a:spcPct val="15000"/>
              </a:spcBef>
            </a:pPr>
            <a:r>
              <a:rPr lang="en-US" altLang="zh-CN" b="1"/>
              <a:t>MVPD   #table,*AR5+</a:t>
            </a:r>
            <a:r>
              <a:rPr lang="zh-CN" altLang="en-US" b="1"/>
              <a:t>　；间的</a:t>
            </a:r>
            <a:r>
              <a:rPr lang="en-US" altLang="zh-CN" b="1"/>
              <a:t>4</a:t>
            </a:r>
            <a:r>
              <a:rPr lang="zh-CN" altLang="en-US" b="1"/>
              <a:t>个系数传送到数据空间</a:t>
            </a:r>
            <a:r>
              <a:rPr lang="en-US" altLang="zh-CN" b="1"/>
              <a:t>d_coeff</a:t>
            </a:r>
          </a:p>
          <a:p>
            <a:pPr>
              <a:lnSpc>
                <a:spcPct val="75000"/>
              </a:lnSpc>
              <a:spcBef>
                <a:spcPct val="15000"/>
              </a:spcBef>
            </a:pPr>
            <a:r>
              <a:rPr lang="en-US" altLang="zh-CN" b="1"/>
              <a:t>STM  </a:t>
            </a:r>
            <a:r>
              <a:rPr lang="zh-CN" altLang="en-US" b="1"/>
              <a:t>　</a:t>
            </a:r>
            <a:r>
              <a:rPr lang="en-US" altLang="zh-CN" b="1"/>
              <a:t>#d_coeff,AR3    </a:t>
            </a:r>
            <a:r>
              <a:rPr lang="zh-CN" altLang="en-US" b="1"/>
              <a:t>；将系数所在空间</a:t>
            </a:r>
            <a:r>
              <a:rPr lang="en-US" altLang="zh-CN" b="1"/>
              <a:t>d_coeff</a:t>
            </a:r>
            <a:r>
              <a:rPr lang="zh-CN" altLang="en-US" b="1"/>
              <a:t>首地址送</a:t>
            </a:r>
            <a:r>
              <a:rPr lang="en-US" altLang="zh-CN" b="1"/>
              <a:t>AR3</a:t>
            </a:r>
          </a:p>
          <a:p>
            <a:pPr>
              <a:lnSpc>
                <a:spcPct val="75000"/>
              </a:lnSpc>
              <a:spcBef>
                <a:spcPct val="15000"/>
              </a:spcBef>
            </a:pPr>
            <a:r>
              <a:rPr lang="en-US" altLang="zh-CN" b="1"/>
              <a:t>STM      #d_x,AR2          </a:t>
            </a:r>
            <a:r>
              <a:rPr lang="zh-CN" altLang="en-US" b="1"/>
              <a:t>；将</a:t>
            </a:r>
            <a:r>
              <a:rPr lang="en-US" altLang="zh-CN" b="1" i="1"/>
              <a:t>θ</a:t>
            </a:r>
            <a:r>
              <a:rPr lang="zh-CN" altLang="en-US" b="1"/>
              <a:t>所在地址送</a:t>
            </a:r>
            <a:r>
              <a:rPr lang="en-US" altLang="zh-CN" b="1"/>
              <a:t>AR2</a:t>
            </a:r>
          </a:p>
          <a:p>
            <a:pPr>
              <a:lnSpc>
                <a:spcPct val="75000"/>
              </a:lnSpc>
              <a:spcBef>
                <a:spcPct val="15000"/>
              </a:spcBef>
            </a:pPr>
            <a:r>
              <a:rPr lang="en-US" altLang="zh-CN" b="1"/>
              <a:t>STM      #c_1,AR4          </a:t>
            </a:r>
            <a:r>
              <a:rPr lang="zh-CN" altLang="en-US" b="1"/>
              <a:t>；将小数的最大值</a:t>
            </a:r>
            <a:r>
              <a:rPr lang="en-US" altLang="zh-CN" b="1"/>
              <a:t>7fff</a:t>
            </a:r>
            <a:r>
              <a:rPr lang="zh-CN" altLang="en-US" b="1"/>
              <a:t>地址</a:t>
            </a:r>
            <a:r>
              <a:rPr lang="en-US" altLang="zh-CN" b="1"/>
              <a:t>c_1</a:t>
            </a:r>
            <a:r>
              <a:rPr lang="zh-CN" altLang="en-US" b="1"/>
              <a:t>送</a:t>
            </a:r>
            <a:r>
              <a:rPr lang="en-US" altLang="zh-CN" b="1"/>
              <a:t>AR4</a:t>
            </a:r>
          </a:p>
          <a:p>
            <a:pPr>
              <a:lnSpc>
                <a:spcPct val="75000"/>
              </a:lnSpc>
              <a:spcBef>
                <a:spcPct val="15000"/>
              </a:spcBef>
            </a:pPr>
            <a:r>
              <a:rPr lang="en-US" altLang="zh-CN" b="1"/>
              <a:t>ST         #7FFFh,c_1       </a:t>
            </a:r>
            <a:r>
              <a:rPr lang="zh-CN" altLang="en-US" b="1"/>
              <a:t>；将</a:t>
            </a:r>
            <a:r>
              <a:rPr lang="en-US" altLang="zh-CN" b="1"/>
              <a:t>#7FFFh</a:t>
            </a:r>
            <a:r>
              <a:rPr lang="zh-CN" altLang="en-US" b="1"/>
              <a:t>（即整数</a:t>
            </a:r>
            <a:r>
              <a:rPr lang="en-US" altLang="zh-CN" b="1"/>
              <a:t>1</a:t>
            </a:r>
            <a:r>
              <a:rPr lang="zh-CN" altLang="en-US" b="1"/>
              <a:t>）送</a:t>
            </a:r>
            <a:r>
              <a:rPr lang="en-US" altLang="zh-CN" b="1"/>
              <a:t>c_1</a:t>
            </a:r>
          </a:p>
          <a:p>
            <a:pPr>
              <a:lnSpc>
                <a:spcPct val="75000"/>
              </a:lnSpc>
              <a:spcBef>
                <a:spcPct val="15000"/>
              </a:spcBef>
            </a:pPr>
            <a:r>
              <a:rPr lang="en-US" altLang="zh-CN" b="1">
                <a:solidFill>
                  <a:schemeClr val="folHlink"/>
                </a:solidFill>
              </a:rPr>
              <a:t>SQUR    *AR2+,A</a:t>
            </a:r>
            <a:r>
              <a:rPr lang="en-US" altLang="zh-CN" b="1"/>
              <a:t>          </a:t>
            </a:r>
            <a:r>
              <a:rPr lang="zh-CN" altLang="en-US" b="1"/>
              <a:t>；</a:t>
            </a:r>
            <a:r>
              <a:rPr lang="en-US" altLang="zh-CN" b="1"/>
              <a:t>A=x</a:t>
            </a:r>
            <a:r>
              <a:rPr lang="en-US" altLang="zh-CN" b="1" baseline="30000"/>
              <a:t>2</a:t>
            </a:r>
            <a:r>
              <a:rPr lang="en-US" altLang="zh-CN" b="1"/>
              <a:t> </a:t>
            </a:r>
            <a:r>
              <a:rPr lang="zh-CN" altLang="en-US" b="1"/>
              <a:t>，</a:t>
            </a:r>
            <a:r>
              <a:rPr lang="en-US" altLang="zh-CN" b="1"/>
              <a:t>AR2</a:t>
            </a:r>
            <a:r>
              <a:rPr lang="zh-CN" altLang="en-US" b="1"/>
              <a:t>指向</a:t>
            </a:r>
            <a:r>
              <a:rPr lang="en-US" altLang="zh-CN" b="1"/>
              <a:t>d_squr_x</a:t>
            </a:r>
          </a:p>
          <a:p>
            <a:pPr>
              <a:lnSpc>
                <a:spcPct val="75000"/>
              </a:lnSpc>
              <a:spcBef>
                <a:spcPct val="15000"/>
              </a:spcBef>
            </a:pPr>
            <a:r>
              <a:rPr lang="en-US" altLang="zh-CN" b="1">
                <a:solidFill>
                  <a:schemeClr val="folHlink"/>
                </a:solidFill>
              </a:rPr>
              <a:t>ST        A,*AR2</a:t>
            </a:r>
            <a:r>
              <a:rPr lang="en-US" altLang="zh-CN" b="1"/>
              <a:t>               </a:t>
            </a:r>
            <a:r>
              <a:rPr lang="zh-CN" altLang="en-US" sz="2000" b="1"/>
              <a:t>；</a:t>
            </a:r>
            <a:r>
              <a:rPr lang="en-US" altLang="zh-CN" sz="2000" b="1"/>
              <a:t>d_squr_x=x</a:t>
            </a:r>
            <a:r>
              <a:rPr lang="en-US" altLang="zh-CN" sz="2000" b="1" baseline="30000"/>
              <a:t>2</a:t>
            </a:r>
            <a:r>
              <a:rPr lang="zh-CN" altLang="en-US" sz="2000" b="1"/>
              <a:t>（</a:t>
            </a:r>
            <a:r>
              <a:rPr lang="en-US" altLang="zh-CN" sz="2000" b="1"/>
              <a:t>A</a:t>
            </a:r>
            <a:r>
              <a:rPr lang="zh-CN" altLang="en-US" sz="2000" b="1"/>
              <a:t>右移</a:t>
            </a:r>
            <a:r>
              <a:rPr lang="en-US" altLang="zh-CN" sz="2000" b="1"/>
              <a:t>16</a:t>
            </a:r>
            <a:r>
              <a:rPr lang="zh-CN" altLang="en-US" sz="2000" b="1"/>
              <a:t>位，即存高字节）</a:t>
            </a:r>
          </a:p>
          <a:p>
            <a:pPr>
              <a:lnSpc>
                <a:spcPct val="75000"/>
              </a:lnSpc>
              <a:spcBef>
                <a:spcPct val="15000"/>
              </a:spcBef>
            </a:pPr>
            <a:r>
              <a:rPr lang="en-US" altLang="zh-CN" b="1">
                <a:solidFill>
                  <a:schemeClr val="folHlink"/>
                </a:solidFill>
              </a:rPr>
              <a:t>‖LD    *AR4,B</a:t>
            </a:r>
            <a:r>
              <a:rPr lang="en-US" altLang="zh-CN" b="1"/>
              <a:t>               </a:t>
            </a:r>
            <a:r>
              <a:rPr lang="zh-CN" altLang="en-US" sz="2000" b="1"/>
              <a:t>；</a:t>
            </a:r>
            <a:r>
              <a:rPr lang="en-US" altLang="zh-CN" sz="2000" b="1"/>
              <a:t>B=1</a:t>
            </a:r>
            <a:r>
              <a:rPr lang="zh-CN" altLang="en-US" sz="2000" b="1"/>
              <a:t>（</a:t>
            </a:r>
            <a:r>
              <a:rPr lang="en-US" altLang="zh-CN" sz="2000" b="1"/>
              <a:t>7FFFh</a:t>
            </a:r>
            <a:r>
              <a:rPr lang="zh-CN" altLang="en-US" sz="2000" b="1"/>
              <a:t>左移</a:t>
            </a:r>
            <a:r>
              <a:rPr lang="en-US" altLang="zh-CN" sz="2000" b="1"/>
              <a:t>16</a:t>
            </a:r>
            <a:r>
              <a:rPr lang="zh-CN" altLang="en-US" sz="2000" b="1"/>
              <a:t>位放在</a:t>
            </a:r>
            <a:r>
              <a:rPr lang="en-US" altLang="zh-CN" sz="2000" b="1"/>
              <a:t>B</a:t>
            </a:r>
            <a:r>
              <a:rPr lang="zh-CN" altLang="en-US" sz="2000" b="1"/>
              <a:t>的高字节）</a:t>
            </a:r>
          </a:p>
          <a:p>
            <a:pPr>
              <a:lnSpc>
                <a:spcPct val="75000"/>
              </a:lnSpc>
              <a:spcBef>
                <a:spcPct val="15000"/>
              </a:spcBef>
            </a:pPr>
            <a:r>
              <a:rPr lang="en-US" altLang="zh-CN" b="1">
                <a:solidFill>
                  <a:schemeClr val="folHlink"/>
                </a:solidFill>
              </a:rPr>
              <a:t>MASR  *AR2+,*AR3+,B,A</a:t>
            </a:r>
            <a:r>
              <a:rPr lang="en-US" altLang="zh-CN" b="1"/>
              <a:t>  </a:t>
            </a:r>
            <a:r>
              <a:rPr lang="zh-CN" altLang="en-US" b="1"/>
              <a:t>；</a:t>
            </a:r>
            <a:r>
              <a:rPr lang="en-US" altLang="zh-CN" sz="2000" b="1"/>
              <a:t>A=1-x</a:t>
            </a:r>
            <a:r>
              <a:rPr lang="en-US" altLang="zh-CN" sz="2000" b="1" baseline="30000"/>
              <a:t>2</a:t>
            </a:r>
            <a:r>
              <a:rPr lang="en-US" altLang="zh-CN" sz="2000" b="1"/>
              <a:t>/72,T=x</a:t>
            </a:r>
            <a:r>
              <a:rPr lang="en-US" altLang="zh-CN" sz="2000" b="1" baseline="30000"/>
              <a:t>2</a:t>
            </a:r>
            <a:r>
              <a:rPr lang="zh-CN" altLang="en-US" sz="2000" b="1"/>
              <a:t>，</a:t>
            </a:r>
            <a:r>
              <a:rPr lang="en-US" altLang="zh-CN" sz="2000" b="1"/>
              <a:t>AR2</a:t>
            </a:r>
            <a:r>
              <a:rPr lang="zh-CN" altLang="en-US" sz="2000" b="1"/>
              <a:t>指向</a:t>
            </a:r>
            <a:r>
              <a:rPr lang="en-US" altLang="zh-CN" sz="2000" b="1"/>
              <a:t>d_temp</a:t>
            </a:r>
            <a:r>
              <a:rPr lang="zh-CN" altLang="en-US" sz="2000" b="1"/>
              <a:t>，</a:t>
            </a:r>
          </a:p>
          <a:p>
            <a:pPr>
              <a:lnSpc>
                <a:spcPct val="75000"/>
              </a:lnSpc>
              <a:spcBef>
                <a:spcPct val="15000"/>
              </a:spcBef>
            </a:pPr>
            <a:r>
              <a:rPr lang="zh-CN" altLang="en-US" sz="2000" b="1">
                <a:solidFill>
                  <a:schemeClr val="tx2"/>
                </a:solidFill>
              </a:rPr>
              <a:t>　　　　　　　　</a:t>
            </a:r>
            <a:r>
              <a:rPr lang="zh-CN" altLang="en-US" sz="2000" b="1"/>
              <a:t>　；</a:t>
            </a:r>
            <a:r>
              <a:rPr lang="en-US" altLang="zh-CN" sz="2000" b="1"/>
              <a:t>AR3</a:t>
            </a:r>
            <a:r>
              <a:rPr lang="zh-CN" altLang="en-US" sz="2000" b="1"/>
              <a:t>指向</a:t>
            </a:r>
            <a:r>
              <a:rPr lang="en-US" altLang="zh-CN" sz="2000" b="1"/>
              <a:t>c2 </a:t>
            </a:r>
            <a:r>
              <a:rPr lang="zh-CN" altLang="en-US" sz="2000" b="1"/>
              <a:t>（凑整运算为结果加</a:t>
            </a:r>
            <a:r>
              <a:rPr lang="en-US" altLang="zh-CN" sz="2000" b="1"/>
              <a:t>2</a:t>
            </a:r>
            <a:r>
              <a:rPr lang="en-US" altLang="zh-CN" sz="2000" b="1" baseline="30000"/>
              <a:t>15</a:t>
            </a:r>
            <a:r>
              <a:rPr lang="zh-CN" altLang="en-US" sz="2000" b="1"/>
              <a:t>再对</a:t>
            </a:r>
            <a:r>
              <a:rPr lang="en-US" altLang="zh-CN" sz="2000" b="1"/>
              <a:t>15-0</a:t>
            </a:r>
            <a:r>
              <a:rPr lang="zh-CN" altLang="en-US" sz="2000" b="1"/>
              <a:t>位清</a:t>
            </a:r>
            <a:r>
              <a:rPr lang="en-US" altLang="zh-CN" sz="2000" b="1"/>
              <a:t>0 </a:t>
            </a:r>
            <a:r>
              <a:rPr lang="zh-CN" altLang="en-US" sz="2000" b="1"/>
              <a:t>）</a:t>
            </a:r>
          </a:p>
          <a:p>
            <a:pPr>
              <a:lnSpc>
                <a:spcPct val="75000"/>
              </a:lnSpc>
              <a:spcBef>
                <a:spcPct val="15000"/>
              </a:spcBef>
            </a:pPr>
            <a:r>
              <a:rPr lang="en-US" altLang="zh-CN" b="1">
                <a:solidFill>
                  <a:schemeClr val="tx2"/>
                </a:solidFill>
              </a:rPr>
              <a:t>MPYA  A</a:t>
            </a:r>
            <a:r>
              <a:rPr lang="en-US" altLang="zh-CN" b="1"/>
              <a:t>         </a:t>
            </a:r>
            <a:r>
              <a:rPr lang="zh-CN" altLang="en-US" b="1"/>
              <a:t>　　     ；</a:t>
            </a:r>
            <a:r>
              <a:rPr lang="en-US" altLang="zh-CN" b="1"/>
              <a:t>A=T*A=x</a:t>
            </a:r>
            <a:r>
              <a:rPr lang="en-US" altLang="zh-CN" b="1" baseline="30000"/>
              <a:t>2</a:t>
            </a:r>
            <a:r>
              <a:rPr lang="zh-CN" altLang="en-US" b="1"/>
              <a:t>（</a:t>
            </a:r>
            <a:r>
              <a:rPr lang="en-US" altLang="zh-CN" b="1"/>
              <a:t>1-x</a:t>
            </a:r>
            <a:r>
              <a:rPr lang="en-US" altLang="zh-CN" b="1" baseline="30000"/>
              <a:t>2</a:t>
            </a:r>
            <a:r>
              <a:rPr lang="en-US" altLang="zh-CN" b="1"/>
              <a:t>/72</a:t>
            </a:r>
            <a:r>
              <a:rPr lang="zh-CN" altLang="en-US" b="1"/>
              <a:t>）</a:t>
            </a:r>
          </a:p>
          <a:p>
            <a:pPr>
              <a:lnSpc>
                <a:spcPct val="75000"/>
              </a:lnSpc>
              <a:spcBef>
                <a:spcPct val="15000"/>
              </a:spcBef>
            </a:pPr>
            <a:r>
              <a:rPr lang="en-US" altLang="zh-CN" b="1">
                <a:solidFill>
                  <a:schemeClr val="tx2"/>
                </a:solidFill>
              </a:rPr>
              <a:t>STH      A,*AR2</a:t>
            </a:r>
            <a:r>
              <a:rPr lang="en-US" altLang="zh-CN" b="1"/>
              <a:t>           </a:t>
            </a:r>
            <a:r>
              <a:rPr lang="zh-CN" altLang="en-US" b="1"/>
              <a:t>；（</a:t>
            </a:r>
            <a:r>
              <a:rPr lang="en-US" altLang="zh-CN" b="1"/>
              <a:t>d_temp</a:t>
            </a:r>
            <a:r>
              <a:rPr lang="zh-CN" altLang="en-US" b="1"/>
              <a:t>）</a:t>
            </a:r>
            <a:r>
              <a:rPr lang="en-US" altLang="zh-CN" b="1"/>
              <a:t>=x</a:t>
            </a:r>
            <a:r>
              <a:rPr lang="en-US" altLang="zh-CN" b="1" baseline="30000"/>
              <a:t>2</a:t>
            </a:r>
            <a:r>
              <a:rPr lang="zh-CN" altLang="en-US" b="1"/>
              <a:t>（</a:t>
            </a:r>
            <a:r>
              <a:rPr lang="en-US" altLang="zh-CN" b="1"/>
              <a:t>1-x</a:t>
            </a:r>
            <a:r>
              <a:rPr lang="en-US" altLang="zh-CN" b="1" baseline="30000"/>
              <a:t>2</a:t>
            </a:r>
            <a:r>
              <a:rPr lang="en-US" altLang="zh-CN" b="1"/>
              <a:t>/72</a:t>
            </a:r>
            <a:r>
              <a:rPr lang="zh-CN" altLang="en-US" b="1"/>
              <a:t>）</a:t>
            </a:r>
          </a:p>
          <a:p>
            <a:pPr>
              <a:lnSpc>
                <a:spcPct val="75000"/>
              </a:lnSpc>
              <a:spcBef>
                <a:spcPct val="15000"/>
              </a:spcBef>
            </a:pPr>
            <a:r>
              <a:rPr lang="en-US" altLang="zh-CN" b="1">
                <a:solidFill>
                  <a:schemeClr val="tx2"/>
                </a:solidFill>
              </a:rPr>
              <a:t>MASR  *AR2-,*AR3+,B,A</a:t>
            </a:r>
            <a:r>
              <a:rPr lang="en-US" altLang="zh-CN" b="1"/>
              <a:t>  </a:t>
            </a:r>
            <a:r>
              <a:rPr lang="zh-CN" altLang="en-US" b="1"/>
              <a:t>；</a:t>
            </a:r>
            <a:r>
              <a:rPr lang="en-US" altLang="zh-CN" sz="2000" b="1"/>
              <a:t>A=1-x</a:t>
            </a:r>
            <a:r>
              <a:rPr lang="en-US" altLang="zh-CN" sz="2000" b="1" baseline="30000"/>
              <a:t>2</a:t>
            </a:r>
            <a:r>
              <a:rPr lang="en-US" altLang="zh-CN" sz="2000" b="1"/>
              <a:t>/42</a:t>
            </a:r>
            <a:r>
              <a:rPr lang="zh-CN" altLang="en-US" sz="2000" b="1"/>
              <a:t>（</a:t>
            </a:r>
            <a:r>
              <a:rPr lang="en-US" altLang="zh-CN" sz="2000" b="1"/>
              <a:t>1-x</a:t>
            </a:r>
            <a:r>
              <a:rPr lang="en-US" altLang="zh-CN" sz="2000" b="1" baseline="30000"/>
              <a:t>2</a:t>
            </a:r>
            <a:r>
              <a:rPr lang="en-US" altLang="zh-CN" sz="2000" b="1"/>
              <a:t>/72</a:t>
            </a:r>
            <a:r>
              <a:rPr lang="zh-CN" altLang="en-US" sz="2000" b="1"/>
              <a:t>）；</a:t>
            </a:r>
            <a:r>
              <a:rPr lang="en-US" altLang="zh-CN" sz="2000" b="1"/>
              <a:t>T=x</a:t>
            </a:r>
            <a:r>
              <a:rPr lang="en-US" altLang="zh-CN" sz="2000" b="1" baseline="30000"/>
              <a:t>2</a:t>
            </a:r>
            <a:r>
              <a:rPr lang="zh-CN" altLang="en-US" sz="2000" b="1"/>
              <a:t>（</a:t>
            </a:r>
            <a:r>
              <a:rPr lang="en-US" altLang="zh-CN" sz="2000" b="1"/>
              <a:t>1-x</a:t>
            </a:r>
            <a:r>
              <a:rPr lang="en-US" altLang="zh-CN" sz="2000" b="1" baseline="30000"/>
              <a:t>2</a:t>
            </a:r>
            <a:r>
              <a:rPr lang="en-US" altLang="zh-CN" sz="2000" b="1"/>
              <a:t>/72</a:t>
            </a:r>
            <a:r>
              <a:rPr lang="zh-CN" altLang="en-US" sz="2000" b="1"/>
              <a:t>）</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44802"/>
                                        </p:tgtEl>
                                        <p:attrNameLst>
                                          <p:attrName>style.visibility</p:attrName>
                                        </p:attrNameLst>
                                      </p:cBhvr>
                                      <p:to>
                                        <p:strVal val="visible"/>
                                      </p:to>
                                    </p:set>
                                    <p:animEffect transition="in" filter="blinds(horizontal)">
                                      <p:cBhvr>
                                        <p:cTn id="7" dur="500"/>
                                        <p:tgtEl>
                                          <p:spTgt spid="844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0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517E0BB-E842-4A81-8022-AA257D57DAB3}" type="slidenum">
              <a:rPr lang="en-US" altLang="zh-CN" sz="1400"/>
              <a:pPr eaLnBrk="1" hangingPunct="1"/>
              <a:t>65</a:t>
            </a:fld>
            <a:endParaRPr lang="en-US" altLang="zh-CN" sz="1400"/>
          </a:p>
        </p:txBody>
      </p:sp>
      <p:sp>
        <p:nvSpPr>
          <p:cNvPr id="845826" name="Rectangle 2"/>
          <p:cNvSpPr>
            <a:spLocks noChangeArrowheads="1"/>
          </p:cNvSpPr>
          <p:nvPr/>
        </p:nvSpPr>
        <p:spPr bwMode="auto">
          <a:xfrm>
            <a:off x="228600" y="1066800"/>
            <a:ext cx="8763000" cy="539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75000"/>
              </a:lnSpc>
              <a:spcBef>
                <a:spcPct val="50000"/>
              </a:spcBef>
            </a:pPr>
            <a:r>
              <a:rPr lang="en-US" altLang="zh-CN" b="1">
                <a:solidFill>
                  <a:srgbClr val="FF6600"/>
                </a:solidFill>
              </a:rPr>
              <a:t>MPYA   *AR2+</a:t>
            </a:r>
            <a:r>
              <a:rPr lang="en-US" altLang="zh-CN" b="1"/>
              <a:t>         </a:t>
            </a:r>
            <a:r>
              <a:rPr lang="zh-CN" altLang="en-US" b="1"/>
              <a:t>；</a:t>
            </a:r>
            <a:r>
              <a:rPr lang="en-US" altLang="zh-CN" b="1"/>
              <a:t>B=x</a:t>
            </a:r>
            <a:r>
              <a:rPr lang="en-US" altLang="zh-CN" b="1" baseline="30000"/>
              <a:t>2</a:t>
            </a:r>
            <a:r>
              <a:rPr lang="zh-CN" altLang="en-US" b="1"/>
              <a:t>（</a:t>
            </a:r>
            <a:r>
              <a:rPr lang="en-US" altLang="zh-CN" b="1"/>
              <a:t>1-x</a:t>
            </a:r>
            <a:r>
              <a:rPr lang="en-US" altLang="zh-CN" b="1" baseline="30000"/>
              <a:t>2</a:t>
            </a:r>
            <a:r>
              <a:rPr lang="en-US" altLang="zh-CN" b="1"/>
              <a:t>/42</a:t>
            </a:r>
            <a:r>
              <a:rPr lang="zh-CN" altLang="en-US" b="1"/>
              <a:t>（</a:t>
            </a:r>
            <a:r>
              <a:rPr lang="en-US" altLang="zh-CN" b="1"/>
              <a:t>1-x</a:t>
            </a:r>
            <a:r>
              <a:rPr lang="en-US" altLang="zh-CN" b="1" baseline="30000"/>
              <a:t>2</a:t>
            </a:r>
            <a:r>
              <a:rPr lang="en-US" altLang="zh-CN" b="1"/>
              <a:t>/72</a:t>
            </a:r>
            <a:r>
              <a:rPr lang="zh-CN" altLang="en-US" b="1"/>
              <a:t>））</a:t>
            </a:r>
          </a:p>
          <a:p>
            <a:pPr>
              <a:lnSpc>
                <a:spcPct val="75000"/>
              </a:lnSpc>
              <a:spcBef>
                <a:spcPct val="50000"/>
              </a:spcBef>
            </a:pPr>
            <a:r>
              <a:rPr lang="en-US" altLang="zh-CN" b="1">
                <a:solidFill>
                  <a:srgbClr val="FF6600"/>
                </a:solidFill>
              </a:rPr>
              <a:t>ST          B,*AR2</a:t>
            </a:r>
            <a:r>
              <a:rPr lang="en-US" altLang="zh-CN" b="1"/>
              <a:t>        </a:t>
            </a:r>
            <a:r>
              <a:rPr lang="zh-CN" altLang="en-US" b="1"/>
              <a:t>；（</a:t>
            </a:r>
            <a:r>
              <a:rPr lang="en-US" altLang="zh-CN" b="1"/>
              <a:t>d_temp</a:t>
            </a:r>
            <a:r>
              <a:rPr lang="zh-CN" altLang="en-US" b="1"/>
              <a:t>）</a:t>
            </a:r>
            <a:r>
              <a:rPr lang="en-US" altLang="zh-CN" b="1"/>
              <a:t>=x</a:t>
            </a:r>
            <a:r>
              <a:rPr lang="en-US" altLang="zh-CN" b="1" baseline="30000"/>
              <a:t>2</a:t>
            </a:r>
            <a:r>
              <a:rPr lang="zh-CN" altLang="en-US" b="1"/>
              <a:t>（</a:t>
            </a:r>
            <a:r>
              <a:rPr lang="en-US" altLang="zh-CN" b="1"/>
              <a:t>1-x</a:t>
            </a:r>
            <a:r>
              <a:rPr lang="en-US" altLang="zh-CN" b="1" baseline="30000"/>
              <a:t>2</a:t>
            </a:r>
            <a:r>
              <a:rPr lang="en-US" altLang="zh-CN" b="1"/>
              <a:t>/42</a:t>
            </a:r>
            <a:r>
              <a:rPr lang="zh-CN" altLang="en-US" b="1"/>
              <a:t>（</a:t>
            </a:r>
            <a:r>
              <a:rPr lang="en-US" altLang="zh-CN" b="1"/>
              <a:t>1-x</a:t>
            </a:r>
            <a:r>
              <a:rPr lang="en-US" altLang="zh-CN" b="1" baseline="30000"/>
              <a:t>2</a:t>
            </a:r>
            <a:r>
              <a:rPr lang="en-US" altLang="zh-CN" b="1"/>
              <a:t>/72</a:t>
            </a:r>
            <a:r>
              <a:rPr lang="zh-CN" altLang="en-US" b="1"/>
              <a:t>））</a:t>
            </a:r>
          </a:p>
          <a:p>
            <a:pPr>
              <a:lnSpc>
                <a:spcPct val="75000"/>
              </a:lnSpc>
              <a:spcBef>
                <a:spcPct val="50000"/>
              </a:spcBef>
            </a:pPr>
            <a:r>
              <a:rPr lang="en-US" altLang="zh-CN" b="1">
                <a:solidFill>
                  <a:srgbClr val="FF6600"/>
                </a:solidFill>
              </a:rPr>
              <a:t>‖LD     *AR4,B</a:t>
            </a:r>
            <a:r>
              <a:rPr lang="en-US" altLang="zh-CN" b="1"/>
              <a:t>        </a:t>
            </a:r>
            <a:r>
              <a:rPr lang="zh-CN" altLang="en-US" b="1"/>
              <a:t>；</a:t>
            </a:r>
            <a:r>
              <a:rPr lang="en-US" altLang="zh-CN" b="1"/>
              <a:t>B=1</a:t>
            </a:r>
          </a:p>
          <a:p>
            <a:pPr>
              <a:lnSpc>
                <a:spcPct val="75000"/>
              </a:lnSpc>
              <a:spcBef>
                <a:spcPct val="50000"/>
              </a:spcBef>
            </a:pPr>
            <a:r>
              <a:rPr lang="en-US" altLang="zh-CN" b="1">
                <a:solidFill>
                  <a:srgbClr val="FF6600"/>
                </a:solidFill>
              </a:rPr>
              <a:t>MASR   *AR2-,*AR3+,B,A</a:t>
            </a:r>
            <a:r>
              <a:rPr lang="en-US" altLang="zh-CN" b="1"/>
              <a:t>  </a:t>
            </a:r>
            <a:r>
              <a:rPr lang="zh-CN" altLang="en-US" b="1"/>
              <a:t>；</a:t>
            </a:r>
            <a:r>
              <a:rPr lang="en-US" altLang="zh-CN" b="1"/>
              <a:t>A=1-x</a:t>
            </a:r>
            <a:r>
              <a:rPr lang="en-US" altLang="zh-CN" b="1" baseline="30000"/>
              <a:t>2</a:t>
            </a:r>
            <a:r>
              <a:rPr lang="en-US" altLang="zh-CN" b="1"/>
              <a:t>/20</a:t>
            </a:r>
            <a:r>
              <a:rPr lang="zh-CN" altLang="en-US" b="1"/>
              <a:t>（</a:t>
            </a:r>
            <a:r>
              <a:rPr lang="en-US" altLang="zh-CN" b="1"/>
              <a:t>1-x</a:t>
            </a:r>
            <a:r>
              <a:rPr lang="en-US" altLang="zh-CN" b="1" baseline="30000"/>
              <a:t>2</a:t>
            </a:r>
            <a:r>
              <a:rPr lang="en-US" altLang="zh-CN" b="1"/>
              <a:t>/42</a:t>
            </a:r>
            <a:r>
              <a:rPr lang="zh-CN" altLang="en-US" b="1"/>
              <a:t>（</a:t>
            </a:r>
            <a:r>
              <a:rPr lang="en-US" altLang="zh-CN" b="1"/>
              <a:t>1-x</a:t>
            </a:r>
            <a:r>
              <a:rPr lang="en-US" altLang="zh-CN" b="1" baseline="30000"/>
              <a:t>2</a:t>
            </a:r>
            <a:r>
              <a:rPr lang="en-US" altLang="zh-CN" b="1"/>
              <a:t>/72</a:t>
            </a:r>
            <a:r>
              <a:rPr lang="zh-CN" altLang="en-US" b="1"/>
              <a:t>））</a:t>
            </a:r>
          </a:p>
          <a:p>
            <a:pPr>
              <a:lnSpc>
                <a:spcPct val="75000"/>
              </a:lnSpc>
              <a:spcBef>
                <a:spcPct val="50000"/>
              </a:spcBef>
            </a:pPr>
            <a:r>
              <a:rPr lang="en-US" altLang="zh-CN" b="1">
                <a:solidFill>
                  <a:srgbClr val="FF00FF"/>
                </a:solidFill>
              </a:rPr>
              <a:t>MPYA   *AR2+</a:t>
            </a:r>
            <a:r>
              <a:rPr lang="en-US" altLang="zh-CN" b="1"/>
              <a:t>          </a:t>
            </a:r>
            <a:r>
              <a:rPr lang="zh-CN" altLang="en-US" b="1"/>
              <a:t>；</a:t>
            </a:r>
            <a:r>
              <a:rPr lang="en-US" altLang="zh-CN" b="1"/>
              <a:t>B=x</a:t>
            </a:r>
            <a:r>
              <a:rPr lang="en-US" altLang="zh-CN" b="1" baseline="30000"/>
              <a:t>2</a:t>
            </a:r>
            <a:r>
              <a:rPr lang="zh-CN" altLang="en-US" b="1"/>
              <a:t>（</a:t>
            </a:r>
            <a:r>
              <a:rPr lang="en-US" altLang="zh-CN" b="1"/>
              <a:t>1-x</a:t>
            </a:r>
            <a:r>
              <a:rPr lang="en-US" altLang="zh-CN" b="1" baseline="30000"/>
              <a:t>2</a:t>
            </a:r>
            <a:r>
              <a:rPr lang="en-US" altLang="zh-CN" b="1"/>
              <a:t>/20</a:t>
            </a:r>
            <a:r>
              <a:rPr lang="zh-CN" altLang="en-US" b="1"/>
              <a:t>（</a:t>
            </a:r>
            <a:r>
              <a:rPr lang="en-US" altLang="zh-CN" b="1"/>
              <a:t>1-x</a:t>
            </a:r>
            <a:r>
              <a:rPr lang="en-US" altLang="zh-CN" b="1" baseline="30000"/>
              <a:t>2</a:t>
            </a:r>
            <a:r>
              <a:rPr lang="en-US" altLang="zh-CN" b="1"/>
              <a:t>/42</a:t>
            </a:r>
            <a:r>
              <a:rPr lang="zh-CN" altLang="en-US" b="1"/>
              <a:t>（</a:t>
            </a:r>
            <a:r>
              <a:rPr lang="en-US" altLang="zh-CN" b="1"/>
              <a:t>1-x</a:t>
            </a:r>
            <a:r>
              <a:rPr lang="en-US" altLang="zh-CN" b="1" baseline="30000"/>
              <a:t>2</a:t>
            </a:r>
            <a:r>
              <a:rPr lang="en-US" altLang="zh-CN" b="1"/>
              <a:t>/72</a:t>
            </a:r>
            <a:r>
              <a:rPr lang="zh-CN" altLang="en-US" b="1"/>
              <a:t>）））</a:t>
            </a:r>
          </a:p>
          <a:p>
            <a:pPr>
              <a:lnSpc>
                <a:spcPct val="75000"/>
              </a:lnSpc>
              <a:spcBef>
                <a:spcPct val="50000"/>
              </a:spcBef>
            </a:pPr>
            <a:r>
              <a:rPr lang="en-US" altLang="zh-CN" b="1">
                <a:solidFill>
                  <a:srgbClr val="FF00FF"/>
                </a:solidFill>
              </a:rPr>
              <a:t>ST          B,*AR2</a:t>
            </a:r>
            <a:r>
              <a:rPr lang="en-US" altLang="zh-CN" b="1"/>
              <a:t>    </a:t>
            </a:r>
            <a:r>
              <a:rPr lang="zh-CN" altLang="en-US" b="1"/>
              <a:t>；</a:t>
            </a:r>
            <a:r>
              <a:rPr lang="zh-CN" altLang="en-US" sz="2000" b="1"/>
              <a:t>（</a:t>
            </a:r>
            <a:r>
              <a:rPr lang="en-US" altLang="zh-CN" sz="2000" b="1"/>
              <a:t>d_temp</a:t>
            </a:r>
            <a:r>
              <a:rPr lang="zh-CN" altLang="en-US" sz="2000" b="1"/>
              <a:t>）</a:t>
            </a:r>
            <a:r>
              <a:rPr lang="en-US" altLang="zh-CN" sz="2000" b="1"/>
              <a:t>=B=x</a:t>
            </a:r>
            <a:r>
              <a:rPr lang="en-US" altLang="zh-CN" sz="2000" b="1" baseline="30000"/>
              <a:t>2</a:t>
            </a:r>
            <a:r>
              <a:rPr lang="zh-CN" altLang="en-US" sz="2000" b="1"/>
              <a:t>（</a:t>
            </a:r>
            <a:r>
              <a:rPr lang="en-US" altLang="zh-CN" sz="2000" b="1"/>
              <a:t>1-x</a:t>
            </a:r>
            <a:r>
              <a:rPr lang="en-US" altLang="zh-CN" sz="2000" b="1" baseline="30000"/>
              <a:t>2</a:t>
            </a:r>
            <a:r>
              <a:rPr lang="en-US" altLang="zh-CN" sz="2000" b="1"/>
              <a:t>/20</a:t>
            </a:r>
            <a:r>
              <a:rPr lang="zh-CN" altLang="en-US" sz="2000" b="1"/>
              <a:t>（</a:t>
            </a:r>
            <a:r>
              <a:rPr lang="en-US" altLang="zh-CN" sz="2000" b="1"/>
              <a:t>1-x</a:t>
            </a:r>
            <a:r>
              <a:rPr lang="en-US" altLang="zh-CN" sz="2000" b="1" baseline="30000"/>
              <a:t>2</a:t>
            </a:r>
            <a:r>
              <a:rPr lang="en-US" altLang="zh-CN" sz="2000" b="1"/>
              <a:t>/42</a:t>
            </a:r>
            <a:r>
              <a:rPr lang="zh-CN" altLang="en-US" sz="2000" b="1"/>
              <a:t>（</a:t>
            </a:r>
            <a:r>
              <a:rPr lang="en-US" altLang="zh-CN" sz="2000" b="1"/>
              <a:t>1-x</a:t>
            </a:r>
            <a:r>
              <a:rPr lang="en-US" altLang="zh-CN" sz="2000" b="1" baseline="30000"/>
              <a:t>2</a:t>
            </a:r>
            <a:r>
              <a:rPr lang="en-US" altLang="zh-CN" sz="2000" b="1"/>
              <a:t>/72</a:t>
            </a:r>
            <a:r>
              <a:rPr lang="zh-CN" altLang="en-US" sz="2000" b="1"/>
              <a:t>）））</a:t>
            </a:r>
          </a:p>
          <a:p>
            <a:pPr>
              <a:lnSpc>
                <a:spcPct val="75000"/>
              </a:lnSpc>
              <a:spcBef>
                <a:spcPct val="50000"/>
              </a:spcBef>
            </a:pPr>
            <a:r>
              <a:rPr lang="en-US" altLang="zh-CN" b="1">
                <a:solidFill>
                  <a:srgbClr val="FF00FF"/>
                </a:solidFill>
              </a:rPr>
              <a:t>‖LD     *AR4,B</a:t>
            </a:r>
            <a:r>
              <a:rPr lang="en-US" altLang="zh-CN" b="1"/>
              <a:t>        </a:t>
            </a:r>
            <a:r>
              <a:rPr lang="zh-CN" altLang="en-US" b="1"/>
              <a:t>；</a:t>
            </a:r>
            <a:r>
              <a:rPr lang="en-US" altLang="zh-CN" b="1"/>
              <a:t>B=1</a:t>
            </a:r>
          </a:p>
          <a:p>
            <a:pPr>
              <a:lnSpc>
                <a:spcPct val="75000"/>
              </a:lnSpc>
              <a:spcBef>
                <a:spcPct val="50000"/>
              </a:spcBef>
            </a:pPr>
            <a:r>
              <a:rPr lang="en-US" altLang="zh-CN" b="1">
                <a:solidFill>
                  <a:srgbClr val="FF00FF"/>
                </a:solidFill>
              </a:rPr>
              <a:t>MASR   *AR2-,*AR3+,B,A</a:t>
            </a:r>
            <a:r>
              <a:rPr lang="zh-CN" altLang="en-US" b="1"/>
              <a:t>；</a:t>
            </a:r>
            <a:r>
              <a:rPr lang="en-US" altLang="zh-CN" sz="2000" b="1"/>
              <a:t>A=1-x</a:t>
            </a:r>
            <a:r>
              <a:rPr lang="en-US" altLang="zh-CN" sz="2000" b="1" baseline="30000"/>
              <a:t>2</a:t>
            </a:r>
            <a:r>
              <a:rPr lang="en-US" altLang="zh-CN" sz="2000" b="1"/>
              <a:t>/6</a:t>
            </a:r>
            <a:r>
              <a:rPr lang="zh-CN" altLang="en-US" sz="2000" b="1"/>
              <a:t>（</a:t>
            </a:r>
            <a:r>
              <a:rPr lang="en-US" altLang="zh-CN" sz="2000" b="1"/>
              <a:t>1-x</a:t>
            </a:r>
            <a:r>
              <a:rPr lang="en-US" altLang="zh-CN" sz="2000" b="1" baseline="30000"/>
              <a:t>2</a:t>
            </a:r>
            <a:r>
              <a:rPr lang="en-US" altLang="zh-CN" sz="2000" b="1"/>
              <a:t>/20</a:t>
            </a:r>
            <a:r>
              <a:rPr lang="zh-CN" altLang="en-US" sz="2000" b="1"/>
              <a:t>（</a:t>
            </a:r>
            <a:r>
              <a:rPr lang="en-US" altLang="zh-CN" sz="2000" b="1"/>
              <a:t>1-x</a:t>
            </a:r>
            <a:r>
              <a:rPr lang="en-US" altLang="zh-CN" sz="2000" b="1" baseline="30000"/>
              <a:t>2</a:t>
            </a:r>
            <a:r>
              <a:rPr lang="en-US" altLang="zh-CN" sz="2000" b="1"/>
              <a:t>/42</a:t>
            </a:r>
            <a:r>
              <a:rPr lang="zh-CN" altLang="en-US" sz="2000" b="1"/>
              <a:t>（</a:t>
            </a:r>
            <a:r>
              <a:rPr lang="en-US" altLang="zh-CN" sz="2000" b="1"/>
              <a:t>1-x</a:t>
            </a:r>
            <a:r>
              <a:rPr lang="en-US" altLang="zh-CN" sz="2000" b="1" baseline="30000"/>
              <a:t>2</a:t>
            </a:r>
            <a:r>
              <a:rPr lang="en-US" altLang="zh-CN" sz="2000" b="1"/>
              <a:t>/72</a:t>
            </a:r>
            <a:r>
              <a:rPr lang="zh-CN" altLang="en-US" sz="2000" b="1"/>
              <a:t>）））</a:t>
            </a:r>
          </a:p>
          <a:p>
            <a:pPr>
              <a:lnSpc>
                <a:spcPct val="75000"/>
              </a:lnSpc>
              <a:spcBef>
                <a:spcPct val="50000"/>
              </a:spcBef>
            </a:pPr>
            <a:r>
              <a:rPr lang="en-US" altLang="zh-CN" b="1">
                <a:solidFill>
                  <a:srgbClr val="FF0000"/>
                </a:solidFill>
              </a:rPr>
              <a:t>MPYA   d_x</a:t>
            </a:r>
            <a:r>
              <a:rPr lang="en-US" altLang="zh-CN" b="1"/>
              <a:t>               </a:t>
            </a:r>
            <a:r>
              <a:rPr lang="zh-CN" altLang="en-US" b="1"/>
              <a:t>；</a:t>
            </a:r>
            <a:r>
              <a:rPr lang="en-US" altLang="zh-CN" sz="2000" b="1"/>
              <a:t>B=x</a:t>
            </a:r>
            <a:r>
              <a:rPr lang="zh-CN" altLang="en-US" sz="2000" b="1"/>
              <a:t>（</a:t>
            </a:r>
            <a:r>
              <a:rPr lang="en-US" altLang="zh-CN" sz="2000" b="1"/>
              <a:t>1-x</a:t>
            </a:r>
            <a:r>
              <a:rPr lang="en-US" altLang="zh-CN" sz="2000" b="1" baseline="30000"/>
              <a:t>2</a:t>
            </a:r>
            <a:r>
              <a:rPr lang="en-US" altLang="zh-CN" sz="2000" b="1"/>
              <a:t>/6</a:t>
            </a:r>
            <a:r>
              <a:rPr lang="zh-CN" altLang="en-US" sz="2000" b="1"/>
              <a:t>（</a:t>
            </a:r>
            <a:r>
              <a:rPr lang="en-US" altLang="zh-CN" sz="2000" b="1"/>
              <a:t>1-x</a:t>
            </a:r>
            <a:r>
              <a:rPr lang="en-US" altLang="zh-CN" sz="2000" b="1" baseline="30000"/>
              <a:t>2</a:t>
            </a:r>
            <a:r>
              <a:rPr lang="en-US" altLang="zh-CN" sz="2000" b="1"/>
              <a:t>/20</a:t>
            </a:r>
            <a:r>
              <a:rPr lang="zh-CN" altLang="en-US" sz="2000" b="1"/>
              <a:t>（</a:t>
            </a:r>
            <a:r>
              <a:rPr lang="en-US" altLang="zh-CN" sz="2000" b="1"/>
              <a:t>1-x</a:t>
            </a:r>
            <a:r>
              <a:rPr lang="en-US" altLang="zh-CN" sz="2000" b="1" baseline="30000"/>
              <a:t>2</a:t>
            </a:r>
            <a:r>
              <a:rPr lang="en-US" altLang="zh-CN" sz="2000" b="1"/>
              <a:t>/42</a:t>
            </a:r>
            <a:r>
              <a:rPr lang="zh-CN" altLang="en-US" sz="2000" b="1"/>
              <a:t>（</a:t>
            </a:r>
            <a:r>
              <a:rPr lang="en-US" altLang="zh-CN" sz="2000" b="1"/>
              <a:t>1-x</a:t>
            </a:r>
            <a:r>
              <a:rPr lang="en-US" altLang="zh-CN" sz="2000" b="1" baseline="30000"/>
              <a:t>2</a:t>
            </a:r>
            <a:r>
              <a:rPr lang="en-US" altLang="zh-CN" sz="2000" b="1"/>
              <a:t>/72</a:t>
            </a:r>
            <a:r>
              <a:rPr lang="zh-CN" altLang="en-US" sz="2000" b="1"/>
              <a:t>））））</a:t>
            </a:r>
          </a:p>
          <a:p>
            <a:pPr>
              <a:lnSpc>
                <a:spcPct val="75000"/>
              </a:lnSpc>
              <a:spcBef>
                <a:spcPct val="50000"/>
              </a:spcBef>
            </a:pPr>
            <a:r>
              <a:rPr lang="en-US" altLang="zh-CN" b="1">
                <a:solidFill>
                  <a:srgbClr val="FF0000"/>
                </a:solidFill>
              </a:rPr>
              <a:t>STH       B,d_sinx</a:t>
            </a:r>
            <a:r>
              <a:rPr lang="en-US" altLang="zh-CN" b="1"/>
              <a:t>       </a:t>
            </a:r>
            <a:r>
              <a:rPr lang="zh-CN" altLang="en-US" b="1"/>
              <a:t>；</a:t>
            </a:r>
            <a:r>
              <a:rPr lang="en-US" altLang="zh-CN" b="1"/>
              <a:t>sin</a:t>
            </a:r>
            <a:r>
              <a:rPr lang="zh-CN" altLang="en-US" b="1"/>
              <a:t>（</a:t>
            </a:r>
            <a:r>
              <a:rPr lang="en-US" altLang="zh-CN" b="1"/>
              <a:t>theta</a:t>
            </a:r>
            <a:r>
              <a:rPr lang="zh-CN" altLang="en-US" b="1"/>
              <a:t>）</a:t>
            </a:r>
          </a:p>
          <a:p>
            <a:pPr>
              <a:lnSpc>
                <a:spcPct val="75000"/>
              </a:lnSpc>
              <a:spcBef>
                <a:spcPct val="50000"/>
              </a:spcBef>
            </a:pPr>
            <a:r>
              <a:rPr lang="en-US" altLang="zh-CN" b="1"/>
              <a:t>RET</a:t>
            </a:r>
          </a:p>
          <a:p>
            <a:pPr>
              <a:lnSpc>
                <a:spcPct val="75000"/>
              </a:lnSpc>
              <a:spcBef>
                <a:spcPct val="50000"/>
              </a:spcBef>
            </a:pPr>
            <a:r>
              <a:rPr lang="en-US" altLang="zh-CN" b="1"/>
              <a:t>.end</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45826"/>
                                        </p:tgtEl>
                                        <p:attrNameLst>
                                          <p:attrName>style.visibility</p:attrName>
                                        </p:attrNameLst>
                                      </p:cBhvr>
                                      <p:to>
                                        <p:strVal val="visible"/>
                                      </p:to>
                                    </p:set>
                                    <p:animEffect transition="in" filter="blinds(vertical)">
                                      <p:cBhvr>
                                        <p:cTn id="7" dur="500"/>
                                        <p:tgtEl>
                                          <p:spTgt spid="845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2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16A95D1-C815-4752-934D-0111C82FCD86}" type="slidenum">
              <a:rPr lang="en-US" altLang="zh-CN" sz="1400"/>
              <a:pPr eaLnBrk="1" hangingPunct="1"/>
              <a:t>66</a:t>
            </a:fld>
            <a:endParaRPr lang="en-US" altLang="zh-CN" sz="1400"/>
          </a:p>
        </p:txBody>
      </p:sp>
      <p:sp>
        <p:nvSpPr>
          <p:cNvPr id="851970" name="Rectangle 2" descr="小棋盘"/>
          <p:cNvSpPr>
            <a:spLocks noChangeArrowheads="1"/>
          </p:cNvSpPr>
          <p:nvPr/>
        </p:nvSpPr>
        <p:spPr bwMode="auto">
          <a:xfrm>
            <a:off x="1403350" y="981075"/>
            <a:ext cx="6164263" cy="650875"/>
          </a:xfrm>
          <a:prstGeom prst="rect">
            <a:avLst/>
          </a:prstGeom>
          <a:pattFill prst="smCheck">
            <a:fgClr>
              <a:schemeClr val="accent1"/>
            </a:fgClr>
            <a:bgClr>
              <a:schemeClr val="bg1"/>
            </a:bgClr>
          </a:pattFill>
          <a:ln w="9525">
            <a:solidFill>
              <a:srgbClr val="FF00FF"/>
            </a:solidFill>
            <a:miter lim="800000"/>
            <a:headEnd/>
            <a:tailEnd/>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solidFill>
                  <a:srgbClr val="FF0000"/>
                </a:solidFill>
                <a:latin typeface="宋体" panose="02010600030101010101" pitchFamily="2" charset="-122"/>
              </a:rPr>
              <a:t>第四节  用</a:t>
            </a:r>
            <a:r>
              <a:rPr lang="en-US" altLang="zh-CN" sz="3600" b="1">
                <a:solidFill>
                  <a:srgbClr val="FF0000"/>
                </a:solidFill>
                <a:latin typeface="宋体" panose="02010600030101010101" pitchFamily="2" charset="-122"/>
              </a:rPr>
              <a:t>DSP</a:t>
            </a:r>
            <a:r>
              <a:rPr lang="zh-CN" altLang="en-US" sz="3600" b="1">
                <a:solidFill>
                  <a:srgbClr val="FF0000"/>
                </a:solidFill>
                <a:latin typeface="宋体" panose="02010600030101010101" pitchFamily="2" charset="-122"/>
              </a:rPr>
              <a:t>实现</a:t>
            </a:r>
            <a:r>
              <a:rPr lang="en-US" altLang="zh-CN" sz="3600" b="1">
                <a:solidFill>
                  <a:srgbClr val="FF0000"/>
                </a:solidFill>
                <a:latin typeface="宋体" panose="02010600030101010101" pitchFamily="2" charset="-122"/>
              </a:rPr>
              <a:t>FIR</a:t>
            </a:r>
            <a:r>
              <a:rPr lang="zh-CN" altLang="en-US" sz="3600" b="1">
                <a:solidFill>
                  <a:srgbClr val="FF0000"/>
                </a:solidFill>
                <a:latin typeface="宋体" panose="02010600030101010101" pitchFamily="2" charset="-122"/>
              </a:rPr>
              <a:t>滤波器</a:t>
            </a:r>
          </a:p>
        </p:txBody>
      </p:sp>
      <p:sp>
        <p:nvSpPr>
          <p:cNvPr id="851971" name="Rectangle 3" descr="小棋盘"/>
          <p:cNvSpPr>
            <a:spLocks noChangeArrowheads="1"/>
          </p:cNvSpPr>
          <p:nvPr/>
        </p:nvSpPr>
        <p:spPr bwMode="auto">
          <a:xfrm>
            <a:off x="2268538" y="1773238"/>
            <a:ext cx="4495800" cy="539750"/>
          </a:xfrm>
          <a:prstGeom prst="rect">
            <a:avLst/>
          </a:prstGeom>
          <a:pattFill prst="smCheck">
            <a:fgClr>
              <a:schemeClr val="accent1"/>
            </a:fgClr>
            <a:bgClr>
              <a:srgbClr val="FFFFFF"/>
            </a:bgClr>
          </a:pattFill>
          <a:ln w="9525">
            <a:solidFill>
              <a:schemeClr val="hlink"/>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1</a:t>
            </a:r>
            <a:r>
              <a:rPr lang="zh-CN" altLang="en-US" sz="3200" b="1">
                <a:solidFill>
                  <a:srgbClr val="FF0000"/>
                </a:solidFill>
                <a:latin typeface="宋体" panose="02010600030101010101" pitchFamily="2" charset="-122"/>
                <a:ea typeface="仿宋_GB2312" pitchFamily="49" charset="-122"/>
              </a:rPr>
              <a:t>．</a:t>
            </a:r>
            <a:r>
              <a:rPr lang="en-US" altLang="zh-CN" sz="3200" b="1">
                <a:solidFill>
                  <a:srgbClr val="FF0000"/>
                </a:solidFill>
                <a:latin typeface="宋体" panose="02010600030101010101" pitchFamily="2" charset="-122"/>
                <a:ea typeface="仿宋_GB2312" pitchFamily="49" charset="-122"/>
              </a:rPr>
              <a:t>FIR</a:t>
            </a:r>
            <a:r>
              <a:rPr lang="zh-CN" altLang="en-US" sz="3200" b="1">
                <a:solidFill>
                  <a:srgbClr val="FF0000"/>
                </a:solidFill>
                <a:latin typeface="宋体" panose="02010600030101010101" pitchFamily="2" charset="-122"/>
                <a:ea typeface="仿宋_GB2312" pitchFamily="49" charset="-122"/>
              </a:rPr>
              <a:t>滤波器基本概念 </a:t>
            </a:r>
          </a:p>
        </p:txBody>
      </p:sp>
      <p:sp>
        <p:nvSpPr>
          <p:cNvPr id="851972" name="Rectangle 4" descr="小棋盘"/>
          <p:cNvSpPr>
            <a:spLocks noChangeArrowheads="1"/>
          </p:cNvSpPr>
          <p:nvPr/>
        </p:nvSpPr>
        <p:spPr bwMode="auto">
          <a:xfrm>
            <a:off x="900113" y="1773238"/>
            <a:ext cx="1008062" cy="485775"/>
          </a:xfrm>
          <a:prstGeom prst="rect">
            <a:avLst/>
          </a:prstGeom>
          <a:pattFill prst="smCheck">
            <a:fgClr>
              <a:schemeClr val="accent1"/>
            </a:fgClr>
            <a:bgClr>
              <a:srgbClr val="FFFFFF"/>
            </a:bgClr>
          </a:pattFill>
          <a:ln w="9525">
            <a:solidFill>
              <a:schemeClr val="folHlink"/>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要点</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6151" name="Rectangle 6"/>
          <p:cNvSpPr>
            <a:spLocks noChangeArrowheads="1"/>
          </p:cNvSpPr>
          <p:nvPr/>
        </p:nvSpPr>
        <p:spPr bwMode="auto">
          <a:xfrm>
            <a:off x="250825" y="2420938"/>
            <a:ext cx="3168650" cy="394493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chemeClr val="tx2"/>
                </a:solidFill>
              </a:rPr>
              <a:t>1. </a:t>
            </a:r>
            <a:r>
              <a:rPr lang="en-US" altLang="zh-CN" sz="2800" b="1">
                <a:solidFill>
                  <a:schemeClr val="tx2"/>
                </a:solidFill>
                <a:latin typeface="宋体" panose="02010600030101010101" pitchFamily="2" charset="-122"/>
              </a:rPr>
              <a:t>FIR</a:t>
            </a:r>
            <a:r>
              <a:rPr lang="zh-CN" altLang="en-US" sz="2800" b="1">
                <a:solidFill>
                  <a:schemeClr val="tx2"/>
                </a:solidFill>
                <a:latin typeface="宋体" panose="02010600030101010101" pitchFamily="2" charset="-122"/>
              </a:rPr>
              <a:t>滤波器没有反馈回路，因此它是无条件稳定系统，其单位冲激响应</a:t>
            </a:r>
            <a:r>
              <a:rPr lang="en-US" altLang="zh-CN" sz="2800" b="1">
                <a:solidFill>
                  <a:schemeClr val="tx2"/>
                </a:solidFill>
                <a:latin typeface="宋体" panose="02010600030101010101" pitchFamily="2" charset="-122"/>
              </a:rPr>
              <a:t>h</a:t>
            </a:r>
            <a:r>
              <a:rPr lang="zh-CN" altLang="en-US" sz="2800" b="1">
                <a:solidFill>
                  <a:schemeClr val="tx2"/>
                </a:solidFill>
                <a:latin typeface="宋体" panose="02010600030101010101" pitchFamily="2" charset="-122"/>
              </a:rPr>
              <a:t>（</a:t>
            </a:r>
            <a:r>
              <a:rPr lang="en-US" altLang="zh-CN" sz="2800" b="1">
                <a:solidFill>
                  <a:schemeClr val="tx2"/>
                </a:solidFill>
                <a:latin typeface="宋体" panose="02010600030101010101" pitchFamily="2" charset="-122"/>
              </a:rPr>
              <a:t>n</a:t>
            </a:r>
            <a:r>
              <a:rPr lang="zh-CN" altLang="en-US" sz="2800" b="1">
                <a:solidFill>
                  <a:schemeClr val="tx2"/>
                </a:solidFill>
                <a:latin typeface="宋体" panose="02010600030101010101" pitchFamily="2" charset="-122"/>
              </a:rPr>
              <a:t>）是一个有限长序列。</a:t>
            </a:r>
            <a:endParaRPr lang="zh-CN" altLang="en-US" sz="2800" b="1">
              <a:solidFill>
                <a:schemeClr val="tx2"/>
              </a:solidFill>
            </a:endParaRPr>
          </a:p>
          <a:p>
            <a:pPr eaLnBrk="1" hangingPunct="1"/>
            <a:r>
              <a:rPr lang="en-US" altLang="zh-CN" sz="2800" b="1">
                <a:solidFill>
                  <a:schemeClr val="folHlink"/>
                </a:solidFill>
              </a:rPr>
              <a:t>2. </a:t>
            </a:r>
            <a:r>
              <a:rPr lang="en-US" altLang="zh-CN" sz="2800" b="1">
                <a:solidFill>
                  <a:schemeClr val="folHlink"/>
                </a:solidFill>
                <a:latin typeface="宋体" panose="02010600030101010101" pitchFamily="2" charset="-122"/>
              </a:rPr>
              <a:t>FIR</a:t>
            </a:r>
            <a:r>
              <a:rPr lang="zh-CN" altLang="en-US" sz="2800" b="1">
                <a:solidFill>
                  <a:schemeClr val="folHlink"/>
                </a:solidFill>
                <a:latin typeface="宋体" panose="02010600030101010101" pitchFamily="2" charset="-122"/>
              </a:rPr>
              <a:t>滤波算法实际上是一种乘法累加运算。</a:t>
            </a:r>
            <a:endParaRPr lang="zh-CN" altLang="en-US" sz="2800" b="1">
              <a:solidFill>
                <a:schemeClr val="folHlink"/>
              </a:solidFill>
            </a:endParaRPr>
          </a:p>
        </p:txBody>
      </p:sp>
      <p:grpSp>
        <p:nvGrpSpPr>
          <p:cNvPr id="6152" name="Group 54"/>
          <p:cNvGrpSpPr>
            <a:grpSpLocks/>
          </p:cNvGrpSpPr>
          <p:nvPr/>
        </p:nvGrpSpPr>
        <p:grpSpPr bwMode="auto">
          <a:xfrm>
            <a:off x="3132138" y="3860800"/>
            <a:ext cx="5795962" cy="2609850"/>
            <a:chOff x="2109" y="1842"/>
            <a:chExt cx="3651" cy="1644"/>
          </a:xfrm>
        </p:grpSpPr>
        <p:sp>
          <p:nvSpPr>
            <p:cNvPr id="6153" name="Text Box 8"/>
            <p:cNvSpPr txBox="1">
              <a:spLocks noChangeArrowheads="1"/>
            </p:cNvSpPr>
            <p:nvPr/>
          </p:nvSpPr>
          <p:spPr bwMode="auto">
            <a:xfrm>
              <a:off x="2608" y="1979"/>
              <a:ext cx="272" cy="210"/>
            </a:xfrm>
            <a:prstGeom prst="rect">
              <a:avLst/>
            </a:prstGeom>
            <a:noFill/>
            <a:ln w="28575">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z</a:t>
              </a:r>
              <a:r>
                <a:rPr lang="en-US" altLang="zh-CN" sz="2000" baseline="30000"/>
                <a:t>-1</a:t>
              </a:r>
            </a:p>
          </p:txBody>
        </p:sp>
        <p:sp>
          <p:nvSpPr>
            <p:cNvPr id="6154" name="Text Box 9"/>
            <p:cNvSpPr txBox="1">
              <a:spLocks noChangeArrowheads="1"/>
            </p:cNvSpPr>
            <p:nvPr/>
          </p:nvSpPr>
          <p:spPr bwMode="auto">
            <a:xfrm>
              <a:off x="3424" y="1979"/>
              <a:ext cx="272" cy="210"/>
            </a:xfrm>
            <a:prstGeom prst="rect">
              <a:avLst/>
            </a:prstGeom>
            <a:noFill/>
            <a:ln w="28575">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z</a:t>
              </a:r>
              <a:r>
                <a:rPr lang="en-US" altLang="zh-CN" sz="2000" baseline="30000"/>
                <a:t>-1</a:t>
              </a:r>
            </a:p>
          </p:txBody>
        </p:sp>
        <p:sp>
          <p:nvSpPr>
            <p:cNvPr id="6155" name="Text Box 10"/>
            <p:cNvSpPr txBox="1">
              <a:spLocks noChangeArrowheads="1"/>
            </p:cNvSpPr>
            <p:nvPr/>
          </p:nvSpPr>
          <p:spPr bwMode="auto">
            <a:xfrm>
              <a:off x="4876" y="1979"/>
              <a:ext cx="272" cy="204"/>
            </a:xfrm>
            <a:prstGeom prst="rect">
              <a:avLst/>
            </a:prstGeom>
            <a:noFill/>
            <a:ln w="19050">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z</a:t>
              </a:r>
              <a:r>
                <a:rPr lang="en-US" altLang="zh-CN" sz="2000" baseline="30000"/>
                <a:t>-1</a:t>
              </a:r>
            </a:p>
          </p:txBody>
        </p:sp>
        <p:sp>
          <p:nvSpPr>
            <p:cNvPr id="6156" name="Text Box 11"/>
            <p:cNvSpPr txBox="1">
              <a:spLocks noChangeArrowheads="1"/>
            </p:cNvSpPr>
            <p:nvPr/>
          </p:nvSpPr>
          <p:spPr bwMode="auto">
            <a:xfrm>
              <a:off x="4286" y="1979"/>
              <a:ext cx="272" cy="210"/>
            </a:xfrm>
            <a:prstGeom prst="rect">
              <a:avLst/>
            </a:prstGeom>
            <a:noFill/>
            <a:ln w="28575">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z</a:t>
              </a:r>
              <a:r>
                <a:rPr lang="en-US" altLang="zh-CN" sz="2000" baseline="30000"/>
                <a:t>-1</a:t>
              </a:r>
            </a:p>
          </p:txBody>
        </p:sp>
        <p:sp>
          <p:nvSpPr>
            <p:cNvPr id="6157" name="Line 12"/>
            <p:cNvSpPr>
              <a:spLocks noChangeShapeType="1"/>
            </p:cNvSpPr>
            <p:nvPr/>
          </p:nvSpPr>
          <p:spPr bwMode="auto">
            <a:xfrm>
              <a:off x="2336" y="2069"/>
              <a:ext cx="272"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58" name="Line 13"/>
            <p:cNvSpPr>
              <a:spLocks noChangeShapeType="1"/>
            </p:cNvSpPr>
            <p:nvPr/>
          </p:nvSpPr>
          <p:spPr bwMode="auto">
            <a:xfrm>
              <a:off x="2880" y="2069"/>
              <a:ext cx="544"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59" name="Text Box 14"/>
            <p:cNvSpPr txBox="1">
              <a:spLocks noChangeArrowheads="1"/>
            </p:cNvSpPr>
            <p:nvPr/>
          </p:nvSpPr>
          <p:spPr bwMode="auto">
            <a:xfrm>
              <a:off x="2245" y="1842"/>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t>x(n)</a:t>
              </a:r>
              <a:endParaRPr lang="en-US" altLang="zh-CN" sz="2000" b="1" baseline="30000"/>
            </a:p>
          </p:txBody>
        </p:sp>
        <p:sp>
          <p:nvSpPr>
            <p:cNvPr id="6160" name="Text Box 15"/>
            <p:cNvSpPr txBox="1">
              <a:spLocks noChangeArrowheads="1"/>
            </p:cNvSpPr>
            <p:nvPr/>
          </p:nvSpPr>
          <p:spPr bwMode="auto">
            <a:xfrm>
              <a:off x="2925" y="1842"/>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t>x(n-1)</a:t>
              </a:r>
              <a:endParaRPr lang="en-US" altLang="zh-CN" sz="2000" b="1" baseline="30000"/>
            </a:p>
          </p:txBody>
        </p:sp>
        <p:sp>
          <p:nvSpPr>
            <p:cNvPr id="6161" name="Line 16"/>
            <p:cNvSpPr>
              <a:spLocks noChangeShapeType="1"/>
            </p:cNvSpPr>
            <p:nvPr/>
          </p:nvSpPr>
          <p:spPr bwMode="auto">
            <a:xfrm>
              <a:off x="3696" y="2069"/>
              <a:ext cx="273" cy="0"/>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62" name="Line 17"/>
            <p:cNvSpPr>
              <a:spLocks noChangeShapeType="1"/>
            </p:cNvSpPr>
            <p:nvPr/>
          </p:nvSpPr>
          <p:spPr bwMode="auto">
            <a:xfrm>
              <a:off x="4014" y="2069"/>
              <a:ext cx="272" cy="0"/>
            </a:xfrm>
            <a:prstGeom prst="line">
              <a:avLst/>
            </a:prstGeom>
            <a:noFill/>
            <a:ln w="2857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63" name="Line 18"/>
            <p:cNvSpPr>
              <a:spLocks noChangeShapeType="1"/>
            </p:cNvSpPr>
            <p:nvPr/>
          </p:nvSpPr>
          <p:spPr bwMode="auto">
            <a:xfrm>
              <a:off x="4558" y="2069"/>
              <a:ext cx="318"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64" name="Line 19"/>
            <p:cNvSpPr>
              <a:spLocks noChangeShapeType="1"/>
            </p:cNvSpPr>
            <p:nvPr/>
          </p:nvSpPr>
          <p:spPr bwMode="auto">
            <a:xfrm>
              <a:off x="5148" y="2069"/>
              <a:ext cx="181" cy="0"/>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65" name="Line 20"/>
            <p:cNvSpPr>
              <a:spLocks noChangeShapeType="1"/>
            </p:cNvSpPr>
            <p:nvPr/>
          </p:nvSpPr>
          <p:spPr bwMode="auto">
            <a:xfrm>
              <a:off x="2472" y="2069"/>
              <a:ext cx="0" cy="227"/>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66" name="AutoShape 21"/>
            <p:cNvSpPr>
              <a:spLocks noChangeArrowheads="1"/>
            </p:cNvSpPr>
            <p:nvPr/>
          </p:nvSpPr>
          <p:spPr bwMode="auto">
            <a:xfrm flipH="1" flipV="1">
              <a:off x="2366" y="2296"/>
              <a:ext cx="227" cy="317"/>
            </a:xfrm>
            <a:prstGeom prst="triangle">
              <a:avLst>
                <a:gd name="adj" fmla="val 55250"/>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67" name="Line 22"/>
            <p:cNvSpPr>
              <a:spLocks noChangeShapeType="1"/>
            </p:cNvSpPr>
            <p:nvPr/>
          </p:nvSpPr>
          <p:spPr bwMode="auto">
            <a:xfrm>
              <a:off x="2462" y="2614"/>
              <a:ext cx="10" cy="453"/>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68" name="Line 23"/>
            <p:cNvSpPr>
              <a:spLocks noChangeShapeType="1"/>
            </p:cNvSpPr>
            <p:nvPr/>
          </p:nvSpPr>
          <p:spPr bwMode="auto">
            <a:xfrm>
              <a:off x="3142" y="2069"/>
              <a:ext cx="0" cy="227"/>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69" name="AutoShape 24"/>
            <p:cNvSpPr>
              <a:spLocks noChangeArrowheads="1"/>
            </p:cNvSpPr>
            <p:nvPr/>
          </p:nvSpPr>
          <p:spPr bwMode="auto">
            <a:xfrm flipH="1" flipV="1">
              <a:off x="3036" y="2296"/>
              <a:ext cx="227" cy="317"/>
            </a:xfrm>
            <a:prstGeom prst="triangle">
              <a:avLst>
                <a:gd name="adj" fmla="val 55250"/>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70" name="Line 25"/>
            <p:cNvSpPr>
              <a:spLocks noChangeShapeType="1"/>
            </p:cNvSpPr>
            <p:nvPr/>
          </p:nvSpPr>
          <p:spPr bwMode="auto">
            <a:xfrm>
              <a:off x="3132" y="2614"/>
              <a:ext cx="0" cy="227"/>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71" name="Line 26"/>
            <p:cNvSpPr>
              <a:spLocks noChangeShapeType="1"/>
            </p:cNvSpPr>
            <p:nvPr/>
          </p:nvSpPr>
          <p:spPr bwMode="auto">
            <a:xfrm>
              <a:off x="3848" y="2069"/>
              <a:ext cx="0" cy="227"/>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72" name="AutoShape 27"/>
            <p:cNvSpPr>
              <a:spLocks noChangeArrowheads="1"/>
            </p:cNvSpPr>
            <p:nvPr/>
          </p:nvSpPr>
          <p:spPr bwMode="auto">
            <a:xfrm flipH="1" flipV="1">
              <a:off x="3742" y="2296"/>
              <a:ext cx="227" cy="317"/>
            </a:xfrm>
            <a:prstGeom prst="triangle">
              <a:avLst>
                <a:gd name="adj" fmla="val 55250"/>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73" name="Line 28"/>
            <p:cNvSpPr>
              <a:spLocks noChangeShapeType="1"/>
            </p:cNvSpPr>
            <p:nvPr/>
          </p:nvSpPr>
          <p:spPr bwMode="auto">
            <a:xfrm>
              <a:off x="3838" y="2614"/>
              <a:ext cx="0" cy="227"/>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74" name="Line 29"/>
            <p:cNvSpPr>
              <a:spLocks noChangeShapeType="1"/>
            </p:cNvSpPr>
            <p:nvPr/>
          </p:nvSpPr>
          <p:spPr bwMode="auto">
            <a:xfrm>
              <a:off x="4710" y="2069"/>
              <a:ext cx="0" cy="227"/>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75" name="AutoShape 30"/>
            <p:cNvSpPr>
              <a:spLocks noChangeArrowheads="1"/>
            </p:cNvSpPr>
            <p:nvPr/>
          </p:nvSpPr>
          <p:spPr bwMode="auto">
            <a:xfrm flipH="1" flipV="1">
              <a:off x="4604" y="2296"/>
              <a:ext cx="227" cy="317"/>
            </a:xfrm>
            <a:prstGeom prst="triangle">
              <a:avLst>
                <a:gd name="adj" fmla="val 55250"/>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76" name="Line 31"/>
            <p:cNvSpPr>
              <a:spLocks noChangeShapeType="1"/>
            </p:cNvSpPr>
            <p:nvPr/>
          </p:nvSpPr>
          <p:spPr bwMode="auto">
            <a:xfrm>
              <a:off x="4700" y="2614"/>
              <a:ext cx="0" cy="227"/>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77" name="Line 32"/>
            <p:cNvSpPr>
              <a:spLocks noChangeShapeType="1"/>
            </p:cNvSpPr>
            <p:nvPr/>
          </p:nvSpPr>
          <p:spPr bwMode="auto">
            <a:xfrm>
              <a:off x="5319" y="2069"/>
              <a:ext cx="0" cy="227"/>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78" name="AutoShape 33"/>
            <p:cNvSpPr>
              <a:spLocks noChangeArrowheads="1"/>
            </p:cNvSpPr>
            <p:nvPr/>
          </p:nvSpPr>
          <p:spPr bwMode="auto">
            <a:xfrm flipH="1" flipV="1">
              <a:off x="5213" y="2296"/>
              <a:ext cx="227" cy="317"/>
            </a:xfrm>
            <a:prstGeom prst="triangle">
              <a:avLst>
                <a:gd name="adj" fmla="val 55250"/>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79" name="Line 34"/>
            <p:cNvSpPr>
              <a:spLocks noChangeShapeType="1"/>
            </p:cNvSpPr>
            <p:nvPr/>
          </p:nvSpPr>
          <p:spPr bwMode="auto">
            <a:xfrm>
              <a:off x="5319" y="2614"/>
              <a:ext cx="0" cy="453"/>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6180" name="Group 38"/>
            <p:cNvGrpSpPr>
              <a:grpSpLocks/>
            </p:cNvGrpSpPr>
            <p:nvPr/>
          </p:nvGrpSpPr>
          <p:grpSpPr bwMode="auto">
            <a:xfrm>
              <a:off x="3676" y="2840"/>
              <a:ext cx="318" cy="318"/>
              <a:chOff x="3696" y="2840"/>
              <a:chExt cx="318" cy="318"/>
            </a:xfrm>
          </p:grpSpPr>
          <p:sp>
            <p:nvSpPr>
              <p:cNvPr id="6196" name="Oval 35"/>
              <p:cNvSpPr>
                <a:spLocks noChangeArrowheads="1"/>
              </p:cNvSpPr>
              <p:nvPr/>
            </p:nvSpPr>
            <p:spPr bwMode="auto">
              <a:xfrm>
                <a:off x="3696" y="2840"/>
                <a:ext cx="318" cy="318"/>
              </a:xfrm>
              <a:prstGeom prst="ellipse">
                <a:avLst/>
              </a:prstGeom>
              <a:solidFill>
                <a:schemeClr val="hlink"/>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97" name="Text Box 37"/>
              <p:cNvSpPr txBox="1">
                <a:spLocks noChangeArrowheads="1"/>
              </p:cNvSpPr>
              <p:nvPr/>
            </p:nvSpPr>
            <p:spPr bwMode="auto">
              <a:xfrm>
                <a:off x="3726" y="2906"/>
                <a:ext cx="2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t>+</a:t>
                </a:r>
                <a:endParaRPr lang="en-US" altLang="zh-CN" sz="2000" b="1" baseline="30000"/>
              </a:p>
            </p:txBody>
          </p:sp>
        </p:grpSp>
        <p:sp>
          <p:nvSpPr>
            <p:cNvPr id="6181" name="Line 39"/>
            <p:cNvSpPr>
              <a:spLocks noChangeShapeType="1"/>
            </p:cNvSpPr>
            <p:nvPr/>
          </p:nvSpPr>
          <p:spPr bwMode="auto">
            <a:xfrm>
              <a:off x="3127" y="2840"/>
              <a:ext cx="343" cy="0"/>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82" name="Line 40"/>
            <p:cNvSpPr>
              <a:spLocks noChangeShapeType="1"/>
            </p:cNvSpPr>
            <p:nvPr/>
          </p:nvSpPr>
          <p:spPr bwMode="auto">
            <a:xfrm>
              <a:off x="4195" y="2840"/>
              <a:ext cx="510" cy="0"/>
            </a:xfrm>
            <a:prstGeom prst="line">
              <a:avLst/>
            </a:prstGeom>
            <a:noFill/>
            <a:ln w="2857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83" name="Line 41"/>
            <p:cNvSpPr>
              <a:spLocks noChangeShapeType="1"/>
            </p:cNvSpPr>
            <p:nvPr/>
          </p:nvSpPr>
          <p:spPr bwMode="auto">
            <a:xfrm>
              <a:off x="2472" y="3067"/>
              <a:ext cx="1224"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84" name="Line 42"/>
            <p:cNvSpPr>
              <a:spLocks noChangeShapeType="1"/>
            </p:cNvSpPr>
            <p:nvPr/>
          </p:nvSpPr>
          <p:spPr bwMode="auto">
            <a:xfrm flipH="1">
              <a:off x="3969" y="3067"/>
              <a:ext cx="1360"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85" name="Line 43"/>
            <p:cNvSpPr>
              <a:spLocks noChangeShapeType="1"/>
            </p:cNvSpPr>
            <p:nvPr/>
          </p:nvSpPr>
          <p:spPr bwMode="auto">
            <a:xfrm>
              <a:off x="3833" y="3158"/>
              <a:ext cx="0" cy="227"/>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86" name="Line 44"/>
            <p:cNvSpPr>
              <a:spLocks noChangeShapeType="1"/>
            </p:cNvSpPr>
            <p:nvPr/>
          </p:nvSpPr>
          <p:spPr bwMode="auto">
            <a:xfrm>
              <a:off x="3470" y="2840"/>
              <a:ext cx="226" cy="91"/>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87" name="Line 45"/>
            <p:cNvSpPr>
              <a:spLocks noChangeShapeType="1"/>
            </p:cNvSpPr>
            <p:nvPr/>
          </p:nvSpPr>
          <p:spPr bwMode="auto">
            <a:xfrm flipH="1">
              <a:off x="3969" y="2840"/>
              <a:ext cx="226" cy="91"/>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88" name="Text Box 46"/>
            <p:cNvSpPr txBox="1">
              <a:spLocks noChangeArrowheads="1"/>
            </p:cNvSpPr>
            <p:nvPr/>
          </p:nvSpPr>
          <p:spPr bwMode="auto">
            <a:xfrm>
              <a:off x="3696" y="1842"/>
              <a:ext cx="4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t>x(n-2)</a:t>
              </a:r>
              <a:endParaRPr lang="en-US" altLang="zh-CN" sz="2000" b="1" baseline="30000"/>
            </a:p>
          </p:txBody>
        </p:sp>
        <p:sp>
          <p:nvSpPr>
            <p:cNvPr id="6189" name="Text Box 47"/>
            <p:cNvSpPr txBox="1">
              <a:spLocks noChangeArrowheads="1"/>
            </p:cNvSpPr>
            <p:nvPr/>
          </p:nvSpPr>
          <p:spPr bwMode="auto">
            <a:xfrm>
              <a:off x="5148" y="1842"/>
              <a:ext cx="6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t>x(n-N-1)</a:t>
              </a:r>
              <a:endParaRPr lang="en-US" altLang="zh-CN" sz="2000" b="1" baseline="30000"/>
            </a:p>
          </p:txBody>
        </p:sp>
        <p:sp>
          <p:nvSpPr>
            <p:cNvPr id="6190" name="Text Box 48"/>
            <p:cNvSpPr txBox="1">
              <a:spLocks noChangeArrowheads="1"/>
            </p:cNvSpPr>
            <p:nvPr/>
          </p:nvSpPr>
          <p:spPr bwMode="auto">
            <a:xfrm>
              <a:off x="2109" y="2432"/>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0</a:t>
              </a:r>
            </a:p>
          </p:txBody>
        </p:sp>
        <p:sp>
          <p:nvSpPr>
            <p:cNvPr id="6191" name="Text Box 49"/>
            <p:cNvSpPr txBox="1">
              <a:spLocks noChangeArrowheads="1"/>
            </p:cNvSpPr>
            <p:nvPr/>
          </p:nvSpPr>
          <p:spPr bwMode="auto">
            <a:xfrm>
              <a:off x="2744" y="2432"/>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1</a:t>
              </a:r>
            </a:p>
          </p:txBody>
        </p:sp>
        <p:sp>
          <p:nvSpPr>
            <p:cNvPr id="6192" name="Text Box 50"/>
            <p:cNvSpPr txBox="1">
              <a:spLocks noChangeArrowheads="1"/>
            </p:cNvSpPr>
            <p:nvPr/>
          </p:nvSpPr>
          <p:spPr bwMode="auto">
            <a:xfrm>
              <a:off x="3424" y="2432"/>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2</a:t>
              </a:r>
            </a:p>
          </p:txBody>
        </p:sp>
        <p:sp>
          <p:nvSpPr>
            <p:cNvPr id="6193" name="Text Box 51"/>
            <p:cNvSpPr txBox="1">
              <a:spLocks noChangeArrowheads="1"/>
            </p:cNvSpPr>
            <p:nvPr/>
          </p:nvSpPr>
          <p:spPr bwMode="auto">
            <a:xfrm>
              <a:off x="4241" y="2432"/>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N-2</a:t>
              </a:r>
            </a:p>
          </p:txBody>
        </p:sp>
        <p:sp>
          <p:nvSpPr>
            <p:cNvPr id="6194" name="Text Box 52"/>
            <p:cNvSpPr txBox="1">
              <a:spLocks noChangeArrowheads="1"/>
            </p:cNvSpPr>
            <p:nvPr/>
          </p:nvSpPr>
          <p:spPr bwMode="auto">
            <a:xfrm>
              <a:off x="4921" y="2432"/>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N-1</a:t>
              </a:r>
            </a:p>
          </p:txBody>
        </p:sp>
        <p:sp>
          <p:nvSpPr>
            <p:cNvPr id="6195" name="Text Box 53"/>
            <p:cNvSpPr txBox="1">
              <a:spLocks noChangeArrowheads="1"/>
            </p:cNvSpPr>
            <p:nvPr/>
          </p:nvSpPr>
          <p:spPr bwMode="auto">
            <a:xfrm>
              <a:off x="3923" y="3294"/>
              <a:ext cx="3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t>y(n)</a:t>
              </a:r>
              <a:endParaRPr lang="en-US" altLang="zh-CN" sz="2000" b="1" baseline="30000"/>
            </a:p>
          </p:txBody>
        </p:sp>
      </p:grpSp>
      <p:graphicFrame>
        <p:nvGraphicFramePr>
          <p:cNvPr id="6146" name="Object 55"/>
          <p:cNvGraphicFramePr>
            <a:graphicFrameLocks noGrp="1" noChangeAspect="1"/>
          </p:cNvGraphicFramePr>
          <p:nvPr>
            <p:ph/>
          </p:nvPr>
        </p:nvGraphicFramePr>
        <p:xfrm>
          <a:off x="4587875" y="2565400"/>
          <a:ext cx="2805113" cy="1182688"/>
        </p:xfrm>
        <a:graphic>
          <a:graphicData uri="http://schemas.openxmlformats.org/presentationml/2006/ole">
            <mc:AlternateContent xmlns:mc="http://schemas.openxmlformats.org/markup-compatibility/2006">
              <mc:Choice xmlns:v="urn:schemas-microsoft-com:vml" Requires="v">
                <p:oleObj spid="_x0000_s5122" name="公式" r:id="rId3" imgW="1054100" imgH="444500" progId="">
                  <p:embed/>
                </p:oleObj>
              </mc:Choice>
              <mc:Fallback>
                <p:oleObj name="公式" r:id="rId3" imgW="1054100" imgH="444500" progId="">
                  <p:embed/>
                  <p:pic>
                    <p:nvPicPr>
                      <p:cNvPr id="0" name="Picture 6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7875" y="2565400"/>
                        <a:ext cx="2805113" cy="1182688"/>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51970"/>
                                        </p:tgtEl>
                                        <p:attrNameLst>
                                          <p:attrName>style.visibility</p:attrName>
                                        </p:attrNameLst>
                                      </p:cBhvr>
                                      <p:to>
                                        <p:strVal val="visible"/>
                                      </p:to>
                                    </p:set>
                                    <p:animEffect transition="in" filter="slide(fromTop)">
                                      <p:cBhvr>
                                        <p:cTn id="7" dur="500"/>
                                        <p:tgtEl>
                                          <p:spTgt spid="851970"/>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51971"/>
                                        </p:tgtEl>
                                        <p:attrNameLst>
                                          <p:attrName>style.visibility</p:attrName>
                                        </p:attrNameLst>
                                      </p:cBhvr>
                                      <p:to>
                                        <p:strVal val="visible"/>
                                      </p:to>
                                    </p:set>
                                    <p:animEffect transition="in" filter="slide(fromLeft)">
                                      <p:cBhvr>
                                        <p:cTn id="11" dur="500"/>
                                        <p:tgtEl>
                                          <p:spTgt spid="851971"/>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851972"/>
                                        </p:tgtEl>
                                        <p:attrNameLst>
                                          <p:attrName>style.visibility</p:attrName>
                                        </p:attrNameLst>
                                      </p:cBhvr>
                                      <p:to>
                                        <p:strVal val="visible"/>
                                      </p:to>
                                    </p:set>
                                    <p:animEffect transition="in" filter="slide(fromBottom)">
                                      <p:cBhvr>
                                        <p:cTn id="15" dur="500"/>
                                        <p:tgtEl>
                                          <p:spTgt spid="851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70" grpId="0" animBg="1"/>
      <p:bldP spid="851971" grpId="0" animBg="1"/>
      <p:bldP spid="85197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5D1A0A4-BFE5-4BB2-A511-48017053820C}" type="slidenum">
              <a:rPr lang="en-US" altLang="zh-CN" sz="1400"/>
              <a:pPr eaLnBrk="1" hangingPunct="1"/>
              <a:t>67</a:t>
            </a:fld>
            <a:endParaRPr lang="en-US" altLang="zh-CN" sz="1400"/>
          </a:p>
        </p:txBody>
      </p:sp>
      <p:sp>
        <p:nvSpPr>
          <p:cNvPr id="852994" name="Rectangle 2" descr="小棋盘"/>
          <p:cNvSpPr>
            <a:spLocks noChangeArrowheads="1"/>
          </p:cNvSpPr>
          <p:nvPr/>
        </p:nvSpPr>
        <p:spPr bwMode="auto">
          <a:xfrm>
            <a:off x="1905000" y="1143000"/>
            <a:ext cx="54102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2. FIR</a:t>
            </a:r>
            <a:r>
              <a:rPr lang="zh-CN" altLang="en-US" sz="3200" b="1">
                <a:solidFill>
                  <a:srgbClr val="FF0000"/>
                </a:solidFill>
                <a:latin typeface="宋体" panose="02010600030101010101" pitchFamily="2" charset="-122"/>
                <a:ea typeface="仿宋_GB2312" pitchFamily="49" charset="-122"/>
              </a:rPr>
              <a:t>滤波器中</a:t>
            </a:r>
            <a:r>
              <a:rPr lang="en-US" altLang="zh-CN" sz="3200" b="1" i="1">
                <a:solidFill>
                  <a:srgbClr val="FF0000"/>
                </a:solidFill>
                <a:latin typeface="宋体" panose="02010600030101010101" pitchFamily="2" charset="-122"/>
                <a:ea typeface="仿宋_GB2312" pitchFamily="49" charset="-122"/>
              </a:rPr>
              <a:t>z</a:t>
            </a:r>
            <a:r>
              <a:rPr lang="en-US" altLang="zh-CN" sz="3200" b="1" baseline="30000">
                <a:solidFill>
                  <a:srgbClr val="FF0000"/>
                </a:solidFill>
                <a:latin typeface="宋体" panose="02010600030101010101" pitchFamily="2" charset="-122"/>
                <a:ea typeface="仿宋_GB2312" pitchFamily="49" charset="-122"/>
              </a:rPr>
              <a:t>-1</a:t>
            </a:r>
            <a:r>
              <a:rPr lang="zh-CN" altLang="en-US" sz="3200" b="1">
                <a:solidFill>
                  <a:srgbClr val="FF0000"/>
                </a:solidFill>
                <a:latin typeface="宋体" panose="02010600030101010101" pitchFamily="2" charset="-122"/>
                <a:ea typeface="仿宋_GB2312" pitchFamily="49" charset="-122"/>
              </a:rPr>
              <a:t>的实现 </a:t>
            </a:r>
          </a:p>
        </p:txBody>
      </p:sp>
      <p:sp>
        <p:nvSpPr>
          <p:cNvPr id="852995" name="Rectangle 3"/>
          <p:cNvSpPr>
            <a:spLocks noChangeArrowheads="1"/>
          </p:cNvSpPr>
          <p:nvPr/>
        </p:nvSpPr>
        <p:spPr bwMode="auto">
          <a:xfrm>
            <a:off x="1600200" y="2667000"/>
            <a:ext cx="7004050" cy="35179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35718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solidFill>
                  <a:schemeClr val="folHlink"/>
                </a:solidFill>
                <a:latin typeface="宋体" panose="02010600030101010101" pitchFamily="2" charset="-122"/>
              </a:rPr>
              <a:t>1)</a:t>
            </a:r>
            <a:r>
              <a:rPr lang="zh-CN" altLang="en-US" sz="2800" b="1">
                <a:solidFill>
                  <a:schemeClr val="folHlink"/>
                </a:solidFill>
                <a:latin typeface="宋体" panose="02010600030101010101" pitchFamily="2" charset="-122"/>
              </a:rPr>
              <a:t>对于</a:t>
            </a:r>
            <a:r>
              <a:rPr lang="en-US" altLang="zh-CN" sz="2800" b="1">
                <a:solidFill>
                  <a:schemeClr val="folHlink"/>
                </a:solidFill>
                <a:latin typeface="宋体" panose="02010600030101010101" pitchFamily="2" charset="-122"/>
              </a:rPr>
              <a:t>N</a:t>
            </a:r>
            <a:r>
              <a:rPr lang="zh-CN" altLang="en-US" sz="2800" b="1">
                <a:solidFill>
                  <a:schemeClr val="folHlink"/>
                </a:solidFill>
                <a:latin typeface="宋体" panose="02010600030101010101" pitchFamily="2" charset="-122"/>
              </a:rPr>
              <a:t>级的</a:t>
            </a:r>
            <a:r>
              <a:rPr lang="en-US" altLang="zh-CN" sz="2800" b="1">
                <a:solidFill>
                  <a:schemeClr val="folHlink"/>
                </a:solidFill>
                <a:latin typeface="宋体" panose="02010600030101010101" pitchFamily="2" charset="-122"/>
              </a:rPr>
              <a:t>FIR</a:t>
            </a:r>
            <a:r>
              <a:rPr lang="zh-CN" altLang="en-US" sz="2800" b="1">
                <a:solidFill>
                  <a:schemeClr val="folHlink"/>
                </a:solidFill>
                <a:latin typeface="宋体" panose="02010600030101010101" pitchFamily="2" charset="-122"/>
              </a:rPr>
              <a:t>滤波器，在数据存储器中开辟一个称之为滑窗的</a:t>
            </a:r>
            <a:r>
              <a:rPr lang="en-US" altLang="zh-CN" sz="2800" b="1">
                <a:solidFill>
                  <a:schemeClr val="folHlink"/>
                </a:solidFill>
                <a:latin typeface="宋体" panose="02010600030101010101" pitchFamily="2" charset="-122"/>
              </a:rPr>
              <a:t>N</a:t>
            </a:r>
            <a:r>
              <a:rPr lang="zh-CN" altLang="en-US" sz="2800" b="1">
                <a:solidFill>
                  <a:schemeClr val="folHlink"/>
                </a:solidFill>
                <a:latin typeface="宋体" panose="02010600030101010101" pitchFamily="2" charset="-122"/>
              </a:rPr>
              <a:t>个单元的缓冲区，存放最新的</a:t>
            </a:r>
            <a:r>
              <a:rPr lang="en-US" altLang="zh-CN" sz="2800" b="1">
                <a:solidFill>
                  <a:schemeClr val="folHlink"/>
                </a:solidFill>
                <a:latin typeface="宋体" panose="02010600030101010101" pitchFamily="2" charset="-122"/>
              </a:rPr>
              <a:t>N</a:t>
            </a:r>
            <a:r>
              <a:rPr lang="zh-CN" altLang="en-US" sz="2800" b="1">
                <a:solidFill>
                  <a:schemeClr val="folHlink"/>
                </a:solidFill>
                <a:latin typeface="宋体" panose="02010600030101010101" pitchFamily="2" charset="-122"/>
              </a:rPr>
              <a:t>个输入样本；</a:t>
            </a:r>
          </a:p>
          <a:p>
            <a:pPr algn="just" eaLnBrk="1" hangingPunct="1"/>
            <a:r>
              <a:rPr lang="en-US" altLang="zh-CN" sz="2800" b="1">
                <a:solidFill>
                  <a:schemeClr val="tx2"/>
                </a:solidFill>
                <a:latin typeface="宋体" panose="02010600030101010101" pitchFamily="2" charset="-122"/>
              </a:rPr>
              <a:t>2)</a:t>
            </a:r>
            <a:r>
              <a:rPr lang="zh-CN" altLang="en-US" sz="2800" b="1">
                <a:solidFill>
                  <a:schemeClr val="tx2"/>
                </a:solidFill>
                <a:latin typeface="宋体" panose="02010600030101010101" pitchFamily="2" charset="-122"/>
              </a:rPr>
              <a:t>从最老的样本开始，每读一个样本后，将此样本向下移位，读完最后一个样本后，输入最新样本至缓冲区的顶部。</a:t>
            </a:r>
          </a:p>
          <a:p>
            <a:pPr algn="just" eaLnBrk="1" hangingPunct="1"/>
            <a:r>
              <a:rPr lang="zh-CN" altLang="en-US" sz="2800" b="1">
                <a:solidFill>
                  <a:srgbClr val="FF6600"/>
                </a:solidFill>
                <a:latin typeface="宋体" panose="02010600030101010101" pitchFamily="2" charset="-122"/>
              </a:rPr>
              <a:t>用线性缓冲区实现</a:t>
            </a:r>
            <a:r>
              <a:rPr lang="en-US" altLang="zh-CN" sz="2800" b="1" i="1">
                <a:solidFill>
                  <a:srgbClr val="FF6600"/>
                </a:solidFill>
                <a:latin typeface="宋体" panose="02010600030101010101" pitchFamily="2" charset="-122"/>
              </a:rPr>
              <a:t>z</a:t>
            </a:r>
            <a:r>
              <a:rPr lang="en-US" altLang="zh-CN" sz="2800" b="1" baseline="30000">
                <a:solidFill>
                  <a:srgbClr val="FF6600"/>
                </a:solidFill>
                <a:latin typeface="宋体" panose="02010600030101010101" pitchFamily="2" charset="-122"/>
              </a:rPr>
              <a:t>-1</a:t>
            </a:r>
            <a:r>
              <a:rPr lang="zh-CN" altLang="en-US" sz="2800" b="1">
                <a:solidFill>
                  <a:srgbClr val="FF6600"/>
                </a:solidFill>
                <a:latin typeface="宋体" panose="02010600030101010101" pitchFamily="2" charset="-122"/>
              </a:rPr>
              <a:t>的优点是，新老数据在存储器中存放的位置直接明了。</a:t>
            </a:r>
          </a:p>
        </p:txBody>
      </p:sp>
      <p:sp>
        <p:nvSpPr>
          <p:cNvPr id="852996" name="Rectangle 4" descr="小棋盘"/>
          <p:cNvSpPr>
            <a:spLocks noChangeArrowheads="1"/>
          </p:cNvSpPr>
          <p:nvPr/>
        </p:nvSpPr>
        <p:spPr bwMode="auto">
          <a:xfrm>
            <a:off x="381000" y="3352800"/>
            <a:ext cx="609600" cy="8699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cs typeface="Times New Roman" panose="02020603050405020304" pitchFamily="18" charset="0"/>
              </a:rPr>
              <a:t>特点</a:t>
            </a:r>
            <a:r>
              <a:rPr lang="zh-CN" altLang="en-US" sz="2800" b="1">
                <a:solidFill>
                  <a:srgbClr val="FF0000"/>
                </a:solidFill>
                <a:latin typeface="宋体" panose="02010600030101010101" pitchFamily="2" charset="-122"/>
                <a:ea typeface="仿宋_GB2312" pitchFamily="49" charset="-122"/>
              </a:rPr>
              <a:t> </a:t>
            </a:r>
          </a:p>
        </p:txBody>
      </p:sp>
      <p:sp>
        <p:nvSpPr>
          <p:cNvPr id="852997" name="Rectangle 5" descr="小棋盘"/>
          <p:cNvSpPr>
            <a:spLocks noChangeArrowheads="1"/>
          </p:cNvSpPr>
          <p:nvPr/>
        </p:nvSpPr>
        <p:spPr bwMode="auto">
          <a:xfrm>
            <a:off x="2057400" y="1828800"/>
            <a:ext cx="5105400" cy="588963"/>
          </a:xfrm>
          <a:prstGeom prst="rect">
            <a:avLst/>
          </a:prstGeom>
          <a:pattFill prst="smCheck">
            <a:fgClr>
              <a:schemeClr val="accent1"/>
            </a:fgClr>
            <a:bgClr>
              <a:srgbClr val="FFFFFF"/>
            </a:bgClr>
          </a:pattFill>
          <a:ln w="9525">
            <a:solidFill>
              <a:schemeClr val="bg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rgbClr val="FF0000"/>
                </a:solidFill>
                <a:latin typeface="宋体" panose="02010600030101010101" pitchFamily="2" charset="-122"/>
                <a:cs typeface="Times New Roman" panose="02020603050405020304" pitchFamily="18" charset="0"/>
              </a:rPr>
              <a:t>(1)</a:t>
            </a:r>
            <a:r>
              <a:rPr lang="zh-CN" altLang="en-US" sz="3200" b="1">
                <a:solidFill>
                  <a:srgbClr val="FF0000"/>
                </a:solidFill>
                <a:latin typeface="宋体" panose="02010600030101010101" pitchFamily="2" charset="-122"/>
                <a:cs typeface="Times New Roman" panose="02020603050405020304" pitchFamily="18" charset="0"/>
              </a:rPr>
              <a:t>用线性缓冲区法实现</a:t>
            </a:r>
            <a:r>
              <a:rPr lang="en-US" altLang="zh-CN" sz="3200" b="1" i="1">
                <a:solidFill>
                  <a:srgbClr val="FF0000"/>
                </a:solidFill>
                <a:latin typeface="宋体" panose="02010600030101010101" pitchFamily="2" charset="-122"/>
                <a:cs typeface="Times New Roman" panose="02020603050405020304" pitchFamily="18" charset="0"/>
              </a:rPr>
              <a:t>z</a:t>
            </a:r>
            <a:r>
              <a:rPr lang="en-US" altLang="zh-CN" sz="3200" b="1" baseline="30000">
                <a:solidFill>
                  <a:srgbClr val="FF0000"/>
                </a:solidFill>
                <a:latin typeface="宋体" panose="02010600030101010101" pitchFamily="2" charset="-122"/>
                <a:cs typeface="Times New Roman" panose="02020603050405020304" pitchFamily="18" charset="0"/>
              </a:rPr>
              <a:t>-1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52994"/>
                                        </p:tgtEl>
                                        <p:attrNameLst>
                                          <p:attrName>style.visibility</p:attrName>
                                        </p:attrNameLst>
                                      </p:cBhvr>
                                      <p:to>
                                        <p:strVal val="visible"/>
                                      </p:to>
                                    </p:set>
                                    <p:animEffect transition="in" filter="slide(fromTop)">
                                      <p:cBhvr>
                                        <p:cTn id="7" dur="500"/>
                                        <p:tgtEl>
                                          <p:spTgt spid="852994"/>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52997"/>
                                        </p:tgtEl>
                                        <p:attrNameLst>
                                          <p:attrName>style.visibility</p:attrName>
                                        </p:attrNameLst>
                                      </p:cBhvr>
                                      <p:to>
                                        <p:strVal val="visible"/>
                                      </p:to>
                                    </p:set>
                                    <p:animEffect transition="in" filter="slide(fromBottom)">
                                      <p:cBhvr>
                                        <p:cTn id="11" dur="500"/>
                                        <p:tgtEl>
                                          <p:spTgt spid="852997"/>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852996"/>
                                        </p:tgtEl>
                                        <p:attrNameLst>
                                          <p:attrName>style.visibility</p:attrName>
                                        </p:attrNameLst>
                                      </p:cBhvr>
                                      <p:to>
                                        <p:strVal val="visible"/>
                                      </p:to>
                                    </p:set>
                                    <p:animEffect transition="in" filter="slide(fromLeft)">
                                      <p:cBhvr>
                                        <p:cTn id="15" dur="500"/>
                                        <p:tgtEl>
                                          <p:spTgt spid="852996"/>
                                        </p:tgtEl>
                                      </p:cBhvr>
                                    </p:animEffect>
                                  </p:childTnLst>
                                </p:cTn>
                              </p:par>
                            </p:childTnLst>
                          </p:cTn>
                        </p:par>
                        <p:par>
                          <p:cTn id="16" fill="hold" nodeType="afterGroup">
                            <p:stCondLst>
                              <p:cond delay="1500"/>
                            </p:stCondLst>
                            <p:childTnLst>
                              <p:par>
                                <p:cTn id="17" presetID="23" presetClass="entr" presetSubtype="16" fill="hold" grpId="0" nodeType="afterEffect">
                                  <p:stCondLst>
                                    <p:cond delay="0"/>
                                  </p:stCondLst>
                                  <p:childTnLst>
                                    <p:set>
                                      <p:cBhvr>
                                        <p:cTn id="18" dur="1" fill="hold">
                                          <p:stCondLst>
                                            <p:cond delay="0"/>
                                          </p:stCondLst>
                                        </p:cTn>
                                        <p:tgtEl>
                                          <p:spTgt spid="852995"/>
                                        </p:tgtEl>
                                        <p:attrNameLst>
                                          <p:attrName>style.visibility</p:attrName>
                                        </p:attrNameLst>
                                      </p:cBhvr>
                                      <p:to>
                                        <p:strVal val="visible"/>
                                      </p:to>
                                    </p:set>
                                    <p:anim calcmode="lin" valueType="num">
                                      <p:cBhvr>
                                        <p:cTn id="19" dur="500" fill="hold"/>
                                        <p:tgtEl>
                                          <p:spTgt spid="852995"/>
                                        </p:tgtEl>
                                        <p:attrNameLst>
                                          <p:attrName>ppt_w</p:attrName>
                                        </p:attrNameLst>
                                      </p:cBhvr>
                                      <p:tavLst>
                                        <p:tav tm="0">
                                          <p:val>
                                            <p:fltVal val="0"/>
                                          </p:val>
                                        </p:tav>
                                        <p:tav tm="100000">
                                          <p:val>
                                            <p:strVal val="#ppt_w"/>
                                          </p:val>
                                        </p:tav>
                                      </p:tavLst>
                                    </p:anim>
                                    <p:anim calcmode="lin" valueType="num">
                                      <p:cBhvr>
                                        <p:cTn id="20" dur="500" fill="hold"/>
                                        <p:tgtEl>
                                          <p:spTgt spid="85299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4" grpId="0" animBg="1"/>
      <p:bldP spid="852995" grpId="0" animBg="1"/>
      <p:bldP spid="852996" grpId="0" animBg="1"/>
      <p:bldP spid="85299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384EAFDA-07AD-4A86-8657-A23A8E2A48A8}" type="slidenum">
              <a:rPr lang="en-US" altLang="zh-CN" sz="1400"/>
              <a:pPr eaLnBrk="1" hangingPunct="1"/>
              <a:t>68</a:t>
            </a:fld>
            <a:endParaRPr lang="en-US" altLang="zh-CN" sz="1400"/>
          </a:p>
        </p:txBody>
      </p:sp>
      <p:sp>
        <p:nvSpPr>
          <p:cNvPr id="854018" name="Rectangle 2"/>
          <p:cNvSpPr>
            <a:spLocks noChangeArrowheads="1"/>
          </p:cNvSpPr>
          <p:nvPr/>
        </p:nvSpPr>
        <p:spPr bwMode="auto">
          <a:xfrm>
            <a:off x="304800" y="2209800"/>
            <a:ext cx="82296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97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latin typeface="宋体" panose="02010600030101010101" pitchFamily="2" charset="-122"/>
              </a:rPr>
              <a:t>C54x</a:t>
            </a:r>
            <a:r>
              <a:rPr lang="zh-CN" altLang="en-US" sz="2800" b="1">
                <a:latin typeface="宋体" panose="02010600030101010101" pitchFamily="2" charset="-122"/>
              </a:rPr>
              <a:t>片内没有</a:t>
            </a:r>
            <a:r>
              <a:rPr lang="en-US" altLang="zh-CN" sz="2800" b="1">
                <a:latin typeface="宋体" panose="02010600030101010101" pitchFamily="2" charset="-122"/>
              </a:rPr>
              <a:t>I/O</a:t>
            </a:r>
            <a:r>
              <a:rPr lang="zh-CN" altLang="en-US" sz="2800" b="1">
                <a:latin typeface="宋体" panose="02010600030101010101" pitchFamily="2" charset="-122"/>
              </a:rPr>
              <a:t>资源，</a:t>
            </a:r>
            <a:r>
              <a:rPr lang="en-US" altLang="zh-CN" sz="2800" b="1">
                <a:latin typeface="宋体" panose="02010600030101010101" pitchFamily="2" charset="-122"/>
              </a:rPr>
              <a:t>CPU</a:t>
            </a:r>
            <a:r>
              <a:rPr lang="zh-CN" altLang="en-US" sz="2800" b="1">
                <a:latin typeface="宋体" panose="02010600030101010101" pitchFamily="2" charset="-122"/>
              </a:rPr>
              <a:t>通过外部译码可寻址</a:t>
            </a:r>
            <a:r>
              <a:rPr lang="en-US" altLang="zh-CN" sz="2800" b="1">
                <a:latin typeface="宋体" panose="02010600030101010101" pitchFamily="2" charset="-122"/>
              </a:rPr>
              <a:t>64K</a:t>
            </a:r>
            <a:r>
              <a:rPr lang="zh-CN" altLang="en-US" sz="2800" b="1">
                <a:latin typeface="宋体" panose="02010600030101010101" pitchFamily="2" charset="-122"/>
              </a:rPr>
              <a:t>的</a:t>
            </a:r>
            <a:r>
              <a:rPr lang="en-US" altLang="zh-CN" sz="2800" b="1">
                <a:latin typeface="宋体" panose="02010600030101010101" pitchFamily="2" charset="-122"/>
              </a:rPr>
              <a:t>I/O</a:t>
            </a:r>
            <a:r>
              <a:rPr lang="zh-CN" altLang="en-US" sz="2800" b="1">
                <a:latin typeface="宋体" panose="02010600030101010101" pitchFamily="2" charset="-122"/>
              </a:rPr>
              <a:t>单元。</a:t>
            </a:r>
          </a:p>
          <a:p>
            <a:pPr algn="just" eaLnBrk="1" hangingPunct="1"/>
            <a:r>
              <a:rPr lang="zh-CN" altLang="en-US" sz="2800" b="1">
                <a:latin typeface="宋体" panose="02010600030101010101" pitchFamily="2" charset="-122"/>
              </a:rPr>
              <a:t>有两条实现输入和输出的指令：</a:t>
            </a:r>
          </a:p>
          <a:p>
            <a:pPr algn="just"/>
            <a:r>
              <a:rPr lang="en-US" altLang="zh-CN" sz="2800" b="1">
                <a:solidFill>
                  <a:srgbClr val="FF00FF"/>
                </a:solidFill>
                <a:latin typeface="宋体" panose="02010600030101010101" pitchFamily="2" charset="-122"/>
              </a:rPr>
              <a:t>PORTR   PA,Smem</a:t>
            </a:r>
            <a:r>
              <a:rPr lang="en-US" altLang="zh-CN" sz="2800" b="1">
                <a:latin typeface="宋体" panose="02010600030101010101" pitchFamily="2" charset="-122"/>
              </a:rPr>
              <a:t>     </a:t>
            </a:r>
            <a:r>
              <a:rPr lang="zh-CN" altLang="en-US" sz="2800" b="1">
                <a:latin typeface="宋体" panose="02010600030101010101" pitchFamily="2" charset="-122"/>
              </a:rPr>
              <a:t>；将</a:t>
            </a:r>
            <a:r>
              <a:rPr lang="en-US" altLang="zh-CN" sz="2800" b="1">
                <a:latin typeface="宋体" panose="02010600030101010101" pitchFamily="2" charset="-122"/>
              </a:rPr>
              <a:t>PA</a:t>
            </a:r>
            <a:r>
              <a:rPr lang="zh-CN" altLang="en-US" sz="2800" b="1">
                <a:latin typeface="宋体" panose="02010600030101010101" pitchFamily="2" charset="-122"/>
              </a:rPr>
              <a:t>的端口内容送</a:t>
            </a:r>
          </a:p>
          <a:p>
            <a:pPr algn="just"/>
            <a:r>
              <a:rPr lang="zh-CN" altLang="en-US" sz="2800" b="1">
                <a:latin typeface="宋体" panose="02010600030101010101" pitchFamily="2" charset="-122"/>
              </a:rPr>
              <a:t>                    ；数据存储器</a:t>
            </a:r>
            <a:r>
              <a:rPr lang="en-US" altLang="zh-CN" sz="2800" b="1">
                <a:latin typeface="宋体" panose="02010600030101010101" pitchFamily="2" charset="-122"/>
              </a:rPr>
              <a:t>Smem</a:t>
            </a:r>
          </a:p>
          <a:p>
            <a:pPr algn="just"/>
            <a:r>
              <a:rPr lang="en-US" altLang="zh-CN" sz="2800" b="1">
                <a:solidFill>
                  <a:schemeClr val="tx2"/>
                </a:solidFill>
                <a:latin typeface="宋体" panose="02010600030101010101" pitchFamily="2" charset="-122"/>
              </a:rPr>
              <a:t>PORTW   Smem,PA</a:t>
            </a:r>
            <a:r>
              <a:rPr lang="en-US" altLang="zh-CN" sz="2800" b="1">
                <a:latin typeface="宋体" panose="02010600030101010101" pitchFamily="2" charset="-122"/>
              </a:rPr>
              <a:t>     </a:t>
            </a:r>
            <a:r>
              <a:rPr lang="zh-CN" altLang="en-US" sz="2800" b="1">
                <a:latin typeface="宋体" panose="02010600030101010101" pitchFamily="2" charset="-122"/>
              </a:rPr>
              <a:t>；将地址为</a:t>
            </a:r>
            <a:r>
              <a:rPr lang="en-US" altLang="zh-CN" sz="2800" b="1">
                <a:latin typeface="宋体" panose="02010600030101010101" pitchFamily="2" charset="-122"/>
              </a:rPr>
              <a:t>Smem</a:t>
            </a:r>
            <a:r>
              <a:rPr lang="zh-CN" altLang="en-US" sz="2800" b="1">
                <a:latin typeface="宋体" panose="02010600030101010101" pitchFamily="2" charset="-122"/>
              </a:rPr>
              <a:t>的数据</a:t>
            </a:r>
          </a:p>
          <a:p>
            <a:pPr algn="just"/>
            <a:r>
              <a:rPr lang="zh-CN" altLang="en-US" sz="2800" b="1">
                <a:latin typeface="宋体" panose="02010600030101010101" pitchFamily="2" charset="-122"/>
              </a:rPr>
              <a:t>                    ；存储器内容送端口</a:t>
            </a:r>
            <a:r>
              <a:rPr lang="en-US" altLang="zh-CN" sz="2800" b="1">
                <a:latin typeface="宋体" panose="02010600030101010101" pitchFamily="2" charset="-122"/>
              </a:rPr>
              <a:t>PA</a:t>
            </a:r>
          </a:p>
          <a:p>
            <a:endParaRPr lang="en-US" altLang="zh-CN" sz="2800" b="1">
              <a:latin typeface="宋体" panose="02010600030101010101" pitchFamily="2" charset="-122"/>
            </a:endParaRPr>
          </a:p>
        </p:txBody>
      </p:sp>
      <p:sp>
        <p:nvSpPr>
          <p:cNvPr id="854019" name="Rectangle 3" descr="小棋盘"/>
          <p:cNvSpPr>
            <a:spLocks noChangeArrowheads="1"/>
          </p:cNvSpPr>
          <p:nvPr/>
        </p:nvSpPr>
        <p:spPr bwMode="auto">
          <a:xfrm>
            <a:off x="2514600" y="1371600"/>
            <a:ext cx="35814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3200" b="1">
                <a:solidFill>
                  <a:srgbClr val="FF0000"/>
                </a:solidFill>
                <a:latin typeface="宋体" panose="02010600030101010101" pitchFamily="2" charset="-122"/>
              </a:rPr>
              <a:t>数据的输入</a:t>
            </a:r>
            <a:r>
              <a:rPr lang="en-US" altLang="zh-CN" sz="3200" b="1">
                <a:solidFill>
                  <a:srgbClr val="FF0000"/>
                </a:solidFill>
                <a:latin typeface="宋体" panose="02010600030101010101" pitchFamily="2" charset="-122"/>
              </a:rPr>
              <a:t>/</a:t>
            </a:r>
            <a:r>
              <a:rPr lang="zh-CN" altLang="en-US" sz="3200" b="1">
                <a:solidFill>
                  <a:srgbClr val="FF0000"/>
                </a:solidFill>
                <a:latin typeface="宋体" panose="02010600030101010101" pitchFamily="2" charset="-122"/>
              </a:rPr>
              <a:t>输出</a:t>
            </a:r>
            <a:r>
              <a:rPr lang="zh-CN" altLang="en-US" sz="2800" b="1">
                <a:solidFill>
                  <a:srgbClr val="FF0000"/>
                </a:solidFill>
                <a:latin typeface="宋体" panose="02010600030101010101" pitchFamily="2" charset="-122"/>
                <a:ea typeface="仿宋_GB2312" pitchFamily="49" charset="-122"/>
              </a:rPr>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54019"/>
                                        </p:tgtEl>
                                        <p:attrNameLst>
                                          <p:attrName>style.visibility</p:attrName>
                                        </p:attrNameLst>
                                      </p:cBhvr>
                                      <p:to>
                                        <p:strVal val="visible"/>
                                      </p:to>
                                    </p:set>
                                    <p:animEffect transition="in" filter="slide(fromTop)">
                                      <p:cBhvr>
                                        <p:cTn id="7" dur="500"/>
                                        <p:tgtEl>
                                          <p:spTgt spid="85401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54018"/>
                                        </p:tgtEl>
                                        <p:attrNameLst>
                                          <p:attrName>style.visibility</p:attrName>
                                        </p:attrNameLst>
                                      </p:cBhvr>
                                      <p:to>
                                        <p:strVal val="visible"/>
                                      </p:to>
                                    </p:set>
                                    <p:animEffect transition="in" filter="blinds(horizontal)">
                                      <p:cBhvr>
                                        <p:cTn id="11" dur="500"/>
                                        <p:tgtEl>
                                          <p:spTgt spid="854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18" grpId="0"/>
      <p:bldP spid="85401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CE72BF6-A67A-4A02-A298-61850DE64B04}" type="slidenum">
              <a:rPr lang="en-US" altLang="zh-CN" sz="1400"/>
              <a:pPr eaLnBrk="1" hangingPunct="1"/>
              <a:t>69</a:t>
            </a:fld>
            <a:endParaRPr lang="en-US" altLang="zh-CN" sz="1400"/>
          </a:p>
        </p:txBody>
      </p:sp>
      <p:sp>
        <p:nvSpPr>
          <p:cNvPr id="7172" name="Text Box 3" descr="小棋盘"/>
          <p:cNvSpPr txBox="1">
            <a:spLocks noChangeArrowheads="1"/>
          </p:cNvSpPr>
          <p:nvPr/>
        </p:nvSpPr>
        <p:spPr bwMode="auto">
          <a:xfrm>
            <a:off x="2987675" y="5949950"/>
            <a:ext cx="3810000" cy="457200"/>
          </a:xfrm>
          <a:prstGeom prst="rect">
            <a:avLst/>
          </a:prstGeom>
          <a:pattFill prst="smCheck">
            <a:fgClr>
              <a:schemeClr val="accent1"/>
            </a:fgClr>
            <a:bgClr>
              <a:srgbClr val="FFFFFF"/>
            </a:bgClr>
          </a:pattFill>
          <a:ln w="9525">
            <a:solidFill>
              <a:srgbClr val="FF0000"/>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b="1">
                <a:solidFill>
                  <a:schemeClr val="tx2"/>
                </a:solidFill>
                <a:latin typeface="宋体" panose="02010600030101010101" pitchFamily="2" charset="-122"/>
              </a:rPr>
              <a:t>N=6</a:t>
            </a:r>
            <a:r>
              <a:rPr kumimoji="0" lang="zh-CN" altLang="en-US" b="1">
                <a:solidFill>
                  <a:schemeClr val="tx2"/>
                </a:solidFill>
                <a:latin typeface="宋体" panose="02010600030101010101" pitchFamily="2" charset="-122"/>
              </a:rPr>
              <a:t>的线性缓冲区存储器图</a:t>
            </a:r>
            <a:endParaRPr kumimoji="0" lang="zh-CN" altLang="en-US" b="1">
              <a:solidFill>
                <a:schemeClr val="tx2"/>
              </a:solidFill>
            </a:endParaRPr>
          </a:p>
        </p:txBody>
      </p:sp>
      <p:graphicFrame>
        <p:nvGraphicFramePr>
          <p:cNvPr id="855045" name="Object 5"/>
          <p:cNvGraphicFramePr>
            <a:graphicFrameLocks noChangeAspect="1"/>
          </p:cNvGraphicFramePr>
          <p:nvPr/>
        </p:nvGraphicFramePr>
        <p:xfrm>
          <a:off x="3419475" y="1052513"/>
          <a:ext cx="2471738" cy="935037"/>
        </p:xfrm>
        <a:graphic>
          <a:graphicData uri="http://schemas.openxmlformats.org/presentationml/2006/ole">
            <mc:AlternateContent xmlns:mc="http://schemas.openxmlformats.org/markup-compatibility/2006">
              <mc:Choice xmlns:v="urn:schemas-microsoft-com:vml" Requires="v">
                <p:oleObj spid="_x0000_s6146" name="公式" r:id="rId3" imgW="1129810" imgH="431613" progId="">
                  <p:embed/>
                </p:oleObj>
              </mc:Choice>
              <mc:Fallback>
                <p:oleObj name="公式" r:id="rId3" imgW="1129810" imgH="431613" progId="">
                  <p:embed/>
                  <p:pic>
                    <p:nvPicPr>
                      <p:cNvPr id="0" name="Picture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1052513"/>
                        <a:ext cx="2471738" cy="93503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sp>
        <p:nvSpPr>
          <p:cNvPr id="7173" name="Text Box 7"/>
          <p:cNvSpPr txBox="1">
            <a:spLocks noChangeArrowheads="1"/>
          </p:cNvSpPr>
          <p:nvPr/>
        </p:nvSpPr>
        <p:spPr bwMode="auto">
          <a:xfrm>
            <a:off x="2160588" y="277971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p>
        </p:txBody>
      </p:sp>
      <p:sp>
        <p:nvSpPr>
          <p:cNvPr id="7174" name="Text Box 8"/>
          <p:cNvSpPr txBox="1">
            <a:spLocks noChangeArrowheads="1"/>
          </p:cNvSpPr>
          <p:nvPr/>
        </p:nvSpPr>
        <p:spPr bwMode="auto">
          <a:xfrm>
            <a:off x="2160588" y="317976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baseline="30000">
              <a:solidFill>
                <a:srgbClr val="FF6600"/>
              </a:solidFill>
            </a:endParaRPr>
          </a:p>
        </p:txBody>
      </p:sp>
      <p:sp>
        <p:nvSpPr>
          <p:cNvPr id="7175" name="Text Box 9"/>
          <p:cNvSpPr txBox="1">
            <a:spLocks noChangeArrowheads="1"/>
          </p:cNvSpPr>
          <p:nvPr/>
        </p:nvSpPr>
        <p:spPr bwMode="auto">
          <a:xfrm>
            <a:off x="2160588" y="359568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7176" name="Text Box 10"/>
          <p:cNvSpPr txBox="1">
            <a:spLocks noChangeArrowheads="1"/>
          </p:cNvSpPr>
          <p:nvPr/>
        </p:nvSpPr>
        <p:spPr bwMode="auto">
          <a:xfrm>
            <a:off x="2160588" y="3997325"/>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endParaRPr lang="en-US" altLang="zh-CN" sz="2000" b="1">
              <a:solidFill>
                <a:srgbClr val="660066"/>
              </a:solidFill>
            </a:endParaRPr>
          </a:p>
        </p:txBody>
      </p:sp>
      <p:sp>
        <p:nvSpPr>
          <p:cNvPr id="7177" name="Text Box 11"/>
          <p:cNvSpPr txBox="1">
            <a:spLocks noChangeArrowheads="1"/>
          </p:cNvSpPr>
          <p:nvPr/>
        </p:nvSpPr>
        <p:spPr bwMode="auto">
          <a:xfrm>
            <a:off x="2160588" y="4397375"/>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x(n-4)</a:t>
            </a:r>
          </a:p>
        </p:txBody>
      </p:sp>
      <p:sp>
        <p:nvSpPr>
          <p:cNvPr id="7178" name="Text Box 12"/>
          <p:cNvSpPr txBox="1">
            <a:spLocks noChangeArrowheads="1"/>
          </p:cNvSpPr>
          <p:nvPr/>
        </p:nvSpPr>
        <p:spPr bwMode="auto">
          <a:xfrm>
            <a:off x="2160588" y="479583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x(n-5)</a:t>
            </a:r>
          </a:p>
        </p:txBody>
      </p:sp>
      <p:sp>
        <p:nvSpPr>
          <p:cNvPr id="7179" name="Text Box 16"/>
          <p:cNvSpPr txBox="1">
            <a:spLocks noChangeArrowheads="1"/>
          </p:cNvSpPr>
          <p:nvPr/>
        </p:nvSpPr>
        <p:spPr bwMode="auto">
          <a:xfrm>
            <a:off x="250825" y="2781300"/>
            <a:ext cx="1909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1800" b="1">
                <a:solidFill>
                  <a:schemeClr val="folHlink"/>
                </a:solidFill>
              </a:rPr>
              <a:t>线性缓冲区顶部</a:t>
            </a:r>
            <a:r>
              <a:rPr lang="zh-CN" altLang="en-US" sz="2000"/>
              <a:t> </a:t>
            </a:r>
          </a:p>
        </p:txBody>
      </p:sp>
      <p:sp>
        <p:nvSpPr>
          <p:cNvPr id="7180" name="Text Box 21"/>
          <p:cNvSpPr txBox="1">
            <a:spLocks noChangeArrowheads="1"/>
          </p:cNvSpPr>
          <p:nvPr/>
        </p:nvSpPr>
        <p:spPr bwMode="auto">
          <a:xfrm>
            <a:off x="862013" y="4725988"/>
            <a:ext cx="938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folHlink"/>
                </a:solidFill>
              </a:rPr>
              <a:t>*ARx</a:t>
            </a:r>
          </a:p>
        </p:txBody>
      </p:sp>
      <p:sp>
        <p:nvSpPr>
          <p:cNvPr id="7181" name="Text Box 22"/>
          <p:cNvSpPr txBox="1">
            <a:spLocks noChangeArrowheads="1"/>
          </p:cNvSpPr>
          <p:nvPr/>
        </p:nvSpPr>
        <p:spPr bwMode="auto">
          <a:xfrm>
            <a:off x="1870075" y="2276475"/>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FF00FF"/>
                </a:solidFill>
              </a:rPr>
              <a:t>数据存储器</a:t>
            </a:r>
          </a:p>
        </p:txBody>
      </p:sp>
      <p:sp>
        <p:nvSpPr>
          <p:cNvPr id="7182" name="Text Box 23"/>
          <p:cNvSpPr txBox="1">
            <a:spLocks noChangeArrowheads="1"/>
          </p:cNvSpPr>
          <p:nvPr/>
        </p:nvSpPr>
        <p:spPr bwMode="auto">
          <a:xfrm>
            <a:off x="2446338" y="530225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a:t>
            </a:r>
          </a:p>
        </p:txBody>
      </p:sp>
      <p:sp>
        <p:nvSpPr>
          <p:cNvPr id="7183" name="Text Box 24"/>
          <p:cNvSpPr txBox="1">
            <a:spLocks noChangeArrowheads="1"/>
          </p:cNvSpPr>
          <p:nvPr/>
        </p:nvSpPr>
        <p:spPr bwMode="auto">
          <a:xfrm>
            <a:off x="4646613" y="277971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p>
        </p:txBody>
      </p:sp>
      <p:sp>
        <p:nvSpPr>
          <p:cNvPr id="7184" name="Text Box 25"/>
          <p:cNvSpPr txBox="1">
            <a:spLocks noChangeArrowheads="1"/>
          </p:cNvSpPr>
          <p:nvPr/>
        </p:nvSpPr>
        <p:spPr bwMode="auto">
          <a:xfrm>
            <a:off x="4646613" y="317976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endParaRPr lang="en-US" altLang="zh-CN" sz="2000" b="1" baseline="30000">
              <a:solidFill>
                <a:srgbClr val="FF6600"/>
              </a:solidFill>
            </a:endParaRPr>
          </a:p>
        </p:txBody>
      </p:sp>
      <p:sp>
        <p:nvSpPr>
          <p:cNvPr id="7185" name="Text Box 26"/>
          <p:cNvSpPr txBox="1">
            <a:spLocks noChangeArrowheads="1"/>
          </p:cNvSpPr>
          <p:nvPr/>
        </p:nvSpPr>
        <p:spPr bwMode="auto">
          <a:xfrm>
            <a:off x="4646613" y="359568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a:solidFill>
                <a:srgbClr val="660066"/>
              </a:solidFill>
            </a:endParaRPr>
          </a:p>
        </p:txBody>
      </p:sp>
      <p:sp>
        <p:nvSpPr>
          <p:cNvPr id="7186" name="Text Box 27"/>
          <p:cNvSpPr txBox="1">
            <a:spLocks noChangeArrowheads="1"/>
          </p:cNvSpPr>
          <p:nvPr/>
        </p:nvSpPr>
        <p:spPr bwMode="auto">
          <a:xfrm>
            <a:off x="4646613" y="3997325"/>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7187" name="Text Box 28"/>
          <p:cNvSpPr txBox="1">
            <a:spLocks noChangeArrowheads="1"/>
          </p:cNvSpPr>
          <p:nvPr/>
        </p:nvSpPr>
        <p:spPr bwMode="auto">
          <a:xfrm>
            <a:off x="4646613" y="4397375"/>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p>
        </p:txBody>
      </p:sp>
      <p:sp>
        <p:nvSpPr>
          <p:cNvPr id="7188" name="Text Box 29"/>
          <p:cNvSpPr txBox="1">
            <a:spLocks noChangeArrowheads="1"/>
          </p:cNvSpPr>
          <p:nvPr/>
        </p:nvSpPr>
        <p:spPr bwMode="auto">
          <a:xfrm>
            <a:off x="4646613" y="479583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x(n-4)</a:t>
            </a:r>
          </a:p>
        </p:txBody>
      </p:sp>
      <p:sp>
        <p:nvSpPr>
          <p:cNvPr id="7189" name="Text Box 30"/>
          <p:cNvSpPr txBox="1">
            <a:spLocks noChangeArrowheads="1"/>
          </p:cNvSpPr>
          <p:nvPr/>
        </p:nvSpPr>
        <p:spPr bwMode="auto">
          <a:xfrm>
            <a:off x="3276600" y="2781300"/>
            <a:ext cx="1082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b="1">
                <a:solidFill>
                  <a:schemeClr val="folHlink"/>
                </a:solidFill>
              </a:rPr>
              <a:t>PORTR</a:t>
            </a:r>
            <a:r>
              <a:rPr lang="en-US" altLang="zh-CN" sz="2000"/>
              <a:t> </a:t>
            </a:r>
          </a:p>
        </p:txBody>
      </p:sp>
      <p:sp>
        <p:nvSpPr>
          <p:cNvPr id="7190" name="Text Box 33"/>
          <p:cNvSpPr txBox="1">
            <a:spLocks noChangeArrowheads="1"/>
          </p:cNvSpPr>
          <p:nvPr/>
        </p:nvSpPr>
        <p:spPr bwMode="auto">
          <a:xfrm>
            <a:off x="4429125" y="2276475"/>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FF00FF"/>
                </a:solidFill>
              </a:rPr>
              <a:t>数据存储器</a:t>
            </a:r>
          </a:p>
        </p:txBody>
      </p:sp>
      <p:sp>
        <p:nvSpPr>
          <p:cNvPr id="7191" name="Text Box 34"/>
          <p:cNvSpPr txBox="1">
            <a:spLocks noChangeArrowheads="1"/>
          </p:cNvSpPr>
          <p:nvPr/>
        </p:nvSpPr>
        <p:spPr bwMode="auto">
          <a:xfrm>
            <a:off x="4932363" y="530225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(b)</a:t>
            </a:r>
          </a:p>
        </p:txBody>
      </p:sp>
      <p:sp>
        <p:nvSpPr>
          <p:cNvPr id="7192" name="Text Box 35"/>
          <p:cNvSpPr txBox="1">
            <a:spLocks noChangeArrowheads="1"/>
          </p:cNvSpPr>
          <p:nvPr/>
        </p:nvSpPr>
        <p:spPr bwMode="auto">
          <a:xfrm>
            <a:off x="7381875" y="277971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p>
        </p:txBody>
      </p:sp>
      <p:sp>
        <p:nvSpPr>
          <p:cNvPr id="7193" name="Text Box 36"/>
          <p:cNvSpPr txBox="1">
            <a:spLocks noChangeArrowheads="1"/>
          </p:cNvSpPr>
          <p:nvPr/>
        </p:nvSpPr>
        <p:spPr bwMode="auto">
          <a:xfrm>
            <a:off x="7381875" y="317976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baseline="30000">
              <a:solidFill>
                <a:srgbClr val="FF6600"/>
              </a:solidFill>
            </a:endParaRPr>
          </a:p>
        </p:txBody>
      </p:sp>
      <p:sp>
        <p:nvSpPr>
          <p:cNvPr id="7194" name="Text Box 37"/>
          <p:cNvSpPr txBox="1">
            <a:spLocks noChangeArrowheads="1"/>
          </p:cNvSpPr>
          <p:nvPr/>
        </p:nvSpPr>
        <p:spPr bwMode="auto">
          <a:xfrm>
            <a:off x="7381875" y="359568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endParaRPr lang="en-US" altLang="zh-CN" sz="2000" b="1">
              <a:solidFill>
                <a:srgbClr val="660066"/>
              </a:solidFill>
            </a:endParaRPr>
          </a:p>
        </p:txBody>
      </p:sp>
      <p:sp>
        <p:nvSpPr>
          <p:cNvPr id="7195" name="Text Box 38"/>
          <p:cNvSpPr txBox="1">
            <a:spLocks noChangeArrowheads="1"/>
          </p:cNvSpPr>
          <p:nvPr/>
        </p:nvSpPr>
        <p:spPr bwMode="auto">
          <a:xfrm>
            <a:off x="7381875" y="399732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a:solidFill>
                <a:srgbClr val="660066"/>
              </a:solidFill>
            </a:endParaRPr>
          </a:p>
        </p:txBody>
      </p:sp>
      <p:sp>
        <p:nvSpPr>
          <p:cNvPr id="7196" name="Text Box 39"/>
          <p:cNvSpPr txBox="1">
            <a:spLocks noChangeArrowheads="1"/>
          </p:cNvSpPr>
          <p:nvPr/>
        </p:nvSpPr>
        <p:spPr bwMode="auto">
          <a:xfrm>
            <a:off x="7381875" y="439737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p>
        </p:txBody>
      </p:sp>
      <p:sp>
        <p:nvSpPr>
          <p:cNvPr id="7197" name="Text Box 40"/>
          <p:cNvSpPr txBox="1">
            <a:spLocks noChangeArrowheads="1"/>
          </p:cNvSpPr>
          <p:nvPr/>
        </p:nvSpPr>
        <p:spPr bwMode="auto">
          <a:xfrm>
            <a:off x="7381875" y="479583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p>
        </p:txBody>
      </p:sp>
      <p:sp>
        <p:nvSpPr>
          <p:cNvPr id="7198" name="Text Box 41"/>
          <p:cNvSpPr txBox="1">
            <a:spLocks noChangeArrowheads="1"/>
          </p:cNvSpPr>
          <p:nvPr/>
        </p:nvSpPr>
        <p:spPr bwMode="auto">
          <a:xfrm>
            <a:off x="6011863" y="2781300"/>
            <a:ext cx="1082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b="1">
                <a:solidFill>
                  <a:schemeClr val="folHlink"/>
                </a:solidFill>
              </a:rPr>
              <a:t>PORTR</a:t>
            </a:r>
            <a:endParaRPr lang="en-US" altLang="zh-CN" sz="2000"/>
          </a:p>
        </p:txBody>
      </p:sp>
      <p:sp>
        <p:nvSpPr>
          <p:cNvPr id="7199" name="Text Box 44"/>
          <p:cNvSpPr txBox="1">
            <a:spLocks noChangeArrowheads="1"/>
          </p:cNvSpPr>
          <p:nvPr/>
        </p:nvSpPr>
        <p:spPr bwMode="auto">
          <a:xfrm>
            <a:off x="7092950" y="2276475"/>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7200" name="Text Box 45"/>
          <p:cNvSpPr txBox="1">
            <a:spLocks noChangeArrowheads="1"/>
          </p:cNvSpPr>
          <p:nvPr/>
        </p:nvSpPr>
        <p:spPr bwMode="auto">
          <a:xfrm>
            <a:off x="7667625" y="530225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(c)</a:t>
            </a:r>
          </a:p>
        </p:txBody>
      </p:sp>
      <p:sp>
        <p:nvSpPr>
          <p:cNvPr id="7201" name="Line 47"/>
          <p:cNvSpPr>
            <a:spLocks noChangeShapeType="1"/>
          </p:cNvSpPr>
          <p:nvPr/>
        </p:nvSpPr>
        <p:spPr bwMode="auto">
          <a:xfrm>
            <a:off x="1798638" y="4941888"/>
            <a:ext cx="287337"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02" name="Line 48"/>
          <p:cNvSpPr>
            <a:spLocks noChangeShapeType="1"/>
          </p:cNvSpPr>
          <p:nvPr/>
        </p:nvSpPr>
        <p:spPr bwMode="auto">
          <a:xfrm flipH="1">
            <a:off x="1908175" y="4292600"/>
            <a:ext cx="0" cy="43180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03" name="Text Box 49"/>
          <p:cNvSpPr txBox="1">
            <a:spLocks noChangeArrowheads="1"/>
          </p:cNvSpPr>
          <p:nvPr/>
        </p:nvSpPr>
        <p:spPr bwMode="auto">
          <a:xfrm>
            <a:off x="3349625" y="4797425"/>
            <a:ext cx="938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folHlink"/>
                </a:solidFill>
              </a:rPr>
              <a:t>*ARx</a:t>
            </a:r>
          </a:p>
        </p:txBody>
      </p:sp>
      <p:sp>
        <p:nvSpPr>
          <p:cNvPr id="7204" name="Line 50"/>
          <p:cNvSpPr>
            <a:spLocks noChangeShapeType="1"/>
          </p:cNvSpPr>
          <p:nvPr/>
        </p:nvSpPr>
        <p:spPr bwMode="auto">
          <a:xfrm>
            <a:off x="4286250" y="5013325"/>
            <a:ext cx="287338"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05" name="Line 51"/>
          <p:cNvSpPr>
            <a:spLocks noChangeShapeType="1"/>
          </p:cNvSpPr>
          <p:nvPr/>
        </p:nvSpPr>
        <p:spPr bwMode="auto">
          <a:xfrm>
            <a:off x="4356100" y="4365625"/>
            <a:ext cx="1588" cy="360363"/>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06" name="Text Box 52"/>
          <p:cNvSpPr txBox="1">
            <a:spLocks noChangeArrowheads="1"/>
          </p:cNvSpPr>
          <p:nvPr/>
        </p:nvSpPr>
        <p:spPr bwMode="auto">
          <a:xfrm>
            <a:off x="6084888" y="4797425"/>
            <a:ext cx="938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folHlink"/>
                </a:solidFill>
              </a:rPr>
              <a:t>*ARx</a:t>
            </a:r>
          </a:p>
        </p:txBody>
      </p:sp>
      <p:sp>
        <p:nvSpPr>
          <p:cNvPr id="7207" name="Line 53"/>
          <p:cNvSpPr>
            <a:spLocks noChangeShapeType="1"/>
          </p:cNvSpPr>
          <p:nvPr/>
        </p:nvSpPr>
        <p:spPr bwMode="auto">
          <a:xfrm>
            <a:off x="7021513" y="5013325"/>
            <a:ext cx="287337"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08" name="Line 54"/>
          <p:cNvSpPr>
            <a:spLocks noChangeShapeType="1"/>
          </p:cNvSpPr>
          <p:nvPr/>
        </p:nvSpPr>
        <p:spPr bwMode="auto">
          <a:xfrm>
            <a:off x="7092950" y="4365625"/>
            <a:ext cx="0" cy="360363"/>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09" name="Line 55"/>
          <p:cNvSpPr>
            <a:spLocks noChangeShapeType="1"/>
          </p:cNvSpPr>
          <p:nvPr/>
        </p:nvSpPr>
        <p:spPr bwMode="auto">
          <a:xfrm>
            <a:off x="4284663" y="2997200"/>
            <a:ext cx="287337"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210" name="Line 56"/>
          <p:cNvSpPr>
            <a:spLocks noChangeShapeType="1"/>
          </p:cNvSpPr>
          <p:nvPr/>
        </p:nvSpPr>
        <p:spPr bwMode="auto">
          <a:xfrm>
            <a:off x="7019925" y="2965450"/>
            <a:ext cx="287338"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afterEffect">
                                  <p:stCondLst>
                                    <p:cond delay="0"/>
                                  </p:stCondLst>
                                  <p:childTnLst>
                                    <p:set>
                                      <p:cBhvr>
                                        <p:cTn id="6" dur="1" fill="hold">
                                          <p:stCondLst>
                                            <p:cond delay="0"/>
                                          </p:stCondLst>
                                        </p:cTn>
                                        <p:tgtEl>
                                          <p:spTgt spid="855045"/>
                                        </p:tgtEl>
                                        <p:attrNameLst>
                                          <p:attrName>style.visibility</p:attrName>
                                        </p:attrNameLst>
                                      </p:cBhvr>
                                      <p:to>
                                        <p:strVal val="visible"/>
                                      </p:to>
                                    </p:set>
                                    <p:animEffect transition="in" filter="slide(fromTop)">
                                      <p:cBhvr>
                                        <p:cTn id="7" dur="500"/>
                                        <p:tgtEl>
                                          <p:spTgt spid="855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66ACEA1-9BEC-4E79-AE34-D5F2B2646706}" type="slidenum">
              <a:rPr lang="en-US" altLang="zh-CN" sz="1400"/>
              <a:pPr eaLnBrk="1" hangingPunct="1"/>
              <a:t>70</a:t>
            </a:fld>
            <a:endParaRPr lang="en-US" altLang="zh-CN" sz="1400"/>
          </a:p>
        </p:txBody>
      </p:sp>
      <p:sp>
        <p:nvSpPr>
          <p:cNvPr id="856066" name="Rectangle 2" descr="小棋盘"/>
          <p:cNvSpPr>
            <a:spLocks noChangeArrowheads="1"/>
          </p:cNvSpPr>
          <p:nvPr/>
        </p:nvSpPr>
        <p:spPr bwMode="auto">
          <a:xfrm>
            <a:off x="2700338" y="1052513"/>
            <a:ext cx="3276600" cy="48577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rPr>
              <a:t>存储器的延时操作</a:t>
            </a:r>
          </a:p>
        </p:txBody>
      </p:sp>
      <p:grpSp>
        <p:nvGrpSpPr>
          <p:cNvPr id="2" name="Group 3"/>
          <p:cNvGrpSpPr>
            <a:grpSpLocks/>
          </p:cNvGrpSpPr>
          <p:nvPr/>
        </p:nvGrpSpPr>
        <p:grpSpPr bwMode="auto">
          <a:xfrm>
            <a:off x="228600" y="1600200"/>
            <a:ext cx="8534400" cy="5076825"/>
            <a:chOff x="144" y="1008"/>
            <a:chExt cx="5376" cy="3198"/>
          </a:xfrm>
        </p:grpSpPr>
        <p:sp>
          <p:nvSpPr>
            <p:cNvPr id="79877" name="Rectangle 4"/>
            <p:cNvSpPr>
              <a:spLocks noChangeArrowheads="1"/>
            </p:cNvSpPr>
            <p:nvPr/>
          </p:nvSpPr>
          <p:spPr bwMode="auto">
            <a:xfrm>
              <a:off x="192" y="1008"/>
              <a:ext cx="5328" cy="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0000"/>
                </a:spcBef>
              </a:pPr>
              <a:r>
                <a:rPr lang="zh-CN" altLang="en-US" sz="2800" b="1">
                  <a:solidFill>
                    <a:schemeClr val="folHlink"/>
                  </a:solidFill>
                  <a:latin typeface="宋体" panose="02010600030101010101" pitchFamily="2" charset="-122"/>
                </a:rPr>
                <a:t>使用存储器延时指令</a:t>
              </a:r>
              <a:r>
                <a:rPr lang="en-US" altLang="zh-CN" sz="2800" b="1">
                  <a:solidFill>
                    <a:schemeClr val="folHlink"/>
                  </a:solidFill>
                  <a:latin typeface="宋体" panose="02010600030101010101" pitchFamily="2" charset="-122"/>
                </a:rPr>
                <a:t>DELAY</a:t>
              </a:r>
              <a:r>
                <a:rPr lang="zh-CN" altLang="en-US" sz="2800" b="1">
                  <a:solidFill>
                    <a:schemeClr val="folHlink"/>
                  </a:solidFill>
                  <a:latin typeface="宋体" panose="02010600030101010101" pitchFamily="2" charset="-122"/>
                </a:rPr>
                <a:t>，可以将数据存储单元中的内容向较高地址方向的下一单元传送。</a:t>
              </a:r>
            </a:p>
            <a:p>
              <a:pPr algn="just" eaLnBrk="1" hangingPunct="1">
                <a:lnSpc>
                  <a:spcPct val="80000"/>
                </a:lnSpc>
                <a:spcBef>
                  <a:spcPct val="10000"/>
                </a:spcBef>
              </a:pPr>
              <a:r>
                <a:rPr lang="zh-CN" altLang="en-US" sz="2800" b="1">
                  <a:latin typeface="宋体" panose="02010600030101010101" pitchFamily="2" charset="-122"/>
                </a:rPr>
                <a:t>实现</a:t>
              </a:r>
              <a:r>
                <a:rPr lang="en-US" altLang="zh-CN" sz="2800" b="1" i="1">
                  <a:latin typeface="宋体" panose="02010600030101010101" pitchFamily="2" charset="-122"/>
                </a:rPr>
                <a:t>z</a:t>
              </a:r>
              <a:r>
                <a:rPr lang="en-US" altLang="zh-CN" sz="2800" b="1" baseline="30000">
                  <a:latin typeface="宋体" panose="02010600030101010101" pitchFamily="2" charset="-122"/>
                </a:rPr>
                <a:t>-1</a:t>
              </a:r>
              <a:r>
                <a:rPr lang="zh-CN" altLang="en-US" sz="2800" b="1">
                  <a:latin typeface="宋体" panose="02010600030101010101" pitchFamily="2" charset="-122"/>
                </a:rPr>
                <a:t>的运算指令为：</a:t>
              </a:r>
              <a:endParaRPr lang="zh-CN" altLang="en-US" sz="2800" b="1"/>
            </a:p>
            <a:p>
              <a:pPr algn="just">
                <a:lnSpc>
                  <a:spcPct val="80000"/>
                </a:lnSpc>
                <a:spcBef>
                  <a:spcPct val="10000"/>
                </a:spcBef>
              </a:pPr>
              <a:r>
                <a:rPr lang="en-US" altLang="zh-CN" sz="2800" b="1">
                  <a:solidFill>
                    <a:srgbClr val="FF6600"/>
                  </a:solidFill>
                  <a:latin typeface="宋体" panose="02010600030101010101" pitchFamily="2" charset="-122"/>
                </a:rPr>
                <a:t>DELAY  Smem   </a:t>
              </a:r>
              <a:r>
                <a:rPr lang="zh-CN" altLang="en-US" sz="2800" b="1">
                  <a:solidFill>
                    <a:srgbClr val="FF6600"/>
                  </a:solidFill>
                  <a:latin typeface="宋体" panose="02010600030101010101" pitchFamily="2" charset="-122"/>
                </a:rPr>
                <a:t>；（</a:t>
              </a:r>
              <a:r>
                <a:rPr lang="en-US" altLang="zh-CN" sz="2800" b="1">
                  <a:solidFill>
                    <a:srgbClr val="FF6600"/>
                  </a:solidFill>
                  <a:latin typeface="宋体" panose="02010600030101010101" pitchFamily="2" charset="-122"/>
                </a:rPr>
                <a:t>Smem</a:t>
              </a:r>
              <a:r>
                <a:rPr lang="zh-CN" altLang="en-US" sz="2800" b="1">
                  <a:solidFill>
                    <a:srgbClr val="FF6600"/>
                  </a:solidFill>
                  <a:latin typeface="宋体" panose="02010600030101010101" pitchFamily="2" charset="-122"/>
                </a:rPr>
                <a:t>）→</a:t>
              </a:r>
              <a:r>
                <a:rPr lang="en-US" altLang="zh-CN" sz="2800" b="1">
                  <a:solidFill>
                    <a:srgbClr val="FF6600"/>
                  </a:solidFill>
                  <a:latin typeface="宋体" panose="02010600030101010101" pitchFamily="2" charset="-122"/>
                </a:rPr>
                <a:t>Seme+1</a:t>
              </a:r>
              <a:r>
                <a:rPr lang="zh-CN" altLang="en-US" sz="2800" b="1">
                  <a:solidFill>
                    <a:srgbClr val="FF6600"/>
                  </a:solidFill>
                  <a:latin typeface="宋体" panose="02010600030101010101" pitchFamily="2" charset="-122"/>
                </a:rPr>
                <a:t>，即数据存储</a:t>
              </a:r>
            </a:p>
            <a:p>
              <a:pPr algn="just">
                <a:lnSpc>
                  <a:spcPct val="80000"/>
                </a:lnSpc>
                <a:spcBef>
                  <a:spcPct val="10000"/>
                </a:spcBef>
              </a:pPr>
              <a:r>
                <a:rPr lang="zh-CN" altLang="en-US" sz="2800" b="1">
                  <a:solidFill>
                    <a:srgbClr val="FF6600"/>
                  </a:solidFill>
                  <a:latin typeface="宋体" panose="02010600030101010101" pitchFamily="2" charset="-122"/>
                </a:rPr>
                <a:t>              ；器单元的内容送下一高地址单元</a:t>
              </a:r>
              <a:endParaRPr lang="zh-CN" altLang="en-US" sz="2800" b="1">
                <a:solidFill>
                  <a:srgbClr val="FF6600"/>
                </a:solidFill>
              </a:endParaRPr>
            </a:p>
            <a:p>
              <a:pPr algn="just">
                <a:lnSpc>
                  <a:spcPct val="80000"/>
                </a:lnSpc>
                <a:spcBef>
                  <a:spcPct val="10000"/>
                </a:spcBef>
              </a:pPr>
              <a:r>
                <a:rPr lang="en-US" altLang="zh-CN" sz="2800" b="1">
                  <a:latin typeface="宋体" panose="02010600030101010101" pitchFamily="2" charset="-122"/>
                </a:rPr>
                <a:t>DELAY  *AR2   </a:t>
              </a:r>
              <a:r>
                <a:rPr lang="zh-CN" altLang="en-US" sz="2800" b="1">
                  <a:latin typeface="宋体" panose="02010600030101010101" pitchFamily="2" charset="-122"/>
                </a:rPr>
                <a:t>；</a:t>
              </a:r>
              <a:r>
                <a:rPr lang="en-US" altLang="zh-CN" sz="2800" b="1">
                  <a:latin typeface="宋体" panose="02010600030101010101" pitchFamily="2" charset="-122"/>
                </a:rPr>
                <a:t>AR2</a:t>
              </a:r>
              <a:r>
                <a:rPr lang="zh-CN" altLang="en-US" sz="2800" b="1">
                  <a:latin typeface="宋体" panose="02010600030101010101" pitchFamily="2" charset="-122"/>
                </a:rPr>
                <a:t>指向源地址，即将</a:t>
              </a:r>
              <a:r>
                <a:rPr lang="en-US" altLang="zh-CN" sz="2800" b="1">
                  <a:latin typeface="宋体" panose="02010600030101010101" pitchFamily="2" charset="-122"/>
                </a:rPr>
                <a:t>AR2</a:t>
              </a:r>
              <a:r>
                <a:rPr lang="zh-CN" altLang="en-US" sz="2800" b="1">
                  <a:latin typeface="宋体" panose="02010600030101010101" pitchFamily="2" charset="-122"/>
                </a:rPr>
                <a:t>所指单</a:t>
              </a:r>
            </a:p>
            <a:p>
              <a:pPr algn="just">
                <a:lnSpc>
                  <a:spcPct val="80000"/>
                </a:lnSpc>
                <a:spcBef>
                  <a:spcPct val="10000"/>
                </a:spcBef>
              </a:pPr>
              <a:r>
                <a:rPr lang="zh-CN" altLang="en-US" sz="2800" b="1">
                  <a:latin typeface="宋体" panose="02010600030101010101" pitchFamily="2" charset="-122"/>
                </a:rPr>
                <a:t>              ；元内容复制到下一高地址单元中</a:t>
              </a:r>
              <a:endParaRPr lang="zh-CN" altLang="en-US" sz="2800" b="1"/>
            </a:p>
          </p:txBody>
        </p:sp>
        <p:sp>
          <p:nvSpPr>
            <p:cNvPr id="79878" name="Rectangle 5" descr="小棋盘"/>
            <p:cNvSpPr>
              <a:spLocks noChangeArrowheads="1"/>
            </p:cNvSpPr>
            <p:nvPr/>
          </p:nvSpPr>
          <p:spPr bwMode="auto">
            <a:xfrm>
              <a:off x="1200" y="2736"/>
              <a:ext cx="2928" cy="306"/>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339933"/>
                  </a:solidFill>
                  <a:latin typeface="宋体" panose="02010600030101010101" pitchFamily="2" charset="-122"/>
                  <a:cs typeface="Times New Roman" panose="02020603050405020304" pitchFamily="18" charset="0"/>
                </a:rPr>
                <a:t>延时指令与其它指令</a:t>
              </a:r>
              <a:r>
                <a:rPr lang="zh-CN" altLang="en-US" sz="2800" b="1">
                  <a:solidFill>
                    <a:srgbClr val="339933"/>
                  </a:solidFill>
                  <a:latin typeface="宋体" panose="02010600030101010101" pitchFamily="2" charset="-122"/>
                </a:rPr>
                <a:t>的</a:t>
              </a:r>
              <a:r>
                <a:rPr lang="zh-CN" altLang="en-US" sz="2800" b="1">
                  <a:solidFill>
                    <a:srgbClr val="339933"/>
                  </a:solidFill>
                  <a:latin typeface="宋体" panose="02010600030101010101" pitchFamily="2" charset="-122"/>
                  <a:cs typeface="Times New Roman" panose="02020603050405020304" pitchFamily="18" charset="0"/>
                </a:rPr>
                <a:t>结合</a:t>
              </a:r>
              <a:endParaRPr lang="zh-CN" altLang="en-US" sz="2800" b="1">
                <a:solidFill>
                  <a:srgbClr val="339933"/>
                </a:solidFill>
                <a:latin typeface="宋体" panose="02010600030101010101" pitchFamily="2" charset="-122"/>
              </a:endParaRPr>
            </a:p>
          </p:txBody>
        </p:sp>
        <p:sp>
          <p:nvSpPr>
            <p:cNvPr id="79879" name="Rectangle 6"/>
            <p:cNvSpPr>
              <a:spLocks noChangeArrowheads="1"/>
            </p:cNvSpPr>
            <p:nvPr/>
          </p:nvSpPr>
          <p:spPr bwMode="auto">
            <a:xfrm>
              <a:off x="144" y="3072"/>
              <a:ext cx="5376"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solidFill>
                    <a:schemeClr val="folHlink"/>
                  </a:solidFill>
                  <a:latin typeface="宋体" panose="02010600030101010101" pitchFamily="2" charset="-122"/>
                </a:rPr>
                <a:t>LT+DELAY→LTD</a:t>
              </a:r>
              <a:r>
                <a:rPr lang="zh-CN" altLang="en-US" sz="2800" b="1">
                  <a:solidFill>
                    <a:schemeClr val="folHlink"/>
                  </a:solidFill>
                  <a:latin typeface="宋体" panose="02010600030101010101" pitchFamily="2" charset="-122"/>
                </a:rPr>
                <a:t>指令   ；单数据存储器的值装入</a:t>
              </a:r>
            </a:p>
            <a:p>
              <a:pPr algn="just" eaLnBrk="1" hangingPunct="1"/>
              <a:r>
                <a:rPr lang="zh-CN" altLang="en-US" sz="2800" b="1">
                  <a:solidFill>
                    <a:schemeClr val="folHlink"/>
                  </a:solidFill>
                  <a:latin typeface="宋体" panose="02010600030101010101" pitchFamily="2" charset="-122"/>
                </a:rPr>
                <a:t>                    ；</a:t>
              </a:r>
              <a:r>
                <a:rPr lang="en-US" altLang="zh-CN" sz="2800" b="1">
                  <a:solidFill>
                    <a:schemeClr val="folHlink"/>
                  </a:solidFill>
                  <a:latin typeface="宋体" panose="02010600030101010101" pitchFamily="2" charset="-122"/>
                </a:rPr>
                <a:t>T</a:t>
              </a:r>
              <a:r>
                <a:rPr lang="zh-CN" altLang="en-US" sz="2800" b="1">
                  <a:solidFill>
                    <a:schemeClr val="folHlink"/>
                  </a:solidFill>
                  <a:latin typeface="宋体" panose="02010600030101010101" pitchFamily="2" charset="-122"/>
                </a:rPr>
                <a:t>寄存器并送下一单元延时</a:t>
              </a:r>
              <a:endParaRPr lang="zh-CN" altLang="en-US" sz="2800" b="1">
                <a:solidFill>
                  <a:schemeClr val="folHlink"/>
                </a:solidFill>
              </a:endParaRPr>
            </a:p>
            <a:p>
              <a:r>
                <a:rPr lang="en-US" altLang="zh-CN" sz="2800" b="1">
                  <a:solidFill>
                    <a:srgbClr val="FF00FF"/>
                  </a:solidFill>
                  <a:latin typeface="宋体" panose="02010600030101010101" pitchFamily="2" charset="-122"/>
                </a:rPr>
                <a:t>MAC+DELAY→MACD</a:t>
              </a:r>
              <a:r>
                <a:rPr lang="zh-CN" altLang="en-US" sz="2800" b="1">
                  <a:solidFill>
                    <a:srgbClr val="FF00FF"/>
                  </a:solidFill>
                  <a:latin typeface="宋体" panose="02010600030101010101" pitchFamily="2" charset="-122"/>
                </a:rPr>
                <a:t>指令 ；操作数与程序存储器值相乘</a:t>
              </a:r>
            </a:p>
            <a:p>
              <a:r>
                <a:rPr lang="zh-CN" altLang="en-US" sz="2800" b="1">
                  <a:solidFill>
                    <a:srgbClr val="FF00FF"/>
                  </a:solidFill>
                  <a:latin typeface="宋体" panose="02010600030101010101" pitchFamily="2" charset="-122"/>
                </a:rPr>
                <a:t>                    ；后送累加并送下一单元延时</a:t>
              </a:r>
              <a:r>
                <a:rPr lang="zh-CN" altLang="en-US" sz="1100" b="1">
                  <a:solidFill>
                    <a:srgbClr val="FF00FF"/>
                  </a:solidFill>
                </a:rPr>
                <a:t> </a:t>
              </a:r>
            </a:p>
          </p:txBody>
        </p:sp>
      </p:gr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56066"/>
                                        </p:tgtEl>
                                        <p:attrNameLst>
                                          <p:attrName>style.visibility</p:attrName>
                                        </p:attrNameLst>
                                      </p:cBhvr>
                                      <p:to>
                                        <p:strVal val="visible"/>
                                      </p:to>
                                    </p:set>
                                    <p:animEffect transition="in" filter="slide(fromTop)">
                                      <p:cBhvr>
                                        <p:cTn id="7" dur="500"/>
                                        <p:tgtEl>
                                          <p:spTgt spid="856066"/>
                                        </p:tgtEl>
                                      </p:cBhvr>
                                    </p:animEffect>
                                  </p:childTnLst>
                                </p:cTn>
                              </p:par>
                            </p:childTnLst>
                          </p:cTn>
                        </p:par>
                        <p:par>
                          <p:cTn id="8" fill="hold" nodeType="afterGroup">
                            <p:stCondLst>
                              <p:cond delay="500"/>
                            </p:stCondLst>
                            <p:childTnLst>
                              <p:par>
                                <p:cTn id="9" presetID="3" presetClass="entr" presetSubtype="5"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6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DC4C4A3-AC37-4B46-95AC-D1B82D1A1867}" type="slidenum">
              <a:rPr lang="en-US" altLang="zh-CN" sz="1400"/>
              <a:pPr eaLnBrk="1" hangingPunct="1"/>
              <a:t>71</a:t>
            </a:fld>
            <a:endParaRPr lang="en-US" altLang="zh-CN" sz="1400"/>
          </a:p>
        </p:txBody>
      </p:sp>
      <p:sp>
        <p:nvSpPr>
          <p:cNvPr id="857090" name="Rectangle 2"/>
          <p:cNvSpPr>
            <a:spLocks noChangeArrowheads="1"/>
          </p:cNvSpPr>
          <p:nvPr/>
        </p:nvSpPr>
        <p:spPr bwMode="auto">
          <a:xfrm>
            <a:off x="990600" y="1752600"/>
            <a:ext cx="7848600" cy="479901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4508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solidFill>
                  <a:srgbClr val="FF00FF"/>
                </a:solidFill>
                <a:latin typeface="宋体" panose="02010600030101010101" pitchFamily="2" charset="-122"/>
              </a:rPr>
              <a:t>1)</a:t>
            </a:r>
            <a:r>
              <a:rPr lang="zh-CN" altLang="en-US" sz="2800" b="1">
                <a:solidFill>
                  <a:srgbClr val="FF00FF"/>
                </a:solidFill>
                <a:latin typeface="宋体" panose="02010600030101010101" pitchFamily="2" charset="-122"/>
              </a:rPr>
              <a:t>在数据存储器中开辟一个称之为滑窗的</a:t>
            </a:r>
            <a:r>
              <a:rPr lang="en-US" altLang="zh-CN" sz="2800" b="1">
                <a:solidFill>
                  <a:srgbClr val="FF00FF"/>
                </a:solidFill>
                <a:latin typeface="宋体" panose="02010600030101010101" pitchFamily="2" charset="-122"/>
              </a:rPr>
              <a:t>N</a:t>
            </a:r>
            <a:r>
              <a:rPr lang="zh-CN" altLang="en-US" sz="2800" b="1">
                <a:solidFill>
                  <a:srgbClr val="FF00FF"/>
                </a:solidFill>
                <a:latin typeface="宋体" panose="02010600030101010101" pitchFamily="2" charset="-122"/>
              </a:rPr>
              <a:t>个单元的缓冲区，滑窗中存放最新的</a:t>
            </a:r>
            <a:r>
              <a:rPr lang="en-US" altLang="zh-CN" sz="2800" b="1">
                <a:solidFill>
                  <a:srgbClr val="FF00FF"/>
                </a:solidFill>
                <a:latin typeface="宋体" panose="02010600030101010101" pitchFamily="2" charset="-122"/>
              </a:rPr>
              <a:t>N</a:t>
            </a:r>
            <a:r>
              <a:rPr lang="zh-CN" altLang="en-US" sz="2800" b="1">
                <a:solidFill>
                  <a:srgbClr val="FF00FF"/>
                </a:solidFill>
                <a:latin typeface="宋体" panose="02010600030101010101" pitchFamily="2" charset="-122"/>
              </a:rPr>
              <a:t>个输入样本；</a:t>
            </a:r>
          </a:p>
          <a:p>
            <a:pPr algn="just" eaLnBrk="1" hangingPunct="1"/>
            <a:r>
              <a:rPr lang="en-US" altLang="zh-CN" sz="2800" b="1">
                <a:solidFill>
                  <a:schemeClr val="tx2"/>
                </a:solidFill>
                <a:latin typeface="宋体" panose="02010600030101010101" pitchFamily="2" charset="-122"/>
              </a:rPr>
              <a:t>2)</a:t>
            </a:r>
            <a:r>
              <a:rPr lang="zh-CN" altLang="en-US" sz="2800" b="1">
                <a:solidFill>
                  <a:schemeClr val="tx2"/>
                </a:solidFill>
                <a:latin typeface="宋体" panose="02010600030101010101" pitchFamily="2" charset="-122"/>
              </a:rPr>
              <a:t>每次输入新样本时，以新样本改写滑窗中的最老的数据，而滑窗中的其它数据不作移动；</a:t>
            </a:r>
          </a:p>
          <a:p>
            <a:pPr algn="just" eaLnBrk="1" hangingPunct="1"/>
            <a:r>
              <a:rPr lang="en-US" altLang="zh-CN" sz="2800" b="1">
                <a:solidFill>
                  <a:schemeClr val="folHlink"/>
                </a:solidFill>
                <a:latin typeface="宋体" panose="02010600030101010101" pitchFamily="2" charset="-122"/>
              </a:rPr>
              <a:t>3)</a:t>
            </a:r>
            <a:r>
              <a:rPr lang="zh-CN" altLang="en-US" sz="2800" b="1">
                <a:solidFill>
                  <a:schemeClr val="folHlink"/>
                </a:solidFill>
                <a:latin typeface="宋体" panose="02010600030101010101" pitchFamily="2" charset="-122"/>
              </a:rPr>
              <a:t>利用片内</a:t>
            </a:r>
            <a:r>
              <a:rPr lang="en-US" altLang="zh-CN" sz="2800" b="1">
                <a:solidFill>
                  <a:schemeClr val="folHlink"/>
                </a:solidFill>
                <a:latin typeface="宋体" panose="02010600030101010101" pitchFamily="2" charset="-122"/>
              </a:rPr>
              <a:t>BK</a:t>
            </a:r>
            <a:r>
              <a:rPr lang="zh-CN" altLang="en-US" sz="2800" b="1">
                <a:solidFill>
                  <a:schemeClr val="folHlink"/>
                </a:solidFill>
                <a:latin typeface="宋体" panose="02010600030101010101" pitchFamily="2" charset="-122"/>
              </a:rPr>
              <a:t>（循环缓冲区长度）寄存器对滑窗进行间接寻址，循环缓冲区地址首尾相邻。</a:t>
            </a:r>
          </a:p>
          <a:p>
            <a:pPr algn="just" eaLnBrk="1" hangingPunct="1"/>
            <a:r>
              <a:rPr lang="zh-CN" altLang="en-US" sz="2800" b="1">
                <a:solidFill>
                  <a:srgbClr val="FF6600"/>
                </a:solidFill>
                <a:latin typeface="宋体" panose="02010600030101010101" pitchFamily="2" charset="-122"/>
                <a:cs typeface="Times New Roman" panose="02020603050405020304" pitchFamily="18" charset="0"/>
              </a:rPr>
              <a:t>利用循环缓冲区实现</a:t>
            </a:r>
            <a:r>
              <a:rPr lang="en-US" altLang="zh-CN" sz="2800" b="1">
                <a:solidFill>
                  <a:srgbClr val="FF6600"/>
                </a:solidFill>
                <a:latin typeface="宋体" panose="02010600030101010101" pitchFamily="2" charset="-122"/>
                <a:cs typeface="Times New Roman" panose="02020603050405020304" pitchFamily="18" charset="0"/>
              </a:rPr>
              <a:t>Z</a:t>
            </a:r>
            <a:r>
              <a:rPr lang="en-US" altLang="zh-CN" sz="2800" b="1" baseline="30000">
                <a:solidFill>
                  <a:srgbClr val="FF6600"/>
                </a:solidFill>
                <a:latin typeface="宋体" panose="02010600030101010101" pitchFamily="2" charset="-122"/>
                <a:cs typeface="Times New Roman" panose="02020603050405020304" pitchFamily="18" charset="0"/>
              </a:rPr>
              <a:t>-1</a:t>
            </a:r>
            <a:r>
              <a:rPr lang="zh-CN" altLang="en-US" sz="2800" b="1">
                <a:solidFill>
                  <a:srgbClr val="FF6600"/>
                </a:solidFill>
                <a:latin typeface="宋体" panose="02010600030101010101" pitchFamily="2" charset="-122"/>
                <a:cs typeface="Times New Roman" panose="02020603050405020304" pitchFamily="18" charset="0"/>
              </a:rPr>
              <a:t>的优点是不需要移动数据，不存在一个机器周期中要求能一次读和一次写的数据存储器，因而可以将循环缓冲区定位在数据存储器的任何位置</a:t>
            </a:r>
            <a:r>
              <a:rPr lang="zh-CN" altLang="en-US" sz="2800" b="1">
                <a:latin typeface="宋体" panose="02010600030101010101" pitchFamily="2" charset="-122"/>
                <a:cs typeface="Times New Roman" panose="02020603050405020304" pitchFamily="18" charset="0"/>
              </a:rPr>
              <a:t>（线性缓冲区要求定位在</a:t>
            </a:r>
            <a:r>
              <a:rPr lang="en-US" altLang="zh-CN" sz="2800" b="1">
                <a:latin typeface="宋体" panose="02010600030101010101" pitchFamily="2" charset="-122"/>
                <a:cs typeface="Times New Roman" panose="02020603050405020304" pitchFamily="18" charset="0"/>
              </a:rPr>
              <a:t>DARAM</a:t>
            </a:r>
            <a:r>
              <a:rPr lang="zh-CN" altLang="en-US" sz="2800" b="1">
                <a:latin typeface="宋体" panose="02010600030101010101" pitchFamily="2" charset="-122"/>
                <a:cs typeface="Times New Roman" panose="02020603050405020304" pitchFamily="18" charset="0"/>
              </a:rPr>
              <a:t>）。</a:t>
            </a:r>
            <a:r>
              <a:rPr lang="zh-CN" altLang="en-US" sz="2800" b="1">
                <a:latin typeface="宋体" panose="02010600030101010101" pitchFamily="2" charset="-122"/>
              </a:rPr>
              <a:t> </a:t>
            </a:r>
          </a:p>
        </p:txBody>
      </p:sp>
      <p:sp>
        <p:nvSpPr>
          <p:cNvPr id="857091" name="Rectangle 3" descr="小棋盘"/>
          <p:cNvSpPr>
            <a:spLocks noChangeArrowheads="1"/>
          </p:cNvSpPr>
          <p:nvPr/>
        </p:nvSpPr>
        <p:spPr bwMode="auto">
          <a:xfrm>
            <a:off x="228600" y="3124200"/>
            <a:ext cx="609600" cy="8699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cs typeface="Times New Roman" panose="02020603050405020304" pitchFamily="18" charset="0"/>
              </a:rPr>
              <a:t>特点</a:t>
            </a:r>
            <a:r>
              <a:rPr lang="zh-CN" altLang="en-US" sz="2800" b="1">
                <a:solidFill>
                  <a:srgbClr val="FF0000"/>
                </a:solidFill>
                <a:latin typeface="宋体" panose="02010600030101010101" pitchFamily="2" charset="-122"/>
                <a:ea typeface="仿宋_GB2312" pitchFamily="49" charset="-122"/>
              </a:rPr>
              <a:t> </a:t>
            </a:r>
          </a:p>
        </p:txBody>
      </p:sp>
      <p:sp>
        <p:nvSpPr>
          <p:cNvPr id="857092" name="Rectangle 4" descr="小棋盘"/>
          <p:cNvSpPr>
            <a:spLocks noChangeArrowheads="1"/>
          </p:cNvSpPr>
          <p:nvPr/>
        </p:nvSpPr>
        <p:spPr bwMode="auto">
          <a:xfrm>
            <a:off x="1828800" y="990600"/>
            <a:ext cx="5486400" cy="588963"/>
          </a:xfrm>
          <a:prstGeom prst="rect">
            <a:avLst/>
          </a:prstGeom>
          <a:pattFill prst="smCheck">
            <a:fgClr>
              <a:schemeClr val="accent1"/>
            </a:fgClr>
            <a:bgClr>
              <a:srgbClr val="FFFFFF"/>
            </a:bgClr>
          </a:pattFill>
          <a:ln w="9525">
            <a:solidFill>
              <a:schemeClr val="bg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FF0000"/>
                </a:solidFill>
                <a:latin typeface="宋体" panose="02010600030101010101" pitchFamily="2" charset="-122"/>
                <a:cs typeface="Times New Roman" panose="02020603050405020304" pitchFamily="18" charset="0"/>
              </a:rPr>
              <a:t>（</a:t>
            </a:r>
            <a:r>
              <a:rPr lang="en-US" altLang="zh-CN" sz="3200" b="1">
                <a:solidFill>
                  <a:srgbClr val="FF0000"/>
                </a:solidFill>
                <a:latin typeface="宋体" panose="02010600030101010101" pitchFamily="2" charset="-122"/>
                <a:cs typeface="Times New Roman" panose="02020603050405020304" pitchFamily="18" charset="0"/>
              </a:rPr>
              <a:t>2</a:t>
            </a:r>
            <a:r>
              <a:rPr lang="zh-CN" altLang="en-US" sz="3200" b="1">
                <a:solidFill>
                  <a:srgbClr val="FF0000"/>
                </a:solidFill>
                <a:latin typeface="宋体" panose="02010600030101010101" pitchFamily="2" charset="-122"/>
                <a:cs typeface="Times New Roman" panose="02020603050405020304" pitchFamily="18" charset="0"/>
              </a:rPr>
              <a:t>）用循环缓冲区法实现</a:t>
            </a:r>
            <a:r>
              <a:rPr lang="en-US" altLang="zh-CN" sz="3200" b="1" i="1">
                <a:solidFill>
                  <a:srgbClr val="FF0000"/>
                </a:solidFill>
                <a:latin typeface="宋体" panose="02010600030101010101" pitchFamily="2" charset="-122"/>
                <a:cs typeface="Times New Roman" panose="02020603050405020304" pitchFamily="18" charset="0"/>
              </a:rPr>
              <a:t>z</a:t>
            </a:r>
            <a:r>
              <a:rPr lang="en-US" altLang="zh-CN" sz="3200" b="1" baseline="30000">
                <a:solidFill>
                  <a:srgbClr val="FF0000"/>
                </a:solidFill>
                <a:latin typeface="宋体" panose="02010600030101010101" pitchFamily="2" charset="-122"/>
                <a:cs typeface="Times New Roman" panose="02020603050405020304" pitchFamily="18" charset="0"/>
              </a:rPr>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57092"/>
                                        </p:tgtEl>
                                        <p:attrNameLst>
                                          <p:attrName>style.visibility</p:attrName>
                                        </p:attrNameLst>
                                      </p:cBhvr>
                                      <p:to>
                                        <p:strVal val="visible"/>
                                      </p:to>
                                    </p:set>
                                    <p:animEffect transition="in" filter="slide(fromTop)">
                                      <p:cBhvr>
                                        <p:cTn id="7" dur="500"/>
                                        <p:tgtEl>
                                          <p:spTgt spid="857092"/>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57091"/>
                                        </p:tgtEl>
                                        <p:attrNameLst>
                                          <p:attrName>style.visibility</p:attrName>
                                        </p:attrNameLst>
                                      </p:cBhvr>
                                      <p:to>
                                        <p:strVal val="visible"/>
                                      </p:to>
                                    </p:set>
                                    <p:animEffect transition="in" filter="slide(fromLeft)">
                                      <p:cBhvr>
                                        <p:cTn id="11" dur="500"/>
                                        <p:tgtEl>
                                          <p:spTgt spid="857091"/>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857090"/>
                                        </p:tgtEl>
                                        <p:attrNameLst>
                                          <p:attrName>style.visibility</p:attrName>
                                        </p:attrNameLst>
                                      </p:cBhvr>
                                      <p:to>
                                        <p:strVal val="visible"/>
                                      </p:to>
                                    </p:set>
                                    <p:animEffect transition="in" filter="blinds(horizontal)">
                                      <p:cBhvr>
                                        <p:cTn id="15" dur="500"/>
                                        <p:tgtEl>
                                          <p:spTgt spid="857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090" grpId="0" animBg="1"/>
      <p:bldP spid="857091" grpId="0" animBg="1"/>
      <p:bldP spid="85709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545000B-EC66-49DB-9ABB-6303E5890224}" type="slidenum">
              <a:rPr lang="en-US" altLang="zh-CN" sz="1400"/>
              <a:pPr eaLnBrk="1" hangingPunct="1"/>
              <a:t>72</a:t>
            </a:fld>
            <a:endParaRPr lang="en-US" altLang="zh-CN" sz="1400"/>
          </a:p>
        </p:txBody>
      </p:sp>
      <p:graphicFrame>
        <p:nvGraphicFramePr>
          <p:cNvPr id="858116" name="Object 4"/>
          <p:cNvGraphicFramePr>
            <a:graphicFrameLocks noChangeAspect="1"/>
          </p:cNvGraphicFramePr>
          <p:nvPr/>
        </p:nvGraphicFramePr>
        <p:xfrm>
          <a:off x="3370263" y="1038225"/>
          <a:ext cx="2589212" cy="1079500"/>
        </p:xfrm>
        <a:graphic>
          <a:graphicData uri="http://schemas.openxmlformats.org/presentationml/2006/ole">
            <mc:AlternateContent xmlns:mc="http://schemas.openxmlformats.org/markup-compatibility/2006">
              <mc:Choice xmlns:v="urn:schemas-microsoft-com:vml" Requires="v">
                <p:oleObj spid="_x0000_s7170" name="公式" r:id="rId3" imgW="1054100" imgH="444500" progId="">
                  <p:embed/>
                </p:oleObj>
              </mc:Choice>
              <mc:Fallback>
                <p:oleObj name="公式" r:id="rId3" imgW="1054100" imgH="444500" progId="">
                  <p:embed/>
                  <p:pic>
                    <p:nvPicPr>
                      <p:cNvPr id="0" name="Picture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0263" y="1038225"/>
                        <a:ext cx="2589212" cy="1079500"/>
                      </a:xfrm>
                      <a:prstGeom prst="rect">
                        <a:avLst/>
                      </a:prstGeom>
                      <a:solidFill>
                        <a:srgbClr val="FF9900"/>
                      </a:solidFill>
                      <a:ln w="57150">
                        <a:solidFill>
                          <a:srgbClr val="FFCCFF"/>
                        </a:solidFill>
                        <a:miter lim="800000"/>
                        <a:headEnd/>
                        <a:tailEnd/>
                      </a:ln>
                    </p:spPr>
                  </p:pic>
                </p:oleObj>
              </mc:Fallback>
            </mc:AlternateContent>
          </a:graphicData>
        </a:graphic>
      </p:graphicFrame>
      <p:sp>
        <p:nvSpPr>
          <p:cNvPr id="8196" name="Text Box 5" descr="小棋盘"/>
          <p:cNvSpPr txBox="1">
            <a:spLocks noChangeArrowheads="1"/>
          </p:cNvSpPr>
          <p:nvPr/>
        </p:nvSpPr>
        <p:spPr bwMode="auto">
          <a:xfrm>
            <a:off x="2844800" y="6022975"/>
            <a:ext cx="3810000" cy="457200"/>
          </a:xfrm>
          <a:prstGeom prst="rect">
            <a:avLst/>
          </a:prstGeom>
          <a:pattFill prst="smCheck">
            <a:fgClr>
              <a:schemeClr val="accent1"/>
            </a:fgClr>
            <a:bgClr>
              <a:srgbClr val="FFFFFF"/>
            </a:bgClr>
          </a:pattFill>
          <a:ln w="9525">
            <a:solidFill>
              <a:srgbClr val="FF0000"/>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b="1">
                <a:solidFill>
                  <a:schemeClr val="tx2"/>
                </a:solidFill>
                <a:latin typeface="宋体" panose="02010600030101010101" pitchFamily="2" charset="-122"/>
              </a:rPr>
              <a:t>N=6</a:t>
            </a:r>
            <a:r>
              <a:rPr kumimoji="0" lang="zh-CN" altLang="en-US" b="1">
                <a:solidFill>
                  <a:schemeClr val="tx2"/>
                </a:solidFill>
                <a:latin typeface="宋体" panose="02010600030101010101" pitchFamily="2" charset="-122"/>
              </a:rPr>
              <a:t>的循环缓冲区存储器图</a:t>
            </a:r>
            <a:endParaRPr kumimoji="0" lang="zh-CN" altLang="en-US" b="1">
              <a:solidFill>
                <a:schemeClr val="tx2"/>
              </a:solidFill>
            </a:endParaRPr>
          </a:p>
        </p:txBody>
      </p:sp>
      <p:sp>
        <p:nvSpPr>
          <p:cNvPr id="8197" name="Text Box 7"/>
          <p:cNvSpPr txBox="1">
            <a:spLocks noChangeArrowheads="1"/>
          </p:cNvSpPr>
          <p:nvPr/>
        </p:nvSpPr>
        <p:spPr bwMode="auto">
          <a:xfrm>
            <a:off x="2017713" y="285273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p>
        </p:txBody>
      </p:sp>
      <p:sp>
        <p:nvSpPr>
          <p:cNvPr id="8198" name="Text Box 8"/>
          <p:cNvSpPr txBox="1">
            <a:spLocks noChangeArrowheads="1"/>
          </p:cNvSpPr>
          <p:nvPr/>
        </p:nvSpPr>
        <p:spPr bwMode="auto">
          <a:xfrm>
            <a:off x="2017713" y="325278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baseline="30000">
              <a:solidFill>
                <a:srgbClr val="FF6600"/>
              </a:solidFill>
            </a:endParaRPr>
          </a:p>
        </p:txBody>
      </p:sp>
      <p:sp>
        <p:nvSpPr>
          <p:cNvPr id="8199" name="Text Box 9"/>
          <p:cNvSpPr txBox="1">
            <a:spLocks noChangeArrowheads="1"/>
          </p:cNvSpPr>
          <p:nvPr/>
        </p:nvSpPr>
        <p:spPr bwMode="auto">
          <a:xfrm>
            <a:off x="2017713" y="366871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8200" name="Text Box 10"/>
          <p:cNvSpPr txBox="1">
            <a:spLocks noChangeArrowheads="1"/>
          </p:cNvSpPr>
          <p:nvPr/>
        </p:nvSpPr>
        <p:spPr bwMode="auto">
          <a:xfrm>
            <a:off x="2017713" y="407035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endParaRPr lang="en-US" altLang="zh-CN" sz="2000" b="1">
              <a:solidFill>
                <a:srgbClr val="660066"/>
              </a:solidFill>
            </a:endParaRPr>
          </a:p>
        </p:txBody>
      </p:sp>
      <p:sp>
        <p:nvSpPr>
          <p:cNvPr id="8201" name="Text Box 11"/>
          <p:cNvSpPr txBox="1">
            <a:spLocks noChangeArrowheads="1"/>
          </p:cNvSpPr>
          <p:nvPr/>
        </p:nvSpPr>
        <p:spPr bwMode="auto">
          <a:xfrm>
            <a:off x="2017713" y="447040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x(n-4)</a:t>
            </a:r>
          </a:p>
        </p:txBody>
      </p:sp>
      <p:sp>
        <p:nvSpPr>
          <p:cNvPr id="8202" name="Text Box 12"/>
          <p:cNvSpPr txBox="1">
            <a:spLocks noChangeArrowheads="1"/>
          </p:cNvSpPr>
          <p:nvPr/>
        </p:nvSpPr>
        <p:spPr bwMode="auto">
          <a:xfrm>
            <a:off x="2017713" y="486886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x(n-5)</a:t>
            </a:r>
          </a:p>
        </p:txBody>
      </p:sp>
      <p:sp>
        <p:nvSpPr>
          <p:cNvPr id="8203" name="Text Box 13"/>
          <p:cNvSpPr txBox="1">
            <a:spLocks noChangeArrowheads="1"/>
          </p:cNvSpPr>
          <p:nvPr/>
        </p:nvSpPr>
        <p:spPr bwMode="auto">
          <a:xfrm>
            <a:off x="107950" y="2854325"/>
            <a:ext cx="1909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1800" b="1">
                <a:solidFill>
                  <a:schemeClr val="folHlink"/>
                </a:solidFill>
              </a:rPr>
              <a:t>循环缓冲区顶部</a:t>
            </a:r>
            <a:r>
              <a:rPr lang="zh-CN" altLang="en-US" sz="2000"/>
              <a:t> </a:t>
            </a:r>
          </a:p>
        </p:txBody>
      </p:sp>
      <p:sp>
        <p:nvSpPr>
          <p:cNvPr id="8204" name="Text Box 15"/>
          <p:cNvSpPr txBox="1">
            <a:spLocks noChangeArrowheads="1"/>
          </p:cNvSpPr>
          <p:nvPr/>
        </p:nvSpPr>
        <p:spPr bwMode="auto">
          <a:xfrm>
            <a:off x="1727200" y="2349500"/>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FF00FF"/>
                </a:solidFill>
              </a:rPr>
              <a:t>数据存储器</a:t>
            </a:r>
          </a:p>
        </p:txBody>
      </p:sp>
      <p:sp>
        <p:nvSpPr>
          <p:cNvPr id="8205" name="Text Box 16"/>
          <p:cNvSpPr txBox="1">
            <a:spLocks noChangeArrowheads="1"/>
          </p:cNvSpPr>
          <p:nvPr/>
        </p:nvSpPr>
        <p:spPr bwMode="auto">
          <a:xfrm>
            <a:off x="2303463" y="5375275"/>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a:t>
            </a:r>
          </a:p>
        </p:txBody>
      </p:sp>
      <p:sp>
        <p:nvSpPr>
          <p:cNvPr id="8206" name="Text Box 17"/>
          <p:cNvSpPr txBox="1">
            <a:spLocks noChangeArrowheads="1"/>
          </p:cNvSpPr>
          <p:nvPr/>
        </p:nvSpPr>
        <p:spPr bwMode="auto">
          <a:xfrm>
            <a:off x="4357688" y="285273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p>
        </p:txBody>
      </p:sp>
      <p:sp>
        <p:nvSpPr>
          <p:cNvPr id="8207" name="Text Box 18"/>
          <p:cNvSpPr txBox="1">
            <a:spLocks noChangeArrowheads="1"/>
          </p:cNvSpPr>
          <p:nvPr/>
        </p:nvSpPr>
        <p:spPr bwMode="auto">
          <a:xfrm>
            <a:off x="4357688" y="325278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baseline="30000">
              <a:solidFill>
                <a:srgbClr val="FF6600"/>
              </a:solidFill>
            </a:endParaRPr>
          </a:p>
        </p:txBody>
      </p:sp>
      <p:sp>
        <p:nvSpPr>
          <p:cNvPr id="8208" name="Text Box 19"/>
          <p:cNvSpPr txBox="1">
            <a:spLocks noChangeArrowheads="1"/>
          </p:cNvSpPr>
          <p:nvPr/>
        </p:nvSpPr>
        <p:spPr bwMode="auto">
          <a:xfrm>
            <a:off x="4357688" y="366871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8209" name="Text Box 20"/>
          <p:cNvSpPr txBox="1">
            <a:spLocks noChangeArrowheads="1"/>
          </p:cNvSpPr>
          <p:nvPr/>
        </p:nvSpPr>
        <p:spPr bwMode="auto">
          <a:xfrm>
            <a:off x="4357688" y="407035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endParaRPr lang="en-US" altLang="zh-CN" sz="2000" b="1">
              <a:solidFill>
                <a:srgbClr val="660066"/>
              </a:solidFill>
            </a:endParaRPr>
          </a:p>
        </p:txBody>
      </p:sp>
      <p:sp>
        <p:nvSpPr>
          <p:cNvPr id="8210" name="Text Box 21"/>
          <p:cNvSpPr txBox="1">
            <a:spLocks noChangeArrowheads="1"/>
          </p:cNvSpPr>
          <p:nvPr/>
        </p:nvSpPr>
        <p:spPr bwMode="auto">
          <a:xfrm>
            <a:off x="4357688" y="447040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x(n-4)</a:t>
            </a:r>
          </a:p>
        </p:txBody>
      </p:sp>
      <p:sp>
        <p:nvSpPr>
          <p:cNvPr id="8211" name="Text Box 22"/>
          <p:cNvSpPr txBox="1">
            <a:spLocks noChangeArrowheads="1"/>
          </p:cNvSpPr>
          <p:nvPr/>
        </p:nvSpPr>
        <p:spPr bwMode="auto">
          <a:xfrm>
            <a:off x="4357688" y="486886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p>
        </p:txBody>
      </p:sp>
      <p:sp>
        <p:nvSpPr>
          <p:cNvPr id="8212" name="Text Box 23"/>
          <p:cNvSpPr txBox="1">
            <a:spLocks noChangeArrowheads="1"/>
          </p:cNvSpPr>
          <p:nvPr/>
        </p:nvSpPr>
        <p:spPr bwMode="auto">
          <a:xfrm>
            <a:off x="3451225" y="2886075"/>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solidFill>
                  <a:schemeClr val="folHlink"/>
                </a:solidFill>
              </a:rPr>
              <a:t>ARx</a:t>
            </a:r>
            <a:endParaRPr lang="en-US" altLang="zh-CN" sz="2000"/>
          </a:p>
        </p:txBody>
      </p:sp>
      <p:sp>
        <p:nvSpPr>
          <p:cNvPr id="8213" name="Text Box 24"/>
          <p:cNvSpPr txBox="1">
            <a:spLocks noChangeArrowheads="1"/>
          </p:cNvSpPr>
          <p:nvPr/>
        </p:nvSpPr>
        <p:spPr bwMode="auto">
          <a:xfrm>
            <a:off x="4140200" y="2349500"/>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FF00FF"/>
                </a:solidFill>
              </a:rPr>
              <a:t>数据存储器</a:t>
            </a:r>
          </a:p>
        </p:txBody>
      </p:sp>
      <p:sp>
        <p:nvSpPr>
          <p:cNvPr id="8214" name="Text Box 25"/>
          <p:cNvSpPr txBox="1">
            <a:spLocks noChangeArrowheads="1"/>
          </p:cNvSpPr>
          <p:nvPr/>
        </p:nvSpPr>
        <p:spPr bwMode="auto">
          <a:xfrm>
            <a:off x="4643438" y="5375275"/>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(b)</a:t>
            </a:r>
          </a:p>
        </p:txBody>
      </p:sp>
      <p:sp>
        <p:nvSpPr>
          <p:cNvPr id="8215" name="Text Box 26"/>
          <p:cNvSpPr txBox="1">
            <a:spLocks noChangeArrowheads="1"/>
          </p:cNvSpPr>
          <p:nvPr/>
        </p:nvSpPr>
        <p:spPr bwMode="auto">
          <a:xfrm>
            <a:off x="6732588" y="285115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p>
        </p:txBody>
      </p:sp>
      <p:sp>
        <p:nvSpPr>
          <p:cNvPr id="8216" name="Text Box 27"/>
          <p:cNvSpPr txBox="1">
            <a:spLocks noChangeArrowheads="1"/>
          </p:cNvSpPr>
          <p:nvPr/>
        </p:nvSpPr>
        <p:spPr bwMode="auto">
          <a:xfrm>
            <a:off x="6732588" y="325120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baseline="30000">
              <a:solidFill>
                <a:srgbClr val="FF6600"/>
              </a:solidFill>
            </a:endParaRPr>
          </a:p>
        </p:txBody>
      </p:sp>
      <p:sp>
        <p:nvSpPr>
          <p:cNvPr id="8217" name="Text Box 28"/>
          <p:cNvSpPr txBox="1">
            <a:spLocks noChangeArrowheads="1"/>
          </p:cNvSpPr>
          <p:nvPr/>
        </p:nvSpPr>
        <p:spPr bwMode="auto">
          <a:xfrm>
            <a:off x="6732588" y="3667125"/>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8218" name="Text Box 29"/>
          <p:cNvSpPr txBox="1">
            <a:spLocks noChangeArrowheads="1"/>
          </p:cNvSpPr>
          <p:nvPr/>
        </p:nvSpPr>
        <p:spPr bwMode="auto">
          <a:xfrm>
            <a:off x="6732588" y="406876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endParaRPr lang="en-US" altLang="zh-CN" sz="2000" b="1">
              <a:solidFill>
                <a:srgbClr val="660066"/>
              </a:solidFill>
            </a:endParaRPr>
          </a:p>
        </p:txBody>
      </p:sp>
      <p:sp>
        <p:nvSpPr>
          <p:cNvPr id="8219" name="Text Box 30"/>
          <p:cNvSpPr txBox="1">
            <a:spLocks noChangeArrowheads="1"/>
          </p:cNvSpPr>
          <p:nvPr/>
        </p:nvSpPr>
        <p:spPr bwMode="auto">
          <a:xfrm>
            <a:off x="6732588" y="446881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p>
        </p:txBody>
      </p:sp>
      <p:sp>
        <p:nvSpPr>
          <p:cNvPr id="8220" name="Text Box 31"/>
          <p:cNvSpPr txBox="1">
            <a:spLocks noChangeArrowheads="1"/>
          </p:cNvSpPr>
          <p:nvPr/>
        </p:nvSpPr>
        <p:spPr bwMode="auto">
          <a:xfrm>
            <a:off x="6732588" y="4867275"/>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p>
        </p:txBody>
      </p:sp>
      <p:sp>
        <p:nvSpPr>
          <p:cNvPr id="8221" name="Text Box 33"/>
          <p:cNvSpPr txBox="1">
            <a:spLocks noChangeArrowheads="1"/>
          </p:cNvSpPr>
          <p:nvPr/>
        </p:nvSpPr>
        <p:spPr bwMode="auto">
          <a:xfrm>
            <a:off x="6443663" y="2347913"/>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8222" name="Text Box 34"/>
          <p:cNvSpPr txBox="1">
            <a:spLocks noChangeArrowheads="1"/>
          </p:cNvSpPr>
          <p:nvPr/>
        </p:nvSpPr>
        <p:spPr bwMode="auto">
          <a:xfrm>
            <a:off x="7018338" y="5373688"/>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(c)</a:t>
            </a:r>
          </a:p>
        </p:txBody>
      </p:sp>
      <p:sp>
        <p:nvSpPr>
          <p:cNvPr id="8223" name="Line 39"/>
          <p:cNvSpPr>
            <a:spLocks noChangeShapeType="1"/>
          </p:cNvSpPr>
          <p:nvPr/>
        </p:nvSpPr>
        <p:spPr bwMode="auto">
          <a:xfrm>
            <a:off x="3457575" y="3252788"/>
            <a:ext cx="0" cy="287337"/>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24" name="Line 43"/>
          <p:cNvSpPr>
            <a:spLocks noChangeShapeType="1"/>
          </p:cNvSpPr>
          <p:nvPr/>
        </p:nvSpPr>
        <p:spPr bwMode="auto">
          <a:xfrm flipH="1">
            <a:off x="3098800" y="3060700"/>
            <a:ext cx="358775"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25" name="Text Box 45"/>
          <p:cNvSpPr txBox="1">
            <a:spLocks noChangeArrowheads="1"/>
          </p:cNvSpPr>
          <p:nvPr/>
        </p:nvSpPr>
        <p:spPr bwMode="auto">
          <a:xfrm>
            <a:off x="146050" y="4908550"/>
            <a:ext cx="1909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1800" b="1">
                <a:solidFill>
                  <a:schemeClr val="folHlink"/>
                </a:solidFill>
              </a:rPr>
              <a:t>循环缓冲区底部</a:t>
            </a:r>
            <a:r>
              <a:rPr lang="zh-CN" altLang="en-US" sz="2000"/>
              <a:t> </a:t>
            </a:r>
          </a:p>
        </p:txBody>
      </p:sp>
      <p:sp>
        <p:nvSpPr>
          <p:cNvPr id="8226" name="Text Box 46"/>
          <p:cNvSpPr txBox="1">
            <a:spLocks noChangeArrowheads="1"/>
          </p:cNvSpPr>
          <p:nvPr/>
        </p:nvSpPr>
        <p:spPr bwMode="auto">
          <a:xfrm>
            <a:off x="5905500" y="4908550"/>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solidFill>
                  <a:schemeClr val="folHlink"/>
                </a:solidFill>
              </a:rPr>
              <a:t>ARx</a:t>
            </a:r>
            <a:endParaRPr lang="en-US" altLang="zh-CN" sz="2000"/>
          </a:p>
        </p:txBody>
      </p:sp>
      <p:sp>
        <p:nvSpPr>
          <p:cNvPr id="8227" name="Line 47"/>
          <p:cNvSpPr>
            <a:spLocks noChangeShapeType="1"/>
          </p:cNvSpPr>
          <p:nvPr/>
        </p:nvSpPr>
        <p:spPr bwMode="auto">
          <a:xfrm flipV="1">
            <a:off x="5867400" y="4652963"/>
            <a:ext cx="0" cy="360362"/>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28" name="Line 48"/>
          <p:cNvSpPr>
            <a:spLocks noChangeShapeType="1"/>
          </p:cNvSpPr>
          <p:nvPr/>
        </p:nvSpPr>
        <p:spPr bwMode="auto">
          <a:xfrm flipH="1">
            <a:off x="5553075" y="5083175"/>
            <a:ext cx="358775"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29" name="Text Box 49"/>
          <p:cNvSpPr txBox="1">
            <a:spLocks noChangeArrowheads="1"/>
          </p:cNvSpPr>
          <p:nvPr/>
        </p:nvSpPr>
        <p:spPr bwMode="auto">
          <a:xfrm>
            <a:off x="8208963" y="447516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solidFill>
                  <a:schemeClr val="folHlink"/>
                </a:solidFill>
              </a:rPr>
              <a:t>ARx</a:t>
            </a:r>
            <a:endParaRPr lang="en-US" altLang="zh-CN" sz="2000"/>
          </a:p>
        </p:txBody>
      </p:sp>
      <p:sp>
        <p:nvSpPr>
          <p:cNvPr id="8230" name="Line 50"/>
          <p:cNvSpPr>
            <a:spLocks noChangeShapeType="1"/>
          </p:cNvSpPr>
          <p:nvPr/>
        </p:nvSpPr>
        <p:spPr bwMode="auto">
          <a:xfrm flipV="1">
            <a:off x="8316913" y="4149725"/>
            <a:ext cx="0" cy="358775"/>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31" name="Line 51"/>
          <p:cNvSpPr>
            <a:spLocks noChangeShapeType="1"/>
          </p:cNvSpPr>
          <p:nvPr/>
        </p:nvSpPr>
        <p:spPr bwMode="auto">
          <a:xfrm flipH="1">
            <a:off x="7856538" y="4649788"/>
            <a:ext cx="358775"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withEffect">
                                  <p:stCondLst>
                                    <p:cond delay="0"/>
                                  </p:stCondLst>
                                  <p:childTnLst>
                                    <p:set>
                                      <p:cBhvr>
                                        <p:cTn id="6" dur="1" fill="hold">
                                          <p:stCondLst>
                                            <p:cond delay="0"/>
                                          </p:stCondLst>
                                        </p:cTn>
                                        <p:tgtEl>
                                          <p:spTgt spid="858116"/>
                                        </p:tgtEl>
                                        <p:attrNameLst>
                                          <p:attrName>style.visibility</p:attrName>
                                        </p:attrNameLst>
                                      </p:cBhvr>
                                      <p:to>
                                        <p:strVal val="visible"/>
                                      </p:to>
                                    </p:set>
                                    <p:animEffect transition="in" filter="slide(fromTop)">
                                      <p:cBhvr>
                                        <p:cTn id="7" dur="500"/>
                                        <p:tgtEl>
                                          <p:spTgt spid="858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284EB9E-3969-4314-B5C6-5D9F1036AEBD}" type="slidenum">
              <a:rPr lang="en-US" altLang="zh-CN" sz="1400"/>
              <a:pPr eaLnBrk="1" hangingPunct="1"/>
              <a:t>73</a:t>
            </a:fld>
            <a:endParaRPr lang="en-US" altLang="zh-CN" sz="1400"/>
          </a:p>
        </p:txBody>
      </p:sp>
      <p:sp>
        <p:nvSpPr>
          <p:cNvPr id="859138" name="Rectangle 2" descr="小棋盘"/>
          <p:cNvSpPr>
            <a:spLocks noChangeArrowheads="1"/>
          </p:cNvSpPr>
          <p:nvPr/>
        </p:nvSpPr>
        <p:spPr bwMode="auto">
          <a:xfrm>
            <a:off x="1905000" y="1143000"/>
            <a:ext cx="51816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3</a:t>
            </a:r>
            <a:r>
              <a:rPr lang="zh-CN" altLang="en-US" sz="3200" b="1">
                <a:solidFill>
                  <a:srgbClr val="FF0000"/>
                </a:solidFill>
                <a:latin typeface="宋体" panose="02010600030101010101" pitchFamily="2" charset="-122"/>
                <a:ea typeface="仿宋_GB2312" pitchFamily="49" charset="-122"/>
              </a:rPr>
              <a:t>．</a:t>
            </a:r>
            <a:r>
              <a:rPr lang="en-US" altLang="zh-CN" sz="3200" b="1">
                <a:solidFill>
                  <a:srgbClr val="FF0000"/>
                </a:solidFill>
                <a:latin typeface="宋体" panose="02010600030101010101" pitchFamily="2" charset="-122"/>
                <a:ea typeface="仿宋_GB2312" pitchFamily="49" charset="-122"/>
              </a:rPr>
              <a:t>FIR</a:t>
            </a:r>
            <a:r>
              <a:rPr lang="zh-CN" altLang="en-US" sz="3200" b="1">
                <a:solidFill>
                  <a:srgbClr val="FF0000"/>
                </a:solidFill>
                <a:latin typeface="宋体" panose="02010600030101010101" pitchFamily="2" charset="-122"/>
                <a:ea typeface="仿宋_GB2312" pitchFamily="49" charset="-122"/>
              </a:rPr>
              <a:t>滤波器的实现方法 </a:t>
            </a:r>
          </a:p>
        </p:txBody>
      </p:sp>
      <p:sp>
        <p:nvSpPr>
          <p:cNvPr id="859139" name="Rectangle 3" descr="小棋盘"/>
          <p:cNvSpPr>
            <a:spLocks noChangeArrowheads="1"/>
          </p:cNvSpPr>
          <p:nvPr/>
        </p:nvSpPr>
        <p:spPr bwMode="auto">
          <a:xfrm>
            <a:off x="914400" y="1828800"/>
            <a:ext cx="7696200" cy="588963"/>
          </a:xfrm>
          <a:prstGeom prst="rect">
            <a:avLst/>
          </a:prstGeom>
          <a:pattFill prst="smCheck">
            <a:fgClr>
              <a:schemeClr val="accent1"/>
            </a:fgClr>
            <a:bgClr>
              <a:srgbClr val="FFFFFF"/>
            </a:bgClr>
          </a:pattFill>
          <a:ln w="9525">
            <a:solidFill>
              <a:schemeClr val="bg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rgbClr val="FF00FF"/>
                </a:solidFill>
                <a:latin typeface="宋体" panose="02010600030101010101" pitchFamily="2" charset="-122"/>
                <a:cs typeface="Times New Roman" panose="02020603050405020304" pitchFamily="18" charset="0"/>
              </a:rPr>
              <a:t>(1)</a:t>
            </a:r>
            <a:r>
              <a:rPr lang="zh-CN" altLang="en-US" sz="3200" b="1">
                <a:solidFill>
                  <a:srgbClr val="FF00FF"/>
                </a:solidFill>
                <a:latin typeface="宋体" panose="02010600030101010101" pitchFamily="2" charset="-122"/>
                <a:cs typeface="Times New Roman" panose="02020603050405020304" pitchFamily="18" charset="0"/>
              </a:rPr>
              <a:t>用线性缓冲区</a:t>
            </a:r>
            <a:r>
              <a:rPr lang="zh-CN" altLang="en-US" sz="3200" b="1">
                <a:latin typeface="宋体" panose="02010600030101010101" pitchFamily="2" charset="-122"/>
                <a:cs typeface="Times New Roman" panose="02020603050405020304" pitchFamily="18" charset="0"/>
              </a:rPr>
              <a:t>和</a:t>
            </a:r>
            <a:r>
              <a:rPr lang="zh-CN" altLang="en-US" sz="3200" b="1">
                <a:solidFill>
                  <a:schemeClr val="tx2"/>
                </a:solidFill>
                <a:latin typeface="宋体" panose="02010600030101010101" pitchFamily="2" charset="-122"/>
                <a:cs typeface="Times New Roman" panose="02020603050405020304" pitchFamily="18" charset="0"/>
              </a:rPr>
              <a:t>直接寻址方法实现</a:t>
            </a:r>
            <a:r>
              <a:rPr lang="en-US" altLang="zh-CN" sz="3200" b="1">
                <a:solidFill>
                  <a:schemeClr val="tx2"/>
                </a:solidFill>
                <a:latin typeface="宋体" panose="02010600030101010101" pitchFamily="2" charset="-122"/>
                <a:cs typeface="Times New Roman" panose="02020603050405020304" pitchFamily="18" charset="0"/>
              </a:rPr>
              <a:t>FIR</a:t>
            </a:r>
            <a:endParaRPr lang="en-US" altLang="zh-CN" sz="3200" b="1" baseline="30000">
              <a:solidFill>
                <a:schemeClr val="tx2"/>
              </a:solidFill>
              <a:latin typeface="宋体" panose="02010600030101010101" pitchFamily="2" charset="-122"/>
              <a:cs typeface="Times New Roman" panose="02020603050405020304" pitchFamily="18" charset="0"/>
            </a:endParaRPr>
          </a:p>
        </p:txBody>
      </p:sp>
      <p:sp>
        <p:nvSpPr>
          <p:cNvPr id="81925" name="Rectangle 5"/>
          <p:cNvSpPr>
            <a:spLocks noChangeArrowheads="1"/>
          </p:cNvSpPr>
          <p:nvPr/>
        </p:nvSpPr>
        <p:spPr bwMode="auto">
          <a:xfrm>
            <a:off x="250825" y="2565400"/>
            <a:ext cx="4114800" cy="394493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28892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ea typeface="黑体" panose="02010609060101010101" pitchFamily="49" charset="-122"/>
              </a:rPr>
              <a:t>例</a:t>
            </a:r>
            <a:r>
              <a:rPr lang="en-US" altLang="zh-CN" sz="2800" b="1">
                <a:latin typeface="宋体" panose="02010600030101010101" pitchFamily="2" charset="-122"/>
                <a:ea typeface="黑体" panose="02010609060101010101" pitchFamily="49" charset="-122"/>
              </a:rPr>
              <a:t>5-25  </a:t>
            </a:r>
            <a:r>
              <a:rPr lang="zh-CN" altLang="en-US" sz="2800" b="1">
                <a:latin typeface="宋体" panose="02010600030101010101" pitchFamily="2" charset="-122"/>
              </a:rPr>
              <a:t>编写</a:t>
            </a:r>
            <a:r>
              <a:rPr lang="en-US" altLang="zh-CN" sz="2800" b="1">
                <a:latin typeface="宋体" panose="02010600030101010101" pitchFamily="2" charset="-122"/>
              </a:rPr>
              <a:t>N=5</a:t>
            </a:r>
            <a:r>
              <a:rPr lang="zh-CN" altLang="en-US" sz="2800" b="1">
                <a:latin typeface="宋体" panose="02010600030101010101" pitchFamily="2" charset="-122"/>
              </a:rPr>
              <a:t>，</a:t>
            </a:r>
            <a:r>
              <a:rPr lang="en-US" altLang="zh-CN" sz="2800" b="1">
                <a:latin typeface="宋体" panose="02010600030101010101" pitchFamily="2" charset="-122"/>
              </a:rPr>
              <a:t>y</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=a</a:t>
            </a:r>
            <a:r>
              <a:rPr lang="en-US" altLang="zh-CN" sz="2800" b="1" baseline="-30000">
                <a:latin typeface="宋体" panose="02010600030101010101" pitchFamily="2" charset="-122"/>
              </a:rPr>
              <a:t>0</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+a</a:t>
            </a:r>
            <a:r>
              <a:rPr lang="en-US" altLang="zh-CN" sz="2800" b="1" baseline="-30000">
                <a:latin typeface="宋体" panose="02010600030101010101" pitchFamily="2" charset="-122"/>
              </a:rPr>
              <a:t>1</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n-1</a:t>
            </a:r>
            <a:r>
              <a:rPr lang="zh-CN" altLang="en-US" sz="2800" b="1">
                <a:latin typeface="宋体" panose="02010600030101010101" pitchFamily="2" charset="-122"/>
              </a:rPr>
              <a:t>）</a:t>
            </a:r>
            <a:r>
              <a:rPr lang="en-US" altLang="zh-CN" sz="2800" b="1">
                <a:latin typeface="宋体" panose="02010600030101010101" pitchFamily="2" charset="-122"/>
              </a:rPr>
              <a:t>+a</a:t>
            </a:r>
            <a:r>
              <a:rPr lang="en-US" altLang="zh-CN" sz="2800" b="1" baseline="-30000">
                <a:latin typeface="宋体" panose="02010600030101010101" pitchFamily="2" charset="-122"/>
              </a:rPr>
              <a:t>2</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n-2</a:t>
            </a:r>
            <a:r>
              <a:rPr lang="zh-CN" altLang="en-US" sz="2800" b="1">
                <a:latin typeface="宋体" panose="02010600030101010101" pitchFamily="2" charset="-122"/>
              </a:rPr>
              <a:t>）</a:t>
            </a:r>
            <a:r>
              <a:rPr lang="en-US" altLang="zh-CN" sz="2800" b="1">
                <a:latin typeface="宋体" panose="02010600030101010101" pitchFamily="2" charset="-122"/>
              </a:rPr>
              <a:t>+a</a:t>
            </a:r>
            <a:r>
              <a:rPr lang="en-US" altLang="zh-CN" sz="2800" b="1" baseline="-30000">
                <a:latin typeface="宋体" panose="02010600030101010101" pitchFamily="2" charset="-122"/>
              </a:rPr>
              <a:t>3</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n-3</a:t>
            </a:r>
            <a:r>
              <a:rPr lang="zh-CN" altLang="en-US" sz="2800" b="1">
                <a:latin typeface="宋体" panose="02010600030101010101" pitchFamily="2" charset="-122"/>
              </a:rPr>
              <a:t>）</a:t>
            </a:r>
            <a:r>
              <a:rPr lang="en-US" altLang="zh-CN" sz="2800" b="1">
                <a:latin typeface="宋体" panose="02010600030101010101" pitchFamily="2" charset="-122"/>
              </a:rPr>
              <a:t>+a</a:t>
            </a:r>
            <a:r>
              <a:rPr lang="en-US" altLang="zh-CN" sz="2800" b="1" baseline="-30000">
                <a:latin typeface="宋体" panose="02010600030101010101" pitchFamily="2" charset="-122"/>
              </a:rPr>
              <a:t>4</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n-4</a:t>
            </a:r>
            <a:r>
              <a:rPr lang="zh-CN" altLang="en-US" sz="2800" b="1">
                <a:latin typeface="宋体" panose="02010600030101010101" pitchFamily="2" charset="-122"/>
              </a:rPr>
              <a:t>）的计算程序。</a:t>
            </a:r>
          </a:p>
          <a:p>
            <a:pPr algn="just" eaLnBrk="1" hangingPunct="1"/>
            <a:r>
              <a:rPr lang="zh-CN" altLang="en-US" sz="2800" b="1">
                <a:solidFill>
                  <a:schemeClr val="folHlink"/>
                </a:solidFill>
                <a:latin typeface="宋体" panose="02010600030101010101" pitchFamily="2" charset="-122"/>
              </a:rPr>
              <a:t>先将系数</a:t>
            </a:r>
            <a:r>
              <a:rPr lang="en-US" altLang="zh-CN" sz="2800" b="1">
                <a:solidFill>
                  <a:schemeClr val="folHlink"/>
                </a:solidFill>
                <a:latin typeface="宋体" panose="02010600030101010101" pitchFamily="2" charset="-122"/>
              </a:rPr>
              <a:t>a</a:t>
            </a:r>
            <a:r>
              <a:rPr lang="en-US" altLang="zh-CN" sz="2800" b="1" baseline="-30000">
                <a:solidFill>
                  <a:schemeClr val="folHlink"/>
                </a:solidFill>
                <a:latin typeface="宋体" panose="02010600030101010101" pitchFamily="2" charset="-122"/>
              </a:rPr>
              <a:t>0</a:t>
            </a:r>
            <a:r>
              <a:rPr lang="zh-CN" altLang="en-US" sz="2800" b="1">
                <a:solidFill>
                  <a:schemeClr val="folHlink"/>
                </a:solidFill>
                <a:latin typeface="宋体" panose="02010600030101010101" pitchFamily="2" charset="-122"/>
              </a:rPr>
              <a:t>～</a:t>
            </a:r>
            <a:r>
              <a:rPr lang="en-US" altLang="zh-CN" sz="2800" b="1">
                <a:solidFill>
                  <a:schemeClr val="folHlink"/>
                </a:solidFill>
                <a:latin typeface="宋体" panose="02010600030101010101" pitchFamily="2" charset="-122"/>
              </a:rPr>
              <a:t>a</a:t>
            </a:r>
            <a:r>
              <a:rPr lang="en-US" altLang="zh-CN" sz="2800" b="1" baseline="-30000">
                <a:solidFill>
                  <a:schemeClr val="folHlink"/>
                </a:solidFill>
                <a:latin typeface="宋体" panose="02010600030101010101" pitchFamily="2" charset="-122"/>
              </a:rPr>
              <a:t>4</a:t>
            </a:r>
            <a:r>
              <a:rPr lang="zh-CN" altLang="en-US" sz="2800" b="1">
                <a:solidFill>
                  <a:schemeClr val="folHlink"/>
                </a:solidFill>
                <a:latin typeface="宋体" panose="02010600030101010101" pitchFamily="2" charset="-122"/>
              </a:rPr>
              <a:t>存放在数据存储器中，然后设置线性缓冲区，用以存放输入和输出数据。</a:t>
            </a:r>
          </a:p>
        </p:txBody>
      </p:sp>
      <p:sp>
        <p:nvSpPr>
          <p:cNvPr id="859143" name="Text Box 7" descr="小棋盘"/>
          <p:cNvSpPr txBox="1">
            <a:spLocks noChangeArrowheads="1"/>
          </p:cNvSpPr>
          <p:nvPr/>
        </p:nvSpPr>
        <p:spPr bwMode="auto">
          <a:xfrm>
            <a:off x="5651500" y="5661025"/>
            <a:ext cx="2514600" cy="504825"/>
          </a:xfrm>
          <a:prstGeom prst="rect">
            <a:avLst/>
          </a:prstGeom>
          <a:pattFill prst="smCheck">
            <a:fgClr>
              <a:schemeClr val="accent1"/>
            </a:fgClr>
            <a:bgClr>
              <a:srgbClr val="FFFFFF"/>
            </a:bgClr>
          </a:pattFill>
          <a:ln w="9525">
            <a:solidFill>
              <a:schemeClr val="bg2"/>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b="1">
                <a:solidFill>
                  <a:srgbClr val="FF6600"/>
                </a:solidFill>
                <a:latin typeface="宋体" panose="02010600030101010101" pitchFamily="2" charset="-122"/>
              </a:rPr>
              <a:t>线性缓冲区安排</a:t>
            </a:r>
            <a:endParaRPr kumimoji="0" lang="zh-CN" altLang="en-US" b="1">
              <a:solidFill>
                <a:srgbClr val="FF6600"/>
              </a:solidFill>
            </a:endParaRPr>
          </a:p>
        </p:txBody>
      </p:sp>
      <p:sp>
        <p:nvSpPr>
          <p:cNvPr id="81927" name="Text Box 8"/>
          <p:cNvSpPr txBox="1">
            <a:spLocks noChangeArrowheads="1"/>
          </p:cNvSpPr>
          <p:nvPr/>
        </p:nvSpPr>
        <p:spPr bwMode="auto">
          <a:xfrm>
            <a:off x="5581650" y="309403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y(n)</a:t>
            </a:r>
          </a:p>
        </p:txBody>
      </p:sp>
      <p:sp>
        <p:nvSpPr>
          <p:cNvPr id="81928" name="Text Box 9"/>
          <p:cNvSpPr txBox="1">
            <a:spLocks noChangeArrowheads="1"/>
          </p:cNvSpPr>
          <p:nvPr/>
        </p:nvSpPr>
        <p:spPr bwMode="auto">
          <a:xfrm>
            <a:off x="5581650" y="349408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endParaRPr lang="en-US" altLang="zh-CN" sz="2000" b="1" baseline="30000">
              <a:solidFill>
                <a:srgbClr val="FF6600"/>
              </a:solidFill>
            </a:endParaRPr>
          </a:p>
        </p:txBody>
      </p:sp>
      <p:sp>
        <p:nvSpPr>
          <p:cNvPr id="81929" name="Text Box 10"/>
          <p:cNvSpPr txBox="1">
            <a:spLocks noChangeArrowheads="1"/>
          </p:cNvSpPr>
          <p:nvPr/>
        </p:nvSpPr>
        <p:spPr bwMode="auto">
          <a:xfrm>
            <a:off x="5581650" y="389413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a:solidFill>
                <a:srgbClr val="660066"/>
              </a:solidFill>
            </a:endParaRPr>
          </a:p>
        </p:txBody>
      </p:sp>
      <p:sp>
        <p:nvSpPr>
          <p:cNvPr id="81930" name="Text Box 11"/>
          <p:cNvSpPr txBox="1">
            <a:spLocks noChangeArrowheads="1"/>
          </p:cNvSpPr>
          <p:nvPr/>
        </p:nvSpPr>
        <p:spPr bwMode="auto">
          <a:xfrm>
            <a:off x="5581650" y="429577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81931" name="Text Box 12"/>
          <p:cNvSpPr txBox="1">
            <a:spLocks noChangeArrowheads="1"/>
          </p:cNvSpPr>
          <p:nvPr/>
        </p:nvSpPr>
        <p:spPr bwMode="auto">
          <a:xfrm>
            <a:off x="5581650" y="469582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p>
        </p:txBody>
      </p:sp>
      <p:sp>
        <p:nvSpPr>
          <p:cNvPr id="81932" name="Text Box 13"/>
          <p:cNvSpPr txBox="1">
            <a:spLocks noChangeArrowheads="1"/>
          </p:cNvSpPr>
          <p:nvPr/>
        </p:nvSpPr>
        <p:spPr bwMode="auto">
          <a:xfrm>
            <a:off x="5581650" y="509428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x(n-4)</a:t>
            </a:r>
          </a:p>
        </p:txBody>
      </p:sp>
      <p:sp>
        <p:nvSpPr>
          <p:cNvPr id="81933" name="Text Box 14"/>
          <p:cNvSpPr txBox="1">
            <a:spLocks noChangeArrowheads="1"/>
          </p:cNvSpPr>
          <p:nvPr/>
        </p:nvSpPr>
        <p:spPr bwMode="auto">
          <a:xfrm>
            <a:off x="5292725" y="2574925"/>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81934" name="Text Box 16"/>
          <p:cNvSpPr txBox="1">
            <a:spLocks noChangeArrowheads="1"/>
          </p:cNvSpPr>
          <p:nvPr/>
        </p:nvSpPr>
        <p:spPr bwMode="auto">
          <a:xfrm>
            <a:off x="4979988" y="3101975"/>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y</a:t>
            </a:r>
            <a:endParaRPr lang="en-US" altLang="zh-CN" sz="2000">
              <a:solidFill>
                <a:srgbClr val="FF6600"/>
              </a:solidFill>
            </a:endParaRPr>
          </a:p>
        </p:txBody>
      </p:sp>
      <p:sp>
        <p:nvSpPr>
          <p:cNvPr id="81935" name="Text Box 19"/>
          <p:cNvSpPr txBox="1">
            <a:spLocks noChangeArrowheads="1"/>
          </p:cNvSpPr>
          <p:nvPr/>
        </p:nvSpPr>
        <p:spPr bwMode="auto">
          <a:xfrm>
            <a:off x="4837113" y="3535363"/>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XN</a:t>
            </a:r>
            <a:endParaRPr lang="en-US" altLang="zh-CN" sz="2000">
              <a:solidFill>
                <a:srgbClr val="FF6600"/>
              </a:solidFill>
            </a:endParaRPr>
          </a:p>
        </p:txBody>
      </p:sp>
      <p:sp>
        <p:nvSpPr>
          <p:cNvPr id="81936" name="Text Box 20"/>
          <p:cNvSpPr txBox="1">
            <a:spLocks noChangeArrowheads="1"/>
          </p:cNvSpPr>
          <p:nvPr/>
        </p:nvSpPr>
        <p:spPr bwMode="auto">
          <a:xfrm>
            <a:off x="4427538" y="3894138"/>
            <a:ext cx="1058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XNM1</a:t>
            </a:r>
            <a:endParaRPr lang="en-US" altLang="zh-CN" sz="2000">
              <a:solidFill>
                <a:srgbClr val="FF6600"/>
              </a:solidFill>
            </a:endParaRPr>
          </a:p>
        </p:txBody>
      </p:sp>
      <p:sp>
        <p:nvSpPr>
          <p:cNvPr id="81937" name="Text Box 21"/>
          <p:cNvSpPr txBox="1">
            <a:spLocks noChangeArrowheads="1"/>
          </p:cNvSpPr>
          <p:nvPr/>
        </p:nvSpPr>
        <p:spPr bwMode="auto">
          <a:xfrm>
            <a:off x="4356100" y="4327525"/>
            <a:ext cx="1130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XNM2</a:t>
            </a:r>
            <a:endParaRPr lang="en-US" altLang="zh-CN" sz="2000">
              <a:solidFill>
                <a:srgbClr val="FF6600"/>
              </a:solidFill>
            </a:endParaRPr>
          </a:p>
        </p:txBody>
      </p:sp>
      <p:sp>
        <p:nvSpPr>
          <p:cNvPr id="81938" name="Text Box 22"/>
          <p:cNvSpPr txBox="1">
            <a:spLocks noChangeArrowheads="1"/>
          </p:cNvSpPr>
          <p:nvPr/>
        </p:nvSpPr>
        <p:spPr bwMode="auto">
          <a:xfrm>
            <a:off x="4500563" y="4686300"/>
            <a:ext cx="985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XNM3</a:t>
            </a:r>
            <a:endParaRPr lang="en-US" altLang="zh-CN" sz="2000">
              <a:solidFill>
                <a:srgbClr val="FF6600"/>
              </a:solidFill>
            </a:endParaRPr>
          </a:p>
        </p:txBody>
      </p:sp>
      <p:sp>
        <p:nvSpPr>
          <p:cNvPr id="81939" name="Text Box 23"/>
          <p:cNvSpPr txBox="1">
            <a:spLocks noChangeArrowheads="1"/>
          </p:cNvSpPr>
          <p:nvPr/>
        </p:nvSpPr>
        <p:spPr bwMode="auto">
          <a:xfrm>
            <a:off x="4500563" y="5046663"/>
            <a:ext cx="985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XNM4</a:t>
            </a:r>
            <a:endParaRPr lang="en-US" altLang="zh-CN" sz="2000">
              <a:solidFill>
                <a:srgbClr val="FF6600"/>
              </a:solidFill>
            </a:endParaRPr>
          </a:p>
        </p:txBody>
      </p:sp>
      <p:sp>
        <p:nvSpPr>
          <p:cNvPr id="81940" name="Text Box 24"/>
          <p:cNvSpPr txBox="1">
            <a:spLocks noChangeArrowheads="1"/>
          </p:cNvSpPr>
          <p:nvPr/>
        </p:nvSpPr>
        <p:spPr bwMode="auto">
          <a:xfrm>
            <a:off x="7526338" y="3044825"/>
            <a:ext cx="1081087"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0</a:t>
            </a:r>
          </a:p>
        </p:txBody>
      </p:sp>
      <p:sp>
        <p:nvSpPr>
          <p:cNvPr id="81941" name="Text Box 25"/>
          <p:cNvSpPr txBox="1">
            <a:spLocks noChangeArrowheads="1"/>
          </p:cNvSpPr>
          <p:nvPr/>
        </p:nvSpPr>
        <p:spPr bwMode="auto">
          <a:xfrm>
            <a:off x="7524750" y="3444875"/>
            <a:ext cx="1081088"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1</a:t>
            </a:r>
          </a:p>
        </p:txBody>
      </p:sp>
      <p:sp>
        <p:nvSpPr>
          <p:cNvPr id="81942" name="Text Box 26"/>
          <p:cNvSpPr txBox="1">
            <a:spLocks noChangeArrowheads="1"/>
          </p:cNvSpPr>
          <p:nvPr/>
        </p:nvSpPr>
        <p:spPr bwMode="auto">
          <a:xfrm>
            <a:off x="7526338" y="3844925"/>
            <a:ext cx="1081087"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2</a:t>
            </a:r>
          </a:p>
        </p:txBody>
      </p:sp>
      <p:sp>
        <p:nvSpPr>
          <p:cNvPr id="81943" name="Text Box 27"/>
          <p:cNvSpPr txBox="1">
            <a:spLocks noChangeArrowheads="1"/>
          </p:cNvSpPr>
          <p:nvPr/>
        </p:nvSpPr>
        <p:spPr bwMode="auto">
          <a:xfrm>
            <a:off x="7526338" y="4246563"/>
            <a:ext cx="1081087"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3</a:t>
            </a:r>
          </a:p>
        </p:txBody>
      </p:sp>
      <p:sp>
        <p:nvSpPr>
          <p:cNvPr id="81944" name="Text Box 28"/>
          <p:cNvSpPr txBox="1">
            <a:spLocks noChangeArrowheads="1"/>
          </p:cNvSpPr>
          <p:nvPr/>
        </p:nvSpPr>
        <p:spPr bwMode="auto">
          <a:xfrm>
            <a:off x="7524750" y="4652963"/>
            <a:ext cx="1081088"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4</a:t>
            </a:r>
          </a:p>
        </p:txBody>
      </p:sp>
      <p:sp>
        <p:nvSpPr>
          <p:cNvPr id="81945" name="Text Box 30"/>
          <p:cNvSpPr txBox="1">
            <a:spLocks noChangeArrowheads="1"/>
          </p:cNvSpPr>
          <p:nvPr/>
        </p:nvSpPr>
        <p:spPr bwMode="auto">
          <a:xfrm>
            <a:off x="7237413" y="2541588"/>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81946" name="Text Box 31"/>
          <p:cNvSpPr txBox="1">
            <a:spLocks noChangeArrowheads="1"/>
          </p:cNvSpPr>
          <p:nvPr/>
        </p:nvSpPr>
        <p:spPr bwMode="auto">
          <a:xfrm>
            <a:off x="6877050" y="3068638"/>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folHlink"/>
                </a:solidFill>
              </a:rPr>
              <a:t>A0</a:t>
            </a:r>
            <a:endParaRPr lang="en-US" altLang="zh-CN" sz="2000" b="1" baseline="-25000">
              <a:solidFill>
                <a:schemeClr val="folHlink"/>
              </a:solidFill>
            </a:endParaRPr>
          </a:p>
        </p:txBody>
      </p:sp>
      <p:sp>
        <p:nvSpPr>
          <p:cNvPr id="81947" name="Text Box 37"/>
          <p:cNvSpPr txBox="1">
            <a:spLocks noChangeArrowheads="1"/>
          </p:cNvSpPr>
          <p:nvPr/>
        </p:nvSpPr>
        <p:spPr bwMode="auto">
          <a:xfrm>
            <a:off x="6877050" y="34290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folHlink"/>
                </a:solidFill>
              </a:rPr>
              <a:t>A1</a:t>
            </a:r>
            <a:endParaRPr lang="en-US" altLang="zh-CN" sz="2000" b="1" baseline="-25000">
              <a:solidFill>
                <a:schemeClr val="folHlink"/>
              </a:solidFill>
            </a:endParaRPr>
          </a:p>
        </p:txBody>
      </p:sp>
      <p:sp>
        <p:nvSpPr>
          <p:cNvPr id="81948" name="Text Box 38"/>
          <p:cNvSpPr txBox="1">
            <a:spLocks noChangeArrowheads="1"/>
          </p:cNvSpPr>
          <p:nvPr/>
        </p:nvSpPr>
        <p:spPr bwMode="auto">
          <a:xfrm>
            <a:off x="6877050" y="38608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folHlink"/>
                </a:solidFill>
              </a:rPr>
              <a:t>A2</a:t>
            </a:r>
            <a:endParaRPr lang="en-US" altLang="zh-CN" sz="2000" b="1" baseline="-25000">
              <a:solidFill>
                <a:schemeClr val="folHlink"/>
              </a:solidFill>
            </a:endParaRPr>
          </a:p>
        </p:txBody>
      </p:sp>
      <p:sp>
        <p:nvSpPr>
          <p:cNvPr id="81949" name="Text Box 39"/>
          <p:cNvSpPr txBox="1">
            <a:spLocks noChangeArrowheads="1"/>
          </p:cNvSpPr>
          <p:nvPr/>
        </p:nvSpPr>
        <p:spPr bwMode="auto">
          <a:xfrm>
            <a:off x="6877050" y="42926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folHlink"/>
                </a:solidFill>
              </a:rPr>
              <a:t>A3</a:t>
            </a:r>
            <a:endParaRPr lang="en-US" altLang="zh-CN" sz="2000" b="1" baseline="-25000">
              <a:solidFill>
                <a:schemeClr val="folHlink"/>
              </a:solidFill>
            </a:endParaRPr>
          </a:p>
        </p:txBody>
      </p:sp>
      <p:sp>
        <p:nvSpPr>
          <p:cNvPr id="81950" name="Text Box 40"/>
          <p:cNvSpPr txBox="1">
            <a:spLocks noChangeArrowheads="1"/>
          </p:cNvSpPr>
          <p:nvPr/>
        </p:nvSpPr>
        <p:spPr bwMode="auto">
          <a:xfrm>
            <a:off x="6877050" y="4652963"/>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folHlink"/>
                </a:solidFill>
              </a:rPr>
              <a:t>A4</a:t>
            </a:r>
            <a:endParaRPr lang="en-US" altLang="zh-CN" sz="2000" b="1" baseline="-2500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59138"/>
                                        </p:tgtEl>
                                        <p:attrNameLst>
                                          <p:attrName>style.visibility</p:attrName>
                                        </p:attrNameLst>
                                      </p:cBhvr>
                                      <p:to>
                                        <p:strVal val="visible"/>
                                      </p:to>
                                    </p:set>
                                    <p:animEffect transition="in" filter="slide(fromTop)">
                                      <p:cBhvr>
                                        <p:cTn id="7" dur="500"/>
                                        <p:tgtEl>
                                          <p:spTgt spid="85913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59139"/>
                                        </p:tgtEl>
                                        <p:attrNameLst>
                                          <p:attrName>style.visibility</p:attrName>
                                        </p:attrNameLst>
                                      </p:cBhvr>
                                      <p:to>
                                        <p:strVal val="visible"/>
                                      </p:to>
                                    </p:set>
                                    <p:animEffect transition="in" filter="slide(fromBottom)">
                                      <p:cBhvr>
                                        <p:cTn id="11" dur="500"/>
                                        <p:tgtEl>
                                          <p:spTgt spid="859139"/>
                                        </p:tgtEl>
                                      </p:cBhvr>
                                    </p:animEffect>
                                  </p:childTnLst>
                                </p:cTn>
                              </p:par>
                            </p:childTnLst>
                          </p:cTn>
                        </p:par>
                        <p:par>
                          <p:cTn id="12" fill="hold" nodeType="afterGroup">
                            <p:stCondLst>
                              <p:cond delay="1000"/>
                            </p:stCondLst>
                            <p:childTnLst>
                              <p:par>
                                <p:cTn id="13" presetID="3" presetClass="entr" presetSubtype="5" fill="hold" grpId="0" nodeType="afterEffect">
                                  <p:stCondLst>
                                    <p:cond delay="0"/>
                                  </p:stCondLst>
                                  <p:childTnLst>
                                    <p:set>
                                      <p:cBhvr>
                                        <p:cTn id="14" dur="1" fill="hold">
                                          <p:stCondLst>
                                            <p:cond delay="0"/>
                                          </p:stCondLst>
                                        </p:cTn>
                                        <p:tgtEl>
                                          <p:spTgt spid="859143"/>
                                        </p:tgtEl>
                                        <p:attrNameLst>
                                          <p:attrName>style.visibility</p:attrName>
                                        </p:attrNameLst>
                                      </p:cBhvr>
                                      <p:to>
                                        <p:strVal val="visible"/>
                                      </p:to>
                                    </p:set>
                                    <p:animEffect transition="in" filter="blinds(vertical)">
                                      <p:cBhvr>
                                        <p:cTn id="15" dur="500"/>
                                        <p:tgtEl>
                                          <p:spTgt spid="859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9138" grpId="0" animBg="1"/>
      <p:bldP spid="859139" grpId="0" animBg="1"/>
      <p:bldP spid="859143"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FA8E3D4-A331-49DA-AE9F-D19A59ADB908}" type="slidenum">
              <a:rPr lang="en-US" altLang="zh-CN" sz="1400"/>
              <a:pPr eaLnBrk="1" hangingPunct="1"/>
              <a:t>74</a:t>
            </a:fld>
            <a:endParaRPr lang="en-US" altLang="zh-CN" sz="1400"/>
          </a:p>
        </p:txBody>
      </p:sp>
      <p:sp>
        <p:nvSpPr>
          <p:cNvPr id="860162" name="Rectangle 2"/>
          <p:cNvSpPr>
            <a:spLocks noChangeArrowheads="1"/>
          </p:cNvSpPr>
          <p:nvPr/>
        </p:nvSpPr>
        <p:spPr bwMode="auto">
          <a:xfrm>
            <a:off x="762000" y="990600"/>
            <a:ext cx="8077200" cy="561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5000"/>
              </a:lnSpc>
              <a:spcBef>
                <a:spcPct val="10000"/>
              </a:spcBef>
            </a:pPr>
            <a:r>
              <a:rPr lang="en-US" altLang="zh-CN" b="1">
                <a:latin typeface="宋体" panose="02010600030101010101" pitchFamily="2" charset="-122"/>
              </a:rPr>
              <a:t>     .title </a:t>
            </a:r>
            <a:r>
              <a:rPr lang="en-US" altLang="zh-CN" b="1"/>
              <a:t>“</a:t>
            </a:r>
            <a:r>
              <a:rPr lang="en-US" altLang="zh-CN" b="1">
                <a:latin typeface="宋体" panose="02010600030101010101" pitchFamily="2" charset="-122"/>
              </a:rPr>
              <a:t>FIR1.ASM</a:t>
            </a:r>
            <a:r>
              <a:rPr lang="en-US" altLang="zh-CN" b="1"/>
              <a:t>”</a:t>
            </a:r>
            <a:r>
              <a:rPr lang="en-US" altLang="zh-CN" b="1">
                <a:latin typeface="宋体" panose="02010600030101010101" pitchFamily="2" charset="-122"/>
              </a:rPr>
              <a:t>  </a:t>
            </a:r>
            <a:r>
              <a:rPr lang="zh-CN" altLang="en-US" b="1">
                <a:latin typeface="宋体" panose="02010600030101010101" pitchFamily="2" charset="-122"/>
              </a:rPr>
              <a:t>；定义源程序名</a:t>
            </a:r>
            <a:endParaRPr lang="zh-CN" altLang="en-US" b="1"/>
          </a:p>
          <a:p>
            <a:pPr algn="just">
              <a:lnSpc>
                <a:spcPct val="85000"/>
              </a:lnSpc>
              <a:spcBef>
                <a:spcPct val="10000"/>
              </a:spcBef>
            </a:pPr>
            <a:r>
              <a:rPr lang="zh-CN" altLang="en-US" b="1">
                <a:latin typeface="宋体" panose="02010600030101010101" pitchFamily="2" charset="-122"/>
              </a:rPr>
              <a:t>     </a:t>
            </a:r>
            <a:r>
              <a:rPr lang="en-US" altLang="zh-CN" b="1">
                <a:solidFill>
                  <a:schemeClr val="folHlink"/>
                </a:solidFill>
                <a:latin typeface="宋体" panose="02010600030101010101" pitchFamily="2" charset="-122"/>
              </a:rPr>
              <a:t>.mmregs</a:t>
            </a:r>
            <a:r>
              <a:rPr lang="en-US" altLang="zh-CN" b="1">
                <a:latin typeface="宋体" panose="02010600030101010101" pitchFamily="2" charset="-122"/>
              </a:rPr>
              <a:t>            </a:t>
            </a:r>
            <a:r>
              <a:rPr lang="zh-CN" altLang="en-US" b="1">
                <a:latin typeface="宋体" panose="02010600030101010101" pitchFamily="2" charset="-122"/>
              </a:rPr>
              <a:t>；定义存储器映象寄存器</a:t>
            </a:r>
            <a:endParaRPr lang="zh-CN" altLang="en-US" b="1"/>
          </a:p>
          <a:p>
            <a:pPr algn="just">
              <a:lnSpc>
                <a:spcPct val="85000"/>
              </a:lnSpc>
              <a:spcBef>
                <a:spcPct val="10000"/>
              </a:spcBef>
            </a:pPr>
            <a:r>
              <a:rPr lang="zh-CN" altLang="en-US" b="1">
                <a:latin typeface="宋体" panose="02010600030101010101" pitchFamily="2" charset="-122"/>
              </a:rPr>
              <a:t>     </a:t>
            </a:r>
            <a:r>
              <a:rPr lang="en-US" altLang="zh-CN" b="1">
                <a:latin typeface="宋体" panose="02010600030101010101" pitchFamily="2" charset="-122"/>
              </a:rPr>
              <a:t>.def   start       </a:t>
            </a:r>
            <a:r>
              <a:rPr lang="zh-CN" altLang="en-US" b="1">
                <a:latin typeface="宋体" panose="02010600030101010101" pitchFamily="2" charset="-122"/>
              </a:rPr>
              <a:t>；定义语句标号</a:t>
            </a:r>
            <a:r>
              <a:rPr lang="en-US" altLang="zh-CN" b="1">
                <a:latin typeface="宋体" panose="02010600030101010101" pitchFamily="2" charset="-122"/>
              </a:rPr>
              <a:t>start</a:t>
            </a:r>
            <a:endParaRPr lang="en-US" altLang="zh-CN" b="1"/>
          </a:p>
          <a:p>
            <a:pPr algn="just">
              <a:lnSpc>
                <a:spcPct val="85000"/>
              </a:lnSpc>
              <a:spcBef>
                <a:spcPct val="10000"/>
              </a:spcBef>
            </a:pPr>
            <a:r>
              <a:rPr lang="en-US" altLang="zh-CN" b="1">
                <a:latin typeface="宋体" panose="02010600030101010101" pitchFamily="2" charset="-122"/>
              </a:rPr>
              <a:t>     </a:t>
            </a:r>
            <a:r>
              <a:rPr lang="en-US" altLang="zh-CN" b="1">
                <a:solidFill>
                  <a:schemeClr val="tx2"/>
                </a:solidFill>
                <a:latin typeface="宋体" panose="02010600030101010101" pitchFamily="2" charset="-122"/>
              </a:rPr>
              <a:t>.bss   y,1         </a:t>
            </a:r>
            <a:r>
              <a:rPr lang="zh-CN" altLang="en-US" b="1">
                <a:solidFill>
                  <a:schemeClr val="tx2"/>
                </a:solidFill>
                <a:latin typeface="宋体" panose="02010600030101010101" pitchFamily="2" charset="-122"/>
              </a:rPr>
              <a:t>；为结果</a:t>
            </a:r>
            <a:r>
              <a:rPr lang="en-US" altLang="zh-CN" b="1">
                <a:solidFill>
                  <a:schemeClr val="tx2"/>
                </a:solidFill>
                <a:latin typeface="宋体" panose="02010600030101010101" pitchFamily="2" charset="-122"/>
              </a:rPr>
              <a:t>y</a:t>
            </a:r>
            <a:r>
              <a:rPr lang="zh-CN" altLang="en-US" b="1">
                <a:solidFill>
                  <a:schemeClr val="tx2"/>
                </a:solidFill>
                <a:latin typeface="宋体" panose="02010600030101010101" pitchFamily="2" charset="-122"/>
              </a:rPr>
              <a:t>预留</a:t>
            </a:r>
            <a:r>
              <a:rPr lang="en-US" altLang="zh-CN" b="1">
                <a:solidFill>
                  <a:schemeClr val="tx2"/>
                </a:solidFill>
                <a:latin typeface="宋体" panose="02010600030101010101" pitchFamily="2" charset="-122"/>
              </a:rPr>
              <a:t>1</a:t>
            </a:r>
            <a:r>
              <a:rPr lang="zh-CN" altLang="en-US" b="1">
                <a:solidFill>
                  <a:schemeClr val="tx2"/>
                </a:solidFill>
                <a:latin typeface="宋体" panose="02010600030101010101" pitchFamily="2" charset="-122"/>
              </a:rPr>
              <a:t>个单元的空间</a:t>
            </a:r>
            <a:endParaRPr lang="zh-CN" altLang="en-US" b="1">
              <a:solidFill>
                <a:schemeClr val="tx2"/>
              </a:solidFill>
            </a:endParaRPr>
          </a:p>
          <a:p>
            <a:pPr algn="just">
              <a:lnSpc>
                <a:spcPct val="85000"/>
              </a:lnSpc>
              <a:spcBef>
                <a:spcPct val="10000"/>
              </a:spcBef>
            </a:pPr>
            <a:r>
              <a:rPr lang="en-US" altLang="zh-CN" b="1">
                <a:solidFill>
                  <a:srgbClr val="FF00FF"/>
                </a:solidFill>
                <a:latin typeface="宋体" panose="02010600030101010101" pitchFamily="2" charset="-122"/>
              </a:rPr>
              <a:t>XN   .usect </a:t>
            </a:r>
            <a:r>
              <a:rPr lang="en-US" altLang="zh-CN" b="1">
                <a:solidFill>
                  <a:srgbClr val="FF00FF"/>
                </a:solidFill>
              </a:rPr>
              <a:t>“</a:t>
            </a:r>
            <a:r>
              <a:rPr lang="en-US" altLang="zh-CN" b="1">
                <a:solidFill>
                  <a:srgbClr val="FF00FF"/>
                </a:solidFill>
                <a:latin typeface="宋体" panose="02010600030101010101" pitchFamily="2" charset="-122"/>
              </a:rPr>
              <a:t>XN</a:t>
            </a:r>
            <a:r>
              <a:rPr lang="en-US" altLang="zh-CN" b="1">
                <a:solidFill>
                  <a:srgbClr val="FF00FF"/>
                </a:solidFill>
              </a:rPr>
              <a:t>”</a:t>
            </a:r>
            <a:r>
              <a:rPr lang="en-US" altLang="zh-CN" b="1">
                <a:solidFill>
                  <a:srgbClr val="FF00FF"/>
                </a:solidFill>
                <a:latin typeface="宋体" panose="02010600030101010101" pitchFamily="2" charset="-122"/>
              </a:rPr>
              <a:t>,1      </a:t>
            </a:r>
            <a:r>
              <a:rPr lang="zh-CN" altLang="en-US" b="1">
                <a:solidFill>
                  <a:srgbClr val="FF00FF"/>
                </a:solidFill>
                <a:latin typeface="宋体" panose="02010600030101010101" pitchFamily="2" charset="-122"/>
              </a:rPr>
              <a:t>；在自定义的未初始化段</a:t>
            </a:r>
            <a:r>
              <a:rPr lang="zh-CN" altLang="en-US" b="1">
                <a:solidFill>
                  <a:srgbClr val="FF00FF"/>
                </a:solidFill>
              </a:rPr>
              <a:t>“</a:t>
            </a:r>
            <a:r>
              <a:rPr lang="en-US" altLang="zh-CN" b="1">
                <a:solidFill>
                  <a:srgbClr val="FF00FF"/>
                </a:solidFill>
                <a:latin typeface="宋体" panose="02010600030101010101" pitchFamily="2" charset="-122"/>
              </a:rPr>
              <a:t>XN</a:t>
            </a:r>
            <a:r>
              <a:rPr lang="en-US" altLang="zh-CN" b="1">
                <a:solidFill>
                  <a:srgbClr val="FF00FF"/>
                </a:solidFill>
              </a:rPr>
              <a:t>”</a:t>
            </a:r>
          </a:p>
          <a:p>
            <a:pPr algn="just">
              <a:lnSpc>
                <a:spcPct val="85000"/>
              </a:lnSpc>
              <a:spcBef>
                <a:spcPct val="10000"/>
              </a:spcBef>
            </a:pPr>
            <a:r>
              <a:rPr lang="en-US" altLang="zh-CN" b="1">
                <a:solidFill>
                  <a:srgbClr val="FF00FF"/>
                </a:solidFill>
                <a:latin typeface="宋体" panose="02010600030101010101" pitchFamily="2" charset="-122"/>
              </a:rPr>
              <a:t>XNM1 .usect </a:t>
            </a:r>
            <a:r>
              <a:rPr lang="en-US" altLang="zh-CN" b="1">
                <a:solidFill>
                  <a:srgbClr val="FF00FF"/>
                </a:solidFill>
              </a:rPr>
              <a:t>“</a:t>
            </a:r>
            <a:r>
              <a:rPr lang="en-US" altLang="zh-CN" b="1">
                <a:solidFill>
                  <a:srgbClr val="FF00FF"/>
                </a:solidFill>
                <a:latin typeface="宋体" panose="02010600030101010101" pitchFamily="2" charset="-122"/>
              </a:rPr>
              <a:t>XN</a:t>
            </a:r>
            <a:r>
              <a:rPr lang="en-US" altLang="zh-CN" b="1">
                <a:solidFill>
                  <a:srgbClr val="FF00FF"/>
                </a:solidFill>
              </a:rPr>
              <a:t>”</a:t>
            </a:r>
            <a:r>
              <a:rPr lang="en-US" altLang="zh-CN" b="1">
                <a:solidFill>
                  <a:srgbClr val="FF00FF"/>
                </a:solidFill>
                <a:latin typeface="宋体" panose="02010600030101010101" pitchFamily="2" charset="-122"/>
              </a:rPr>
              <a:t>,1</a:t>
            </a:r>
            <a:r>
              <a:rPr lang="en-US" altLang="zh-CN" b="1">
                <a:latin typeface="宋体" panose="02010600030101010101" pitchFamily="2" charset="-122"/>
              </a:rPr>
              <a:t>      </a:t>
            </a:r>
            <a:r>
              <a:rPr lang="zh-CN" altLang="en-US" b="1">
                <a:latin typeface="宋体" panose="02010600030101010101" pitchFamily="2" charset="-122"/>
              </a:rPr>
              <a:t>；中保留</a:t>
            </a:r>
            <a:r>
              <a:rPr lang="en-US" altLang="zh-CN" b="1">
                <a:latin typeface="宋体" panose="02010600030101010101" pitchFamily="2" charset="-122"/>
              </a:rPr>
              <a:t>5</a:t>
            </a:r>
            <a:r>
              <a:rPr lang="zh-CN" altLang="en-US" b="1">
                <a:latin typeface="宋体" panose="02010600030101010101" pitchFamily="2" charset="-122"/>
              </a:rPr>
              <a:t>个单元的空间</a:t>
            </a:r>
            <a:endParaRPr lang="zh-CN" altLang="en-US" b="1"/>
          </a:p>
          <a:p>
            <a:pPr algn="just">
              <a:lnSpc>
                <a:spcPct val="85000"/>
              </a:lnSpc>
              <a:spcBef>
                <a:spcPct val="10000"/>
              </a:spcBef>
            </a:pPr>
            <a:r>
              <a:rPr lang="en-US" altLang="zh-CN" b="1">
                <a:solidFill>
                  <a:srgbClr val="FF00FF"/>
                </a:solidFill>
                <a:latin typeface="宋体" panose="02010600030101010101" pitchFamily="2" charset="-122"/>
              </a:rPr>
              <a:t>XNM2 .usect </a:t>
            </a:r>
            <a:r>
              <a:rPr lang="en-US" altLang="zh-CN" b="1">
                <a:solidFill>
                  <a:srgbClr val="FF00FF"/>
                </a:solidFill>
              </a:rPr>
              <a:t>“</a:t>
            </a:r>
            <a:r>
              <a:rPr lang="en-US" altLang="zh-CN" b="1">
                <a:solidFill>
                  <a:srgbClr val="FF00FF"/>
                </a:solidFill>
                <a:latin typeface="宋体" panose="02010600030101010101" pitchFamily="2" charset="-122"/>
              </a:rPr>
              <a:t>XN</a:t>
            </a:r>
            <a:r>
              <a:rPr lang="en-US" altLang="zh-CN" b="1">
                <a:solidFill>
                  <a:srgbClr val="FF00FF"/>
                </a:solidFill>
              </a:rPr>
              <a:t>”</a:t>
            </a:r>
            <a:r>
              <a:rPr lang="en-US" altLang="zh-CN" b="1">
                <a:solidFill>
                  <a:srgbClr val="FF00FF"/>
                </a:solidFill>
                <a:latin typeface="宋体" panose="02010600030101010101" pitchFamily="2" charset="-122"/>
              </a:rPr>
              <a:t>,1</a:t>
            </a:r>
            <a:endParaRPr lang="en-US" altLang="zh-CN" b="1">
              <a:solidFill>
                <a:srgbClr val="FF00FF"/>
              </a:solidFill>
            </a:endParaRPr>
          </a:p>
          <a:p>
            <a:pPr algn="just">
              <a:lnSpc>
                <a:spcPct val="85000"/>
              </a:lnSpc>
              <a:spcBef>
                <a:spcPct val="10000"/>
              </a:spcBef>
            </a:pPr>
            <a:r>
              <a:rPr lang="en-US" altLang="zh-CN" b="1">
                <a:solidFill>
                  <a:srgbClr val="FF00FF"/>
                </a:solidFill>
                <a:latin typeface="宋体" panose="02010600030101010101" pitchFamily="2" charset="-122"/>
              </a:rPr>
              <a:t>XNM3 .usect </a:t>
            </a:r>
            <a:r>
              <a:rPr lang="en-US" altLang="zh-CN" b="1">
                <a:solidFill>
                  <a:srgbClr val="FF00FF"/>
                </a:solidFill>
              </a:rPr>
              <a:t>“</a:t>
            </a:r>
            <a:r>
              <a:rPr lang="en-US" altLang="zh-CN" b="1">
                <a:solidFill>
                  <a:srgbClr val="FF00FF"/>
                </a:solidFill>
                <a:latin typeface="宋体" panose="02010600030101010101" pitchFamily="2" charset="-122"/>
              </a:rPr>
              <a:t>XN</a:t>
            </a:r>
            <a:r>
              <a:rPr lang="en-US" altLang="zh-CN" b="1">
                <a:solidFill>
                  <a:srgbClr val="FF00FF"/>
                </a:solidFill>
              </a:rPr>
              <a:t>”</a:t>
            </a:r>
            <a:r>
              <a:rPr lang="en-US" altLang="zh-CN" b="1">
                <a:solidFill>
                  <a:srgbClr val="FF00FF"/>
                </a:solidFill>
                <a:latin typeface="宋体" panose="02010600030101010101" pitchFamily="2" charset="-122"/>
              </a:rPr>
              <a:t>,1 </a:t>
            </a:r>
            <a:endParaRPr lang="en-US" altLang="zh-CN" b="1">
              <a:solidFill>
                <a:srgbClr val="FF00FF"/>
              </a:solidFill>
            </a:endParaRPr>
          </a:p>
          <a:p>
            <a:pPr algn="just">
              <a:lnSpc>
                <a:spcPct val="85000"/>
              </a:lnSpc>
              <a:spcBef>
                <a:spcPct val="10000"/>
              </a:spcBef>
            </a:pPr>
            <a:r>
              <a:rPr lang="en-US" altLang="zh-CN" b="1">
                <a:solidFill>
                  <a:srgbClr val="FF00FF"/>
                </a:solidFill>
                <a:latin typeface="宋体" panose="02010600030101010101" pitchFamily="2" charset="-122"/>
              </a:rPr>
              <a:t>XNM4 .usect </a:t>
            </a:r>
            <a:r>
              <a:rPr lang="en-US" altLang="zh-CN" b="1">
                <a:solidFill>
                  <a:srgbClr val="FF00FF"/>
                </a:solidFill>
              </a:rPr>
              <a:t>“</a:t>
            </a:r>
            <a:r>
              <a:rPr lang="en-US" altLang="zh-CN" b="1">
                <a:solidFill>
                  <a:srgbClr val="FF00FF"/>
                </a:solidFill>
                <a:latin typeface="宋体" panose="02010600030101010101" pitchFamily="2" charset="-122"/>
              </a:rPr>
              <a:t>XN</a:t>
            </a:r>
            <a:r>
              <a:rPr lang="en-US" altLang="zh-CN" b="1">
                <a:solidFill>
                  <a:srgbClr val="FF00FF"/>
                </a:solidFill>
              </a:rPr>
              <a:t>”</a:t>
            </a:r>
            <a:r>
              <a:rPr lang="en-US" altLang="zh-CN" b="1">
                <a:solidFill>
                  <a:srgbClr val="FF00FF"/>
                </a:solidFill>
                <a:latin typeface="宋体" panose="02010600030101010101" pitchFamily="2" charset="-122"/>
              </a:rPr>
              <a:t>,1</a:t>
            </a:r>
            <a:endParaRPr lang="en-US" altLang="zh-CN" b="1">
              <a:solidFill>
                <a:srgbClr val="FF00FF"/>
              </a:solidFill>
            </a:endParaRPr>
          </a:p>
          <a:p>
            <a:pPr algn="just">
              <a:lnSpc>
                <a:spcPct val="85000"/>
              </a:lnSpc>
              <a:spcBef>
                <a:spcPct val="10000"/>
              </a:spcBef>
            </a:pPr>
            <a:r>
              <a:rPr lang="en-US" altLang="zh-CN" b="1">
                <a:solidFill>
                  <a:schemeClr val="tx2"/>
                </a:solidFill>
                <a:latin typeface="宋体" panose="02010600030101010101" pitchFamily="2" charset="-122"/>
              </a:rPr>
              <a:t>A0   .usect </a:t>
            </a:r>
            <a:r>
              <a:rPr lang="en-US" altLang="zh-CN" b="1">
                <a:solidFill>
                  <a:schemeClr val="tx2"/>
                </a:solidFill>
              </a:rPr>
              <a:t>“</a:t>
            </a:r>
            <a:r>
              <a:rPr lang="en-US" altLang="zh-CN" b="1">
                <a:solidFill>
                  <a:schemeClr val="tx2"/>
                </a:solidFill>
                <a:latin typeface="宋体" panose="02010600030101010101" pitchFamily="2" charset="-122"/>
              </a:rPr>
              <a:t>A0</a:t>
            </a:r>
            <a:r>
              <a:rPr lang="en-US" altLang="zh-CN" b="1">
                <a:solidFill>
                  <a:schemeClr val="tx2"/>
                </a:solidFill>
              </a:rPr>
              <a:t>”</a:t>
            </a:r>
            <a:r>
              <a:rPr lang="en-US" altLang="zh-CN" b="1">
                <a:solidFill>
                  <a:schemeClr val="tx2"/>
                </a:solidFill>
                <a:latin typeface="宋体" panose="02010600030101010101" pitchFamily="2" charset="-122"/>
              </a:rPr>
              <a:t>,1      </a:t>
            </a:r>
            <a:r>
              <a:rPr lang="zh-CN" altLang="en-US" b="1">
                <a:solidFill>
                  <a:schemeClr val="tx2"/>
                </a:solidFill>
                <a:latin typeface="宋体" panose="02010600030101010101" pitchFamily="2" charset="-122"/>
              </a:rPr>
              <a:t>；在自定义的未初始化段</a:t>
            </a:r>
            <a:r>
              <a:rPr lang="zh-CN" altLang="en-US" b="1">
                <a:solidFill>
                  <a:schemeClr val="tx2"/>
                </a:solidFill>
              </a:rPr>
              <a:t>“</a:t>
            </a:r>
            <a:r>
              <a:rPr lang="en-US" altLang="zh-CN" b="1">
                <a:solidFill>
                  <a:schemeClr val="tx2"/>
                </a:solidFill>
                <a:latin typeface="宋体" panose="02010600030101010101" pitchFamily="2" charset="-122"/>
              </a:rPr>
              <a:t>A0</a:t>
            </a:r>
            <a:r>
              <a:rPr lang="en-US" altLang="zh-CN" b="1">
                <a:solidFill>
                  <a:schemeClr val="tx2"/>
                </a:solidFill>
              </a:rPr>
              <a:t>”</a:t>
            </a:r>
          </a:p>
          <a:p>
            <a:pPr algn="just">
              <a:lnSpc>
                <a:spcPct val="85000"/>
              </a:lnSpc>
              <a:spcBef>
                <a:spcPct val="10000"/>
              </a:spcBef>
            </a:pPr>
            <a:r>
              <a:rPr lang="en-US" altLang="zh-CN" b="1">
                <a:solidFill>
                  <a:schemeClr val="tx2"/>
                </a:solidFill>
                <a:latin typeface="宋体" panose="02010600030101010101" pitchFamily="2" charset="-122"/>
              </a:rPr>
              <a:t>A1   .usect </a:t>
            </a:r>
            <a:r>
              <a:rPr lang="en-US" altLang="zh-CN" b="1">
                <a:solidFill>
                  <a:schemeClr val="tx2"/>
                </a:solidFill>
              </a:rPr>
              <a:t>“</a:t>
            </a:r>
            <a:r>
              <a:rPr lang="en-US" altLang="zh-CN" b="1">
                <a:solidFill>
                  <a:schemeClr val="tx2"/>
                </a:solidFill>
                <a:latin typeface="宋体" panose="02010600030101010101" pitchFamily="2" charset="-122"/>
              </a:rPr>
              <a:t>A0</a:t>
            </a:r>
            <a:r>
              <a:rPr lang="en-US" altLang="zh-CN" b="1">
                <a:solidFill>
                  <a:schemeClr val="tx2"/>
                </a:solidFill>
              </a:rPr>
              <a:t>”</a:t>
            </a:r>
            <a:r>
              <a:rPr lang="en-US" altLang="zh-CN" b="1">
                <a:solidFill>
                  <a:schemeClr val="tx2"/>
                </a:solidFill>
                <a:latin typeface="宋体" panose="02010600030101010101" pitchFamily="2" charset="-122"/>
              </a:rPr>
              <a:t>,1</a:t>
            </a:r>
            <a:r>
              <a:rPr lang="en-US" altLang="zh-CN" b="1">
                <a:latin typeface="宋体" panose="02010600030101010101" pitchFamily="2" charset="-122"/>
              </a:rPr>
              <a:t>      </a:t>
            </a:r>
            <a:r>
              <a:rPr lang="zh-CN" altLang="en-US" b="1">
                <a:latin typeface="宋体" panose="02010600030101010101" pitchFamily="2" charset="-122"/>
              </a:rPr>
              <a:t>；中保留</a:t>
            </a:r>
            <a:r>
              <a:rPr lang="en-US" altLang="zh-CN" b="1">
                <a:latin typeface="宋体" panose="02010600030101010101" pitchFamily="2" charset="-122"/>
              </a:rPr>
              <a:t>5</a:t>
            </a:r>
            <a:r>
              <a:rPr lang="zh-CN" altLang="en-US" b="1">
                <a:latin typeface="宋体" panose="02010600030101010101" pitchFamily="2" charset="-122"/>
              </a:rPr>
              <a:t>个单元的空间</a:t>
            </a:r>
            <a:endParaRPr lang="zh-CN" altLang="en-US" b="1"/>
          </a:p>
          <a:p>
            <a:pPr algn="just">
              <a:lnSpc>
                <a:spcPct val="85000"/>
              </a:lnSpc>
              <a:spcBef>
                <a:spcPct val="10000"/>
              </a:spcBef>
            </a:pPr>
            <a:r>
              <a:rPr lang="en-US" altLang="zh-CN" b="1">
                <a:solidFill>
                  <a:schemeClr val="tx2"/>
                </a:solidFill>
                <a:latin typeface="宋体" panose="02010600030101010101" pitchFamily="2" charset="-122"/>
              </a:rPr>
              <a:t>A2   .usect </a:t>
            </a:r>
            <a:r>
              <a:rPr lang="en-US" altLang="zh-CN" b="1">
                <a:solidFill>
                  <a:schemeClr val="tx2"/>
                </a:solidFill>
              </a:rPr>
              <a:t>“</a:t>
            </a:r>
            <a:r>
              <a:rPr lang="en-US" altLang="zh-CN" b="1">
                <a:solidFill>
                  <a:schemeClr val="tx2"/>
                </a:solidFill>
                <a:latin typeface="宋体" panose="02010600030101010101" pitchFamily="2" charset="-122"/>
              </a:rPr>
              <a:t>A0</a:t>
            </a:r>
            <a:r>
              <a:rPr lang="en-US" altLang="zh-CN" b="1">
                <a:solidFill>
                  <a:schemeClr val="tx2"/>
                </a:solidFill>
              </a:rPr>
              <a:t>”</a:t>
            </a:r>
            <a:r>
              <a:rPr lang="en-US" altLang="zh-CN" b="1">
                <a:solidFill>
                  <a:schemeClr val="tx2"/>
                </a:solidFill>
                <a:latin typeface="宋体" panose="02010600030101010101" pitchFamily="2" charset="-122"/>
              </a:rPr>
              <a:t>,1</a:t>
            </a:r>
            <a:endParaRPr lang="en-US" altLang="zh-CN" b="1">
              <a:solidFill>
                <a:schemeClr val="tx2"/>
              </a:solidFill>
            </a:endParaRPr>
          </a:p>
          <a:p>
            <a:pPr algn="just">
              <a:lnSpc>
                <a:spcPct val="85000"/>
              </a:lnSpc>
              <a:spcBef>
                <a:spcPct val="10000"/>
              </a:spcBef>
            </a:pPr>
            <a:r>
              <a:rPr lang="en-US" altLang="zh-CN" b="1">
                <a:solidFill>
                  <a:schemeClr val="tx2"/>
                </a:solidFill>
                <a:latin typeface="宋体" panose="02010600030101010101" pitchFamily="2" charset="-122"/>
              </a:rPr>
              <a:t>A3   .usect </a:t>
            </a:r>
            <a:r>
              <a:rPr lang="en-US" altLang="zh-CN" b="1">
                <a:solidFill>
                  <a:schemeClr val="tx2"/>
                </a:solidFill>
              </a:rPr>
              <a:t>“</a:t>
            </a:r>
            <a:r>
              <a:rPr lang="en-US" altLang="zh-CN" b="1">
                <a:solidFill>
                  <a:schemeClr val="tx2"/>
                </a:solidFill>
                <a:latin typeface="宋体" panose="02010600030101010101" pitchFamily="2" charset="-122"/>
              </a:rPr>
              <a:t>A0</a:t>
            </a:r>
            <a:r>
              <a:rPr lang="en-US" altLang="zh-CN" b="1">
                <a:solidFill>
                  <a:schemeClr val="tx2"/>
                </a:solidFill>
              </a:rPr>
              <a:t>”</a:t>
            </a:r>
            <a:r>
              <a:rPr lang="en-US" altLang="zh-CN" b="1">
                <a:solidFill>
                  <a:schemeClr val="tx2"/>
                </a:solidFill>
                <a:latin typeface="宋体" panose="02010600030101010101" pitchFamily="2" charset="-122"/>
              </a:rPr>
              <a:t>,1</a:t>
            </a:r>
            <a:endParaRPr lang="en-US" altLang="zh-CN" b="1">
              <a:solidFill>
                <a:schemeClr val="tx2"/>
              </a:solidFill>
            </a:endParaRPr>
          </a:p>
          <a:p>
            <a:pPr algn="just">
              <a:lnSpc>
                <a:spcPct val="85000"/>
              </a:lnSpc>
              <a:spcBef>
                <a:spcPct val="10000"/>
              </a:spcBef>
            </a:pPr>
            <a:r>
              <a:rPr lang="en-US" altLang="zh-CN" b="1">
                <a:solidFill>
                  <a:schemeClr val="tx2"/>
                </a:solidFill>
                <a:latin typeface="宋体" panose="02010600030101010101" pitchFamily="2" charset="-122"/>
              </a:rPr>
              <a:t>A4   .usect </a:t>
            </a:r>
            <a:r>
              <a:rPr lang="en-US" altLang="zh-CN" b="1">
                <a:solidFill>
                  <a:schemeClr val="tx2"/>
                </a:solidFill>
              </a:rPr>
              <a:t>“</a:t>
            </a:r>
            <a:r>
              <a:rPr lang="en-US" altLang="zh-CN" b="1">
                <a:solidFill>
                  <a:schemeClr val="tx2"/>
                </a:solidFill>
                <a:latin typeface="宋体" panose="02010600030101010101" pitchFamily="2" charset="-122"/>
              </a:rPr>
              <a:t>A0</a:t>
            </a:r>
            <a:r>
              <a:rPr lang="en-US" altLang="zh-CN" b="1">
                <a:solidFill>
                  <a:schemeClr val="tx2"/>
                </a:solidFill>
              </a:rPr>
              <a:t>”</a:t>
            </a:r>
            <a:r>
              <a:rPr lang="en-US" altLang="zh-CN" b="1">
                <a:solidFill>
                  <a:schemeClr val="tx2"/>
                </a:solidFill>
                <a:latin typeface="宋体" panose="02010600030101010101" pitchFamily="2" charset="-122"/>
              </a:rPr>
              <a:t>,1</a:t>
            </a:r>
            <a:endParaRPr lang="en-US" altLang="zh-CN" b="1">
              <a:solidFill>
                <a:schemeClr val="tx2"/>
              </a:solidFill>
            </a:endParaRPr>
          </a:p>
          <a:p>
            <a:pPr algn="just">
              <a:lnSpc>
                <a:spcPct val="85000"/>
              </a:lnSpc>
              <a:spcBef>
                <a:spcPct val="10000"/>
              </a:spcBef>
            </a:pPr>
            <a:r>
              <a:rPr lang="en-US" altLang="zh-CN" b="1">
                <a:solidFill>
                  <a:srgbClr val="FF6600"/>
                </a:solidFill>
                <a:latin typeface="宋体" panose="02010600030101010101" pitchFamily="2" charset="-122"/>
              </a:rPr>
              <a:t>PA0  .set   0           </a:t>
            </a:r>
            <a:r>
              <a:rPr lang="zh-CN" altLang="en-US" b="1">
                <a:solidFill>
                  <a:srgbClr val="FF6600"/>
                </a:solidFill>
                <a:latin typeface="宋体" panose="02010600030101010101" pitchFamily="2" charset="-122"/>
              </a:rPr>
              <a:t>；定义</a:t>
            </a:r>
            <a:r>
              <a:rPr lang="en-US" altLang="zh-CN" b="1">
                <a:solidFill>
                  <a:srgbClr val="FF6600"/>
                </a:solidFill>
                <a:latin typeface="宋体" panose="02010600030101010101" pitchFamily="2" charset="-122"/>
              </a:rPr>
              <a:t>PA0</a:t>
            </a:r>
            <a:r>
              <a:rPr lang="zh-CN" altLang="en-US" b="1">
                <a:solidFill>
                  <a:srgbClr val="FF6600"/>
                </a:solidFill>
                <a:latin typeface="宋体" panose="02010600030101010101" pitchFamily="2" charset="-122"/>
              </a:rPr>
              <a:t>为输出端口</a:t>
            </a:r>
            <a:endParaRPr lang="zh-CN" altLang="en-US" b="1">
              <a:solidFill>
                <a:srgbClr val="FF6600"/>
              </a:solidFill>
            </a:endParaRPr>
          </a:p>
          <a:p>
            <a:pPr algn="just">
              <a:lnSpc>
                <a:spcPct val="85000"/>
              </a:lnSpc>
              <a:spcBef>
                <a:spcPct val="10000"/>
              </a:spcBef>
            </a:pPr>
            <a:r>
              <a:rPr lang="en-US" altLang="zh-CN" b="1">
                <a:solidFill>
                  <a:srgbClr val="FF6600"/>
                </a:solidFill>
                <a:latin typeface="宋体" panose="02010600030101010101" pitchFamily="2" charset="-122"/>
              </a:rPr>
              <a:t>PA1  .set   1           </a:t>
            </a:r>
            <a:r>
              <a:rPr lang="zh-CN" altLang="en-US" b="1">
                <a:solidFill>
                  <a:srgbClr val="FF6600"/>
                </a:solidFill>
                <a:latin typeface="宋体" panose="02010600030101010101" pitchFamily="2" charset="-122"/>
              </a:rPr>
              <a:t>；定义</a:t>
            </a:r>
            <a:r>
              <a:rPr lang="en-US" altLang="zh-CN" b="1">
                <a:solidFill>
                  <a:srgbClr val="FF6600"/>
                </a:solidFill>
                <a:latin typeface="宋体" panose="02010600030101010101" pitchFamily="2" charset="-122"/>
              </a:rPr>
              <a:t>PA1</a:t>
            </a:r>
            <a:r>
              <a:rPr lang="zh-CN" altLang="en-US" b="1">
                <a:solidFill>
                  <a:srgbClr val="FF6600"/>
                </a:solidFill>
                <a:latin typeface="宋体" panose="02010600030101010101" pitchFamily="2" charset="-122"/>
              </a:rPr>
              <a:t>为输入端口</a:t>
            </a:r>
          </a:p>
        </p:txBody>
      </p:sp>
      <p:pic>
        <p:nvPicPr>
          <p:cNvPr id="82949"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50" y="115888"/>
            <a:ext cx="1384300" cy="993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60162"/>
                                        </p:tgtEl>
                                        <p:attrNameLst>
                                          <p:attrName>style.visibility</p:attrName>
                                        </p:attrNameLst>
                                      </p:cBhvr>
                                      <p:to>
                                        <p:strVal val="visible"/>
                                      </p:to>
                                    </p:set>
                                    <p:animEffect transition="in" filter="blinds(horizontal)">
                                      <p:cBhvr>
                                        <p:cTn id="7" dur="500"/>
                                        <p:tgtEl>
                                          <p:spTgt spid="860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026BAA8-2AAA-46E2-81AF-ED666885743B}" type="slidenum">
              <a:rPr lang="en-US" altLang="zh-CN" sz="1400"/>
              <a:pPr eaLnBrk="1" hangingPunct="1"/>
              <a:t>75</a:t>
            </a:fld>
            <a:endParaRPr lang="en-US" altLang="zh-CN" sz="1400"/>
          </a:p>
        </p:txBody>
      </p:sp>
      <p:sp>
        <p:nvSpPr>
          <p:cNvPr id="861186" name="Rectangle 2"/>
          <p:cNvSpPr>
            <a:spLocks noChangeArrowheads="1"/>
          </p:cNvSpPr>
          <p:nvPr/>
        </p:nvSpPr>
        <p:spPr bwMode="auto">
          <a:xfrm>
            <a:off x="381000" y="1066800"/>
            <a:ext cx="83820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t>          .data</a:t>
            </a:r>
          </a:p>
          <a:p>
            <a:pPr algn="just"/>
            <a:r>
              <a:rPr lang="en-US" altLang="zh-CN" b="1"/>
              <a:t>table: .word  1*32768/10   </a:t>
            </a:r>
            <a:r>
              <a:rPr lang="zh-CN" altLang="en-US" b="1"/>
              <a:t>；假定程序空间有五个参数</a:t>
            </a:r>
          </a:p>
          <a:p>
            <a:pPr algn="just"/>
            <a:r>
              <a:rPr lang="zh-CN" altLang="en-US" b="1"/>
              <a:t>          </a:t>
            </a:r>
            <a:r>
              <a:rPr lang="en-US" altLang="zh-CN" b="1"/>
              <a:t>.word  -3*32768/10</a:t>
            </a:r>
          </a:p>
          <a:p>
            <a:pPr algn="just"/>
            <a:r>
              <a:rPr lang="en-US" altLang="zh-CN" b="1"/>
              <a:t>          .word  5*32768/10</a:t>
            </a:r>
          </a:p>
          <a:p>
            <a:pPr algn="just"/>
            <a:r>
              <a:rPr lang="en-US" altLang="zh-CN" b="1"/>
              <a:t>          .word  -3*32768/10</a:t>
            </a:r>
          </a:p>
          <a:p>
            <a:pPr algn="just"/>
            <a:r>
              <a:rPr lang="en-US" altLang="zh-CN" b="1"/>
              <a:t>          .word  1*32768/10</a:t>
            </a:r>
          </a:p>
          <a:p>
            <a:pPr algn="just"/>
            <a:r>
              <a:rPr lang="en-US" altLang="zh-CN" b="1"/>
              <a:t>          .text</a:t>
            </a:r>
          </a:p>
          <a:p>
            <a:pPr algn="just"/>
            <a:r>
              <a:rPr lang="en-US" altLang="zh-CN" b="1"/>
              <a:t>start:  .</a:t>
            </a:r>
            <a:r>
              <a:rPr lang="en-US" altLang="zh-CN" b="1">
                <a:solidFill>
                  <a:schemeClr val="folHlink"/>
                </a:solidFill>
              </a:rPr>
              <a:t>SSBX  FRCT</a:t>
            </a:r>
            <a:r>
              <a:rPr lang="en-US" altLang="zh-CN" b="1"/>
              <a:t>        </a:t>
            </a:r>
            <a:r>
              <a:rPr lang="zh-CN" altLang="en-US" b="1"/>
              <a:t>；设置进行小数相乘</a:t>
            </a:r>
          </a:p>
          <a:p>
            <a:pPr algn="just"/>
            <a:r>
              <a:rPr lang="zh-CN" altLang="en-US" b="1"/>
              <a:t>          </a:t>
            </a:r>
            <a:r>
              <a:rPr lang="en-US" altLang="zh-CN" b="1"/>
              <a:t>STM    #A0,AR1     </a:t>
            </a:r>
            <a:r>
              <a:rPr lang="zh-CN" altLang="en-US" b="1"/>
              <a:t>；</a:t>
            </a:r>
            <a:r>
              <a:rPr lang="zh-CN" altLang="en-US" sz="2000" b="1"/>
              <a:t>将数据空间用于放参数的首地址送</a:t>
            </a:r>
            <a:r>
              <a:rPr lang="en-US" altLang="zh-CN" sz="2000" b="1"/>
              <a:t>AR1</a:t>
            </a:r>
          </a:p>
          <a:p>
            <a:pPr algn="just"/>
            <a:r>
              <a:rPr lang="en-US" altLang="zh-CN" b="1"/>
              <a:t>          </a:t>
            </a:r>
            <a:r>
              <a:rPr lang="en-US" altLang="zh-CN" b="1">
                <a:solidFill>
                  <a:srgbClr val="FF6600"/>
                </a:solidFill>
              </a:rPr>
              <a:t>RPT     #4                </a:t>
            </a:r>
            <a:r>
              <a:rPr lang="zh-CN" altLang="en-US" b="1">
                <a:solidFill>
                  <a:srgbClr val="FF6600"/>
                </a:solidFill>
              </a:rPr>
              <a:t>；重复下条指令</a:t>
            </a:r>
            <a:r>
              <a:rPr lang="en-US" altLang="zh-CN" b="1">
                <a:solidFill>
                  <a:srgbClr val="FF6600"/>
                </a:solidFill>
              </a:rPr>
              <a:t>5</a:t>
            </a:r>
            <a:r>
              <a:rPr lang="zh-CN" altLang="en-US" b="1">
                <a:solidFill>
                  <a:srgbClr val="FF6600"/>
                </a:solidFill>
              </a:rPr>
              <a:t>次传送</a:t>
            </a:r>
          </a:p>
          <a:p>
            <a:pPr algn="just"/>
            <a:r>
              <a:rPr lang="zh-CN" altLang="en-US" b="1">
                <a:solidFill>
                  <a:srgbClr val="FF6600"/>
                </a:solidFill>
              </a:rPr>
              <a:t>          </a:t>
            </a:r>
            <a:r>
              <a:rPr lang="en-US" altLang="zh-CN" b="1">
                <a:solidFill>
                  <a:srgbClr val="FF6600"/>
                </a:solidFill>
              </a:rPr>
              <a:t>MVPD table,*AR1+  </a:t>
            </a:r>
            <a:r>
              <a:rPr lang="zh-CN" altLang="en-US" b="1">
                <a:solidFill>
                  <a:srgbClr val="FF6600"/>
                </a:solidFill>
              </a:rPr>
              <a:t>；传送程序空间的参数到数据空间</a:t>
            </a:r>
          </a:p>
          <a:p>
            <a:pPr algn="just"/>
            <a:r>
              <a:rPr lang="zh-CN" altLang="en-US" b="1"/>
              <a:t>          </a:t>
            </a:r>
            <a:r>
              <a:rPr lang="en-US" altLang="zh-CN" b="1">
                <a:solidFill>
                  <a:srgbClr val="FF00FF"/>
                </a:solidFill>
              </a:rPr>
              <a:t>LD      #XN,DP       </a:t>
            </a:r>
            <a:r>
              <a:rPr lang="zh-CN" altLang="en-US" b="1">
                <a:solidFill>
                  <a:srgbClr val="FF00FF"/>
                </a:solidFill>
              </a:rPr>
              <a:t>；设置数据存储器页指针的起始位置   </a:t>
            </a:r>
          </a:p>
          <a:p>
            <a:pPr algn="just"/>
            <a:r>
              <a:rPr lang="zh-CN" altLang="en-US" b="1">
                <a:solidFill>
                  <a:srgbClr val="FF00FF"/>
                </a:solidFill>
              </a:rPr>
              <a:t>          </a:t>
            </a:r>
            <a:r>
              <a:rPr lang="en-US" altLang="zh-CN" b="1">
                <a:solidFill>
                  <a:srgbClr val="FF00FF"/>
                </a:solidFill>
              </a:rPr>
              <a:t>PORTR  PA1,@XN </a:t>
            </a:r>
            <a:r>
              <a:rPr lang="zh-CN" altLang="en-US" b="1">
                <a:solidFill>
                  <a:srgbClr val="FF00FF"/>
                </a:solidFill>
              </a:rPr>
              <a:t>；</a:t>
            </a:r>
            <a:r>
              <a:rPr lang="zh-CN" altLang="en-US" sz="2000" b="1">
                <a:solidFill>
                  <a:srgbClr val="FF00FF"/>
                </a:solidFill>
              </a:rPr>
              <a:t>从数据输入端口</a:t>
            </a:r>
            <a:r>
              <a:rPr lang="en-US" altLang="zh-CN" sz="2000" b="1">
                <a:solidFill>
                  <a:srgbClr val="FF00FF"/>
                </a:solidFill>
              </a:rPr>
              <a:t>I/O</a:t>
            </a:r>
            <a:r>
              <a:rPr lang="zh-CN" altLang="en-US" sz="2000" b="1">
                <a:solidFill>
                  <a:srgbClr val="FF00FF"/>
                </a:solidFill>
              </a:rPr>
              <a:t>输入最新数据</a:t>
            </a:r>
            <a:r>
              <a:rPr lang="en-US" altLang="zh-CN" sz="2000" b="1">
                <a:solidFill>
                  <a:srgbClr val="FF00FF"/>
                </a:solidFill>
              </a:rPr>
              <a:t>x</a:t>
            </a:r>
            <a:r>
              <a:rPr lang="zh-CN" altLang="en-US" sz="2000" b="1">
                <a:solidFill>
                  <a:srgbClr val="FF00FF"/>
                </a:solidFill>
              </a:rPr>
              <a:t>（</a:t>
            </a:r>
            <a:r>
              <a:rPr lang="en-US" altLang="zh-CN" sz="2000" b="1">
                <a:solidFill>
                  <a:srgbClr val="FF00FF"/>
                </a:solidFill>
              </a:rPr>
              <a:t>n</a:t>
            </a:r>
            <a:r>
              <a:rPr lang="zh-CN" altLang="en-US" sz="2000" b="1">
                <a:solidFill>
                  <a:srgbClr val="FF00FF"/>
                </a:solidFill>
              </a:rPr>
              <a:t>）</a:t>
            </a:r>
          </a:p>
          <a:p>
            <a:pPr algn="just"/>
            <a:r>
              <a:rPr lang="en-US" altLang="zh-CN" b="1"/>
              <a:t>FIR1: </a:t>
            </a:r>
            <a:r>
              <a:rPr lang="en-US" altLang="zh-CN" b="1">
                <a:solidFill>
                  <a:schemeClr val="tx2"/>
                </a:solidFill>
              </a:rPr>
              <a:t>LD     @XNM4,T</a:t>
            </a:r>
            <a:r>
              <a:rPr lang="en-US" altLang="zh-CN" b="1"/>
              <a:t>  </a:t>
            </a:r>
            <a:r>
              <a:rPr lang="zh-CN" altLang="en-US" b="1"/>
              <a:t>；</a:t>
            </a:r>
            <a:r>
              <a:rPr lang="en-US" altLang="zh-CN" b="1"/>
              <a:t>x</a:t>
            </a:r>
            <a:r>
              <a:rPr lang="zh-CN" altLang="en-US" b="1"/>
              <a:t>（</a:t>
            </a:r>
            <a:r>
              <a:rPr lang="en-US" altLang="zh-CN" b="1"/>
              <a:t>n-4</a:t>
            </a:r>
            <a:r>
              <a:rPr lang="zh-CN" altLang="en-US" b="1"/>
              <a:t>）→</a:t>
            </a:r>
            <a:r>
              <a:rPr lang="en-US" altLang="zh-CN" b="1"/>
              <a:t>T</a:t>
            </a:r>
          </a:p>
        </p:txBody>
      </p:sp>
      <p:pic>
        <p:nvPicPr>
          <p:cNvPr id="8397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50" y="115888"/>
            <a:ext cx="1384300" cy="993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61186"/>
                                        </p:tgtEl>
                                        <p:attrNameLst>
                                          <p:attrName>style.visibility</p:attrName>
                                        </p:attrNameLst>
                                      </p:cBhvr>
                                      <p:to>
                                        <p:strVal val="visible"/>
                                      </p:to>
                                    </p:set>
                                    <p:animEffect transition="in" filter="blinds(horizontal)">
                                      <p:cBhvr>
                                        <p:cTn id="7" dur="500"/>
                                        <p:tgtEl>
                                          <p:spTgt spid="861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18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65ACEBD-FA90-4FD5-8542-6C84A856A093}" type="slidenum">
              <a:rPr lang="en-US" altLang="zh-CN" sz="1400"/>
              <a:pPr eaLnBrk="1" hangingPunct="1"/>
              <a:t>76</a:t>
            </a:fld>
            <a:endParaRPr lang="en-US" altLang="zh-CN" sz="1400"/>
          </a:p>
        </p:txBody>
      </p:sp>
      <p:sp>
        <p:nvSpPr>
          <p:cNvPr id="862210" name="Rectangle 2"/>
          <p:cNvSpPr>
            <a:spLocks noChangeArrowheads="1"/>
          </p:cNvSpPr>
          <p:nvPr/>
        </p:nvSpPr>
        <p:spPr bwMode="auto">
          <a:xfrm>
            <a:off x="395288" y="1341438"/>
            <a:ext cx="83820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6198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solidFill>
                  <a:schemeClr val="tx2"/>
                </a:solidFill>
              </a:rPr>
              <a:t>MPY    @A4,A</a:t>
            </a:r>
            <a:r>
              <a:rPr lang="en-US" altLang="zh-CN" b="1"/>
              <a:t>        </a:t>
            </a:r>
            <a:r>
              <a:rPr lang="zh-CN" altLang="en-US" b="1"/>
              <a:t>；</a:t>
            </a:r>
            <a:r>
              <a:rPr lang="en-US" altLang="zh-CN" b="1"/>
              <a:t>a</a:t>
            </a:r>
            <a:r>
              <a:rPr lang="en-US" altLang="zh-CN" b="1" baseline="-30000"/>
              <a:t>4</a:t>
            </a:r>
            <a:r>
              <a:rPr lang="en-US" altLang="zh-CN" b="1"/>
              <a:t>*x</a:t>
            </a:r>
            <a:r>
              <a:rPr lang="zh-CN" altLang="en-US" b="1"/>
              <a:t>（</a:t>
            </a:r>
            <a:r>
              <a:rPr lang="en-US" altLang="zh-CN" b="1"/>
              <a:t>n-4</a:t>
            </a:r>
            <a:r>
              <a:rPr lang="zh-CN" altLang="en-US" b="1"/>
              <a:t>）→</a:t>
            </a:r>
            <a:r>
              <a:rPr lang="en-US" altLang="zh-CN" b="1"/>
              <a:t>A</a:t>
            </a:r>
          </a:p>
          <a:p>
            <a:pPr algn="just" eaLnBrk="1" hangingPunct="1"/>
            <a:r>
              <a:rPr lang="en-US" altLang="zh-CN" b="1">
                <a:solidFill>
                  <a:schemeClr val="tx2"/>
                </a:solidFill>
              </a:rPr>
              <a:t>LTD     @XNM3</a:t>
            </a:r>
            <a:r>
              <a:rPr lang="en-US" altLang="zh-CN" b="1"/>
              <a:t>      </a:t>
            </a:r>
            <a:r>
              <a:rPr lang="zh-CN" altLang="en-US" b="1"/>
              <a:t>；</a:t>
            </a:r>
            <a:r>
              <a:rPr lang="en-US" altLang="zh-CN" b="1"/>
              <a:t>x</a:t>
            </a:r>
            <a:r>
              <a:rPr lang="zh-CN" altLang="en-US" b="1"/>
              <a:t>（</a:t>
            </a:r>
            <a:r>
              <a:rPr lang="en-US" altLang="zh-CN" b="1"/>
              <a:t>n-3</a:t>
            </a:r>
            <a:r>
              <a:rPr lang="zh-CN" altLang="en-US" b="1"/>
              <a:t>）→</a:t>
            </a:r>
            <a:r>
              <a:rPr lang="en-US" altLang="zh-CN" b="1"/>
              <a:t>T,x</a:t>
            </a:r>
            <a:r>
              <a:rPr lang="zh-CN" altLang="en-US" b="1"/>
              <a:t>（</a:t>
            </a:r>
            <a:r>
              <a:rPr lang="en-US" altLang="zh-CN" b="1"/>
              <a:t>n-3</a:t>
            </a:r>
            <a:r>
              <a:rPr lang="zh-CN" altLang="en-US" b="1"/>
              <a:t>）→</a:t>
            </a:r>
            <a:r>
              <a:rPr lang="en-US" altLang="zh-CN" b="1"/>
              <a:t>x</a:t>
            </a:r>
            <a:r>
              <a:rPr lang="zh-CN" altLang="en-US" b="1"/>
              <a:t>（</a:t>
            </a:r>
            <a:r>
              <a:rPr lang="en-US" altLang="zh-CN" b="1"/>
              <a:t>n-4</a:t>
            </a:r>
            <a:r>
              <a:rPr lang="zh-CN" altLang="en-US" b="1"/>
              <a:t>）</a:t>
            </a:r>
          </a:p>
          <a:p>
            <a:pPr algn="just" eaLnBrk="1" hangingPunct="1"/>
            <a:r>
              <a:rPr lang="en-US" altLang="zh-CN" b="1">
                <a:solidFill>
                  <a:srgbClr val="FF00FF"/>
                </a:solidFill>
              </a:rPr>
              <a:t>MAC    @A3,A        </a:t>
            </a:r>
            <a:r>
              <a:rPr lang="zh-CN" altLang="en-US" b="1">
                <a:solidFill>
                  <a:srgbClr val="FF00FF"/>
                </a:solidFill>
              </a:rPr>
              <a:t>；</a:t>
            </a:r>
            <a:r>
              <a:rPr lang="en-US" altLang="zh-CN" b="1">
                <a:solidFill>
                  <a:srgbClr val="FF00FF"/>
                </a:solidFill>
              </a:rPr>
              <a:t>A+a</a:t>
            </a:r>
            <a:r>
              <a:rPr lang="en-US" altLang="zh-CN" b="1" baseline="-30000">
                <a:solidFill>
                  <a:srgbClr val="FF00FF"/>
                </a:solidFill>
              </a:rPr>
              <a:t>3</a:t>
            </a:r>
            <a:r>
              <a:rPr lang="en-US" altLang="zh-CN" b="1">
                <a:solidFill>
                  <a:srgbClr val="FF00FF"/>
                </a:solidFill>
              </a:rPr>
              <a:t>*x</a:t>
            </a:r>
            <a:r>
              <a:rPr lang="zh-CN" altLang="en-US" b="1">
                <a:solidFill>
                  <a:srgbClr val="FF00FF"/>
                </a:solidFill>
              </a:rPr>
              <a:t>（</a:t>
            </a:r>
            <a:r>
              <a:rPr lang="en-US" altLang="zh-CN" b="1">
                <a:solidFill>
                  <a:srgbClr val="FF00FF"/>
                </a:solidFill>
              </a:rPr>
              <a:t>n-3</a:t>
            </a:r>
            <a:r>
              <a:rPr lang="zh-CN" altLang="en-US" b="1">
                <a:solidFill>
                  <a:srgbClr val="FF00FF"/>
                </a:solidFill>
              </a:rPr>
              <a:t>）→</a:t>
            </a:r>
            <a:r>
              <a:rPr lang="en-US" altLang="zh-CN" b="1">
                <a:solidFill>
                  <a:srgbClr val="FF00FF"/>
                </a:solidFill>
              </a:rPr>
              <a:t>A</a:t>
            </a:r>
          </a:p>
          <a:p>
            <a:pPr algn="just" eaLnBrk="1" hangingPunct="1"/>
            <a:r>
              <a:rPr lang="en-US" altLang="zh-CN" b="1">
                <a:solidFill>
                  <a:srgbClr val="FF00FF"/>
                </a:solidFill>
              </a:rPr>
              <a:t>LTD     @XNM2      </a:t>
            </a:r>
            <a:r>
              <a:rPr lang="zh-CN" altLang="en-US" b="1">
                <a:solidFill>
                  <a:srgbClr val="FF00FF"/>
                </a:solidFill>
              </a:rPr>
              <a:t>；</a:t>
            </a:r>
            <a:r>
              <a:rPr lang="en-US" altLang="zh-CN" b="1">
                <a:solidFill>
                  <a:srgbClr val="FF00FF"/>
                </a:solidFill>
              </a:rPr>
              <a:t>x</a:t>
            </a:r>
            <a:r>
              <a:rPr lang="zh-CN" altLang="en-US" b="1">
                <a:solidFill>
                  <a:srgbClr val="FF00FF"/>
                </a:solidFill>
              </a:rPr>
              <a:t>（</a:t>
            </a:r>
            <a:r>
              <a:rPr lang="en-US" altLang="zh-CN" b="1">
                <a:solidFill>
                  <a:srgbClr val="FF00FF"/>
                </a:solidFill>
              </a:rPr>
              <a:t>n-2</a:t>
            </a:r>
            <a:r>
              <a:rPr lang="zh-CN" altLang="en-US" b="1">
                <a:solidFill>
                  <a:srgbClr val="FF00FF"/>
                </a:solidFill>
              </a:rPr>
              <a:t>）→</a:t>
            </a:r>
            <a:r>
              <a:rPr lang="en-US" altLang="zh-CN" b="1">
                <a:solidFill>
                  <a:srgbClr val="FF00FF"/>
                </a:solidFill>
              </a:rPr>
              <a:t>T,x</a:t>
            </a:r>
            <a:r>
              <a:rPr lang="zh-CN" altLang="en-US" b="1">
                <a:solidFill>
                  <a:srgbClr val="FF00FF"/>
                </a:solidFill>
              </a:rPr>
              <a:t>（</a:t>
            </a:r>
            <a:r>
              <a:rPr lang="en-US" altLang="zh-CN" b="1">
                <a:solidFill>
                  <a:srgbClr val="FF00FF"/>
                </a:solidFill>
              </a:rPr>
              <a:t>n-2</a:t>
            </a:r>
            <a:r>
              <a:rPr lang="zh-CN" altLang="en-US" b="1">
                <a:solidFill>
                  <a:srgbClr val="FF00FF"/>
                </a:solidFill>
              </a:rPr>
              <a:t>）→</a:t>
            </a:r>
            <a:r>
              <a:rPr lang="en-US" altLang="zh-CN" b="1">
                <a:solidFill>
                  <a:srgbClr val="FF00FF"/>
                </a:solidFill>
              </a:rPr>
              <a:t>x</a:t>
            </a:r>
            <a:r>
              <a:rPr lang="zh-CN" altLang="en-US" b="1">
                <a:solidFill>
                  <a:srgbClr val="FF00FF"/>
                </a:solidFill>
              </a:rPr>
              <a:t>（</a:t>
            </a:r>
            <a:r>
              <a:rPr lang="en-US" altLang="zh-CN" b="1">
                <a:solidFill>
                  <a:srgbClr val="FF00FF"/>
                </a:solidFill>
              </a:rPr>
              <a:t>n-3</a:t>
            </a:r>
            <a:r>
              <a:rPr lang="zh-CN" altLang="en-US" b="1">
                <a:solidFill>
                  <a:srgbClr val="FF00FF"/>
                </a:solidFill>
              </a:rPr>
              <a:t>）</a:t>
            </a:r>
          </a:p>
          <a:p>
            <a:pPr algn="just" eaLnBrk="1" hangingPunct="1"/>
            <a:r>
              <a:rPr lang="en-US" altLang="zh-CN" b="1">
                <a:solidFill>
                  <a:schemeClr val="folHlink"/>
                </a:solidFill>
              </a:rPr>
              <a:t>MAC    @A2,A        </a:t>
            </a:r>
            <a:r>
              <a:rPr lang="zh-CN" altLang="en-US" b="1">
                <a:solidFill>
                  <a:schemeClr val="folHlink"/>
                </a:solidFill>
              </a:rPr>
              <a:t>；</a:t>
            </a:r>
            <a:r>
              <a:rPr lang="en-US" altLang="zh-CN" b="1">
                <a:solidFill>
                  <a:schemeClr val="folHlink"/>
                </a:solidFill>
              </a:rPr>
              <a:t>A+a</a:t>
            </a:r>
            <a:r>
              <a:rPr lang="en-US" altLang="zh-CN" b="1" baseline="-30000">
                <a:solidFill>
                  <a:schemeClr val="folHlink"/>
                </a:solidFill>
              </a:rPr>
              <a:t>2</a:t>
            </a:r>
            <a:r>
              <a:rPr lang="en-US" altLang="zh-CN" b="1">
                <a:solidFill>
                  <a:schemeClr val="folHlink"/>
                </a:solidFill>
              </a:rPr>
              <a:t>*x</a:t>
            </a:r>
            <a:r>
              <a:rPr lang="zh-CN" altLang="en-US" b="1">
                <a:solidFill>
                  <a:schemeClr val="folHlink"/>
                </a:solidFill>
              </a:rPr>
              <a:t>（</a:t>
            </a:r>
            <a:r>
              <a:rPr lang="en-US" altLang="zh-CN" b="1">
                <a:solidFill>
                  <a:schemeClr val="folHlink"/>
                </a:solidFill>
              </a:rPr>
              <a:t>n-2</a:t>
            </a:r>
            <a:r>
              <a:rPr lang="zh-CN" altLang="en-US" b="1">
                <a:solidFill>
                  <a:schemeClr val="folHlink"/>
                </a:solidFill>
              </a:rPr>
              <a:t>）→</a:t>
            </a:r>
            <a:r>
              <a:rPr lang="en-US" altLang="zh-CN" b="1">
                <a:solidFill>
                  <a:schemeClr val="folHlink"/>
                </a:solidFill>
              </a:rPr>
              <a:t>A</a:t>
            </a:r>
          </a:p>
          <a:p>
            <a:pPr algn="just" eaLnBrk="1" hangingPunct="1"/>
            <a:r>
              <a:rPr lang="en-US" altLang="zh-CN" b="1">
                <a:solidFill>
                  <a:schemeClr val="folHlink"/>
                </a:solidFill>
              </a:rPr>
              <a:t>LTD     @XNM1      </a:t>
            </a:r>
            <a:r>
              <a:rPr lang="zh-CN" altLang="en-US" b="1">
                <a:solidFill>
                  <a:schemeClr val="folHlink"/>
                </a:solidFill>
              </a:rPr>
              <a:t>；</a:t>
            </a:r>
            <a:r>
              <a:rPr lang="en-US" altLang="zh-CN" b="1">
                <a:solidFill>
                  <a:schemeClr val="folHlink"/>
                </a:solidFill>
              </a:rPr>
              <a:t>x</a:t>
            </a:r>
            <a:r>
              <a:rPr lang="zh-CN" altLang="en-US" b="1">
                <a:solidFill>
                  <a:schemeClr val="folHlink"/>
                </a:solidFill>
              </a:rPr>
              <a:t>（</a:t>
            </a:r>
            <a:r>
              <a:rPr lang="en-US" altLang="zh-CN" b="1">
                <a:solidFill>
                  <a:schemeClr val="folHlink"/>
                </a:solidFill>
              </a:rPr>
              <a:t>n-1</a:t>
            </a:r>
            <a:r>
              <a:rPr lang="zh-CN" altLang="en-US" b="1">
                <a:solidFill>
                  <a:schemeClr val="folHlink"/>
                </a:solidFill>
              </a:rPr>
              <a:t>）→</a:t>
            </a:r>
            <a:r>
              <a:rPr lang="en-US" altLang="zh-CN" b="1">
                <a:solidFill>
                  <a:schemeClr val="folHlink"/>
                </a:solidFill>
              </a:rPr>
              <a:t>T,x</a:t>
            </a:r>
            <a:r>
              <a:rPr lang="zh-CN" altLang="en-US" b="1">
                <a:solidFill>
                  <a:schemeClr val="folHlink"/>
                </a:solidFill>
              </a:rPr>
              <a:t>（</a:t>
            </a:r>
            <a:r>
              <a:rPr lang="en-US" altLang="zh-CN" b="1">
                <a:solidFill>
                  <a:schemeClr val="folHlink"/>
                </a:solidFill>
              </a:rPr>
              <a:t>n-1</a:t>
            </a:r>
            <a:r>
              <a:rPr lang="zh-CN" altLang="en-US" b="1">
                <a:solidFill>
                  <a:schemeClr val="folHlink"/>
                </a:solidFill>
              </a:rPr>
              <a:t>）→</a:t>
            </a:r>
            <a:r>
              <a:rPr lang="en-US" altLang="zh-CN" b="1">
                <a:solidFill>
                  <a:schemeClr val="folHlink"/>
                </a:solidFill>
              </a:rPr>
              <a:t>x</a:t>
            </a:r>
            <a:r>
              <a:rPr lang="zh-CN" altLang="en-US" b="1">
                <a:solidFill>
                  <a:schemeClr val="folHlink"/>
                </a:solidFill>
              </a:rPr>
              <a:t>（</a:t>
            </a:r>
            <a:r>
              <a:rPr lang="en-US" altLang="zh-CN" b="1">
                <a:solidFill>
                  <a:schemeClr val="folHlink"/>
                </a:solidFill>
              </a:rPr>
              <a:t>n-2</a:t>
            </a:r>
            <a:r>
              <a:rPr lang="zh-CN" altLang="en-US" b="1">
                <a:solidFill>
                  <a:schemeClr val="folHlink"/>
                </a:solidFill>
              </a:rPr>
              <a:t>）</a:t>
            </a:r>
          </a:p>
          <a:p>
            <a:pPr algn="just" eaLnBrk="1" hangingPunct="1"/>
            <a:r>
              <a:rPr lang="en-US" altLang="zh-CN" b="1">
                <a:solidFill>
                  <a:srgbClr val="FF6600"/>
                </a:solidFill>
              </a:rPr>
              <a:t>MAC    @A1,A        </a:t>
            </a:r>
            <a:r>
              <a:rPr lang="zh-CN" altLang="en-US" b="1">
                <a:solidFill>
                  <a:srgbClr val="FF6600"/>
                </a:solidFill>
              </a:rPr>
              <a:t>；</a:t>
            </a:r>
            <a:r>
              <a:rPr lang="en-US" altLang="zh-CN" b="1">
                <a:solidFill>
                  <a:srgbClr val="FF6600"/>
                </a:solidFill>
              </a:rPr>
              <a:t>A+a</a:t>
            </a:r>
            <a:r>
              <a:rPr lang="en-US" altLang="zh-CN" b="1" baseline="-30000">
                <a:solidFill>
                  <a:srgbClr val="FF6600"/>
                </a:solidFill>
              </a:rPr>
              <a:t>1</a:t>
            </a:r>
            <a:r>
              <a:rPr lang="en-US" altLang="zh-CN" b="1">
                <a:solidFill>
                  <a:srgbClr val="FF6600"/>
                </a:solidFill>
              </a:rPr>
              <a:t>*x</a:t>
            </a:r>
            <a:r>
              <a:rPr lang="zh-CN" altLang="en-US" b="1">
                <a:solidFill>
                  <a:srgbClr val="FF6600"/>
                </a:solidFill>
              </a:rPr>
              <a:t>（</a:t>
            </a:r>
            <a:r>
              <a:rPr lang="en-US" altLang="zh-CN" b="1">
                <a:solidFill>
                  <a:srgbClr val="FF6600"/>
                </a:solidFill>
              </a:rPr>
              <a:t>n-1</a:t>
            </a:r>
            <a:r>
              <a:rPr lang="zh-CN" altLang="en-US" b="1">
                <a:solidFill>
                  <a:srgbClr val="FF6600"/>
                </a:solidFill>
              </a:rPr>
              <a:t>）→</a:t>
            </a:r>
            <a:r>
              <a:rPr lang="en-US" altLang="zh-CN" b="1">
                <a:solidFill>
                  <a:srgbClr val="FF6600"/>
                </a:solidFill>
              </a:rPr>
              <a:t>A</a:t>
            </a:r>
          </a:p>
          <a:p>
            <a:pPr algn="just" eaLnBrk="1" hangingPunct="1"/>
            <a:r>
              <a:rPr lang="en-US" altLang="zh-CN" b="1">
                <a:solidFill>
                  <a:srgbClr val="FF6600"/>
                </a:solidFill>
              </a:rPr>
              <a:t>LTD     @XN           </a:t>
            </a:r>
            <a:r>
              <a:rPr lang="zh-CN" altLang="en-US" b="1">
                <a:solidFill>
                  <a:srgbClr val="FF6600"/>
                </a:solidFill>
              </a:rPr>
              <a:t>；</a:t>
            </a:r>
            <a:r>
              <a:rPr lang="en-US" altLang="zh-CN" b="1">
                <a:solidFill>
                  <a:srgbClr val="FF6600"/>
                </a:solidFill>
              </a:rPr>
              <a:t>x</a:t>
            </a:r>
            <a:r>
              <a:rPr lang="zh-CN" altLang="en-US" b="1">
                <a:solidFill>
                  <a:srgbClr val="FF6600"/>
                </a:solidFill>
              </a:rPr>
              <a:t>（</a:t>
            </a:r>
            <a:r>
              <a:rPr lang="en-US" altLang="zh-CN" b="1">
                <a:solidFill>
                  <a:srgbClr val="FF6600"/>
                </a:solidFill>
              </a:rPr>
              <a:t>n</a:t>
            </a:r>
            <a:r>
              <a:rPr lang="zh-CN" altLang="en-US" b="1">
                <a:solidFill>
                  <a:srgbClr val="FF6600"/>
                </a:solidFill>
              </a:rPr>
              <a:t>）→</a:t>
            </a:r>
            <a:r>
              <a:rPr lang="en-US" altLang="zh-CN" b="1">
                <a:solidFill>
                  <a:srgbClr val="FF6600"/>
                </a:solidFill>
              </a:rPr>
              <a:t>T,x</a:t>
            </a:r>
            <a:r>
              <a:rPr lang="zh-CN" altLang="en-US" b="1">
                <a:solidFill>
                  <a:srgbClr val="FF6600"/>
                </a:solidFill>
              </a:rPr>
              <a:t>（</a:t>
            </a:r>
            <a:r>
              <a:rPr lang="en-US" altLang="zh-CN" b="1">
                <a:solidFill>
                  <a:srgbClr val="FF6600"/>
                </a:solidFill>
              </a:rPr>
              <a:t>n</a:t>
            </a:r>
            <a:r>
              <a:rPr lang="zh-CN" altLang="en-US" b="1">
                <a:solidFill>
                  <a:srgbClr val="FF6600"/>
                </a:solidFill>
              </a:rPr>
              <a:t>）→</a:t>
            </a:r>
            <a:r>
              <a:rPr lang="en-US" altLang="zh-CN" b="1">
                <a:solidFill>
                  <a:srgbClr val="FF6600"/>
                </a:solidFill>
              </a:rPr>
              <a:t>x</a:t>
            </a:r>
            <a:r>
              <a:rPr lang="zh-CN" altLang="en-US" b="1">
                <a:solidFill>
                  <a:srgbClr val="FF6600"/>
                </a:solidFill>
              </a:rPr>
              <a:t>（</a:t>
            </a:r>
            <a:r>
              <a:rPr lang="en-US" altLang="zh-CN" b="1">
                <a:solidFill>
                  <a:srgbClr val="FF6600"/>
                </a:solidFill>
              </a:rPr>
              <a:t>n-1</a:t>
            </a:r>
            <a:r>
              <a:rPr lang="zh-CN" altLang="en-US" b="1">
                <a:solidFill>
                  <a:srgbClr val="FF6600"/>
                </a:solidFill>
              </a:rPr>
              <a:t>）</a:t>
            </a:r>
          </a:p>
          <a:p>
            <a:pPr algn="just" eaLnBrk="1" hangingPunct="1"/>
            <a:r>
              <a:rPr lang="en-US" altLang="zh-CN" b="1">
                <a:solidFill>
                  <a:srgbClr val="FF6600"/>
                </a:solidFill>
              </a:rPr>
              <a:t>MAC    @A0,A        </a:t>
            </a:r>
            <a:r>
              <a:rPr lang="zh-CN" altLang="en-US" b="1">
                <a:solidFill>
                  <a:srgbClr val="FF6600"/>
                </a:solidFill>
              </a:rPr>
              <a:t>；</a:t>
            </a:r>
            <a:r>
              <a:rPr lang="en-US" altLang="zh-CN" b="1">
                <a:solidFill>
                  <a:srgbClr val="FF6600"/>
                </a:solidFill>
              </a:rPr>
              <a:t>A+a</a:t>
            </a:r>
            <a:r>
              <a:rPr lang="en-US" altLang="zh-CN" b="1" baseline="-30000">
                <a:solidFill>
                  <a:srgbClr val="FF6600"/>
                </a:solidFill>
              </a:rPr>
              <a:t>0</a:t>
            </a:r>
            <a:r>
              <a:rPr lang="en-US" altLang="zh-CN" b="1">
                <a:solidFill>
                  <a:srgbClr val="FF6600"/>
                </a:solidFill>
              </a:rPr>
              <a:t>*x</a:t>
            </a:r>
            <a:r>
              <a:rPr lang="zh-CN" altLang="en-US" b="1">
                <a:solidFill>
                  <a:srgbClr val="FF6600"/>
                </a:solidFill>
              </a:rPr>
              <a:t>（</a:t>
            </a:r>
            <a:r>
              <a:rPr lang="en-US" altLang="zh-CN" b="1">
                <a:solidFill>
                  <a:srgbClr val="FF6600"/>
                </a:solidFill>
              </a:rPr>
              <a:t>n</a:t>
            </a:r>
            <a:r>
              <a:rPr lang="zh-CN" altLang="en-US" b="1">
                <a:solidFill>
                  <a:srgbClr val="FF6600"/>
                </a:solidFill>
              </a:rPr>
              <a:t>）→</a:t>
            </a:r>
            <a:r>
              <a:rPr lang="en-US" altLang="zh-CN" b="1">
                <a:solidFill>
                  <a:srgbClr val="FF6600"/>
                </a:solidFill>
              </a:rPr>
              <a:t>A</a:t>
            </a:r>
          </a:p>
          <a:p>
            <a:pPr algn="just" eaLnBrk="1" hangingPunct="1"/>
            <a:r>
              <a:rPr lang="en-US" altLang="zh-CN" b="1"/>
              <a:t>STH     A,@y            </a:t>
            </a:r>
            <a:r>
              <a:rPr lang="zh-CN" altLang="en-US" b="1"/>
              <a:t>；保存</a:t>
            </a:r>
            <a:r>
              <a:rPr lang="en-US" altLang="zh-CN" b="1"/>
              <a:t>y</a:t>
            </a:r>
            <a:r>
              <a:rPr lang="zh-CN" altLang="en-US" b="1"/>
              <a:t>（</a:t>
            </a:r>
            <a:r>
              <a:rPr lang="en-US" altLang="zh-CN" b="1"/>
              <a:t>n</a:t>
            </a:r>
            <a:r>
              <a:rPr lang="zh-CN" altLang="en-US" b="1"/>
              <a:t>）的高字节</a:t>
            </a:r>
          </a:p>
          <a:p>
            <a:pPr algn="just" eaLnBrk="1" hangingPunct="1"/>
            <a:r>
              <a:rPr lang="en-US" altLang="zh-CN" b="1"/>
              <a:t>PORTW   @y,PA0   </a:t>
            </a:r>
            <a:r>
              <a:rPr lang="zh-CN" altLang="en-US" b="1"/>
              <a:t>；输出</a:t>
            </a:r>
            <a:r>
              <a:rPr lang="en-US" altLang="zh-CN" b="1"/>
              <a:t>y</a:t>
            </a:r>
            <a:r>
              <a:rPr lang="zh-CN" altLang="en-US" b="1"/>
              <a:t>（</a:t>
            </a:r>
            <a:r>
              <a:rPr lang="en-US" altLang="zh-CN" b="1"/>
              <a:t>n</a:t>
            </a:r>
            <a:r>
              <a:rPr lang="zh-CN" altLang="en-US" b="1"/>
              <a:t>）</a:t>
            </a:r>
          </a:p>
          <a:p>
            <a:pPr algn="just" eaLnBrk="1" hangingPunct="1"/>
            <a:r>
              <a:rPr lang="en-US" altLang="zh-CN" b="1">
                <a:solidFill>
                  <a:srgbClr val="FF0000"/>
                </a:solidFill>
              </a:rPr>
              <a:t>BD       FIR1             </a:t>
            </a:r>
            <a:r>
              <a:rPr lang="zh-CN" altLang="en-US" b="1">
                <a:solidFill>
                  <a:srgbClr val="FF0000"/>
                </a:solidFill>
              </a:rPr>
              <a:t>；执行完下条指令后循环</a:t>
            </a:r>
          </a:p>
          <a:p>
            <a:pPr algn="just" eaLnBrk="1" hangingPunct="1"/>
            <a:r>
              <a:rPr lang="en-US" altLang="zh-CN" b="1">
                <a:solidFill>
                  <a:srgbClr val="FF0000"/>
                </a:solidFill>
              </a:rPr>
              <a:t>PORTR  PA1,@XN  </a:t>
            </a:r>
            <a:r>
              <a:rPr lang="zh-CN" altLang="en-US" b="1">
                <a:solidFill>
                  <a:srgbClr val="FF0000"/>
                </a:solidFill>
              </a:rPr>
              <a:t>；输入</a:t>
            </a:r>
            <a:r>
              <a:rPr lang="en-US" altLang="zh-CN" b="1">
                <a:solidFill>
                  <a:srgbClr val="FF0000"/>
                </a:solidFill>
              </a:rPr>
              <a:t>x</a:t>
            </a:r>
            <a:r>
              <a:rPr lang="zh-CN" altLang="en-US" b="1">
                <a:solidFill>
                  <a:srgbClr val="FF0000"/>
                </a:solidFill>
              </a:rPr>
              <a:t>（</a:t>
            </a:r>
            <a:r>
              <a:rPr lang="en-US" altLang="zh-CN" b="1">
                <a:solidFill>
                  <a:srgbClr val="FF0000"/>
                </a:solidFill>
              </a:rPr>
              <a:t>n</a:t>
            </a:r>
            <a:r>
              <a:rPr lang="zh-CN" altLang="en-US" b="1">
                <a:solidFill>
                  <a:srgbClr val="FF0000"/>
                </a:solidFill>
              </a:rPr>
              <a:t>）</a:t>
            </a:r>
          </a:p>
          <a:p>
            <a:pPr algn="just" eaLnBrk="1" hangingPunct="1"/>
            <a:r>
              <a:rPr lang="en-US" altLang="zh-CN" b="1"/>
              <a:t>.end</a:t>
            </a:r>
          </a:p>
        </p:txBody>
      </p:sp>
      <p:pic>
        <p:nvPicPr>
          <p:cNvPr id="849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35150" cy="13176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62210"/>
                                        </p:tgtEl>
                                        <p:attrNameLst>
                                          <p:attrName>style.visibility</p:attrName>
                                        </p:attrNameLst>
                                      </p:cBhvr>
                                      <p:to>
                                        <p:strVal val="visible"/>
                                      </p:to>
                                    </p:set>
                                    <p:animEffect transition="in" filter="blinds(horizontal)">
                                      <p:cBhvr>
                                        <p:cTn id="7" dur="500"/>
                                        <p:tgtEl>
                                          <p:spTgt spid="862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1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14C0E62-7FC1-475C-AFF2-75214B5D4009}" type="slidenum">
              <a:rPr lang="en-US" altLang="zh-CN" sz="1400"/>
              <a:pPr eaLnBrk="1" hangingPunct="1"/>
              <a:t>77</a:t>
            </a:fld>
            <a:endParaRPr lang="en-US" altLang="zh-CN" sz="1400"/>
          </a:p>
        </p:txBody>
      </p:sp>
      <p:sp>
        <p:nvSpPr>
          <p:cNvPr id="863234" name="Rectangle 2"/>
          <p:cNvSpPr>
            <a:spLocks noChangeArrowheads="1"/>
          </p:cNvSpPr>
          <p:nvPr/>
        </p:nvSpPr>
        <p:spPr bwMode="auto">
          <a:xfrm>
            <a:off x="179388" y="914400"/>
            <a:ext cx="8785225" cy="564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6198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0000"/>
              </a:spcBef>
            </a:pPr>
            <a:r>
              <a:rPr lang="en-US" altLang="zh-CN" b="1">
                <a:latin typeface="宋体" panose="02010600030101010101" pitchFamily="2" charset="-122"/>
              </a:rPr>
              <a:t>vectors.obj</a:t>
            </a:r>
            <a:endParaRPr lang="en-US" altLang="zh-CN" b="1"/>
          </a:p>
          <a:p>
            <a:pPr algn="just" eaLnBrk="1" hangingPunct="1">
              <a:lnSpc>
                <a:spcPct val="80000"/>
              </a:lnSpc>
              <a:spcBef>
                <a:spcPct val="10000"/>
              </a:spcBef>
            </a:pPr>
            <a:r>
              <a:rPr lang="en-US" altLang="zh-CN" b="1">
                <a:latin typeface="宋体" panose="02010600030101010101" pitchFamily="2" charset="-122"/>
              </a:rPr>
              <a:t>fir1.obj</a:t>
            </a:r>
            <a:endParaRPr lang="en-US" altLang="zh-CN" b="1"/>
          </a:p>
          <a:p>
            <a:pPr algn="just" eaLnBrk="1" hangingPunct="1">
              <a:lnSpc>
                <a:spcPct val="80000"/>
              </a:lnSpc>
              <a:spcBef>
                <a:spcPct val="10000"/>
              </a:spcBef>
            </a:pPr>
            <a:r>
              <a:rPr lang="en-US" altLang="zh-CN" b="1">
                <a:latin typeface="宋体" panose="02010600030101010101" pitchFamily="2" charset="-122"/>
              </a:rPr>
              <a:t>-o fir1.out</a:t>
            </a:r>
            <a:endParaRPr lang="en-US" altLang="zh-CN" b="1"/>
          </a:p>
          <a:p>
            <a:pPr algn="just" eaLnBrk="1" hangingPunct="1">
              <a:lnSpc>
                <a:spcPct val="80000"/>
              </a:lnSpc>
              <a:spcBef>
                <a:spcPct val="10000"/>
              </a:spcBef>
            </a:pPr>
            <a:r>
              <a:rPr lang="en-US" altLang="zh-CN" b="1">
                <a:latin typeface="宋体" panose="02010600030101010101" pitchFamily="2" charset="-122"/>
              </a:rPr>
              <a:t>-m fir1.map</a:t>
            </a:r>
            <a:endParaRPr lang="en-US" altLang="zh-CN" b="1"/>
          </a:p>
          <a:p>
            <a:pPr algn="just" eaLnBrk="1" hangingPunct="1">
              <a:lnSpc>
                <a:spcPct val="80000"/>
              </a:lnSpc>
              <a:spcBef>
                <a:spcPct val="10000"/>
              </a:spcBef>
            </a:pPr>
            <a:r>
              <a:rPr lang="en-US" altLang="zh-CN" b="1">
                <a:latin typeface="宋体" panose="02010600030101010101" pitchFamily="2" charset="-122"/>
              </a:rPr>
              <a:t>-e start</a:t>
            </a:r>
            <a:endParaRPr lang="en-US" altLang="zh-CN" b="1"/>
          </a:p>
          <a:p>
            <a:pPr algn="just" eaLnBrk="1" hangingPunct="1">
              <a:lnSpc>
                <a:spcPct val="80000"/>
              </a:lnSpc>
              <a:spcBef>
                <a:spcPct val="10000"/>
              </a:spcBef>
            </a:pPr>
            <a:r>
              <a:rPr lang="en-US" altLang="zh-CN" b="1">
                <a:latin typeface="宋体" panose="02010600030101010101" pitchFamily="2" charset="-122"/>
              </a:rPr>
              <a:t>MEMORY  {</a:t>
            </a:r>
            <a:endParaRPr lang="en-US" altLang="zh-CN" b="1"/>
          </a:p>
          <a:p>
            <a:pPr algn="just" eaLnBrk="1" hangingPunct="1">
              <a:lnSpc>
                <a:spcPct val="80000"/>
              </a:lnSpc>
              <a:spcBef>
                <a:spcPct val="10000"/>
              </a:spcBef>
            </a:pPr>
            <a:r>
              <a:rPr lang="en-US" altLang="zh-CN" b="1">
                <a:latin typeface="宋体" panose="02010600030101010101" pitchFamily="2" charset="-122"/>
              </a:rPr>
              <a:t>  PAGE 0 :   EPROM:  org=01OOOH  len=01000H</a:t>
            </a:r>
            <a:endParaRPr lang="en-US" altLang="zh-CN" b="1"/>
          </a:p>
          <a:p>
            <a:pPr algn="just" eaLnBrk="1" hangingPunct="1">
              <a:lnSpc>
                <a:spcPct val="80000"/>
              </a:lnSpc>
              <a:spcBef>
                <a:spcPct val="10000"/>
              </a:spcBef>
            </a:pPr>
            <a:r>
              <a:rPr lang="en-US" altLang="zh-CN" b="1">
                <a:latin typeface="宋体" panose="02010600030101010101" pitchFamily="2" charset="-122"/>
              </a:rPr>
              <a:t>             VECS:   org=03F80H  len=00080H</a:t>
            </a:r>
            <a:endParaRPr lang="en-US" altLang="zh-CN" b="1"/>
          </a:p>
          <a:p>
            <a:pPr algn="just" eaLnBrk="1" hangingPunct="1">
              <a:lnSpc>
                <a:spcPct val="80000"/>
              </a:lnSpc>
              <a:spcBef>
                <a:spcPct val="10000"/>
              </a:spcBef>
            </a:pPr>
            <a:r>
              <a:rPr lang="en-US" altLang="zh-CN" b="1">
                <a:latin typeface="宋体" panose="02010600030101010101" pitchFamily="2" charset="-122"/>
              </a:rPr>
              <a:t>  PAGE 1 :   SPRAM:  org=00060H  len=00020H</a:t>
            </a:r>
            <a:endParaRPr lang="en-US" altLang="zh-CN" b="1"/>
          </a:p>
          <a:p>
            <a:pPr algn="just" eaLnBrk="1" hangingPunct="1">
              <a:lnSpc>
                <a:spcPct val="80000"/>
              </a:lnSpc>
              <a:spcBef>
                <a:spcPct val="10000"/>
              </a:spcBef>
            </a:pPr>
            <a:r>
              <a:rPr lang="en-US" altLang="zh-CN" b="1">
                <a:latin typeface="宋体" panose="02010600030101010101" pitchFamily="2" charset="-122"/>
              </a:rPr>
              <a:t>             DARAM:  org=00080H  len=01380H  }</a:t>
            </a:r>
            <a:endParaRPr lang="en-US" altLang="zh-CN" b="1"/>
          </a:p>
          <a:p>
            <a:pPr algn="just" eaLnBrk="1" hangingPunct="1">
              <a:lnSpc>
                <a:spcPct val="80000"/>
              </a:lnSpc>
              <a:spcBef>
                <a:spcPct val="10000"/>
              </a:spcBef>
            </a:pPr>
            <a:r>
              <a:rPr lang="en-US" altLang="zh-CN" b="1">
                <a:latin typeface="宋体" panose="02010600030101010101" pitchFamily="2" charset="-122"/>
              </a:rPr>
              <a:t>SECTIONS {</a:t>
            </a:r>
            <a:endParaRPr lang="en-US" altLang="zh-CN" b="1"/>
          </a:p>
          <a:p>
            <a:pPr algn="just" eaLnBrk="1" hangingPunct="1">
              <a:lnSpc>
                <a:spcPct val="80000"/>
              </a:lnSpc>
              <a:spcBef>
                <a:spcPct val="10000"/>
              </a:spcBef>
            </a:pPr>
            <a:r>
              <a:rPr lang="en-US" altLang="zh-CN" b="1">
                <a:latin typeface="宋体" panose="02010600030101010101" pitchFamily="2" charset="-122"/>
              </a:rPr>
              <a:t>          .vectors:&gt;  VECS    PAGE 0</a:t>
            </a:r>
            <a:endParaRPr lang="en-US" altLang="zh-CN" b="1"/>
          </a:p>
          <a:p>
            <a:pPr algn="just" eaLnBrk="1" hangingPunct="1">
              <a:lnSpc>
                <a:spcPct val="80000"/>
              </a:lnSpc>
              <a:spcBef>
                <a:spcPct val="10000"/>
              </a:spcBef>
            </a:pPr>
            <a:r>
              <a:rPr lang="en-US" altLang="zh-CN" b="1">
                <a:latin typeface="宋体" panose="02010600030101010101" pitchFamily="2" charset="-122"/>
              </a:rPr>
              <a:t>          .text:&gt;     EPROM   PAGE 0  </a:t>
            </a:r>
            <a:endParaRPr lang="en-US" altLang="zh-CN" b="1"/>
          </a:p>
          <a:p>
            <a:pPr algn="just" eaLnBrk="1" hangingPunct="1">
              <a:lnSpc>
                <a:spcPct val="80000"/>
              </a:lnSpc>
              <a:spcBef>
                <a:spcPct val="10000"/>
              </a:spcBef>
            </a:pPr>
            <a:r>
              <a:rPr lang="en-US" altLang="zh-CN" b="1">
                <a:latin typeface="宋体" panose="02010600030101010101" pitchFamily="2" charset="-122"/>
              </a:rPr>
              <a:t>          .data:&gt;     EPROM   PAGE 0</a:t>
            </a:r>
            <a:endParaRPr lang="en-US" altLang="zh-CN" b="1"/>
          </a:p>
          <a:p>
            <a:pPr algn="just" eaLnBrk="1" hangingPunct="1">
              <a:lnSpc>
                <a:spcPct val="80000"/>
              </a:lnSpc>
              <a:spcBef>
                <a:spcPct val="10000"/>
              </a:spcBef>
            </a:pPr>
            <a:r>
              <a:rPr lang="en-US" altLang="zh-CN" b="1">
                <a:latin typeface="宋体" panose="02010600030101010101" pitchFamily="2" charset="-122"/>
              </a:rPr>
              <a:t>          .bss:&gt;      SPRAM   PAGE 1</a:t>
            </a:r>
            <a:endParaRPr lang="en-US" altLang="zh-CN" b="1"/>
          </a:p>
          <a:p>
            <a:pPr algn="just" eaLnBrk="1" hangingPunct="1">
              <a:lnSpc>
                <a:spcPct val="80000"/>
              </a:lnSpc>
              <a:spcBef>
                <a:spcPct val="10000"/>
              </a:spcBef>
            </a:pPr>
            <a:r>
              <a:rPr lang="en-US" altLang="zh-CN" b="1">
                <a:latin typeface="宋体" panose="02010600030101010101" pitchFamily="2" charset="-122"/>
              </a:rPr>
              <a:t>          .XN:&gt;       DARAM align(8){ } PAGE 1</a:t>
            </a:r>
            <a:endParaRPr lang="en-US" altLang="zh-CN" b="1"/>
          </a:p>
          <a:p>
            <a:pPr algn="just" eaLnBrk="1" hangingPunct="1">
              <a:lnSpc>
                <a:spcPct val="80000"/>
              </a:lnSpc>
              <a:spcBef>
                <a:spcPct val="10000"/>
              </a:spcBef>
            </a:pPr>
            <a:r>
              <a:rPr lang="en-US" altLang="zh-CN" b="1">
                <a:latin typeface="宋体" panose="02010600030101010101" pitchFamily="2" charset="-122"/>
              </a:rPr>
              <a:t>          .A0:&gt;       DARAM align(8){ } PAGE 1  }</a:t>
            </a:r>
          </a:p>
        </p:txBody>
      </p:sp>
      <p:pic>
        <p:nvPicPr>
          <p:cNvPr id="860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0"/>
            <a:ext cx="4032250" cy="28971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63234"/>
                                        </p:tgtEl>
                                        <p:attrNameLst>
                                          <p:attrName>style.visibility</p:attrName>
                                        </p:attrNameLst>
                                      </p:cBhvr>
                                      <p:to>
                                        <p:strVal val="visible"/>
                                      </p:to>
                                    </p:set>
                                    <p:animEffect transition="in" filter="blinds(horizontal)">
                                      <p:cBhvr>
                                        <p:cTn id="7" dur="500"/>
                                        <p:tgtEl>
                                          <p:spTgt spid="863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323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5B10C44-5DED-4C1F-8A68-B21371460681}" type="slidenum">
              <a:rPr lang="en-US" altLang="zh-CN" sz="1400"/>
              <a:pPr eaLnBrk="1" hangingPunct="1"/>
              <a:t>78</a:t>
            </a:fld>
            <a:endParaRPr lang="en-US" altLang="zh-CN" sz="1400"/>
          </a:p>
        </p:txBody>
      </p:sp>
      <p:sp>
        <p:nvSpPr>
          <p:cNvPr id="864258" name="Rectangle 2" descr="小棋盘"/>
          <p:cNvSpPr>
            <a:spLocks noChangeArrowheads="1"/>
          </p:cNvSpPr>
          <p:nvPr/>
        </p:nvSpPr>
        <p:spPr bwMode="auto">
          <a:xfrm>
            <a:off x="914400" y="1066800"/>
            <a:ext cx="7696200" cy="588963"/>
          </a:xfrm>
          <a:prstGeom prst="rect">
            <a:avLst/>
          </a:prstGeom>
          <a:pattFill prst="smCheck">
            <a:fgClr>
              <a:schemeClr val="accent1"/>
            </a:fgClr>
            <a:bgClr>
              <a:srgbClr val="FFFFFF"/>
            </a:bgClr>
          </a:pattFill>
          <a:ln w="9525">
            <a:solidFill>
              <a:schemeClr val="bg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rgbClr val="FF00FF"/>
                </a:solidFill>
                <a:latin typeface="宋体" panose="02010600030101010101" pitchFamily="2" charset="-122"/>
                <a:cs typeface="Times New Roman" panose="02020603050405020304" pitchFamily="18" charset="0"/>
              </a:rPr>
              <a:t>(2)</a:t>
            </a:r>
            <a:r>
              <a:rPr lang="zh-CN" altLang="en-US" sz="3200" b="1">
                <a:solidFill>
                  <a:srgbClr val="FF00FF"/>
                </a:solidFill>
                <a:latin typeface="宋体" panose="02010600030101010101" pitchFamily="2" charset="-122"/>
                <a:cs typeface="Times New Roman" panose="02020603050405020304" pitchFamily="18" charset="0"/>
              </a:rPr>
              <a:t>用线性缓冲区</a:t>
            </a:r>
            <a:r>
              <a:rPr lang="zh-CN" altLang="en-US" sz="3200" b="1">
                <a:latin typeface="宋体" panose="02010600030101010101" pitchFamily="2" charset="-122"/>
                <a:cs typeface="Times New Roman" panose="02020603050405020304" pitchFamily="18" charset="0"/>
              </a:rPr>
              <a:t>和</a:t>
            </a:r>
            <a:r>
              <a:rPr lang="zh-CN" altLang="en-US" sz="3200" b="1">
                <a:solidFill>
                  <a:schemeClr val="tx2"/>
                </a:solidFill>
                <a:latin typeface="宋体" panose="02010600030101010101" pitchFamily="2" charset="-122"/>
                <a:cs typeface="Times New Roman" panose="02020603050405020304" pitchFamily="18" charset="0"/>
              </a:rPr>
              <a:t>间接寻址方法实现</a:t>
            </a:r>
            <a:r>
              <a:rPr lang="en-US" altLang="zh-CN" sz="3200" b="1">
                <a:solidFill>
                  <a:schemeClr val="tx2"/>
                </a:solidFill>
                <a:latin typeface="宋体" panose="02010600030101010101" pitchFamily="2" charset="-122"/>
                <a:cs typeface="Times New Roman" panose="02020603050405020304" pitchFamily="18" charset="0"/>
              </a:rPr>
              <a:t>FIR</a:t>
            </a:r>
          </a:p>
        </p:txBody>
      </p:sp>
      <p:sp>
        <p:nvSpPr>
          <p:cNvPr id="864259" name="Rectangle 3"/>
          <p:cNvSpPr>
            <a:spLocks noChangeArrowheads="1"/>
          </p:cNvSpPr>
          <p:nvPr/>
        </p:nvSpPr>
        <p:spPr bwMode="auto">
          <a:xfrm>
            <a:off x="228600" y="1752600"/>
            <a:ext cx="8610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黑体" panose="02010609060101010101" pitchFamily="49" charset="-122"/>
              </a:rPr>
              <a:t>例</a:t>
            </a:r>
            <a:r>
              <a:rPr lang="en-US" altLang="zh-CN" sz="2800" b="1">
                <a:ea typeface="黑体" panose="02010609060101010101" pitchFamily="49" charset="-122"/>
              </a:rPr>
              <a:t>5-26  </a:t>
            </a:r>
            <a:r>
              <a:rPr lang="en-US" altLang="zh-CN" sz="2800" b="1"/>
              <a:t> </a:t>
            </a:r>
            <a:r>
              <a:rPr lang="zh-CN" altLang="en-US" sz="2800" b="1"/>
              <a:t>编写</a:t>
            </a:r>
            <a:r>
              <a:rPr lang="en-US" altLang="zh-CN" sz="2800" b="1"/>
              <a:t>y</a:t>
            </a:r>
            <a:r>
              <a:rPr lang="zh-CN" altLang="en-US" sz="2800" b="1"/>
              <a:t>（</a:t>
            </a:r>
            <a:r>
              <a:rPr lang="en-US" altLang="zh-CN" sz="2800" b="1"/>
              <a:t>n</a:t>
            </a:r>
            <a:r>
              <a:rPr lang="zh-CN" altLang="en-US" sz="2800" b="1"/>
              <a:t>）</a:t>
            </a:r>
            <a:r>
              <a:rPr lang="en-US" altLang="zh-CN" sz="2800" b="1"/>
              <a:t>=a</a:t>
            </a:r>
            <a:r>
              <a:rPr lang="en-US" altLang="zh-CN" sz="2800" b="1" baseline="-30000"/>
              <a:t>0</a:t>
            </a:r>
            <a:r>
              <a:rPr lang="en-US" altLang="zh-CN" sz="2800" b="1"/>
              <a:t>*x</a:t>
            </a:r>
            <a:r>
              <a:rPr lang="zh-CN" altLang="en-US" sz="2800" b="1"/>
              <a:t>（</a:t>
            </a:r>
            <a:r>
              <a:rPr lang="en-US" altLang="zh-CN" sz="2800" b="1"/>
              <a:t>n</a:t>
            </a:r>
            <a:r>
              <a:rPr lang="zh-CN" altLang="en-US" sz="2800" b="1"/>
              <a:t>）</a:t>
            </a:r>
            <a:r>
              <a:rPr lang="en-US" altLang="zh-CN" sz="2800" b="1"/>
              <a:t>+ a</a:t>
            </a:r>
            <a:r>
              <a:rPr lang="en-US" altLang="zh-CN" sz="2800" b="1" baseline="-30000"/>
              <a:t>1</a:t>
            </a:r>
            <a:r>
              <a:rPr lang="en-US" altLang="zh-CN" sz="2800" b="1"/>
              <a:t>*x</a:t>
            </a:r>
            <a:r>
              <a:rPr lang="zh-CN" altLang="en-US" sz="2800" b="1"/>
              <a:t>（</a:t>
            </a:r>
            <a:r>
              <a:rPr lang="en-US" altLang="zh-CN" sz="2800" b="1"/>
              <a:t>n-1</a:t>
            </a:r>
            <a:r>
              <a:rPr lang="zh-CN" altLang="en-US" sz="2800" b="1"/>
              <a:t>）</a:t>
            </a:r>
            <a:r>
              <a:rPr lang="en-US" altLang="zh-CN" sz="2800" b="1"/>
              <a:t>+ a</a:t>
            </a:r>
            <a:r>
              <a:rPr lang="en-US" altLang="zh-CN" sz="2800" b="1" baseline="-30000"/>
              <a:t>2</a:t>
            </a:r>
            <a:r>
              <a:rPr lang="en-US" altLang="zh-CN" sz="2800" b="1"/>
              <a:t>*x</a:t>
            </a:r>
            <a:r>
              <a:rPr lang="zh-CN" altLang="en-US" sz="2800" b="1"/>
              <a:t>（</a:t>
            </a:r>
            <a:r>
              <a:rPr lang="en-US" altLang="zh-CN" sz="2800" b="1"/>
              <a:t>n-2</a:t>
            </a:r>
            <a:r>
              <a:rPr lang="zh-CN" altLang="en-US" sz="2800" b="1"/>
              <a:t>）</a:t>
            </a:r>
            <a:r>
              <a:rPr lang="en-US" altLang="zh-CN" sz="2800" b="1"/>
              <a:t>+ a</a:t>
            </a:r>
            <a:r>
              <a:rPr lang="en-US" altLang="zh-CN" sz="2800" b="1" baseline="-30000"/>
              <a:t>3</a:t>
            </a:r>
            <a:r>
              <a:rPr lang="en-US" altLang="zh-CN" sz="2800" b="1"/>
              <a:t>*x</a:t>
            </a:r>
            <a:r>
              <a:rPr lang="zh-CN" altLang="en-US" sz="2800" b="1"/>
              <a:t>（</a:t>
            </a:r>
            <a:r>
              <a:rPr lang="en-US" altLang="zh-CN" sz="2800" b="1"/>
              <a:t>n-3</a:t>
            </a:r>
            <a:r>
              <a:rPr lang="zh-CN" altLang="en-US" sz="2800" b="1"/>
              <a:t>）</a:t>
            </a:r>
            <a:r>
              <a:rPr lang="en-US" altLang="zh-CN" sz="2800" b="1"/>
              <a:t>+ a</a:t>
            </a:r>
            <a:r>
              <a:rPr lang="en-US" altLang="zh-CN" sz="2800" b="1" baseline="-30000"/>
              <a:t>4</a:t>
            </a:r>
            <a:r>
              <a:rPr lang="en-US" altLang="zh-CN" sz="2800" b="1"/>
              <a:t>*x</a:t>
            </a:r>
            <a:r>
              <a:rPr lang="zh-CN" altLang="en-US" sz="2800" b="1"/>
              <a:t>（</a:t>
            </a:r>
            <a:r>
              <a:rPr lang="en-US" altLang="zh-CN" sz="2800" b="1"/>
              <a:t>n-4</a:t>
            </a:r>
            <a:r>
              <a:rPr lang="zh-CN" altLang="en-US" sz="2800" b="1"/>
              <a:t>）的计算程序，其中</a:t>
            </a:r>
            <a:r>
              <a:rPr lang="en-US" altLang="zh-CN" sz="2800" b="1"/>
              <a:t>N=5</a:t>
            </a:r>
            <a:r>
              <a:rPr lang="zh-CN" altLang="en-US" sz="2800" b="1"/>
              <a:t>。</a:t>
            </a:r>
            <a:r>
              <a:rPr lang="zh-CN" altLang="en-US" sz="1100" b="1"/>
              <a:t> </a:t>
            </a:r>
            <a:endParaRPr lang="zh-CN" altLang="en-US" b="1"/>
          </a:p>
        </p:txBody>
      </p:sp>
      <p:sp>
        <p:nvSpPr>
          <p:cNvPr id="864261" name="Rectangle 5"/>
          <p:cNvSpPr>
            <a:spLocks noChangeArrowheads="1"/>
          </p:cNvSpPr>
          <p:nvPr/>
        </p:nvSpPr>
        <p:spPr bwMode="auto">
          <a:xfrm>
            <a:off x="179388" y="3500438"/>
            <a:ext cx="4176712" cy="2663825"/>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3841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chemeClr val="tx2"/>
                </a:solidFill>
                <a:latin typeface="宋体" panose="02010600030101010101" pitchFamily="2" charset="-122"/>
              </a:rPr>
              <a:t>将系数</a:t>
            </a:r>
            <a:r>
              <a:rPr lang="en-US" altLang="zh-CN" sz="2800" b="1">
                <a:solidFill>
                  <a:schemeClr val="tx2"/>
                </a:solidFill>
                <a:latin typeface="宋体" panose="02010600030101010101" pitchFamily="2" charset="-122"/>
              </a:rPr>
              <a:t>a</a:t>
            </a:r>
            <a:r>
              <a:rPr lang="en-US" altLang="zh-CN" sz="2800" b="1" baseline="-30000">
                <a:solidFill>
                  <a:schemeClr val="tx2"/>
                </a:solidFill>
                <a:latin typeface="宋体" panose="02010600030101010101" pitchFamily="2" charset="-122"/>
              </a:rPr>
              <a:t>0</a:t>
            </a:r>
            <a:r>
              <a:rPr lang="zh-CN" altLang="en-US" sz="2800" b="1">
                <a:solidFill>
                  <a:schemeClr val="tx2"/>
                </a:solidFill>
                <a:latin typeface="宋体" panose="02010600030101010101" pitchFamily="2" charset="-122"/>
              </a:rPr>
              <a:t>～</a:t>
            </a:r>
            <a:r>
              <a:rPr lang="en-US" altLang="zh-CN" sz="2800" b="1">
                <a:solidFill>
                  <a:schemeClr val="tx2"/>
                </a:solidFill>
                <a:latin typeface="宋体" panose="02010600030101010101" pitchFamily="2" charset="-122"/>
              </a:rPr>
              <a:t>a</a:t>
            </a:r>
            <a:r>
              <a:rPr lang="en-US" altLang="zh-CN" sz="2800" b="1" baseline="-30000">
                <a:solidFill>
                  <a:schemeClr val="tx2"/>
                </a:solidFill>
                <a:latin typeface="宋体" panose="02010600030101010101" pitchFamily="2" charset="-122"/>
              </a:rPr>
              <a:t>4</a:t>
            </a:r>
            <a:r>
              <a:rPr lang="zh-CN" altLang="en-US" sz="2800" b="1">
                <a:solidFill>
                  <a:schemeClr val="tx2"/>
                </a:solidFill>
                <a:latin typeface="宋体" panose="02010600030101010101" pitchFamily="2" charset="-122"/>
              </a:rPr>
              <a:t>存放在数据存储器中，并设置线性缓冲区存放输入数据。</a:t>
            </a:r>
          </a:p>
          <a:p>
            <a:pPr eaLnBrk="1" hangingPunct="1"/>
            <a:r>
              <a:rPr lang="zh-CN" altLang="en-US" sz="2800" b="1">
                <a:solidFill>
                  <a:schemeClr val="folHlink"/>
                </a:solidFill>
                <a:latin typeface="宋体" panose="02010600030101010101" pitchFamily="2" charset="-122"/>
              </a:rPr>
              <a:t>利用</a:t>
            </a:r>
            <a:r>
              <a:rPr lang="en-US" altLang="zh-CN" sz="2800" b="1">
                <a:solidFill>
                  <a:schemeClr val="folHlink"/>
                </a:solidFill>
                <a:latin typeface="宋体" panose="02010600030101010101" pitchFamily="2" charset="-122"/>
              </a:rPr>
              <a:t>AR1</a:t>
            </a:r>
            <a:r>
              <a:rPr lang="zh-CN" altLang="en-US" sz="2800" b="1">
                <a:solidFill>
                  <a:schemeClr val="folHlink"/>
                </a:solidFill>
                <a:latin typeface="宋体" panose="02010600030101010101" pitchFamily="2" charset="-122"/>
              </a:rPr>
              <a:t>和</a:t>
            </a:r>
            <a:r>
              <a:rPr lang="en-US" altLang="zh-CN" sz="2800" b="1">
                <a:solidFill>
                  <a:schemeClr val="folHlink"/>
                </a:solidFill>
                <a:latin typeface="宋体" panose="02010600030101010101" pitchFamily="2" charset="-122"/>
              </a:rPr>
              <a:t>AR2</a:t>
            </a:r>
            <a:r>
              <a:rPr lang="zh-CN" altLang="en-US" sz="2800" b="1">
                <a:solidFill>
                  <a:schemeClr val="folHlink"/>
                </a:solidFill>
                <a:latin typeface="宋体" panose="02010600030101010101" pitchFamily="2" charset="-122"/>
              </a:rPr>
              <a:t>分别作为间接寻址线性缓冲区和系数区的辅助寄存器。</a:t>
            </a:r>
            <a:r>
              <a:rPr lang="zh-CN" altLang="en-US" sz="2800" b="1">
                <a:solidFill>
                  <a:schemeClr val="folHlink"/>
                </a:solidFill>
              </a:rPr>
              <a:t> </a:t>
            </a:r>
          </a:p>
        </p:txBody>
      </p:sp>
      <p:sp>
        <p:nvSpPr>
          <p:cNvPr id="864262" name="Text Box 6" descr="小棋盘"/>
          <p:cNvSpPr txBox="1">
            <a:spLocks noChangeArrowheads="1"/>
          </p:cNvSpPr>
          <p:nvPr/>
        </p:nvSpPr>
        <p:spPr bwMode="auto">
          <a:xfrm>
            <a:off x="5578475" y="6100763"/>
            <a:ext cx="2514600" cy="504825"/>
          </a:xfrm>
          <a:prstGeom prst="rect">
            <a:avLst/>
          </a:prstGeom>
          <a:pattFill prst="smCheck">
            <a:fgClr>
              <a:schemeClr val="accent1"/>
            </a:fgClr>
            <a:bgClr>
              <a:srgbClr val="FFFFFF"/>
            </a:bgClr>
          </a:pattFill>
          <a:ln w="9525">
            <a:solidFill>
              <a:schemeClr val="bg2"/>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b="1">
                <a:solidFill>
                  <a:srgbClr val="FF6600"/>
                </a:solidFill>
                <a:latin typeface="宋体" panose="02010600030101010101" pitchFamily="2" charset="-122"/>
              </a:rPr>
              <a:t>线性缓冲区安排</a:t>
            </a:r>
            <a:endParaRPr kumimoji="0" lang="zh-CN" altLang="en-US" b="1">
              <a:solidFill>
                <a:srgbClr val="FF6600"/>
              </a:solidFill>
            </a:endParaRPr>
          </a:p>
        </p:txBody>
      </p:sp>
      <p:sp>
        <p:nvSpPr>
          <p:cNvPr id="87047" name="Text Box 7"/>
          <p:cNvSpPr txBox="1">
            <a:spLocks noChangeArrowheads="1"/>
          </p:cNvSpPr>
          <p:nvPr/>
        </p:nvSpPr>
        <p:spPr bwMode="auto">
          <a:xfrm>
            <a:off x="5445125" y="353377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y(n)</a:t>
            </a:r>
          </a:p>
        </p:txBody>
      </p:sp>
      <p:sp>
        <p:nvSpPr>
          <p:cNvPr id="87048" name="Text Box 8"/>
          <p:cNvSpPr txBox="1">
            <a:spLocks noChangeArrowheads="1"/>
          </p:cNvSpPr>
          <p:nvPr/>
        </p:nvSpPr>
        <p:spPr bwMode="auto">
          <a:xfrm>
            <a:off x="5445125" y="393382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endParaRPr lang="en-US" altLang="zh-CN" sz="2000" b="1" baseline="30000">
              <a:solidFill>
                <a:srgbClr val="FF6600"/>
              </a:solidFill>
            </a:endParaRPr>
          </a:p>
        </p:txBody>
      </p:sp>
      <p:sp>
        <p:nvSpPr>
          <p:cNvPr id="87049" name="Text Box 9"/>
          <p:cNvSpPr txBox="1">
            <a:spLocks noChangeArrowheads="1"/>
          </p:cNvSpPr>
          <p:nvPr/>
        </p:nvSpPr>
        <p:spPr bwMode="auto">
          <a:xfrm>
            <a:off x="5445125" y="433387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a:solidFill>
                <a:srgbClr val="660066"/>
              </a:solidFill>
            </a:endParaRPr>
          </a:p>
        </p:txBody>
      </p:sp>
      <p:sp>
        <p:nvSpPr>
          <p:cNvPr id="87050" name="Text Box 10"/>
          <p:cNvSpPr txBox="1">
            <a:spLocks noChangeArrowheads="1"/>
          </p:cNvSpPr>
          <p:nvPr/>
        </p:nvSpPr>
        <p:spPr bwMode="auto">
          <a:xfrm>
            <a:off x="5445125" y="473551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87051" name="Text Box 11"/>
          <p:cNvSpPr txBox="1">
            <a:spLocks noChangeArrowheads="1"/>
          </p:cNvSpPr>
          <p:nvPr/>
        </p:nvSpPr>
        <p:spPr bwMode="auto">
          <a:xfrm>
            <a:off x="5445125" y="513556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p>
        </p:txBody>
      </p:sp>
      <p:sp>
        <p:nvSpPr>
          <p:cNvPr id="87052" name="Text Box 12"/>
          <p:cNvSpPr txBox="1">
            <a:spLocks noChangeArrowheads="1"/>
          </p:cNvSpPr>
          <p:nvPr/>
        </p:nvSpPr>
        <p:spPr bwMode="auto">
          <a:xfrm>
            <a:off x="5445125" y="553402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x(n-4)</a:t>
            </a:r>
          </a:p>
        </p:txBody>
      </p:sp>
      <p:sp>
        <p:nvSpPr>
          <p:cNvPr id="87053" name="Text Box 13"/>
          <p:cNvSpPr txBox="1">
            <a:spLocks noChangeArrowheads="1"/>
          </p:cNvSpPr>
          <p:nvPr/>
        </p:nvSpPr>
        <p:spPr bwMode="auto">
          <a:xfrm>
            <a:off x="5156200" y="3014663"/>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87054" name="Text Box 14"/>
          <p:cNvSpPr txBox="1">
            <a:spLocks noChangeArrowheads="1"/>
          </p:cNvSpPr>
          <p:nvPr/>
        </p:nvSpPr>
        <p:spPr bwMode="auto">
          <a:xfrm>
            <a:off x="4843463" y="3541713"/>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y</a:t>
            </a:r>
            <a:endParaRPr lang="en-US" altLang="zh-CN" sz="2000">
              <a:solidFill>
                <a:schemeClr val="tx2"/>
              </a:solidFill>
            </a:endParaRPr>
          </a:p>
        </p:txBody>
      </p:sp>
      <p:sp>
        <p:nvSpPr>
          <p:cNvPr id="87055" name="Text Box 15"/>
          <p:cNvSpPr txBox="1">
            <a:spLocks noChangeArrowheads="1"/>
          </p:cNvSpPr>
          <p:nvPr/>
        </p:nvSpPr>
        <p:spPr bwMode="auto">
          <a:xfrm>
            <a:off x="4868863" y="3933825"/>
            <a:ext cx="465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x</a:t>
            </a:r>
            <a:endParaRPr lang="en-US" altLang="zh-CN" sz="2000">
              <a:solidFill>
                <a:schemeClr val="tx2"/>
              </a:solidFill>
            </a:endParaRPr>
          </a:p>
        </p:txBody>
      </p:sp>
      <p:sp>
        <p:nvSpPr>
          <p:cNvPr id="87056" name="Text Box 17"/>
          <p:cNvSpPr txBox="1">
            <a:spLocks noChangeArrowheads="1"/>
          </p:cNvSpPr>
          <p:nvPr/>
        </p:nvSpPr>
        <p:spPr bwMode="auto">
          <a:xfrm>
            <a:off x="4364038" y="5516563"/>
            <a:ext cx="696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AR1</a:t>
            </a:r>
            <a:endParaRPr lang="en-US" altLang="zh-CN" sz="2000">
              <a:solidFill>
                <a:schemeClr val="tx2"/>
              </a:solidFill>
            </a:endParaRPr>
          </a:p>
        </p:txBody>
      </p:sp>
      <p:sp>
        <p:nvSpPr>
          <p:cNvPr id="87057" name="Text Box 18"/>
          <p:cNvSpPr txBox="1">
            <a:spLocks noChangeArrowheads="1"/>
          </p:cNvSpPr>
          <p:nvPr/>
        </p:nvSpPr>
        <p:spPr bwMode="auto">
          <a:xfrm>
            <a:off x="7596188" y="3492500"/>
            <a:ext cx="1082675"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0</a:t>
            </a:r>
          </a:p>
        </p:txBody>
      </p:sp>
      <p:sp>
        <p:nvSpPr>
          <p:cNvPr id="87058" name="Text Box 19"/>
          <p:cNvSpPr txBox="1">
            <a:spLocks noChangeArrowheads="1"/>
          </p:cNvSpPr>
          <p:nvPr/>
        </p:nvSpPr>
        <p:spPr bwMode="auto">
          <a:xfrm>
            <a:off x="7596188" y="3892550"/>
            <a:ext cx="1079500"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1</a:t>
            </a:r>
          </a:p>
        </p:txBody>
      </p:sp>
      <p:sp>
        <p:nvSpPr>
          <p:cNvPr id="87059" name="Text Box 20"/>
          <p:cNvSpPr txBox="1">
            <a:spLocks noChangeArrowheads="1"/>
          </p:cNvSpPr>
          <p:nvPr/>
        </p:nvSpPr>
        <p:spPr bwMode="auto">
          <a:xfrm>
            <a:off x="7596188" y="4292600"/>
            <a:ext cx="1082675"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2</a:t>
            </a:r>
          </a:p>
        </p:txBody>
      </p:sp>
      <p:sp>
        <p:nvSpPr>
          <p:cNvPr id="87060" name="Text Box 21"/>
          <p:cNvSpPr txBox="1">
            <a:spLocks noChangeArrowheads="1"/>
          </p:cNvSpPr>
          <p:nvPr/>
        </p:nvSpPr>
        <p:spPr bwMode="auto">
          <a:xfrm>
            <a:off x="7596188" y="4694238"/>
            <a:ext cx="1082675"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3</a:t>
            </a:r>
          </a:p>
        </p:txBody>
      </p:sp>
      <p:sp>
        <p:nvSpPr>
          <p:cNvPr id="87061" name="Text Box 22"/>
          <p:cNvSpPr txBox="1">
            <a:spLocks noChangeArrowheads="1"/>
          </p:cNvSpPr>
          <p:nvPr/>
        </p:nvSpPr>
        <p:spPr bwMode="auto">
          <a:xfrm>
            <a:off x="7596188" y="5100638"/>
            <a:ext cx="1079500" cy="406400"/>
          </a:xfrm>
          <a:prstGeom prst="rect">
            <a:avLst/>
          </a:prstGeom>
          <a:solidFill>
            <a:schemeClr val="hlink"/>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4</a:t>
            </a:r>
          </a:p>
        </p:txBody>
      </p:sp>
      <p:sp>
        <p:nvSpPr>
          <p:cNvPr id="87062" name="Text Box 23"/>
          <p:cNvSpPr txBox="1">
            <a:spLocks noChangeArrowheads="1"/>
          </p:cNvSpPr>
          <p:nvPr/>
        </p:nvSpPr>
        <p:spPr bwMode="auto">
          <a:xfrm>
            <a:off x="7308850" y="2989263"/>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87063" name="Text Box 24"/>
          <p:cNvSpPr txBox="1">
            <a:spLocks noChangeArrowheads="1"/>
          </p:cNvSpPr>
          <p:nvPr/>
        </p:nvSpPr>
        <p:spPr bwMode="auto">
          <a:xfrm>
            <a:off x="7019925" y="3500438"/>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a:t>
            </a:r>
            <a:endParaRPr lang="en-US" altLang="zh-CN" sz="2000" b="1" baseline="-25000">
              <a:solidFill>
                <a:schemeClr val="tx2"/>
              </a:solidFill>
            </a:endParaRPr>
          </a:p>
        </p:txBody>
      </p:sp>
      <p:sp>
        <p:nvSpPr>
          <p:cNvPr id="87064" name="Line 29"/>
          <p:cNvSpPr>
            <a:spLocks noChangeShapeType="1"/>
          </p:cNvSpPr>
          <p:nvPr/>
        </p:nvSpPr>
        <p:spPr bwMode="auto">
          <a:xfrm>
            <a:off x="5013325" y="5734050"/>
            <a:ext cx="287338"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7065" name="Text Box 30"/>
          <p:cNvSpPr txBox="1">
            <a:spLocks noChangeArrowheads="1"/>
          </p:cNvSpPr>
          <p:nvPr/>
        </p:nvSpPr>
        <p:spPr bwMode="auto">
          <a:xfrm>
            <a:off x="6659563" y="5084763"/>
            <a:ext cx="696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AR2</a:t>
            </a:r>
            <a:endParaRPr lang="en-US" altLang="zh-CN" sz="2000">
              <a:solidFill>
                <a:schemeClr val="tx2"/>
              </a:solidFill>
            </a:endParaRPr>
          </a:p>
        </p:txBody>
      </p:sp>
      <p:sp>
        <p:nvSpPr>
          <p:cNvPr id="87066" name="Line 31"/>
          <p:cNvSpPr>
            <a:spLocks noChangeShapeType="1"/>
          </p:cNvSpPr>
          <p:nvPr/>
        </p:nvSpPr>
        <p:spPr bwMode="auto">
          <a:xfrm>
            <a:off x="7277100" y="5300663"/>
            <a:ext cx="287338"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64258"/>
                                        </p:tgtEl>
                                        <p:attrNameLst>
                                          <p:attrName>style.visibility</p:attrName>
                                        </p:attrNameLst>
                                      </p:cBhvr>
                                      <p:to>
                                        <p:strVal val="visible"/>
                                      </p:to>
                                    </p:set>
                                    <p:animEffect transition="in" filter="slide(fromTop)">
                                      <p:cBhvr>
                                        <p:cTn id="7" dur="500"/>
                                        <p:tgtEl>
                                          <p:spTgt spid="86425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64259"/>
                                        </p:tgtEl>
                                        <p:attrNameLst>
                                          <p:attrName>style.visibility</p:attrName>
                                        </p:attrNameLst>
                                      </p:cBhvr>
                                      <p:to>
                                        <p:strVal val="visible"/>
                                      </p:to>
                                    </p:set>
                                    <p:animEffect transition="in" filter="slide(fromBottom)">
                                      <p:cBhvr>
                                        <p:cTn id="11" dur="500"/>
                                        <p:tgtEl>
                                          <p:spTgt spid="864259"/>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864261"/>
                                        </p:tgtEl>
                                        <p:attrNameLst>
                                          <p:attrName>style.visibility</p:attrName>
                                        </p:attrNameLst>
                                      </p:cBhvr>
                                      <p:to>
                                        <p:strVal val="visible"/>
                                      </p:to>
                                    </p:set>
                                    <p:animEffect transition="in" filter="blinds(horizontal)">
                                      <p:cBhvr>
                                        <p:cTn id="15" dur="500"/>
                                        <p:tgtEl>
                                          <p:spTgt spid="864261"/>
                                        </p:tgtEl>
                                      </p:cBhvr>
                                    </p:animEffect>
                                  </p:childTnLst>
                                </p:cTn>
                              </p:par>
                            </p:childTnLst>
                          </p:cTn>
                        </p:par>
                        <p:par>
                          <p:cTn id="16" fill="hold" nodeType="afterGroup">
                            <p:stCondLst>
                              <p:cond delay="1500"/>
                            </p:stCondLst>
                            <p:childTnLst>
                              <p:par>
                                <p:cTn id="17" presetID="3" presetClass="entr" presetSubtype="5" fill="hold" grpId="0" nodeType="afterEffect">
                                  <p:stCondLst>
                                    <p:cond delay="0"/>
                                  </p:stCondLst>
                                  <p:childTnLst>
                                    <p:set>
                                      <p:cBhvr>
                                        <p:cTn id="18" dur="1" fill="hold">
                                          <p:stCondLst>
                                            <p:cond delay="0"/>
                                          </p:stCondLst>
                                        </p:cTn>
                                        <p:tgtEl>
                                          <p:spTgt spid="864262"/>
                                        </p:tgtEl>
                                        <p:attrNameLst>
                                          <p:attrName>style.visibility</p:attrName>
                                        </p:attrNameLst>
                                      </p:cBhvr>
                                      <p:to>
                                        <p:strVal val="visible"/>
                                      </p:to>
                                    </p:set>
                                    <p:animEffect transition="in" filter="blinds(vertical)">
                                      <p:cBhvr>
                                        <p:cTn id="19" dur="500"/>
                                        <p:tgtEl>
                                          <p:spTgt spid="864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58" grpId="0" animBg="1"/>
      <p:bldP spid="864259" grpId="0"/>
      <p:bldP spid="864261" grpId="0" animBg="1"/>
      <p:bldP spid="86426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71682FF-81C7-45DD-90C1-2C703FB269CC}" type="slidenum">
              <a:rPr lang="en-US" altLang="zh-CN" sz="1400"/>
              <a:pPr eaLnBrk="1" hangingPunct="1"/>
              <a:t>79</a:t>
            </a:fld>
            <a:endParaRPr lang="en-US" altLang="zh-CN" sz="1400"/>
          </a:p>
        </p:txBody>
      </p:sp>
      <p:sp>
        <p:nvSpPr>
          <p:cNvPr id="865282" name="Rectangle 2"/>
          <p:cNvSpPr>
            <a:spLocks noChangeArrowheads="1"/>
          </p:cNvSpPr>
          <p:nvPr/>
        </p:nvSpPr>
        <p:spPr bwMode="auto">
          <a:xfrm>
            <a:off x="323850" y="1196975"/>
            <a:ext cx="85344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latin typeface="宋体" panose="02010600030101010101" pitchFamily="2" charset="-122"/>
              </a:rPr>
              <a:t>          .title </a:t>
            </a:r>
            <a:r>
              <a:rPr lang="en-US" altLang="zh-CN" b="1"/>
              <a:t>“</a:t>
            </a:r>
            <a:r>
              <a:rPr lang="en-US" altLang="zh-CN" b="1">
                <a:latin typeface="宋体" panose="02010600030101010101" pitchFamily="2" charset="-122"/>
              </a:rPr>
              <a:t>FIR2.ASM</a:t>
            </a:r>
            <a:r>
              <a:rPr lang="en-US" altLang="zh-CN" b="1"/>
              <a:t>”</a:t>
            </a:r>
            <a:r>
              <a:rPr lang="en-US" altLang="zh-CN" b="1">
                <a:latin typeface="宋体" panose="02010600030101010101" pitchFamily="2" charset="-122"/>
              </a:rPr>
              <a:t> </a:t>
            </a:r>
            <a:r>
              <a:rPr lang="zh-CN" altLang="en-US" b="1">
                <a:latin typeface="宋体" panose="02010600030101010101" pitchFamily="2" charset="-122"/>
              </a:rPr>
              <a:t>；定义源程序名</a:t>
            </a:r>
            <a:endParaRPr lang="zh-CN" altLang="en-US" b="1"/>
          </a:p>
          <a:p>
            <a:pPr algn="just"/>
            <a:r>
              <a:rPr lang="zh-CN" altLang="en-US" b="1">
                <a:latin typeface="宋体" panose="02010600030101010101" pitchFamily="2" charset="-122"/>
              </a:rPr>
              <a:t>          </a:t>
            </a:r>
            <a:r>
              <a:rPr lang="en-US" altLang="zh-CN" b="1">
                <a:solidFill>
                  <a:schemeClr val="folHlink"/>
                </a:solidFill>
                <a:latin typeface="宋体" panose="02010600030101010101" pitchFamily="2" charset="-122"/>
              </a:rPr>
              <a:t>.mmregs</a:t>
            </a:r>
            <a:r>
              <a:rPr lang="en-US" altLang="zh-CN" b="1">
                <a:latin typeface="宋体" panose="02010600030101010101" pitchFamily="2" charset="-122"/>
              </a:rPr>
              <a:t>           </a:t>
            </a:r>
            <a:r>
              <a:rPr lang="zh-CN" altLang="en-US" b="1">
                <a:latin typeface="宋体" panose="02010600030101010101" pitchFamily="2" charset="-122"/>
              </a:rPr>
              <a:t>；定义存储器映象寄存器  </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.def   start      </a:t>
            </a:r>
            <a:r>
              <a:rPr lang="zh-CN" altLang="en-US" b="1">
                <a:latin typeface="宋体" panose="02010600030101010101" pitchFamily="2" charset="-122"/>
              </a:rPr>
              <a:t>；定义语句标号</a:t>
            </a:r>
            <a:r>
              <a:rPr lang="en-US" altLang="zh-CN" b="1">
                <a:latin typeface="宋体" panose="02010600030101010101" pitchFamily="2" charset="-122"/>
              </a:rPr>
              <a:t>start</a:t>
            </a:r>
            <a:endParaRPr lang="en-US" altLang="zh-CN" b="1"/>
          </a:p>
          <a:p>
            <a:pPr algn="just"/>
            <a:r>
              <a:rPr lang="en-US" altLang="zh-CN" b="1">
                <a:latin typeface="宋体" panose="02010600030101010101" pitchFamily="2" charset="-122"/>
              </a:rPr>
              <a:t>          </a:t>
            </a:r>
            <a:r>
              <a:rPr lang="en-US" altLang="zh-CN" b="1">
                <a:solidFill>
                  <a:schemeClr val="tx2"/>
                </a:solidFill>
                <a:latin typeface="宋体" panose="02010600030101010101" pitchFamily="2" charset="-122"/>
              </a:rPr>
              <a:t>.bss   y,1</a:t>
            </a:r>
            <a:r>
              <a:rPr lang="en-US" altLang="zh-CN" b="1">
                <a:latin typeface="宋体" panose="02010600030101010101" pitchFamily="2" charset="-122"/>
              </a:rPr>
              <a:t>        </a:t>
            </a:r>
            <a:r>
              <a:rPr lang="zh-CN" altLang="en-US" b="1">
                <a:latin typeface="宋体" panose="02010600030101010101" pitchFamily="2" charset="-122"/>
              </a:rPr>
              <a:t>；为结果</a:t>
            </a:r>
            <a:r>
              <a:rPr lang="en-US" altLang="zh-CN" b="1">
                <a:latin typeface="宋体" panose="02010600030101010101" pitchFamily="2" charset="-122"/>
              </a:rPr>
              <a:t>y</a:t>
            </a:r>
            <a:r>
              <a:rPr lang="zh-CN" altLang="en-US" b="1">
                <a:latin typeface="宋体" panose="02010600030101010101" pitchFamily="2" charset="-122"/>
              </a:rPr>
              <a:t>预留</a:t>
            </a:r>
            <a:r>
              <a:rPr lang="en-US" altLang="zh-CN" b="1">
                <a:latin typeface="宋体" panose="02010600030101010101" pitchFamily="2" charset="-122"/>
              </a:rPr>
              <a:t>1</a:t>
            </a:r>
            <a:r>
              <a:rPr lang="zh-CN" altLang="en-US" b="1">
                <a:latin typeface="宋体" panose="02010600030101010101" pitchFamily="2" charset="-122"/>
              </a:rPr>
              <a:t>个单元的空间</a:t>
            </a:r>
            <a:endParaRPr lang="zh-CN" altLang="en-US" b="1"/>
          </a:p>
          <a:p>
            <a:pPr algn="just"/>
            <a:r>
              <a:rPr lang="en-US" altLang="zh-CN" b="1">
                <a:solidFill>
                  <a:srgbClr val="FF00FF"/>
                </a:solidFill>
                <a:latin typeface="宋体" panose="02010600030101010101" pitchFamily="2" charset="-122"/>
              </a:rPr>
              <a:t>x   .usect </a:t>
            </a:r>
            <a:r>
              <a:rPr lang="en-US" altLang="zh-CN" b="1">
                <a:solidFill>
                  <a:srgbClr val="FF00FF"/>
                </a:solidFill>
              </a:rPr>
              <a:t>“</a:t>
            </a:r>
            <a:r>
              <a:rPr lang="en-US" altLang="zh-CN" b="1">
                <a:solidFill>
                  <a:srgbClr val="FF00FF"/>
                </a:solidFill>
                <a:latin typeface="宋体" panose="02010600030101010101" pitchFamily="2" charset="-122"/>
              </a:rPr>
              <a:t>x</a:t>
            </a:r>
            <a:r>
              <a:rPr lang="en-US" altLang="zh-CN" b="1">
                <a:solidFill>
                  <a:srgbClr val="FF00FF"/>
                </a:solidFill>
              </a:rPr>
              <a:t>”</a:t>
            </a:r>
            <a:r>
              <a:rPr lang="en-US" altLang="zh-CN" b="1">
                <a:solidFill>
                  <a:srgbClr val="FF00FF"/>
                </a:solidFill>
                <a:latin typeface="宋体" panose="02010600030101010101" pitchFamily="2" charset="-122"/>
              </a:rPr>
              <a:t>,5 </a:t>
            </a:r>
            <a:r>
              <a:rPr lang="zh-CN" altLang="en-US" b="1">
                <a:solidFill>
                  <a:srgbClr val="FF00FF"/>
                </a:solidFill>
                <a:latin typeface="宋体" panose="02010600030101010101" pitchFamily="2" charset="-122"/>
              </a:rPr>
              <a:t>；</a:t>
            </a:r>
            <a:r>
              <a:rPr lang="zh-CN" altLang="en-US" sz="2000" b="1">
                <a:solidFill>
                  <a:srgbClr val="FF00FF"/>
                </a:solidFill>
                <a:latin typeface="宋体" panose="02010600030101010101" pitchFamily="2" charset="-122"/>
              </a:rPr>
              <a:t>在自定义的未初始化段</a:t>
            </a:r>
            <a:r>
              <a:rPr lang="zh-CN" altLang="en-US" sz="2000" b="1">
                <a:solidFill>
                  <a:srgbClr val="FF00FF"/>
                </a:solidFill>
              </a:rPr>
              <a:t>“</a:t>
            </a:r>
            <a:r>
              <a:rPr lang="en-US" altLang="zh-CN" sz="2000" b="1">
                <a:solidFill>
                  <a:srgbClr val="FF00FF"/>
                </a:solidFill>
                <a:latin typeface="宋体" panose="02010600030101010101" pitchFamily="2" charset="-122"/>
              </a:rPr>
              <a:t>x</a:t>
            </a:r>
            <a:r>
              <a:rPr lang="en-US" altLang="zh-CN" sz="2000" b="1">
                <a:solidFill>
                  <a:srgbClr val="FF00FF"/>
                </a:solidFill>
              </a:rPr>
              <a:t>”</a:t>
            </a:r>
            <a:r>
              <a:rPr lang="zh-CN" altLang="en-US" sz="2000" b="1">
                <a:solidFill>
                  <a:srgbClr val="FF00FF"/>
                </a:solidFill>
                <a:latin typeface="宋体" panose="02010600030101010101" pitchFamily="2" charset="-122"/>
              </a:rPr>
              <a:t>中保留</a:t>
            </a:r>
            <a:r>
              <a:rPr lang="en-US" altLang="zh-CN" sz="2000" b="1">
                <a:solidFill>
                  <a:srgbClr val="FF00FF"/>
                </a:solidFill>
                <a:latin typeface="宋体" panose="02010600030101010101" pitchFamily="2" charset="-122"/>
              </a:rPr>
              <a:t>5</a:t>
            </a:r>
            <a:r>
              <a:rPr lang="zh-CN" altLang="en-US" sz="2000" b="1">
                <a:solidFill>
                  <a:srgbClr val="FF00FF"/>
                </a:solidFill>
                <a:latin typeface="宋体" panose="02010600030101010101" pitchFamily="2" charset="-122"/>
              </a:rPr>
              <a:t>个单元的空间</a:t>
            </a:r>
            <a:endParaRPr lang="zh-CN" altLang="en-US" sz="2000" b="1">
              <a:solidFill>
                <a:srgbClr val="FF00FF"/>
              </a:solidFill>
            </a:endParaRPr>
          </a:p>
          <a:p>
            <a:pPr algn="just"/>
            <a:r>
              <a:rPr lang="en-US" altLang="zh-CN" b="1">
                <a:solidFill>
                  <a:schemeClr val="folHlink"/>
                </a:solidFill>
                <a:latin typeface="宋体" panose="02010600030101010101" pitchFamily="2" charset="-122"/>
              </a:rPr>
              <a:t>a   .usect </a:t>
            </a:r>
            <a:r>
              <a:rPr lang="en-US" altLang="zh-CN" b="1">
                <a:solidFill>
                  <a:schemeClr val="folHlink"/>
                </a:solidFill>
              </a:rPr>
              <a:t>“</a:t>
            </a:r>
            <a:r>
              <a:rPr lang="en-US" altLang="zh-CN" b="1">
                <a:solidFill>
                  <a:schemeClr val="folHlink"/>
                </a:solidFill>
                <a:latin typeface="宋体" panose="02010600030101010101" pitchFamily="2" charset="-122"/>
              </a:rPr>
              <a:t>a</a:t>
            </a:r>
            <a:r>
              <a:rPr lang="en-US" altLang="zh-CN" b="1">
                <a:solidFill>
                  <a:schemeClr val="folHlink"/>
                </a:solidFill>
              </a:rPr>
              <a:t>”</a:t>
            </a:r>
            <a:r>
              <a:rPr lang="en-US" altLang="zh-CN" b="1">
                <a:solidFill>
                  <a:schemeClr val="folHlink"/>
                </a:solidFill>
                <a:latin typeface="宋体" panose="02010600030101010101" pitchFamily="2" charset="-122"/>
              </a:rPr>
              <a:t>,5 </a:t>
            </a:r>
            <a:r>
              <a:rPr lang="zh-CN" altLang="en-US" b="1">
                <a:solidFill>
                  <a:schemeClr val="folHlink"/>
                </a:solidFill>
                <a:latin typeface="宋体" panose="02010600030101010101" pitchFamily="2" charset="-122"/>
              </a:rPr>
              <a:t>；</a:t>
            </a:r>
            <a:r>
              <a:rPr lang="zh-CN" altLang="en-US" sz="2000" b="1">
                <a:solidFill>
                  <a:schemeClr val="folHlink"/>
                </a:solidFill>
                <a:latin typeface="宋体" panose="02010600030101010101" pitchFamily="2" charset="-122"/>
              </a:rPr>
              <a:t>在自定义的未初始化段</a:t>
            </a:r>
            <a:r>
              <a:rPr lang="zh-CN" altLang="en-US" sz="2000" b="1">
                <a:solidFill>
                  <a:schemeClr val="folHlink"/>
                </a:solidFill>
              </a:rPr>
              <a:t>“</a:t>
            </a:r>
            <a:r>
              <a:rPr lang="en-US" altLang="zh-CN" sz="2000" b="1">
                <a:solidFill>
                  <a:schemeClr val="folHlink"/>
                </a:solidFill>
                <a:latin typeface="宋体" panose="02010600030101010101" pitchFamily="2" charset="-122"/>
              </a:rPr>
              <a:t>a</a:t>
            </a:r>
            <a:r>
              <a:rPr lang="en-US" altLang="zh-CN" sz="2000" b="1">
                <a:solidFill>
                  <a:schemeClr val="folHlink"/>
                </a:solidFill>
              </a:rPr>
              <a:t>”</a:t>
            </a:r>
            <a:r>
              <a:rPr lang="zh-CN" altLang="en-US" sz="2000" b="1">
                <a:solidFill>
                  <a:schemeClr val="folHlink"/>
                </a:solidFill>
                <a:latin typeface="宋体" panose="02010600030101010101" pitchFamily="2" charset="-122"/>
              </a:rPr>
              <a:t>中保留</a:t>
            </a:r>
            <a:r>
              <a:rPr lang="en-US" altLang="zh-CN" sz="2000" b="1">
                <a:solidFill>
                  <a:schemeClr val="folHlink"/>
                </a:solidFill>
                <a:latin typeface="宋体" panose="02010600030101010101" pitchFamily="2" charset="-122"/>
              </a:rPr>
              <a:t>5</a:t>
            </a:r>
            <a:r>
              <a:rPr lang="zh-CN" altLang="en-US" sz="2000" b="1">
                <a:solidFill>
                  <a:schemeClr val="folHlink"/>
                </a:solidFill>
                <a:latin typeface="宋体" panose="02010600030101010101" pitchFamily="2" charset="-122"/>
              </a:rPr>
              <a:t>个单元的空间</a:t>
            </a:r>
            <a:endParaRPr lang="zh-CN" altLang="en-US" sz="2000" b="1">
              <a:solidFill>
                <a:schemeClr val="folHlink"/>
              </a:solidFill>
            </a:endParaRPr>
          </a:p>
          <a:p>
            <a:pPr algn="just"/>
            <a:r>
              <a:rPr lang="en-US" altLang="zh-CN" b="1">
                <a:solidFill>
                  <a:srgbClr val="FF6600"/>
                </a:solidFill>
                <a:latin typeface="宋体" panose="02010600030101010101" pitchFamily="2" charset="-122"/>
              </a:rPr>
              <a:t>PA0       .set   0          </a:t>
            </a:r>
            <a:r>
              <a:rPr lang="zh-CN" altLang="en-US" b="1">
                <a:solidFill>
                  <a:srgbClr val="FF6600"/>
                </a:solidFill>
                <a:latin typeface="宋体" panose="02010600030101010101" pitchFamily="2" charset="-122"/>
              </a:rPr>
              <a:t>；定义</a:t>
            </a:r>
            <a:r>
              <a:rPr lang="en-US" altLang="zh-CN" b="1">
                <a:solidFill>
                  <a:srgbClr val="FF6600"/>
                </a:solidFill>
                <a:latin typeface="宋体" panose="02010600030101010101" pitchFamily="2" charset="-122"/>
              </a:rPr>
              <a:t>PA0</a:t>
            </a:r>
            <a:r>
              <a:rPr lang="zh-CN" altLang="en-US" b="1">
                <a:solidFill>
                  <a:srgbClr val="FF6600"/>
                </a:solidFill>
                <a:latin typeface="宋体" panose="02010600030101010101" pitchFamily="2" charset="-122"/>
              </a:rPr>
              <a:t>为输出端口</a:t>
            </a:r>
            <a:endParaRPr lang="zh-CN" altLang="en-US" b="1">
              <a:solidFill>
                <a:srgbClr val="FF6600"/>
              </a:solidFill>
            </a:endParaRPr>
          </a:p>
          <a:p>
            <a:pPr algn="just"/>
            <a:r>
              <a:rPr lang="en-US" altLang="zh-CN" b="1">
                <a:solidFill>
                  <a:srgbClr val="FF6600"/>
                </a:solidFill>
                <a:latin typeface="宋体" panose="02010600030101010101" pitchFamily="2" charset="-122"/>
              </a:rPr>
              <a:t>PA1       .set   1          </a:t>
            </a:r>
            <a:r>
              <a:rPr lang="zh-CN" altLang="en-US" b="1">
                <a:solidFill>
                  <a:srgbClr val="FF6600"/>
                </a:solidFill>
                <a:latin typeface="宋体" panose="02010600030101010101" pitchFamily="2" charset="-122"/>
              </a:rPr>
              <a:t>；定义</a:t>
            </a:r>
            <a:r>
              <a:rPr lang="en-US" altLang="zh-CN" b="1">
                <a:solidFill>
                  <a:srgbClr val="FF6600"/>
                </a:solidFill>
                <a:latin typeface="宋体" panose="02010600030101010101" pitchFamily="2" charset="-122"/>
              </a:rPr>
              <a:t>PA1</a:t>
            </a:r>
            <a:r>
              <a:rPr lang="zh-CN" altLang="en-US" b="1">
                <a:solidFill>
                  <a:srgbClr val="FF6600"/>
                </a:solidFill>
                <a:latin typeface="宋体" panose="02010600030101010101" pitchFamily="2" charset="-122"/>
              </a:rPr>
              <a:t>为输入端口</a:t>
            </a:r>
            <a:endParaRPr lang="zh-CN" altLang="en-US" b="1">
              <a:solidFill>
                <a:srgbClr val="FF6600"/>
              </a:solidFill>
            </a:endParaRPr>
          </a:p>
          <a:p>
            <a:pPr algn="just"/>
            <a:r>
              <a:rPr lang="zh-CN" altLang="en-US" b="1">
                <a:latin typeface="宋体" panose="02010600030101010101" pitchFamily="2" charset="-122"/>
              </a:rPr>
              <a:t>          </a:t>
            </a:r>
            <a:r>
              <a:rPr lang="en-US" altLang="zh-CN" b="1">
                <a:latin typeface="宋体" panose="02010600030101010101" pitchFamily="2" charset="-122"/>
              </a:rPr>
              <a:t>.data</a:t>
            </a:r>
            <a:endParaRPr lang="en-US" altLang="zh-CN" b="1"/>
          </a:p>
          <a:p>
            <a:pPr algn="just"/>
            <a:r>
              <a:rPr lang="en-US" altLang="zh-CN" b="1">
                <a:latin typeface="宋体" panose="02010600030101010101" pitchFamily="2" charset="-122"/>
              </a:rPr>
              <a:t>table:    .word  2*32768/10 </a:t>
            </a:r>
            <a:r>
              <a:rPr lang="zh-CN" altLang="en-US" b="1">
                <a:latin typeface="宋体" panose="02010600030101010101" pitchFamily="2" charset="-122"/>
              </a:rPr>
              <a:t>；假定程序空间有五个参数</a:t>
            </a:r>
            <a:endParaRPr lang="zh-CN" altLang="en-US" b="1"/>
          </a:p>
          <a:p>
            <a:pPr algn="just"/>
            <a:r>
              <a:rPr lang="zh-CN" altLang="en-US" b="1">
                <a:latin typeface="宋体" panose="02010600030101010101" pitchFamily="2" charset="-122"/>
              </a:rPr>
              <a:t>          </a:t>
            </a:r>
            <a:r>
              <a:rPr lang="en-US" altLang="zh-CN" b="1">
                <a:latin typeface="宋体" panose="02010600030101010101" pitchFamily="2" charset="-122"/>
              </a:rPr>
              <a:t>.word  -3*32768/10</a:t>
            </a:r>
            <a:endParaRPr lang="en-US" altLang="zh-CN" b="1"/>
          </a:p>
          <a:p>
            <a:pPr algn="just"/>
            <a:r>
              <a:rPr lang="en-US" altLang="zh-CN" b="1">
                <a:latin typeface="宋体" panose="02010600030101010101" pitchFamily="2" charset="-122"/>
              </a:rPr>
              <a:t>          .word  4*32768/10</a:t>
            </a:r>
            <a:endParaRPr lang="en-US" altLang="zh-CN" b="1"/>
          </a:p>
          <a:p>
            <a:pPr algn="just"/>
            <a:r>
              <a:rPr lang="en-US" altLang="zh-CN" b="1">
                <a:latin typeface="宋体" panose="02010600030101010101" pitchFamily="2" charset="-122"/>
              </a:rPr>
              <a:t>          .word  -3*32768/10</a:t>
            </a:r>
            <a:endParaRPr lang="en-US" altLang="zh-CN" b="1"/>
          </a:p>
          <a:p>
            <a:pPr algn="just"/>
            <a:r>
              <a:rPr lang="en-US" altLang="zh-CN" b="1">
                <a:latin typeface="宋体" panose="02010600030101010101" pitchFamily="2" charset="-122"/>
              </a:rPr>
              <a:t>          .word  2*32768/10</a:t>
            </a:r>
            <a:endParaRPr lang="en-US" altLang="zh-CN" b="1"/>
          </a:p>
        </p:txBody>
      </p:sp>
      <p:pic>
        <p:nvPicPr>
          <p:cNvPr id="880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4941888"/>
            <a:ext cx="2413000" cy="1666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65282"/>
                                        </p:tgtEl>
                                        <p:attrNameLst>
                                          <p:attrName>style.visibility</p:attrName>
                                        </p:attrNameLst>
                                      </p:cBhvr>
                                      <p:to>
                                        <p:strVal val="visible"/>
                                      </p:to>
                                    </p:set>
                                    <p:animEffect transition="in" filter="blinds(horizontal)">
                                      <p:cBhvr>
                                        <p:cTn id="7" dur="500"/>
                                        <p:tgtEl>
                                          <p:spTgt spid="865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528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0775EE4-E756-4FCB-BA08-C0FE0708D1EF}" type="slidenum">
              <a:rPr lang="en-US" altLang="zh-CN" sz="1400"/>
              <a:pPr eaLnBrk="1" hangingPunct="1"/>
              <a:t>80</a:t>
            </a:fld>
            <a:endParaRPr lang="en-US" altLang="zh-CN" sz="1400"/>
          </a:p>
        </p:txBody>
      </p:sp>
      <p:sp>
        <p:nvSpPr>
          <p:cNvPr id="89091" name="Rectangle 2"/>
          <p:cNvSpPr>
            <a:spLocks noChangeArrowheads="1"/>
          </p:cNvSpPr>
          <p:nvPr/>
        </p:nvSpPr>
        <p:spPr bwMode="auto">
          <a:xfrm>
            <a:off x="304800" y="1143000"/>
            <a:ext cx="861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667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latin typeface="宋体" panose="02010600030101010101" pitchFamily="2" charset="-122"/>
              </a:rPr>
              <a:t> </a:t>
            </a:r>
            <a:endParaRPr lang="en-US" altLang="zh-CN" sz="2800" b="1"/>
          </a:p>
        </p:txBody>
      </p:sp>
      <p:sp>
        <p:nvSpPr>
          <p:cNvPr id="866307" name="Rectangle 3"/>
          <p:cNvSpPr>
            <a:spLocks noChangeArrowheads="1"/>
          </p:cNvSpPr>
          <p:nvPr/>
        </p:nvSpPr>
        <p:spPr bwMode="auto">
          <a:xfrm>
            <a:off x="304800" y="1066800"/>
            <a:ext cx="8458200" cy="558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t>         .text</a:t>
            </a:r>
          </a:p>
          <a:p>
            <a:pPr algn="just"/>
            <a:r>
              <a:rPr lang="en-US" altLang="zh-CN" sz="2800" b="1">
                <a:solidFill>
                  <a:schemeClr val="folHlink"/>
                </a:solidFill>
              </a:rPr>
              <a:t>start: STM      #a,AR2          </a:t>
            </a:r>
            <a:r>
              <a:rPr lang="zh-CN" altLang="en-US" sz="2800" b="1">
                <a:solidFill>
                  <a:schemeClr val="folHlink"/>
                </a:solidFill>
              </a:rPr>
              <a:t>；将数据空间用于放参数</a:t>
            </a:r>
          </a:p>
          <a:p>
            <a:pPr algn="just"/>
            <a:r>
              <a:rPr lang="zh-CN" altLang="en-US" sz="2800" b="1">
                <a:solidFill>
                  <a:schemeClr val="folHlink"/>
                </a:solidFill>
              </a:rPr>
              <a:t>                                                ；的首地址送</a:t>
            </a:r>
            <a:r>
              <a:rPr lang="en-US" altLang="zh-CN" sz="2800" b="1">
                <a:solidFill>
                  <a:schemeClr val="folHlink"/>
                </a:solidFill>
              </a:rPr>
              <a:t>AR2</a:t>
            </a:r>
          </a:p>
          <a:p>
            <a:pPr algn="just"/>
            <a:r>
              <a:rPr lang="en-US" altLang="zh-CN" sz="2800" b="1">
                <a:solidFill>
                  <a:schemeClr val="folHlink"/>
                </a:solidFill>
              </a:rPr>
              <a:t>          RPT      #4                    </a:t>
            </a:r>
            <a:r>
              <a:rPr lang="zh-CN" altLang="en-US" sz="2800" b="1">
                <a:solidFill>
                  <a:schemeClr val="folHlink"/>
                </a:solidFill>
              </a:rPr>
              <a:t>；重复下条指令</a:t>
            </a:r>
            <a:r>
              <a:rPr lang="en-US" altLang="zh-CN" sz="2800" b="1">
                <a:solidFill>
                  <a:schemeClr val="folHlink"/>
                </a:solidFill>
              </a:rPr>
              <a:t>5</a:t>
            </a:r>
            <a:r>
              <a:rPr lang="zh-CN" altLang="en-US" sz="2800" b="1">
                <a:solidFill>
                  <a:schemeClr val="folHlink"/>
                </a:solidFill>
              </a:rPr>
              <a:t>次传送</a:t>
            </a:r>
          </a:p>
          <a:p>
            <a:pPr algn="just"/>
            <a:r>
              <a:rPr lang="zh-CN" altLang="en-US" sz="2800" b="1">
                <a:solidFill>
                  <a:schemeClr val="folHlink"/>
                </a:solidFill>
              </a:rPr>
              <a:t>          </a:t>
            </a:r>
            <a:r>
              <a:rPr lang="en-US" altLang="zh-CN" sz="2800" b="1">
                <a:solidFill>
                  <a:schemeClr val="folHlink"/>
                </a:solidFill>
              </a:rPr>
              <a:t>MVPD   table,*AR2+  </a:t>
            </a:r>
            <a:r>
              <a:rPr lang="zh-CN" altLang="en-US" sz="2800" b="1">
                <a:solidFill>
                  <a:schemeClr val="folHlink"/>
                </a:solidFill>
              </a:rPr>
              <a:t>；</a:t>
            </a:r>
            <a:r>
              <a:rPr lang="zh-CN" altLang="en-US" sz="2000" b="1">
                <a:solidFill>
                  <a:schemeClr val="folHlink"/>
                </a:solidFill>
              </a:rPr>
              <a:t>传送程序空间的参数到数据空间</a:t>
            </a:r>
            <a:r>
              <a:rPr lang="zh-CN" altLang="en-US" sz="2000" b="1"/>
              <a:t>          </a:t>
            </a:r>
          </a:p>
          <a:p>
            <a:pPr algn="just"/>
            <a:r>
              <a:rPr lang="zh-CN" altLang="en-US" sz="2800" b="1"/>
              <a:t>          </a:t>
            </a:r>
            <a:r>
              <a:rPr lang="en-US" altLang="zh-CN" sz="2800" b="1">
                <a:solidFill>
                  <a:schemeClr val="tx2"/>
                </a:solidFill>
              </a:rPr>
              <a:t>STM     #x+4,AR1       </a:t>
            </a:r>
            <a:r>
              <a:rPr lang="zh-CN" altLang="en-US" sz="2800" b="1">
                <a:solidFill>
                  <a:schemeClr val="tx2"/>
                </a:solidFill>
              </a:rPr>
              <a:t>；</a:t>
            </a:r>
            <a:r>
              <a:rPr lang="en-US" altLang="zh-CN" sz="2800" b="1">
                <a:solidFill>
                  <a:schemeClr val="tx2"/>
                </a:solidFill>
              </a:rPr>
              <a:t>AR1</a:t>
            </a:r>
            <a:r>
              <a:rPr lang="zh-CN" altLang="en-US" sz="2800" b="1">
                <a:solidFill>
                  <a:schemeClr val="tx2"/>
                </a:solidFill>
              </a:rPr>
              <a:t>指向</a:t>
            </a:r>
            <a:r>
              <a:rPr lang="en-US" altLang="zh-CN" sz="2800" b="1">
                <a:solidFill>
                  <a:schemeClr val="tx2"/>
                </a:solidFill>
              </a:rPr>
              <a:t>x</a:t>
            </a:r>
            <a:r>
              <a:rPr lang="zh-CN" altLang="en-US" sz="2800" b="1">
                <a:solidFill>
                  <a:schemeClr val="tx2"/>
                </a:solidFill>
              </a:rPr>
              <a:t>（</a:t>
            </a:r>
            <a:r>
              <a:rPr lang="en-US" altLang="zh-CN" sz="2800" b="1">
                <a:solidFill>
                  <a:schemeClr val="tx2"/>
                </a:solidFill>
              </a:rPr>
              <a:t>n-4</a:t>
            </a:r>
            <a:r>
              <a:rPr lang="zh-CN" altLang="en-US" sz="2800" b="1">
                <a:solidFill>
                  <a:schemeClr val="tx2"/>
                </a:solidFill>
              </a:rPr>
              <a:t>）</a:t>
            </a:r>
          </a:p>
          <a:p>
            <a:pPr algn="just"/>
            <a:r>
              <a:rPr lang="zh-CN" altLang="en-US" sz="2800" b="1">
                <a:solidFill>
                  <a:schemeClr val="tx2"/>
                </a:solidFill>
              </a:rPr>
              <a:t>          </a:t>
            </a:r>
            <a:r>
              <a:rPr lang="en-US" altLang="zh-CN" sz="2800" b="1">
                <a:solidFill>
                  <a:schemeClr val="tx2"/>
                </a:solidFill>
              </a:rPr>
              <a:t>STM     #a+4,AR2       </a:t>
            </a:r>
            <a:r>
              <a:rPr lang="zh-CN" altLang="en-US" sz="2800" b="1">
                <a:solidFill>
                  <a:schemeClr val="tx2"/>
                </a:solidFill>
              </a:rPr>
              <a:t>；</a:t>
            </a:r>
            <a:r>
              <a:rPr lang="en-US" altLang="zh-CN" sz="2800" b="1">
                <a:solidFill>
                  <a:schemeClr val="tx2"/>
                </a:solidFill>
              </a:rPr>
              <a:t>AR2</a:t>
            </a:r>
            <a:r>
              <a:rPr lang="zh-CN" altLang="en-US" sz="2800" b="1">
                <a:solidFill>
                  <a:schemeClr val="tx2"/>
                </a:solidFill>
              </a:rPr>
              <a:t>指向</a:t>
            </a:r>
            <a:r>
              <a:rPr lang="en-US" altLang="zh-CN" sz="2800" b="1">
                <a:solidFill>
                  <a:schemeClr val="tx2"/>
                </a:solidFill>
              </a:rPr>
              <a:t>a</a:t>
            </a:r>
            <a:r>
              <a:rPr lang="en-US" altLang="zh-CN" sz="2800" b="1" baseline="-30000">
                <a:solidFill>
                  <a:schemeClr val="tx2"/>
                </a:solidFill>
              </a:rPr>
              <a:t>4</a:t>
            </a:r>
            <a:endParaRPr lang="en-US" altLang="zh-CN" sz="2800" b="1">
              <a:solidFill>
                <a:schemeClr val="tx2"/>
              </a:solidFill>
            </a:endParaRPr>
          </a:p>
          <a:p>
            <a:pPr algn="just"/>
            <a:r>
              <a:rPr lang="en-US" altLang="zh-CN" sz="2800" b="1">
                <a:solidFill>
                  <a:srgbClr val="FF00FF"/>
                </a:solidFill>
              </a:rPr>
              <a:t>          STM     #4,AR0</a:t>
            </a:r>
            <a:r>
              <a:rPr lang="en-US" altLang="zh-CN" sz="2800" b="1"/>
              <a:t>           </a:t>
            </a:r>
            <a:r>
              <a:rPr lang="zh-CN" altLang="en-US" sz="2800" b="1"/>
              <a:t>；指针复位值</a:t>
            </a:r>
            <a:r>
              <a:rPr lang="en-US" altLang="zh-CN" sz="2800" b="1"/>
              <a:t>4→AR0</a:t>
            </a:r>
          </a:p>
          <a:p>
            <a:pPr algn="just"/>
            <a:r>
              <a:rPr lang="en-US" altLang="zh-CN" sz="2800" b="1"/>
              <a:t>          </a:t>
            </a:r>
            <a:r>
              <a:rPr lang="en-US" altLang="zh-CN" sz="2800" b="1">
                <a:solidFill>
                  <a:srgbClr val="FF0000"/>
                </a:solidFill>
              </a:rPr>
              <a:t>SSBX    FRCT             </a:t>
            </a:r>
            <a:r>
              <a:rPr lang="zh-CN" altLang="en-US" sz="2800" b="1">
                <a:solidFill>
                  <a:srgbClr val="FF0000"/>
                </a:solidFill>
              </a:rPr>
              <a:t>；小数相乘</a:t>
            </a:r>
          </a:p>
          <a:p>
            <a:pPr algn="just"/>
            <a:r>
              <a:rPr lang="zh-CN" altLang="en-US" sz="2800" b="1"/>
              <a:t>          </a:t>
            </a:r>
            <a:r>
              <a:rPr lang="en-US" altLang="zh-CN" sz="2800" b="1"/>
              <a:t>LD        #x,DP             </a:t>
            </a:r>
            <a:r>
              <a:rPr lang="zh-CN" altLang="en-US" sz="2800" b="1"/>
              <a:t>；设置数据存储器页指针</a:t>
            </a:r>
          </a:p>
          <a:p>
            <a:pPr algn="just"/>
            <a:r>
              <a:rPr lang="zh-CN" altLang="en-US" sz="2800" b="1"/>
              <a:t>                                               ；的起始位置</a:t>
            </a:r>
          </a:p>
          <a:p>
            <a:pPr algn="just"/>
            <a:r>
              <a:rPr lang="zh-CN" altLang="en-US" sz="2800" b="1"/>
              <a:t>          </a:t>
            </a:r>
            <a:r>
              <a:rPr lang="en-US" altLang="zh-CN" sz="2800" b="1">
                <a:solidFill>
                  <a:srgbClr val="FF6600"/>
                </a:solidFill>
              </a:rPr>
              <a:t>PORTR   PA1,@x  </a:t>
            </a:r>
            <a:r>
              <a:rPr lang="zh-CN" altLang="en-US" sz="2800" b="1">
                <a:solidFill>
                  <a:srgbClr val="FF6600"/>
                </a:solidFill>
              </a:rPr>
              <a:t>；</a:t>
            </a:r>
            <a:r>
              <a:rPr lang="zh-CN" altLang="en-US" b="1">
                <a:solidFill>
                  <a:srgbClr val="FF6600"/>
                </a:solidFill>
              </a:rPr>
              <a:t>从端口</a:t>
            </a:r>
            <a:r>
              <a:rPr lang="en-US" altLang="zh-CN" b="1">
                <a:solidFill>
                  <a:srgbClr val="FF6600"/>
                </a:solidFill>
              </a:rPr>
              <a:t>PA1</a:t>
            </a:r>
            <a:r>
              <a:rPr lang="zh-CN" altLang="en-US" b="1">
                <a:solidFill>
                  <a:srgbClr val="FF6600"/>
                </a:solidFill>
              </a:rPr>
              <a:t>输入最新值</a:t>
            </a:r>
            <a:r>
              <a:rPr lang="en-US" altLang="zh-CN" b="1">
                <a:solidFill>
                  <a:srgbClr val="FF6600"/>
                </a:solidFill>
              </a:rPr>
              <a:t>x</a:t>
            </a:r>
            <a:r>
              <a:rPr lang="zh-CN" altLang="en-US" b="1">
                <a:solidFill>
                  <a:srgbClr val="FF6600"/>
                </a:solidFill>
              </a:rPr>
              <a:t>（</a:t>
            </a:r>
            <a:r>
              <a:rPr lang="en-US" altLang="zh-CN" b="1">
                <a:solidFill>
                  <a:srgbClr val="FF6600"/>
                </a:solidFill>
              </a:rPr>
              <a:t>n</a:t>
            </a:r>
            <a:r>
              <a:rPr lang="zh-CN" altLang="en-US" b="1">
                <a:solidFill>
                  <a:srgbClr val="FF6600"/>
                </a:solidFill>
              </a:rPr>
              <a:t>）</a:t>
            </a:r>
          </a:p>
          <a:p>
            <a:endParaRPr lang="en-US" altLang="zh-CN" b="1">
              <a:solidFill>
                <a:srgbClr val="FF6600"/>
              </a:solidFill>
            </a:endParaRPr>
          </a:p>
        </p:txBody>
      </p:sp>
      <p:pic>
        <p:nvPicPr>
          <p:cNvPr id="8909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0" y="0"/>
            <a:ext cx="2268538" cy="15668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66307"/>
                                        </p:tgtEl>
                                        <p:attrNameLst>
                                          <p:attrName>style.visibility</p:attrName>
                                        </p:attrNameLst>
                                      </p:cBhvr>
                                      <p:to>
                                        <p:strVal val="visible"/>
                                      </p:to>
                                    </p:set>
                                    <p:animEffect transition="in" filter="blinds(vertical)">
                                      <p:cBhvr>
                                        <p:cTn id="7" dur="500"/>
                                        <p:tgtEl>
                                          <p:spTgt spid="866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0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BBEC7C8-2E2A-4EF9-821F-BCCBA64848EE}" type="slidenum">
              <a:rPr lang="en-US" altLang="zh-CN" sz="1400"/>
              <a:pPr eaLnBrk="1" hangingPunct="1"/>
              <a:t>81</a:t>
            </a:fld>
            <a:endParaRPr lang="en-US" altLang="zh-CN" sz="1400"/>
          </a:p>
        </p:txBody>
      </p:sp>
      <p:sp>
        <p:nvSpPr>
          <p:cNvPr id="867330" name="Rectangle 2"/>
          <p:cNvSpPr>
            <a:spLocks noChangeArrowheads="1"/>
          </p:cNvSpPr>
          <p:nvPr/>
        </p:nvSpPr>
        <p:spPr bwMode="auto">
          <a:xfrm>
            <a:off x="228600" y="1066800"/>
            <a:ext cx="861060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t>FIR2:  </a:t>
            </a:r>
            <a:r>
              <a:rPr lang="en-US" altLang="zh-CN" b="1">
                <a:solidFill>
                  <a:schemeClr val="tx2"/>
                </a:solidFill>
              </a:rPr>
              <a:t>LD      *AR1-,T     </a:t>
            </a:r>
            <a:r>
              <a:rPr lang="zh-CN" altLang="en-US" b="1">
                <a:solidFill>
                  <a:schemeClr val="tx2"/>
                </a:solidFill>
              </a:rPr>
              <a:t>；</a:t>
            </a:r>
            <a:r>
              <a:rPr lang="en-US" altLang="zh-CN" b="1">
                <a:solidFill>
                  <a:schemeClr val="tx2"/>
                </a:solidFill>
              </a:rPr>
              <a:t>x</a:t>
            </a:r>
            <a:r>
              <a:rPr lang="zh-CN" altLang="en-US" b="1">
                <a:solidFill>
                  <a:schemeClr val="tx2"/>
                </a:solidFill>
              </a:rPr>
              <a:t>（</a:t>
            </a:r>
            <a:r>
              <a:rPr lang="en-US" altLang="zh-CN" b="1">
                <a:solidFill>
                  <a:schemeClr val="tx2"/>
                </a:solidFill>
              </a:rPr>
              <a:t>n-4</a:t>
            </a:r>
            <a:r>
              <a:rPr lang="zh-CN" altLang="en-US" b="1">
                <a:solidFill>
                  <a:schemeClr val="tx2"/>
                </a:solidFill>
              </a:rPr>
              <a:t>）→</a:t>
            </a:r>
            <a:r>
              <a:rPr lang="en-US" altLang="zh-CN" b="1">
                <a:solidFill>
                  <a:schemeClr val="tx2"/>
                </a:solidFill>
              </a:rPr>
              <a:t>T</a:t>
            </a:r>
          </a:p>
          <a:p>
            <a:pPr algn="just"/>
            <a:r>
              <a:rPr lang="en-US" altLang="zh-CN" b="1">
                <a:solidFill>
                  <a:schemeClr val="tx2"/>
                </a:solidFill>
              </a:rPr>
              <a:t>           MPY     *AR2-,A   </a:t>
            </a:r>
            <a:r>
              <a:rPr lang="zh-CN" altLang="en-US" b="1">
                <a:solidFill>
                  <a:schemeClr val="tx2"/>
                </a:solidFill>
              </a:rPr>
              <a:t>；</a:t>
            </a:r>
            <a:r>
              <a:rPr lang="en-US" altLang="zh-CN" b="1">
                <a:solidFill>
                  <a:schemeClr val="tx2"/>
                </a:solidFill>
              </a:rPr>
              <a:t>a</a:t>
            </a:r>
            <a:r>
              <a:rPr lang="en-US" altLang="zh-CN" b="1" baseline="-30000">
                <a:solidFill>
                  <a:schemeClr val="tx2"/>
                </a:solidFill>
              </a:rPr>
              <a:t>4</a:t>
            </a:r>
            <a:r>
              <a:rPr lang="en-US" altLang="zh-CN" b="1">
                <a:solidFill>
                  <a:schemeClr val="tx2"/>
                </a:solidFill>
              </a:rPr>
              <a:t>*x</a:t>
            </a:r>
            <a:r>
              <a:rPr lang="zh-CN" altLang="en-US" b="1">
                <a:solidFill>
                  <a:schemeClr val="tx2"/>
                </a:solidFill>
              </a:rPr>
              <a:t>（</a:t>
            </a:r>
            <a:r>
              <a:rPr lang="en-US" altLang="zh-CN" b="1">
                <a:solidFill>
                  <a:schemeClr val="tx2"/>
                </a:solidFill>
              </a:rPr>
              <a:t>n-4</a:t>
            </a:r>
            <a:r>
              <a:rPr lang="zh-CN" altLang="en-US" b="1">
                <a:solidFill>
                  <a:schemeClr val="tx2"/>
                </a:solidFill>
              </a:rPr>
              <a:t>）→</a:t>
            </a:r>
            <a:r>
              <a:rPr lang="en-US" altLang="zh-CN" b="1">
                <a:solidFill>
                  <a:schemeClr val="tx2"/>
                </a:solidFill>
              </a:rPr>
              <a:t>A</a:t>
            </a:r>
          </a:p>
          <a:p>
            <a:pPr algn="just"/>
            <a:r>
              <a:rPr lang="en-US" altLang="zh-CN" b="1"/>
              <a:t>           </a:t>
            </a:r>
            <a:r>
              <a:rPr lang="en-US" altLang="zh-CN" b="1">
                <a:solidFill>
                  <a:schemeClr val="folHlink"/>
                </a:solidFill>
              </a:rPr>
              <a:t>LTD     *AR1-       </a:t>
            </a:r>
            <a:r>
              <a:rPr lang="zh-CN" altLang="en-US" b="1">
                <a:solidFill>
                  <a:schemeClr val="folHlink"/>
                </a:solidFill>
              </a:rPr>
              <a:t>；</a:t>
            </a:r>
            <a:r>
              <a:rPr lang="en-US" altLang="zh-CN" b="1">
                <a:solidFill>
                  <a:schemeClr val="folHlink"/>
                </a:solidFill>
              </a:rPr>
              <a:t>x</a:t>
            </a:r>
            <a:r>
              <a:rPr lang="zh-CN" altLang="en-US" b="1">
                <a:solidFill>
                  <a:schemeClr val="folHlink"/>
                </a:solidFill>
              </a:rPr>
              <a:t>（</a:t>
            </a:r>
            <a:r>
              <a:rPr lang="en-US" altLang="zh-CN" b="1">
                <a:solidFill>
                  <a:schemeClr val="folHlink"/>
                </a:solidFill>
              </a:rPr>
              <a:t>n-3</a:t>
            </a:r>
            <a:r>
              <a:rPr lang="zh-CN" altLang="en-US" b="1">
                <a:solidFill>
                  <a:schemeClr val="folHlink"/>
                </a:solidFill>
              </a:rPr>
              <a:t>）→</a:t>
            </a:r>
            <a:r>
              <a:rPr lang="en-US" altLang="zh-CN" b="1">
                <a:solidFill>
                  <a:schemeClr val="folHlink"/>
                </a:solidFill>
              </a:rPr>
              <a:t>T,x</a:t>
            </a:r>
            <a:r>
              <a:rPr lang="zh-CN" altLang="en-US" b="1">
                <a:solidFill>
                  <a:schemeClr val="folHlink"/>
                </a:solidFill>
              </a:rPr>
              <a:t>（</a:t>
            </a:r>
            <a:r>
              <a:rPr lang="en-US" altLang="zh-CN" b="1">
                <a:solidFill>
                  <a:schemeClr val="folHlink"/>
                </a:solidFill>
              </a:rPr>
              <a:t>n-3</a:t>
            </a:r>
            <a:r>
              <a:rPr lang="zh-CN" altLang="en-US" b="1">
                <a:solidFill>
                  <a:schemeClr val="folHlink"/>
                </a:solidFill>
              </a:rPr>
              <a:t>）→</a:t>
            </a:r>
            <a:r>
              <a:rPr lang="en-US" altLang="zh-CN" b="1">
                <a:solidFill>
                  <a:schemeClr val="folHlink"/>
                </a:solidFill>
              </a:rPr>
              <a:t>x</a:t>
            </a:r>
            <a:r>
              <a:rPr lang="zh-CN" altLang="en-US" b="1">
                <a:solidFill>
                  <a:schemeClr val="folHlink"/>
                </a:solidFill>
              </a:rPr>
              <a:t>（</a:t>
            </a:r>
            <a:r>
              <a:rPr lang="en-US" altLang="zh-CN" b="1">
                <a:solidFill>
                  <a:schemeClr val="folHlink"/>
                </a:solidFill>
              </a:rPr>
              <a:t>n-4</a:t>
            </a:r>
            <a:r>
              <a:rPr lang="zh-CN" altLang="en-US" b="1">
                <a:solidFill>
                  <a:schemeClr val="folHlink"/>
                </a:solidFill>
              </a:rPr>
              <a:t>）</a:t>
            </a:r>
          </a:p>
          <a:p>
            <a:pPr algn="just"/>
            <a:r>
              <a:rPr lang="zh-CN" altLang="en-US" b="1">
                <a:solidFill>
                  <a:schemeClr val="folHlink"/>
                </a:solidFill>
              </a:rPr>
              <a:t>           </a:t>
            </a:r>
            <a:r>
              <a:rPr lang="en-US" altLang="zh-CN" b="1">
                <a:solidFill>
                  <a:schemeClr val="folHlink"/>
                </a:solidFill>
              </a:rPr>
              <a:t>MAC     *AR2-,A  </a:t>
            </a:r>
            <a:r>
              <a:rPr lang="zh-CN" altLang="en-US" b="1">
                <a:solidFill>
                  <a:schemeClr val="folHlink"/>
                </a:solidFill>
              </a:rPr>
              <a:t>；</a:t>
            </a:r>
            <a:r>
              <a:rPr lang="en-US" altLang="zh-CN" b="1">
                <a:solidFill>
                  <a:schemeClr val="folHlink"/>
                </a:solidFill>
              </a:rPr>
              <a:t>A+a</a:t>
            </a:r>
            <a:r>
              <a:rPr lang="en-US" altLang="zh-CN" b="1" baseline="-30000">
                <a:solidFill>
                  <a:schemeClr val="folHlink"/>
                </a:solidFill>
              </a:rPr>
              <a:t>3</a:t>
            </a:r>
            <a:r>
              <a:rPr lang="en-US" altLang="zh-CN" b="1">
                <a:solidFill>
                  <a:schemeClr val="folHlink"/>
                </a:solidFill>
              </a:rPr>
              <a:t>*x</a:t>
            </a:r>
            <a:r>
              <a:rPr lang="zh-CN" altLang="en-US" b="1">
                <a:solidFill>
                  <a:schemeClr val="folHlink"/>
                </a:solidFill>
              </a:rPr>
              <a:t>（</a:t>
            </a:r>
            <a:r>
              <a:rPr lang="en-US" altLang="zh-CN" b="1">
                <a:solidFill>
                  <a:schemeClr val="folHlink"/>
                </a:solidFill>
              </a:rPr>
              <a:t>n-3</a:t>
            </a:r>
            <a:r>
              <a:rPr lang="zh-CN" altLang="en-US" b="1">
                <a:solidFill>
                  <a:schemeClr val="folHlink"/>
                </a:solidFill>
              </a:rPr>
              <a:t>）→</a:t>
            </a:r>
            <a:r>
              <a:rPr lang="en-US" altLang="zh-CN" b="1">
                <a:solidFill>
                  <a:schemeClr val="folHlink"/>
                </a:solidFill>
              </a:rPr>
              <a:t>A</a:t>
            </a:r>
          </a:p>
          <a:p>
            <a:pPr algn="just"/>
            <a:r>
              <a:rPr lang="en-US" altLang="zh-CN" b="1"/>
              <a:t>           </a:t>
            </a:r>
            <a:r>
              <a:rPr lang="en-US" altLang="zh-CN" b="1">
                <a:solidFill>
                  <a:srgbClr val="FF00FF"/>
                </a:solidFill>
              </a:rPr>
              <a:t>LTD     *AR1-       </a:t>
            </a:r>
            <a:r>
              <a:rPr lang="zh-CN" altLang="en-US" b="1">
                <a:solidFill>
                  <a:srgbClr val="FF00FF"/>
                </a:solidFill>
              </a:rPr>
              <a:t>；</a:t>
            </a:r>
            <a:r>
              <a:rPr lang="en-US" altLang="zh-CN" b="1">
                <a:solidFill>
                  <a:srgbClr val="FF00FF"/>
                </a:solidFill>
              </a:rPr>
              <a:t>x</a:t>
            </a:r>
            <a:r>
              <a:rPr lang="zh-CN" altLang="en-US" b="1">
                <a:solidFill>
                  <a:srgbClr val="FF00FF"/>
                </a:solidFill>
              </a:rPr>
              <a:t>（</a:t>
            </a:r>
            <a:r>
              <a:rPr lang="en-US" altLang="zh-CN" b="1">
                <a:solidFill>
                  <a:srgbClr val="FF00FF"/>
                </a:solidFill>
              </a:rPr>
              <a:t>n-2</a:t>
            </a:r>
            <a:r>
              <a:rPr lang="zh-CN" altLang="en-US" b="1">
                <a:solidFill>
                  <a:srgbClr val="FF00FF"/>
                </a:solidFill>
              </a:rPr>
              <a:t>）→</a:t>
            </a:r>
            <a:r>
              <a:rPr lang="en-US" altLang="zh-CN" b="1">
                <a:solidFill>
                  <a:srgbClr val="FF00FF"/>
                </a:solidFill>
              </a:rPr>
              <a:t>T,x</a:t>
            </a:r>
            <a:r>
              <a:rPr lang="zh-CN" altLang="en-US" b="1">
                <a:solidFill>
                  <a:srgbClr val="FF00FF"/>
                </a:solidFill>
              </a:rPr>
              <a:t>（</a:t>
            </a:r>
            <a:r>
              <a:rPr lang="en-US" altLang="zh-CN" b="1">
                <a:solidFill>
                  <a:srgbClr val="FF00FF"/>
                </a:solidFill>
              </a:rPr>
              <a:t>n-2</a:t>
            </a:r>
            <a:r>
              <a:rPr lang="zh-CN" altLang="en-US" b="1">
                <a:solidFill>
                  <a:srgbClr val="FF00FF"/>
                </a:solidFill>
              </a:rPr>
              <a:t>）→</a:t>
            </a:r>
            <a:r>
              <a:rPr lang="en-US" altLang="zh-CN" b="1">
                <a:solidFill>
                  <a:srgbClr val="FF00FF"/>
                </a:solidFill>
              </a:rPr>
              <a:t>x</a:t>
            </a:r>
            <a:r>
              <a:rPr lang="zh-CN" altLang="en-US" b="1">
                <a:solidFill>
                  <a:srgbClr val="FF00FF"/>
                </a:solidFill>
              </a:rPr>
              <a:t>（</a:t>
            </a:r>
            <a:r>
              <a:rPr lang="en-US" altLang="zh-CN" b="1">
                <a:solidFill>
                  <a:srgbClr val="FF00FF"/>
                </a:solidFill>
              </a:rPr>
              <a:t>n-3</a:t>
            </a:r>
            <a:r>
              <a:rPr lang="zh-CN" altLang="en-US" b="1">
                <a:solidFill>
                  <a:srgbClr val="FF00FF"/>
                </a:solidFill>
              </a:rPr>
              <a:t>）</a:t>
            </a:r>
          </a:p>
          <a:p>
            <a:pPr algn="just"/>
            <a:r>
              <a:rPr lang="zh-CN" altLang="en-US" b="1">
                <a:solidFill>
                  <a:srgbClr val="FF00FF"/>
                </a:solidFill>
              </a:rPr>
              <a:t>           </a:t>
            </a:r>
            <a:r>
              <a:rPr lang="en-US" altLang="zh-CN" b="1">
                <a:solidFill>
                  <a:srgbClr val="FF00FF"/>
                </a:solidFill>
              </a:rPr>
              <a:t>MAC     *AR2-,A  </a:t>
            </a:r>
            <a:r>
              <a:rPr lang="zh-CN" altLang="en-US" b="1">
                <a:solidFill>
                  <a:srgbClr val="FF00FF"/>
                </a:solidFill>
              </a:rPr>
              <a:t>；</a:t>
            </a:r>
            <a:r>
              <a:rPr lang="en-US" altLang="zh-CN" b="1">
                <a:solidFill>
                  <a:srgbClr val="FF00FF"/>
                </a:solidFill>
              </a:rPr>
              <a:t>A+a</a:t>
            </a:r>
            <a:r>
              <a:rPr lang="en-US" altLang="zh-CN" b="1" baseline="-30000">
                <a:solidFill>
                  <a:srgbClr val="FF00FF"/>
                </a:solidFill>
              </a:rPr>
              <a:t>2</a:t>
            </a:r>
            <a:r>
              <a:rPr lang="en-US" altLang="zh-CN" b="1">
                <a:solidFill>
                  <a:srgbClr val="FF00FF"/>
                </a:solidFill>
              </a:rPr>
              <a:t>*x</a:t>
            </a:r>
            <a:r>
              <a:rPr lang="zh-CN" altLang="en-US" b="1">
                <a:solidFill>
                  <a:srgbClr val="FF00FF"/>
                </a:solidFill>
              </a:rPr>
              <a:t>（</a:t>
            </a:r>
            <a:r>
              <a:rPr lang="en-US" altLang="zh-CN" b="1">
                <a:solidFill>
                  <a:srgbClr val="FF00FF"/>
                </a:solidFill>
              </a:rPr>
              <a:t>n-2</a:t>
            </a:r>
            <a:r>
              <a:rPr lang="zh-CN" altLang="en-US" b="1">
                <a:solidFill>
                  <a:srgbClr val="FF00FF"/>
                </a:solidFill>
              </a:rPr>
              <a:t>）→</a:t>
            </a:r>
            <a:r>
              <a:rPr lang="en-US" altLang="zh-CN" b="1">
                <a:solidFill>
                  <a:srgbClr val="FF00FF"/>
                </a:solidFill>
              </a:rPr>
              <a:t>A</a:t>
            </a:r>
          </a:p>
          <a:p>
            <a:pPr algn="just"/>
            <a:r>
              <a:rPr lang="en-US" altLang="zh-CN" b="1"/>
              <a:t>           </a:t>
            </a:r>
            <a:r>
              <a:rPr lang="en-US" altLang="zh-CN" b="1">
                <a:solidFill>
                  <a:srgbClr val="FF6600"/>
                </a:solidFill>
              </a:rPr>
              <a:t>LTD     *AR1-       </a:t>
            </a:r>
            <a:r>
              <a:rPr lang="zh-CN" altLang="en-US" b="1">
                <a:solidFill>
                  <a:srgbClr val="FF6600"/>
                </a:solidFill>
              </a:rPr>
              <a:t>；</a:t>
            </a:r>
            <a:r>
              <a:rPr lang="en-US" altLang="zh-CN" b="1">
                <a:solidFill>
                  <a:srgbClr val="FF6600"/>
                </a:solidFill>
              </a:rPr>
              <a:t>x</a:t>
            </a:r>
            <a:r>
              <a:rPr lang="zh-CN" altLang="en-US" b="1">
                <a:solidFill>
                  <a:srgbClr val="FF6600"/>
                </a:solidFill>
              </a:rPr>
              <a:t>（</a:t>
            </a:r>
            <a:r>
              <a:rPr lang="en-US" altLang="zh-CN" b="1">
                <a:solidFill>
                  <a:srgbClr val="FF6600"/>
                </a:solidFill>
              </a:rPr>
              <a:t>n-1</a:t>
            </a:r>
            <a:r>
              <a:rPr lang="zh-CN" altLang="en-US" b="1">
                <a:solidFill>
                  <a:srgbClr val="FF6600"/>
                </a:solidFill>
              </a:rPr>
              <a:t>）→</a:t>
            </a:r>
            <a:r>
              <a:rPr lang="en-US" altLang="zh-CN" b="1">
                <a:solidFill>
                  <a:srgbClr val="FF6600"/>
                </a:solidFill>
              </a:rPr>
              <a:t>T,x</a:t>
            </a:r>
            <a:r>
              <a:rPr lang="zh-CN" altLang="en-US" b="1">
                <a:solidFill>
                  <a:srgbClr val="FF6600"/>
                </a:solidFill>
              </a:rPr>
              <a:t>（</a:t>
            </a:r>
            <a:r>
              <a:rPr lang="en-US" altLang="zh-CN" b="1">
                <a:solidFill>
                  <a:srgbClr val="FF6600"/>
                </a:solidFill>
              </a:rPr>
              <a:t>n-1</a:t>
            </a:r>
            <a:r>
              <a:rPr lang="zh-CN" altLang="en-US" b="1">
                <a:solidFill>
                  <a:srgbClr val="FF6600"/>
                </a:solidFill>
              </a:rPr>
              <a:t>）→</a:t>
            </a:r>
            <a:r>
              <a:rPr lang="en-US" altLang="zh-CN" b="1">
                <a:solidFill>
                  <a:srgbClr val="FF6600"/>
                </a:solidFill>
              </a:rPr>
              <a:t>x</a:t>
            </a:r>
            <a:r>
              <a:rPr lang="zh-CN" altLang="en-US" b="1">
                <a:solidFill>
                  <a:srgbClr val="FF6600"/>
                </a:solidFill>
              </a:rPr>
              <a:t>（</a:t>
            </a:r>
            <a:r>
              <a:rPr lang="en-US" altLang="zh-CN" b="1">
                <a:solidFill>
                  <a:srgbClr val="FF6600"/>
                </a:solidFill>
              </a:rPr>
              <a:t>n-2</a:t>
            </a:r>
            <a:r>
              <a:rPr lang="zh-CN" altLang="en-US" b="1">
                <a:solidFill>
                  <a:srgbClr val="FF6600"/>
                </a:solidFill>
              </a:rPr>
              <a:t>）</a:t>
            </a:r>
          </a:p>
          <a:p>
            <a:pPr algn="just"/>
            <a:r>
              <a:rPr lang="zh-CN" altLang="en-US" b="1">
                <a:solidFill>
                  <a:srgbClr val="FF6600"/>
                </a:solidFill>
              </a:rPr>
              <a:t>           </a:t>
            </a:r>
            <a:r>
              <a:rPr lang="en-US" altLang="zh-CN" b="1">
                <a:solidFill>
                  <a:srgbClr val="FF6600"/>
                </a:solidFill>
              </a:rPr>
              <a:t>MAC     *AR2-,A  </a:t>
            </a:r>
            <a:r>
              <a:rPr lang="zh-CN" altLang="en-US" b="1">
                <a:solidFill>
                  <a:srgbClr val="FF6600"/>
                </a:solidFill>
              </a:rPr>
              <a:t>；</a:t>
            </a:r>
            <a:r>
              <a:rPr lang="en-US" altLang="zh-CN" b="1">
                <a:solidFill>
                  <a:srgbClr val="FF6600"/>
                </a:solidFill>
              </a:rPr>
              <a:t>A+a</a:t>
            </a:r>
            <a:r>
              <a:rPr lang="en-US" altLang="zh-CN" b="1" baseline="-30000">
                <a:solidFill>
                  <a:srgbClr val="FF6600"/>
                </a:solidFill>
              </a:rPr>
              <a:t>1</a:t>
            </a:r>
            <a:r>
              <a:rPr lang="en-US" altLang="zh-CN" b="1">
                <a:solidFill>
                  <a:srgbClr val="FF6600"/>
                </a:solidFill>
              </a:rPr>
              <a:t>*x</a:t>
            </a:r>
            <a:r>
              <a:rPr lang="zh-CN" altLang="en-US" b="1">
                <a:solidFill>
                  <a:srgbClr val="FF6600"/>
                </a:solidFill>
              </a:rPr>
              <a:t>（</a:t>
            </a:r>
            <a:r>
              <a:rPr lang="en-US" altLang="zh-CN" b="1">
                <a:solidFill>
                  <a:srgbClr val="FF6600"/>
                </a:solidFill>
              </a:rPr>
              <a:t>n-1</a:t>
            </a:r>
            <a:r>
              <a:rPr lang="zh-CN" altLang="en-US" b="1">
                <a:solidFill>
                  <a:srgbClr val="FF6600"/>
                </a:solidFill>
              </a:rPr>
              <a:t>）→</a:t>
            </a:r>
            <a:r>
              <a:rPr lang="en-US" altLang="zh-CN" b="1">
                <a:solidFill>
                  <a:srgbClr val="FF6600"/>
                </a:solidFill>
              </a:rPr>
              <a:t>A</a:t>
            </a:r>
          </a:p>
          <a:p>
            <a:pPr algn="just"/>
            <a:r>
              <a:rPr lang="en-US" altLang="zh-CN" b="1"/>
              <a:t>           </a:t>
            </a:r>
            <a:r>
              <a:rPr lang="en-US" altLang="zh-CN" b="1">
                <a:solidFill>
                  <a:srgbClr val="FF0000"/>
                </a:solidFill>
              </a:rPr>
              <a:t>LTD     *AR1        </a:t>
            </a:r>
            <a:r>
              <a:rPr lang="zh-CN" altLang="en-US" b="1">
                <a:solidFill>
                  <a:srgbClr val="FF0000"/>
                </a:solidFill>
              </a:rPr>
              <a:t>；</a:t>
            </a:r>
            <a:r>
              <a:rPr lang="en-US" altLang="zh-CN" b="1">
                <a:solidFill>
                  <a:srgbClr val="FF0000"/>
                </a:solidFill>
              </a:rPr>
              <a:t>x</a:t>
            </a:r>
            <a:r>
              <a:rPr lang="zh-CN" altLang="en-US" b="1">
                <a:solidFill>
                  <a:srgbClr val="FF0000"/>
                </a:solidFill>
              </a:rPr>
              <a:t>（</a:t>
            </a:r>
            <a:r>
              <a:rPr lang="en-US" altLang="zh-CN" b="1">
                <a:solidFill>
                  <a:srgbClr val="FF0000"/>
                </a:solidFill>
              </a:rPr>
              <a:t>n</a:t>
            </a:r>
            <a:r>
              <a:rPr lang="zh-CN" altLang="en-US" b="1">
                <a:solidFill>
                  <a:srgbClr val="FF0000"/>
                </a:solidFill>
              </a:rPr>
              <a:t>）→</a:t>
            </a:r>
            <a:r>
              <a:rPr lang="en-US" altLang="zh-CN" b="1">
                <a:solidFill>
                  <a:srgbClr val="FF0000"/>
                </a:solidFill>
              </a:rPr>
              <a:t>T, x</a:t>
            </a:r>
            <a:r>
              <a:rPr lang="zh-CN" altLang="en-US" b="1">
                <a:solidFill>
                  <a:srgbClr val="FF0000"/>
                </a:solidFill>
              </a:rPr>
              <a:t>（</a:t>
            </a:r>
            <a:r>
              <a:rPr lang="en-US" altLang="zh-CN" b="1">
                <a:solidFill>
                  <a:srgbClr val="FF0000"/>
                </a:solidFill>
              </a:rPr>
              <a:t>n</a:t>
            </a:r>
            <a:r>
              <a:rPr lang="zh-CN" altLang="en-US" b="1">
                <a:solidFill>
                  <a:srgbClr val="FF0000"/>
                </a:solidFill>
              </a:rPr>
              <a:t>）→</a:t>
            </a:r>
            <a:r>
              <a:rPr lang="en-US" altLang="zh-CN" b="1">
                <a:solidFill>
                  <a:srgbClr val="FF0000"/>
                </a:solidFill>
              </a:rPr>
              <a:t>x</a:t>
            </a:r>
            <a:r>
              <a:rPr lang="zh-CN" altLang="en-US" b="1">
                <a:solidFill>
                  <a:srgbClr val="FF0000"/>
                </a:solidFill>
              </a:rPr>
              <a:t>（</a:t>
            </a:r>
            <a:r>
              <a:rPr lang="en-US" altLang="zh-CN" b="1">
                <a:solidFill>
                  <a:srgbClr val="FF0000"/>
                </a:solidFill>
              </a:rPr>
              <a:t>n-1</a:t>
            </a:r>
            <a:r>
              <a:rPr lang="zh-CN" altLang="en-US" b="1">
                <a:solidFill>
                  <a:srgbClr val="FF0000"/>
                </a:solidFill>
              </a:rPr>
              <a:t>）</a:t>
            </a:r>
          </a:p>
          <a:p>
            <a:pPr algn="just"/>
            <a:r>
              <a:rPr lang="zh-CN" altLang="en-US" b="1">
                <a:solidFill>
                  <a:srgbClr val="FF0000"/>
                </a:solidFill>
              </a:rPr>
              <a:t>           </a:t>
            </a:r>
            <a:r>
              <a:rPr lang="en-US" altLang="zh-CN" b="1">
                <a:solidFill>
                  <a:srgbClr val="FF0000"/>
                </a:solidFill>
              </a:rPr>
              <a:t>MAC  *AR2+0,A  </a:t>
            </a:r>
            <a:r>
              <a:rPr lang="zh-CN" altLang="en-US" b="1">
                <a:solidFill>
                  <a:srgbClr val="FF0000"/>
                </a:solidFill>
              </a:rPr>
              <a:t>；</a:t>
            </a:r>
            <a:r>
              <a:rPr lang="en-US" altLang="zh-CN" b="1">
                <a:solidFill>
                  <a:srgbClr val="FF0000"/>
                </a:solidFill>
              </a:rPr>
              <a:t>A+a</a:t>
            </a:r>
            <a:r>
              <a:rPr lang="en-US" altLang="zh-CN" b="1" baseline="-30000">
                <a:solidFill>
                  <a:srgbClr val="FF0000"/>
                </a:solidFill>
              </a:rPr>
              <a:t>0</a:t>
            </a:r>
            <a:r>
              <a:rPr lang="en-US" altLang="zh-CN" b="1">
                <a:solidFill>
                  <a:srgbClr val="FF0000"/>
                </a:solidFill>
              </a:rPr>
              <a:t>*x</a:t>
            </a:r>
            <a:r>
              <a:rPr lang="zh-CN" altLang="en-US" b="1">
                <a:solidFill>
                  <a:srgbClr val="FF0000"/>
                </a:solidFill>
              </a:rPr>
              <a:t>（</a:t>
            </a:r>
            <a:r>
              <a:rPr lang="en-US" altLang="zh-CN" b="1">
                <a:solidFill>
                  <a:srgbClr val="FF0000"/>
                </a:solidFill>
              </a:rPr>
              <a:t>n</a:t>
            </a:r>
            <a:r>
              <a:rPr lang="zh-CN" altLang="en-US" b="1">
                <a:solidFill>
                  <a:srgbClr val="FF0000"/>
                </a:solidFill>
              </a:rPr>
              <a:t>）→</a:t>
            </a:r>
            <a:r>
              <a:rPr lang="en-US" altLang="zh-CN" b="1">
                <a:solidFill>
                  <a:srgbClr val="FF0000"/>
                </a:solidFill>
              </a:rPr>
              <a:t>A ,AR2</a:t>
            </a:r>
            <a:r>
              <a:rPr lang="zh-CN" altLang="en-US" b="1">
                <a:solidFill>
                  <a:srgbClr val="FF0000"/>
                </a:solidFill>
              </a:rPr>
              <a:t>复原，指向</a:t>
            </a:r>
            <a:r>
              <a:rPr lang="en-US" altLang="zh-CN" b="1">
                <a:solidFill>
                  <a:srgbClr val="FF0000"/>
                </a:solidFill>
              </a:rPr>
              <a:t>a</a:t>
            </a:r>
            <a:r>
              <a:rPr lang="en-US" altLang="zh-CN" b="1" baseline="-30000">
                <a:solidFill>
                  <a:srgbClr val="FF0000"/>
                </a:solidFill>
              </a:rPr>
              <a:t>4</a:t>
            </a:r>
            <a:endParaRPr lang="en-US" altLang="zh-CN" b="1">
              <a:solidFill>
                <a:srgbClr val="FF0000"/>
              </a:solidFill>
            </a:endParaRPr>
          </a:p>
          <a:p>
            <a:pPr algn="just"/>
            <a:r>
              <a:rPr lang="en-US" altLang="zh-CN" b="1"/>
              <a:t>           STH     A,@y        </a:t>
            </a:r>
            <a:r>
              <a:rPr lang="zh-CN" altLang="en-US" b="1"/>
              <a:t>；保存运算结果的高位字到</a:t>
            </a:r>
            <a:r>
              <a:rPr lang="en-US" altLang="zh-CN" b="1"/>
              <a:t>y</a:t>
            </a:r>
            <a:r>
              <a:rPr lang="zh-CN" altLang="en-US" b="1"/>
              <a:t>（</a:t>
            </a:r>
            <a:r>
              <a:rPr lang="en-US" altLang="zh-CN" b="1"/>
              <a:t>n</a:t>
            </a:r>
            <a:r>
              <a:rPr lang="zh-CN" altLang="en-US" b="1"/>
              <a:t>）</a:t>
            </a:r>
          </a:p>
          <a:p>
            <a:pPr algn="just"/>
            <a:r>
              <a:rPr lang="zh-CN" altLang="en-US" b="1"/>
              <a:t>           </a:t>
            </a:r>
            <a:r>
              <a:rPr lang="en-US" altLang="zh-CN" b="1"/>
              <a:t>PORTW   @y</a:t>
            </a:r>
            <a:r>
              <a:rPr lang="zh-CN" altLang="en-US" b="1"/>
              <a:t>（</a:t>
            </a:r>
            <a:r>
              <a:rPr lang="en-US" altLang="zh-CN" b="1"/>
              <a:t>n</a:t>
            </a:r>
            <a:r>
              <a:rPr lang="zh-CN" altLang="en-US" b="1"/>
              <a:t>）</a:t>
            </a:r>
            <a:r>
              <a:rPr lang="en-US" altLang="zh-CN" b="1"/>
              <a:t>,PA0 </a:t>
            </a:r>
            <a:r>
              <a:rPr lang="zh-CN" altLang="en-US" b="1"/>
              <a:t>；将结果</a:t>
            </a:r>
            <a:r>
              <a:rPr lang="en-US" altLang="zh-CN" b="1"/>
              <a:t>y</a:t>
            </a:r>
            <a:r>
              <a:rPr lang="zh-CN" altLang="en-US" b="1"/>
              <a:t>（</a:t>
            </a:r>
            <a:r>
              <a:rPr lang="en-US" altLang="zh-CN" b="1"/>
              <a:t>n</a:t>
            </a:r>
            <a:r>
              <a:rPr lang="zh-CN" altLang="en-US" b="1"/>
              <a:t>）输出到端口</a:t>
            </a:r>
            <a:r>
              <a:rPr lang="en-US" altLang="zh-CN" b="1"/>
              <a:t>PA0</a:t>
            </a:r>
          </a:p>
          <a:p>
            <a:pPr algn="just"/>
            <a:r>
              <a:rPr lang="en-US" altLang="zh-CN" b="1"/>
              <a:t>           BD      FIR2        </a:t>
            </a:r>
            <a:r>
              <a:rPr lang="zh-CN" altLang="en-US" b="1"/>
              <a:t>；执行完下条指令后，从</a:t>
            </a:r>
            <a:r>
              <a:rPr lang="en-US" altLang="zh-CN" b="1"/>
              <a:t>FIR2</a:t>
            </a:r>
            <a:r>
              <a:rPr lang="zh-CN" altLang="en-US" b="1"/>
              <a:t>开始循环</a:t>
            </a:r>
          </a:p>
          <a:p>
            <a:pPr algn="just"/>
            <a:r>
              <a:rPr lang="zh-CN" altLang="en-US" b="1">
                <a:solidFill>
                  <a:srgbClr val="FF00FF"/>
                </a:solidFill>
              </a:rPr>
              <a:t>         </a:t>
            </a:r>
            <a:r>
              <a:rPr lang="en-US" altLang="zh-CN" b="1">
                <a:solidFill>
                  <a:srgbClr val="FF00FF"/>
                </a:solidFill>
              </a:rPr>
              <a:t>PORTR PA1,*AR1+0</a:t>
            </a:r>
            <a:r>
              <a:rPr lang="zh-CN" altLang="en-US" b="1"/>
              <a:t>；输入新值</a:t>
            </a:r>
            <a:r>
              <a:rPr lang="en-US" altLang="zh-CN" b="1"/>
              <a:t>x</a:t>
            </a:r>
            <a:r>
              <a:rPr lang="zh-CN" altLang="en-US" b="1"/>
              <a:t>（</a:t>
            </a:r>
            <a:r>
              <a:rPr lang="en-US" altLang="zh-CN" b="1"/>
              <a:t>n</a:t>
            </a:r>
            <a:r>
              <a:rPr lang="zh-CN" altLang="en-US" b="1"/>
              <a:t>）</a:t>
            </a:r>
            <a:r>
              <a:rPr lang="en-US" altLang="zh-CN" b="1"/>
              <a:t>,AR1</a:t>
            </a:r>
            <a:r>
              <a:rPr lang="zh-CN" altLang="en-US" b="1"/>
              <a:t>复原指向</a:t>
            </a:r>
            <a:r>
              <a:rPr lang="en-US" altLang="zh-CN" b="1"/>
              <a:t>x+4             </a:t>
            </a:r>
          </a:p>
          <a:p>
            <a:pPr algn="just"/>
            <a:r>
              <a:rPr lang="en-US" altLang="zh-CN" b="1"/>
              <a:t>          .end</a:t>
            </a:r>
          </a:p>
        </p:txBody>
      </p:sp>
      <p:pic>
        <p:nvPicPr>
          <p:cNvPr id="9011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0"/>
            <a:ext cx="2630487" cy="18176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67330"/>
                                        </p:tgtEl>
                                        <p:attrNameLst>
                                          <p:attrName>style.visibility</p:attrName>
                                        </p:attrNameLst>
                                      </p:cBhvr>
                                      <p:to>
                                        <p:strVal val="visible"/>
                                      </p:to>
                                    </p:set>
                                    <p:animEffect transition="in" filter="blinds(vertical)">
                                      <p:cBhvr>
                                        <p:cTn id="7" dur="500"/>
                                        <p:tgtEl>
                                          <p:spTgt spid="867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733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4026737-7CEF-451B-9365-2294F8FE39FB}" type="slidenum">
              <a:rPr lang="en-US" altLang="zh-CN" sz="1400"/>
              <a:pPr eaLnBrk="1" hangingPunct="1"/>
              <a:t>82</a:t>
            </a:fld>
            <a:endParaRPr lang="en-US" altLang="zh-CN" sz="1400"/>
          </a:p>
        </p:txBody>
      </p:sp>
      <p:sp>
        <p:nvSpPr>
          <p:cNvPr id="868354" name="Rectangle 2" descr="小棋盘"/>
          <p:cNvSpPr>
            <a:spLocks noChangeArrowheads="1"/>
          </p:cNvSpPr>
          <p:nvPr/>
        </p:nvSpPr>
        <p:spPr bwMode="auto">
          <a:xfrm>
            <a:off x="1447800" y="1066800"/>
            <a:ext cx="5638800" cy="107632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rgbClr val="FF00FF"/>
                </a:solidFill>
                <a:latin typeface="宋体" panose="02010600030101010101" pitchFamily="2" charset="-122"/>
                <a:cs typeface="Times New Roman" panose="02020603050405020304" pitchFamily="18" charset="0"/>
              </a:rPr>
              <a:t>(3) </a:t>
            </a:r>
            <a:r>
              <a:rPr lang="zh-CN" altLang="en-US" sz="3200" b="1">
                <a:solidFill>
                  <a:srgbClr val="FF00FF"/>
                </a:solidFill>
                <a:latin typeface="宋体" panose="02010600030101010101" pitchFamily="2" charset="-122"/>
                <a:cs typeface="Times New Roman" panose="02020603050405020304" pitchFamily="18" charset="0"/>
              </a:rPr>
              <a:t>用线性缓冲区</a:t>
            </a:r>
            <a:r>
              <a:rPr lang="zh-CN" altLang="en-US" sz="3200" b="1">
                <a:latin typeface="宋体" panose="02010600030101010101" pitchFamily="2" charset="-122"/>
                <a:cs typeface="Times New Roman" panose="02020603050405020304" pitchFamily="18" charset="0"/>
              </a:rPr>
              <a:t>和</a:t>
            </a:r>
            <a:r>
              <a:rPr lang="zh-CN" altLang="en-US" sz="3200" b="1">
                <a:solidFill>
                  <a:schemeClr val="tx2"/>
                </a:solidFill>
                <a:latin typeface="宋体" panose="02010600030101010101" pitchFamily="2" charset="-122"/>
                <a:cs typeface="Times New Roman" panose="02020603050405020304" pitchFamily="18" charset="0"/>
              </a:rPr>
              <a:t>带移位双操作数寻址方法实现 </a:t>
            </a:r>
            <a:r>
              <a:rPr lang="en-US" altLang="zh-CN" sz="3200" b="1">
                <a:solidFill>
                  <a:schemeClr val="tx2"/>
                </a:solidFill>
                <a:latin typeface="宋体" panose="02010600030101010101" pitchFamily="2" charset="-122"/>
                <a:cs typeface="Times New Roman" panose="02020603050405020304" pitchFamily="18" charset="0"/>
              </a:rPr>
              <a:t>FIR</a:t>
            </a:r>
          </a:p>
        </p:txBody>
      </p:sp>
      <p:sp>
        <p:nvSpPr>
          <p:cNvPr id="868355" name="Rectangle 3"/>
          <p:cNvSpPr>
            <a:spLocks noChangeArrowheads="1"/>
          </p:cNvSpPr>
          <p:nvPr/>
        </p:nvSpPr>
        <p:spPr bwMode="auto">
          <a:xfrm>
            <a:off x="304800" y="2133600"/>
            <a:ext cx="8610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ea typeface="黑体" panose="02010609060101010101" pitchFamily="49" charset="-122"/>
              </a:rPr>
              <a:t>例</a:t>
            </a:r>
            <a:r>
              <a:rPr lang="en-US" altLang="zh-CN" b="1">
                <a:ea typeface="黑体" panose="02010609060101010101" pitchFamily="49" charset="-122"/>
              </a:rPr>
              <a:t>5-27  </a:t>
            </a:r>
            <a:r>
              <a:rPr lang="en-US" altLang="zh-CN" b="1"/>
              <a:t> </a:t>
            </a:r>
            <a:r>
              <a:rPr lang="zh-CN" altLang="en-US" b="1"/>
              <a:t>编写</a:t>
            </a:r>
            <a:r>
              <a:rPr lang="en-US" altLang="zh-CN" b="1"/>
              <a:t>y</a:t>
            </a:r>
            <a:r>
              <a:rPr lang="zh-CN" altLang="en-US" b="1"/>
              <a:t>（</a:t>
            </a:r>
            <a:r>
              <a:rPr lang="en-US" altLang="zh-CN" b="1"/>
              <a:t>n</a:t>
            </a:r>
            <a:r>
              <a:rPr lang="zh-CN" altLang="en-US" b="1"/>
              <a:t>）</a:t>
            </a:r>
            <a:r>
              <a:rPr lang="en-US" altLang="zh-CN" b="1"/>
              <a:t>=a</a:t>
            </a:r>
            <a:r>
              <a:rPr lang="en-US" altLang="zh-CN" b="1" baseline="-30000"/>
              <a:t>0</a:t>
            </a:r>
            <a:r>
              <a:rPr lang="en-US" altLang="zh-CN" b="1"/>
              <a:t>*x</a:t>
            </a:r>
            <a:r>
              <a:rPr lang="zh-CN" altLang="en-US" b="1"/>
              <a:t>（</a:t>
            </a:r>
            <a:r>
              <a:rPr lang="en-US" altLang="zh-CN" b="1"/>
              <a:t>n</a:t>
            </a:r>
            <a:r>
              <a:rPr lang="zh-CN" altLang="en-US" b="1"/>
              <a:t>）</a:t>
            </a:r>
            <a:r>
              <a:rPr lang="en-US" altLang="zh-CN" b="1"/>
              <a:t>+ a</a:t>
            </a:r>
            <a:r>
              <a:rPr lang="en-US" altLang="zh-CN" b="1" baseline="-30000"/>
              <a:t>1</a:t>
            </a:r>
            <a:r>
              <a:rPr lang="en-US" altLang="zh-CN" b="1"/>
              <a:t>*x</a:t>
            </a:r>
            <a:r>
              <a:rPr lang="zh-CN" altLang="en-US" b="1"/>
              <a:t>（</a:t>
            </a:r>
            <a:r>
              <a:rPr lang="en-US" altLang="zh-CN" b="1"/>
              <a:t>n-1</a:t>
            </a:r>
            <a:r>
              <a:rPr lang="zh-CN" altLang="en-US" b="1"/>
              <a:t>）</a:t>
            </a:r>
            <a:r>
              <a:rPr lang="en-US" altLang="zh-CN" b="1"/>
              <a:t>+ a</a:t>
            </a:r>
            <a:r>
              <a:rPr lang="en-US" altLang="zh-CN" b="1" baseline="-30000"/>
              <a:t>2</a:t>
            </a:r>
            <a:r>
              <a:rPr lang="en-US" altLang="zh-CN" b="1"/>
              <a:t>*x</a:t>
            </a:r>
            <a:r>
              <a:rPr lang="zh-CN" altLang="en-US" b="1"/>
              <a:t>（</a:t>
            </a:r>
            <a:r>
              <a:rPr lang="en-US" altLang="zh-CN" b="1"/>
              <a:t>n-2</a:t>
            </a:r>
            <a:r>
              <a:rPr lang="zh-CN" altLang="en-US" b="1"/>
              <a:t>）</a:t>
            </a:r>
            <a:r>
              <a:rPr lang="en-US" altLang="zh-CN" b="1"/>
              <a:t>+ a</a:t>
            </a:r>
            <a:r>
              <a:rPr lang="en-US" altLang="zh-CN" b="1" baseline="-30000"/>
              <a:t>3</a:t>
            </a:r>
            <a:r>
              <a:rPr lang="en-US" altLang="zh-CN" b="1"/>
              <a:t>*x</a:t>
            </a:r>
            <a:r>
              <a:rPr lang="zh-CN" altLang="en-US" b="1"/>
              <a:t>（</a:t>
            </a:r>
            <a:r>
              <a:rPr lang="en-US" altLang="zh-CN" b="1"/>
              <a:t>n-3</a:t>
            </a:r>
            <a:r>
              <a:rPr lang="zh-CN" altLang="en-US" b="1"/>
              <a:t>）</a:t>
            </a:r>
            <a:r>
              <a:rPr lang="en-US" altLang="zh-CN" b="1"/>
              <a:t>+ a</a:t>
            </a:r>
            <a:r>
              <a:rPr lang="en-US" altLang="zh-CN" b="1" baseline="-30000"/>
              <a:t>4</a:t>
            </a:r>
            <a:r>
              <a:rPr lang="en-US" altLang="zh-CN" b="1"/>
              <a:t>*x</a:t>
            </a:r>
            <a:r>
              <a:rPr lang="zh-CN" altLang="en-US" b="1"/>
              <a:t>（</a:t>
            </a:r>
            <a:r>
              <a:rPr lang="en-US" altLang="zh-CN" b="1"/>
              <a:t>n-4</a:t>
            </a:r>
            <a:r>
              <a:rPr lang="zh-CN" altLang="en-US" b="1"/>
              <a:t>）的计算程序，其中</a:t>
            </a:r>
            <a:r>
              <a:rPr lang="en-US" altLang="zh-CN" b="1"/>
              <a:t>N=5</a:t>
            </a:r>
            <a:r>
              <a:rPr lang="zh-CN" altLang="en-US" b="1"/>
              <a:t>。 </a:t>
            </a:r>
          </a:p>
        </p:txBody>
      </p:sp>
      <p:sp>
        <p:nvSpPr>
          <p:cNvPr id="868356" name="Rectangle 4"/>
          <p:cNvSpPr>
            <a:spLocks noChangeArrowheads="1"/>
          </p:cNvSpPr>
          <p:nvPr/>
        </p:nvSpPr>
        <p:spPr bwMode="auto">
          <a:xfrm>
            <a:off x="179388" y="3068638"/>
            <a:ext cx="4535487"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8573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chemeClr val="tx2"/>
                </a:solidFill>
                <a:latin typeface="宋体" panose="02010600030101010101" pitchFamily="2" charset="-122"/>
                <a:cs typeface="Times New Roman" panose="02020603050405020304" pitchFamily="18" charset="0"/>
              </a:rPr>
              <a:t>本例中，系数</a:t>
            </a:r>
            <a:r>
              <a:rPr lang="en-US" altLang="zh-CN" sz="2800" b="1">
                <a:solidFill>
                  <a:schemeClr val="tx2"/>
                </a:solidFill>
                <a:latin typeface="宋体" panose="02010600030101010101" pitchFamily="2" charset="-122"/>
                <a:cs typeface="Times New Roman" panose="02020603050405020304" pitchFamily="18" charset="0"/>
              </a:rPr>
              <a:t>a</a:t>
            </a:r>
            <a:r>
              <a:rPr lang="en-US" altLang="zh-CN" sz="2800" b="1" baseline="-30000">
                <a:solidFill>
                  <a:schemeClr val="tx2"/>
                </a:solidFill>
                <a:latin typeface="宋体" panose="02010600030101010101" pitchFamily="2" charset="-122"/>
                <a:cs typeface="Times New Roman" panose="02020603050405020304" pitchFamily="18" charset="0"/>
              </a:rPr>
              <a:t>0</a:t>
            </a:r>
            <a:r>
              <a:rPr lang="zh-CN" altLang="en-US" sz="2800" b="1">
                <a:solidFill>
                  <a:schemeClr val="tx2"/>
                </a:solidFill>
                <a:latin typeface="宋体" panose="02010600030101010101" pitchFamily="2" charset="-122"/>
                <a:cs typeface="Times New Roman" panose="02020603050405020304" pitchFamily="18" charset="0"/>
              </a:rPr>
              <a:t>～</a:t>
            </a:r>
            <a:r>
              <a:rPr lang="en-US" altLang="zh-CN" sz="2800" b="1">
                <a:solidFill>
                  <a:schemeClr val="tx2"/>
                </a:solidFill>
                <a:latin typeface="宋体" panose="02010600030101010101" pitchFamily="2" charset="-122"/>
                <a:cs typeface="Times New Roman" panose="02020603050405020304" pitchFamily="18" charset="0"/>
              </a:rPr>
              <a:t>a</a:t>
            </a:r>
            <a:r>
              <a:rPr lang="en-US" altLang="zh-CN" sz="2800" b="1" baseline="-30000">
                <a:solidFill>
                  <a:schemeClr val="tx2"/>
                </a:solidFill>
                <a:latin typeface="宋体" panose="02010600030101010101" pitchFamily="2" charset="-122"/>
                <a:cs typeface="Times New Roman" panose="02020603050405020304" pitchFamily="18" charset="0"/>
              </a:rPr>
              <a:t>4</a:t>
            </a:r>
            <a:r>
              <a:rPr lang="zh-CN" altLang="en-US" sz="2800" b="1">
                <a:solidFill>
                  <a:schemeClr val="tx2"/>
                </a:solidFill>
                <a:latin typeface="宋体" panose="02010600030101010101" pitchFamily="2" charset="-122"/>
                <a:cs typeface="Times New Roman" panose="02020603050405020304" pitchFamily="18" charset="0"/>
              </a:rPr>
              <a:t>存放在程序存储器中，输入数据存放在数据存储器的线性缓冲区中。</a:t>
            </a:r>
          </a:p>
          <a:p>
            <a:pPr eaLnBrk="1" hangingPunct="1"/>
            <a:r>
              <a:rPr lang="zh-CN" altLang="en-US" sz="2800" b="1">
                <a:solidFill>
                  <a:schemeClr val="folHlink"/>
                </a:solidFill>
                <a:latin typeface="宋体" panose="02010600030101010101" pitchFamily="2" charset="-122"/>
                <a:cs typeface="Times New Roman" panose="02020603050405020304" pitchFamily="18" charset="0"/>
              </a:rPr>
              <a:t>乘法累加利用</a:t>
            </a:r>
            <a:r>
              <a:rPr lang="en-US" altLang="zh-CN" sz="2800" b="1">
                <a:solidFill>
                  <a:schemeClr val="folHlink"/>
                </a:solidFill>
                <a:latin typeface="宋体" panose="02010600030101010101" pitchFamily="2" charset="-122"/>
                <a:cs typeface="Times New Roman" panose="02020603050405020304" pitchFamily="18" charset="0"/>
              </a:rPr>
              <a:t>MACD</a:t>
            </a:r>
            <a:r>
              <a:rPr lang="zh-CN" altLang="en-US" sz="2800" b="1">
                <a:solidFill>
                  <a:schemeClr val="folHlink"/>
                </a:solidFill>
                <a:latin typeface="宋体" panose="02010600030101010101" pitchFamily="2" charset="-122"/>
                <a:cs typeface="Times New Roman" panose="02020603050405020304" pitchFamily="18" charset="0"/>
              </a:rPr>
              <a:t>指令，该指令完成数据存储器单元与程序存储器单元相乘，并累加、移位的功能。</a:t>
            </a:r>
            <a:r>
              <a:rPr lang="zh-CN" altLang="en-US" sz="2800" b="1">
                <a:latin typeface="宋体" panose="02010600030101010101" pitchFamily="2" charset="-122"/>
              </a:rPr>
              <a:t> </a:t>
            </a:r>
          </a:p>
        </p:txBody>
      </p:sp>
      <p:sp>
        <p:nvSpPr>
          <p:cNvPr id="91142" name="Text Box 7"/>
          <p:cNvSpPr txBox="1">
            <a:spLocks noChangeArrowheads="1"/>
          </p:cNvSpPr>
          <p:nvPr/>
        </p:nvSpPr>
        <p:spPr bwMode="auto">
          <a:xfrm>
            <a:off x="5381625" y="353377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FF6600"/>
                </a:solidFill>
              </a:rPr>
              <a:t>暂存</a:t>
            </a:r>
            <a:r>
              <a:rPr lang="en-US" altLang="zh-CN" sz="2000" b="1">
                <a:solidFill>
                  <a:srgbClr val="FF6600"/>
                </a:solidFill>
              </a:rPr>
              <a:t>y(n)</a:t>
            </a:r>
          </a:p>
        </p:txBody>
      </p:sp>
      <p:sp>
        <p:nvSpPr>
          <p:cNvPr id="91143" name="Text Box 8"/>
          <p:cNvSpPr txBox="1">
            <a:spLocks noChangeArrowheads="1"/>
          </p:cNvSpPr>
          <p:nvPr/>
        </p:nvSpPr>
        <p:spPr bwMode="auto">
          <a:xfrm>
            <a:off x="5381625" y="393382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endParaRPr lang="en-US" altLang="zh-CN" sz="2000" b="1" baseline="30000">
              <a:solidFill>
                <a:srgbClr val="FF6600"/>
              </a:solidFill>
            </a:endParaRPr>
          </a:p>
        </p:txBody>
      </p:sp>
      <p:sp>
        <p:nvSpPr>
          <p:cNvPr id="91144" name="Text Box 9"/>
          <p:cNvSpPr txBox="1">
            <a:spLocks noChangeArrowheads="1"/>
          </p:cNvSpPr>
          <p:nvPr/>
        </p:nvSpPr>
        <p:spPr bwMode="auto">
          <a:xfrm>
            <a:off x="5381625" y="433387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a:solidFill>
                <a:srgbClr val="660066"/>
              </a:solidFill>
            </a:endParaRPr>
          </a:p>
        </p:txBody>
      </p:sp>
      <p:sp>
        <p:nvSpPr>
          <p:cNvPr id="91145" name="Text Box 10"/>
          <p:cNvSpPr txBox="1">
            <a:spLocks noChangeArrowheads="1"/>
          </p:cNvSpPr>
          <p:nvPr/>
        </p:nvSpPr>
        <p:spPr bwMode="auto">
          <a:xfrm>
            <a:off x="5381625" y="473551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91146" name="Text Box 11"/>
          <p:cNvSpPr txBox="1">
            <a:spLocks noChangeArrowheads="1"/>
          </p:cNvSpPr>
          <p:nvPr/>
        </p:nvSpPr>
        <p:spPr bwMode="auto">
          <a:xfrm>
            <a:off x="5381625" y="513556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p>
        </p:txBody>
      </p:sp>
      <p:sp>
        <p:nvSpPr>
          <p:cNvPr id="91147" name="Text Box 12"/>
          <p:cNvSpPr txBox="1">
            <a:spLocks noChangeArrowheads="1"/>
          </p:cNvSpPr>
          <p:nvPr/>
        </p:nvSpPr>
        <p:spPr bwMode="auto">
          <a:xfrm>
            <a:off x="5381625" y="5534025"/>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x(n-4)</a:t>
            </a:r>
          </a:p>
        </p:txBody>
      </p:sp>
      <p:sp>
        <p:nvSpPr>
          <p:cNvPr id="91148" name="Text Box 13"/>
          <p:cNvSpPr txBox="1">
            <a:spLocks noChangeArrowheads="1"/>
          </p:cNvSpPr>
          <p:nvPr/>
        </p:nvSpPr>
        <p:spPr bwMode="auto">
          <a:xfrm>
            <a:off x="5092700" y="3014663"/>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91149" name="Text Box 15"/>
          <p:cNvSpPr txBox="1">
            <a:spLocks noChangeArrowheads="1"/>
          </p:cNvSpPr>
          <p:nvPr/>
        </p:nvSpPr>
        <p:spPr bwMode="auto">
          <a:xfrm>
            <a:off x="4787900" y="3573463"/>
            <a:ext cx="465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x</a:t>
            </a:r>
            <a:endParaRPr lang="en-US" altLang="zh-CN" sz="2000">
              <a:solidFill>
                <a:schemeClr val="tx2"/>
              </a:solidFill>
            </a:endParaRPr>
          </a:p>
        </p:txBody>
      </p:sp>
      <p:sp>
        <p:nvSpPr>
          <p:cNvPr id="91150" name="Text Box 16"/>
          <p:cNvSpPr txBox="1">
            <a:spLocks noChangeArrowheads="1"/>
          </p:cNvSpPr>
          <p:nvPr/>
        </p:nvSpPr>
        <p:spPr bwMode="auto">
          <a:xfrm>
            <a:off x="4427538" y="5516563"/>
            <a:ext cx="6969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b="1">
                <a:solidFill>
                  <a:schemeClr val="tx2"/>
                </a:solidFill>
              </a:rPr>
              <a:t>AR1</a:t>
            </a:r>
            <a:endParaRPr lang="en-US" altLang="zh-CN" sz="1800">
              <a:solidFill>
                <a:schemeClr val="tx2"/>
              </a:solidFill>
            </a:endParaRPr>
          </a:p>
        </p:txBody>
      </p:sp>
      <p:sp>
        <p:nvSpPr>
          <p:cNvPr id="91151" name="Text Box 17"/>
          <p:cNvSpPr txBox="1">
            <a:spLocks noChangeArrowheads="1"/>
          </p:cNvSpPr>
          <p:nvPr/>
        </p:nvSpPr>
        <p:spPr bwMode="auto">
          <a:xfrm>
            <a:off x="7902575" y="3500438"/>
            <a:ext cx="1082675"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4</a:t>
            </a:r>
          </a:p>
        </p:txBody>
      </p:sp>
      <p:sp>
        <p:nvSpPr>
          <p:cNvPr id="91152" name="Text Box 18"/>
          <p:cNvSpPr txBox="1">
            <a:spLocks noChangeArrowheads="1"/>
          </p:cNvSpPr>
          <p:nvPr/>
        </p:nvSpPr>
        <p:spPr bwMode="auto">
          <a:xfrm>
            <a:off x="7902575" y="3900488"/>
            <a:ext cx="1079500"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3</a:t>
            </a:r>
          </a:p>
        </p:txBody>
      </p:sp>
      <p:sp>
        <p:nvSpPr>
          <p:cNvPr id="91153" name="Text Box 19"/>
          <p:cNvSpPr txBox="1">
            <a:spLocks noChangeArrowheads="1"/>
          </p:cNvSpPr>
          <p:nvPr/>
        </p:nvSpPr>
        <p:spPr bwMode="auto">
          <a:xfrm>
            <a:off x="7902575" y="4300538"/>
            <a:ext cx="1082675"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2</a:t>
            </a:r>
          </a:p>
        </p:txBody>
      </p:sp>
      <p:sp>
        <p:nvSpPr>
          <p:cNvPr id="91154" name="Text Box 20"/>
          <p:cNvSpPr txBox="1">
            <a:spLocks noChangeArrowheads="1"/>
          </p:cNvSpPr>
          <p:nvPr/>
        </p:nvSpPr>
        <p:spPr bwMode="auto">
          <a:xfrm>
            <a:off x="7902575" y="4702175"/>
            <a:ext cx="1082675"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1</a:t>
            </a:r>
          </a:p>
        </p:txBody>
      </p:sp>
      <p:sp>
        <p:nvSpPr>
          <p:cNvPr id="91155" name="Text Box 21"/>
          <p:cNvSpPr txBox="1">
            <a:spLocks noChangeArrowheads="1"/>
          </p:cNvSpPr>
          <p:nvPr/>
        </p:nvSpPr>
        <p:spPr bwMode="auto">
          <a:xfrm>
            <a:off x="7902575" y="5108575"/>
            <a:ext cx="1079500"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0</a:t>
            </a:r>
          </a:p>
        </p:txBody>
      </p:sp>
      <p:sp>
        <p:nvSpPr>
          <p:cNvPr id="91156" name="Text Box 22"/>
          <p:cNvSpPr txBox="1">
            <a:spLocks noChangeArrowheads="1"/>
          </p:cNvSpPr>
          <p:nvPr/>
        </p:nvSpPr>
        <p:spPr bwMode="auto">
          <a:xfrm>
            <a:off x="7553325" y="2997200"/>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程序存储器</a:t>
            </a:r>
          </a:p>
        </p:txBody>
      </p:sp>
      <p:sp>
        <p:nvSpPr>
          <p:cNvPr id="91157" name="Text Box 23"/>
          <p:cNvSpPr txBox="1">
            <a:spLocks noChangeArrowheads="1"/>
          </p:cNvSpPr>
          <p:nvPr/>
        </p:nvSpPr>
        <p:spPr bwMode="auto">
          <a:xfrm>
            <a:off x="6284913" y="3500438"/>
            <a:ext cx="792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b="1">
                <a:solidFill>
                  <a:schemeClr val="tx2"/>
                </a:solidFill>
              </a:rPr>
              <a:t>PAR</a:t>
            </a:r>
            <a:endParaRPr lang="en-US" altLang="zh-CN" sz="1800" b="1" baseline="-25000">
              <a:solidFill>
                <a:schemeClr val="tx2"/>
              </a:solidFill>
            </a:endParaRPr>
          </a:p>
        </p:txBody>
      </p:sp>
      <p:sp>
        <p:nvSpPr>
          <p:cNvPr id="91158" name="Line 24"/>
          <p:cNvSpPr>
            <a:spLocks noChangeShapeType="1"/>
          </p:cNvSpPr>
          <p:nvPr/>
        </p:nvSpPr>
        <p:spPr bwMode="auto">
          <a:xfrm>
            <a:off x="5045075" y="5734050"/>
            <a:ext cx="287338"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1159" name="Text Box 27"/>
          <p:cNvSpPr txBox="1">
            <a:spLocks noChangeArrowheads="1"/>
          </p:cNvSpPr>
          <p:nvPr/>
        </p:nvSpPr>
        <p:spPr bwMode="auto">
          <a:xfrm>
            <a:off x="7019925" y="3516313"/>
            <a:ext cx="928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1800" b="1">
                <a:solidFill>
                  <a:schemeClr val="tx2"/>
                </a:solidFill>
              </a:rPr>
              <a:t>COEF</a:t>
            </a:r>
            <a:endParaRPr lang="en-US" altLang="zh-CN" sz="1800" b="1" baseline="-25000">
              <a:solidFill>
                <a:schemeClr val="tx2"/>
              </a:solidFill>
            </a:endParaRPr>
          </a:p>
        </p:txBody>
      </p:sp>
      <p:sp>
        <p:nvSpPr>
          <p:cNvPr id="91160" name="Line 28"/>
          <p:cNvSpPr>
            <a:spLocks noChangeShapeType="1"/>
          </p:cNvSpPr>
          <p:nvPr/>
        </p:nvSpPr>
        <p:spPr bwMode="auto">
          <a:xfrm>
            <a:off x="7005638" y="3716338"/>
            <a:ext cx="215900"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68354"/>
                                        </p:tgtEl>
                                        <p:attrNameLst>
                                          <p:attrName>style.visibility</p:attrName>
                                        </p:attrNameLst>
                                      </p:cBhvr>
                                      <p:to>
                                        <p:strVal val="visible"/>
                                      </p:to>
                                    </p:set>
                                    <p:animEffect transition="in" filter="slide(fromTop)">
                                      <p:cBhvr>
                                        <p:cTn id="7" dur="500"/>
                                        <p:tgtEl>
                                          <p:spTgt spid="868354"/>
                                        </p:tgtEl>
                                      </p:cBhvr>
                                    </p:animEffect>
                                  </p:childTnLst>
                                </p:cTn>
                              </p:par>
                            </p:childTnLst>
                          </p:cTn>
                        </p:par>
                        <p:par>
                          <p:cTn id="8" fill="hold" nodeType="afterGroup">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868355"/>
                                        </p:tgtEl>
                                        <p:attrNameLst>
                                          <p:attrName>style.visibility</p:attrName>
                                        </p:attrNameLst>
                                      </p:cBhvr>
                                      <p:to>
                                        <p:strVal val="visible"/>
                                      </p:to>
                                    </p:set>
                                    <p:animEffect transition="in" filter="slide(fromRight)">
                                      <p:cBhvr>
                                        <p:cTn id="11" dur="500"/>
                                        <p:tgtEl>
                                          <p:spTgt spid="868355"/>
                                        </p:tgtEl>
                                      </p:cBhvr>
                                    </p:animEffect>
                                  </p:childTnLst>
                                </p:cTn>
                              </p:par>
                            </p:childTnLst>
                          </p:cTn>
                        </p:par>
                        <p:par>
                          <p:cTn id="12" fill="hold" nodeType="afterGroup">
                            <p:stCondLst>
                              <p:cond delay="1000"/>
                            </p:stCondLst>
                            <p:childTnLst>
                              <p:par>
                                <p:cTn id="13" presetID="3" presetClass="entr" presetSubtype="5" fill="hold" grpId="0" nodeType="afterEffect">
                                  <p:stCondLst>
                                    <p:cond delay="0"/>
                                  </p:stCondLst>
                                  <p:childTnLst>
                                    <p:set>
                                      <p:cBhvr>
                                        <p:cTn id="14" dur="1" fill="hold">
                                          <p:stCondLst>
                                            <p:cond delay="0"/>
                                          </p:stCondLst>
                                        </p:cTn>
                                        <p:tgtEl>
                                          <p:spTgt spid="868356"/>
                                        </p:tgtEl>
                                        <p:attrNameLst>
                                          <p:attrName>style.visibility</p:attrName>
                                        </p:attrNameLst>
                                      </p:cBhvr>
                                      <p:to>
                                        <p:strVal val="visible"/>
                                      </p:to>
                                    </p:set>
                                    <p:animEffect transition="in" filter="blinds(vertical)">
                                      <p:cBhvr>
                                        <p:cTn id="15" dur="500"/>
                                        <p:tgtEl>
                                          <p:spTgt spid="868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54" grpId="0" animBg="1"/>
      <p:bldP spid="868355" grpId="0"/>
      <p:bldP spid="86835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D677B82-A742-4535-877B-38808B337CC1}" type="slidenum">
              <a:rPr lang="en-US" altLang="zh-CN" sz="1400"/>
              <a:pPr eaLnBrk="1" hangingPunct="1"/>
              <a:t>83</a:t>
            </a:fld>
            <a:endParaRPr lang="en-US" altLang="zh-CN" sz="1400"/>
          </a:p>
        </p:txBody>
      </p:sp>
      <p:sp>
        <p:nvSpPr>
          <p:cNvPr id="92163" name="Rectangle 2"/>
          <p:cNvSpPr>
            <a:spLocks noChangeArrowheads="1"/>
          </p:cNvSpPr>
          <p:nvPr/>
        </p:nvSpPr>
        <p:spPr bwMode="auto">
          <a:xfrm>
            <a:off x="250825" y="1268413"/>
            <a:ext cx="86106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t>              .title “FIR3.ASM”       </a:t>
            </a:r>
            <a:r>
              <a:rPr lang="zh-CN" altLang="en-US" b="1"/>
              <a:t>；定义源程序名</a:t>
            </a:r>
          </a:p>
          <a:p>
            <a:pPr algn="just"/>
            <a:r>
              <a:rPr lang="zh-CN" altLang="en-US" b="1"/>
              <a:t>               </a:t>
            </a:r>
            <a:r>
              <a:rPr lang="en-US" altLang="zh-CN" b="1">
                <a:solidFill>
                  <a:schemeClr val="folHlink"/>
                </a:solidFill>
              </a:rPr>
              <a:t>.mmregs</a:t>
            </a:r>
            <a:r>
              <a:rPr lang="en-US" altLang="zh-CN" b="1"/>
              <a:t>                      </a:t>
            </a:r>
            <a:r>
              <a:rPr lang="zh-CN" altLang="en-US" b="1"/>
              <a:t>；定义存储器映象寄存器</a:t>
            </a:r>
          </a:p>
          <a:p>
            <a:pPr algn="just"/>
            <a:r>
              <a:rPr lang="zh-CN" altLang="en-US" b="1"/>
              <a:t>              </a:t>
            </a:r>
            <a:r>
              <a:rPr lang="en-US" altLang="zh-CN" b="1"/>
              <a:t>.def   start                    </a:t>
            </a:r>
            <a:r>
              <a:rPr lang="zh-CN" altLang="en-US" b="1"/>
              <a:t>；定义语句标号</a:t>
            </a:r>
            <a:r>
              <a:rPr lang="en-US" altLang="zh-CN" b="1"/>
              <a:t>start</a:t>
            </a:r>
          </a:p>
          <a:p>
            <a:pPr algn="just"/>
            <a:r>
              <a:rPr lang="en-US" altLang="zh-CN" b="1"/>
              <a:t>              </a:t>
            </a:r>
            <a:r>
              <a:rPr lang="en-US" altLang="zh-CN" b="1">
                <a:solidFill>
                  <a:schemeClr val="tx2"/>
                </a:solidFill>
              </a:rPr>
              <a:t>x       .usect “x”,6         </a:t>
            </a:r>
            <a:r>
              <a:rPr lang="zh-CN" altLang="en-US" b="1">
                <a:solidFill>
                  <a:schemeClr val="tx2"/>
                </a:solidFill>
              </a:rPr>
              <a:t>；在自定义的未初始化</a:t>
            </a:r>
          </a:p>
          <a:p>
            <a:pPr algn="just"/>
            <a:r>
              <a:rPr lang="zh-CN" altLang="en-US" b="1"/>
              <a:t>                                                    ；段“</a:t>
            </a:r>
            <a:r>
              <a:rPr lang="en-US" altLang="zh-CN" b="1"/>
              <a:t>x”</a:t>
            </a:r>
            <a:r>
              <a:rPr lang="zh-CN" altLang="en-US" b="1"/>
              <a:t>中保留</a:t>
            </a:r>
            <a:r>
              <a:rPr lang="en-US" altLang="zh-CN" b="1"/>
              <a:t>6</a:t>
            </a:r>
            <a:r>
              <a:rPr lang="zh-CN" altLang="en-US" b="1"/>
              <a:t>个单元</a:t>
            </a:r>
          </a:p>
          <a:p>
            <a:pPr algn="just"/>
            <a:r>
              <a:rPr lang="en-US" altLang="zh-CN" b="1">
                <a:solidFill>
                  <a:srgbClr val="FF6600"/>
                </a:solidFill>
              </a:rPr>
              <a:t>PA0       .set   0                           </a:t>
            </a:r>
            <a:r>
              <a:rPr lang="zh-CN" altLang="en-US" b="1">
                <a:solidFill>
                  <a:srgbClr val="FF6600"/>
                </a:solidFill>
              </a:rPr>
              <a:t>；定义</a:t>
            </a:r>
            <a:r>
              <a:rPr lang="en-US" altLang="zh-CN" b="1">
                <a:solidFill>
                  <a:srgbClr val="FF6600"/>
                </a:solidFill>
              </a:rPr>
              <a:t>PA0</a:t>
            </a:r>
            <a:r>
              <a:rPr lang="zh-CN" altLang="en-US" b="1">
                <a:solidFill>
                  <a:srgbClr val="FF6600"/>
                </a:solidFill>
              </a:rPr>
              <a:t>为输出端口</a:t>
            </a:r>
          </a:p>
          <a:p>
            <a:pPr algn="just"/>
            <a:r>
              <a:rPr lang="en-US" altLang="zh-CN" b="1">
                <a:solidFill>
                  <a:srgbClr val="FF6600"/>
                </a:solidFill>
              </a:rPr>
              <a:t>PA1       .set   1                           </a:t>
            </a:r>
            <a:r>
              <a:rPr lang="zh-CN" altLang="en-US" b="1">
                <a:solidFill>
                  <a:srgbClr val="FF6600"/>
                </a:solidFill>
              </a:rPr>
              <a:t>；定义</a:t>
            </a:r>
            <a:r>
              <a:rPr lang="en-US" altLang="zh-CN" b="1">
                <a:solidFill>
                  <a:srgbClr val="FF6600"/>
                </a:solidFill>
              </a:rPr>
              <a:t>PA1</a:t>
            </a:r>
            <a:r>
              <a:rPr lang="zh-CN" altLang="en-US" b="1">
                <a:solidFill>
                  <a:srgbClr val="FF6600"/>
                </a:solidFill>
              </a:rPr>
              <a:t>为输入端口</a:t>
            </a:r>
          </a:p>
          <a:p>
            <a:pPr algn="just"/>
            <a:r>
              <a:rPr lang="zh-CN" altLang="en-US" b="1"/>
              <a:t>              </a:t>
            </a:r>
            <a:r>
              <a:rPr lang="en-US" altLang="zh-CN" b="1"/>
              <a:t>.data</a:t>
            </a:r>
          </a:p>
          <a:p>
            <a:pPr algn="just"/>
            <a:r>
              <a:rPr lang="en-US" altLang="zh-CN" b="1"/>
              <a:t>COEF:   .word  1*32768/10       </a:t>
            </a:r>
            <a:r>
              <a:rPr lang="zh-CN" altLang="en-US" b="1"/>
              <a:t>；假定程序空间有五个参数</a:t>
            </a:r>
            <a:r>
              <a:rPr lang="en-US" altLang="zh-CN" b="1"/>
              <a:t>,a4</a:t>
            </a:r>
          </a:p>
          <a:p>
            <a:pPr algn="just"/>
            <a:r>
              <a:rPr lang="en-US" altLang="zh-CN" b="1"/>
              <a:t>              .word  -4*32768/10      </a:t>
            </a:r>
            <a:r>
              <a:rPr lang="zh-CN" altLang="en-US" b="1"/>
              <a:t>；</a:t>
            </a:r>
            <a:r>
              <a:rPr lang="en-US" altLang="zh-CN" b="1"/>
              <a:t>a3</a:t>
            </a:r>
          </a:p>
          <a:p>
            <a:pPr algn="just"/>
            <a:r>
              <a:rPr lang="en-US" altLang="zh-CN" b="1"/>
              <a:t>              .word  3*32768/10       </a:t>
            </a:r>
            <a:r>
              <a:rPr lang="zh-CN" altLang="en-US" b="1"/>
              <a:t>；</a:t>
            </a:r>
            <a:r>
              <a:rPr lang="en-US" altLang="zh-CN" b="1"/>
              <a:t>a2</a:t>
            </a:r>
          </a:p>
          <a:p>
            <a:pPr algn="just"/>
            <a:r>
              <a:rPr lang="en-US" altLang="zh-CN" b="1"/>
              <a:t>              .word  -4*32768/10      </a:t>
            </a:r>
            <a:r>
              <a:rPr lang="zh-CN" altLang="en-US" b="1"/>
              <a:t>；</a:t>
            </a:r>
            <a:r>
              <a:rPr lang="en-US" altLang="zh-CN" b="1"/>
              <a:t>a1</a:t>
            </a:r>
          </a:p>
          <a:p>
            <a:pPr algn="just"/>
            <a:r>
              <a:rPr lang="en-US" altLang="zh-CN" b="1"/>
              <a:t>              .word  1*32768/10       </a:t>
            </a:r>
            <a:r>
              <a:rPr lang="zh-CN" altLang="en-US" b="1"/>
              <a:t>；</a:t>
            </a:r>
            <a:r>
              <a:rPr lang="en-US" altLang="zh-CN" b="1"/>
              <a:t>a0</a:t>
            </a:r>
          </a:p>
          <a:p>
            <a:endParaRPr lang="en-US" altLang="zh-CN" b="1"/>
          </a:p>
        </p:txBody>
      </p:sp>
      <p:pic>
        <p:nvPicPr>
          <p:cNvPr id="9216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4652963"/>
            <a:ext cx="2859088" cy="1863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92163"/>
                                        </p:tgtEl>
                                        <p:attrNameLst>
                                          <p:attrName>style.visibility</p:attrName>
                                        </p:attrNameLst>
                                      </p:cBhvr>
                                      <p:to>
                                        <p:strVal val="visible"/>
                                      </p:to>
                                    </p:set>
                                    <p:animEffect transition="in" filter="blinds(vertical)">
                                      <p:cBhvr>
                                        <p:cTn id="7" dur="500"/>
                                        <p:tgtEl>
                                          <p:spTgt spid="92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C8074D2F-9F8D-4C41-B48D-19707EE2DEEA}" type="slidenum">
              <a:rPr lang="en-US" altLang="zh-CN" sz="1400"/>
              <a:pPr eaLnBrk="1" hangingPunct="1"/>
              <a:t>84</a:t>
            </a:fld>
            <a:endParaRPr lang="en-US" altLang="zh-CN" sz="1400"/>
          </a:p>
        </p:txBody>
      </p:sp>
      <p:sp>
        <p:nvSpPr>
          <p:cNvPr id="870402" name="Rectangle 2"/>
          <p:cNvSpPr>
            <a:spLocks noChangeArrowheads="1"/>
          </p:cNvSpPr>
          <p:nvPr/>
        </p:nvSpPr>
        <p:spPr bwMode="auto">
          <a:xfrm>
            <a:off x="304800" y="1143000"/>
            <a:ext cx="86106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b="1"/>
              <a:t>              .text</a:t>
            </a:r>
          </a:p>
          <a:p>
            <a:pPr algn="just"/>
            <a:r>
              <a:rPr lang="en-US" altLang="zh-CN" b="1"/>
              <a:t>start</a:t>
            </a:r>
            <a:r>
              <a:rPr lang="zh-CN" altLang="en-US" b="1"/>
              <a:t>：   </a:t>
            </a:r>
            <a:r>
              <a:rPr lang="en-US" altLang="zh-CN" b="1"/>
              <a:t>SSBX     FRCT           </a:t>
            </a:r>
            <a:r>
              <a:rPr lang="zh-CN" altLang="en-US" b="1"/>
              <a:t>；小数乘法</a:t>
            </a:r>
          </a:p>
          <a:p>
            <a:pPr algn="just"/>
            <a:r>
              <a:rPr lang="zh-CN" altLang="en-US" b="1"/>
              <a:t>              </a:t>
            </a:r>
            <a:r>
              <a:rPr lang="en-US" altLang="zh-CN" b="1">
                <a:solidFill>
                  <a:srgbClr val="FF00FF"/>
                </a:solidFill>
              </a:rPr>
              <a:t>STM       #x+5,AR1     </a:t>
            </a:r>
            <a:r>
              <a:rPr lang="zh-CN" altLang="en-US" b="1">
                <a:solidFill>
                  <a:srgbClr val="FF00FF"/>
                </a:solidFill>
              </a:rPr>
              <a:t>；</a:t>
            </a:r>
            <a:r>
              <a:rPr lang="en-US" altLang="zh-CN" b="1">
                <a:solidFill>
                  <a:srgbClr val="FF00FF"/>
                </a:solidFill>
              </a:rPr>
              <a:t>AR1</a:t>
            </a:r>
            <a:r>
              <a:rPr lang="zh-CN" altLang="en-US" b="1">
                <a:solidFill>
                  <a:srgbClr val="FF00FF"/>
                </a:solidFill>
              </a:rPr>
              <a:t>指向</a:t>
            </a:r>
            <a:r>
              <a:rPr lang="en-US" altLang="zh-CN" b="1">
                <a:solidFill>
                  <a:srgbClr val="FF00FF"/>
                </a:solidFill>
              </a:rPr>
              <a:t>x</a:t>
            </a:r>
            <a:r>
              <a:rPr lang="zh-CN" altLang="en-US" b="1">
                <a:solidFill>
                  <a:srgbClr val="FF00FF"/>
                </a:solidFill>
              </a:rPr>
              <a:t>（</a:t>
            </a:r>
            <a:r>
              <a:rPr lang="en-US" altLang="zh-CN" b="1">
                <a:solidFill>
                  <a:srgbClr val="FF00FF"/>
                </a:solidFill>
              </a:rPr>
              <a:t>n-4</a:t>
            </a:r>
            <a:r>
              <a:rPr lang="zh-CN" altLang="en-US" b="1">
                <a:solidFill>
                  <a:srgbClr val="FF00FF"/>
                </a:solidFill>
              </a:rPr>
              <a:t>）</a:t>
            </a:r>
          </a:p>
          <a:p>
            <a:pPr algn="just"/>
            <a:r>
              <a:rPr lang="zh-CN" altLang="en-US" b="1">
                <a:solidFill>
                  <a:srgbClr val="FF00FF"/>
                </a:solidFill>
              </a:rPr>
              <a:t>              </a:t>
            </a:r>
            <a:r>
              <a:rPr lang="en-US" altLang="zh-CN" b="1">
                <a:solidFill>
                  <a:srgbClr val="FF00FF"/>
                </a:solidFill>
              </a:rPr>
              <a:t>STM       #4,AR0          </a:t>
            </a:r>
            <a:r>
              <a:rPr lang="zh-CN" altLang="en-US" b="1">
                <a:solidFill>
                  <a:srgbClr val="FF00FF"/>
                </a:solidFill>
              </a:rPr>
              <a:t>；设置</a:t>
            </a:r>
            <a:r>
              <a:rPr lang="en-US" altLang="zh-CN" b="1">
                <a:solidFill>
                  <a:srgbClr val="FF00FF"/>
                </a:solidFill>
              </a:rPr>
              <a:t>AR1</a:t>
            </a:r>
            <a:r>
              <a:rPr lang="zh-CN" altLang="en-US" b="1">
                <a:solidFill>
                  <a:srgbClr val="FF00FF"/>
                </a:solidFill>
              </a:rPr>
              <a:t>复位值</a:t>
            </a:r>
          </a:p>
          <a:p>
            <a:pPr algn="just"/>
            <a:r>
              <a:rPr lang="zh-CN" altLang="en-US" b="1"/>
              <a:t>              </a:t>
            </a:r>
            <a:r>
              <a:rPr lang="en-US" altLang="zh-CN" b="1"/>
              <a:t>LD          #x,DP            </a:t>
            </a:r>
            <a:r>
              <a:rPr lang="zh-CN" altLang="en-US" b="1"/>
              <a:t>；</a:t>
            </a:r>
            <a:r>
              <a:rPr lang="zh-CN" altLang="en-US" sz="2000" b="1"/>
              <a:t>设置数据存储器页指针的起始位置</a:t>
            </a:r>
          </a:p>
          <a:p>
            <a:pPr algn="just"/>
            <a:r>
              <a:rPr lang="zh-CN" altLang="en-US" b="1"/>
              <a:t>              </a:t>
            </a:r>
            <a:r>
              <a:rPr lang="en-US" altLang="zh-CN" b="1">
                <a:solidFill>
                  <a:srgbClr val="FF6600"/>
                </a:solidFill>
              </a:rPr>
              <a:t>PORTR  PA1,@x+1    </a:t>
            </a:r>
            <a:r>
              <a:rPr lang="zh-CN" altLang="en-US" b="1">
                <a:solidFill>
                  <a:srgbClr val="FF6600"/>
                </a:solidFill>
              </a:rPr>
              <a:t>；输入最新值</a:t>
            </a:r>
            <a:r>
              <a:rPr lang="en-US" altLang="zh-CN" b="1">
                <a:solidFill>
                  <a:srgbClr val="FF6600"/>
                </a:solidFill>
              </a:rPr>
              <a:t>x</a:t>
            </a:r>
            <a:r>
              <a:rPr lang="zh-CN" altLang="en-US" b="1">
                <a:solidFill>
                  <a:srgbClr val="FF6600"/>
                </a:solidFill>
              </a:rPr>
              <a:t>（</a:t>
            </a:r>
            <a:r>
              <a:rPr lang="en-US" altLang="zh-CN" b="1">
                <a:solidFill>
                  <a:srgbClr val="FF6600"/>
                </a:solidFill>
              </a:rPr>
              <a:t>n</a:t>
            </a:r>
            <a:r>
              <a:rPr lang="zh-CN" altLang="en-US" b="1">
                <a:solidFill>
                  <a:srgbClr val="FF6600"/>
                </a:solidFill>
              </a:rPr>
              <a:t>）</a:t>
            </a:r>
          </a:p>
          <a:p>
            <a:pPr algn="just"/>
            <a:r>
              <a:rPr lang="en-US" altLang="zh-CN" b="1"/>
              <a:t>FIR3</a:t>
            </a:r>
            <a:r>
              <a:rPr lang="zh-CN" altLang="en-US" b="1"/>
              <a:t>： </a:t>
            </a:r>
            <a:r>
              <a:rPr lang="en-US" altLang="zh-CN" b="1">
                <a:solidFill>
                  <a:schemeClr val="tx2"/>
                </a:solidFill>
              </a:rPr>
              <a:t>RPTZ     A,#4</a:t>
            </a:r>
            <a:r>
              <a:rPr lang="en-US" altLang="zh-CN" b="1"/>
              <a:t>               </a:t>
            </a:r>
            <a:r>
              <a:rPr lang="zh-CN" altLang="en-US" b="1">
                <a:solidFill>
                  <a:schemeClr val="tx2"/>
                </a:solidFill>
              </a:rPr>
              <a:t>；</a:t>
            </a:r>
            <a:r>
              <a:rPr lang="zh-CN" altLang="en-US" sz="2000" b="1">
                <a:solidFill>
                  <a:schemeClr val="tx2"/>
                </a:solidFill>
              </a:rPr>
              <a:t>累加器</a:t>
            </a:r>
            <a:r>
              <a:rPr lang="en-US" altLang="zh-CN" sz="2000" b="1">
                <a:solidFill>
                  <a:schemeClr val="tx2"/>
                </a:solidFill>
              </a:rPr>
              <a:t>A</a:t>
            </a:r>
            <a:r>
              <a:rPr lang="zh-CN" altLang="en-US" sz="2000" b="1">
                <a:solidFill>
                  <a:schemeClr val="tx2"/>
                </a:solidFill>
              </a:rPr>
              <a:t>清</a:t>
            </a:r>
            <a:r>
              <a:rPr lang="en-US" altLang="zh-CN" sz="2000" b="1">
                <a:solidFill>
                  <a:schemeClr val="tx2"/>
                </a:solidFill>
              </a:rPr>
              <a:t>0,</a:t>
            </a:r>
            <a:r>
              <a:rPr lang="zh-CN" altLang="en-US" sz="2000" b="1">
                <a:solidFill>
                  <a:schemeClr val="tx2"/>
                </a:solidFill>
              </a:rPr>
              <a:t>设置重复下条指令</a:t>
            </a:r>
            <a:r>
              <a:rPr lang="en-US" altLang="zh-CN" sz="2000" b="1">
                <a:solidFill>
                  <a:schemeClr val="tx2"/>
                </a:solidFill>
              </a:rPr>
              <a:t>5</a:t>
            </a:r>
            <a:r>
              <a:rPr lang="zh-CN" altLang="en-US" sz="2000" b="1">
                <a:solidFill>
                  <a:schemeClr val="tx2"/>
                </a:solidFill>
              </a:rPr>
              <a:t>次</a:t>
            </a:r>
          </a:p>
          <a:p>
            <a:pPr algn="just"/>
            <a:r>
              <a:rPr lang="zh-CN" altLang="en-US" b="1">
                <a:solidFill>
                  <a:schemeClr val="tx2"/>
                </a:solidFill>
              </a:rPr>
              <a:t>              </a:t>
            </a:r>
            <a:r>
              <a:rPr lang="en-US" altLang="zh-CN" b="1">
                <a:solidFill>
                  <a:schemeClr val="tx2"/>
                </a:solidFill>
              </a:rPr>
              <a:t>MACD   *AR1-,COEF,A  </a:t>
            </a:r>
            <a:r>
              <a:rPr lang="zh-CN" altLang="en-US" b="1">
                <a:solidFill>
                  <a:schemeClr val="tx2"/>
                </a:solidFill>
              </a:rPr>
              <a:t>；</a:t>
            </a:r>
            <a:r>
              <a:rPr lang="en-US" altLang="zh-CN" sz="2000" b="1">
                <a:solidFill>
                  <a:schemeClr val="tx2"/>
                </a:solidFill>
              </a:rPr>
              <a:t>x</a:t>
            </a:r>
            <a:r>
              <a:rPr lang="zh-CN" altLang="en-US" sz="2000" b="1">
                <a:solidFill>
                  <a:schemeClr val="tx2"/>
                </a:solidFill>
              </a:rPr>
              <a:t>（</a:t>
            </a:r>
            <a:r>
              <a:rPr lang="en-US" altLang="zh-CN" sz="2000" b="1">
                <a:solidFill>
                  <a:schemeClr val="tx2"/>
                </a:solidFill>
              </a:rPr>
              <a:t>n-4</a:t>
            </a:r>
            <a:r>
              <a:rPr lang="zh-CN" altLang="en-US" sz="2000" b="1">
                <a:solidFill>
                  <a:schemeClr val="tx2"/>
                </a:solidFill>
              </a:rPr>
              <a:t>）→</a:t>
            </a:r>
            <a:r>
              <a:rPr lang="en-US" altLang="zh-CN" sz="2000" b="1">
                <a:solidFill>
                  <a:schemeClr val="tx2"/>
                </a:solidFill>
              </a:rPr>
              <a:t>T,A= x</a:t>
            </a:r>
            <a:r>
              <a:rPr lang="zh-CN" altLang="en-US" sz="2000" b="1">
                <a:solidFill>
                  <a:schemeClr val="tx2"/>
                </a:solidFill>
              </a:rPr>
              <a:t>（</a:t>
            </a:r>
            <a:r>
              <a:rPr lang="en-US" altLang="zh-CN" sz="2000" b="1">
                <a:solidFill>
                  <a:schemeClr val="tx2"/>
                </a:solidFill>
              </a:rPr>
              <a:t>n-4</a:t>
            </a:r>
            <a:r>
              <a:rPr lang="zh-CN" altLang="en-US" sz="2000" b="1">
                <a:solidFill>
                  <a:schemeClr val="tx2"/>
                </a:solidFill>
              </a:rPr>
              <a:t>）*</a:t>
            </a:r>
            <a:r>
              <a:rPr lang="en-US" altLang="zh-CN" sz="2000" b="1">
                <a:solidFill>
                  <a:schemeClr val="tx2"/>
                </a:solidFill>
              </a:rPr>
              <a:t>a</a:t>
            </a:r>
            <a:r>
              <a:rPr lang="en-US" altLang="zh-CN" sz="2000" b="1" baseline="-30000">
                <a:solidFill>
                  <a:schemeClr val="tx2"/>
                </a:solidFill>
              </a:rPr>
              <a:t>4 </a:t>
            </a:r>
            <a:r>
              <a:rPr lang="en-US" altLang="zh-CN" sz="2000" b="1">
                <a:solidFill>
                  <a:schemeClr val="tx2"/>
                </a:solidFill>
              </a:rPr>
              <a:t>+A </a:t>
            </a:r>
          </a:p>
          <a:p>
            <a:pPr algn="just"/>
            <a:r>
              <a:rPr lang="en-US" altLang="zh-CN" b="1"/>
              <a:t>                                                 </a:t>
            </a:r>
            <a:r>
              <a:rPr lang="zh-CN" altLang="en-US" b="1"/>
              <a:t>；</a:t>
            </a:r>
            <a:r>
              <a:rPr lang="zh-CN" altLang="en-US" sz="2000" b="1"/>
              <a:t>（</a:t>
            </a:r>
            <a:r>
              <a:rPr lang="en-US" altLang="zh-CN" sz="2000" b="1"/>
              <a:t>PAR</a:t>
            </a:r>
            <a:r>
              <a:rPr lang="zh-CN" altLang="en-US" sz="2000" b="1"/>
              <a:t>）</a:t>
            </a:r>
            <a:r>
              <a:rPr lang="en-US" altLang="zh-CN" sz="2000" b="1"/>
              <a:t>+1→PAR,x</a:t>
            </a:r>
            <a:r>
              <a:rPr lang="zh-CN" altLang="en-US" sz="2000" b="1"/>
              <a:t>（</a:t>
            </a:r>
            <a:r>
              <a:rPr lang="en-US" altLang="zh-CN" sz="2000" b="1"/>
              <a:t>n-4</a:t>
            </a:r>
            <a:r>
              <a:rPr lang="zh-CN" altLang="en-US" sz="2000" b="1"/>
              <a:t>）→</a:t>
            </a:r>
            <a:r>
              <a:rPr lang="en-US" altLang="zh-CN" sz="2000" b="1"/>
              <a:t>x</a:t>
            </a:r>
            <a:r>
              <a:rPr lang="zh-CN" altLang="en-US" sz="2000" b="1"/>
              <a:t>（</a:t>
            </a:r>
            <a:r>
              <a:rPr lang="en-US" altLang="zh-CN" sz="2000" b="1"/>
              <a:t>n-5</a:t>
            </a:r>
            <a:r>
              <a:rPr lang="zh-CN" altLang="en-US" sz="2000" b="1"/>
              <a:t>）</a:t>
            </a:r>
          </a:p>
          <a:p>
            <a:pPr algn="just"/>
            <a:r>
              <a:rPr lang="zh-CN" altLang="en-US" b="1"/>
              <a:t>             </a:t>
            </a:r>
            <a:r>
              <a:rPr lang="en-US" altLang="zh-CN" b="1"/>
              <a:t>STH         A,*AR1        </a:t>
            </a:r>
            <a:r>
              <a:rPr lang="zh-CN" altLang="en-US" b="1"/>
              <a:t>；暂存结果到</a:t>
            </a:r>
            <a:r>
              <a:rPr lang="en-US" altLang="zh-CN" b="1"/>
              <a:t>y</a:t>
            </a:r>
            <a:r>
              <a:rPr lang="zh-CN" altLang="en-US" b="1"/>
              <a:t>（</a:t>
            </a:r>
            <a:r>
              <a:rPr lang="en-US" altLang="zh-CN" b="1"/>
              <a:t>n</a:t>
            </a:r>
            <a:r>
              <a:rPr lang="zh-CN" altLang="en-US" b="1"/>
              <a:t>）</a:t>
            </a:r>
          </a:p>
          <a:p>
            <a:pPr algn="just"/>
            <a:r>
              <a:rPr lang="zh-CN" altLang="en-US" b="1"/>
              <a:t>             </a:t>
            </a:r>
            <a:r>
              <a:rPr lang="en-US" altLang="zh-CN" b="1">
                <a:solidFill>
                  <a:srgbClr val="FF0000"/>
                </a:solidFill>
              </a:rPr>
              <a:t>PORTW  *AR1+,PA0</a:t>
            </a:r>
            <a:r>
              <a:rPr lang="zh-CN" altLang="en-US" b="1">
                <a:solidFill>
                  <a:srgbClr val="FF0000"/>
                </a:solidFill>
              </a:rPr>
              <a:t>；</a:t>
            </a:r>
            <a:r>
              <a:rPr lang="zh-CN" altLang="en-US" sz="2000" b="1">
                <a:solidFill>
                  <a:srgbClr val="FF0000"/>
                </a:solidFill>
              </a:rPr>
              <a:t>输出</a:t>
            </a:r>
            <a:r>
              <a:rPr lang="en-US" altLang="zh-CN" sz="2000" b="1">
                <a:solidFill>
                  <a:srgbClr val="FF0000"/>
                </a:solidFill>
              </a:rPr>
              <a:t>y</a:t>
            </a:r>
            <a:r>
              <a:rPr lang="zh-CN" altLang="en-US" sz="2000" b="1">
                <a:solidFill>
                  <a:srgbClr val="FF0000"/>
                </a:solidFill>
              </a:rPr>
              <a:t>（</a:t>
            </a:r>
            <a:r>
              <a:rPr lang="en-US" altLang="zh-CN" sz="2000" b="1">
                <a:solidFill>
                  <a:srgbClr val="FF0000"/>
                </a:solidFill>
              </a:rPr>
              <a:t>n</a:t>
            </a:r>
            <a:r>
              <a:rPr lang="zh-CN" altLang="en-US" sz="2000" b="1">
                <a:solidFill>
                  <a:srgbClr val="FF0000"/>
                </a:solidFill>
              </a:rPr>
              <a:t>）到</a:t>
            </a:r>
            <a:r>
              <a:rPr lang="en-US" altLang="zh-CN" sz="2000" b="1">
                <a:solidFill>
                  <a:srgbClr val="FF0000"/>
                </a:solidFill>
              </a:rPr>
              <a:t>PA0</a:t>
            </a:r>
            <a:r>
              <a:rPr lang="zh-CN" altLang="en-US" sz="2000" b="1">
                <a:solidFill>
                  <a:srgbClr val="FF0000"/>
                </a:solidFill>
              </a:rPr>
              <a:t>，</a:t>
            </a:r>
            <a:r>
              <a:rPr lang="en-US" altLang="zh-CN" sz="2000" b="1">
                <a:solidFill>
                  <a:srgbClr val="FF0000"/>
                </a:solidFill>
              </a:rPr>
              <a:t>AR1</a:t>
            </a:r>
            <a:r>
              <a:rPr lang="zh-CN" altLang="en-US" sz="2000" b="1">
                <a:solidFill>
                  <a:srgbClr val="FF0000"/>
                </a:solidFill>
              </a:rPr>
              <a:t>指向</a:t>
            </a:r>
            <a:r>
              <a:rPr lang="en-US" altLang="zh-CN" sz="2000" b="1">
                <a:solidFill>
                  <a:srgbClr val="FF0000"/>
                </a:solidFill>
              </a:rPr>
              <a:t>x</a:t>
            </a:r>
            <a:r>
              <a:rPr lang="zh-CN" altLang="en-US" sz="2000" b="1">
                <a:solidFill>
                  <a:srgbClr val="FF0000"/>
                </a:solidFill>
              </a:rPr>
              <a:t>（</a:t>
            </a:r>
            <a:r>
              <a:rPr lang="en-US" altLang="zh-CN" sz="2000" b="1">
                <a:solidFill>
                  <a:srgbClr val="FF0000"/>
                </a:solidFill>
              </a:rPr>
              <a:t>n</a:t>
            </a:r>
            <a:r>
              <a:rPr lang="zh-CN" altLang="en-US" sz="2000" b="1">
                <a:solidFill>
                  <a:srgbClr val="FF0000"/>
                </a:solidFill>
              </a:rPr>
              <a:t>）</a:t>
            </a:r>
          </a:p>
          <a:p>
            <a:pPr algn="just"/>
            <a:r>
              <a:rPr lang="zh-CN" altLang="en-US" b="1"/>
              <a:t>             </a:t>
            </a:r>
            <a:r>
              <a:rPr lang="en-US" altLang="zh-CN" b="1"/>
              <a:t>BD           FIR3             </a:t>
            </a:r>
            <a:r>
              <a:rPr lang="zh-CN" altLang="en-US" b="1"/>
              <a:t>；执行下条指令后循环</a:t>
            </a:r>
          </a:p>
          <a:p>
            <a:pPr algn="just"/>
            <a:r>
              <a:rPr lang="zh-CN" altLang="en-US" b="1">
                <a:solidFill>
                  <a:srgbClr val="FF00FF"/>
                </a:solidFill>
              </a:rPr>
              <a:t>           </a:t>
            </a:r>
            <a:r>
              <a:rPr lang="en-US" altLang="zh-CN" b="1">
                <a:solidFill>
                  <a:srgbClr val="FF00FF"/>
                </a:solidFill>
              </a:rPr>
              <a:t>PORTR PA1,*AR1+0</a:t>
            </a:r>
            <a:r>
              <a:rPr lang="zh-CN" altLang="en-US" b="1">
                <a:solidFill>
                  <a:srgbClr val="FF00FF"/>
                </a:solidFill>
              </a:rPr>
              <a:t>；</a:t>
            </a:r>
            <a:r>
              <a:rPr lang="zh-CN" altLang="en-US" sz="2000" b="1">
                <a:solidFill>
                  <a:srgbClr val="FF00FF"/>
                </a:solidFill>
              </a:rPr>
              <a:t>输入新数据到</a:t>
            </a:r>
            <a:r>
              <a:rPr lang="en-US" altLang="zh-CN" sz="2000" b="1">
                <a:solidFill>
                  <a:srgbClr val="FF00FF"/>
                </a:solidFill>
              </a:rPr>
              <a:t>x</a:t>
            </a:r>
            <a:r>
              <a:rPr lang="zh-CN" altLang="en-US" sz="2000" b="1">
                <a:solidFill>
                  <a:srgbClr val="FF00FF"/>
                </a:solidFill>
              </a:rPr>
              <a:t>（</a:t>
            </a:r>
            <a:r>
              <a:rPr lang="en-US" altLang="zh-CN" sz="2000" b="1">
                <a:solidFill>
                  <a:srgbClr val="FF00FF"/>
                </a:solidFill>
              </a:rPr>
              <a:t>n</a:t>
            </a:r>
            <a:r>
              <a:rPr lang="zh-CN" altLang="en-US" sz="2000" b="1">
                <a:solidFill>
                  <a:srgbClr val="FF00FF"/>
                </a:solidFill>
              </a:rPr>
              <a:t>）</a:t>
            </a:r>
            <a:r>
              <a:rPr lang="en-US" altLang="zh-CN" sz="2000" b="1">
                <a:solidFill>
                  <a:srgbClr val="FF00FF"/>
                </a:solidFill>
              </a:rPr>
              <a:t>,AR1</a:t>
            </a:r>
            <a:r>
              <a:rPr lang="zh-CN" altLang="en-US" sz="2000" b="1">
                <a:solidFill>
                  <a:srgbClr val="FF00FF"/>
                </a:solidFill>
              </a:rPr>
              <a:t>指向</a:t>
            </a:r>
            <a:r>
              <a:rPr lang="en-US" altLang="zh-CN" sz="2000" b="1">
                <a:solidFill>
                  <a:srgbClr val="FF00FF"/>
                </a:solidFill>
              </a:rPr>
              <a:t>x</a:t>
            </a:r>
            <a:r>
              <a:rPr lang="zh-CN" altLang="en-US" sz="2000" b="1">
                <a:solidFill>
                  <a:srgbClr val="FF00FF"/>
                </a:solidFill>
              </a:rPr>
              <a:t>（</a:t>
            </a:r>
            <a:r>
              <a:rPr lang="en-US" altLang="zh-CN" sz="2000" b="1">
                <a:solidFill>
                  <a:srgbClr val="FF00FF"/>
                </a:solidFill>
              </a:rPr>
              <a:t>n-4</a:t>
            </a:r>
            <a:r>
              <a:rPr lang="zh-CN" altLang="en-US" sz="2000" b="1">
                <a:solidFill>
                  <a:srgbClr val="FF00FF"/>
                </a:solidFill>
              </a:rPr>
              <a:t>）</a:t>
            </a:r>
          </a:p>
        </p:txBody>
      </p:sp>
      <p:pic>
        <p:nvPicPr>
          <p:cNvPr id="9319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5" y="115888"/>
            <a:ext cx="2859088" cy="1863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70402"/>
                                        </p:tgtEl>
                                        <p:attrNameLst>
                                          <p:attrName>style.visibility</p:attrName>
                                        </p:attrNameLst>
                                      </p:cBhvr>
                                      <p:to>
                                        <p:strVal val="visible"/>
                                      </p:to>
                                    </p:set>
                                    <p:animEffect transition="in" filter="blinds(vertical)">
                                      <p:cBhvr>
                                        <p:cTn id="7" dur="500"/>
                                        <p:tgtEl>
                                          <p:spTgt spid="870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02"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CF70A996-DF5B-4683-BCFC-45E4D880A254}" type="slidenum">
              <a:rPr lang="en-US" altLang="zh-CN" sz="1400"/>
              <a:pPr eaLnBrk="1" hangingPunct="1"/>
              <a:t>85</a:t>
            </a:fld>
            <a:endParaRPr lang="en-US" altLang="zh-CN" sz="1400"/>
          </a:p>
        </p:txBody>
      </p:sp>
      <p:sp>
        <p:nvSpPr>
          <p:cNvPr id="871426" name="Rectangle 2" descr="小棋盘"/>
          <p:cNvSpPr>
            <a:spLocks noChangeArrowheads="1"/>
          </p:cNvSpPr>
          <p:nvPr/>
        </p:nvSpPr>
        <p:spPr bwMode="auto">
          <a:xfrm>
            <a:off x="1752600" y="990600"/>
            <a:ext cx="4876800" cy="1076325"/>
          </a:xfrm>
          <a:prstGeom prst="rect">
            <a:avLst/>
          </a:prstGeom>
          <a:pattFill prst="smCheck">
            <a:fgClr>
              <a:schemeClr val="accent1"/>
            </a:fgClr>
            <a:bgClr>
              <a:srgbClr val="FFFFFF"/>
            </a:bgClr>
          </a:pattFill>
          <a:ln w="9525">
            <a:solidFill>
              <a:schemeClr val="bg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rgbClr val="FF00FF"/>
                </a:solidFill>
                <a:latin typeface="宋体" panose="02010600030101010101" pitchFamily="2" charset="-122"/>
                <a:cs typeface="Times New Roman" panose="02020603050405020304" pitchFamily="18" charset="0"/>
              </a:rPr>
              <a:t>(4) </a:t>
            </a:r>
            <a:r>
              <a:rPr lang="zh-CN" altLang="en-US" sz="3200" b="1">
                <a:solidFill>
                  <a:srgbClr val="FF6600"/>
                </a:solidFill>
                <a:latin typeface="宋体" panose="02010600030101010101" pitchFamily="2" charset="-122"/>
                <a:cs typeface="Times New Roman" panose="02020603050405020304" pitchFamily="18" charset="0"/>
              </a:rPr>
              <a:t>用循环缓冲区</a:t>
            </a:r>
            <a:r>
              <a:rPr lang="zh-CN" altLang="en-US" sz="3200" b="1">
                <a:latin typeface="宋体" panose="02010600030101010101" pitchFamily="2" charset="-122"/>
                <a:cs typeface="Times New Roman" panose="02020603050405020304" pitchFamily="18" charset="0"/>
              </a:rPr>
              <a:t>和</a:t>
            </a:r>
            <a:r>
              <a:rPr lang="zh-CN" altLang="en-US" sz="3200" b="1">
                <a:solidFill>
                  <a:schemeClr val="tx2"/>
                </a:solidFill>
                <a:latin typeface="宋体" panose="02010600030101010101" pitchFamily="2" charset="-122"/>
                <a:cs typeface="Times New Roman" panose="02020603050405020304" pitchFamily="18" charset="0"/>
              </a:rPr>
              <a:t>双操作数寻址方法实现 </a:t>
            </a:r>
            <a:r>
              <a:rPr lang="en-US" altLang="zh-CN" sz="3200" b="1">
                <a:solidFill>
                  <a:schemeClr val="tx2"/>
                </a:solidFill>
                <a:latin typeface="宋体" panose="02010600030101010101" pitchFamily="2" charset="-122"/>
                <a:cs typeface="Times New Roman" panose="02020603050405020304" pitchFamily="18" charset="0"/>
              </a:rPr>
              <a:t>FIR</a:t>
            </a:r>
          </a:p>
        </p:txBody>
      </p:sp>
      <p:sp>
        <p:nvSpPr>
          <p:cNvPr id="871427" name="Rectangle 3"/>
          <p:cNvSpPr>
            <a:spLocks noChangeArrowheads="1"/>
          </p:cNvSpPr>
          <p:nvPr/>
        </p:nvSpPr>
        <p:spPr bwMode="auto">
          <a:xfrm>
            <a:off x="323850" y="2060575"/>
            <a:ext cx="8610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ea typeface="黑体" panose="02010609060101010101" pitchFamily="49" charset="-122"/>
              </a:rPr>
              <a:t>例</a:t>
            </a:r>
            <a:r>
              <a:rPr lang="en-US" altLang="zh-CN" b="1">
                <a:ea typeface="黑体" panose="02010609060101010101" pitchFamily="49" charset="-122"/>
              </a:rPr>
              <a:t>5-28  </a:t>
            </a:r>
            <a:r>
              <a:rPr lang="en-US" altLang="zh-CN" b="1"/>
              <a:t> </a:t>
            </a:r>
            <a:r>
              <a:rPr lang="zh-CN" altLang="en-US" b="1"/>
              <a:t>编写</a:t>
            </a:r>
            <a:r>
              <a:rPr lang="en-US" altLang="zh-CN" b="1"/>
              <a:t>y</a:t>
            </a:r>
            <a:r>
              <a:rPr lang="zh-CN" altLang="en-US" b="1"/>
              <a:t>（</a:t>
            </a:r>
            <a:r>
              <a:rPr lang="en-US" altLang="zh-CN" b="1"/>
              <a:t>n</a:t>
            </a:r>
            <a:r>
              <a:rPr lang="zh-CN" altLang="en-US" b="1"/>
              <a:t>）</a:t>
            </a:r>
            <a:r>
              <a:rPr lang="en-US" altLang="zh-CN" b="1"/>
              <a:t>=a</a:t>
            </a:r>
            <a:r>
              <a:rPr lang="en-US" altLang="zh-CN" b="1" baseline="-30000"/>
              <a:t>0</a:t>
            </a:r>
            <a:r>
              <a:rPr lang="en-US" altLang="zh-CN" b="1"/>
              <a:t>*x</a:t>
            </a:r>
            <a:r>
              <a:rPr lang="zh-CN" altLang="en-US" b="1"/>
              <a:t>（</a:t>
            </a:r>
            <a:r>
              <a:rPr lang="en-US" altLang="zh-CN" b="1"/>
              <a:t>n</a:t>
            </a:r>
            <a:r>
              <a:rPr lang="zh-CN" altLang="en-US" b="1"/>
              <a:t>）</a:t>
            </a:r>
            <a:r>
              <a:rPr lang="en-US" altLang="zh-CN" b="1"/>
              <a:t>+ a</a:t>
            </a:r>
            <a:r>
              <a:rPr lang="en-US" altLang="zh-CN" b="1" baseline="-30000"/>
              <a:t>1</a:t>
            </a:r>
            <a:r>
              <a:rPr lang="en-US" altLang="zh-CN" b="1"/>
              <a:t>*x</a:t>
            </a:r>
            <a:r>
              <a:rPr lang="zh-CN" altLang="en-US" b="1"/>
              <a:t>（</a:t>
            </a:r>
            <a:r>
              <a:rPr lang="en-US" altLang="zh-CN" b="1"/>
              <a:t>n-1</a:t>
            </a:r>
            <a:r>
              <a:rPr lang="zh-CN" altLang="en-US" b="1"/>
              <a:t>）</a:t>
            </a:r>
            <a:r>
              <a:rPr lang="en-US" altLang="zh-CN" b="1"/>
              <a:t>+ a</a:t>
            </a:r>
            <a:r>
              <a:rPr lang="en-US" altLang="zh-CN" b="1" baseline="-30000"/>
              <a:t>2</a:t>
            </a:r>
            <a:r>
              <a:rPr lang="en-US" altLang="zh-CN" b="1"/>
              <a:t>*x</a:t>
            </a:r>
            <a:r>
              <a:rPr lang="zh-CN" altLang="en-US" b="1"/>
              <a:t>（</a:t>
            </a:r>
            <a:r>
              <a:rPr lang="en-US" altLang="zh-CN" b="1"/>
              <a:t>n-2</a:t>
            </a:r>
            <a:r>
              <a:rPr lang="zh-CN" altLang="en-US" b="1"/>
              <a:t>）</a:t>
            </a:r>
            <a:r>
              <a:rPr lang="en-US" altLang="zh-CN" b="1"/>
              <a:t>+ a</a:t>
            </a:r>
            <a:r>
              <a:rPr lang="en-US" altLang="zh-CN" b="1" baseline="-30000"/>
              <a:t>3</a:t>
            </a:r>
            <a:r>
              <a:rPr lang="en-US" altLang="zh-CN" b="1"/>
              <a:t>*x</a:t>
            </a:r>
            <a:r>
              <a:rPr lang="zh-CN" altLang="en-US" b="1"/>
              <a:t>（</a:t>
            </a:r>
            <a:r>
              <a:rPr lang="en-US" altLang="zh-CN" b="1"/>
              <a:t>n-3</a:t>
            </a:r>
            <a:r>
              <a:rPr lang="zh-CN" altLang="en-US" b="1"/>
              <a:t>）</a:t>
            </a:r>
            <a:r>
              <a:rPr lang="en-US" altLang="zh-CN" b="1"/>
              <a:t>+ a</a:t>
            </a:r>
            <a:r>
              <a:rPr lang="en-US" altLang="zh-CN" b="1" baseline="-30000"/>
              <a:t>4</a:t>
            </a:r>
            <a:r>
              <a:rPr lang="en-US" altLang="zh-CN" b="1"/>
              <a:t>*x</a:t>
            </a:r>
            <a:r>
              <a:rPr lang="zh-CN" altLang="en-US" b="1"/>
              <a:t>（</a:t>
            </a:r>
            <a:r>
              <a:rPr lang="en-US" altLang="zh-CN" b="1"/>
              <a:t>n-4</a:t>
            </a:r>
            <a:r>
              <a:rPr lang="zh-CN" altLang="en-US" b="1"/>
              <a:t>）的计算程序，其中</a:t>
            </a:r>
            <a:r>
              <a:rPr lang="en-US" altLang="zh-CN" b="1"/>
              <a:t>N=5</a:t>
            </a:r>
            <a:r>
              <a:rPr lang="zh-CN" altLang="en-US" b="1"/>
              <a:t>。 </a:t>
            </a:r>
          </a:p>
        </p:txBody>
      </p:sp>
      <p:sp>
        <p:nvSpPr>
          <p:cNvPr id="871428" name="Rectangle 4"/>
          <p:cNvSpPr>
            <a:spLocks noChangeArrowheads="1"/>
          </p:cNvSpPr>
          <p:nvPr/>
        </p:nvSpPr>
        <p:spPr bwMode="auto">
          <a:xfrm>
            <a:off x="395288" y="3141663"/>
            <a:ext cx="252095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宋体" panose="02010600030101010101" pitchFamily="2" charset="-122"/>
                <a:cs typeface="Times New Roman" panose="02020603050405020304" pitchFamily="18" charset="0"/>
              </a:rPr>
              <a:t>本例中，</a:t>
            </a:r>
            <a:r>
              <a:rPr lang="zh-CN" altLang="en-US" sz="2800" b="1">
                <a:solidFill>
                  <a:schemeClr val="folHlink"/>
                </a:solidFill>
                <a:latin typeface="宋体" panose="02010600030101010101" pitchFamily="2" charset="-122"/>
                <a:cs typeface="Times New Roman" panose="02020603050405020304" pitchFamily="18" charset="0"/>
              </a:rPr>
              <a:t>存放</a:t>
            </a:r>
            <a:r>
              <a:rPr lang="en-US" altLang="zh-CN" sz="2800" b="1">
                <a:solidFill>
                  <a:schemeClr val="folHlink"/>
                </a:solidFill>
                <a:latin typeface="宋体" panose="02010600030101010101" pitchFamily="2" charset="-122"/>
                <a:cs typeface="Times New Roman" panose="02020603050405020304" pitchFamily="18" charset="0"/>
              </a:rPr>
              <a:t>a</a:t>
            </a:r>
            <a:r>
              <a:rPr lang="en-US" altLang="zh-CN" sz="2800" b="1" baseline="-30000">
                <a:solidFill>
                  <a:schemeClr val="folHlink"/>
                </a:solidFill>
                <a:latin typeface="宋体" panose="02010600030101010101" pitchFamily="2" charset="-122"/>
                <a:cs typeface="Times New Roman" panose="02020603050405020304" pitchFamily="18" charset="0"/>
              </a:rPr>
              <a:t>0</a:t>
            </a:r>
            <a:r>
              <a:rPr lang="zh-CN" altLang="en-US" sz="2800" b="1">
                <a:solidFill>
                  <a:schemeClr val="folHlink"/>
                </a:solidFill>
                <a:latin typeface="宋体" panose="02010600030101010101" pitchFamily="2" charset="-122"/>
                <a:cs typeface="Times New Roman" panose="02020603050405020304" pitchFamily="18" charset="0"/>
              </a:rPr>
              <a:t>～</a:t>
            </a:r>
            <a:r>
              <a:rPr lang="en-US" altLang="zh-CN" sz="2800" b="1">
                <a:solidFill>
                  <a:schemeClr val="folHlink"/>
                </a:solidFill>
                <a:latin typeface="宋体" panose="02010600030101010101" pitchFamily="2" charset="-122"/>
                <a:cs typeface="Times New Roman" panose="02020603050405020304" pitchFamily="18" charset="0"/>
              </a:rPr>
              <a:t>a</a:t>
            </a:r>
            <a:r>
              <a:rPr lang="en-US" altLang="zh-CN" sz="2800" b="1" baseline="-30000">
                <a:solidFill>
                  <a:schemeClr val="folHlink"/>
                </a:solidFill>
                <a:latin typeface="宋体" panose="02010600030101010101" pitchFamily="2" charset="-122"/>
                <a:cs typeface="Times New Roman" panose="02020603050405020304" pitchFamily="18" charset="0"/>
              </a:rPr>
              <a:t>4</a:t>
            </a:r>
            <a:r>
              <a:rPr lang="zh-CN" altLang="en-US" sz="2800" b="1">
                <a:solidFill>
                  <a:schemeClr val="folHlink"/>
                </a:solidFill>
                <a:latin typeface="宋体" panose="02010600030101010101" pitchFamily="2" charset="-122"/>
                <a:cs typeface="Times New Roman" panose="02020603050405020304" pitchFamily="18" charset="0"/>
              </a:rPr>
              <a:t>的系数表以及存放数据的循环缓冲区均设在</a:t>
            </a:r>
            <a:r>
              <a:rPr lang="en-US" altLang="zh-CN" sz="2800" b="1">
                <a:solidFill>
                  <a:schemeClr val="folHlink"/>
                </a:solidFill>
                <a:latin typeface="宋体" panose="02010600030101010101" pitchFamily="2" charset="-122"/>
                <a:cs typeface="Times New Roman" panose="02020603050405020304" pitchFamily="18" charset="0"/>
              </a:rPr>
              <a:t>DARAM</a:t>
            </a:r>
            <a:r>
              <a:rPr lang="zh-CN" altLang="en-US" sz="2800" b="1">
                <a:solidFill>
                  <a:schemeClr val="folHlink"/>
                </a:solidFill>
                <a:latin typeface="宋体" panose="02010600030101010101" pitchFamily="2" charset="-122"/>
                <a:cs typeface="Times New Roman" panose="02020603050405020304" pitchFamily="18" charset="0"/>
              </a:rPr>
              <a:t>中。 </a:t>
            </a:r>
          </a:p>
        </p:txBody>
      </p:sp>
      <p:sp>
        <p:nvSpPr>
          <p:cNvPr id="94214" name="Text Box 7"/>
          <p:cNvSpPr txBox="1">
            <a:spLocks noChangeArrowheads="1"/>
          </p:cNvSpPr>
          <p:nvPr/>
        </p:nvSpPr>
        <p:spPr bwMode="auto">
          <a:xfrm>
            <a:off x="3922713" y="379571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zh-CN" altLang="zh-CN" sz="2000" b="1">
              <a:solidFill>
                <a:srgbClr val="FF6600"/>
              </a:solidFill>
            </a:endParaRPr>
          </a:p>
        </p:txBody>
      </p:sp>
      <p:sp>
        <p:nvSpPr>
          <p:cNvPr id="94215" name="Text Box 8"/>
          <p:cNvSpPr txBox="1">
            <a:spLocks noChangeArrowheads="1"/>
          </p:cNvSpPr>
          <p:nvPr/>
        </p:nvSpPr>
        <p:spPr bwMode="auto">
          <a:xfrm>
            <a:off x="3924300" y="418941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a:t>
            </a:r>
            <a:endParaRPr lang="en-US" altLang="zh-CN" sz="2000" b="1" baseline="30000">
              <a:solidFill>
                <a:srgbClr val="FF6600"/>
              </a:solidFill>
            </a:endParaRPr>
          </a:p>
        </p:txBody>
      </p:sp>
      <p:sp>
        <p:nvSpPr>
          <p:cNvPr id="94216" name="Text Box 9"/>
          <p:cNvSpPr txBox="1">
            <a:spLocks noChangeArrowheads="1"/>
          </p:cNvSpPr>
          <p:nvPr/>
        </p:nvSpPr>
        <p:spPr bwMode="auto">
          <a:xfrm>
            <a:off x="3924300" y="458946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x(n-1)</a:t>
            </a:r>
            <a:endParaRPr lang="en-US" altLang="zh-CN" sz="2000" b="1">
              <a:solidFill>
                <a:srgbClr val="660066"/>
              </a:solidFill>
            </a:endParaRPr>
          </a:p>
        </p:txBody>
      </p:sp>
      <p:sp>
        <p:nvSpPr>
          <p:cNvPr id="94217" name="Text Box 10"/>
          <p:cNvSpPr txBox="1">
            <a:spLocks noChangeArrowheads="1"/>
          </p:cNvSpPr>
          <p:nvPr/>
        </p:nvSpPr>
        <p:spPr bwMode="auto">
          <a:xfrm>
            <a:off x="3924300" y="499110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x(n-2)</a:t>
            </a:r>
            <a:endParaRPr lang="en-US" altLang="zh-CN" sz="2000" b="1">
              <a:solidFill>
                <a:srgbClr val="660066"/>
              </a:solidFill>
            </a:endParaRPr>
          </a:p>
        </p:txBody>
      </p:sp>
      <p:sp>
        <p:nvSpPr>
          <p:cNvPr id="94218" name="Text Box 11"/>
          <p:cNvSpPr txBox="1">
            <a:spLocks noChangeArrowheads="1"/>
          </p:cNvSpPr>
          <p:nvPr/>
        </p:nvSpPr>
        <p:spPr bwMode="auto">
          <a:xfrm>
            <a:off x="3924300" y="539115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x(n-3)</a:t>
            </a:r>
          </a:p>
        </p:txBody>
      </p:sp>
      <p:sp>
        <p:nvSpPr>
          <p:cNvPr id="94219" name="Text Box 12"/>
          <p:cNvSpPr txBox="1">
            <a:spLocks noChangeArrowheads="1"/>
          </p:cNvSpPr>
          <p:nvPr/>
        </p:nvSpPr>
        <p:spPr bwMode="auto">
          <a:xfrm>
            <a:off x="3924300" y="578961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x(n-4)</a:t>
            </a:r>
          </a:p>
        </p:txBody>
      </p:sp>
      <p:sp>
        <p:nvSpPr>
          <p:cNvPr id="94220" name="Text Box 13"/>
          <p:cNvSpPr txBox="1">
            <a:spLocks noChangeArrowheads="1"/>
          </p:cNvSpPr>
          <p:nvPr/>
        </p:nvSpPr>
        <p:spPr bwMode="auto">
          <a:xfrm>
            <a:off x="3706813" y="2995613"/>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94221" name="Text Box 14"/>
          <p:cNvSpPr txBox="1">
            <a:spLocks noChangeArrowheads="1"/>
          </p:cNvSpPr>
          <p:nvPr/>
        </p:nvSpPr>
        <p:spPr bwMode="auto">
          <a:xfrm>
            <a:off x="3322638" y="37973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y</a:t>
            </a:r>
            <a:endParaRPr lang="en-US" altLang="zh-CN" sz="2000">
              <a:solidFill>
                <a:schemeClr val="tx2"/>
              </a:solidFill>
            </a:endParaRPr>
          </a:p>
        </p:txBody>
      </p:sp>
      <p:sp>
        <p:nvSpPr>
          <p:cNvPr id="94222" name="Text Box 15"/>
          <p:cNvSpPr txBox="1">
            <a:spLocks noChangeArrowheads="1"/>
          </p:cNvSpPr>
          <p:nvPr/>
        </p:nvSpPr>
        <p:spPr bwMode="auto">
          <a:xfrm>
            <a:off x="3348038" y="4189413"/>
            <a:ext cx="465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xn</a:t>
            </a:r>
            <a:endParaRPr lang="en-US" altLang="zh-CN" sz="2000">
              <a:solidFill>
                <a:schemeClr val="tx2"/>
              </a:solidFill>
            </a:endParaRPr>
          </a:p>
        </p:txBody>
      </p:sp>
      <p:sp>
        <p:nvSpPr>
          <p:cNvPr id="94223" name="Text Box 16"/>
          <p:cNvSpPr txBox="1">
            <a:spLocks noChangeArrowheads="1"/>
          </p:cNvSpPr>
          <p:nvPr/>
        </p:nvSpPr>
        <p:spPr bwMode="auto">
          <a:xfrm>
            <a:off x="2843213" y="5772150"/>
            <a:ext cx="696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AR3</a:t>
            </a:r>
            <a:endParaRPr lang="en-US" altLang="zh-CN" sz="2000">
              <a:solidFill>
                <a:schemeClr val="tx2"/>
              </a:solidFill>
            </a:endParaRPr>
          </a:p>
        </p:txBody>
      </p:sp>
      <p:sp>
        <p:nvSpPr>
          <p:cNvPr id="94224" name="Text Box 17"/>
          <p:cNvSpPr txBox="1">
            <a:spLocks noChangeArrowheads="1"/>
          </p:cNvSpPr>
          <p:nvPr/>
        </p:nvSpPr>
        <p:spPr bwMode="auto">
          <a:xfrm>
            <a:off x="6804025" y="3748088"/>
            <a:ext cx="1082675"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0</a:t>
            </a:r>
          </a:p>
        </p:txBody>
      </p:sp>
      <p:sp>
        <p:nvSpPr>
          <p:cNvPr id="94225" name="Text Box 18"/>
          <p:cNvSpPr txBox="1">
            <a:spLocks noChangeArrowheads="1"/>
          </p:cNvSpPr>
          <p:nvPr/>
        </p:nvSpPr>
        <p:spPr bwMode="auto">
          <a:xfrm>
            <a:off x="6804025" y="4148138"/>
            <a:ext cx="1079500"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1</a:t>
            </a:r>
          </a:p>
        </p:txBody>
      </p:sp>
      <p:sp>
        <p:nvSpPr>
          <p:cNvPr id="94226" name="Text Box 19"/>
          <p:cNvSpPr txBox="1">
            <a:spLocks noChangeArrowheads="1"/>
          </p:cNvSpPr>
          <p:nvPr/>
        </p:nvSpPr>
        <p:spPr bwMode="auto">
          <a:xfrm>
            <a:off x="6804025" y="4548188"/>
            <a:ext cx="1082675"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2</a:t>
            </a:r>
          </a:p>
        </p:txBody>
      </p:sp>
      <p:sp>
        <p:nvSpPr>
          <p:cNvPr id="94227" name="Text Box 20"/>
          <p:cNvSpPr txBox="1">
            <a:spLocks noChangeArrowheads="1"/>
          </p:cNvSpPr>
          <p:nvPr/>
        </p:nvSpPr>
        <p:spPr bwMode="auto">
          <a:xfrm>
            <a:off x="6804025" y="4949825"/>
            <a:ext cx="1082675"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3</a:t>
            </a:r>
          </a:p>
        </p:txBody>
      </p:sp>
      <p:sp>
        <p:nvSpPr>
          <p:cNvPr id="94228" name="Text Box 21"/>
          <p:cNvSpPr txBox="1">
            <a:spLocks noChangeArrowheads="1"/>
          </p:cNvSpPr>
          <p:nvPr/>
        </p:nvSpPr>
        <p:spPr bwMode="auto">
          <a:xfrm>
            <a:off x="6804025" y="5356225"/>
            <a:ext cx="1079500" cy="406400"/>
          </a:xfrm>
          <a:prstGeom prst="rect">
            <a:avLst/>
          </a:prstGeom>
          <a:solidFill>
            <a:srgbClr val="FFFF99"/>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4</a:t>
            </a:r>
          </a:p>
        </p:txBody>
      </p:sp>
      <p:sp>
        <p:nvSpPr>
          <p:cNvPr id="94229" name="Text Box 22"/>
          <p:cNvSpPr txBox="1">
            <a:spLocks noChangeArrowheads="1"/>
          </p:cNvSpPr>
          <p:nvPr/>
        </p:nvSpPr>
        <p:spPr bwMode="auto">
          <a:xfrm>
            <a:off x="6516688" y="3244850"/>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94230" name="Text Box 23"/>
          <p:cNvSpPr txBox="1">
            <a:spLocks noChangeArrowheads="1"/>
          </p:cNvSpPr>
          <p:nvPr/>
        </p:nvSpPr>
        <p:spPr bwMode="auto">
          <a:xfrm>
            <a:off x="6227763" y="3756025"/>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a:t>
            </a:r>
            <a:r>
              <a:rPr lang="en-US" altLang="zh-CN" sz="2000" b="1" baseline="-25000">
                <a:solidFill>
                  <a:schemeClr val="tx2"/>
                </a:solidFill>
              </a:rPr>
              <a:t>0</a:t>
            </a:r>
          </a:p>
        </p:txBody>
      </p:sp>
      <p:sp>
        <p:nvSpPr>
          <p:cNvPr id="94231" name="Line 24"/>
          <p:cNvSpPr>
            <a:spLocks noChangeShapeType="1"/>
          </p:cNvSpPr>
          <p:nvPr/>
        </p:nvSpPr>
        <p:spPr bwMode="auto">
          <a:xfrm>
            <a:off x="3492500" y="5989638"/>
            <a:ext cx="287338"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32" name="Text Box 25"/>
          <p:cNvSpPr txBox="1">
            <a:spLocks noChangeArrowheads="1"/>
          </p:cNvSpPr>
          <p:nvPr/>
        </p:nvSpPr>
        <p:spPr bwMode="auto">
          <a:xfrm>
            <a:off x="5867400" y="5340350"/>
            <a:ext cx="696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AR4</a:t>
            </a:r>
            <a:endParaRPr lang="en-US" altLang="zh-CN" sz="2000">
              <a:solidFill>
                <a:schemeClr val="tx2"/>
              </a:solidFill>
            </a:endParaRPr>
          </a:p>
        </p:txBody>
      </p:sp>
      <p:sp>
        <p:nvSpPr>
          <p:cNvPr id="94233" name="Line 26"/>
          <p:cNvSpPr>
            <a:spLocks noChangeShapeType="1"/>
          </p:cNvSpPr>
          <p:nvPr/>
        </p:nvSpPr>
        <p:spPr bwMode="auto">
          <a:xfrm>
            <a:off x="6484938" y="5556250"/>
            <a:ext cx="287337"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34" name="Text Box 27"/>
          <p:cNvSpPr txBox="1">
            <a:spLocks noChangeArrowheads="1"/>
          </p:cNvSpPr>
          <p:nvPr/>
        </p:nvSpPr>
        <p:spPr bwMode="auto">
          <a:xfrm>
            <a:off x="7954963" y="3716338"/>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88h</a:t>
            </a:r>
            <a:endParaRPr lang="en-US" altLang="zh-CN" sz="2000" b="1" baseline="-25000">
              <a:solidFill>
                <a:schemeClr val="tx2"/>
              </a:solidFill>
            </a:endParaRPr>
          </a:p>
        </p:txBody>
      </p:sp>
      <p:sp>
        <p:nvSpPr>
          <p:cNvPr id="94235" name="Text Box 28"/>
          <p:cNvSpPr txBox="1">
            <a:spLocks noChangeArrowheads="1"/>
          </p:cNvSpPr>
          <p:nvPr/>
        </p:nvSpPr>
        <p:spPr bwMode="auto">
          <a:xfrm>
            <a:off x="7954963" y="4148138"/>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89h</a:t>
            </a:r>
            <a:endParaRPr lang="en-US" altLang="zh-CN" sz="2000" b="1" baseline="-25000">
              <a:solidFill>
                <a:schemeClr val="tx2"/>
              </a:solidFill>
            </a:endParaRPr>
          </a:p>
        </p:txBody>
      </p:sp>
      <p:sp>
        <p:nvSpPr>
          <p:cNvPr id="94236" name="Text Box 29"/>
          <p:cNvSpPr txBox="1">
            <a:spLocks noChangeArrowheads="1"/>
          </p:cNvSpPr>
          <p:nvPr/>
        </p:nvSpPr>
        <p:spPr bwMode="auto">
          <a:xfrm>
            <a:off x="7980363" y="4540250"/>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8Ah</a:t>
            </a:r>
            <a:endParaRPr lang="en-US" altLang="zh-CN" sz="2000" b="1" baseline="-25000">
              <a:solidFill>
                <a:schemeClr val="tx2"/>
              </a:solidFill>
            </a:endParaRPr>
          </a:p>
        </p:txBody>
      </p:sp>
      <p:sp>
        <p:nvSpPr>
          <p:cNvPr id="94237" name="Text Box 30"/>
          <p:cNvSpPr txBox="1">
            <a:spLocks noChangeArrowheads="1"/>
          </p:cNvSpPr>
          <p:nvPr/>
        </p:nvSpPr>
        <p:spPr bwMode="auto">
          <a:xfrm>
            <a:off x="7980363" y="4940300"/>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8Bh</a:t>
            </a:r>
            <a:endParaRPr lang="en-US" altLang="zh-CN" sz="2000" b="1" baseline="-25000">
              <a:solidFill>
                <a:schemeClr val="tx2"/>
              </a:solidFill>
            </a:endParaRPr>
          </a:p>
        </p:txBody>
      </p:sp>
      <p:sp>
        <p:nvSpPr>
          <p:cNvPr id="94238" name="Text Box 31"/>
          <p:cNvSpPr txBox="1">
            <a:spLocks noChangeArrowheads="1"/>
          </p:cNvSpPr>
          <p:nvPr/>
        </p:nvSpPr>
        <p:spPr bwMode="auto">
          <a:xfrm>
            <a:off x="7980363" y="5372100"/>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8Ch</a:t>
            </a:r>
            <a:endParaRPr lang="en-US" altLang="zh-CN" sz="2000" b="1" baseline="-25000">
              <a:solidFill>
                <a:schemeClr val="tx2"/>
              </a:solidFill>
            </a:endParaRPr>
          </a:p>
        </p:txBody>
      </p:sp>
      <p:sp>
        <p:nvSpPr>
          <p:cNvPr id="94239" name="Text Box 32"/>
          <p:cNvSpPr txBox="1">
            <a:spLocks noChangeArrowheads="1"/>
          </p:cNvSpPr>
          <p:nvPr/>
        </p:nvSpPr>
        <p:spPr bwMode="auto">
          <a:xfrm>
            <a:off x="5075238" y="4221163"/>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0000"/>
                </a:solidFill>
              </a:rPr>
              <a:t>80h</a:t>
            </a:r>
            <a:endParaRPr lang="en-US" altLang="zh-CN" sz="2000" b="1" baseline="-25000">
              <a:solidFill>
                <a:srgbClr val="FF0000"/>
              </a:solidFill>
            </a:endParaRPr>
          </a:p>
        </p:txBody>
      </p:sp>
      <p:sp>
        <p:nvSpPr>
          <p:cNvPr id="94240" name="Text Box 33"/>
          <p:cNvSpPr txBox="1">
            <a:spLocks noChangeArrowheads="1"/>
          </p:cNvSpPr>
          <p:nvPr/>
        </p:nvSpPr>
        <p:spPr bwMode="auto">
          <a:xfrm>
            <a:off x="5075238" y="4616450"/>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0000"/>
                </a:solidFill>
              </a:rPr>
              <a:t>81h</a:t>
            </a:r>
            <a:endParaRPr lang="en-US" altLang="zh-CN" sz="2000" b="1" baseline="-25000">
              <a:solidFill>
                <a:srgbClr val="FF0000"/>
              </a:solidFill>
            </a:endParaRPr>
          </a:p>
        </p:txBody>
      </p:sp>
      <p:sp>
        <p:nvSpPr>
          <p:cNvPr id="94241" name="Text Box 34"/>
          <p:cNvSpPr txBox="1">
            <a:spLocks noChangeArrowheads="1"/>
          </p:cNvSpPr>
          <p:nvPr/>
        </p:nvSpPr>
        <p:spPr bwMode="auto">
          <a:xfrm>
            <a:off x="5084763" y="5008563"/>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0000"/>
                </a:solidFill>
              </a:rPr>
              <a:t>82h</a:t>
            </a:r>
            <a:endParaRPr lang="en-US" altLang="zh-CN" sz="2000" b="1" baseline="-25000">
              <a:solidFill>
                <a:srgbClr val="FF0000"/>
              </a:solidFill>
            </a:endParaRPr>
          </a:p>
        </p:txBody>
      </p:sp>
      <p:sp>
        <p:nvSpPr>
          <p:cNvPr id="94242" name="Text Box 35"/>
          <p:cNvSpPr txBox="1">
            <a:spLocks noChangeArrowheads="1"/>
          </p:cNvSpPr>
          <p:nvPr/>
        </p:nvSpPr>
        <p:spPr bwMode="auto">
          <a:xfrm>
            <a:off x="5084763" y="5408613"/>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0000"/>
                </a:solidFill>
              </a:rPr>
              <a:t>83h</a:t>
            </a:r>
            <a:endParaRPr lang="en-US" altLang="zh-CN" sz="2000" b="1" baseline="-25000">
              <a:solidFill>
                <a:srgbClr val="FF0000"/>
              </a:solidFill>
            </a:endParaRPr>
          </a:p>
        </p:txBody>
      </p:sp>
      <p:sp>
        <p:nvSpPr>
          <p:cNvPr id="94243" name="Text Box 36"/>
          <p:cNvSpPr txBox="1">
            <a:spLocks noChangeArrowheads="1"/>
          </p:cNvSpPr>
          <p:nvPr/>
        </p:nvSpPr>
        <p:spPr bwMode="auto">
          <a:xfrm>
            <a:off x="5084763" y="5840413"/>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0000"/>
                </a:solidFill>
              </a:rPr>
              <a:t>84h</a:t>
            </a:r>
            <a:endParaRPr lang="en-US" altLang="zh-CN" sz="2000" b="1" baseline="-25000">
              <a:solidFill>
                <a:srgbClr val="FF0000"/>
              </a:solidFill>
            </a:endParaRPr>
          </a:p>
        </p:txBody>
      </p:sp>
      <p:sp>
        <p:nvSpPr>
          <p:cNvPr id="94244" name="Text Box 37"/>
          <p:cNvSpPr txBox="1">
            <a:spLocks noChangeArrowheads="1"/>
          </p:cNvSpPr>
          <p:nvPr/>
        </p:nvSpPr>
        <p:spPr bwMode="auto">
          <a:xfrm>
            <a:off x="3922713" y="342900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6600"/>
                </a:solidFill>
              </a:rPr>
              <a:t>y(n)</a:t>
            </a:r>
          </a:p>
        </p:txBody>
      </p:sp>
      <p:sp>
        <p:nvSpPr>
          <p:cNvPr id="94245" name="Line 38"/>
          <p:cNvSpPr>
            <a:spLocks noChangeShapeType="1"/>
          </p:cNvSpPr>
          <p:nvPr/>
        </p:nvSpPr>
        <p:spPr bwMode="auto">
          <a:xfrm>
            <a:off x="4211638" y="4003675"/>
            <a:ext cx="503237" cy="0"/>
          </a:xfrm>
          <a:prstGeom prst="line">
            <a:avLst/>
          </a:prstGeom>
          <a:noFill/>
          <a:ln w="28575">
            <a:solidFill>
              <a:srgbClr val="FF66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4246" name="Text Box 39"/>
          <p:cNvSpPr txBox="1">
            <a:spLocks noChangeArrowheads="1"/>
          </p:cNvSpPr>
          <p:nvPr/>
        </p:nvSpPr>
        <p:spPr bwMode="auto">
          <a:xfrm>
            <a:off x="5075238" y="3429000"/>
            <a:ext cx="649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660066"/>
                </a:solidFill>
              </a:rPr>
              <a:t>60h</a:t>
            </a:r>
            <a:endParaRPr lang="en-US" altLang="zh-CN" sz="2000" b="1" baseline="-25000">
              <a:solidFill>
                <a:srgbClr val="660066"/>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71426"/>
                                        </p:tgtEl>
                                        <p:attrNameLst>
                                          <p:attrName>style.visibility</p:attrName>
                                        </p:attrNameLst>
                                      </p:cBhvr>
                                      <p:to>
                                        <p:strVal val="visible"/>
                                      </p:to>
                                    </p:set>
                                    <p:animEffect transition="in" filter="slide(fromTop)">
                                      <p:cBhvr>
                                        <p:cTn id="7" dur="500"/>
                                        <p:tgtEl>
                                          <p:spTgt spid="871426"/>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71427"/>
                                        </p:tgtEl>
                                        <p:attrNameLst>
                                          <p:attrName>style.visibility</p:attrName>
                                        </p:attrNameLst>
                                      </p:cBhvr>
                                      <p:to>
                                        <p:strVal val="visible"/>
                                      </p:to>
                                    </p:set>
                                    <p:animEffect transition="in" filter="slide(fromBottom)">
                                      <p:cBhvr>
                                        <p:cTn id="11" dur="500"/>
                                        <p:tgtEl>
                                          <p:spTgt spid="871427"/>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871428"/>
                                        </p:tgtEl>
                                        <p:attrNameLst>
                                          <p:attrName>style.visibility</p:attrName>
                                        </p:attrNameLst>
                                      </p:cBhvr>
                                      <p:to>
                                        <p:strVal val="visible"/>
                                      </p:to>
                                    </p:set>
                                    <p:animEffect transition="in" filter="slide(fromBottom)">
                                      <p:cBhvr>
                                        <p:cTn id="15" dur="500"/>
                                        <p:tgtEl>
                                          <p:spTgt spid="871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426" grpId="0" animBg="1"/>
      <p:bldP spid="871427" grpId="0"/>
      <p:bldP spid="87142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E78E812-1850-4664-83F6-65D543A5A3FF}" type="slidenum">
              <a:rPr lang="en-US" altLang="zh-CN" sz="1400"/>
              <a:pPr eaLnBrk="1" hangingPunct="1"/>
              <a:t>86</a:t>
            </a:fld>
            <a:endParaRPr lang="en-US" altLang="zh-CN" sz="1400"/>
          </a:p>
        </p:txBody>
      </p:sp>
      <p:sp>
        <p:nvSpPr>
          <p:cNvPr id="872450" name="Rectangle 2"/>
          <p:cNvSpPr>
            <a:spLocks noChangeArrowheads="1"/>
          </p:cNvSpPr>
          <p:nvPr/>
        </p:nvSpPr>
        <p:spPr bwMode="auto">
          <a:xfrm>
            <a:off x="381000" y="990600"/>
            <a:ext cx="8305800" cy="551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t>.title    “FIR4.ASM”   </a:t>
            </a:r>
            <a:r>
              <a:rPr lang="zh-CN" altLang="en-US" b="1"/>
              <a:t>；给汇编程序取名</a:t>
            </a:r>
          </a:p>
          <a:p>
            <a:pPr algn="just"/>
            <a:r>
              <a:rPr lang="zh-CN" altLang="en-US" b="1"/>
              <a:t>            </a:t>
            </a:r>
            <a:r>
              <a:rPr lang="en-US" altLang="zh-CN" b="1">
                <a:solidFill>
                  <a:schemeClr val="folHlink"/>
                </a:solidFill>
              </a:rPr>
              <a:t>.mmregs</a:t>
            </a:r>
            <a:r>
              <a:rPr lang="en-US" altLang="zh-CN" b="1"/>
              <a:t>                    </a:t>
            </a:r>
            <a:r>
              <a:rPr lang="zh-CN" altLang="en-US" b="1"/>
              <a:t>；定义存储器映象寄存器</a:t>
            </a:r>
          </a:p>
          <a:p>
            <a:pPr algn="just"/>
            <a:r>
              <a:rPr lang="zh-CN" altLang="en-US" b="1"/>
              <a:t>            </a:t>
            </a:r>
            <a:r>
              <a:rPr lang="en-US" altLang="zh-CN" b="1"/>
              <a:t>.def       start              </a:t>
            </a:r>
            <a:r>
              <a:rPr lang="zh-CN" altLang="en-US" b="1"/>
              <a:t>；定义标号</a:t>
            </a:r>
            <a:r>
              <a:rPr lang="en-US" altLang="zh-CN" b="1"/>
              <a:t>start</a:t>
            </a:r>
            <a:r>
              <a:rPr lang="zh-CN" altLang="en-US" b="1"/>
              <a:t>的起始位置</a:t>
            </a:r>
          </a:p>
          <a:p>
            <a:pPr algn="just"/>
            <a:r>
              <a:rPr lang="zh-CN" altLang="en-US" b="1"/>
              <a:t>            </a:t>
            </a:r>
            <a:r>
              <a:rPr lang="en-US" altLang="zh-CN" b="1">
                <a:solidFill>
                  <a:srgbClr val="FF0000"/>
                </a:solidFill>
              </a:rPr>
              <a:t>.bss       y,1</a:t>
            </a:r>
            <a:r>
              <a:rPr lang="en-US" altLang="zh-CN" b="1"/>
              <a:t>                 </a:t>
            </a:r>
            <a:r>
              <a:rPr lang="zh-CN" altLang="en-US" b="1"/>
              <a:t>；为未初始化变量</a:t>
            </a:r>
            <a:r>
              <a:rPr lang="en-US" altLang="zh-CN" b="1"/>
              <a:t>y</a:t>
            </a:r>
            <a:r>
              <a:rPr lang="zh-CN" altLang="en-US" b="1"/>
              <a:t>保留空间</a:t>
            </a:r>
          </a:p>
          <a:p>
            <a:pPr algn="just"/>
            <a:r>
              <a:rPr lang="en-US" altLang="zh-CN" b="1">
                <a:solidFill>
                  <a:schemeClr val="tx2"/>
                </a:solidFill>
              </a:rPr>
              <a:t>xn        .usect    “xn”,5          </a:t>
            </a:r>
            <a:r>
              <a:rPr lang="zh-CN" altLang="en-US" b="1">
                <a:solidFill>
                  <a:schemeClr val="tx2"/>
                </a:solidFill>
              </a:rPr>
              <a:t>；自定义</a:t>
            </a:r>
            <a:r>
              <a:rPr lang="en-US" altLang="zh-CN" b="1">
                <a:solidFill>
                  <a:schemeClr val="tx2"/>
                </a:solidFill>
              </a:rPr>
              <a:t>5</a:t>
            </a:r>
            <a:r>
              <a:rPr lang="zh-CN" altLang="en-US" b="1">
                <a:solidFill>
                  <a:schemeClr val="tx2"/>
                </a:solidFill>
              </a:rPr>
              <a:t>个单元空间的数据段</a:t>
            </a:r>
            <a:r>
              <a:rPr lang="en-US" altLang="zh-CN" b="1">
                <a:solidFill>
                  <a:schemeClr val="tx2"/>
                </a:solidFill>
              </a:rPr>
              <a:t>xn</a:t>
            </a:r>
          </a:p>
          <a:p>
            <a:pPr algn="just"/>
            <a:r>
              <a:rPr lang="en-US" altLang="zh-CN" b="1">
                <a:solidFill>
                  <a:schemeClr val="tx2"/>
                </a:solidFill>
              </a:rPr>
              <a:t>a0        .usect    “a0”,5          </a:t>
            </a:r>
            <a:r>
              <a:rPr lang="zh-CN" altLang="en-US" b="1">
                <a:solidFill>
                  <a:schemeClr val="tx2"/>
                </a:solidFill>
              </a:rPr>
              <a:t>；自定义</a:t>
            </a:r>
            <a:r>
              <a:rPr lang="en-US" altLang="zh-CN" b="1">
                <a:solidFill>
                  <a:schemeClr val="tx2"/>
                </a:solidFill>
              </a:rPr>
              <a:t>5</a:t>
            </a:r>
            <a:r>
              <a:rPr lang="zh-CN" altLang="en-US" b="1">
                <a:solidFill>
                  <a:schemeClr val="tx2"/>
                </a:solidFill>
              </a:rPr>
              <a:t>个单元空间的数据段</a:t>
            </a:r>
            <a:r>
              <a:rPr lang="en-US" altLang="zh-CN" b="1">
                <a:solidFill>
                  <a:schemeClr val="tx2"/>
                </a:solidFill>
              </a:rPr>
              <a:t>a0</a:t>
            </a:r>
          </a:p>
          <a:p>
            <a:pPr algn="just"/>
            <a:r>
              <a:rPr lang="en-US" altLang="zh-CN" b="1">
                <a:solidFill>
                  <a:srgbClr val="FF6600"/>
                </a:solidFill>
              </a:rPr>
              <a:t>PA0     .set        0                   </a:t>
            </a:r>
            <a:r>
              <a:rPr lang="zh-CN" altLang="en-US" b="1">
                <a:solidFill>
                  <a:srgbClr val="FF6600"/>
                </a:solidFill>
              </a:rPr>
              <a:t>；设置数据输出端口</a:t>
            </a:r>
            <a:r>
              <a:rPr lang="en-US" altLang="zh-CN" b="1">
                <a:solidFill>
                  <a:srgbClr val="FF6600"/>
                </a:solidFill>
              </a:rPr>
              <a:t>I/O</a:t>
            </a:r>
            <a:r>
              <a:rPr lang="zh-CN" altLang="en-US" b="1">
                <a:solidFill>
                  <a:srgbClr val="FF6600"/>
                </a:solidFill>
              </a:rPr>
              <a:t>，</a:t>
            </a:r>
            <a:r>
              <a:rPr lang="en-US" altLang="zh-CN" b="1">
                <a:solidFill>
                  <a:srgbClr val="FF6600"/>
                </a:solidFill>
              </a:rPr>
              <a:t>PA0=0</a:t>
            </a:r>
          </a:p>
          <a:p>
            <a:pPr algn="just"/>
            <a:r>
              <a:rPr lang="en-US" altLang="zh-CN" b="1">
                <a:solidFill>
                  <a:srgbClr val="FF6600"/>
                </a:solidFill>
              </a:rPr>
              <a:t>PA1     .set        1                   </a:t>
            </a:r>
            <a:r>
              <a:rPr lang="zh-CN" altLang="en-US" b="1">
                <a:solidFill>
                  <a:srgbClr val="FF6600"/>
                </a:solidFill>
              </a:rPr>
              <a:t>；设置数据输入端口</a:t>
            </a:r>
            <a:r>
              <a:rPr lang="en-US" altLang="zh-CN" b="1">
                <a:solidFill>
                  <a:srgbClr val="FF6600"/>
                </a:solidFill>
              </a:rPr>
              <a:t>I/O</a:t>
            </a:r>
            <a:r>
              <a:rPr lang="zh-CN" altLang="en-US" b="1">
                <a:solidFill>
                  <a:srgbClr val="FF6600"/>
                </a:solidFill>
              </a:rPr>
              <a:t>，</a:t>
            </a:r>
            <a:r>
              <a:rPr lang="en-US" altLang="zh-CN" b="1">
                <a:solidFill>
                  <a:srgbClr val="FF6600"/>
                </a:solidFill>
              </a:rPr>
              <a:t>PA1=1</a:t>
            </a:r>
          </a:p>
          <a:p>
            <a:pPr algn="just"/>
            <a:r>
              <a:rPr lang="en-US" altLang="zh-CN" b="1"/>
              <a:t>            .data</a:t>
            </a:r>
          </a:p>
          <a:p>
            <a:pPr algn="just"/>
            <a:r>
              <a:rPr lang="en-US" altLang="zh-CN" b="1"/>
              <a:t>table:   .word     1*32768/10   </a:t>
            </a:r>
            <a:r>
              <a:rPr lang="zh-CN" altLang="en-US" b="1"/>
              <a:t>；</a:t>
            </a:r>
            <a:r>
              <a:rPr lang="en-US" altLang="zh-CN" b="1"/>
              <a:t>a</a:t>
            </a:r>
            <a:r>
              <a:rPr lang="en-US" altLang="zh-CN" b="1" baseline="-30000"/>
              <a:t>0</a:t>
            </a:r>
            <a:r>
              <a:rPr lang="en-US" altLang="zh-CN" b="1"/>
              <a:t>=0.1=0x0CCC</a:t>
            </a:r>
          </a:p>
          <a:p>
            <a:pPr algn="just"/>
            <a:r>
              <a:rPr lang="en-US" altLang="zh-CN" b="1"/>
              <a:t>            .word     2*32768/10    </a:t>
            </a:r>
            <a:r>
              <a:rPr lang="zh-CN" altLang="en-US" b="1"/>
              <a:t>；</a:t>
            </a:r>
            <a:r>
              <a:rPr lang="en-US" altLang="zh-CN" b="1"/>
              <a:t>a</a:t>
            </a:r>
            <a:r>
              <a:rPr lang="en-US" altLang="zh-CN" b="1" baseline="-30000"/>
              <a:t>1</a:t>
            </a:r>
            <a:r>
              <a:rPr lang="en-US" altLang="zh-CN" b="1"/>
              <a:t>=0.2=0x1999</a:t>
            </a:r>
          </a:p>
          <a:p>
            <a:pPr algn="just"/>
            <a:r>
              <a:rPr lang="en-US" altLang="zh-CN" b="1"/>
              <a:t>            .word     3*32768/10    </a:t>
            </a:r>
            <a:r>
              <a:rPr lang="zh-CN" altLang="en-US" b="1"/>
              <a:t>；</a:t>
            </a:r>
            <a:r>
              <a:rPr lang="en-US" altLang="zh-CN" b="1"/>
              <a:t>a</a:t>
            </a:r>
            <a:r>
              <a:rPr lang="en-US" altLang="zh-CN" b="1" baseline="-30000"/>
              <a:t>2</a:t>
            </a:r>
            <a:r>
              <a:rPr lang="en-US" altLang="zh-CN" b="1"/>
              <a:t>=0.3=0x2666</a:t>
            </a:r>
          </a:p>
          <a:p>
            <a:pPr algn="just"/>
            <a:r>
              <a:rPr lang="en-US" altLang="zh-CN" b="1"/>
              <a:t>            .word     4*32768/10    </a:t>
            </a:r>
            <a:r>
              <a:rPr lang="zh-CN" altLang="en-US" b="1"/>
              <a:t>；</a:t>
            </a:r>
            <a:r>
              <a:rPr lang="en-US" altLang="zh-CN" b="1"/>
              <a:t>a</a:t>
            </a:r>
            <a:r>
              <a:rPr lang="en-US" altLang="zh-CN" b="1" baseline="-30000"/>
              <a:t>3</a:t>
            </a:r>
            <a:r>
              <a:rPr lang="en-US" altLang="zh-CN" b="1"/>
              <a:t>=0.4=0x3333</a:t>
            </a:r>
          </a:p>
          <a:p>
            <a:pPr algn="just"/>
            <a:r>
              <a:rPr lang="en-US" altLang="zh-CN" b="1"/>
              <a:t>            .word     5*32768/10    </a:t>
            </a:r>
            <a:r>
              <a:rPr lang="zh-CN" altLang="en-US" b="1"/>
              <a:t>；</a:t>
            </a:r>
            <a:r>
              <a:rPr lang="en-US" altLang="zh-CN" b="1"/>
              <a:t>a</a:t>
            </a:r>
            <a:r>
              <a:rPr lang="en-US" altLang="zh-CN" b="1" baseline="-30000"/>
              <a:t>4</a:t>
            </a:r>
            <a:r>
              <a:rPr lang="en-US" altLang="zh-CN" b="1"/>
              <a:t>=0.5=0x4000</a:t>
            </a:r>
          </a:p>
          <a:p>
            <a:pPr algn="just" eaLnBrk="1" hangingPunct="1">
              <a:lnSpc>
                <a:spcPct val="75000"/>
              </a:lnSpc>
              <a:spcBef>
                <a:spcPct val="10000"/>
              </a:spcBef>
            </a:pPr>
            <a:r>
              <a:rPr lang="en-US" altLang="zh-CN" b="1"/>
              <a:t>  .text</a:t>
            </a:r>
          </a:p>
        </p:txBody>
      </p:sp>
      <p:pic>
        <p:nvPicPr>
          <p:cNvPr id="9523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5" y="0"/>
            <a:ext cx="2519363" cy="1395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72450"/>
                                        </p:tgtEl>
                                        <p:attrNameLst>
                                          <p:attrName>style.visibility</p:attrName>
                                        </p:attrNameLst>
                                      </p:cBhvr>
                                      <p:to>
                                        <p:strVal val="visible"/>
                                      </p:to>
                                    </p:set>
                                    <p:animEffect transition="in" filter="blinds(horizontal)">
                                      <p:cBhvr>
                                        <p:cTn id="7" dur="500"/>
                                        <p:tgtEl>
                                          <p:spTgt spid="872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2867E83-708C-4AD4-9776-231A34303C24}" type="slidenum">
              <a:rPr lang="en-US" altLang="zh-CN" sz="1400"/>
              <a:pPr eaLnBrk="1" hangingPunct="1"/>
              <a:t>87</a:t>
            </a:fld>
            <a:endParaRPr lang="en-US" altLang="zh-CN" sz="1400"/>
          </a:p>
        </p:txBody>
      </p:sp>
      <p:sp>
        <p:nvSpPr>
          <p:cNvPr id="873474" name="Rectangle 2"/>
          <p:cNvSpPr>
            <a:spLocks noChangeArrowheads="1"/>
          </p:cNvSpPr>
          <p:nvPr/>
        </p:nvSpPr>
        <p:spPr bwMode="auto">
          <a:xfrm>
            <a:off x="304800" y="1025525"/>
            <a:ext cx="8458200" cy="565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75000"/>
              </a:lnSpc>
              <a:spcBef>
                <a:spcPct val="10000"/>
              </a:spcBef>
            </a:pPr>
            <a:r>
              <a:rPr lang="en-US" altLang="zh-CN" b="1"/>
              <a:t>start:   SSBX  FRCT           </a:t>
            </a:r>
            <a:r>
              <a:rPr lang="zh-CN" altLang="en-US" b="1"/>
              <a:t>；小数乘法</a:t>
            </a:r>
          </a:p>
          <a:p>
            <a:pPr algn="just">
              <a:lnSpc>
                <a:spcPct val="75000"/>
              </a:lnSpc>
              <a:spcBef>
                <a:spcPct val="10000"/>
              </a:spcBef>
            </a:pPr>
            <a:r>
              <a:rPr lang="zh-CN" altLang="en-US" b="1"/>
              <a:t>           </a:t>
            </a:r>
            <a:r>
              <a:rPr lang="en-US" altLang="zh-CN" b="1">
                <a:solidFill>
                  <a:schemeClr val="folHlink"/>
                </a:solidFill>
              </a:rPr>
              <a:t>STM    #a0,AR1       </a:t>
            </a:r>
            <a:r>
              <a:rPr lang="zh-CN" altLang="en-US" b="1">
                <a:solidFill>
                  <a:schemeClr val="folHlink"/>
                </a:solidFill>
              </a:rPr>
              <a:t>；</a:t>
            </a:r>
            <a:r>
              <a:rPr lang="en-US" altLang="zh-CN" b="1">
                <a:solidFill>
                  <a:schemeClr val="folHlink"/>
                </a:solidFill>
              </a:rPr>
              <a:t>AR1</a:t>
            </a:r>
            <a:r>
              <a:rPr lang="zh-CN" altLang="en-US" b="1">
                <a:solidFill>
                  <a:schemeClr val="folHlink"/>
                </a:solidFill>
              </a:rPr>
              <a:t>指向</a:t>
            </a:r>
            <a:r>
              <a:rPr lang="en-US" altLang="zh-CN" b="1">
                <a:solidFill>
                  <a:schemeClr val="folHlink"/>
                </a:solidFill>
              </a:rPr>
              <a:t>a0</a:t>
            </a:r>
          </a:p>
          <a:p>
            <a:pPr algn="just">
              <a:lnSpc>
                <a:spcPct val="75000"/>
              </a:lnSpc>
              <a:spcBef>
                <a:spcPct val="10000"/>
              </a:spcBef>
            </a:pPr>
            <a:r>
              <a:rPr lang="en-US" altLang="zh-CN" b="1">
                <a:solidFill>
                  <a:schemeClr val="folHlink"/>
                </a:solidFill>
              </a:rPr>
              <a:t>           RPT     #4               </a:t>
            </a:r>
            <a:r>
              <a:rPr lang="zh-CN" altLang="en-US" b="1">
                <a:solidFill>
                  <a:schemeClr val="folHlink"/>
                </a:solidFill>
              </a:rPr>
              <a:t>；从程序存储器</a:t>
            </a:r>
            <a:r>
              <a:rPr lang="en-US" altLang="zh-CN" b="1">
                <a:solidFill>
                  <a:schemeClr val="folHlink"/>
                </a:solidFill>
              </a:rPr>
              <a:t>table</a:t>
            </a:r>
            <a:r>
              <a:rPr lang="zh-CN" altLang="en-US" b="1">
                <a:solidFill>
                  <a:schemeClr val="folHlink"/>
                </a:solidFill>
              </a:rPr>
              <a:t>开始的地址传送</a:t>
            </a:r>
          </a:p>
          <a:p>
            <a:pPr algn="just">
              <a:lnSpc>
                <a:spcPct val="75000"/>
              </a:lnSpc>
              <a:spcBef>
                <a:spcPct val="10000"/>
              </a:spcBef>
            </a:pPr>
            <a:r>
              <a:rPr lang="zh-CN" altLang="en-US" b="1">
                <a:solidFill>
                  <a:schemeClr val="folHlink"/>
                </a:solidFill>
              </a:rPr>
              <a:t>           </a:t>
            </a:r>
            <a:r>
              <a:rPr lang="en-US" altLang="zh-CN" b="1">
                <a:solidFill>
                  <a:schemeClr val="folHlink"/>
                </a:solidFill>
              </a:rPr>
              <a:t>MVPD table,*AR1+ </a:t>
            </a:r>
            <a:r>
              <a:rPr lang="zh-CN" altLang="en-US" b="1">
                <a:solidFill>
                  <a:schemeClr val="folHlink"/>
                </a:solidFill>
              </a:rPr>
              <a:t>；</a:t>
            </a:r>
            <a:r>
              <a:rPr lang="en-US" altLang="zh-CN" sz="2000" b="1">
                <a:solidFill>
                  <a:schemeClr val="folHlink"/>
                </a:solidFill>
              </a:rPr>
              <a:t>5</a:t>
            </a:r>
            <a:r>
              <a:rPr lang="zh-CN" altLang="en-US" sz="2000" b="1">
                <a:solidFill>
                  <a:schemeClr val="folHlink"/>
                </a:solidFill>
              </a:rPr>
              <a:t>个系数至数据空间</a:t>
            </a:r>
            <a:r>
              <a:rPr lang="en-US" altLang="zh-CN" sz="2000" b="1">
                <a:solidFill>
                  <a:schemeClr val="folHlink"/>
                </a:solidFill>
              </a:rPr>
              <a:t>a0</a:t>
            </a:r>
            <a:r>
              <a:rPr lang="zh-CN" altLang="en-US" sz="2000" b="1">
                <a:solidFill>
                  <a:schemeClr val="folHlink"/>
                </a:solidFill>
              </a:rPr>
              <a:t>开始的数据段</a:t>
            </a:r>
          </a:p>
          <a:p>
            <a:pPr algn="just">
              <a:lnSpc>
                <a:spcPct val="75000"/>
              </a:lnSpc>
              <a:spcBef>
                <a:spcPct val="10000"/>
              </a:spcBef>
            </a:pPr>
            <a:r>
              <a:rPr lang="zh-CN" altLang="en-US" b="1"/>
              <a:t>           </a:t>
            </a:r>
            <a:r>
              <a:rPr lang="en-US" altLang="zh-CN" b="1"/>
              <a:t>STM     #xn+4,AR3  </a:t>
            </a:r>
            <a:r>
              <a:rPr lang="zh-CN" altLang="en-US" b="1"/>
              <a:t>；</a:t>
            </a:r>
            <a:r>
              <a:rPr lang="en-US" altLang="zh-CN" b="1"/>
              <a:t>AR3</a:t>
            </a:r>
            <a:r>
              <a:rPr lang="zh-CN" altLang="en-US" b="1"/>
              <a:t>指向</a:t>
            </a:r>
            <a:r>
              <a:rPr lang="en-US" altLang="zh-CN" b="1"/>
              <a:t>x</a:t>
            </a:r>
            <a:r>
              <a:rPr lang="zh-CN" altLang="en-US" b="1"/>
              <a:t>（</a:t>
            </a:r>
            <a:r>
              <a:rPr lang="en-US" altLang="zh-CN" b="1"/>
              <a:t>n-4</a:t>
            </a:r>
            <a:r>
              <a:rPr lang="zh-CN" altLang="en-US" b="1"/>
              <a:t>）</a:t>
            </a:r>
          </a:p>
          <a:p>
            <a:pPr algn="just">
              <a:lnSpc>
                <a:spcPct val="75000"/>
              </a:lnSpc>
              <a:spcBef>
                <a:spcPct val="10000"/>
              </a:spcBef>
            </a:pPr>
            <a:r>
              <a:rPr lang="zh-CN" altLang="en-US" b="1"/>
              <a:t>           </a:t>
            </a:r>
            <a:r>
              <a:rPr lang="en-US" altLang="zh-CN" b="1"/>
              <a:t>STM     #a0+4,AR4  </a:t>
            </a:r>
            <a:r>
              <a:rPr lang="zh-CN" altLang="en-US" b="1"/>
              <a:t>；</a:t>
            </a:r>
            <a:r>
              <a:rPr lang="en-US" altLang="zh-CN" b="1"/>
              <a:t>AR4</a:t>
            </a:r>
            <a:r>
              <a:rPr lang="zh-CN" altLang="en-US" b="1"/>
              <a:t>指向</a:t>
            </a:r>
            <a:r>
              <a:rPr lang="en-US" altLang="zh-CN" b="1"/>
              <a:t>a4</a:t>
            </a:r>
          </a:p>
          <a:p>
            <a:pPr algn="just">
              <a:lnSpc>
                <a:spcPct val="75000"/>
              </a:lnSpc>
              <a:spcBef>
                <a:spcPct val="10000"/>
              </a:spcBef>
            </a:pPr>
            <a:r>
              <a:rPr lang="en-US" altLang="zh-CN" b="1">
                <a:solidFill>
                  <a:srgbClr val="FF00FF"/>
                </a:solidFill>
              </a:rPr>
              <a:t>           STM     #5,BK</a:t>
            </a:r>
            <a:r>
              <a:rPr lang="en-US" altLang="zh-CN" b="1"/>
              <a:t>          </a:t>
            </a:r>
            <a:r>
              <a:rPr lang="zh-CN" altLang="en-US" b="1">
                <a:solidFill>
                  <a:srgbClr val="FF00FF"/>
                </a:solidFill>
              </a:rPr>
              <a:t>；设循环缓冲区长度</a:t>
            </a:r>
            <a:r>
              <a:rPr lang="en-US" altLang="zh-CN" b="1">
                <a:solidFill>
                  <a:srgbClr val="FF00FF"/>
                </a:solidFill>
              </a:rPr>
              <a:t>BK=5</a:t>
            </a:r>
          </a:p>
          <a:p>
            <a:pPr algn="just">
              <a:lnSpc>
                <a:spcPct val="75000"/>
              </a:lnSpc>
              <a:spcBef>
                <a:spcPct val="10000"/>
              </a:spcBef>
            </a:pPr>
            <a:r>
              <a:rPr lang="en-US" altLang="zh-CN" b="1">
                <a:solidFill>
                  <a:srgbClr val="FF00FF"/>
                </a:solidFill>
              </a:rPr>
              <a:t>           STM     #</a:t>
            </a:r>
            <a:r>
              <a:rPr lang="en-US" altLang="zh-CN" b="1">
                <a:solidFill>
                  <a:srgbClr val="660066"/>
                </a:solidFill>
              </a:rPr>
              <a:t>-1</a:t>
            </a:r>
            <a:r>
              <a:rPr lang="en-US" altLang="zh-CN" b="1">
                <a:solidFill>
                  <a:srgbClr val="FF00FF"/>
                </a:solidFill>
              </a:rPr>
              <a:t>,AR0       </a:t>
            </a:r>
            <a:r>
              <a:rPr lang="zh-CN" altLang="en-US" b="1">
                <a:solidFill>
                  <a:srgbClr val="FF00FF"/>
                </a:solidFill>
              </a:rPr>
              <a:t>；</a:t>
            </a:r>
            <a:r>
              <a:rPr lang="en-US" altLang="zh-CN" b="1">
                <a:solidFill>
                  <a:srgbClr val="FF00FF"/>
                </a:solidFill>
              </a:rPr>
              <a:t>AR0=</a:t>
            </a:r>
            <a:r>
              <a:rPr lang="en-US" altLang="zh-CN" b="1">
                <a:solidFill>
                  <a:srgbClr val="660066"/>
                </a:solidFill>
              </a:rPr>
              <a:t>-1</a:t>
            </a:r>
            <a:r>
              <a:rPr lang="en-US" altLang="zh-CN" b="1">
                <a:solidFill>
                  <a:srgbClr val="FF00FF"/>
                </a:solidFill>
              </a:rPr>
              <a:t>,</a:t>
            </a:r>
            <a:r>
              <a:rPr lang="zh-CN" altLang="en-US" b="1">
                <a:solidFill>
                  <a:srgbClr val="FF00FF"/>
                </a:solidFill>
              </a:rPr>
              <a:t>双操作数减量</a:t>
            </a:r>
          </a:p>
          <a:p>
            <a:pPr algn="just">
              <a:lnSpc>
                <a:spcPct val="75000"/>
              </a:lnSpc>
              <a:spcBef>
                <a:spcPct val="10000"/>
              </a:spcBef>
            </a:pPr>
            <a:r>
              <a:rPr lang="zh-CN" altLang="en-US" b="1"/>
              <a:t>           </a:t>
            </a:r>
            <a:r>
              <a:rPr lang="en-US" altLang="zh-CN" b="1"/>
              <a:t>LD        #xn,DP         </a:t>
            </a:r>
            <a:r>
              <a:rPr lang="zh-CN" altLang="en-US" b="1"/>
              <a:t>；</a:t>
            </a:r>
            <a:r>
              <a:rPr lang="zh-CN" altLang="en-US" sz="2000" b="1"/>
              <a:t>设置数据存储器页指针的起始位置</a:t>
            </a:r>
          </a:p>
          <a:p>
            <a:pPr algn="just">
              <a:lnSpc>
                <a:spcPct val="75000"/>
              </a:lnSpc>
              <a:spcBef>
                <a:spcPct val="10000"/>
              </a:spcBef>
            </a:pPr>
            <a:r>
              <a:rPr lang="zh-CN" altLang="en-US" b="1"/>
              <a:t>           </a:t>
            </a:r>
            <a:r>
              <a:rPr lang="en-US" altLang="zh-CN" b="1">
                <a:solidFill>
                  <a:srgbClr val="FF6600"/>
                </a:solidFill>
              </a:rPr>
              <a:t>PORTR PA1,@xn    </a:t>
            </a:r>
            <a:r>
              <a:rPr lang="zh-CN" altLang="en-US" b="1">
                <a:solidFill>
                  <a:srgbClr val="FF6600"/>
                </a:solidFill>
              </a:rPr>
              <a:t>；输入新数据到</a:t>
            </a:r>
            <a:r>
              <a:rPr lang="en-US" altLang="zh-CN" b="1">
                <a:solidFill>
                  <a:srgbClr val="FF6600"/>
                </a:solidFill>
              </a:rPr>
              <a:t>x</a:t>
            </a:r>
            <a:r>
              <a:rPr lang="zh-CN" altLang="en-US" b="1">
                <a:solidFill>
                  <a:srgbClr val="FF6600"/>
                </a:solidFill>
              </a:rPr>
              <a:t>（</a:t>
            </a:r>
            <a:r>
              <a:rPr lang="en-US" altLang="zh-CN" b="1">
                <a:solidFill>
                  <a:srgbClr val="FF6600"/>
                </a:solidFill>
              </a:rPr>
              <a:t>n</a:t>
            </a:r>
            <a:r>
              <a:rPr lang="zh-CN" altLang="en-US" b="1">
                <a:solidFill>
                  <a:srgbClr val="FF6600"/>
                </a:solidFill>
              </a:rPr>
              <a:t>）</a:t>
            </a:r>
          </a:p>
          <a:p>
            <a:pPr algn="just">
              <a:lnSpc>
                <a:spcPct val="75000"/>
              </a:lnSpc>
              <a:spcBef>
                <a:spcPct val="10000"/>
              </a:spcBef>
            </a:pPr>
            <a:r>
              <a:rPr lang="en-US" altLang="zh-CN" b="1"/>
              <a:t>FIR4:  </a:t>
            </a:r>
            <a:r>
              <a:rPr lang="en-US" altLang="zh-CN" b="1">
                <a:solidFill>
                  <a:schemeClr val="tx2"/>
                </a:solidFill>
              </a:rPr>
              <a:t>RPTZ    A,#4</a:t>
            </a:r>
            <a:r>
              <a:rPr lang="en-US" altLang="zh-CN" b="1"/>
              <a:t>            </a:t>
            </a:r>
            <a:r>
              <a:rPr lang="zh-CN" altLang="en-US" b="1"/>
              <a:t>；</a:t>
            </a:r>
            <a:r>
              <a:rPr lang="en-US" altLang="zh-CN" b="1"/>
              <a:t>A</a:t>
            </a:r>
            <a:r>
              <a:rPr lang="zh-CN" altLang="en-US" b="1"/>
              <a:t>清</a:t>
            </a:r>
            <a:r>
              <a:rPr lang="en-US" altLang="zh-CN" b="1"/>
              <a:t>0,</a:t>
            </a:r>
            <a:r>
              <a:rPr lang="zh-CN" altLang="en-US" b="1"/>
              <a:t>重复执行下条指令</a:t>
            </a:r>
            <a:r>
              <a:rPr lang="en-US" altLang="zh-CN" b="1"/>
              <a:t>5</a:t>
            </a:r>
            <a:r>
              <a:rPr lang="zh-CN" altLang="en-US" b="1"/>
              <a:t>次</a:t>
            </a:r>
          </a:p>
          <a:p>
            <a:pPr algn="just">
              <a:lnSpc>
                <a:spcPct val="75000"/>
              </a:lnSpc>
              <a:spcBef>
                <a:spcPct val="10000"/>
              </a:spcBef>
            </a:pPr>
            <a:r>
              <a:rPr lang="zh-CN" altLang="en-US" b="1"/>
              <a:t>           </a:t>
            </a:r>
            <a:r>
              <a:rPr lang="en-US" altLang="zh-CN" b="1">
                <a:solidFill>
                  <a:schemeClr val="tx2"/>
                </a:solidFill>
              </a:rPr>
              <a:t>MAC     *AR3+0%,*AR4+0%,A</a:t>
            </a:r>
            <a:r>
              <a:rPr lang="en-US" altLang="zh-CN" b="1"/>
              <a:t> </a:t>
            </a:r>
            <a:r>
              <a:rPr lang="zh-CN" altLang="en-US" b="1"/>
              <a:t>；系数与输入数据双</a:t>
            </a:r>
          </a:p>
          <a:p>
            <a:pPr algn="just">
              <a:lnSpc>
                <a:spcPct val="75000"/>
              </a:lnSpc>
              <a:spcBef>
                <a:spcPct val="10000"/>
              </a:spcBef>
            </a:pPr>
            <a:r>
              <a:rPr lang="zh-CN" altLang="en-US" b="1"/>
              <a:t>                                             ；操作数相乘并累加</a:t>
            </a:r>
          </a:p>
          <a:p>
            <a:pPr algn="just">
              <a:lnSpc>
                <a:spcPct val="75000"/>
              </a:lnSpc>
              <a:spcBef>
                <a:spcPct val="10000"/>
              </a:spcBef>
            </a:pPr>
            <a:r>
              <a:rPr lang="zh-CN" altLang="en-US" b="1"/>
              <a:t>           </a:t>
            </a:r>
            <a:r>
              <a:rPr lang="en-US" altLang="zh-CN" b="1"/>
              <a:t>STH        A,@y         </a:t>
            </a:r>
            <a:r>
              <a:rPr lang="zh-CN" altLang="en-US" b="1"/>
              <a:t>；保存结果的高字节到 </a:t>
            </a:r>
            <a:r>
              <a:rPr lang="en-US" altLang="zh-CN" b="1"/>
              <a:t>y</a:t>
            </a:r>
            <a:r>
              <a:rPr lang="zh-CN" altLang="en-US" b="1"/>
              <a:t>（</a:t>
            </a:r>
            <a:r>
              <a:rPr lang="en-US" altLang="zh-CN" b="1"/>
              <a:t>n</a:t>
            </a:r>
            <a:r>
              <a:rPr lang="zh-CN" altLang="en-US" b="1"/>
              <a:t>）</a:t>
            </a:r>
          </a:p>
          <a:p>
            <a:pPr algn="just">
              <a:lnSpc>
                <a:spcPct val="75000"/>
              </a:lnSpc>
              <a:spcBef>
                <a:spcPct val="10000"/>
              </a:spcBef>
            </a:pPr>
            <a:r>
              <a:rPr lang="zh-CN" altLang="en-US" b="1"/>
              <a:t>           </a:t>
            </a:r>
            <a:r>
              <a:rPr lang="en-US" altLang="zh-CN" b="1">
                <a:solidFill>
                  <a:srgbClr val="FF0000"/>
                </a:solidFill>
              </a:rPr>
              <a:t>PORTW @y,PA0     </a:t>
            </a:r>
            <a:r>
              <a:rPr lang="zh-CN" altLang="en-US" b="1">
                <a:solidFill>
                  <a:srgbClr val="FF0000"/>
                </a:solidFill>
              </a:rPr>
              <a:t>；输出</a:t>
            </a:r>
            <a:r>
              <a:rPr lang="en-US" altLang="zh-CN" b="1">
                <a:solidFill>
                  <a:srgbClr val="FF0000"/>
                </a:solidFill>
              </a:rPr>
              <a:t>y</a:t>
            </a:r>
            <a:r>
              <a:rPr lang="zh-CN" altLang="en-US" b="1">
                <a:solidFill>
                  <a:srgbClr val="FF0000"/>
                </a:solidFill>
              </a:rPr>
              <a:t>（</a:t>
            </a:r>
            <a:r>
              <a:rPr lang="en-US" altLang="zh-CN" b="1">
                <a:solidFill>
                  <a:srgbClr val="FF0000"/>
                </a:solidFill>
              </a:rPr>
              <a:t>n</a:t>
            </a:r>
            <a:r>
              <a:rPr lang="zh-CN" altLang="en-US" b="1">
                <a:solidFill>
                  <a:srgbClr val="FF0000"/>
                </a:solidFill>
              </a:rPr>
              <a:t>）到端口</a:t>
            </a:r>
            <a:r>
              <a:rPr lang="en-US" altLang="zh-CN" b="1">
                <a:solidFill>
                  <a:srgbClr val="FF0000"/>
                </a:solidFill>
              </a:rPr>
              <a:t>PA0</a:t>
            </a:r>
          </a:p>
          <a:p>
            <a:pPr algn="just">
              <a:lnSpc>
                <a:spcPct val="75000"/>
              </a:lnSpc>
              <a:spcBef>
                <a:spcPct val="10000"/>
              </a:spcBef>
            </a:pPr>
            <a:r>
              <a:rPr lang="en-US" altLang="zh-CN" b="1"/>
              <a:t>           BD         FIR4           </a:t>
            </a:r>
            <a:r>
              <a:rPr lang="zh-CN" altLang="en-US" b="1"/>
              <a:t>；执行完下条指令后循环</a:t>
            </a:r>
          </a:p>
          <a:p>
            <a:pPr algn="just">
              <a:lnSpc>
                <a:spcPct val="75000"/>
              </a:lnSpc>
              <a:spcBef>
                <a:spcPct val="10000"/>
              </a:spcBef>
            </a:pPr>
            <a:r>
              <a:rPr lang="zh-CN" altLang="en-US" b="1"/>
              <a:t>           </a:t>
            </a:r>
            <a:r>
              <a:rPr lang="en-US" altLang="zh-CN" b="1">
                <a:solidFill>
                  <a:srgbClr val="FF00FF"/>
                </a:solidFill>
              </a:rPr>
              <a:t>PORTR PA1,*AR3+0%</a:t>
            </a:r>
            <a:r>
              <a:rPr lang="en-US" altLang="zh-CN" b="1"/>
              <a:t>  </a:t>
            </a:r>
            <a:r>
              <a:rPr lang="zh-CN" altLang="en-US" b="1">
                <a:solidFill>
                  <a:srgbClr val="FF00FF"/>
                </a:solidFill>
              </a:rPr>
              <a:t>；</a:t>
            </a:r>
            <a:r>
              <a:rPr lang="zh-CN" altLang="en-US" sz="2000" b="1">
                <a:solidFill>
                  <a:srgbClr val="FF00FF"/>
                </a:solidFill>
              </a:rPr>
              <a:t>从端口</a:t>
            </a:r>
            <a:r>
              <a:rPr lang="en-US" altLang="zh-CN" sz="2000" b="1">
                <a:solidFill>
                  <a:srgbClr val="FF00FF"/>
                </a:solidFill>
              </a:rPr>
              <a:t>PA1</a:t>
            </a:r>
            <a:r>
              <a:rPr lang="zh-CN" altLang="en-US" sz="2000" b="1">
                <a:solidFill>
                  <a:srgbClr val="FF00FF"/>
                </a:solidFill>
              </a:rPr>
              <a:t>输入新数据到</a:t>
            </a:r>
            <a:r>
              <a:rPr lang="en-US" altLang="zh-CN" sz="2000" b="1">
                <a:solidFill>
                  <a:srgbClr val="FF00FF"/>
                </a:solidFill>
              </a:rPr>
              <a:t>x</a:t>
            </a:r>
            <a:r>
              <a:rPr lang="zh-CN" altLang="en-US" sz="2000" b="1">
                <a:solidFill>
                  <a:srgbClr val="FF00FF"/>
                </a:solidFill>
              </a:rPr>
              <a:t>（</a:t>
            </a:r>
            <a:r>
              <a:rPr lang="en-US" altLang="zh-CN" sz="2000" b="1">
                <a:solidFill>
                  <a:srgbClr val="FF00FF"/>
                </a:solidFill>
              </a:rPr>
              <a:t>n</a:t>
            </a:r>
            <a:r>
              <a:rPr lang="zh-CN" altLang="en-US" sz="2000" b="1">
                <a:solidFill>
                  <a:srgbClr val="FF00FF"/>
                </a:solidFill>
              </a:rPr>
              <a:t>）</a:t>
            </a:r>
          </a:p>
          <a:p>
            <a:pPr algn="just">
              <a:lnSpc>
                <a:spcPct val="75000"/>
              </a:lnSpc>
              <a:spcBef>
                <a:spcPct val="10000"/>
              </a:spcBef>
            </a:pPr>
            <a:r>
              <a:rPr lang="zh-CN" altLang="en-US" b="1"/>
              <a:t>          </a:t>
            </a:r>
            <a:r>
              <a:rPr lang="en-US" altLang="zh-CN" b="1"/>
              <a:t>.end</a:t>
            </a:r>
          </a:p>
        </p:txBody>
      </p:sp>
      <p:pic>
        <p:nvPicPr>
          <p:cNvPr id="9626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0"/>
            <a:ext cx="3017838" cy="1670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73474"/>
                                        </p:tgtEl>
                                        <p:attrNameLst>
                                          <p:attrName>style.visibility</p:attrName>
                                        </p:attrNameLst>
                                      </p:cBhvr>
                                      <p:to>
                                        <p:strVal val="visible"/>
                                      </p:to>
                                    </p:set>
                                    <p:animEffect transition="in" filter="blinds(horizontal)">
                                      <p:cBhvr>
                                        <p:cTn id="7" dur="500"/>
                                        <p:tgtEl>
                                          <p:spTgt spid="873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47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42A3BC7-99BE-4D07-BF27-FA87240B4997}" type="slidenum">
              <a:rPr lang="en-US" altLang="zh-CN" sz="1400"/>
              <a:pPr eaLnBrk="1" hangingPunct="1"/>
              <a:t>88</a:t>
            </a:fld>
            <a:endParaRPr lang="en-US" altLang="zh-CN" sz="1400"/>
          </a:p>
        </p:txBody>
      </p:sp>
      <p:sp>
        <p:nvSpPr>
          <p:cNvPr id="874498" name="Rectangle 2" descr="小棋盘"/>
          <p:cNvSpPr>
            <a:spLocks noChangeArrowheads="1"/>
          </p:cNvSpPr>
          <p:nvPr/>
        </p:nvSpPr>
        <p:spPr bwMode="auto">
          <a:xfrm>
            <a:off x="2133600" y="1066800"/>
            <a:ext cx="51054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4.</a:t>
            </a:r>
            <a:r>
              <a:rPr lang="zh-CN" altLang="en-US" sz="3200" b="1">
                <a:solidFill>
                  <a:srgbClr val="FF0000"/>
                </a:solidFill>
                <a:latin typeface="宋体" panose="02010600030101010101" pitchFamily="2" charset="-122"/>
                <a:ea typeface="仿宋_GB2312" pitchFamily="49" charset="-122"/>
              </a:rPr>
              <a:t>系数对称</a:t>
            </a:r>
            <a:r>
              <a:rPr lang="en-US" altLang="zh-CN" sz="3200" b="1">
                <a:solidFill>
                  <a:srgbClr val="FF0000"/>
                </a:solidFill>
                <a:latin typeface="宋体" panose="02010600030101010101" pitchFamily="2" charset="-122"/>
                <a:ea typeface="仿宋_GB2312" pitchFamily="49" charset="-122"/>
              </a:rPr>
              <a:t>FIR</a:t>
            </a:r>
            <a:r>
              <a:rPr lang="zh-CN" altLang="en-US" sz="3200" b="1">
                <a:solidFill>
                  <a:srgbClr val="FF0000"/>
                </a:solidFill>
                <a:latin typeface="宋体" panose="02010600030101010101" pitchFamily="2" charset="-122"/>
                <a:ea typeface="仿宋_GB2312" pitchFamily="49" charset="-122"/>
              </a:rPr>
              <a:t>滤波器设计</a:t>
            </a:r>
          </a:p>
        </p:txBody>
      </p:sp>
      <p:sp>
        <p:nvSpPr>
          <p:cNvPr id="874499" name="Rectangle 3"/>
          <p:cNvSpPr>
            <a:spLocks noChangeArrowheads="1"/>
          </p:cNvSpPr>
          <p:nvPr/>
        </p:nvSpPr>
        <p:spPr bwMode="auto">
          <a:xfrm>
            <a:off x="304800" y="1752600"/>
            <a:ext cx="8534400" cy="26638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48418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chemeClr val="tx2"/>
                </a:solidFill>
                <a:latin typeface="宋体" panose="02010600030101010101" pitchFamily="2" charset="-122"/>
                <a:cs typeface="Times New Roman" panose="02020603050405020304" pitchFamily="18" charset="0"/>
              </a:rPr>
              <a:t>系数对称的</a:t>
            </a:r>
            <a:r>
              <a:rPr lang="en-US" altLang="zh-CN" sz="2800" b="1">
                <a:solidFill>
                  <a:schemeClr val="tx2"/>
                </a:solidFill>
                <a:latin typeface="宋体" panose="02010600030101010101" pitchFamily="2" charset="-122"/>
                <a:cs typeface="Times New Roman" panose="02020603050405020304" pitchFamily="18" charset="0"/>
              </a:rPr>
              <a:t>FIR</a:t>
            </a:r>
            <a:r>
              <a:rPr lang="zh-CN" altLang="en-US" sz="2800" b="1">
                <a:solidFill>
                  <a:schemeClr val="tx2"/>
                </a:solidFill>
                <a:latin typeface="宋体" panose="02010600030101010101" pitchFamily="2" charset="-122"/>
                <a:cs typeface="Times New Roman" panose="02020603050405020304" pitchFamily="18" charset="0"/>
              </a:rPr>
              <a:t>滤波器具有线性相位特性，这种滤波器是用得最多的</a:t>
            </a:r>
            <a:r>
              <a:rPr lang="en-US" altLang="zh-CN" sz="2800" b="1">
                <a:solidFill>
                  <a:schemeClr val="tx2"/>
                </a:solidFill>
                <a:latin typeface="宋体" panose="02010600030101010101" pitchFamily="2" charset="-122"/>
                <a:cs typeface="Times New Roman" panose="02020603050405020304" pitchFamily="18" charset="0"/>
              </a:rPr>
              <a:t>FIR</a:t>
            </a:r>
            <a:r>
              <a:rPr lang="zh-CN" altLang="en-US" sz="2800" b="1">
                <a:solidFill>
                  <a:schemeClr val="tx2"/>
                </a:solidFill>
                <a:latin typeface="宋体" panose="02010600030101010101" pitchFamily="2" charset="-122"/>
                <a:cs typeface="Times New Roman" panose="02020603050405020304" pitchFamily="18" charset="0"/>
              </a:rPr>
              <a:t>滤波器，特别是对相位失真要求很高的场合。</a:t>
            </a:r>
          </a:p>
          <a:p>
            <a:pPr algn="just" eaLnBrk="1" hangingPunct="1"/>
            <a:r>
              <a:rPr lang="zh-CN" altLang="en-US" sz="2800" b="1">
                <a:solidFill>
                  <a:srgbClr val="FF6600"/>
                </a:solidFill>
                <a:latin typeface="宋体" panose="02010600030101010101" pitchFamily="2" charset="-122"/>
                <a:cs typeface="Times New Roman" panose="02020603050405020304" pitchFamily="18" charset="0"/>
              </a:rPr>
              <a:t>如果</a:t>
            </a:r>
            <a:r>
              <a:rPr lang="en-US" altLang="zh-CN" sz="2800" b="1">
                <a:solidFill>
                  <a:srgbClr val="FF6600"/>
                </a:solidFill>
                <a:latin typeface="宋体" panose="02010600030101010101" pitchFamily="2" charset="-122"/>
                <a:cs typeface="Times New Roman" panose="02020603050405020304" pitchFamily="18" charset="0"/>
              </a:rPr>
              <a:t>FIR</a:t>
            </a:r>
            <a:r>
              <a:rPr lang="zh-CN" altLang="en-US" sz="2800" b="1">
                <a:solidFill>
                  <a:srgbClr val="FF6600"/>
                </a:solidFill>
                <a:latin typeface="宋体" panose="02010600030101010101" pitchFamily="2" charset="-122"/>
                <a:cs typeface="Times New Roman" panose="02020603050405020304" pitchFamily="18" charset="0"/>
              </a:rPr>
              <a:t>滤波器的</a:t>
            </a:r>
            <a:r>
              <a:rPr lang="en-US" altLang="zh-CN" sz="2800" b="1">
                <a:solidFill>
                  <a:srgbClr val="FF6600"/>
                </a:solidFill>
                <a:latin typeface="宋体" panose="02010600030101010101" pitchFamily="2" charset="-122"/>
                <a:cs typeface="Times New Roman" panose="02020603050405020304" pitchFamily="18" charset="0"/>
              </a:rPr>
              <a:t>h</a:t>
            </a:r>
            <a:r>
              <a:rPr lang="zh-CN" altLang="en-US" sz="2800" b="1">
                <a:solidFill>
                  <a:srgbClr val="FF6600"/>
                </a:solidFill>
                <a:latin typeface="宋体" panose="02010600030101010101" pitchFamily="2" charset="-122"/>
                <a:cs typeface="Times New Roman" panose="02020603050405020304" pitchFamily="18" charset="0"/>
              </a:rPr>
              <a:t>（</a:t>
            </a:r>
            <a:r>
              <a:rPr lang="en-US" altLang="zh-CN" sz="2800" b="1">
                <a:solidFill>
                  <a:srgbClr val="FF6600"/>
                </a:solidFill>
                <a:latin typeface="宋体" panose="02010600030101010101" pitchFamily="2" charset="-122"/>
                <a:cs typeface="Times New Roman" panose="02020603050405020304" pitchFamily="18" charset="0"/>
              </a:rPr>
              <a:t>n</a:t>
            </a:r>
            <a:r>
              <a:rPr lang="zh-CN" altLang="en-US" sz="2800" b="1">
                <a:solidFill>
                  <a:srgbClr val="FF6600"/>
                </a:solidFill>
                <a:latin typeface="宋体" panose="02010600030101010101" pitchFamily="2" charset="-122"/>
                <a:cs typeface="Times New Roman" panose="02020603050405020304" pitchFamily="18" charset="0"/>
              </a:rPr>
              <a:t>）是实数，且满足偶对称</a:t>
            </a:r>
            <a:r>
              <a:rPr lang="en-US" altLang="zh-CN" sz="2800" b="1">
                <a:solidFill>
                  <a:srgbClr val="FF6600"/>
                </a:solidFill>
                <a:latin typeface="宋体" panose="02010600030101010101" pitchFamily="2" charset="-122"/>
                <a:cs typeface="Times New Roman" panose="02020603050405020304" pitchFamily="18" charset="0"/>
              </a:rPr>
              <a:t>h</a:t>
            </a:r>
            <a:r>
              <a:rPr lang="zh-CN" altLang="en-US" sz="2800" b="1">
                <a:solidFill>
                  <a:srgbClr val="FF6600"/>
                </a:solidFill>
                <a:latin typeface="宋体" panose="02010600030101010101" pitchFamily="2" charset="-122"/>
                <a:cs typeface="Times New Roman" panose="02020603050405020304" pitchFamily="18" charset="0"/>
              </a:rPr>
              <a:t>（</a:t>
            </a:r>
            <a:r>
              <a:rPr lang="en-US" altLang="zh-CN" sz="2800" b="1">
                <a:solidFill>
                  <a:srgbClr val="FF6600"/>
                </a:solidFill>
                <a:latin typeface="宋体" panose="02010600030101010101" pitchFamily="2" charset="-122"/>
                <a:cs typeface="Times New Roman" panose="02020603050405020304" pitchFamily="18" charset="0"/>
              </a:rPr>
              <a:t>n</a:t>
            </a:r>
            <a:r>
              <a:rPr lang="zh-CN" altLang="en-US" sz="2800" b="1">
                <a:solidFill>
                  <a:srgbClr val="FF6600"/>
                </a:solidFill>
                <a:latin typeface="宋体" panose="02010600030101010101" pitchFamily="2" charset="-122"/>
                <a:cs typeface="Times New Roman" panose="02020603050405020304" pitchFamily="18" charset="0"/>
              </a:rPr>
              <a:t>）</a:t>
            </a:r>
            <a:r>
              <a:rPr lang="en-US" altLang="zh-CN" sz="2800" b="1">
                <a:solidFill>
                  <a:srgbClr val="FF6600"/>
                </a:solidFill>
                <a:latin typeface="宋体" panose="02010600030101010101" pitchFamily="2" charset="-122"/>
                <a:cs typeface="Times New Roman" panose="02020603050405020304" pitchFamily="18" charset="0"/>
              </a:rPr>
              <a:t>=h</a:t>
            </a:r>
            <a:r>
              <a:rPr lang="zh-CN" altLang="en-US" sz="2800" b="1">
                <a:solidFill>
                  <a:srgbClr val="FF6600"/>
                </a:solidFill>
                <a:latin typeface="宋体" panose="02010600030101010101" pitchFamily="2" charset="-122"/>
                <a:cs typeface="Times New Roman" panose="02020603050405020304" pitchFamily="18" charset="0"/>
              </a:rPr>
              <a:t>（</a:t>
            </a:r>
            <a:r>
              <a:rPr lang="en-US" altLang="zh-CN" sz="2800" b="1">
                <a:solidFill>
                  <a:srgbClr val="FF6600"/>
                </a:solidFill>
                <a:latin typeface="宋体" panose="02010600030101010101" pitchFamily="2" charset="-122"/>
                <a:cs typeface="Times New Roman" panose="02020603050405020304" pitchFamily="18" charset="0"/>
              </a:rPr>
              <a:t>N-1-n</a:t>
            </a:r>
            <a:r>
              <a:rPr lang="zh-CN" altLang="en-US" sz="2800" b="1">
                <a:solidFill>
                  <a:srgbClr val="FF6600"/>
                </a:solidFill>
                <a:latin typeface="宋体" panose="02010600030101010101" pitchFamily="2" charset="-122"/>
                <a:cs typeface="Times New Roman" panose="02020603050405020304" pitchFamily="18" charset="0"/>
              </a:rPr>
              <a:t>）或奇对称</a:t>
            </a:r>
            <a:r>
              <a:rPr lang="en-US" altLang="zh-CN" sz="2800" b="1">
                <a:solidFill>
                  <a:srgbClr val="FF6600"/>
                </a:solidFill>
                <a:latin typeface="宋体" panose="02010600030101010101" pitchFamily="2" charset="-122"/>
                <a:cs typeface="Times New Roman" panose="02020603050405020304" pitchFamily="18" charset="0"/>
              </a:rPr>
              <a:t>h</a:t>
            </a:r>
            <a:r>
              <a:rPr lang="zh-CN" altLang="en-US" sz="2800" b="1">
                <a:solidFill>
                  <a:srgbClr val="FF6600"/>
                </a:solidFill>
                <a:latin typeface="宋体" panose="02010600030101010101" pitchFamily="2" charset="-122"/>
                <a:cs typeface="Times New Roman" panose="02020603050405020304" pitchFamily="18" charset="0"/>
              </a:rPr>
              <a:t>（</a:t>
            </a:r>
            <a:r>
              <a:rPr lang="en-US" altLang="zh-CN" sz="2800" b="1">
                <a:solidFill>
                  <a:srgbClr val="FF6600"/>
                </a:solidFill>
                <a:latin typeface="宋体" panose="02010600030101010101" pitchFamily="2" charset="-122"/>
                <a:cs typeface="Times New Roman" panose="02020603050405020304" pitchFamily="18" charset="0"/>
              </a:rPr>
              <a:t>n</a:t>
            </a:r>
            <a:r>
              <a:rPr lang="zh-CN" altLang="en-US" sz="2800" b="1">
                <a:solidFill>
                  <a:srgbClr val="FF6600"/>
                </a:solidFill>
                <a:latin typeface="宋体" panose="02010600030101010101" pitchFamily="2" charset="-122"/>
                <a:cs typeface="Times New Roman" panose="02020603050405020304" pitchFamily="18" charset="0"/>
              </a:rPr>
              <a:t>）</a:t>
            </a:r>
            <a:r>
              <a:rPr lang="en-US" altLang="zh-CN" sz="2800" b="1">
                <a:solidFill>
                  <a:srgbClr val="FF6600"/>
                </a:solidFill>
                <a:latin typeface="宋体" panose="02010600030101010101" pitchFamily="2" charset="-122"/>
                <a:cs typeface="Times New Roman" panose="02020603050405020304" pitchFamily="18" charset="0"/>
              </a:rPr>
              <a:t>=-h</a:t>
            </a:r>
            <a:r>
              <a:rPr lang="zh-CN" altLang="en-US" sz="2800" b="1">
                <a:solidFill>
                  <a:srgbClr val="FF6600"/>
                </a:solidFill>
                <a:latin typeface="宋体" panose="02010600030101010101" pitchFamily="2" charset="-122"/>
                <a:cs typeface="Times New Roman" panose="02020603050405020304" pitchFamily="18" charset="0"/>
              </a:rPr>
              <a:t>（</a:t>
            </a:r>
            <a:r>
              <a:rPr lang="en-US" altLang="zh-CN" sz="2800" b="1">
                <a:solidFill>
                  <a:srgbClr val="FF6600"/>
                </a:solidFill>
                <a:latin typeface="宋体" panose="02010600030101010101" pitchFamily="2" charset="-122"/>
                <a:cs typeface="Times New Roman" panose="02020603050405020304" pitchFamily="18" charset="0"/>
              </a:rPr>
              <a:t>N-1-n</a:t>
            </a:r>
            <a:r>
              <a:rPr lang="zh-CN" altLang="en-US" sz="2800" b="1">
                <a:solidFill>
                  <a:srgbClr val="FF6600"/>
                </a:solidFill>
                <a:latin typeface="宋体" panose="02010600030101010101" pitchFamily="2" charset="-122"/>
                <a:cs typeface="Times New Roman" panose="02020603050405020304" pitchFamily="18" charset="0"/>
              </a:rPr>
              <a:t>）的条件，则滤波器具有线性相位特性。</a:t>
            </a:r>
            <a:r>
              <a:rPr lang="zh-CN" altLang="en-US" sz="2800" b="1">
                <a:latin typeface="宋体" panose="02010600030101010101" pitchFamily="2" charset="-122"/>
                <a:cs typeface="Times New Roman" panose="02020603050405020304" pitchFamily="18" charset="0"/>
              </a:rPr>
              <a:t> </a:t>
            </a:r>
            <a:r>
              <a:rPr lang="zh-CN" altLang="en-US" sz="2800" b="1">
                <a:latin typeface="宋体" panose="02010600030101010101" pitchFamily="2" charset="-122"/>
              </a:rPr>
              <a:t> </a:t>
            </a:r>
          </a:p>
        </p:txBody>
      </p:sp>
      <p:graphicFrame>
        <p:nvGraphicFramePr>
          <p:cNvPr id="874500" name="Object 4"/>
          <p:cNvGraphicFramePr>
            <a:graphicFrameLocks noChangeAspect="1"/>
          </p:cNvGraphicFramePr>
          <p:nvPr/>
        </p:nvGraphicFramePr>
        <p:xfrm>
          <a:off x="1350963" y="4386263"/>
          <a:ext cx="6088062" cy="1411287"/>
        </p:xfrm>
        <a:graphic>
          <a:graphicData uri="http://schemas.openxmlformats.org/presentationml/2006/ole">
            <mc:AlternateContent xmlns:mc="http://schemas.openxmlformats.org/markup-compatibility/2006">
              <mc:Choice xmlns:v="urn:schemas-microsoft-com:vml" Requires="v">
                <p:oleObj spid="_x0000_s8194" name="公式" r:id="rId3" imgW="1879600" imgH="431800" progId="">
                  <p:embed/>
                </p:oleObj>
              </mc:Choice>
              <mc:Fallback>
                <p:oleObj name="公式" r:id="rId3" imgW="1879600" imgH="431800" progId="">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0963" y="4386263"/>
                        <a:ext cx="6088062" cy="141128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4501" name="Rectangle 5"/>
          <p:cNvSpPr>
            <a:spLocks noChangeArrowheads="1"/>
          </p:cNvSpPr>
          <p:nvPr/>
        </p:nvSpPr>
        <p:spPr bwMode="auto">
          <a:xfrm>
            <a:off x="250825" y="5805488"/>
            <a:ext cx="8642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latin typeface="宋体" panose="02010600030101010101" pitchFamily="2" charset="-122"/>
              </a:rPr>
              <a:t>一个对称</a:t>
            </a:r>
            <a:r>
              <a:rPr lang="en-US" altLang="zh-CN" sz="3200" b="1">
                <a:latin typeface="宋体" panose="02010600030101010101" pitchFamily="2" charset="-122"/>
              </a:rPr>
              <a:t>FIR</a:t>
            </a:r>
            <a:r>
              <a:rPr lang="zh-CN" altLang="en-US" sz="3200" b="1">
                <a:latin typeface="宋体" panose="02010600030101010101" pitchFamily="2" charset="-122"/>
              </a:rPr>
              <a:t>滤波器满足</a:t>
            </a:r>
            <a:r>
              <a:rPr lang="en-US" altLang="zh-CN" sz="3200" b="1">
                <a:latin typeface="宋体" panose="02010600030101010101" pitchFamily="2" charset="-122"/>
              </a:rPr>
              <a:t>h</a:t>
            </a:r>
            <a:r>
              <a:rPr lang="zh-CN" altLang="en-US" sz="3200" b="1">
                <a:latin typeface="宋体" panose="02010600030101010101" pitchFamily="2" charset="-122"/>
              </a:rPr>
              <a:t>（</a:t>
            </a:r>
            <a:r>
              <a:rPr lang="en-US" altLang="zh-CN" sz="3200" b="1">
                <a:latin typeface="宋体" panose="02010600030101010101" pitchFamily="2" charset="-122"/>
              </a:rPr>
              <a:t>n</a:t>
            </a:r>
            <a:r>
              <a:rPr lang="zh-CN" altLang="en-US" sz="3200" b="1">
                <a:latin typeface="宋体" panose="02010600030101010101" pitchFamily="2" charset="-122"/>
              </a:rPr>
              <a:t>）</a:t>
            </a:r>
            <a:r>
              <a:rPr lang="en-US" altLang="zh-CN" sz="3200" b="1">
                <a:latin typeface="宋体" panose="02010600030101010101" pitchFamily="2" charset="-122"/>
              </a:rPr>
              <a:t>=h</a:t>
            </a:r>
            <a:r>
              <a:rPr lang="zh-CN" altLang="en-US" sz="3200" b="1">
                <a:latin typeface="宋体" panose="02010600030101010101" pitchFamily="2" charset="-122"/>
              </a:rPr>
              <a:t>（</a:t>
            </a:r>
            <a:r>
              <a:rPr lang="en-US" altLang="zh-CN" sz="3200" b="1">
                <a:latin typeface="宋体" panose="02010600030101010101" pitchFamily="2" charset="-122"/>
              </a:rPr>
              <a:t>N-1-n</a:t>
            </a:r>
            <a:r>
              <a:rPr lang="zh-CN" altLang="en-US" sz="3200" b="1">
                <a:latin typeface="宋体" panose="02010600030101010101" pitchFamily="2" charset="-122"/>
              </a:rPr>
              <a:t>）。</a:t>
            </a:r>
            <a:r>
              <a:rPr lang="zh-CN" altLang="en-US" b="1">
                <a:latin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74498"/>
                                        </p:tgtEl>
                                        <p:attrNameLst>
                                          <p:attrName>style.visibility</p:attrName>
                                        </p:attrNameLst>
                                      </p:cBhvr>
                                      <p:to>
                                        <p:strVal val="visible"/>
                                      </p:to>
                                    </p:set>
                                    <p:animEffect transition="in" filter="slide(fromTop)">
                                      <p:cBhvr>
                                        <p:cTn id="7" dur="500"/>
                                        <p:tgtEl>
                                          <p:spTgt spid="87449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74499"/>
                                        </p:tgtEl>
                                        <p:attrNameLst>
                                          <p:attrName>style.visibility</p:attrName>
                                        </p:attrNameLst>
                                      </p:cBhvr>
                                      <p:to>
                                        <p:strVal val="visible"/>
                                      </p:to>
                                    </p:set>
                                    <p:animEffect transition="in" filter="blinds(horizontal)">
                                      <p:cBhvr>
                                        <p:cTn id="11" dur="500"/>
                                        <p:tgtEl>
                                          <p:spTgt spid="874499"/>
                                        </p:tgtEl>
                                      </p:cBhvr>
                                    </p:animEffect>
                                  </p:childTnLst>
                                </p:cTn>
                              </p:par>
                            </p:childTnLst>
                          </p:cTn>
                        </p:par>
                        <p:par>
                          <p:cTn id="12" fill="hold" nodeType="afterGroup">
                            <p:stCondLst>
                              <p:cond delay="1000"/>
                            </p:stCondLst>
                            <p:childTnLst>
                              <p:par>
                                <p:cTn id="13" presetID="12" presetClass="entr" presetSubtype="2" fill="hold" nodeType="afterEffect">
                                  <p:stCondLst>
                                    <p:cond delay="0"/>
                                  </p:stCondLst>
                                  <p:childTnLst>
                                    <p:set>
                                      <p:cBhvr>
                                        <p:cTn id="14" dur="1" fill="hold">
                                          <p:stCondLst>
                                            <p:cond delay="0"/>
                                          </p:stCondLst>
                                        </p:cTn>
                                        <p:tgtEl>
                                          <p:spTgt spid="874500"/>
                                        </p:tgtEl>
                                        <p:attrNameLst>
                                          <p:attrName>style.visibility</p:attrName>
                                        </p:attrNameLst>
                                      </p:cBhvr>
                                      <p:to>
                                        <p:strVal val="visible"/>
                                      </p:to>
                                    </p:set>
                                    <p:animEffect transition="in" filter="slide(fromRight)">
                                      <p:cBhvr>
                                        <p:cTn id="15" dur="500"/>
                                        <p:tgtEl>
                                          <p:spTgt spid="874500"/>
                                        </p:tgtEl>
                                      </p:cBhvr>
                                    </p:animEffect>
                                  </p:childTnLst>
                                </p:cTn>
                              </p:par>
                            </p:childTnLst>
                          </p:cTn>
                        </p:par>
                        <p:par>
                          <p:cTn id="16" fill="hold" nodeType="afterGroup">
                            <p:stCondLst>
                              <p:cond delay="1500"/>
                            </p:stCondLst>
                            <p:childTnLst>
                              <p:par>
                                <p:cTn id="17" presetID="12" presetClass="entr" presetSubtype="4" fill="hold" grpId="0" nodeType="afterEffect">
                                  <p:stCondLst>
                                    <p:cond delay="0"/>
                                  </p:stCondLst>
                                  <p:childTnLst>
                                    <p:set>
                                      <p:cBhvr>
                                        <p:cTn id="18" dur="1" fill="hold">
                                          <p:stCondLst>
                                            <p:cond delay="0"/>
                                          </p:stCondLst>
                                        </p:cTn>
                                        <p:tgtEl>
                                          <p:spTgt spid="874501"/>
                                        </p:tgtEl>
                                        <p:attrNameLst>
                                          <p:attrName>style.visibility</p:attrName>
                                        </p:attrNameLst>
                                      </p:cBhvr>
                                      <p:to>
                                        <p:strVal val="visible"/>
                                      </p:to>
                                    </p:set>
                                    <p:animEffect transition="in" filter="slide(fromBottom)">
                                      <p:cBhvr>
                                        <p:cTn id="19" dur="500"/>
                                        <p:tgtEl>
                                          <p:spTgt spid="874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498" grpId="0" animBg="1"/>
      <p:bldP spid="874499" grpId="0" animBg="1"/>
      <p:bldP spid="874501"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A567E97-D9AB-480E-9BC4-18453ADFC777}" type="slidenum">
              <a:rPr lang="en-US" altLang="zh-CN" sz="1400"/>
              <a:pPr eaLnBrk="1" hangingPunct="1"/>
              <a:t>89</a:t>
            </a:fld>
            <a:endParaRPr lang="en-US" altLang="zh-CN" sz="1400"/>
          </a:p>
        </p:txBody>
      </p:sp>
      <p:sp>
        <p:nvSpPr>
          <p:cNvPr id="10247" name="Rectangle 165"/>
          <p:cNvSpPr>
            <a:spLocks noChangeArrowheads="1"/>
          </p:cNvSpPr>
          <p:nvPr/>
        </p:nvSpPr>
        <p:spPr bwMode="auto">
          <a:xfrm>
            <a:off x="4572000" y="1916113"/>
            <a:ext cx="4176713" cy="4752975"/>
          </a:xfrm>
          <a:prstGeom prst="rect">
            <a:avLst/>
          </a:prstGeom>
          <a:solidFill>
            <a:srgbClr val="CCFF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248" name="Rectangle 164"/>
          <p:cNvSpPr>
            <a:spLocks noChangeArrowheads="1"/>
          </p:cNvSpPr>
          <p:nvPr/>
        </p:nvSpPr>
        <p:spPr bwMode="auto">
          <a:xfrm>
            <a:off x="179388" y="1916113"/>
            <a:ext cx="4176712" cy="4752975"/>
          </a:xfrm>
          <a:prstGeom prst="rect">
            <a:avLst/>
          </a:prstGeom>
          <a:solidFill>
            <a:srgbClr val="FF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47205" name="Rectangle 5"/>
          <p:cNvSpPr>
            <a:spLocks noChangeArrowheads="1"/>
          </p:cNvSpPr>
          <p:nvPr/>
        </p:nvSpPr>
        <p:spPr bwMode="auto">
          <a:xfrm>
            <a:off x="2627313" y="1196975"/>
            <a:ext cx="3816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solidFill>
                  <a:srgbClr val="FF0000"/>
                </a:solidFill>
                <a:latin typeface="宋体" panose="02010600030101010101" pitchFamily="2" charset="-122"/>
              </a:rPr>
              <a:t>h</a:t>
            </a:r>
            <a:r>
              <a:rPr lang="zh-CN" altLang="en-US" sz="3200" b="1">
                <a:solidFill>
                  <a:srgbClr val="FF0000"/>
                </a:solidFill>
                <a:latin typeface="宋体" panose="02010600030101010101" pitchFamily="2" charset="-122"/>
              </a:rPr>
              <a:t>（</a:t>
            </a:r>
            <a:r>
              <a:rPr lang="en-US" altLang="zh-CN" sz="3200" b="1">
                <a:solidFill>
                  <a:srgbClr val="FF0000"/>
                </a:solidFill>
                <a:latin typeface="宋体" panose="02010600030101010101" pitchFamily="2" charset="-122"/>
              </a:rPr>
              <a:t>n</a:t>
            </a:r>
            <a:r>
              <a:rPr lang="zh-CN" altLang="en-US" sz="3200" b="1">
                <a:solidFill>
                  <a:srgbClr val="FF0000"/>
                </a:solidFill>
                <a:latin typeface="宋体" panose="02010600030101010101" pitchFamily="2" charset="-122"/>
              </a:rPr>
              <a:t>）</a:t>
            </a:r>
            <a:r>
              <a:rPr lang="en-US" altLang="zh-CN" sz="3200" b="1">
                <a:solidFill>
                  <a:srgbClr val="FF0000"/>
                </a:solidFill>
                <a:latin typeface="宋体" panose="02010600030101010101" pitchFamily="2" charset="-122"/>
              </a:rPr>
              <a:t>=h</a:t>
            </a:r>
            <a:r>
              <a:rPr lang="zh-CN" altLang="en-US" sz="3200" b="1">
                <a:solidFill>
                  <a:srgbClr val="FF0000"/>
                </a:solidFill>
                <a:latin typeface="宋体" panose="02010600030101010101" pitchFamily="2" charset="-122"/>
              </a:rPr>
              <a:t>（</a:t>
            </a:r>
            <a:r>
              <a:rPr lang="en-US" altLang="zh-CN" sz="3200" b="1">
                <a:solidFill>
                  <a:srgbClr val="FF0000"/>
                </a:solidFill>
                <a:latin typeface="宋体" panose="02010600030101010101" pitchFamily="2" charset="-122"/>
              </a:rPr>
              <a:t>N-1-n</a:t>
            </a:r>
            <a:r>
              <a:rPr lang="zh-CN" altLang="en-US" sz="3200" b="1">
                <a:solidFill>
                  <a:srgbClr val="FF0000"/>
                </a:solidFill>
                <a:latin typeface="宋体" panose="02010600030101010101" pitchFamily="2" charset="-122"/>
              </a:rPr>
              <a:t>）</a:t>
            </a:r>
            <a:endParaRPr lang="zh-CN" altLang="en-US" b="1">
              <a:solidFill>
                <a:srgbClr val="FF0000"/>
              </a:solidFill>
              <a:latin typeface="宋体" panose="02010600030101010101" pitchFamily="2" charset="-122"/>
            </a:endParaRPr>
          </a:p>
        </p:txBody>
      </p:sp>
      <p:grpSp>
        <p:nvGrpSpPr>
          <p:cNvPr id="10250" name="Group 162"/>
          <p:cNvGrpSpPr>
            <a:grpSpLocks/>
          </p:cNvGrpSpPr>
          <p:nvPr/>
        </p:nvGrpSpPr>
        <p:grpSpPr bwMode="auto">
          <a:xfrm>
            <a:off x="179388" y="2205038"/>
            <a:ext cx="4175125" cy="4468812"/>
            <a:chOff x="113" y="1389"/>
            <a:chExt cx="2630" cy="2815"/>
          </a:xfrm>
        </p:grpSpPr>
        <p:sp>
          <p:nvSpPr>
            <p:cNvPr id="10315" name="Line 6"/>
            <p:cNvSpPr>
              <a:spLocks noChangeShapeType="1"/>
            </p:cNvSpPr>
            <p:nvPr/>
          </p:nvSpPr>
          <p:spPr bwMode="auto">
            <a:xfrm>
              <a:off x="476" y="2160"/>
              <a:ext cx="1860" cy="0"/>
            </a:xfrm>
            <a:prstGeom prst="line">
              <a:avLst/>
            </a:prstGeom>
            <a:noFill/>
            <a:ln w="952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16" name="Rectangle 8"/>
            <p:cNvSpPr>
              <a:spLocks noChangeArrowheads="1"/>
            </p:cNvSpPr>
            <p:nvPr/>
          </p:nvSpPr>
          <p:spPr bwMode="auto">
            <a:xfrm>
              <a:off x="2245" y="2206"/>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n</a:t>
              </a:r>
            </a:p>
          </p:txBody>
        </p:sp>
        <p:sp>
          <p:nvSpPr>
            <p:cNvPr id="10317" name="Line 9"/>
            <p:cNvSpPr>
              <a:spLocks noChangeShapeType="1"/>
            </p:cNvSpPr>
            <p:nvPr/>
          </p:nvSpPr>
          <p:spPr bwMode="auto">
            <a:xfrm flipV="1">
              <a:off x="1338" y="1843"/>
              <a:ext cx="0" cy="318"/>
            </a:xfrm>
            <a:prstGeom prst="line">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18" name="Line 10"/>
            <p:cNvSpPr>
              <a:spLocks noChangeShapeType="1"/>
            </p:cNvSpPr>
            <p:nvPr/>
          </p:nvSpPr>
          <p:spPr bwMode="auto">
            <a:xfrm flipV="1">
              <a:off x="1474" y="1888"/>
              <a:ext cx="0" cy="273"/>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19" name="Line 11"/>
            <p:cNvSpPr>
              <a:spLocks noChangeShapeType="1"/>
            </p:cNvSpPr>
            <p:nvPr/>
          </p:nvSpPr>
          <p:spPr bwMode="auto">
            <a:xfrm flipV="1">
              <a:off x="1202" y="1888"/>
              <a:ext cx="0" cy="273"/>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0" name="Line 12"/>
            <p:cNvSpPr>
              <a:spLocks noChangeShapeType="1"/>
            </p:cNvSpPr>
            <p:nvPr/>
          </p:nvSpPr>
          <p:spPr bwMode="auto">
            <a:xfrm flipV="1">
              <a:off x="1066" y="1979"/>
              <a:ext cx="0" cy="182"/>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1" name="Line 13"/>
            <p:cNvSpPr>
              <a:spLocks noChangeShapeType="1"/>
            </p:cNvSpPr>
            <p:nvPr/>
          </p:nvSpPr>
          <p:spPr bwMode="auto">
            <a:xfrm flipV="1">
              <a:off x="1610" y="1979"/>
              <a:ext cx="0" cy="182"/>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2" name="Line 14"/>
            <p:cNvSpPr>
              <a:spLocks noChangeShapeType="1"/>
            </p:cNvSpPr>
            <p:nvPr/>
          </p:nvSpPr>
          <p:spPr bwMode="auto">
            <a:xfrm>
              <a:off x="975" y="2161"/>
              <a:ext cx="0" cy="90"/>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3" name="Line 15"/>
            <p:cNvSpPr>
              <a:spLocks noChangeShapeType="1"/>
            </p:cNvSpPr>
            <p:nvPr/>
          </p:nvSpPr>
          <p:spPr bwMode="auto">
            <a:xfrm>
              <a:off x="1701" y="2160"/>
              <a:ext cx="0" cy="90"/>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4" name="Line 16"/>
            <p:cNvSpPr>
              <a:spLocks noChangeShapeType="1"/>
            </p:cNvSpPr>
            <p:nvPr/>
          </p:nvSpPr>
          <p:spPr bwMode="auto">
            <a:xfrm flipV="1">
              <a:off x="839" y="2024"/>
              <a:ext cx="0" cy="137"/>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5" name="Line 17"/>
            <p:cNvSpPr>
              <a:spLocks noChangeShapeType="1"/>
            </p:cNvSpPr>
            <p:nvPr/>
          </p:nvSpPr>
          <p:spPr bwMode="auto">
            <a:xfrm flipV="1">
              <a:off x="1837" y="2024"/>
              <a:ext cx="0" cy="137"/>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6" name="Line 18"/>
            <p:cNvSpPr>
              <a:spLocks noChangeShapeType="1"/>
            </p:cNvSpPr>
            <p:nvPr/>
          </p:nvSpPr>
          <p:spPr bwMode="auto">
            <a:xfrm flipV="1">
              <a:off x="1973" y="1979"/>
              <a:ext cx="0" cy="182"/>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7" name="Line 19"/>
            <p:cNvSpPr>
              <a:spLocks noChangeShapeType="1"/>
            </p:cNvSpPr>
            <p:nvPr/>
          </p:nvSpPr>
          <p:spPr bwMode="auto">
            <a:xfrm flipV="1">
              <a:off x="703" y="1979"/>
              <a:ext cx="0" cy="182"/>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28" name="Line 20"/>
            <p:cNvSpPr>
              <a:spLocks noChangeShapeType="1"/>
            </p:cNvSpPr>
            <p:nvPr/>
          </p:nvSpPr>
          <p:spPr bwMode="auto">
            <a:xfrm flipV="1">
              <a:off x="703" y="1752"/>
              <a:ext cx="0" cy="409"/>
            </a:xfrm>
            <a:prstGeom prst="line">
              <a:avLst/>
            </a:prstGeom>
            <a:noFill/>
            <a:ln w="9525">
              <a:solidFill>
                <a:srgbClr val="FF00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29" name="Line 21"/>
            <p:cNvSpPr>
              <a:spLocks noChangeShapeType="1"/>
            </p:cNvSpPr>
            <p:nvPr/>
          </p:nvSpPr>
          <p:spPr bwMode="auto">
            <a:xfrm flipV="1">
              <a:off x="1338" y="1752"/>
              <a:ext cx="0" cy="409"/>
            </a:xfrm>
            <a:prstGeom prst="line">
              <a:avLst/>
            </a:prstGeom>
            <a:noFill/>
            <a:ln w="9525">
              <a:solidFill>
                <a:srgbClr val="FF00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30" name="Rectangle 22"/>
            <p:cNvSpPr>
              <a:spLocks noChangeArrowheads="1"/>
            </p:cNvSpPr>
            <p:nvPr/>
          </p:nvSpPr>
          <p:spPr bwMode="auto">
            <a:xfrm>
              <a:off x="658" y="2206"/>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0</a:t>
              </a:r>
            </a:p>
          </p:txBody>
        </p:sp>
        <p:sp>
          <p:nvSpPr>
            <p:cNvPr id="10331" name="Rectangle 23"/>
            <p:cNvSpPr>
              <a:spLocks noChangeArrowheads="1"/>
            </p:cNvSpPr>
            <p:nvPr/>
          </p:nvSpPr>
          <p:spPr bwMode="auto">
            <a:xfrm>
              <a:off x="930" y="2206"/>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2</a:t>
              </a:r>
            </a:p>
          </p:txBody>
        </p:sp>
        <p:sp>
          <p:nvSpPr>
            <p:cNvPr id="10332" name="Rectangle 24"/>
            <p:cNvSpPr>
              <a:spLocks noChangeArrowheads="1"/>
            </p:cNvSpPr>
            <p:nvPr/>
          </p:nvSpPr>
          <p:spPr bwMode="auto">
            <a:xfrm>
              <a:off x="1157" y="2206"/>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4</a:t>
              </a:r>
            </a:p>
          </p:txBody>
        </p:sp>
        <p:sp>
          <p:nvSpPr>
            <p:cNvPr id="10333" name="Rectangle 25"/>
            <p:cNvSpPr>
              <a:spLocks noChangeArrowheads="1"/>
            </p:cNvSpPr>
            <p:nvPr/>
          </p:nvSpPr>
          <p:spPr bwMode="auto">
            <a:xfrm>
              <a:off x="1429" y="2206"/>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6</a:t>
              </a:r>
            </a:p>
          </p:txBody>
        </p:sp>
        <p:sp>
          <p:nvSpPr>
            <p:cNvPr id="10334" name="Rectangle 26"/>
            <p:cNvSpPr>
              <a:spLocks noChangeArrowheads="1"/>
            </p:cNvSpPr>
            <p:nvPr/>
          </p:nvSpPr>
          <p:spPr bwMode="auto">
            <a:xfrm>
              <a:off x="1655" y="2206"/>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8</a:t>
              </a:r>
            </a:p>
          </p:txBody>
        </p:sp>
        <p:sp>
          <p:nvSpPr>
            <p:cNvPr id="10335" name="Rectangle 27"/>
            <p:cNvSpPr>
              <a:spLocks noChangeArrowheads="1"/>
            </p:cNvSpPr>
            <p:nvPr/>
          </p:nvSpPr>
          <p:spPr bwMode="auto">
            <a:xfrm>
              <a:off x="1882" y="2206"/>
              <a:ext cx="22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10</a:t>
              </a:r>
            </a:p>
          </p:txBody>
        </p:sp>
        <p:sp>
          <p:nvSpPr>
            <p:cNvPr id="10336" name="Rectangle 28"/>
            <p:cNvSpPr>
              <a:spLocks noChangeArrowheads="1"/>
            </p:cNvSpPr>
            <p:nvPr/>
          </p:nvSpPr>
          <p:spPr bwMode="auto">
            <a:xfrm>
              <a:off x="521" y="1571"/>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h(n)</a:t>
              </a:r>
            </a:p>
          </p:txBody>
        </p:sp>
        <p:sp>
          <p:nvSpPr>
            <p:cNvPr id="10337" name="Rectangle 29"/>
            <p:cNvSpPr>
              <a:spLocks noChangeArrowheads="1"/>
            </p:cNvSpPr>
            <p:nvPr/>
          </p:nvSpPr>
          <p:spPr bwMode="auto">
            <a:xfrm>
              <a:off x="1791" y="1661"/>
              <a:ext cx="9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660066"/>
                  </a:solidFill>
                </a:rPr>
                <a:t>N=11</a:t>
              </a:r>
              <a:r>
                <a:rPr lang="zh-CN" altLang="en-US" b="1">
                  <a:solidFill>
                    <a:srgbClr val="660066"/>
                  </a:solidFill>
                </a:rPr>
                <a:t>奇数</a:t>
              </a:r>
            </a:p>
          </p:txBody>
        </p:sp>
        <p:graphicFrame>
          <p:nvGraphicFramePr>
            <p:cNvPr id="10244" name="Object 30"/>
            <p:cNvGraphicFramePr>
              <a:graphicFrameLocks noChangeAspect="1"/>
            </p:cNvGraphicFramePr>
            <p:nvPr/>
          </p:nvGraphicFramePr>
          <p:xfrm>
            <a:off x="1202" y="1525"/>
            <a:ext cx="272" cy="272"/>
          </p:xfrm>
          <a:graphic>
            <a:graphicData uri="http://schemas.openxmlformats.org/presentationml/2006/ole">
              <mc:AlternateContent xmlns:mc="http://schemas.openxmlformats.org/markup-compatibility/2006">
                <mc:Choice xmlns:v="urn:schemas-microsoft-com:vml" Requires="v">
                  <p:oleObj spid="_x0000_s9218" name="公式" r:id="rId3" imgW="317225" imgH="317225" progId="">
                    <p:embed/>
                  </p:oleObj>
                </mc:Choice>
                <mc:Fallback>
                  <p:oleObj name="公式" r:id="rId3" imgW="317225" imgH="317225" progId="">
                    <p:embed/>
                    <p:pic>
                      <p:nvPicPr>
                        <p:cNvPr id="0" name="Picture 1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2" y="1525"/>
                          <a:ext cx="272"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8" name="Line 32"/>
            <p:cNvSpPr>
              <a:spLocks noChangeShapeType="1"/>
            </p:cNvSpPr>
            <p:nvPr/>
          </p:nvSpPr>
          <p:spPr bwMode="auto">
            <a:xfrm flipH="1">
              <a:off x="1473" y="1707"/>
              <a:ext cx="227" cy="9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39" name="Rectangle 33"/>
            <p:cNvSpPr>
              <a:spLocks noChangeArrowheads="1"/>
            </p:cNvSpPr>
            <p:nvPr/>
          </p:nvSpPr>
          <p:spPr bwMode="auto">
            <a:xfrm>
              <a:off x="1700" y="1389"/>
              <a:ext cx="10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FF0000"/>
                  </a:solidFill>
                </a:rPr>
                <a:t>偶对称中心</a:t>
              </a:r>
            </a:p>
          </p:txBody>
        </p:sp>
        <p:sp>
          <p:nvSpPr>
            <p:cNvPr id="10340" name="Rectangle 35"/>
            <p:cNvSpPr>
              <a:spLocks noChangeArrowheads="1"/>
            </p:cNvSpPr>
            <p:nvPr/>
          </p:nvSpPr>
          <p:spPr bwMode="auto">
            <a:xfrm>
              <a:off x="1836" y="2387"/>
              <a:ext cx="54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N-1</a:t>
              </a:r>
            </a:p>
          </p:txBody>
        </p:sp>
        <p:sp>
          <p:nvSpPr>
            <p:cNvPr id="10341" name="Line 38"/>
            <p:cNvSpPr>
              <a:spLocks noChangeShapeType="1"/>
            </p:cNvSpPr>
            <p:nvPr/>
          </p:nvSpPr>
          <p:spPr bwMode="auto">
            <a:xfrm>
              <a:off x="521" y="3657"/>
              <a:ext cx="1996" cy="0"/>
            </a:xfrm>
            <a:prstGeom prst="line">
              <a:avLst/>
            </a:prstGeom>
            <a:noFill/>
            <a:ln w="952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2" name="Rectangle 39"/>
            <p:cNvSpPr>
              <a:spLocks noChangeArrowheads="1"/>
            </p:cNvSpPr>
            <p:nvPr/>
          </p:nvSpPr>
          <p:spPr bwMode="auto">
            <a:xfrm>
              <a:off x="2472"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n</a:t>
              </a:r>
            </a:p>
          </p:txBody>
        </p:sp>
        <p:sp>
          <p:nvSpPr>
            <p:cNvPr id="10343" name="Line 41"/>
            <p:cNvSpPr>
              <a:spLocks noChangeShapeType="1"/>
            </p:cNvSpPr>
            <p:nvPr/>
          </p:nvSpPr>
          <p:spPr bwMode="auto">
            <a:xfrm flipV="1">
              <a:off x="1565" y="3339"/>
              <a:ext cx="0" cy="319"/>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4" name="Line 42"/>
            <p:cNvSpPr>
              <a:spLocks noChangeShapeType="1"/>
            </p:cNvSpPr>
            <p:nvPr/>
          </p:nvSpPr>
          <p:spPr bwMode="auto">
            <a:xfrm flipV="1">
              <a:off x="1202" y="3521"/>
              <a:ext cx="0" cy="137"/>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5" name="Line 43"/>
            <p:cNvSpPr>
              <a:spLocks noChangeShapeType="1"/>
            </p:cNvSpPr>
            <p:nvPr/>
          </p:nvSpPr>
          <p:spPr bwMode="auto">
            <a:xfrm flipV="1">
              <a:off x="1383" y="3339"/>
              <a:ext cx="0" cy="318"/>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6" name="Line 44"/>
            <p:cNvSpPr>
              <a:spLocks noChangeShapeType="1"/>
            </p:cNvSpPr>
            <p:nvPr/>
          </p:nvSpPr>
          <p:spPr bwMode="auto">
            <a:xfrm flipV="1">
              <a:off x="1746" y="3521"/>
              <a:ext cx="0" cy="137"/>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7" name="Line 45"/>
            <p:cNvSpPr>
              <a:spLocks noChangeShapeType="1"/>
            </p:cNvSpPr>
            <p:nvPr/>
          </p:nvSpPr>
          <p:spPr bwMode="auto">
            <a:xfrm>
              <a:off x="1020" y="3657"/>
              <a:ext cx="0" cy="90"/>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8" name="Line 46"/>
            <p:cNvSpPr>
              <a:spLocks noChangeShapeType="1"/>
            </p:cNvSpPr>
            <p:nvPr/>
          </p:nvSpPr>
          <p:spPr bwMode="auto">
            <a:xfrm>
              <a:off x="1927" y="3657"/>
              <a:ext cx="0" cy="90"/>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49" name="Line 47"/>
            <p:cNvSpPr>
              <a:spLocks noChangeShapeType="1"/>
            </p:cNvSpPr>
            <p:nvPr/>
          </p:nvSpPr>
          <p:spPr bwMode="auto">
            <a:xfrm flipH="1" flipV="1">
              <a:off x="839" y="3430"/>
              <a:ext cx="1" cy="228"/>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50" name="Line 48"/>
            <p:cNvSpPr>
              <a:spLocks noChangeShapeType="1"/>
            </p:cNvSpPr>
            <p:nvPr/>
          </p:nvSpPr>
          <p:spPr bwMode="auto">
            <a:xfrm flipH="1" flipV="1">
              <a:off x="2109" y="3430"/>
              <a:ext cx="1" cy="228"/>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51" name="Line 49"/>
            <p:cNvSpPr>
              <a:spLocks noChangeShapeType="1"/>
            </p:cNvSpPr>
            <p:nvPr/>
          </p:nvSpPr>
          <p:spPr bwMode="auto">
            <a:xfrm flipV="1">
              <a:off x="2290" y="3475"/>
              <a:ext cx="0" cy="182"/>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52" name="Line 50"/>
            <p:cNvSpPr>
              <a:spLocks noChangeShapeType="1"/>
            </p:cNvSpPr>
            <p:nvPr/>
          </p:nvSpPr>
          <p:spPr bwMode="auto">
            <a:xfrm flipV="1">
              <a:off x="658" y="3476"/>
              <a:ext cx="0" cy="182"/>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53" name="Line 51"/>
            <p:cNvSpPr>
              <a:spLocks noChangeShapeType="1"/>
            </p:cNvSpPr>
            <p:nvPr/>
          </p:nvSpPr>
          <p:spPr bwMode="auto">
            <a:xfrm flipV="1">
              <a:off x="657" y="3249"/>
              <a:ext cx="0" cy="409"/>
            </a:xfrm>
            <a:prstGeom prst="line">
              <a:avLst/>
            </a:prstGeom>
            <a:noFill/>
            <a:ln w="9525">
              <a:solidFill>
                <a:srgbClr val="FF00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4" name="Line 52"/>
            <p:cNvSpPr>
              <a:spLocks noChangeShapeType="1"/>
            </p:cNvSpPr>
            <p:nvPr/>
          </p:nvSpPr>
          <p:spPr bwMode="auto">
            <a:xfrm flipV="1">
              <a:off x="1474" y="3249"/>
              <a:ext cx="0" cy="409"/>
            </a:xfrm>
            <a:prstGeom prst="line">
              <a:avLst/>
            </a:prstGeom>
            <a:noFill/>
            <a:ln w="9525">
              <a:solidFill>
                <a:srgbClr val="FF00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55" name="Rectangle 53"/>
            <p:cNvSpPr>
              <a:spLocks noChangeArrowheads="1"/>
            </p:cNvSpPr>
            <p:nvPr/>
          </p:nvSpPr>
          <p:spPr bwMode="auto">
            <a:xfrm>
              <a:off x="613" y="3703"/>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0</a:t>
              </a:r>
            </a:p>
          </p:txBody>
        </p:sp>
        <p:sp>
          <p:nvSpPr>
            <p:cNvPr id="10356" name="Rectangle 54"/>
            <p:cNvSpPr>
              <a:spLocks noChangeArrowheads="1"/>
            </p:cNvSpPr>
            <p:nvPr/>
          </p:nvSpPr>
          <p:spPr bwMode="auto">
            <a:xfrm>
              <a:off x="975"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2</a:t>
              </a:r>
            </a:p>
          </p:txBody>
        </p:sp>
        <p:sp>
          <p:nvSpPr>
            <p:cNvPr id="10357" name="Rectangle 55"/>
            <p:cNvSpPr>
              <a:spLocks noChangeArrowheads="1"/>
            </p:cNvSpPr>
            <p:nvPr/>
          </p:nvSpPr>
          <p:spPr bwMode="auto">
            <a:xfrm>
              <a:off x="1338"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4</a:t>
              </a:r>
            </a:p>
          </p:txBody>
        </p:sp>
        <p:sp>
          <p:nvSpPr>
            <p:cNvPr id="10358" name="Rectangle 56"/>
            <p:cNvSpPr>
              <a:spLocks noChangeArrowheads="1"/>
            </p:cNvSpPr>
            <p:nvPr/>
          </p:nvSpPr>
          <p:spPr bwMode="auto">
            <a:xfrm>
              <a:off x="1701"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6</a:t>
              </a:r>
            </a:p>
          </p:txBody>
        </p:sp>
        <p:sp>
          <p:nvSpPr>
            <p:cNvPr id="10359" name="Rectangle 57"/>
            <p:cNvSpPr>
              <a:spLocks noChangeArrowheads="1"/>
            </p:cNvSpPr>
            <p:nvPr/>
          </p:nvSpPr>
          <p:spPr bwMode="auto">
            <a:xfrm>
              <a:off x="1882"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7</a:t>
              </a:r>
            </a:p>
          </p:txBody>
        </p:sp>
        <p:sp>
          <p:nvSpPr>
            <p:cNvPr id="10360" name="Rectangle 58"/>
            <p:cNvSpPr>
              <a:spLocks noChangeArrowheads="1"/>
            </p:cNvSpPr>
            <p:nvPr/>
          </p:nvSpPr>
          <p:spPr bwMode="auto">
            <a:xfrm>
              <a:off x="2245" y="3702"/>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9</a:t>
              </a:r>
            </a:p>
          </p:txBody>
        </p:sp>
        <p:sp>
          <p:nvSpPr>
            <p:cNvPr id="10361" name="Rectangle 59"/>
            <p:cNvSpPr>
              <a:spLocks noChangeArrowheads="1"/>
            </p:cNvSpPr>
            <p:nvPr/>
          </p:nvSpPr>
          <p:spPr bwMode="auto">
            <a:xfrm>
              <a:off x="476" y="3068"/>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h(n)</a:t>
              </a:r>
            </a:p>
          </p:txBody>
        </p:sp>
        <p:sp>
          <p:nvSpPr>
            <p:cNvPr id="10362" name="Rectangle 60"/>
            <p:cNvSpPr>
              <a:spLocks noChangeArrowheads="1"/>
            </p:cNvSpPr>
            <p:nvPr/>
          </p:nvSpPr>
          <p:spPr bwMode="auto">
            <a:xfrm>
              <a:off x="1746" y="3158"/>
              <a:ext cx="9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N=10</a:t>
              </a:r>
              <a:r>
                <a:rPr lang="zh-CN" altLang="en-US" b="1">
                  <a:solidFill>
                    <a:srgbClr val="000000"/>
                  </a:solidFill>
                </a:rPr>
                <a:t>偶数</a:t>
              </a:r>
            </a:p>
          </p:txBody>
        </p:sp>
        <p:graphicFrame>
          <p:nvGraphicFramePr>
            <p:cNvPr id="10245" name="Object 61"/>
            <p:cNvGraphicFramePr>
              <a:graphicFrameLocks noChangeAspect="1"/>
            </p:cNvGraphicFramePr>
            <p:nvPr/>
          </p:nvGraphicFramePr>
          <p:xfrm>
            <a:off x="1338" y="2976"/>
            <a:ext cx="272" cy="272"/>
          </p:xfrm>
          <a:graphic>
            <a:graphicData uri="http://schemas.openxmlformats.org/presentationml/2006/ole">
              <mc:AlternateContent xmlns:mc="http://schemas.openxmlformats.org/markup-compatibility/2006">
                <mc:Choice xmlns:v="urn:schemas-microsoft-com:vml" Requires="v">
                  <p:oleObj spid="_x0000_s9219" name="公式" r:id="rId5" imgW="317225" imgH="317225" progId="">
                    <p:embed/>
                  </p:oleObj>
                </mc:Choice>
                <mc:Fallback>
                  <p:oleObj name="公式" r:id="rId5" imgW="317225" imgH="317225" progId="">
                    <p:embed/>
                    <p:pic>
                      <p:nvPicPr>
                        <p:cNvPr id="0" name="Picture 1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8" y="2976"/>
                          <a:ext cx="272"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63" name="Line 62"/>
            <p:cNvSpPr>
              <a:spLocks noChangeShapeType="1"/>
            </p:cNvSpPr>
            <p:nvPr/>
          </p:nvSpPr>
          <p:spPr bwMode="auto">
            <a:xfrm flipH="1">
              <a:off x="1565" y="3158"/>
              <a:ext cx="227" cy="9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64" name="Rectangle 63"/>
            <p:cNvSpPr>
              <a:spLocks noChangeArrowheads="1"/>
            </p:cNvSpPr>
            <p:nvPr/>
          </p:nvSpPr>
          <p:spPr bwMode="auto">
            <a:xfrm>
              <a:off x="1655" y="2886"/>
              <a:ext cx="10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FF0000"/>
                  </a:solidFill>
                </a:rPr>
                <a:t>偶对称中心</a:t>
              </a:r>
            </a:p>
          </p:txBody>
        </p:sp>
        <p:sp>
          <p:nvSpPr>
            <p:cNvPr id="10365" name="Rectangle 64"/>
            <p:cNvSpPr>
              <a:spLocks noChangeArrowheads="1"/>
            </p:cNvSpPr>
            <p:nvPr/>
          </p:nvSpPr>
          <p:spPr bwMode="auto">
            <a:xfrm>
              <a:off x="1882" y="3884"/>
              <a:ext cx="54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N-1</a:t>
              </a:r>
            </a:p>
          </p:txBody>
        </p:sp>
        <p:sp>
          <p:nvSpPr>
            <p:cNvPr id="10366" name="Rectangle 65"/>
            <p:cNvSpPr>
              <a:spLocks noChangeArrowheads="1"/>
            </p:cNvSpPr>
            <p:nvPr/>
          </p:nvSpPr>
          <p:spPr bwMode="auto">
            <a:xfrm>
              <a:off x="793"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1</a:t>
              </a:r>
            </a:p>
          </p:txBody>
        </p:sp>
        <p:sp>
          <p:nvSpPr>
            <p:cNvPr id="10367" name="Rectangle 66"/>
            <p:cNvSpPr>
              <a:spLocks noChangeArrowheads="1"/>
            </p:cNvSpPr>
            <p:nvPr/>
          </p:nvSpPr>
          <p:spPr bwMode="auto">
            <a:xfrm>
              <a:off x="1156"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3</a:t>
              </a:r>
            </a:p>
          </p:txBody>
        </p:sp>
        <p:sp>
          <p:nvSpPr>
            <p:cNvPr id="10368" name="Rectangle 67"/>
            <p:cNvSpPr>
              <a:spLocks noChangeArrowheads="1"/>
            </p:cNvSpPr>
            <p:nvPr/>
          </p:nvSpPr>
          <p:spPr bwMode="auto">
            <a:xfrm>
              <a:off x="1519"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5</a:t>
              </a:r>
            </a:p>
          </p:txBody>
        </p:sp>
        <p:sp>
          <p:nvSpPr>
            <p:cNvPr id="10369" name="Rectangle 68"/>
            <p:cNvSpPr>
              <a:spLocks noChangeArrowheads="1"/>
            </p:cNvSpPr>
            <p:nvPr/>
          </p:nvSpPr>
          <p:spPr bwMode="auto">
            <a:xfrm>
              <a:off x="2064" y="3702"/>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8</a:t>
              </a:r>
            </a:p>
          </p:txBody>
        </p:sp>
        <p:sp>
          <p:nvSpPr>
            <p:cNvPr id="10370" name="Rectangle 69"/>
            <p:cNvSpPr>
              <a:spLocks noChangeArrowheads="1"/>
            </p:cNvSpPr>
            <p:nvPr/>
          </p:nvSpPr>
          <p:spPr bwMode="auto">
            <a:xfrm>
              <a:off x="113" y="3430"/>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(b)</a:t>
              </a:r>
            </a:p>
          </p:txBody>
        </p:sp>
        <p:sp>
          <p:nvSpPr>
            <p:cNvPr id="10371" name="Rectangle 70"/>
            <p:cNvSpPr>
              <a:spLocks noChangeArrowheads="1"/>
            </p:cNvSpPr>
            <p:nvPr/>
          </p:nvSpPr>
          <p:spPr bwMode="auto">
            <a:xfrm>
              <a:off x="113" y="1888"/>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(a)</a:t>
              </a:r>
            </a:p>
          </p:txBody>
        </p:sp>
        <p:sp>
          <p:nvSpPr>
            <p:cNvPr id="10372" name="Rectangle 71"/>
            <p:cNvSpPr>
              <a:spLocks noChangeArrowheads="1"/>
            </p:cNvSpPr>
            <p:nvPr/>
          </p:nvSpPr>
          <p:spPr bwMode="auto">
            <a:xfrm>
              <a:off x="839" y="3974"/>
              <a:ext cx="99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h(n)</a:t>
              </a:r>
              <a:r>
                <a:rPr lang="zh-CN" altLang="en-US" b="1">
                  <a:solidFill>
                    <a:srgbClr val="FF0000"/>
                  </a:solidFill>
                </a:rPr>
                <a:t>偶对称</a:t>
              </a:r>
            </a:p>
          </p:txBody>
        </p:sp>
      </p:grpSp>
      <p:grpSp>
        <p:nvGrpSpPr>
          <p:cNvPr id="10251" name="Group 163"/>
          <p:cNvGrpSpPr>
            <a:grpSpLocks/>
          </p:cNvGrpSpPr>
          <p:nvPr/>
        </p:nvGrpSpPr>
        <p:grpSpPr bwMode="auto">
          <a:xfrm>
            <a:off x="4572000" y="2133600"/>
            <a:ext cx="4175125" cy="4468813"/>
            <a:chOff x="2880" y="1344"/>
            <a:chExt cx="2630" cy="2815"/>
          </a:xfrm>
        </p:grpSpPr>
        <p:sp>
          <p:nvSpPr>
            <p:cNvPr id="10252" name="Rectangle 95"/>
            <p:cNvSpPr>
              <a:spLocks noChangeArrowheads="1"/>
            </p:cNvSpPr>
            <p:nvPr/>
          </p:nvSpPr>
          <p:spPr bwMode="auto">
            <a:xfrm>
              <a:off x="3288" y="1526"/>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h(n)</a:t>
              </a:r>
            </a:p>
          </p:txBody>
        </p:sp>
        <p:sp>
          <p:nvSpPr>
            <p:cNvPr id="10253" name="Rectangle 96"/>
            <p:cNvSpPr>
              <a:spLocks noChangeArrowheads="1"/>
            </p:cNvSpPr>
            <p:nvPr/>
          </p:nvSpPr>
          <p:spPr bwMode="auto">
            <a:xfrm>
              <a:off x="4558" y="1616"/>
              <a:ext cx="9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660066"/>
                  </a:solidFill>
                </a:rPr>
                <a:t>N=11</a:t>
              </a:r>
              <a:r>
                <a:rPr lang="zh-CN" altLang="en-US" b="1">
                  <a:solidFill>
                    <a:srgbClr val="660066"/>
                  </a:solidFill>
                </a:rPr>
                <a:t>奇数</a:t>
              </a:r>
            </a:p>
          </p:txBody>
        </p:sp>
        <p:graphicFrame>
          <p:nvGraphicFramePr>
            <p:cNvPr id="10242" name="Object 97"/>
            <p:cNvGraphicFramePr>
              <a:graphicFrameLocks noChangeAspect="1"/>
            </p:cNvGraphicFramePr>
            <p:nvPr/>
          </p:nvGraphicFramePr>
          <p:xfrm>
            <a:off x="3969" y="1480"/>
            <a:ext cx="272" cy="272"/>
          </p:xfrm>
          <a:graphic>
            <a:graphicData uri="http://schemas.openxmlformats.org/presentationml/2006/ole">
              <mc:AlternateContent xmlns:mc="http://schemas.openxmlformats.org/markup-compatibility/2006">
                <mc:Choice xmlns:v="urn:schemas-microsoft-com:vml" Requires="v">
                  <p:oleObj spid="_x0000_s9220" name="公式" r:id="rId7" imgW="317225" imgH="317225" progId="">
                    <p:embed/>
                  </p:oleObj>
                </mc:Choice>
                <mc:Fallback>
                  <p:oleObj name="公式" r:id="rId7" imgW="317225" imgH="317225" progId="">
                    <p:embed/>
                    <p:pic>
                      <p:nvPicPr>
                        <p:cNvPr id="0" name="Picture 16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9" y="1480"/>
                          <a:ext cx="272"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4" name="Line 98"/>
            <p:cNvSpPr>
              <a:spLocks noChangeShapeType="1"/>
            </p:cNvSpPr>
            <p:nvPr/>
          </p:nvSpPr>
          <p:spPr bwMode="auto">
            <a:xfrm flipH="1">
              <a:off x="4240" y="1662"/>
              <a:ext cx="227" cy="9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55" name="Rectangle 99"/>
            <p:cNvSpPr>
              <a:spLocks noChangeArrowheads="1"/>
            </p:cNvSpPr>
            <p:nvPr/>
          </p:nvSpPr>
          <p:spPr bwMode="auto">
            <a:xfrm>
              <a:off x="4467" y="1344"/>
              <a:ext cx="10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FF0000"/>
                  </a:solidFill>
                </a:rPr>
                <a:t>奇对称中心</a:t>
              </a:r>
            </a:p>
          </p:txBody>
        </p:sp>
        <p:sp>
          <p:nvSpPr>
            <p:cNvPr id="10256" name="Rectangle 100"/>
            <p:cNvSpPr>
              <a:spLocks noChangeArrowheads="1"/>
            </p:cNvSpPr>
            <p:nvPr/>
          </p:nvSpPr>
          <p:spPr bwMode="auto">
            <a:xfrm>
              <a:off x="4967" y="2387"/>
              <a:ext cx="36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N-1</a:t>
              </a:r>
            </a:p>
          </p:txBody>
        </p:sp>
        <p:sp>
          <p:nvSpPr>
            <p:cNvPr id="10257" name="Line 101"/>
            <p:cNvSpPr>
              <a:spLocks noChangeShapeType="1"/>
            </p:cNvSpPr>
            <p:nvPr/>
          </p:nvSpPr>
          <p:spPr bwMode="auto">
            <a:xfrm>
              <a:off x="3288" y="3612"/>
              <a:ext cx="1996" cy="0"/>
            </a:xfrm>
            <a:prstGeom prst="line">
              <a:avLst/>
            </a:prstGeom>
            <a:noFill/>
            <a:ln w="952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58" name="Rectangle 102"/>
            <p:cNvSpPr>
              <a:spLocks noChangeArrowheads="1"/>
            </p:cNvSpPr>
            <p:nvPr/>
          </p:nvSpPr>
          <p:spPr bwMode="auto">
            <a:xfrm>
              <a:off x="5239" y="3657"/>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n</a:t>
              </a:r>
            </a:p>
          </p:txBody>
        </p:sp>
        <p:sp>
          <p:nvSpPr>
            <p:cNvPr id="10259" name="Line 103"/>
            <p:cNvSpPr>
              <a:spLocks noChangeShapeType="1"/>
            </p:cNvSpPr>
            <p:nvPr/>
          </p:nvSpPr>
          <p:spPr bwMode="auto">
            <a:xfrm flipV="1">
              <a:off x="4332" y="3339"/>
              <a:ext cx="0" cy="274"/>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0" name="Line 104"/>
            <p:cNvSpPr>
              <a:spLocks noChangeShapeType="1"/>
            </p:cNvSpPr>
            <p:nvPr/>
          </p:nvSpPr>
          <p:spPr bwMode="auto">
            <a:xfrm flipV="1">
              <a:off x="3969" y="3476"/>
              <a:ext cx="0" cy="137"/>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1" name="Line 105"/>
            <p:cNvSpPr>
              <a:spLocks noChangeShapeType="1"/>
            </p:cNvSpPr>
            <p:nvPr/>
          </p:nvSpPr>
          <p:spPr bwMode="auto">
            <a:xfrm>
              <a:off x="4150" y="3612"/>
              <a:ext cx="0" cy="272"/>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2" name="Line 106"/>
            <p:cNvSpPr>
              <a:spLocks noChangeShapeType="1"/>
            </p:cNvSpPr>
            <p:nvPr/>
          </p:nvSpPr>
          <p:spPr bwMode="auto">
            <a:xfrm>
              <a:off x="4513" y="3613"/>
              <a:ext cx="0" cy="135"/>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3" name="Line 107"/>
            <p:cNvSpPr>
              <a:spLocks noChangeShapeType="1"/>
            </p:cNvSpPr>
            <p:nvPr/>
          </p:nvSpPr>
          <p:spPr bwMode="auto">
            <a:xfrm>
              <a:off x="3787" y="3612"/>
              <a:ext cx="0" cy="90"/>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4" name="Line 108"/>
            <p:cNvSpPr>
              <a:spLocks noChangeShapeType="1"/>
            </p:cNvSpPr>
            <p:nvPr/>
          </p:nvSpPr>
          <p:spPr bwMode="auto">
            <a:xfrm flipV="1">
              <a:off x="4694" y="3521"/>
              <a:ext cx="0" cy="91"/>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5" name="Line 109"/>
            <p:cNvSpPr>
              <a:spLocks noChangeShapeType="1"/>
            </p:cNvSpPr>
            <p:nvPr/>
          </p:nvSpPr>
          <p:spPr bwMode="auto">
            <a:xfrm flipH="1" flipV="1">
              <a:off x="3606" y="3475"/>
              <a:ext cx="1" cy="138"/>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6" name="Line 110"/>
            <p:cNvSpPr>
              <a:spLocks noChangeShapeType="1"/>
            </p:cNvSpPr>
            <p:nvPr/>
          </p:nvSpPr>
          <p:spPr bwMode="auto">
            <a:xfrm flipH="1">
              <a:off x="4876" y="3613"/>
              <a:ext cx="1" cy="135"/>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7" name="Line 111"/>
            <p:cNvSpPr>
              <a:spLocks noChangeShapeType="1"/>
            </p:cNvSpPr>
            <p:nvPr/>
          </p:nvSpPr>
          <p:spPr bwMode="auto">
            <a:xfrm flipV="1">
              <a:off x="5057" y="3430"/>
              <a:ext cx="0" cy="182"/>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8" name="Line 112"/>
            <p:cNvSpPr>
              <a:spLocks noChangeShapeType="1"/>
            </p:cNvSpPr>
            <p:nvPr/>
          </p:nvSpPr>
          <p:spPr bwMode="auto">
            <a:xfrm flipH="1">
              <a:off x="3424" y="3613"/>
              <a:ext cx="1" cy="180"/>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69" name="Line 113"/>
            <p:cNvSpPr>
              <a:spLocks noChangeShapeType="1"/>
            </p:cNvSpPr>
            <p:nvPr/>
          </p:nvSpPr>
          <p:spPr bwMode="auto">
            <a:xfrm flipV="1">
              <a:off x="3424" y="3203"/>
              <a:ext cx="0" cy="409"/>
            </a:xfrm>
            <a:prstGeom prst="line">
              <a:avLst/>
            </a:prstGeom>
            <a:noFill/>
            <a:ln w="9525">
              <a:solidFill>
                <a:srgbClr val="FF00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70" name="Line 114"/>
            <p:cNvSpPr>
              <a:spLocks noChangeShapeType="1"/>
            </p:cNvSpPr>
            <p:nvPr/>
          </p:nvSpPr>
          <p:spPr bwMode="auto">
            <a:xfrm flipV="1">
              <a:off x="4241" y="3204"/>
              <a:ext cx="0" cy="634"/>
            </a:xfrm>
            <a:prstGeom prst="line">
              <a:avLst/>
            </a:prstGeom>
            <a:noFill/>
            <a:ln w="9525">
              <a:solidFill>
                <a:srgbClr val="FF00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71" name="Rectangle 115"/>
            <p:cNvSpPr>
              <a:spLocks noChangeArrowheads="1"/>
            </p:cNvSpPr>
            <p:nvPr/>
          </p:nvSpPr>
          <p:spPr bwMode="auto">
            <a:xfrm>
              <a:off x="3288" y="3657"/>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0</a:t>
              </a:r>
            </a:p>
          </p:txBody>
        </p:sp>
        <p:sp>
          <p:nvSpPr>
            <p:cNvPr id="10272" name="Rectangle 116"/>
            <p:cNvSpPr>
              <a:spLocks noChangeArrowheads="1"/>
            </p:cNvSpPr>
            <p:nvPr/>
          </p:nvSpPr>
          <p:spPr bwMode="auto">
            <a:xfrm>
              <a:off x="3742" y="338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2</a:t>
              </a:r>
            </a:p>
          </p:txBody>
        </p:sp>
        <p:sp>
          <p:nvSpPr>
            <p:cNvPr id="10273" name="Rectangle 117"/>
            <p:cNvSpPr>
              <a:spLocks noChangeArrowheads="1"/>
            </p:cNvSpPr>
            <p:nvPr/>
          </p:nvSpPr>
          <p:spPr bwMode="auto">
            <a:xfrm>
              <a:off x="4105" y="338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4</a:t>
              </a:r>
            </a:p>
          </p:txBody>
        </p:sp>
        <p:sp>
          <p:nvSpPr>
            <p:cNvPr id="10274" name="Rectangle 118"/>
            <p:cNvSpPr>
              <a:spLocks noChangeArrowheads="1"/>
            </p:cNvSpPr>
            <p:nvPr/>
          </p:nvSpPr>
          <p:spPr bwMode="auto">
            <a:xfrm>
              <a:off x="4468" y="338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6</a:t>
              </a:r>
            </a:p>
          </p:txBody>
        </p:sp>
        <p:sp>
          <p:nvSpPr>
            <p:cNvPr id="10275" name="Rectangle 119"/>
            <p:cNvSpPr>
              <a:spLocks noChangeArrowheads="1"/>
            </p:cNvSpPr>
            <p:nvPr/>
          </p:nvSpPr>
          <p:spPr bwMode="auto">
            <a:xfrm>
              <a:off x="4649" y="3657"/>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7</a:t>
              </a:r>
            </a:p>
          </p:txBody>
        </p:sp>
        <p:sp>
          <p:nvSpPr>
            <p:cNvPr id="10276" name="Rectangle 120"/>
            <p:cNvSpPr>
              <a:spLocks noChangeArrowheads="1"/>
            </p:cNvSpPr>
            <p:nvPr/>
          </p:nvSpPr>
          <p:spPr bwMode="auto">
            <a:xfrm>
              <a:off x="5012" y="3657"/>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9</a:t>
              </a:r>
            </a:p>
          </p:txBody>
        </p:sp>
        <p:sp>
          <p:nvSpPr>
            <p:cNvPr id="10277" name="Rectangle 121"/>
            <p:cNvSpPr>
              <a:spLocks noChangeArrowheads="1"/>
            </p:cNvSpPr>
            <p:nvPr/>
          </p:nvSpPr>
          <p:spPr bwMode="auto">
            <a:xfrm>
              <a:off x="3243" y="3023"/>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h(n)</a:t>
              </a:r>
            </a:p>
          </p:txBody>
        </p:sp>
        <p:sp>
          <p:nvSpPr>
            <p:cNvPr id="10278" name="Rectangle 122"/>
            <p:cNvSpPr>
              <a:spLocks noChangeArrowheads="1"/>
            </p:cNvSpPr>
            <p:nvPr/>
          </p:nvSpPr>
          <p:spPr bwMode="auto">
            <a:xfrm>
              <a:off x="4513" y="3113"/>
              <a:ext cx="9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N=10</a:t>
              </a:r>
              <a:r>
                <a:rPr lang="zh-CN" altLang="en-US" b="1">
                  <a:solidFill>
                    <a:srgbClr val="000000"/>
                  </a:solidFill>
                </a:rPr>
                <a:t>偶数</a:t>
              </a:r>
            </a:p>
          </p:txBody>
        </p:sp>
        <p:graphicFrame>
          <p:nvGraphicFramePr>
            <p:cNvPr id="10243" name="Object 123"/>
            <p:cNvGraphicFramePr>
              <a:graphicFrameLocks noChangeAspect="1"/>
            </p:cNvGraphicFramePr>
            <p:nvPr/>
          </p:nvGraphicFramePr>
          <p:xfrm>
            <a:off x="4105" y="2931"/>
            <a:ext cx="272" cy="272"/>
          </p:xfrm>
          <a:graphic>
            <a:graphicData uri="http://schemas.openxmlformats.org/presentationml/2006/ole">
              <mc:AlternateContent xmlns:mc="http://schemas.openxmlformats.org/markup-compatibility/2006">
                <mc:Choice xmlns:v="urn:schemas-microsoft-com:vml" Requires="v">
                  <p:oleObj spid="_x0000_s9221" name="公式" r:id="rId8" imgW="317225" imgH="317225" progId="">
                    <p:embed/>
                  </p:oleObj>
                </mc:Choice>
                <mc:Fallback>
                  <p:oleObj name="公式" r:id="rId8" imgW="317225" imgH="317225" progId="">
                    <p:embed/>
                    <p:pic>
                      <p:nvPicPr>
                        <p:cNvPr id="0" name="Picture 1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5" y="2931"/>
                          <a:ext cx="272"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79" name="Line 124"/>
            <p:cNvSpPr>
              <a:spLocks noChangeShapeType="1"/>
            </p:cNvSpPr>
            <p:nvPr/>
          </p:nvSpPr>
          <p:spPr bwMode="auto">
            <a:xfrm flipH="1">
              <a:off x="4332" y="3113"/>
              <a:ext cx="227" cy="9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80" name="Rectangle 125"/>
            <p:cNvSpPr>
              <a:spLocks noChangeArrowheads="1"/>
            </p:cNvSpPr>
            <p:nvPr/>
          </p:nvSpPr>
          <p:spPr bwMode="auto">
            <a:xfrm>
              <a:off x="4422" y="2841"/>
              <a:ext cx="10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FF0000"/>
                  </a:solidFill>
                </a:rPr>
                <a:t>奇对称中心</a:t>
              </a:r>
            </a:p>
          </p:txBody>
        </p:sp>
        <p:sp>
          <p:nvSpPr>
            <p:cNvPr id="10281" name="Rectangle 126"/>
            <p:cNvSpPr>
              <a:spLocks noChangeArrowheads="1"/>
            </p:cNvSpPr>
            <p:nvPr/>
          </p:nvSpPr>
          <p:spPr bwMode="auto">
            <a:xfrm>
              <a:off x="4921" y="3838"/>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N-1</a:t>
              </a:r>
            </a:p>
          </p:txBody>
        </p:sp>
        <p:sp>
          <p:nvSpPr>
            <p:cNvPr id="10282" name="Rectangle 127"/>
            <p:cNvSpPr>
              <a:spLocks noChangeArrowheads="1"/>
            </p:cNvSpPr>
            <p:nvPr/>
          </p:nvSpPr>
          <p:spPr bwMode="auto">
            <a:xfrm>
              <a:off x="3560" y="3657"/>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1</a:t>
              </a:r>
            </a:p>
          </p:txBody>
        </p:sp>
        <p:sp>
          <p:nvSpPr>
            <p:cNvPr id="10283" name="Rectangle 128"/>
            <p:cNvSpPr>
              <a:spLocks noChangeArrowheads="1"/>
            </p:cNvSpPr>
            <p:nvPr/>
          </p:nvSpPr>
          <p:spPr bwMode="auto">
            <a:xfrm>
              <a:off x="3923" y="3657"/>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3</a:t>
              </a:r>
            </a:p>
          </p:txBody>
        </p:sp>
        <p:sp>
          <p:nvSpPr>
            <p:cNvPr id="10284" name="Rectangle 129"/>
            <p:cNvSpPr>
              <a:spLocks noChangeArrowheads="1"/>
            </p:cNvSpPr>
            <p:nvPr/>
          </p:nvSpPr>
          <p:spPr bwMode="auto">
            <a:xfrm>
              <a:off x="4286" y="3657"/>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5</a:t>
              </a:r>
            </a:p>
          </p:txBody>
        </p:sp>
        <p:sp>
          <p:nvSpPr>
            <p:cNvPr id="10285" name="Rectangle 130"/>
            <p:cNvSpPr>
              <a:spLocks noChangeArrowheads="1"/>
            </p:cNvSpPr>
            <p:nvPr/>
          </p:nvSpPr>
          <p:spPr bwMode="auto">
            <a:xfrm>
              <a:off x="4830" y="338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8</a:t>
              </a:r>
            </a:p>
          </p:txBody>
        </p:sp>
        <p:sp>
          <p:nvSpPr>
            <p:cNvPr id="10286" name="Rectangle 131"/>
            <p:cNvSpPr>
              <a:spLocks noChangeArrowheads="1"/>
            </p:cNvSpPr>
            <p:nvPr/>
          </p:nvSpPr>
          <p:spPr bwMode="auto">
            <a:xfrm>
              <a:off x="2880" y="3385"/>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(b)</a:t>
              </a:r>
            </a:p>
          </p:txBody>
        </p:sp>
        <p:sp>
          <p:nvSpPr>
            <p:cNvPr id="10287" name="Rectangle 132"/>
            <p:cNvSpPr>
              <a:spLocks noChangeArrowheads="1"/>
            </p:cNvSpPr>
            <p:nvPr/>
          </p:nvSpPr>
          <p:spPr bwMode="auto">
            <a:xfrm>
              <a:off x="2880" y="1843"/>
              <a:ext cx="31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(a)</a:t>
              </a:r>
            </a:p>
          </p:txBody>
        </p:sp>
        <p:sp>
          <p:nvSpPr>
            <p:cNvPr id="10288" name="Rectangle 133"/>
            <p:cNvSpPr>
              <a:spLocks noChangeArrowheads="1"/>
            </p:cNvSpPr>
            <p:nvPr/>
          </p:nvSpPr>
          <p:spPr bwMode="auto">
            <a:xfrm>
              <a:off x="3606" y="3929"/>
              <a:ext cx="99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h(n)</a:t>
              </a:r>
              <a:r>
                <a:rPr lang="zh-CN" altLang="en-US" b="1">
                  <a:solidFill>
                    <a:srgbClr val="FF0000"/>
                  </a:solidFill>
                </a:rPr>
                <a:t>奇对称</a:t>
              </a:r>
            </a:p>
          </p:txBody>
        </p:sp>
        <p:sp>
          <p:nvSpPr>
            <p:cNvPr id="10289" name="Line 135"/>
            <p:cNvSpPr>
              <a:spLocks noChangeShapeType="1"/>
            </p:cNvSpPr>
            <p:nvPr/>
          </p:nvSpPr>
          <p:spPr bwMode="auto">
            <a:xfrm>
              <a:off x="3152" y="2160"/>
              <a:ext cx="2268" cy="0"/>
            </a:xfrm>
            <a:prstGeom prst="line">
              <a:avLst/>
            </a:prstGeom>
            <a:noFill/>
            <a:ln w="9525">
              <a:solidFill>
                <a:srgbClr val="FF66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0" name="Rectangle 136"/>
            <p:cNvSpPr>
              <a:spLocks noChangeArrowheads="1"/>
            </p:cNvSpPr>
            <p:nvPr/>
          </p:nvSpPr>
          <p:spPr bwMode="auto">
            <a:xfrm>
              <a:off x="5012" y="2205"/>
              <a:ext cx="27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10</a:t>
              </a:r>
            </a:p>
          </p:txBody>
        </p:sp>
        <p:sp>
          <p:nvSpPr>
            <p:cNvPr id="10291" name="Line 138"/>
            <p:cNvSpPr>
              <a:spLocks noChangeShapeType="1"/>
            </p:cNvSpPr>
            <p:nvPr/>
          </p:nvSpPr>
          <p:spPr bwMode="auto">
            <a:xfrm flipV="1">
              <a:off x="3833" y="2024"/>
              <a:ext cx="0" cy="137"/>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2" name="Line 139"/>
            <p:cNvSpPr>
              <a:spLocks noChangeShapeType="1"/>
            </p:cNvSpPr>
            <p:nvPr/>
          </p:nvSpPr>
          <p:spPr bwMode="auto">
            <a:xfrm>
              <a:off x="4014" y="2160"/>
              <a:ext cx="0" cy="272"/>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3" name="Line 140"/>
            <p:cNvSpPr>
              <a:spLocks noChangeShapeType="1"/>
            </p:cNvSpPr>
            <p:nvPr/>
          </p:nvSpPr>
          <p:spPr bwMode="auto">
            <a:xfrm flipV="1">
              <a:off x="4377" y="1888"/>
              <a:ext cx="0" cy="273"/>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4" name="Line 141"/>
            <p:cNvSpPr>
              <a:spLocks noChangeShapeType="1"/>
            </p:cNvSpPr>
            <p:nvPr/>
          </p:nvSpPr>
          <p:spPr bwMode="auto">
            <a:xfrm>
              <a:off x="3651" y="2160"/>
              <a:ext cx="0" cy="90"/>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5" name="Line 142"/>
            <p:cNvSpPr>
              <a:spLocks noChangeShapeType="1"/>
            </p:cNvSpPr>
            <p:nvPr/>
          </p:nvSpPr>
          <p:spPr bwMode="auto">
            <a:xfrm>
              <a:off x="4558" y="2160"/>
              <a:ext cx="0" cy="136"/>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6" name="Line 143"/>
            <p:cNvSpPr>
              <a:spLocks noChangeShapeType="1"/>
            </p:cNvSpPr>
            <p:nvPr/>
          </p:nvSpPr>
          <p:spPr bwMode="auto">
            <a:xfrm flipH="1" flipV="1">
              <a:off x="3470" y="1933"/>
              <a:ext cx="1" cy="228"/>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7" name="Line 144"/>
            <p:cNvSpPr>
              <a:spLocks noChangeShapeType="1"/>
            </p:cNvSpPr>
            <p:nvPr/>
          </p:nvSpPr>
          <p:spPr bwMode="auto">
            <a:xfrm flipH="1" flipV="1">
              <a:off x="4740" y="2069"/>
              <a:ext cx="1" cy="92"/>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8" name="Line 145"/>
            <p:cNvSpPr>
              <a:spLocks noChangeShapeType="1"/>
            </p:cNvSpPr>
            <p:nvPr/>
          </p:nvSpPr>
          <p:spPr bwMode="auto">
            <a:xfrm>
              <a:off x="4921" y="2160"/>
              <a:ext cx="0" cy="227"/>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99" name="Line 146"/>
            <p:cNvSpPr>
              <a:spLocks noChangeShapeType="1"/>
            </p:cNvSpPr>
            <p:nvPr/>
          </p:nvSpPr>
          <p:spPr bwMode="auto">
            <a:xfrm flipH="1">
              <a:off x="3288" y="2161"/>
              <a:ext cx="1" cy="135"/>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00" name="Line 147"/>
            <p:cNvSpPr>
              <a:spLocks noChangeShapeType="1"/>
            </p:cNvSpPr>
            <p:nvPr/>
          </p:nvSpPr>
          <p:spPr bwMode="auto">
            <a:xfrm flipV="1">
              <a:off x="3288" y="1752"/>
              <a:ext cx="0" cy="409"/>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01" name="Line 148"/>
            <p:cNvSpPr>
              <a:spLocks noChangeShapeType="1"/>
            </p:cNvSpPr>
            <p:nvPr/>
          </p:nvSpPr>
          <p:spPr bwMode="auto">
            <a:xfrm flipV="1">
              <a:off x="4195" y="1752"/>
              <a:ext cx="0" cy="680"/>
            </a:xfrm>
            <a:prstGeom prst="line">
              <a:avLst/>
            </a:prstGeom>
            <a:noFill/>
            <a:ln w="9525">
              <a:solidFill>
                <a:srgbClr val="FF0000"/>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02" name="Rectangle 149"/>
            <p:cNvSpPr>
              <a:spLocks noChangeArrowheads="1"/>
            </p:cNvSpPr>
            <p:nvPr/>
          </p:nvSpPr>
          <p:spPr bwMode="auto">
            <a:xfrm>
              <a:off x="3107" y="220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0</a:t>
              </a:r>
            </a:p>
          </p:txBody>
        </p:sp>
        <p:sp>
          <p:nvSpPr>
            <p:cNvPr id="10303" name="Rectangle 150"/>
            <p:cNvSpPr>
              <a:spLocks noChangeArrowheads="1"/>
            </p:cNvSpPr>
            <p:nvPr/>
          </p:nvSpPr>
          <p:spPr bwMode="auto">
            <a:xfrm>
              <a:off x="3606" y="1933"/>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2</a:t>
              </a:r>
            </a:p>
          </p:txBody>
        </p:sp>
        <p:sp>
          <p:nvSpPr>
            <p:cNvPr id="10304" name="Rectangle 151"/>
            <p:cNvSpPr>
              <a:spLocks noChangeArrowheads="1"/>
            </p:cNvSpPr>
            <p:nvPr/>
          </p:nvSpPr>
          <p:spPr bwMode="auto">
            <a:xfrm>
              <a:off x="3969" y="1933"/>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4</a:t>
              </a:r>
            </a:p>
          </p:txBody>
        </p:sp>
        <p:sp>
          <p:nvSpPr>
            <p:cNvPr id="10305" name="Rectangle 152"/>
            <p:cNvSpPr>
              <a:spLocks noChangeArrowheads="1"/>
            </p:cNvSpPr>
            <p:nvPr/>
          </p:nvSpPr>
          <p:spPr bwMode="auto">
            <a:xfrm>
              <a:off x="4332" y="220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6</a:t>
              </a:r>
            </a:p>
          </p:txBody>
        </p:sp>
        <p:sp>
          <p:nvSpPr>
            <p:cNvPr id="10306" name="Rectangle 153"/>
            <p:cNvSpPr>
              <a:spLocks noChangeArrowheads="1"/>
            </p:cNvSpPr>
            <p:nvPr/>
          </p:nvSpPr>
          <p:spPr bwMode="auto">
            <a:xfrm>
              <a:off x="4513" y="1933"/>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7</a:t>
              </a:r>
            </a:p>
          </p:txBody>
        </p:sp>
        <p:sp>
          <p:nvSpPr>
            <p:cNvPr id="10307" name="Rectangle 154"/>
            <p:cNvSpPr>
              <a:spLocks noChangeArrowheads="1"/>
            </p:cNvSpPr>
            <p:nvPr/>
          </p:nvSpPr>
          <p:spPr bwMode="auto">
            <a:xfrm>
              <a:off x="4876" y="1933"/>
              <a:ext cx="1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9</a:t>
              </a:r>
            </a:p>
          </p:txBody>
        </p:sp>
        <p:sp>
          <p:nvSpPr>
            <p:cNvPr id="10308" name="Rectangle 155"/>
            <p:cNvSpPr>
              <a:spLocks noChangeArrowheads="1"/>
            </p:cNvSpPr>
            <p:nvPr/>
          </p:nvSpPr>
          <p:spPr bwMode="auto">
            <a:xfrm>
              <a:off x="3424" y="220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1</a:t>
              </a:r>
            </a:p>
          </p:txBody>
        </p:sp>
        <p:sp>
          <p:nvSpPr>
            <p:cNvPr id="10309" name="Rectangle 156"/>
            <p:cNvSpPr>
              <a:spLocks noChangeArrowheads="1"/>
            </p:cNvSpPr>
            <p:nvPr/>
          </p:nvSpPr>
          <p:spPr bwMode="auto">
            <a:xfrm>
              <a:off x="3787" y="220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rPr>
                <a:t>3</a:t>
              </a:r>
            </a:p>
          </p:txBody>
        </p:sp>
        <p:sp>
          <p:nvSpPr>
            <p:cNvPr id="10310" name="Rectangle 157"/>
            <p:cNvSpPr>
              <a:spLocks noChangeArrowheads="1"/>
            </p:cNvSpPr>
            <p:nvPr/>
          </p:nvSpPr>
          <p:spPr bwMode="auto">
            <a:xfrm>
              <a:off x="4150" y="220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5</a:t>
              </a:r>
            </a:p>
          </p:txBody>
        </p:sp>
        <p:sp>
          <p:nvSpPr>
            <p:cNvPr id="10311" name="Rectangle 158"/>
            <p:cNvSpPr>
              <a:spLocks noChangeArrowheads="1"/>
            </p:cNvSpPr>
            <p:nvPr/>
          </p:nvSpPr>
          <p:spPr bwMode="auto">
            <a:xfrm>
              <a:off x="4695" y="220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tx2"/>
                  </a:solidFill>
                </a:rPr>
                <a:t>8</a:t>
              </a:r>
            </a:p>
          </p:txBody>
        </p:sp>
        <p:sp>
          <p:nvSpPr>
            <p:cNvPr id="10312" name="Oval 159"/>
            <p:cNvSpPr>
              <a:spLocks noChangeArrowheads="1"/>
            </p:cNvSpPr>
            <p:nvPr/>
          </p:nvSpPr>
          <p:spPr bwMode="auto">
            <a:xfrm>
              <a:off x="4174" y="2129"/>
              <a:ext cx="46" cy="45"/>
            </a:xfrm>
            <a:prstGeom prst="ellipse">
              <a:avLst/>
            </a:prstGeom>
            <a:solidFill>
              <a:srgbClr val="FF0000"/>
            </a:solidFill>
            <a:ln w="9525">
              <a:solidFill>
                <a:srgbClr val="FF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13" name="Line 160"/>
            <p:cNvSpPr>
              <a:spLocks noChangeShapeType="1"/>
            </p:cNvSpPr>
            <p:nvPr/>
          </p:nvSpPr>
          <p:spPr bwMode="auto">
            <a:xfrm flipH="1" flipV="1">
              <a:off x="5103" y="2024"/>
              <a:ext cx="1" cy="136"/>
            </a:xfrm>
            <a:prstGeom prst="line">
              <a:avLst/>
            </a:prstGeom>
            <a:noFill/>
            <a:ln w="952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14" name="Rectangle 161"/>
            <p:cNvSpPr>
              <a:spLocks noChangeArrowheads="1"/>
            </p:cNvSpPr>
            <p:nvPr/>
          </p:nvSpPr>
          <p:spPr bwMode="auto">
            <a:xfrm>
              <a:off x="5284" y="2205"/>
              <a:ext cx="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947205"/>
                                        </p:tgtEl>
                                        <p:attrNameLst>
                                          <p:attrName>style.visibility</p:attrName>
                                        </p:attrNameLst>
                                      </p:cBhvr>
                                      <p:to>
                                        <p:strVal val="visible"/>
                                      </p:to>
                                    </p:set>
                                    <p:animEffect transition="in" filter="slide(fromBottom)">
                                      <p:cBhvr>
                                        <p:cTn id="7" dur="500"/>
                                        <p:tgtEl>
                                          <p:spTgt spid="947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720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3917194-88B0-4031-AD5A-E712A8323645}" type="slidenum">
              <a:rPr lang="en-US" altLang="zh-CN" sz="1400"/>
              <a:pPr eaLnBrk="1" hangingPunct="1"/>
              <a:t>90</a:t>
            </a:fld>
            <a:endParaRPr lang="en-US" altLang="zh-CN" sz="1400"/>
          </a:p>
        </p:txBody>
      </p:sp>
      <p:sp>
        <p:nvSpPr>
          <p:cNvPr id="875522" name="Rectangle 2"/>
          <p:cNvSpPr>
            <a:spLocks noChangeArrowheads="1"/>
          </p:cNvSpPr>
          <p:nvPr/>
        </p:nvSpPr>
        <p:spPr bwMode="auto">
          <a:xfrm>
            <a:off x="250825" y="1371600"/>
            <a:ext cx="8497888"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000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例如，</a:t>
            </a:r>
            <a:r>
              <a:rPr lang="en-US" altLang="zh-CN" sz="2800" b="1">
                <a:latin typeface="宋体" panose="02010600030101010101" pitchFamily="2" charset="-122"/>
              </a:rPr>
              <a:t>N=8</a:t>
            </a:r>
            <a:r>
              <a:rPr lang="zh-CN" altLang="en-US" sz="2800" b="1">
                <a:latin typeface="宋体" panose="02010600030101010101" pitchFamily="2" charset="-122"/>
              </a:rPr>
              <a:t>的</a:t>
            </a:r>
            <a:r>
              <a:rPr lang="en-US" altLang="zh-CN" sz="2800" b="1">
                <a:latin typeface="宋体" panose="02010600030101010101" pitchFamily="2" charset="-122"/>
              </a:rPr>
              <a:t>FIR</a:t>
            </a:r>
            <a:r>
              <a:rPr lang="zh-CN" altLang="en-US" sz="2800" b="1">
                <a:latin typeface="宋体" panose="02010600030101010101" pitchFamily="2" charset="-122"/>
              </a:rPr>
              <a:t>滤波器，其输出方程为：</a:t>
            </a:r>
          </a:p>
          <a:p>
            <a:pPr algn="just"/>
            <a:r>
              <a:rPr lang="en-US" altLang="zh-CN" sz="2800" b="1">
                <a:latin typeface="宋体" panose="02010600030101010101" pitchFamily="2" charset="-122"/>
              </a:rPr>
              <a:t>y</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a:t>
            </a:r>
            <a:r>
              <a:rPr lang="en-US" altLang="zh-CN" sz="2800" b="1">
                <a:solidFill>
                  <a:schemeClr val="tx2"/>
                </a:solidFill>
                <a:latin typeface="宋体" panose="02010600030101010101" pitchFamily="2" charset="-122"/>
              </a:rPr>
              <a:t>h</a:t>
            </a:r>
            <a:r>
              <a:rPr lang="en-US" altLang="zh-CN" sz="2800" b="1" baseline="-30000">
                <a:solidFill>
                  <a:schemeClr val="tx2"/>
                </a:solidFill>
                <a:latin typeface="宋体" panose="02010600030101010101" pitchFamily="2" charset="-122"/>
              </a:rPr>
              <a:t>0</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a:t>
            </a:r>
            <a:r>
              <a:rPr lang="en-US" altLang="zh-CN" sz="2800" b="1">
                <a:solidFill>
                  <a:srgbClr val="FF00FF"/>
                </a:solidFill>
                <a:latin typeface="宋体" panose="02010600030101010101" pitchFamily="2" charset="-122"/>
              </a:rPr>
              <a:t>h</a:t>
            </a:r>
            <a:r>
              <a:rPr lang="en-US" altLang="zh-CN" sz="2800" b="1" baseline="-30000">
                <a:solidFill>
                  <a:srgbClr val="FF00FF"/>
                </a:solidFill>
                <a:latin typeface="宋体" panose="02010600030101010101" pitchFamily="2" charset="-122"/>
              </a:rPr>
              <a:t>1</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n-1</a:t>
            </a:r>
            <a:r>
              <a:rPr lang="zh-CN" altLang="en-US" sz="2800" b="1">
                <a:latin typeface="宋体" panose="02010600030101010101" pitchFamily="2" charset="-122"/>
              </a:rPr>
              <a:t>）</a:t>
            </a:r>
            <a:r>
              <a:rPr lang="en-US" altLang="zh-CN" sz="2800" b="1">
                <a:latin typeface="宋体" panose="02010600030101010101" pitchFamily="2" charset="-122"/>
              </a:rPr>
              <a:t>+</a:t>
            </a:r>
            <a:r>
              <a:rPr lang="en-US" altLang="zh-CN" sz="2800" b="1">
                <a:solidFill>
                  <a:srgbClr val="FF6600"/>
                </a:solidFill>
                <a:latin typeface="宋体" panose="02010600030101010101" pitchFamily="2" charset="-122"/>
              </a:rPr>
              <a:t>h</a:t>
            </a:r>
            <a:r>
              <a:rPr lang="en-US" altLang="zh-CN" sz="2800" b="1" baseline="-30000">
                <a:solidFill>
                  <a:srgbClr val="FF6600"/>
                </a:solidFill>
                <a:latin typeface="宋体" panose="02010600030101010101" pitchFamily="2" charset="-122"/>
              </a:rPr>
              <a:t>2</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n-2</a:t>
            </a:r>
            <a:r>
              <a:rPr lang="zh-CN" altLang="en-US" sz="2800" b="1">
                <a:latin typeface="宋体" panose="02010600030101010101" pitchFamily="2" charset="-122"/>
              </a:rPr>
              <a:t>）</a:t>
            </a:r>
            <a:r>
              <a:rPr lang="en-US" altLang="zh-CN" sz="2800" b="1">
                <a:latin typeface="宋体" panose="02010600030101010101" pitchFamily="2" charset="-122"/>
              </a:rPr>
              <a:t>+</a:t>
            </a:r>
            <a:r>
              <a:rPr lang="en-US" altLang="zh-CN" sz="2800" b="1">
                <a:solidFill>
                  <a:schemeClr val="folHlink"/>
                </a:solidFill>
                <a:latin typeface="宋体" panose="02010600030101010101" pitchFamily="2" charset="-122"/>
              </a:rPr>
              <a:t>h</a:t>
            </a:r>
            <a:r>
              <a:rPr lang="en-US" altLang="zh-CN" sz="2800" b="1" baseline="-30000">
                <a:solidFill>
                  <a:schemeClr val="folHlink"/>
                </a:solidFill>
                <a:latin typeface="宋体" panose="02010600030101010101" pitchFamily="2" charset="-122"/>
              </a:rPr>
              <a:t>3</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n-3</a:t>
            </a:r>
            <a:r>
              <a:rPr lang="zh-CN" altLang="en-US" sz="2800" b="1">
                <a:latin typeface="宋体" panose="02010600030101010101" pitchFamily="2" charset="-122"/>
              </a:rPr>
              <a:t>）</a:t>
            </a:r>
            <a:r>
              <a:rPr lang="en-US" altLang="zh-CN" sz="2800" b="1">
                <a:latin typeface="宋体" panose="02010600030101010101" pitchFamily="2" charset="-122"/>
              </a:rPr>
              <a:t>+</a:t>
            </a:r>
            <a:r>
              <a:rPr lang="en-US" altLang="zh-CN" sz="2800" b="1">
                <a:solidFill>
                  <a:schemeClr val="folHlink"/>
                </a:solidFill>
                <a:latin typeface="宋体" panose="02010600030101010101" pitchFamily="2" charset="-122"/>
              </a:rPr>
              <a:t>h</a:t>
            </a:r>
            <a:r>
              <a:rPr lang="en-US" altLang="zh-CN" sz="2800" b="1" baseline="-30000">
                <a:solidFill>
                  <a:schemeClr val="folHlink"/>
                </a:solidFill>
                <a:latin typeface="宋体" panose="02010600030101010101" pitchFamily="2" charset="-122"/>
              </a:rPr>
              <a:t>3</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n-4</a:t>
            </a:r>
            <a:r>
              <a:rPr lang="zh-CN" altLang="en-US" sz="2800" b="1">
                <a:latin typeface="宋体" panose="02010600030101010101" pitchFamily="2" charset="-122"/>
              </a:rPr>
              <a:t>）</a:t>
            </a:r>
            <a:r>
              <a:rPr lang="en-US" altLang="zh-CN" sz="2800" b="1">
                <a:latin typeface="宋体" panose="02010600030101010101" pitchFamily="2" charset="-122"/>
              </a:rPr>
              <a:t>+</a:t>
            </a:r>
            <a:r>
              <a:rPr lang="en-US" altLang="zh-CN" sz="2800" b="1">
                <a:solidFill>
                  <a:srgbClr val="FF6600"/>
                </a:solidFill>
                <a:latin typeface="宋体" panose="02010600030101010101" pitchFamily="2" charset="-122"/>
              </a:rPr>
              <a:t>h</a:t>
            </a:r>
            <a:r>
              <a:rPr lang="en-US" altLang="zh-CN" sz="2800" b="1" baseline="-30000">
                <a:solidFill>
                  <a:srgbClr val="FF6600"/>
                </a:solidFill>
                <a:latin typeface="宋体" panose="02010600030101010101" pitchFamily="2" charset="-122"/>
              </a:rPr>
              <a:t>2</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n-5</a:t>
            </a:r>
            <a:r>
              <a:rPr lang="zh-CN" altLang="en-US" sz="2800" b="1">
                <a:latin typeface="宋体" panose="02010600030101010101" pitchFamily="2" charset="-122"/>
              </a:rPr>
              <a:t>）</a:t>
            </a:r>
            <a:r>
              <a:rPr lang="en-US" altLang="zh-CN" sz="2800" b="1">
                <a:latin typeface="宋体" panose="02010600030101010101" pitchFamily="2" charset="-122"/>
              </a:rPr>
              <a:t>+</a:t>
            </a:r>
            <a:r>
              <a:rPr lang="en-US" altLang="zh-CN" sz="2800" b="1">
                <a:solidFill>
                  <a:srgbClr val="FF00FF"/>
                </a:solidFill>
                <a:latin typeface="宋体" panose="02010600030101010101" pitchFamily="2" charset="-122"/>
              </a:rPr>
              <a:t>h</a:t>
            </a:r>
            <a:r>
              <a:rPr lang="en-US" altLang="zh-CN" sz="2800" b="1" baseline="-30000">
                <a:solidFill>
                  <a:srgbClr val="FF00FF"/>
                </a:solidFill>
                <a:latin typeface="宋体" panose="02010600030101010101" pitchFamily="2" charset="-122"/>
              </a:rPr>
              <a:t>1</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n-6</a:t>
            </a:r>
            <a:r>
              <a:rPr lang="zh-CN" altLang="en-US" sz="2800" b="1">
                <a:latin typeface="宋体" panose="02010600030101010101" pitchFamily="2" charset="-122"/>
              </a:rPr>
              <a:t>）</a:t>
            </a:r>
            <a:r>
              <a:rPr lang="en-US" altLang="zh-CN" sz="2800" b="1">
                <a:latin typeface="宋体" panose="02010600030101010101" pitchFamily="2" charset="-122"/>
              </a:rPr>
              <a:t>+</a:t>
            </a:r>
            <a:r>
              <a:rPr lang="en-US" altLang="zh-CN" sz="2800" b="1">
                <a:solidFill>
                  <a:schemeClr val="tx2"/>
                </a:solidFill>
                <a:latin typeface="宋体" panose="02010600030101010101" pitchFamily="2" charset="-122"/>
              </a:rPr>
              <a:t>h</a:t>
            </a:r>
            <a:r>
              <a:rPr lang="en-US" altLang="zh-CN" sz="2800" b="1" baseline="-30000">
                <a:solidFill>
                  <a:schemeClr val="tx2"/>
                </a:solidFill>
                <a:latin typeface="宋体" panose="02010600030101010101" pitchFamily="2" charset="-122"/>
              </a:rPr>
              <a:t>0</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n-7</a:t>
            </a:r>
            <a:r>
              <a:rPr lang="zh-CN" altLang="en-US" sz="2800" b="1">
                <a:latin typeface="宋体" panose="02010600030101010101" pitchFamily="2" charset="-122"/>
              </a:rPr>
              <a:t>）</a:t>
            </a:r>
          </a:p>
          <a:p>
            <a:pPr algn="just"/>
            <a:r>
              <a:rPr lang="zh-CN" altLang="en-US" sz="2800" b="1">
                <a:latin typeface="宋体" panose="02010600030101010101" pitchFamily="2" charset="-122"/>
              </a:rPr>
              <a:t>总共有</a:t>
            </a:r>
            <a:r>
              <a:rPr lang="en-US" altLang="zh-CN" sz="2800" b="1">
                <a:latin typeface="宋体" panose="02010600030101010101" pitchFamily="2" charset="-122"/>
              </a:rPr>
              <a:t>8</a:t>
            </a:r>
            <a:r>
              <a:rPr lang="zh-CN" altLang="en-US" sz="2800" b="1">
                <a:latin typeface="宋体" panose="02010600030101010101" pitchFamily="2" charset="-122"/>
              </a:rPr>
              <a:t>次乘法和</a:t>
            </a:r>
            <a:r>
              <a:rPr lang="en-US" altLang="zh-CN" sz="2800" b="1">
                <a:latin typeface="宋体" panose="02010600030101010101" pitchFamily="2" charset="-122"/>
              </a:rPr>
              <a:t>7</a:t>
            </a:r>
            <a:r>
              <a:rPr lang="zh-CN" altLang="en-US" sz="2800" b="1">
                <a:latin typeface="宋体" panose="02010600030101010101" pitchFamily="2" charset="-122"/>
              </a:rPr>
              <a:t>次加法。如果利用对称性，可将其改写成： </a:t>
            </a:r>
          </a:p>
          <a:p>
            <a:pPr algn="just"/>
            <a:r>
              <a:rPr lang="en-US" altLang="zh-CN" sz="2800" b="1">
                <a:solidFill>
                  <a:srgbClr val="FF6600"/>
                </a:solidFill>
                <a:latin typeface="宋体" panose="02010600030101010101" pitchFamily="2" charset="-122"/>
              </a:rPr>
              <a:t>y</a:t>
            </a:r>
            <a:r>
              <a:rPr lang="zh-CN" altLang="en-US" sz="2800" b="1">
                <a:solidFill>
                  <a:srgbClr val="FF6600"/>
                </a:solidFill>
                <a:latin typeface="宋体" panose="02010600030101010101" pitchFamily="2" charset="-122"/>
              </a:rPr>
              <a:t>（</a:t>
            </a:r>
            <a:r>
              <a:rPr lang="en-US" altLang="zh-CN" sz="2800" b="1">
                <a:solidFill>
                  <a:srgbClr val="FF6600"/>
                </a:solidFill>
                <a:latin typeface="宋体" panose="02010600030101010101" pitchFamily="2" charset="-122"/>
              </a:rPr>
              <a:t>n</a:t>
            </a:r>
            <a:r>
              <a:rPr lang="zh-CN" altLang="en-US" sz="2800" b="1">
                <a:solidFill>
                  <a:srgbClr val="FF6600"/>
                </a:solidFill>
                <a:latin typeface="宋体" panose="02010600030101010101" pitchFamily="2" charset="-122"/>
              </a:rPr>
              <a:t>）</a:t>
            </a:r>
            <a:r>
              <a:rPr lang="en-US" altLang="zh-CN" sz="2800" b="1">
                <a:latin typeface="宋体" panose="02010600030101010101" pitchFamily="2" charset="-122"/>
              </a:rPr>
              <a:t>=</a:t>
            </a:r>
            <a:r>
              <a:rPr lang="en-US" altLang="zh-CN" sz="2800" b="1">
                <a:solidFill>
                  <a:schemeClr val="tx2"/>
                </a:solidFill>
                <a:latin typeface="宋体" panose="02010600030101010101" pitchFamily="2" charset="-122"/>
              </a:rPr>
              <a:t>h</a:t>
            </a:r>
            <a:r>
              <a:rPr lang="en-US" altLang="zh-CN" sz="2800" b="1" baseline="-30000">
                <a:solidFill>
                  <a:schemeClr val="tx2"/>
                </a:solidFill>
                <a:latin typeface="宋体" panose="02010600030101010101" pitchFamily="2" charset="-122"/>
              </a:rPr>
              <a:t>0</a:t>
            </a:r>
            <a:r>
              <a:rPr lang="en-US" altLang="zh-CN" sz="2800" b="1">
                <a:solidFill>
                  <a:srgbClr val="FF00FF"/>
                </a:solidFill>
                <a:latin typeface="宋体" panose="02010600030101010101" pitchFamily="2" charset="-122"/>
              </a:rPr>
              <a:t>[x</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+x</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n-7</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t>
            </a:r>
            <a:r>
              <a:rPr lang="en-US" altLang="zh-CN" sz="2800" b="1">
                <a:latin typeface="宋体" panose="02010600030101010101" pitchFamily="2" charset="-122"/>
              </a:rPr>
              <a:t>+</a:t>
            </a:r>
            <a:r>
              <a:rPr lang="en-US" altLang="zh-CN" sz="2800" b="1">
                <a:solidFill>
                  <a:schemeClr val="tx2"/>
                </a:solidFill>
                <a:latin typeface="宋体" panose="02010600030101010101" pitchFamily="2" charset="-122"/>
              </a:rPr>
              <a:t>h</a:t>
            </a:r>
            <a:r>
              <a:rPr lang="en-US" altLang="zh-CN" sz="2800" b="1" baseline="-30000">
                <a:solidFill>
                  <a:schemeClr val="tx2"/>
                </a:solidFill>
                <a:latin typeface="宋体" panose="02010600030101010101" pitchFamily="2" charset="-122"/>
              </a:rPr>
              <a:t>1</a:t>
            </a:r>
            <a:r>
              <a:rPr lang="en-US" altLang="zh-CN" sz="2800" b="1">
                <a:solidFill>
                  <a:srgbClr val="FF00FF"/>
                </a:solidFill>
                <a:latin typeface="宋体" panose="02010600030101010101" pitchFamily="2" charset="-122"/>
              </a:rPr>
              <a:t>[x</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n-1</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+x</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n-6</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t>
            </a:r>
            <a:r>
              <a:rPr lang="en-US" altLang="zh-CN" sz="2800" b="1">
                <a:latin typeface="宋体" panose="02010600030101010101" pitchFamily="2" charset="-122"/>
              </a:rPr>
              <a:t>+</a:t>
            </a:r>
            <a:r>
              <a:rPr lang="en-US" altLang="zh-CN" sz="2800" b="1">
                <a:solidFill>
                  <a:schemeClr val="tx2"/>
                </a:solidFill>
                <a:latin typeface="宋体" panose="02010600030101010101" pitchFamily="2" charset="-122"/>
              </a:rPr>
              <a:t>h</a:t>
            </a:r>
            <a:r>
              <a:rPr lang="en-US" altLang="zh-CN" sz="2800" b="1" baseline="-30000">
                <a:solidFill>
                  <a:schemeClr val="tx2"/>
                </a:solidFill>
                <a:latin typeface="宋体" panose="02010600030101010101" pitchFamily="2" charset="-122"/>
              </a:rPr>
              <a:t>2</a:t>
            </a:r>
            <a:r>
              <a:rPr lang="en-US" altLang="zh-CN" sz="2800" b="1">
                <a:solidFill>
                  <a:srgbClr val="FF00FF"/>
                </a:solidFill>
                <a:latin typeface="宋体" panose="02010600030101010101" pitchFamily="2" charset="-122"/>
              </a:rPr>
              <a:t>[x</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n-2</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+x</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n-5</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t>
            </a:r>
            <a:r>
              <a:rPr lang="en-US" altLang="zh-CN" sz="2800" b="1">
                <a:latin typeface="宋体" panose="02010600030101010101" pitchFamily="2" charset="-122"/>
              </a:rPr>
              <a:t>+</a:t>
            </a:r>
            <a:r>
              <a:rPr lang="en-US" altLang="zh-CN" sz="2800" b="1">
                <a:solidFill>
                  <a:schemeClr val="tx2"/>
                </a:solidFill>
                <a:latin typeface="宋体" panose="02010600030101010101" pitchFamily="2" charset="-122"/>
              </a:rPr>
              <a:t>h</a:t>
            </a:r>
            <a:r>
              <a:rPr lang="en-US" altLang="zh-CN" sz="2800" b="1" baseline="-30000">
                <a:solidFill>
                  <a:schemeClr val="tx2"/>
                </a:solidFill>
                <a:latin typeface="宋体" panose="02010600030101010101" pitchFamily="2" charset="-122"/>
              </a:rPr>
              <a:t>3</a:t>
            </a:r>
            <a:r>
              <a:rPr lang="en-US" altLang="zh-CN" sz="2800" b="1">
                <a:solidFill>
                  <a:srgbClr val="FF00FF"/>
                </a:solidFill>
                <a:latin typeface="宋体" panose="02010600030101010101" pitchFamily="2" charset="-122"/>
              </a:rPr>
              <a:t>[x</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n-3</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+x</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n-4</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t>
            </a:r>
          </a:p>
          <a:p>
            <a:r>
              <a:rPr lang="zh-CN" altLang="en-US" sz="2800" b="1">
                <a:latin typeface="宋体" panose="02010600030101010101" pitchFamily="2" charset="-122"/>
              </a:rPr>
              <a:t>变成</a:t>
            </a:r>
            <a:r>
              <a:rPr lang="en-US" altLang="zh-CN" sz="2800" b="1">
                <a:latin typeface="宋体" panose="02010600030101010101" pitchFamily="2" charset="-122"/>
              </a:rPr>
              <a:t>4</a:t>
            </a:r>
            <a:r>
              <a:rPr lang="zh-CN" altLang="en-US" sz="2800" b="1">
                <a:latin typeface="宋体" panose="02010600030101010101" pitchFamily="2" charset="-122"/>
              </a:rPr>
              <a:t>次乘法和</a:t>
            </a:r>
            <a:r>
              <a:rPr lang="en-US" altLang="zh-CN" sz="2800" b="1">
                <a:latin typeface="宋体" panose="02010600030101010101" pitchFamily="2" charset="-122"/>
              </a:rPr>
              <a:t>7</a:t>
            </a:r>
            <a:r>
              <a:rPr lang="zh-CN" altLang="en-US" sz="2800" b="1">
                <a:latin typeface="宋体" panose="02010600030101010101" pitchFamily="2" charset="-122"/>
              </a:rPr>
              <a:t>次加法。可见乘法运算的次数少了一半。这是对称</a:t>
            </a:r>
            <a:r>
              <a:rPr lang="en-US" altLang="zh-CN" sz="2800" b="1">
                <a:latin typeface="宋体" panose="02010600030101010101" pitchFamily="2" charset="-122"/>
              </a:rPr>
              <a:t>FIR</a:t>
            </a:r>
            <a:r>
              <a:rPr lang="zh-CN" altLang="en-US" sz="2800" b="1">
                <a:latin typeface="宋体" panose="02010600030101010101" pitchFamily="2" charset="-122"/>
              </a:rPr>
              <a:t>的一个优点。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75522"/>
                                        </p:tgtEl>
                                        <p:attrNameLst>
                                          <p:attrName>style.visibility</p:attrName>
                                        </p:attrNameLst>
                                      </p:cBhvr>
                                      <p:to>
                                        <p:strVal val="visible"/>
                                      </p:to>
                                    </p:set>
                                    <p:animEffect transition="in" filter="blinds(vertical)">
                                      <p:cBhvr>
                                        <p:cTn id="7" dur="500"/>
                                        <p:tgtEl>
                                          <p:spTgt spid="875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2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2267812-AD38-441B-9E48-FB08DDC59750}" type="slidenum">
              <a:rPr lang="en-US" altLang="zh-CN" sz="1400"/>
              <a:pPr eaLnBrk="1" hangingPunct="1"/>
              <a:t>91</a:t>
            </a:fld>
            <a:endParaRPr lang="en-US" altLang="zh-CN" sz="1400"/>
          </a:p>
        </p:txBody>
      </p:sp>
      <p:sp>
        <p:nvSpPr>
          <p:cNvPr id="876546" name="Rectangle 2"/>
          <p:cNvSpPr>
            <a:spLocks noChangeArrowheads="1"/>
          </p:cNvSpPr>
          <p:nvPr/>
        </p:nvSpPr>
        <p:spPr bwMode="auto">
          <a:xfrm>
            <a:off x="533400" y="1143000"/>
            <a:ext cx="80010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rgbClr val="FF00FF"/>
                </a:solidFill>
                <a:latin typeface="宋体" panose="02010600030101010101" pitchFamily="2" charset="-122"/>
              </a:rPr>
              <a:t>对称</a:t>
            </a:r>
            <a:r>
              <a:rPr lang="en-US" altLang="zh-CN" sz="2800" b="1">
                <a:solidFill>
                  <a:srgbClr val="FF00FF"/>
                </a:solidFill>
                <a:latin typeface="宋体" panose="02010600030101010101" pitchFamily="2" charset="-122"/>
              </a:rPr>
              <a:t>FIR</a:t>
            </a:r>
            <a:r>
              <a:rPr lang="zh-CN" altLang="en-US" sz="2800" b="1">
                <a:solidFill>
                  <a:srgbClr val="FF00FF"/>
                </a:solidFill>
                <a:latin typeface="宋体" panose="02010600030101010101" pitchFamily="2" charset="-122"/>
              </a:rPr>
              <a:t>滤波器的实现可按如下步骤进行：</a:t>
            </a:r>
            <a:endParaRPr lang="zh-CN" altLang="en-US" sz="2800" b="1">
              <a:solidFill>
                <a:srgbClr val="FF00FF"/>
              </a:solidFill>
            </a:endParaRPr>
          </a:p>
          <a:p>
            <a:pPr algn="just"/>
            <a:r>
              <a:rPr lang="en-US" altLang="zh-CN" sz="2800" b="1">
                <a:solidFill>
                  <a:schemeClr val="folHlink"/>
                </a:solidFill>
                <a:latin typeface="宋体" panose="02010600030101010101" pitchFamily="2" charset="-122"/>
              </a:rPr>
              <a:t>(1) </a:t>
            </a:r>
            <a:r>
              <a:rPr lang="zh-CN" altLang="en-US" sz="2800" b="1">
                <a:solidFill>
                  <a:schemeClr val="folHlink"/>
                </a:solidFill>
                <a:latin typeface="宋体" panose="02010600030101010101" pitchFamily="2" charset="-122"/>
              </a:rPr>
              <a:t>将数据存储器分为新旧两个循环缓冲区，</a:t>
            </a:r>
            <a:r>
              <a:rPr lang="en-US" altLang="zh-CN" sz="2800" b="1">
                <a:solidFill>
                  <a:schemeClr val="folHlink"/>
                </a:solidFill>
                <a:latin typeface="宋体" panose="02010600030101010101" pitchFamily="2" charset="-122"/>
              </a:rPr>
              <a:t>New</a:t>
            </a:r>
            <a:r>
              <a:rPr lang="zh-CN" altLang="en-US" sz="2800" b="1">
                <a:solidFill>
                  <a:schemeClr val="folHlink"/>
                </a:solidFill>
                <a:latin typeface="宋体" panose="02010600030101010101" pitchFamily="2" charset="-122"/>
              </a:rPr>
              <a:t>循环缓冲区中存放</a:t>
            </a:r>
            <a:r>
              <a:rPr lang="en-US" altLang="zh-CN" sz="2800" b="1">
                <a:solidFill>
                  <a:schemeClr val="folHlink"/>
                </a:solidFill>
                <a:latin typeface="宋体" panose="02010600030101010101" pitchFamily="2" charset="-122"/>
              </a:rPr>
              <a:t>N/2=4</a:t>
            </a:r>
            <a:r>
              <a:rPr lang="zh-CN" altLang="en-US" sz="2800" b="1">
                <a:solidFill>
                  <a:schemeClr val="folHlink"/>
                </a:solidFill>
                <a:latin typeface="宋体" panose="02010600030101010101" pitchFamily="2" charset="-122"/>
              </a:rPr>
              <a:t>个新数据；</a:t>
            </a:r>
            <a:r>
              <a:rPr lang="en-US" altLang="zh-CN" sz="2800" b="1">
                <a:solidFill>
                  <a:schemeClr val="tx2"/>
                </a:solidFill>
                <a:latin typeface="宋体" panose="02010600030101010101" pitchFamily="2" charset="-122"/>
              </a:rPr>
              <a:t>Old</a:t>
            </a:r>
            <a:r>
              <a:rPr lang="zh-CN" altLang="en-US" sz="2800" b="1">
                <a:solidFill>
                  <a:schemeClr val="tx2"/>
                </a:solidFill>
                <a:latin typeface="宋体" panose="02010600030101010101" pitchFamily="2" charset="-122"/>
              </a:rPr>
              <a:t>循环缓冲区中存放</a:t>
            </a:r>
            <a:r>
              <a:rPr lang="en-US" altLang="zh-CN" sz="2800" b="1">
                <a:solidFill>
                  <a:schemeClr val="tx2"/>
                </a:solidFill>
                <a:latin typeface="宋体" panose="02010600030101010101" pitchFamily="2" charset="-122"/>
              </a:rPr>
              <a:t>N/2=4</a:t>
            </a:r>
            <a:r>
              <a:rPr lang="zh-CN" altLang="en-US" sz="2800" b="1">
                <a:solidFill>
                  <a:schemeClr val="tx2"/>
                </a:solidFill>
                <a:latin typeface="宋体" panose="02010600030101010101" pitchFamily="2" charset="-122"/>
              </a:rPr>
              <a:t>个老数据。每个循环缓冲区的长度为</a:t>
            </a:r>
            <a:r>
              <a:rPr lang="en-US" altLang="zh-CN" sz="2800" b="1">
                <a:solidFill>
                  <a:schemeClr val="tx2"/>
                </a:solidFill>
                <a:latin typeface="宋体" panose="02010600030101010101" pitchFamily="2" charset="-122"/>
              </a:rPr>
              <a:t>N/2</a:t>
            </a:r>
            <a:r>
              <a:rPr lang="zh-CN" altLang="en-US" sz="2800" b="1">
                <a:solidFill>
                  <a:schemeClr val="tx2"/>
                </a:solidFill>
                <a:latin typeface="宋体" panose="02010600030101010101" pitchFamily="2" charset="-122"/>
              </a:rPr>
              <a:t>。</a:t>
            </a:r>
            <a:endParaRPr lang="zh-CN" altLang="en-US" sz="2800" b="1">
              <a:solidFill>
                <a:schemeClr val="tx2"/>
              </a:solidFill>
            </a:endParaRPr>
          </a:p>
        </p:txBody>
      </p:sp>
      <p:sp>
        <p:nvSpPr>
          <p:cNvPr id="98308" name="Text Box 19"/>
          <p:cNvSpPr txBox="1">
            <a:spLocks noChangeArrowheads="1"/>
          </p:cNvSpPr>
          <p:nvPr/>
        </p:nvSpPr>
        <p:spPr bwMode="auto">
          <a:xfrm>
            <a:off x="611188" y="4005263"/>
            <a:ext cx="2087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New</a:t>
            </a:r>
            <a:r>
              <a:rPr lang="zh-CN" altLang="en-US" sz="2000" b="1">
                <a:solidFill>
                  <a:srgbClr val="FF6600"/>
                </a:solidFill>
              </a:rPr>
              <a:t>循环缓冲区</a:t>
            </a:r>
          </a:p>
        </p:txBody>
      </p:sp>
      <p:sp>
        <p:nvSpPr>
          <p:cNvPr id="98309" name="Text Box 22"/>
          <p:cNvSpPr txBox="1">
            <a:spLocks noChangeArrowheads="1"/>
          </p:cNvSpPr>
          <p:nvPr/>
        </p:nvSpPr>
        <p:spPr bwMode="auto">
          <a:xfrm>
            <a:off x="2627313" y="4508500"/>
            <a:ext cx="696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AR2</a:t>
            </a:r>
            <a:endParaRPr lang="en-US" altLang="zh-CN" sz="2000">
              <a:solidFill>
                <a:srgbClr val="FF6600"/>
              </a:solidFill>
            </a:endParaRPr>
          </a:p>
        </p:txBody>
      </p:sp>
      <p:sp>
        <p:nvSpPr>
          <p:cNvPr id="98310" name="Line 23"/>
          <p:cNvSpPr>
            <a:spLocks noChangeShapeType="1"/>
          </p:cNvSpPr>
          <p:nvPr/>
        </p:nvSpPr>
        <p:spPr bwMode="auto">
          <a:xfrm flipH="1">
            <a:off x="2266950" y="4724400"/>
            <a:ext cx="360363"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8311" name="Text Box 24"/>
          <p:cNvSpPr txBox="1">
            <a:spLocks noChangeArrowheads="1"/>
          </p:cNvSpPr>
          <p:nvPr/>
        </p:nvSpPr>
        <p:spPr bwMode="auto">
          <a:xfrm>
            <a:off x="3225800" y="4529138"/>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88h</a:t>
            </a:r>
            <a:endParaRPr lang="en-US" altLang="zh-CN" sz="2000" b="1" baseline="-25000">
              <a:solidFill>
                <a:schemeClr val="tx2"/>
              </a:solidFill>
            </a:endParaRPr>
          </a:p>
        </p:txBody>
      </p:sp>
      <p:sp>
        <p:nvSpPr>
          <p:cNvPr id="98312" name="Text Box 25"/>
          <p:cNvSpPr txBox="1">
            <a:spLocks noChangeArrowheads="1"/>
          </p:cNvSpPr>
          <p:nvPr/>
        </p:nvSpPr>
        <p:spPr bwMode="auto">
          <a:xfrm>
            <a:off x="3225800" y="4960938"/>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89h</a:t>
            </a:r>
            <a:endParaRPr lang="en-US" altLang="zh-CN" sz="2000" b="1" baseline="-25000">
              <a:solidFill>
                <a:schemeClr val="tx2"/>
              </a:solidFill>
            </a:endParaRPr>
          </a:p>
        </p:txBody>
      </p:sp>
      <p:sp>
        <p:nvSpPr>
          <p:cNvPr id="98313" name="Text Box 26"/>
          <p:cNvSpPr txBox="1">
            <a:spLocks noChangeArrowheads="1"/>
          </p:cNvSpPr>
          <p:nvPr/>
        </p:nvSpPr>
        <p:spPr bwMode="auto">
          <a:xfrm>
            <a:off x="3251200" y="5353050"/>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8Ah</a:t>
            </a:r>
            <a:endParaRPr lang="en-US" altLang="zh-CN" sz="2000" b="1" baseline="-25000">
              <a:solidFill>
                <a:schemeClr val="tx2"/>
              </a:solidFill>
            </a:endParaRPr>
          </a:p>
        </p:txBody>
      </p:sp>
      <p:sp>
        <p:nvSpPr>
          <p:cNvPr id="98314" name="Text Box 27"/>
          <p:cNvSpPr txBox="1">
            <a:spLocks noChangeArrowheads="1"/>
          </p:cNvSpPr>
          <p:nvPr/>
        </p:nvSpPr>
        <p:spPr bwMode="auto">
          <a:xfrm>
            <a:off x="3251200" y="5753100"/>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8Bh</a:t>
            </a:r>
            <a:endParaRPr lang="en-US" altLang="zh-CN" sz="2000" b="1" baseline="-25000">
              <a:solidFill>
                <a:schemeClr val="tx2"/>
              </a:solidFill>
            </a:endParaRPr>
          </a:p>
        </p:txBody>
      </p:sp>
      <p:sp>
        <p:nvSpPr>
          <p:cNvPr id="98315" name="Text Box 37"/>
          <p:cNvSpPr txBox="1">
            <a:spLocks noChangeArrowheads="1"/>
          </p:cNvSpPr>
          <p:nvPr/>
        </p:nvSpPr>
        <p:spPr bwMode="auto">
          <a:xfrm>
            <a:off x="323850" y="4508500"/>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80h</a:t>
            </a:r>
            <a:endParaRPr lang="en-US" altLang="zh-CN" sz="2000" b="1" baseline="-25000">
              <a:solidFill>
                <a:schemeClr val="tx2"/>
              </a:solidFill>
            </a:endParaRPr>
          </a:p>
        </p:txBody>
      </p:sp>
      <p:sp>
        <p:nvSpPr>
          <p:cNvPr id="98316" name="Text Box 38"/>
          <p:cNvSpPr txBox="1">
            <a:spLocks noChangeArrowheads="1"/>
          </p:cNvSpPr>
          <p:nvPr/>
        </p:nvSpPr>
        <p:spPr bwMode="auto">
          <a:xfrm>
            <a:off x="323850" y="4940300"/>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81h</a:t>
            </a:r>
            <a:endParaRPr lang="en-US" altLang="zh-CN" sz="2000" b="1" baseline="-25000">
              <a:solidFill>
                <a:schemeClr val="tx2"/>
              </a:solidFill>
            </a:endParaRPr>
          </a:p>
        </p:txBody>
      </p:sp>
      <p:sp>
        <p:nvSpPr>
          <p:cNvPr id="98317" name="Text Box 39"/>
          <p:cNvSpPr txBox="1">
            <a:spLocks noChangeArrowheads="1"/>
          </p:cNvSpPr>
          <p:nvPr/>
        </p:nvSpPr>
        <p:spPr bwMode="auto">
          <a:xfrm>
            <a:off x="349250" y="5332413"/>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82h</a:t>
            </a:r>
            <a:endParaRPr lang="en-US" altLang="zh-CN" sz="2000" b="1" baseline="-25000">
              <a:solidFill>
                <a:schemeClr val="tx2"/>
              </a:solidFill>
            </a:endParaRPr>
          </a:p>
        </p:txBody>
      </p:sp>
      <p:sp>
        <p:nvSpPr>
          <p:cNvPr id="98318" name="Text Box 40"/>
          <p:cNvSpPr txBox="1">
            <a:spLocks noChangeArrowheads="1"/>
          </p:cNvSpPr>
          <p:nvPr/>
        </p:nvSpPr>
        <p:spPr bwMode="auto">
          <a:xfrm>
            <a:off x="349250" y="5732463"/>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83h</a:t>
            </a:r>
            <a:endParaRPr lang="en-US" altLang="zh-CN" sz="2000" b="1" baseline="-25000">
              <a:solidFill>
                <a:schemeClr val="tx2"/>
              </a:solidFill>
            </a:endParaRPr>
          </a:p>
        </p:txBody>
      </p:sp>
      <p:sp>
        <p:nvSpPr>
          <p:cNvPr id="98319" name="Text Box 42"/>
          <p:cNvSpPr txBox="1">
            <a:spLocks noChangeArrowheads="1"/>
          </p:cNvSpPr>
          <p:nvPr/>
        </p:nvSpPr>
        <p:spPr bwMode="auto">
          <a:xfrm>
            <a:off x="4016375" y="452755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660066"/>
                </a:solidFill>
              </a:rPr>
              <a:t>x(n-4)</a:t>
            </a:r>
            <a:endParaRPr lang="en-US" altLang="zh-CN" sz="2000" b="1" baseline="-25000">
              <a:solidFill>
                <a:srgbClr val="660066"/>
              </a:solidFill>
            </a:endParaRPr>
          </a:p>
        </p:txBody>
      </p:sp>
      <p:sp>
        <p:nvSpPr>
          <p:cNvPr id="98320" name="Text Box 43"/>
          <p:cNvSpPr txBox="1">
            <a:spLocks noChangeArrowheads="1"/>
          </p:cNvSpPr>
          <p:nvPr/>
        </p:nvSpPr>
        <p:spPr bwMode="auto">
          <a:xfrm>
            <a:off x="4016375" y="492760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660066"/>
                </a:solidFill>
              </a:rPr>
              <a:t>x(n-5)</a:t>
            </a:r>
          </a:p>
        </p:txBody>
      </p:sp>
      <p:sp>
        <p:nvSpPr>
          <p:cNvPr id="98321" name="Text Box 44"/>
          <p:cNvSpPr txBox="1">
            <a:spLocks noChangeArrowheads="1"/>
          </p:cNvSpPr>
          <p:nvPr/>
        </p:nvSpPr>
        <p:spPr bwMode="auto">
          <a:xfrm>
            <a:off x="4016375" y="532765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660066"/>
                </a:solidFill>
              </a:rPr>
              <a:t>x(n-6)</a:t>
            </a:r>
          </a:p>
        </p:txBody>
      </p:sp>
      <p:sp>
        <p:nvSpPr>
          <p:cNvPr id="98322" name="Text Box 45"/>
          <p:cNvSpPr txBox="1">
            <a:spLocks noChangeArrowheads="1"/>
          </p:cNvSpPr>
          <p:nvPr/>
        </p:nvSpPr>
        <p:spPr bwMode="auto">
          <a:xfrm>
            <a:off x="4016375" y="572928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660066"/>
                </a:solidFill>
              </a:rPr>
              <a:t>x(n-7)</a:t>
            </a:r>
          </a:p>
        </p:txBody>
      </p:sp>
      <p:sp>
        <p:nvSpPr>
          <p:cNvPr id="98323" name="Text Box 46"/>
          <p:cNvSpPr txBox="1">
            <a:spLocks noChangeArrowheads="1"/>
          </p:cNvSpPr>
          <p:nvPr/>
        </p:nvSpPr>
        <p:spPr bwMode="auto">
          <a:xfrm>
            <a:off x="3441700" y="4024313"/>
            <a:ext cx="2016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Old</a:t>
            </a:r>
            <a:r>
              <a:rPr lang="zh-CN" altLang="en-US" sz="2000" b="1">
                <a:solidFill>
                  <a:srgbClr val="FF6600"/>
                </a:solidFill>
              </a:rPr>
              <a:t>循环缓冲区</a:t>
            </a:r>
          </a:p>
        </p:txBody>
      </p:sp>
      <p:sp>
        <p:nvSpPr>
          <p:cNvPr id="98324" name="Text Box 52"/>
          <p:cNvSpPr txBox="1">
            <a:spLocks noChangeArrowheads="1"/>
          </p:cNvSpPr>
          <p:nvPr/>
        </p:nvSpPr>
        <p:spPr bwMode="auto">
          <a:xfrm>
            <a:off x="5867400" y="4437063"/>
            <a:ext cx="938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COEF</a:t>
            </a:r>
            <a:endParaRPr lang="en-US" altLang="zh-CN" sz="2000" b="1" baseline="-25000">
              <a:solidFill>
                <a:schemeClr val="tx2"/>
              </a:solidFill>
            </a:endParaRPr>
          </a:p>
        </p:txBody>
      </p:sp>
      <p:sp>
        <p:nvSpPr>
          <p:cNvPr id="98325" name="Text Box 55"/>
          <p:cNvSpPr txBox="1">
            <a:spLocks noChangeArrowheads="1"/>
          </p:cNvSpPr>
          <p:nvPr/>
        </p:nvSpPr>
        <p:spPr bwMode="auto">
          <a:xfrm>
            <a:off x="7739063" y="4437063"/>
            <a:ext cx="1081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t>低地址</a:t>
            </a:r>
            <a:endParaRPr lang="zh-CN" altLang="en-US" sz="2000" b="1" baseline="-25000"/>
          </a:p>
        </p:txBody>
      </p:sp>
      <p:sp>
        <p:nvSpPr>
          <p:cNvPr id="98326" name="Text Box 56"/>
          <p:cNvSpPr txBox="1">
            <a:spLocks noChangeArrowheads="1"/>
          </p:cNvSpPr>
          <p:nvPr/>
        </p:nvSpPr>
        <p:spPr bwMode="auto">
          <a:xfrm>
            <a:off x="6873875" y="443706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h</a:t>
            </a:r>
            <a:r>
              <a:rPr lang="en-US" altLang="zh-CN" sz="2000" b="1" baseline="-25000">
                <a:solidFill>
                  <a:schemeClr val="folHlink"/>
                </a:solidFill>
              </a:rPr>
              <a:t>0</a:t>
            </a:r>
          </a:p>
        </p:txBody>
      </p:sp>
      <p:sp>
        <p:nvSpPr>
          <p:cNvPr id="98327" name="Text Box 57"/>
          <p:cNvSpPr txBox="1">
            <a:spLocks noChangeArrowheads="1"/>
          </p:cNvSpPr>
          <p:nvPr/>
        </p:nvSpPr>
        <p:spPr bwMode="auto">
          <a:xfrm>
            <a:off x="6873875" y="483711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h</a:t>
            </a:r>
            <a:r>
              <a:rPr lang="en-US" altLang="zh-CN" sz="2000" b="1" baseline="-25000">
                <a:solidFill>
                  <a:schemeClr val="folHlink"/>
                </a:solidFill>
              </a:rPr>
              <a:t>1</a:t>
            </a:r>
          </a:p>
        </p:txBody>
      </p:sp>
      <p:sp>
        <p:nvSpPr>
          <p:cNvPr id="98328" name="Text Box 58"/>
          <p:cNvSpPr txBox="1">
            <a:spLocks noChangeArrowheads="1"/>
          </p:cNvSpPr>
          <p:nvPr/>
        </p:nvSpPr>
        <p:spPr bwMode="auto">
          <a:xfrm>
            <a:off x="6873875" y="5237163"/>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h</a:t>
            </a:r>
            <a:r>
              <a:rPr lang="en-US" altLang="zh-CN" sz="2000" b="1" baseline="-25000">
                <a:solidFill>
                  <a:schemeClr val="folHlink"/>
                </a:solidFill>
              </a:rPr>
              <a:t>2</a:t>
            </a:r>
          </a:p>
        </p:txBody>
      </p:sp>
      <p:sp>
        <p:nvSpPr>
          <p:cNvPr id="98329" name="Text Box 59"/>
          <p:cNvSpPr txBox="1">
            <a:spLocks noChangeArrowheads="1"/>
          </p:cNvSpPr>
          <p:nvPr/>
        </p:nvSpPr>
        <p:spPr bwMode="auto">
          <a:xfrm>
            <a:off x="6873875" y="563880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h</a:t>
            </a:r>
            <a:r>
              <a:rPr lang="en-US" altLang="zh-CN" sz="2000" b="1" baseline="-25000">
                <a:solidFill>
                  <a:schemeClr val="folHlink"/>
                </a:solidFill>
              </a:rPr>
              <a:t>3</a:t>
            </a:r>
          </a:p>
        </p:txBody>
      </p:sp>
      <p:sp>
        <p:nvSpPr>
          <p:cNvPr id="98330" name="Text Box 60"/>
          <p:cNvSpPr txBox="1">
            <a:spLocks noChangeArrowheads="1"/>
          </p:cNvSpPr>
          <p:nvPr/>
        </p:nvSpPr>
        <p:spPr bwMode="auto">
          <a:xfrm>
            <a:off x="6804025" y="3933825"/>
            <a:ext cx="1150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FF6600"/>
                </a:solidFill>
              </a:rPr>
              <a:t>系数表</a:t>
            </a:r>
          </a:p>
        </p:txBody>
      </p:sp>
      <p:sp>
        <p:nvSpPr>
          <p:cNvPr id="98331" name="Text Box 61"/>
          <p:cNvSpPr txBox="1">
            <a:spLocks noChangeArrowheads="1"/>
          </p:cNvSpPr>
          <p:nvPr/>
        </p:nvSpPr>
        <p:spPr bwMode="auto">
          <a:xfrm>
            <a:off x="5457825" y="5680075"/>
            <a:ext cx="696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6600"/>
                </a:solidFill>
              </a:rPr>
              <a:t>AR3</a:t>
            </a:r>
            <a:endParaRPr lang="en-US" altLang="zh-CN" sz="2000">
              <a:solidFill>
                <a:srgbClr val="FF6600"/>
              </a:solidFill>
            </a:endParaRPr>
          </a:p>
        </p:txBody>
      </p:sp>
      <p:sp>
        <p:nvSpPr>
          <p:cNvPr id="98332" name="Line 62"/>
          <p:cNvSpPr>
            <a:spLocks noChangeShapeType="1"/>
          </p:cNvSpPr>
          <p:nvPr/>
        </p:nvSpPr>
        <p:spPr bwMode="auto">
          <a:xfrm flipH="1">
            <a:off x="5097463" y="5895975"/>
            <a:ext cx="360362" cy="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8333" name="Text Box 63"/>
          <p:cNvSpPr txBox="1">
            <a:spLocks noChangeArrowheads="1"/>
          </p:cNvSpPr>
          <p:nvPr/>
        </p:nvSpPr>
        <p:spPr bwMode="auto">
          <a:xfrm>
            <a:off x="1114425" y="450850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x(n)</a:t>
            </a:r>
            <a:endParaRPr lang="en-US" altLang="zh-CN" sz="2000" b="1" baseline="-25000">
              <a:solidFill>
                <a:schemeClr val="folHlink"/>
              </a:solidFill>
            </a:endParaRPr>
          </a:p>
        </p:txBody>
      </p:sp>
      <p:sp>
        <p:nvSpPr>
          <p:cNvPr id="98334" name="Text Box 64"/>
          <p:cNvSpPr txBox="1">
            <a:spLocks noChangeArrowheads="1"/>
          </p:cNvSpPr>
          <p:nvPr/>
        </p:nvSpPr>
        <p:spPr bwMode="auto">
          <a:xfrm>
            <a:off x="1114425" y="490855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x(n-3)</a:t>
            </a:r>
          </a:p>
        </p:txBody>
      </p:sp>
      <p:sp>
        <p:nvSpPr>
          <p:cNvPr id="98335" name="Text Box 65"/>
          <p:cNvSpPr txBox="1">
            <a:spLocks noChangeArrowheads="1"/>
          </p:cNvSpPr>
          <p:nvPr/>
        </p:nvSpPr>
        <p:spPr bwMode="auto">
          <a:xfrm>
            <a:off x="1114425" y="530860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x(n-2)</a:t>
            </a:r>
          </a:p>
        </p:txBody>
      </p:sp>
      <p:sp>
        <p:nvSpPr>
          <p:cNvPr id="98336" name="Text Box 66"/>
          <p:cNvSpPr txBox="1">
            <a:spLocks noChangeArrowheads="1"/>
          </p:cNvSpPr>
          <p:nvPr/>
        </p:nvSpPr>
        <p:spPr bwMode="auto">
          <a:xfrm>
            <a:off x="1114425" y="571023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x(n-1)</a:t>
            </a:r>
          </a:p>
        </p:txBody>
      </p:sp>
      <p:sp>
        <p:nvSpPr>
          <p:cNvPr id="98337" name="Text Box 67"/>
          <p:cNvSpPr txBox="1">
            <a:spLocks noChangeArrowheads="1"/>
          </p:cNvSpPr>
          <p:nvPr/>
        </p:nvSpPr>
        <p:spPr bwMode="auto">
          <a:xfrm>
            <a:off x="6586538" y="3500438"/>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程序存储器</a:t>
            </a:r>
          </a:p>
        </p:txBody>
      </p:sp>
      <p:sp>
        <p:nvSpPr>
          <p:cNvPr id="98338" name="Text Box 68"/>
          <p:cNvSpPr txBox="1">
            <a:spLocks noChangeArrowheads="1"/>
          </p:cNvSpPr>
          <p:nvPr/>
        </p:nvSpPr>
        <p:spPr bwMode="auto">
          <a:xfrm>
            <a:off x="1978025" y="3573463"/>
            <a:ext cx="2087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rgbClr val="FF00FF"/>
                </a:solidFill>
              </a:rPr>
              <a:t>New</a:t>
            </a:r>
            <a:r>
              <a:rPr lang="zh-CN" altLang="en-US" sz="2000" b="1">
                <a:solidFill>
                  <a:srgbClr val="FF00FF"/>
                </a:solidFill>
              </a:rPr>
              <a:t>数据存储器</a:t>
            </a:r>
          </a:p>
        </p:txBody>
      </p:sp>
      <p:sp>
        <p:nvSpPr>
          <p:cNvPr id="98339" name="Text Box 69"/>
          <p:cNvSpPr txBox="1">
            <a:spLocks noChangeArrowheads="1"/>
          </p:cNvSpPr>
          <p:nvPr/>
        </p:nvSpPr>
        <p:spPr bwMode="auto">
          <a:xfrm>
            <a:off x="7739063" y="5661025"/>
            <a:ext cx="1081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t>高地址</a:t>
            </a:r>
            <a:endParaRPr lang="zh-CN" altLang="en-US" sz="2000" b="1" baseline="-25000"/>
          </a:p>
        </p:txBody>
      </p:sp>
      <p:sp>
        <p:nvSpPr>
          <p:cNvPr id="98340" name="Line 70"/>
          <p:cNvSpPr>
            <a:spLocks noChangeShapeType="1"/>
          </p:cNvSpPr>
          <p:nvPr/>
        </p:nvSpPr>
        <p:spPr bwMode="auto">
          <a:xfrm>
            <a:off x="2338388" y="5157788"/>
            <a:ext cx="936625" cy="792162"/>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76546"/>
                                        </p:tgtEl>
                                        <p:attrNameLst>
                                          <p:attrName>style.visibility</p:attrName>
                                        </p:attrNameLst>
                                      </p:cBhvr>
                                      <p:to>
                                        <p:strVal val="visible"/>
                                      </p:to>
                                    </p:set>
                                    <p:animEffect transition="in" filter="blinds(horizontal)">
                                      <p:cBhvr>
                                        <p:cTn id="7" dur="500"/>
                                        <p:tgtEl>
                                          <p:spTgt spid="876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46"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5430E45-EEE8-467B-B0C8-75A6079814AD}" type="slidenum">
              <a:rPr lang="en-US" altLang="zh-CN" sz="1400"/>
              <a:pPr eaLnBrk="1" hangingPunct="1"/>
              <a:t>92</a:t>
            </a:fld>
            <a:endParaRPr lang="en-US" altLang="zh-CN" sz="1400"/>
          </a:p>
        </p:txBody>
      </p:sp>
      <p:sp>
        <p:nvSpPr>
          <p:cNvPr id="877570" name="Rectangle 2"/>
          <p:cNvSpPr>
            <a:spLocks noChangeArrowheads="1"/>
          </p:cNvSpPr>
          <p:nvPr/>
        </p:nvSpPr>
        <p:spPr bwMode="auto">
          <a:xfrm>
            <a:off x="304800" y="1143000"/>
            <a:ext cx="86106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solidFill>
                  <a:schemeClr val="tx2"/>
                </a:solidFill>
                <a:latin typeface="宋体" panose="02010600030101010101" pitchFamily="2" charset="-122"/>
              </a:rPr>
              <a:t>(2) </a:t>
            </a:r>
            <a:r>
              <a:rPr lang="zh-CN" altLang="en-US" sz="2800" b="1">
                <a:solidFill>
                  <a:schemeClr val="tx2"/>
                </a:solidFill>
                <a:latin typeface="宋体" panose="02010600030101010101" pitchFamily="2" charset="-122"/>
              </a:rPr>
              <a:t>设置循环缓冲区指针，以</a:t>
            </a:r>
            <a:r>
              <a:rPr lang="en-US" altLang="zh-CN" sz="2800" b="1">
                <a:solidFill>
                  <a:srgbClr val="FF0000"/>
                </a:solidFill>
                <a:latin typeface="宋体" panose="02010600030101010101" pitchFamily="2" charset="-122"/>
              </a:rPr>
              <a:t>AR2</a:t>
            </a:r>
            <a:r>
              <a:rPr lang="zh-CN" altLang="en-US" sz="2800" b="1">
                <a:solidFill>
                  <a:schemeClr val="tx2"/>
                </a:solidFill>
                <a:latin typeface="宋体" panose="02010600030101010101" pitchFamily="2" charset="-122"/>
              </a:rPr>
              <a:t>指向</a:t>
            </a:r>
            <a:r>
              <a:rPr lang="en-US" altLang="zh-CN" sz="2800" b="1">
                <a:solidFill>
                  <a:schemeClr val="tx2"/>
                </a:solidFill>
                <a:latin typeface="宋体" panose="02010600030101010101" pitchFamily="2" charset="-122"/>
              </a:rPr>
              <a:t>New</a:t>
            </a:r>
            <a:r>
              <a:rPr lang="zh-CN" altLang="en-US" sz="2800" b="1">
                <a:solidFill>
                  <a:schemeClr val="tx2"/>
                </a:solidFill>
                <a:latin typeface="宋体" panose="02010600030101010101" pitchFamily="2" charset="-122"/>
              </a:rPr>
              <a:t>循环缓冲区中最新的数据；以</a:t>
            </a:r>
            <a:r>
              <a:rPr lang="en-US" altLang="zh-CN" sz="2800" b="1">
                <a:solidFill>
                  <a:srgbClr val="FF0000"/>
                </a:solidFill>
                <a:latin typeface="宋体" panose="02010600030101010101" pitchFamily="2" charset="-122"/>
              </a:rPr>
              <a:t>AR3</a:t>
            </a:r>
            <a:r>
              <a:rPr lang="zh-CN" altLang="en-US" sz="2800" b="1">
                <a:solidFill>
                  <a:schemeClr val="tx2"/>
                </a:solidFill>
                <a:latin typeface="宋体" panose="02010600030101010101" pitchFamily="2" charset="-122"/>
              </a:rPr>
              <a:t>指向</a:t>
            </a:r>
            <a:r>
              <a:rPr lang="en-US" altLang="zh-CN" sz="2800" b="1">
                <a:solidFill>
                  <a:schemeClr val="tx2"/>
                </a:solidFill>
                <a:latin typeface="宋体" panose="02010600030101010101" pitchFamily="2" charset="-122"/>
              </a:rPr>
              <a:t>Old</a:t>
            </a:r>
            <a:r>
              <a:rPr lang="zh-CN" altLang="en-US" sz="2800" b="1">
                <a:solidFill>
                  <a:schemeClr val="tx2"/>
                </a:solidFill>
                <a:latin typeface="宋体" panose="02010600030101010101" pitchFamily="2" charset="-122"/>
              </a:rPr>
              <a:t>循环缓冲区中最老的数据。</a:t>
            </a:r>
            <a:endParaRPr lang="zh-CN" altLang="en-US" sz="2800" b="1">
              <a:solidFill>
                <a:schemeClr val="tx2"/>
              </a:solidFill>
            </a:endParaRPr>
          </a:p>
          <a:p>
            <a:pPr algn="just" eaLnBrk="1" hangingPunct="1"/>
            <a:r>
              <a:rPr lang="en-US" altLang="zh-CN" sz="2800" b="1">
                <a:solidFill>
                  <a:schemeClr val="folHlink"/>
                </a:solidFill>
                <a:latin typeface="宋体" panose="02010600030101010101" pitchFamily="2" charset="-122"/>
              </a:rPr>
              <a:t>(3) </a:t>
            </a:r>
            <a:r>
              <a:rPr lang="zh-CN" altLang="en-US" sz="2800" b="1">
                <a:solidFill>
                  <a:schemeClr val="folHlink"/>
                </a:solidFill>
                <a:latin typeface="宋体" panose="02010600030101010101" pitchFamily="2" charset="-122"/>
              </a:rPr>
              <a:t>在程序存储器中设置系数表。</a:t>
            </a:r>
            <a:endParaRPr lang="zh-CN" altLang="en-US" sz="2800" b="1">
              <a:solidFill>
                <a:schemeClr val="folHlink"/>
              </a:solidFill>
            </a:endParaRPr>
          </a:p>
          <a:p>
            <a:pPr algn="just" eaLnBrk="1" hangingPunct="1"/>
            <a:r>
              <a:rPr lang="en-US" altLang="zh-CN" sz="2800" b="1">
                <a:solidFill>
                  <a:srgbClr val="FF00FF"/>
                </a:solidFill>
                <a:latin typeface="宋体" panose="02010600030101010101" pitchFamily="2" charset="-122"/>
              </a:rPr>
              <a:t>(4)</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AR2</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AR3</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AH</a:t>
            </a:r>
            <a:r>
              <a:rPr lang="zh-CN" altLang="en-US" sz="2800" b="1">
                <a:latin typeface="宋体" panose="02010600030101010101" pitchFamily="2" charset="-122"/>
              </a:rPr>
              <a:t>（累加器</a:t>
            </a:r>
            <a:r>
              <a:rPr lang="en-US" altLang="zh-CN" sz="2800" b="1">
                <a:latin typeface="宋体" panose="02010600030101010101" pitchFamily="2" charset="-122"/>
              </a:rPr>
              <a:t>A</a:t>
            </a:r>
            <a:r>
              <a:rPr lang="zh-CN" altLang="en-US" sz="2800" b="1">
                <a:latin typeface="宋体" panose="02010600030101010101" pitchFamily="2" charset="-122"/>
              </a:rPr>
              <a:t>的高位），</a:t>
            </a:r>
            <a:r>
              <a:rPr lang="en-US" altLang="zh-CN" sz="2800" b="1">
                <a:solidFill>
                  <a:srgbClr val="FF00FF"/>
                </a:solidFill>
                <a:latin typeface="宋体" panose="02010600030101010101" pitchFamily="2" charset="-122"/>
              </a:rPr>
              <a:t>AR2-1→AR2</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AR3-1→AR3</a:t>
            </a:r>
            <a:r>
              <a:rPr lang="zh-CN" altLang="en-US" sz="2800" b="1">
                <a:solidFill>
                  <a:srgbClr val="FF00FF"/>
                </a:solidFill>
                <a:latin typeface="宋体" panose="02010600030101010101" pitchFamily="2" charset="-122"/>
              </a:rPr>
              <a:t>。</a:t>
            </a:r>
            <a:endParaRPr lang="zh-CN" altLang="en-US" sz="2800" b="1">
              <a:solidFill>
                <a:srgbClr val="FF00FF"/>
              </a:solidFill>
            </a:endParaRPr>
          </a:p>
          <a:p>
            <a:pPr algn="just" eaLnBrk="1" hangingPunct="1"/>
            <a:r>
              <a:rPr lang="en-US" altLang="zh-CN" sz="2800" b="1">
                <a:solidFill>
                  <a:srgbClr val="FF6600"/>
                </a:solidFill>
                <a:latin typeface="宋体" panose="02010600030101010101" pitchFamily="2" charset="-122"/>
              </a:rPr>
              <a:t>(5) </a:t>
            </a:r>
            <a:r>
              <a:rPr lang="zh-CN" altLang="en-US" sz="2800" b="1">
                <a:solidFill>
                  <a:srgbClr val="FF6600"/>
                </a:solidFill>
                <a:latin typeface="宋体" panose="02010600030101010101" pitchFamily="2" charset="-122"/>
              </a:rPr>
              <a:t>将累加器</a:t>
            </a:r>
            <a:r>
              <a:rPr lang="en-US" altLang="zh-CN" sz="2800" b="1">
                <a:solidFill>
                  <a:srgbClr val="FF6600"/>
                </a:solidFill>
                <a:latin typeface="宋体" panose="02010600030101010101" pitchFamily="2" charset="-122"/>
              </a:rPr>
              <a:t>B</a:t>
            </a:r>
            <a:r>
              <a:rPr lang="zh-CN" altLang="en-US" sz="2800" b="1">
                <a:solidFill>
                  <a:srgbClr val="FF6600"/>
                </a:solidFill>
                <a:latin typeface="宋体" panose="02010600030101010101" pitchFamily="2" charset="-122"/>
              </a:rPr>
              <a:t>清</a:t>
            </a:r>
            <a:r>
              <a:rPr lang="en-US" altLang="zh-CN" sz="2800" b="1">
                <a:solidFill>
                  <a:srgbClr val="FF6600"/>
                </a:solidFill>
                <a:latin typeface="宋体" panose="02010600030101010101" pitchFamily="2" charset="-122"/>
              </a:rPr>
              <a:t>0</a:t>
            </a:r>
            <a:r>
              <a:rPr lang="zh-CN" altLang="en-US" sz="2800" b="1">
                <a:solidFill>
                  <a:srgbClr val="FF6600"/>
                </a:solidFill>
                <a:latin typeface="宋体" panose="02010600030101010101" pitchFamily="2" charset="-122"/>
              </a:rPr>
              <a:t>，重复执行</a:t>
            </a:r>
            <a:r>
              <a:rPr lang="en-US" altLang="zh-CN" sz="2800" b="1">
                <a:solidFill>
                  <a:srgbClr val="FF6600"/>
                </a:solidFill>
                <a:latin typeface="宋体" panose="02010600030101010101" pitchFamily="2" charset="-122"/>
              </a:rPr>
              <a:t>4</a:t>
            </a:r>
            <a:r>
              <a:rPr lang="zh-CN" altLang="en-US" sz="2800" b="1">
                <a:solidFill>
                  <a:srgbClr val="FF6600"/>
                </a:solidFill>
                <a:latin typeface="宋体" panose="02010600030101010101" pitchFamily="2" charset="-122"/>
              </a:rPr>
              <a:t>次（</a:t>
            </a:r>
            <a:r>
              <a:rPr lang="en-US" altLang="zh-CN" sz="2800" b="1">
                <a:solidFill>
                  <a:srgbClr val="FF6600"/>
                </a:solidFill>
                <a:latin typeface="宋体" panose="02010600030101010101" pitchFamily="2" charset="-122"/>
              </a:rPr>
              <a:t>i=0</a:t>
            </a:r>
            <a:r>
              <a:rPr lang="zh-CN" altLang="en-US" sz="2800" b="1">
                <a:solidFill>
                  <a:srgbClr val="FF6600"/>
                </a:solidFill>
                <a:latin typeface="宋体" panose="02010600030101010101" pitchFamily="2" charset="-122"/>
              </a:rPr>
              <a:t>，</a:t>
            </a:r>
            <a:r>
              <a:rPr lang="en-US" altLang="zh-CN" sz="2800" b="1">
                <a:solidFill>
                  <a:srgbClr val="FF6600"/>
                </a:solidFill>
                <a:latin typeface="宋体" panose="02010600030101010101" pitchFamily="2" charset="-122"/>
              </a:rPr>
              <a:t>1</a:t>
            </a:r>
            <a:r>
              <a:rPr lang="zh-CN" altLang="en-US" sz="2800" b="1">
                <a:solidFill>
                  <a:srgbClr val="FF6600"/>
                </a:solidFill>
                <a:latin typeface="宋体" panose="02010600030101010101" pitchFamily="2" charset="-122"/>
              </a:rPr>
              <a:t>，</a:t>
            </a:r>
            <a:r>
              <a:rPr lang="en-US" altLang="zh-CN" sz="2800" b="1">
                <a:solidFill>
                  <a:srgbClr val="FF6600"/>
                </a:solidFill>
                <a:latin typeface="宋体" panose="02010600030101010101" pitchFamily="2" charset="-122"/>
              </a:rPr>
              <a:t>2</a:t>
            </a:r>
            <a:r>
              <a:rPr lang="zh-CN" altLang="en-US" sz="2800" b="1">
                <a:solidFill>
                  <a:srgbClr val="FF6600"/>
                </a:solidFill>
                <a:latin typeface="宋体" panose="02010600030101010101" pitchFamily="2" charset="-122"/>
              </a:rPr>
              <a:t>，</a:t>
            </a:r>
            <a:r>
              <a:rPr lang="en-US" altLang="zh-CN" sz="2800" b="1">
                <a:solidFill>
                  <a:srgbClr val="FF6600"/>
                </a:solidFill>
                <a:latin typeface="宋体" panose="02010600030101010101" pitchFamily="2" charset="-122"/>
              </a:rPr>
              <a:t>3</a:t>
            </a:r>
            <a:r>
              <a:rPr lang="zh-CN" altLang="en-US" sz="2800" b="1">
                <a:solidFill>
                  <a:srgbClr val="FF6600"/>
                </a:solidFill>
                <a:latin typeface="宋体" panose="02010600030101010101" pitchFamily="2" charset="-122"/>
              </a:rPr>
              <a:t>）下面的运算：</a:t>
            </a:r>
            <a:endParaRPr lang="zh-CN" altLang="en-US" sz="2800" b="1">
              <a:solidFill>
                <a:srgbClr val="FF6600"/>
              </a:solidFill>
            </a:endParaRPr>
          </a:p>
          <a:p>
            <a:pPr algn="just" eaLnBrk="1" hangingPunct="1"/>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AH</a:t>
            </a:r>
            <a:r>
              <a:rPr lang="zh-CN" altLang="en-US" sz="2800" b="1">
                <a:solidFill>
                  <a:srgbClr val="FF0000"/>
                </a:solidFill>
                <a:latin typeface="宋体" panose="02010600030101010101" pitchFamily="2" charset="-122"/>
              </a:rPr>
              <a:t>）*系数</a:t>
            </a:r>
            <a:r>
              <a:rPr lang="en-US" altLang="zh-CN" sz="2800" b="1">
                <a:solidFill>
                  <a:srgbClr val="FF0000"/>
                </a:solidFill>
                <a:latin typeface="宋体" panose="02010600030101010101" pitchFamily="2" charset="-122"/>
              </a:rPr>
              <a:t>h</a:t>
            </a:r>
            <a:r>
              <a:rPr lang="en-US" altLang="zh-CN" sz="2800" b="1" baseline="-30000">
                <a:solidFill>
                  <a:srgbClr val="FF0000"/>
                </a:solidFill>
                <a:latin typeface="宋体" panose="02010600030101010101" pitchFamily="2" charset="-122"/>
              </a:rPr>
              <a:t>i</a:t>
            </a:r>
            <a:r>
              <a:rPr lang="en-US" altLang="zh-CN" sz="2800" b="1">
                <a:solidFill>
                  <a:srgbClr val="FF0000"/>
                </a:solidFill>
                <a:latin typeface="宋体" panose="02010600030101010101" pitchFamily="2" charset="-122"/>
              </a:rPr>
              <a:t>+</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B</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B</a:t>
            </a:r>
            <a:r>
              <a:rPr lang="zh-CN" altLang="en-US" sz="2800" b="1">
                <a:solidFill>
                  <a:srgbClr val="FF0000"/>
                </a:solidFill>
                <a:latin typeface="宋体" panose="02010600030101010101" pitchFamily="2" charset="-122"/>
              </a:rPr>
              <a:t>，</a:t>
            </a:r>
            <a:r>
              <a:rPr lang="zh-CN" altLang="en-US" sz="2800" b="1">
                <a:solidFill>
                  <a:schemeClr val="folHlink"/>
                </a:solidFill>
                <a:latin typeface="宋体" panose="02010600030101010101" pitchFamily="2" charset="-122"/>
              </a:rPr>
              <a:t>系数指针（</a:t>
            </a:r>
            <a:r>
              <a:rPr lang="en-US" altLang="zh-CN" sz="2800" b="1">
                <a:solidFill>
                  <a:schemeClr val="folHlink"/>
                </a:solidFill>
                <a:latin typeface="宋体" panose="02010600030101010101" pitchFamily="2" charset="-122"/>
              </a:rPr>
              <a:t>PAR</a:t>
            </a:r>
            <a:r>
              <a:rPr lang="zh-CN" altLang="en-US" sz="2800" b="1">
                <a:solidFill>
                  <a:schemeClr val="folHlink"/>
                </a:solidFill>
                <a:latin typeface="宋体" panose="02010600030101010101" pitchFamily="2" charset="-122"/>
              </a:rPr>
              <a:t>）加</a:t>
            </a:r>
            <a:r>
              <a:rPr lang="en-US" altLang="zh-CN" sz="2800" b="1">
                <a:solidFill>
                  <a:schemeClr val="folHlink"/>
                </a:solidFill>
                <a:latin typeface="宋体" panose="02010600030101010101" pitchFamily="2" charset="-122"/>
              </a:rPr>
              <a:t>1</a:t>
            </a:r>
            <a:r>
              <a:rPr lang="zh-CN" altLang="en-US" sz="2800" b="1">
                <a:solidFill>
                  <a:schemeClr val="folHlink"/>
                </a:solidFill>
                <a:latin typeface="宋体" panose="02010600030101010101" pitchFamily="2" charset="-122"/>
              </a:rPr>
              <a:t>，</a:t>
            </a:r>
            <a:endParaRPr lang="zh-CN" altLang="en-US" sz="2800" b="1">
              <a:solidFill>
                <a:schemeClr val="folHlink"/>
              </a:solidFill>
            </a:endParaRPr>
          </a:p>
          <a:p>
            <a:pPr algn="just" eaLnBrk="1" hangingPunct="1"/>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AR2</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AR3</a:t>
            </a:r>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AH</a:t>
            </a:r>
            <a:r>
              <a:rPr lang="zh-CN" altLang="en-US" sz="2800" b="1">
                <a:solidFill>
                  <a:srgbClr val="FF0000"/>
                </a:solidFill>
                <a:latin typeface="宋体" panose="02010600030101010101" pitchFamily="2" charset="-122"/>
              </a:rPr>
              <a:t>，</a:t>
            </a:r>
            <a:r>
              <a:rPr lang="en-US" altLang="zh-CN" sz="2800" b="1">
                <a:solidFill>
                  <a:schemeClr val="folHlink"/>
                </a:solidFill>
                <a:latin typeface="宋体" panose="02010600030101010101" pitchFamily="2" charset="-122"/>
              </a:rPr>
              <a:t>AR2</a:t>
            </a:r>
            <a:r>
              <a:rPr lang="zh-CN" altLang="en-US" sz="2800" b="1">
                <a:solidFill>
                  <a:schemeClr val="folHlink"/>
                </a:solidFill>
                <a:latin typeface="宋体" panose="02010600030101010101" pitchFamily="2" charset="-122"/>
              </a:rPr>
              <a:t>和</a:t>
            </a:r>
            <a:r>
              <a:rPr lang="en-US" altLang="zh-CN" sz="2800" b="1">
                <a:solidFill>
                  <a:schemeClr val="folHlink"/>
                </a:solidFill>
                <a:latin typeface="宋体" panose="02010600030101010101" pitchFamily="2" charset="-122"/>
              </a:rPr>
              <a:t>AR3</a:t>
            </a:r>
            <a:r>
              <a:rPr lang="zh-CN" altLang="en-US" sz="2800" b="1">
                <a:solidFill>
                  <a:schemeClr val="folHlink"/>
                </a:solidFill>
                <a:latin typeface="宋体" panose="02010600030101010101" pitchFamily="2" charset="-122"/>
              </a:rPr>
              <a:t>减１。</a:t>
            </a:r>
            <a:endParaRPr lang="zh-CN" altLang="en-US" sz="2800" b="1">
              <a:solidFill>
                <a:schemeClr val="folHlink"/>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77570"/>
                                        </p:tgtEl>
                                        <p:attrNameLst>
                                          <p:attrName>style.visibility</p:attrName>
                                        </p:attrNameLst>
                                      </p:cBhvr>
                                      <p:to>
                                        <p:strVal val="visible"/>
                                      </p:to>
                                    </p:set>
                                    <p:animEffect transition="in" filter="blinds(vertical)">
                                      <p:cBhvr>
                                        <p:cTn id="7" dur="500"/>
                                        <p:tgtEl>
                                          <p:spTgt spid="877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7570"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04591F7-3278-430C-BF71-C8FFF8554362}" type="slidenum">
              <a:rPr lang="en-US" altLang="zh-CN" sz="1400"/>
              <a:pPr eaLnBrk="1" hangingPunct="1"/>
              <a:t>93</a:t>
            </a:fld>
            <a:endParaRPr lang="en-US" altLang="zh-CN" sz="1400"/>
          </a:p>
        </p:txBody>
      </p:sp>
      <p:sp>
        <p:nvSpPr>
          <p:cNvPr id="878594" name="Rectangle 2"/>
          <p:cNvSpPr>
            <a:spLocks noChangeArrowheads="1"/>
          </p:cNvSpPr>
          <p:nvPr/>
        </p:nvSpPr>
        <p:spPr bwMode="auto">
          <a:xfrm>
            <a:off x="323850" y="1412875"/>
            <a:ext cx="82804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solidFill>
                  <a:schemeClr val="folHlink"/>
                </a:solidFill>
                <a:latin typeface="宋体" panose="02010600030101010101" pitchFamily="2" charset="-122"/>
              </a:rPr>
              <a:t>(6) </a:t>
            </a:r>
            <a:r>
              <a:rPr lang="zh-CN" altLang="en-US" sz="2800" b="1">
                <a:solidFill>
                  <a:schemeClr val="folHlink"/>
                </a:solidFill>
                <a:latin typeface="宋体" panose="02010600030101010101" pitchFamily="2" charset="-122"/>
              </a:rPr>
              <a:t>保存和输出结果</a:t>
            </a:r>
            <a:r>
              <a:rPr lang="zh-CN" altLang="en-US" sz="2800" b="1">
                <a:latin typeface="宋体" panose="02010600030101010101" pitchFamily="2" charset="-122"/>
              </a:rPr>
              <a:t>（结果在</a:t>
            </a:r>
            <a:r>
              <a:rPr lang="en-US" altLang="zh-CN" sz="2800" b="1">
                <a:latin typeface="宋体" panose="02010600030101010101" pitchFamily="2" charset="-122"/>
              </a:rPr>
              <a:t>BH</a:t>
            </a:r>
            <a:r>
              <a:rPr lang="zh-CN" altLang="en-US" sz="2800" b="1">
                <a:latin typeface="宋体" panose="02010600030101010101" pitchFamily="2" charset="-122"/>
              </a:rPr>
              <a:t>中）。</a:t>
            </a:r>
            <a:endParaRPr lang="zh-CN" altLang="en-US" sz="2800" b="1"/>
          </a:p>
          <a:p>
            <a:pPr algn="just" eaLnBrk="1" hangingPunct="1"/>
            <a:r>
              <a:rPr lang="en-US" altLang="zh-CN" sz="2800" b="1">
                <a:solidFill>
                  <a:srgbClr val="FF00FF"/>
                </a:solidFill>
                <a:latin typeface="宋体" panose="02010600030101010101" pitchFamily="2" charset="-122"/>
              </a:rPr>
              <a:t>(7) </a:t>
            </a:r>
            <a:r>
              <a:rPr lang="zh-CN" altLang="en-US" sz="2800" b="1">
                <a:solidFill>
                  <a:srgbClr val="FF00FF"/>
                </a:solidFill>
                <a:latin typeface="宋体" panose="02010600030101010101" pitchFamily="2" charset="-122"/>
              </a:rPr>
              <a:t>修正数据指针，让</a:t>
            </a:r>
            <a:r>
              <a:rPr lang="en-US" altLang="zh-CN" sz="2800" b="1">
                <a:solidFill>
                  <a:srgbClr val="FF0000"/>
                </a:solidFill>
                <a:latin typeface="宋体" panose="02010600030101010101" pitchFamily="2" charset="-122"/>
              </a:rPr>
              <a:t>AR2</a:t>
            </a:r>
            <a:r>
              <a:rPr lang="zh-CN" altLang="en-US" sz="2800" b="1">
                <a:solidFill>
                  <a:srgbClr val="FF00FF"/>
                </a:solidFill>
                <a:latin typeface="宋体" panose="02010600030101010101" pitchFamily="2" charset="-122"/>
              </a:rPr>
              <a:t>和</a:t>
            </a:r>
            <a:r>
              <a:rPr lang="en-US" altLang="zh-CN" sz="2800" b="1">
                <a:solidFill>
                  <a:schemeClr val="tx2"/>
                </a:solidFill>
                <a:latin typeface="宋体" panose="02010600030101010101" pitchFamily="2" charset="-122"/>
              </a:rPr>
              <a:t>AR3</a:t>
            </a:r>
            <a:r>
              <a:rPr lang="zh-CN" altLang="en-US" sz="2800" b="1">
                <a:solidFill>
                  <a:srgbClr val="FF00FF"/>
                </a:solidFill>
                <a:latin typeface="宋体" panose="02010600030101010101" pitchFamily="2" charset="-122"/>
              </a:rPr>
              <a:t>分别指向</a:t>
            </a:r>
            <a:r>
              <a:rPr lang="en-US" altLang="zh-CN" sz="2800" b="1">
                <a:solidFill>
                  <a:srgbClr val="FF0000"/>
                </a:solidFill>
                <a:latin typeface="宋体" panose="02010600030101010101" pitchFamily="2" charset="-122"/>
              </a:rPr>
              <a:t>New</a:t>
            </a:r>
            <a:r>
              <a:rPr lang="zh-CN" altLang="en-US" sz="2800" b="1">
                <a:solidFill>
                  <a:srgbClr val="FF00FF"/>
                </a:solidFill>
                <a:latin typeface="宋体" panose="02010600030101010101" pitchFamily="2" charset="-122"/>
              </a:rPr>
              <a:t>循环缓冲区最新的数据和</a:t>
            </a:r>
            <a:r>
              <a:rPr lang="en-US" altLang="zh-CN" sz="2800" b="1">
                <a:solidFill>
                  <a:schemeClr val="tx2"/>
                </a:solidFill>
                <a:latin typeface="宋体" panose="02010600030101010101" pitchFamily="2" charset="-122"/>
              </a:rPr>
              <a:t>Old</a:t>
            </a:r>
            <a:r>
              <a:rPr lang="zh-CN" altLang="en-US" sz="2800" b="1">
                <a:solidFill>
                  <a:srgbClr val="FF00FF"/>
                </a:solidFill>
                <a:latin typeface="宋体" panose="02010600030101010101" pitchFamily="2" charset="-122"/>
              </a:rPr>
              <a:t>循环缓冲区中最老的数据。</a:t>
            </a:r>
            <a:endParaRPr lang="zh-CN" altLang="en-US" sz="2800" b="1">
              <a:solidFill>
                <a:srgbClr val="FF00FF"/>
              </a:solidFill>
            </a:endParaRPr>
          </a:p>
          <a:p>
            <a:pPr algn="just" eaLnBrk="1" hangingPunct="1"/>
            <a:r>
              <a:rPr lang="en-US" altLang="zh-CN" sz="2800" b="1">
                <a:solidFill>
                  <a:srgbClr val="FF6600"/>
                </a:solidFill>
                <a:latin typeface="宋体" panose="02010600030101010101" pitchFamily="2" charset="-122"/>
              </a:rPr>
              <a:t>(8) </a:t>
            </a:r>
            <a:r>
              <a:rPr lang="zh-CN" altLang="en-US" sz="2800" b="1">
                <a:solidFill>
                  <a:srgbClr val="FF6600"/>
                </a:solidFill>
                <a:latin typeface="宋体" panose="02010600030101010101" pitchFamily="2" charset="-122"/>
              </a:rPr>
              <a:t>用</a:t>
            </a:r>
            <a:r>
              <a:rPr lang="en-US" altLang="zh-CN" sz="2800" b="1">
                <a:solidFill>
                  <a:srgbClr val="FF6600"/>
                </a:solidFill>
                <a:latin typeface="宋体" panose="02010600030101010101" pitchFamily="2" charset="-122"/>
              </a:rPr>
              <a:t>New</a:t>
            </a:r>
            <a:r>
              <a:rPr lang="zh-CN" altLang="en-US" sz="2800" b="1">
                <a:solidFill>
                  <a:srgbClr val="FF6600"/>
                </a:solidFill>
                <a:latin typeface="宋体" panose="02010600030101010101" pitchFamily="2" charset="-122"/>
              </a:rPr>
              <a:t>循环缓冲区中最老的数据替代</a:t>
            </a:r>
            <a:r>
              <a:rPr lang="en-US" altLang="zh-CN" sz="2800" b="1">
                <a:solidFill>
                  <a:srgbClr val="FF6600"/>
                </a:solidFill>
                <a:latin typeface="宋体" panose="02010600030101010101" pitchFamily="2" charset="-122"/>
              </a:rPr>
              <a:t>Old</a:t>
            </a:r>
            <a:r>
              <a:rPr lang="zh-CN" altLang="en-US" sz="2800" b="1">
                <a:solidFill>
                  <a:srgbClr val="FF6600"/>
                </a:solidFill>
                <a:latin typeface="宋体" panose="02010600030101010101" pitchFamily="2" charset="-122"/>
              </a:rPr>
              <a:t>循环缓冲区中最老的数据。</a:t>
            </a:r>
            <a:r>
              <a:rPr lang="en-US" altLang="zh-CN" sz="2800" b="1">
                <a:solidFill>
                  <a:srgbClr val="FF6600"/>
                </a:solidFill>
                <a:latin typeface="宋体" panose="02010600030101010101" pitchFamily="2" charset="-122"/>
              </a:rPr>
              <a:t>Old</a:t>
            </a:r>
            <a:r>
              <a:rPr lang="zh-CN" altLang="en-US" sz="2800" b="1">
                <a:solidFill>
                  <a:srgbClr val="FF6600"/>
                </a:solidFill>
                <a:latin typeface="宋体" panose="02010600030101010101" pitchFamily="2" charset="-122"/>
              </a:rPr>
              <a:t>循环缓冲区指针减</a:t>
            </a:r>
            <a:r>
              <a:rPr lang="en-US" altLang="zh-CN" sz="2800" b="1">
                <a:solidFill>
                  <a:srgbClr val="FF6600"/>
                </a:solidFill>
                <a:latin typeface="宋体" panose="02010600030101010101" pitchFamily="2" charset="-122"/>
              </a:rPr>
              <a:t>1</a:t>
            </a:r>
            <a:r>
              <a:rPr lang="zh-CN" altLang="en-US" sz="2800" b="1">
                <a:solidFill>
                  <a:srgbClr val="FF6600"/>
                </a:solidFill>
                <a:latin typeface="宋体" panose="02010600030101010101" pitchFamily="2" charset="-122"/>
              </a:rPr>
              <a:t>。</a:t>
            </a:r>
            <a:endParaRPr lang="zh-CN" altLang="en-US" sz="2800" b="1">
              <a:solidFill>
                <a:srgbClr val="FF6600"/>
              </a:solidFill>
            </a:endParaRPr>
          </a:p>
          <a:p>
            <a:pPr algn="just" eaLnBrk="1" hangingPunct="1"/>
            <a:r>
              <a:rPr lang="en-US" altLang="zh-CN" sz="2800" b="1">
                <a:solidFill>
                  <a:schemeClr val="tx2"/>
                </a:solidFill>
                <a:latin typeface="宋体" panose="02010600030101010101" pitchFamily="2" charset="-122"/>
              </a:rPr>
              <a:t>(9) </a:t>
            </a:r>
            <a:r>
              <a:rPr lang="zh-CN" altLang="en-US" sz="2800" b="1">
                <a:solidFill>
                  <a:schemeClr val="tx2"/>
                </a:solidFill>
                <a:latin typeface="宋体" panose="02010600030101010101" pitchFamily="2" charset="-122"/>
              </a:rPr>
              <a:t>输入一个新数据替代</a:t>
            </a:r>
            <a:r>
              <a:rPr lang="en-US" altLang="zh-CN" sz="2800" b="1">
                <a:solidFill>
                  <a:schemeClr val="tx2"/>
                </a:solidFill>
                <a:latin typeface="宋体" panose="02010600030101010101" pitchFamily="2" charset="-122"/>
              </a:rPr>
              <a:t>New</a:t>
            </a:r>
            <a:r>
              <a:rPr lang="zh-CN" altLang="en-US" sz="2800" b="1">
                <a:solidFill>
                  <a:schemeClr val="tx2"/>
                </a:solidFill>
                <a:latin typeface="宋体" panose="02010600030101010101" pitchFamily="2" charset="-122"/>
              </a:rPr>
              <a:t>循环缓冲区中最老的数据。</a:t>
            </a:r>
            <a:endParaRPr lang="zh-CN" altLang="en-US" sz="2800" b="1">
              <a:solidFill>
                <a:schemeClr val="tx2"/>
              </a:solidFill>
            </a:endParaRPr>
          </a:p>
          <a:p>
            <a:pPr algn="just" eaLnBrk="1" hangingPunct="1"/>
            <a:r>
              <a:rPr lang="zh-CN" altLang="en-US" sz="2800" b="1">
                <a:latin typeface="宋体" panose="02010600030101010101" pitchFamily="2" charset="-122"/>
              </a:rPr>
              <a:t>重复执行</a:t>
            </a:r>
            <a:r>
              <a:rPr lang="en-US" altLang="zh-CN" sz="2800" b="1">
                <a:latin typeface="宋体" panose="02010600030101010101" pitchFamily="2" charset="-122"/>
              </a:rPr>
              <a:t>(4)</a:t>
            </a:r>
            <a:r>
              <a:rPr lang="zh-CN" altLang="en-US" sz="2800" b="1">
                <a:latin typeface="宋体" panose="02010600030101010101" pitchFamily="2" charset="-122"/>
              </a:rPr>
              <a:t>～</a:t>
            </a:r>
            <a:r>
              <a:rPr lang="en-US" altLang="zh-CN" sz="2800" b="1">
                <a:latin typeface="宋体" panose="02010600030101010101" pitchFamily="2" charset="-122"/>
              </a:rPr>
              <a:t>(9)</a:t>
            </a:r>
            <a:r>
              <a:rPr lang="zh-CN" altLang="en-US" sz="2800" b="1">
                <a:latin typeface="宋体" panose="02010600030101010101" pitchFamily="2" charset="-122"/>
              </a:rPr>
              <a:t>步。</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78594"/>
                                        </p:tgtEl>
                                        <p:attrNameLst>
                                          <p:attrName>style.visibility</p:attrName>
                                        </p:attrNameLst>
                                      </p:cBhvr>
                                      <p:to>
                                        <p:strVal val="visible"/>
                                      </p:to>
                                    </p:set>
                                    <p:animEffect transition="in" filter="blinds(horizontal)">
                                      <p:cBhvr>
                                        <p:cTn id="7" dur="500"/>
                                        <p:tgtEl>
                                          <p:spTgt spid="878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59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53EAFF8-A9A8-4FD6-A958-DBE873DFA35E}" type="slidenum">
              <a:rPr lang="en-US" altLang="zh-CN" sz="1400"/>
              <a:pPr eaLnBrk="1" hangingPunct="1"/>
              <a:t>94</a:t>
            </a:fld>
            <a:endParaRPr lang="en-US" altLang="zh-CN" sz="1400"/>
          </a:p>
        </p:txBody>
      </p:sp>
      <p:sp>
        <p:nvSpPr>
          <p:cNvPr id="879618" name="Rectangle 2"/>
          <p:cNvSpPr>
            <a:spLocks noChangeArrowheads="1"/>
          </p:cNvSpPr>
          <p:nvPr/>
        </p:nvSpPr>
        <p:spPr bwMode="auto">
          <a:xfrm>
            <a:off x="304800" y="1143000"/>
            <a:ext cx="86106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在编程中要用到</a:t>
            </a:r>
            <a:r>
              <a:rPr lang="zh-CN" altLang="en-US" sz="2800" b="1">
                <a:solidFill>
                  <a:schemeClr val="tx2"/>
                </a:solidFill>
                <a:latin typeface="宋体" panose="02010600030101010101" pitchFamily="2" charset="-122"/>
              </a:rPr>
              <a:t>系数对称有限冲激响应滤波器指令</a:t>
            </a:r>
            <a:r>
              <a:rPr lang="en-US" altLang="zh-CN" sz="2800" b="1">
                <a:solidFill>
                  <a:schemeClr val="tx2"/>
                </a:solidFill>
                <a:latin typeface="宋体" panose="02010600030101010101" pitchFamily="2" charset="-122"/>
              </a:rPr>
              <a:t>FIRS</a:t>
            </a:r>
            <a:r>
              <a:rPr lang="zh-CN" altLang="en-US" sz="2800" b="1">
                <a:solidFill>
                  <a:schemeClr val="tx2"/>
                </a:solidFill>
                <a:latin typeface="宋体" panose="02010600030101010101" pitchFamily="2" charset="-122"/>
              </a:rPr>
              <a:t>，其操作为：</a:t>
            </a:r>
            <a:endParaRPr lang="zh-CN" altLang="en-US" sz="2800" b="1">
              <a:solidFill>
                <a:schemeClr val="tx2"/>
              </a:solidFill>
            </a:endParaRPr>
          </a:p>
          <a:p>
            <a:pPr algn="just" eaLnBrk="1" hangingPunct="1"/>
            <a:r>
              <a:rPr lang="en-US" altLang="zh-CN" sz="2800" b="1">
                <a:solidFill>
                  <a:schemeClr val="tx2"/>
                </a:solidFill>
                <a:latin typeface="宋体" panose="02010600030101010101" pitchFamily="2" charset="-122"/>
              </a:rPr>
              <a:t>FIRS   Xmem,Ymem,Pmad</a:t>
            </a:r>
            <a:endParaRPr lang="en-US" altLang="zh-CN" sz="2800" b="1">
              <a:solidFill>
                <a:schemeClr val="tx2"/>
              </a:solidFill>
            </a:endParaRPr>
          </a:p>
          <a:p>
            <a:pPr algn="just" eaLnBrk="1" hangingPunct="1"/>
            <a:r>
              <a:rPr lang="zh-CN" altLang="en-US" sz="2800" b="1">
                <a:solidFill>
                  <a:srgbClr val="FF00FF"/>
                </a:solidFill>
                <a:latin typeface="宋体" panose="02010600030101010101" pitchFamily="2" charset="-122"/>
              </a:rPr>
              <a:t>该指令执行 </a:t>
            </a:r>
            <a:r>
              <a:rPr lang="en-US" altLang="zh-CN" sz="2800" b="1">
                <a:solidFill>
                  <a:srgbClr val="FF00FF"/>
                </a:solidFill>
                <a:latin typeface="宋体" panose="02010600030101010101" pitchFamily="2" charset="-122"/>
              </a:rPr>
              <a:t>Pmad→PAR</a:t>
            </a:r>
            <a:r>
              <a:rPr lang="zh-CN" altLang="en-US" sz="2800" b="1">
                <a:latin typeface="宋体" panose="02010600030101010101" pitchFamily="2" charset="-122"/>
              </a:rPr>
              <a:t>（程序存储器地址寄存器）</a:t>
            </a:r>
            <a:endParaRPr lang="zh-CN" altLang="en-US" sz="2800" b="1"/>
          </a:p>
          <a:p>
            <a:pPr algn="just" eaLnBrk="1" hangingPunct="1"/>
            <a:r>
              <a:rPr lang="zh-CN" altLang="en-US" sz="2800" b="1">
                <a:solidFill>
                  <a:srgbClr val="FF00FF"/>
                </a:solidFill>
                <a:latin typeface="宋体" panose="02010600030101010101" pitchFamily="2" charset="-122"/>
              </a:rPr>
              <a:t>当（</a:t>
            </a:r>
            <a:r>
              <a:rPr lang="en-US" altLang="zh-CN" sz="2800" b="1">
                <a:solidFill>
                  <a:srgbClr val="FF00FF"/>
                </a:solidFill>
                <a:latin typeface="宋体" panose="02010600030101010101" pitchFamily="2" charset="-122"/>
              </a:rPr>
              <a:t>RC</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0</a:t>
            </a:r>
            <a:endParaRPr lang="en-US" altLang="zh-CN" sz="2800" b="1">
              <a:solidFill>
                <a:srgbClr val="FF00FF"/>
              </a:solidFill>
            </a:endParaRPr>
          </a:p>
          <a:p>
            <a:pPr algn="just" eaLnBrk="1" hangingPunct="1"/>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B</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32</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16</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t>
            </a:r>
            <a:r>
              <a:rPr lang="zh-CN" altLang="en-US" sz="2800" b="1">
                <a:solidFill>
                  <a:srgbClr val="FF00FF"/>
                </a:solidFill>
                <a:latin typeface="宋体" panose="02010600030101010101" pitchFamily="2" charset="-122"/>
              </a:rPr>
              <a:t>（由</a:t>
            </a:r>
            <a:r>
              <a:rPr lang="en-US" altLang="zh-CN" sz="2800" b="1">
                <a:solidFill>
                  <a:srgbClr val="FF00FF"/>
                </a:solidFill>
                <a:latin typeface="宋体" panose="02010600030101010101" pitchFamily="2" charset="-122"/>
              </a:rPr>
              <a:t>PAR</a:t>
            </a:r>
            <a:r>
              <a:rPr lang="zh-CN" altLang="en-US" sz="2800" b="1">
                <a:solidFill>
                  <a:srgbClr val="FF00FF"/>
                </a:solidFill>
                <a:latin typeface="宋体" panose="02010600030101010101" pitchFamily="2" charset="-122"/>
              </a:rPr>
              <a:t>寻址</a:t>
            </a:r>
            <a:r>
              <a:rPr lang="en-US" altLang="zh-CN" sz="2800" b="1">
                <a:solidFill>
                  <a:srgbClr val="FF00FF"/>
                </a:solidFill>
                <a:latin typeface="宋体" panose="02010600030101010101" pitchFamily="2" charset="-122"/>
              </a:rPr>
              <a:t>Pmem</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B</a:t>
            </a:r>
            <a:endParaRPr lang="en-US" altLang="zh-CN" sz="2800" b="1">
              <a:solidFill>
                <a:srgbClr val="FF00FF"/>
              </a:solidFill>
            </a:endParaRPr>
          </a:p>
          <a:p>
            <a:pPr algn="just" eaLnBrk="1" hangingPunct="1"/>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Xmem</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Ymem</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&lt;&lt;16→A</a:t>
            </a:r>
            <a:endParaRPr lang="en-US" altLang="zh-CN" sz="2800" b="1">
              <a:solidFill>
                <a:srgbClr val="FF00FF"/>
              </a:solidFill>
            </a:endParaRPr>
          </a:p>
          <a:p>
            <a:pPr algn="just" eaLnBrk="1" hangingPunct="1"/>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PAR</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+1→PAR</a:t>
            </a:r>
            <a:endParaRPr lang="en-US" altLang="zh-CN" sz="2800" b="1">
              <a:solidFill>
                <a:srgbClr val="FF00FF"/>
              </a:solidFill>
            </a:endParaRPr>
          </a:p>
          <a:p>
            <a:pPr algn="just" eaLnBrk="1" hangingPunct="1"/>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RC</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-1→RC</a:t>
            </a:r>
            <a:endParaRPr lang="en-US" altLang="zh-CN" sz="2800" b="1">
              <a:solidFill>
                <a:srgbClr val="FF00FF"/>
              </a:solidFill>
            </a:endParaRPr>
          </a:p>
          <a:p>
            <a:pPr algn="just" eaLnBrk="1" hangingPunct="1"/>
            <a:r>
              <a:rPr lang="en-US" altLang="zh-CN" sz="2800" b="1">
                <a:latin typeface="宋体" panose="02010600030101010101" pitchFamily="2" charset="-122"/>
              </a:rPr>
              <a:t>FIRS</a:t>
            </a:r>
            <a:r>
              <a:rPr lang="zh-CN" altLang="en-US" sz="2800" b="1">
                <a:latin typeface="宋体" panose="02010600030101010101" pitchFamily="2" charset="-122"/>
              </a:rPr>
              <a:t>指令在同一个机器周期内，通过</a:t>
            </a:r>
            <a:r>
              <a:rPr lang="en-US" altLang="zh-CN" sz="2800" b="1">
                <a:latin typeface="宋体" panose="02010600030101010101" pitchFamily="2" charset="-122"/>
              </a:rPr>
              <a:t>C</a:t>
            </a:r>
            <a:r>
              <a:rPr lang="zh-CN" altLang="en-US" sz="2800" b="1">
                <a:latin typeface="宋体" panose="02010600030101010101" pitchFamily="2" charset="-122"/>
              </a:rPr>
              <a:t>和</a:t>
            </a:r>
            <a:r>
              <a:rPr lang="en-US" altLang="zh-CN" sz="2800" b="1">
                <a:latin typeface="宋体" panose="02010600030101010101" pitchFamily="2" charset="-122"/>
              </a:rPr>
              <a:t>D</a:t>
            </a:r>
            <a:r>
              <a:rPr lang="zh-CN" altLang="en-US" sz="2800" b="1">
                <a:latin typeface="宋体" panose="02010600030101010101" pitchFamily="2" charset="-122"/>
              </a:rPr>
              <a:t>总线读</a:t>
            </a:r>
            <a:r>
              <a:rPr lang="en-US" altLang="zh-CN" sz="2800" b="1">
                <a:latin typeface="宋体" panose="02010600030101010101" pitchFamily="2" charset="-122"/>
              </a:rPr>
              <a:t>2</a:t>
            </a:r>
            <a:r>
              <a:rPr lang="zh-CN" altLang="en-US" sz="2800" b="1">
                <a:latin typeface="宋体" panose="02010600030101010101" pitchFamily="2" charset="-122"/>
              </a:rPr>
              <a:t>次数据存储器，同时通过</a:t>
            </a:r>
            <a:r>
              <a:rPr lang="en-US" altLang="zh-CN" sz="2800" b="1">
                <a:latin typeface="宋体" panose="02010600030101010101" pitchFamily="2" charset="-122"/>
              </a:rPr>
              <a:t>P</a:t>
            </a:r>
            <a:r>
              <a:rPr lang="zh-CN" altLang="en-US" sz="2800" b="1">
                <a:latin typeface="宋体" panose="02010600030101010101" pitchFamily="2" charset="-122"/>
              </a:rPr>
              <a:t>总线读一个系数。</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79618"/>
                                        </p:tgtEl>
                                        <p:attrNameLst>
                                          <p:attrName>style.visibility</p:attrName>
                                        </p:attrNameLst>
                                      </p:cBhvr>
                                      <p:to>
                                        <p:strVal val="visible"/>
                                      </p:to>
                                    </p:set>
                                    <p:animEffect transition="in" filter="blinds(vertical)">
                                      <p:cBhvr>
                                        <p:cTn id="7" dur="500"/>
                                        <p:tgtEl>
                                          <p:spTgt spid="879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18"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4937D1A-0635-4F5A-8611-620A62A9987A}" type="slidenum">
              <a:rPr lang="en-US" altLang="zh-CN" sz="1400"/>
              <a:pPr eaLnBrk="1" hangingPunct="1"/>
              <a:t>95</a:t>
            </a:fld>
            <a:endParaRPr lang="en-US" altLang="zh-CN" sz="1400"/>
          </a:p>
        </p:txBody>
      </p:sp>
      <p:sp>
        <p:nvSpPr>
          <p:cNvPr id="880642" name="Rectangle 2"/>
          <p:cNvSpPr>
            <a:spLocks noChangeArrowheads="1"/>
          </p:cNvSpPr>
          <p:nvPr/>
        </p:nvSpPr>
        <p:spPr bwMode="auto">
          <a:xfrm>
            <a:off x="250825" y="1052513"/>
            <a:ext cx="8610600"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5-29  </a:t>
            </a:r>
            <a:r>
              <a:rPr lang="en-US" altLang="zh-CN" sz="2800" b="1">
                <a:latin typeface="宋体" panose="02010600030101010101" pitchFamily="2" charset="-122"/>
              </a:rPr>
              <a:t> </a:t>
            </a:r>
            <a:r>
              <a:rPr lang="zh-CN" altLang="en-US" sz="2800" b="1">
                <a:latin typeface="宋体" panose="02010600030101010101" pitchFamily="2" charset="-122"/>
              </a:rPr>
              <a:t>设计对称</a:t>
            </a:r>
            <a:r>
              <a:rPr lang="en-US" altLang="zh-CN" sz="2800" b="1">
                <a:latin typeface="宋体" panose="02010600030101010101" pitchFamily="2" charset="-122"/>
              </a:rPr>
              <a:t>FIR</a:t>
            </a:r>
            <a:r>
              <a:rPr lang="zh-CN" altLang="en-US" sz="2800" b="1">
                <a:latin typeface="宋体" panose="02010600030101010101" pitchFamily="2" charset="-122"/>
              </a:rPr>
              <a:t>滤波器（</a:t>
            </a:r>
            <a:r>
              <a:rPr lang="en-US" altLang="zh-CN" sz="2800" b="1">
                <a:latin typeface="宋体" panose="02010600030101010101" pitchFamily="2" charset="-122"/>
              </a:rPr>
              <a:t>N=8</a:t>
            </a:r>
            <a:r>
              <a:rPr lang="zh-CN" altLang="en-US" sz="2800" b="1">
                <a:latin typeface="宋体" panose="02010600030101010101" pitchFamily="2" charset="-122"/>
              </a:rPr>
              <a:t>）。</a:t>
            </a:r>
            <a:endParaRPr lang="zh-CN" altLang="en-US" sz="2800" b="1"/>
          </a:p>
          <a:p>
            <a:pPr algn="just" eaLnBrk="1" hangingPunct="1"/>
            <a:r>
              <a:rPr lang="zh-CN" altLang="en-US" sz="2800" b="1">
                <a:latin typeface="宋体" panose="02010600030101010101" pitchFamily="2" charset="-122"/>
              </a:rPr>
              <a:t>      </a:t>
            </a:r>
            <a:r>
              <a:rPr lang="en-US" altLang="zh-CN" sz="2800" b="1">
                <a:latin typeface="宋体" panose="02010600030101010101" pitchFamily="2" charset="-122"/>
              </a:rPr>
              <a:t>.title </a:t>
            </a:r>
            <a:r>
              <a:rPr lang="en-US" altLang="zh-CN" sz="2800" b="1"/>
              <a:t>“</a:t>
            </a:r>
            <a:r>
              <a:rPr lang="en-US" altLang="zh-CN" sz="2800" b="1">
                <a:latin typeface="宋体" panose="02010600030101010101" pitchFamily="2" charset="-122"/>
              </a:rPr>
              <a:t>FIR5.ASM</a:t>
            </a:r>
            <a:r>
              <a:rPr lang="en-US" altLang="zh-CN" sz="2800" b="1"/>
              <a:t>”</a:t>
            </a:r>
            <a:r>
              <a:rPr lang="en-US" altLang="zh-CN" sz="2800" b="1">
                <a:latin typeface="宋体" panose="02010600030101010101" pitchFamily="2" charset="-122"/>
              </a:rPr>
              <a:t> </a:t>
            </a:r>
            <a:r>
              <a:rPr lang="zh-CN" altLang="en-US" sz="2800" b="1">
                <a:latin typeface="宋体" panose="02010600030101010101" pitchFamily="2" charset="-122"/>
              </a:rPr>
              <a:t>；给汇编程序取名</a:t>
            </a:r>
            <a:endParaRPr lang="zh-CN" altLang="en-US" sz="2800" b="1"/>
          </a:p>
          <a:p>
            <a:pPr algn="just" eaLnBrk="1" hangingPunct="1"/>
            <a:r>
              <a:rPr lang="zh-CN" altLang="en-US" sz="2800" b="1">
                <a:latin typeface="宋体" panose="02010600030101010101" pitchFamily="2" charset="-122"/>
              </a:rPr>
              <a:t>      </a:t>
            </a:r>
            <a:r>
              <a:rPr lang="en-US" altLang="zh-CN" sz="2800" b="1">
                <a:solidFill>
                  <a:schemeClr val="folHlink"/>
                </a:solidFill>
                <a:latin typeface="宋体" panose="02010600030101010101" pitchFamily="2" charset="-122"/>
              </a:rPr>
              <a:t>.mmregs</a:t>
            </a:r>
            <a:r>
              <a:rPr lang="en-US" altLang="zh-CN" sz="2800" b="1">
                <a:latin typeface="宋体" panose="02010600030101010101" pitchFamily="2" charset="-122"/>
              </a:rPr>
              <a:t>        </a:t>
            </a:r>
            <a:r>
              <a:rPr lang="zh-CN" altLang="en-US" sz="2800" b="1">
                <a:latin typeface="宋体" panose="02010600030101010101" pitchFamily="2" charset="-122"/>
              </a:rPr>
              <a:t>；定义存储器映象寄存器</a:t>
            </a:r>
            <a:endParaRPr lang="zh-CN" altLang="en-US" sz="2800" b="1"/>
          </a:p>
          <a:p>
            <a:pPr algn="just" eaLnBrk="1" hangingPunct="1"/>
            <a:r>
              <a:rPr lang="zh-CN" altLang="en-US" sz="2800" b="1">
                <a:latin typeface="宋体" panose="02010600030101010101" pitchFamily="2" charset="-122"/>
              </a:rPr>
              <a:t>      </a:t>
            </a:r>
            <a:r>
              <a:rPr lang="en-US" altLang="zh-CN" sz="2800" b="1">
                <a:latin typeface="宋体" panose="02010600030101010101" pitchFamily="2" charset="-122"/>
              </a:rPr>
              <a:t>.def   start   </a:t>
            </a:r>
            <a:r>
              <a:rPr lang="zh-CN" altLang="en-US" sz="2800" b="1">
                <a:latin typeface="宋体" panose="02010600030101010101" pitchFamily="2" charset="-122"/>
              </a:rPr>
              <a:t>；定义标号</a:t>
            </a:r>
            <a:r>
              <a:rPr lang="en-US" altLang="zh-CN" sz="2800" b="1">
                <a:latin typeface="宋体" panose="02010600030101010101" pitchFamily="2" charset="-122"/>
              </a:rPr>
              <a:t>start</a:t>
            </a:r>
            <a:r>
              <a:rPr lang="zh-CN" altLang="en-US" sz="2800" b="1">
                <a:latin typeface="宋体" panose="02010600030101010101" pitchFamily="2" charset="-122"/>
              </a:rPr>
              <a:t>的起始位置</a:t>
            </a:r>
            <a:endParaRPr lang="zh-CN" altLang="en-US" sz="2800" b="1"/>
          </a:p>
          <a:p>
            <a:pPr algn="just" eaLnBrk="1" hangingPunct="1"/>
            <a:r>
              <a:rPr lang="zh-CN" altLang="en-US" sz="2800" b="1">
                <a:latin typeface="宋体" panose="02010600030101010101" pitchFamily="2" charset="-122"/>
              </a:rPr>
              <a:t>      </a:t>
            </a:r>
            <a:r>
              <a:rPr lang="en-US" altLang="zh-CN" sz="2800" b="1">
                <a:solidFill>
                  <a:srgbClr val="FF0000"/>
                </a:solidFill>
                <a:latin typeface="宋体" panose="02010600030101010101" pitchFamily="2" charset="-122"/>
              </a:rPr>
              <a:t>.bss   y,1</a:t>
            </a:r>
            <a:r>
              <a:rPr lang="en-US" altLang="zh-CN" sz="2800" b="1">
                <a:latin typeface="宋体" panose="02010600030101010101" pitchFamily="2" charset="-122"/>
              </a:rPr>
              <a:t>     </a:t>
            </a:r>
            <a:r>
              <a:rPr lang="zh-CN" altLang="en-US" sz="2800" b="1">
                <a:latin typeface="宋体" panose="02010600030101010101" pitchFamily="2" charset="-122"/>
              </a:rPr>
              <a:t>；为未初始化变量</a:t>
            </a:r>
            <a:r>
              <a:rPr lang="en-US" altLang="zh-CN" sz="2800" b="1">
                <a:latin typeface="宋体" panose="02010600030101010101" pitchFamily="2" charset="-122"/>
              </a:rPr>
              <a:t>y</a:t>
            </a:r>
            <a:r>
              <a:rPr lang="zh-CN" altLang="en-US" sz="2800" b="1">
                <a:latin typeface="宋体" panose="02010600030101010101" pitchFamily="2" charset="-122"/>
              </a:rPr>
              <a:t>保留空间</a:t>
            </a:r>
            <a:endParaRPr lang="zh-CN" altLang="en-US" sz="2800" b="1"/>
          </a:p>
          <a:p>
            <a:pPr algn="just" eaLnBrk="1" hangingPunct="1"/>
            <a:r>
              <a:rPr lang="en-US" altLang="zh-CN" sz="2800" b="1">
                <a:solidFill>
                  <a:schemeClr val="tx2"/>
                </a:solidFill>
                <a:latin typeface="宋体" panose="02010600030101010101" pitchFamily="2" charset="-122"/>
              </a:rPr>
              <a:t>x_new .usect </a:t>
            </a:r>
            <a:r>
              <a:rPr lang="en-US" altLang="zh-CN" sz="2800" b="1">
                <a:solidFill>
                  <a:schemeClr val="tx2"/>
                </a:solidFill>
              </a:rPr>
              <a:t>“</a:t>
            </a:r>
            <a:r>
              <a:rPr lang="en-US" altLang="zh-CN" sz="2800" b="1">
                <a:solidFill>
                  <a:schemeClr val="tx2"/>
                </a:solidFill>
                <a:latin typeface="宋体" panose="02010600030101010101" pitchFamily="2" charset="-122"/>
              </a:rPr>
              <a:t>DATA1</a:t>
            </a:r>
            <a:r>
              <a:rPr lang="en-US" altLang="zh-CN" sz="2800" b="1">
                <a:solidFill>
                  <a:schemeClr val="tx2"/>
                </a:solidFill>
              </a:rPr>
              <a:t>”</a:t>
            </a:r>
            <a:r>
              <a:rPr lang="en-US" altLang="zh-CN" sz="2800" b="1">
                <a:solidFill>
                  <a:schemeClr val="tx2"/>
                </a:solidFill>
                <a:latin typeface="宋体" panose="02010600030101010101" pitchFamily="2" charset="-122"/>
              </a:rPr>
              <a:t>,4 </a:t>
            </a:r>
            <a:r>
              <a:rPr lang="zh-CN" altLang="en-US" sz="2000" b="1">
                <a:solidFill>
                  <a:schemeClr val="tx2"/>
                </a:solidFill>
                <a:latin typeface="宋体" panose="02010600030101010101" pitchFamily="2" charset="-122"/>
              </a:rPr>
              <a:t>；自定义</a:t>
            </a:r>
            <a:r>
              <a:rPr lang="en-US" altLang="zh-CN" sz="2000" b="1">
                <a:solidFill>
                  <a:schemeClr val="tx2"/>
                </a:solidFill>
                <a:latin typeface="宋体" panose="02010600030101010101" pitchFamily="2" charset="-122"/>
              </a:rPr>
              <a:t>4</a:t>
            </a:r>
            <a:r>
              <a:rPr lang="zh-CN" altLang="en-US" sz="2000" b="1">
                <a:solidFill>
                  <a:schemeClr val="tx2"/>
                </a:solidFill>
                <a:latin typeface="宋体" panose="02010600030101010101" pitchFamily="2" charset="-122"/>
              </a:rPr>
              <a:t>个单元的未初始化段</a:t>
            </a:r>
            <a:r>
              <a:rPr lang="en-US" altLang="zh-CN" sz="2000" b="1">
                <a:solidFill>
                  <a:schemeClr val="tx2"/>
                </a:solidFill>
                <a:latin typeface="宋体" panose="02010600030101010101" pitchFamily="2" charset="-122"/>
              </a:rPr>
              <a:t>DTAT1</a:t>
            </a:r>
            <a:endParaRPr lang="en-US" altLang="zh-CN" sz="2000" b="1">
              <a:solidFill>
                <a:schemeClr val="tx2"/>
              </a:solidFill>
            </a:endParaRPr>
          </a:p>
          <a:p>
            <a:pPr algn="just" eaLnBrk="1" hangingPunct="1"/>
            <a:r>
              <a:rPr lang="en-US" altLang="zh-CN" sz="2800" b="1">
                <a:solidFill>
                  <a:schemeClr val="tx2"/>
                </a:solidFill>
                <a:latin typeface="宋体" panose="02010600030101010101" pitchFamily="2" charset="-122"/>
              </a:rPr>
              <a:t>x_old .usect </a:t>
            </a:r>
            <a:r>
              <a:rPr lang="en-US" altLang="zh-CN" sz="2800" b="1">
                <a:solidFill>
                  <a:schemeClr val="tx2"/>
                </a:solidFill>
              </a:rPr>
              <a:t>“</a:t>
            </a:r>
            <a:r>
              <a:rPr lang="en-US" altLang="zh-CN" sz="2800" b="1">
                <a:solidFill>
                  <a:schemeClr val="tx2"/>
                </a:solidFill>
                <a:latin typeface="宋体" panose="02010600030101010101" pitchFamily="2" charset="-122"/>
              </a:rPr>
              <a:t>DATA2</a:t>
            </a:r>
            <a:r>
              <a:rPr lang="en-US" altLang="zh-CN" sz="2800" b="1">
                <a:solidFill>
                  <a:schemeClr val="tx2"/>
                </a:solidFill>
              </a:rPr>
              <a:t>”</a:t>
            </a:r>
            <a:r>
              <a:rPr lang="en-US" altLang="zh-CN" sz="2800" b="1">
                <a:solidFill>
                  <a:schemeClr val="tx2"/>
                </a:solidFill>
                <a:latin typeface="宋体" panose="02010600030101010101" pitchFamily="2" charset="-122"/>
              </a:rPr>
              <a:t>,4 </a:t>
            </a:r>
            <a:r>
              <a:rPr lang="zh-CN" altLang="en-US" sz="2800" b="1">
                <a:solidFill>
                  <a:schemeClr val="tx2"/>
                </a:solidFill>
                <a:latin typeface="宋体" panose="02010600030101010101" pitchFamily="2" charset="-122"/>
              </a:rPr>
              <a:t>；</a:t>
            </a:r>
            <a:r>
              <a:rPr lang="zh-CN" altLang="en-US" sz="2000" b="1">
                <a:solidFill>
                  <a:schemeClr val="tx2"/>
                </a:solidFill>
                <a:latin typeface="宋体" panose="02010600030101010101" pitchFamily="2" charset="-122"/>
              </a:rPr>
              <a:t>自定义</a:t>
            </a:r>
            <a:r>
              <a:rPr lang="en-US" altLang="zh-CN" sz="2000" b="1">
                <a:solidFill>
                  <a:schemeClr val="tx2"/>
                </a:solidFill>
                <a:latin typeface="宋体" panose="02010600030101010101" pitchFamily="2" charset="-122"/>
              </a:rPr>
              <a:t>4</a:t>
            </a:r>
            <a:r>
              <a:rPr lang="zh-CN" altLang="en-US" sz="2000" b="1">
                <a:solidFill>
                  <a:schemeClr val="tx2"/>
                </a:solidFill>
                <a:latin typeface="宋体" panose="02010600030101010101" pitchFamily="2" charset="-122"/>
              </a:rPr>
              <a:t>个单元的未初始化段</a:t>
            </a:r>
            <a:r>
              <a:rPr lang="en-US" altLang="zh-CN" sz="2000" b="1">
                <a:solidFill>
                  <a:schemeClr val="tx2"/>
                </a:solidFill>
                <a:latin typeface="宋体" panose="02010600030101010101" pitchFamily="2" charset="-122"/>
              </a:rPr>
              <a:t>DATA2</a:t>
            </a:r>
            <a:endParaRPr lang="en-US" altLang="zh-CN" sz="2000" b="1">
              <a:solidFill>
                <a:schemeClr val="tx2"/>
              </a:solidFill>
            </a:endParaRPr>
          </a:p>
          <a:p>
            <a:pPr algn="just" eaLnBrk="1" hangingPunct="1"/>
            <a:r>
              <a:rPr lang="en-US" altLang="zh-CN" sz="2800" b="1">
                <a:latin typeface="宋体" panose="02010600030101010101" pitchFamily="2" charset="-122"/>
              </a:rPr>
              <a:t>size  .set    4       </a:t>
            </a:r>
            <a:r>
              <a:rPr lang="zh-CN" altLang="en-US" sz="2800" b="1">
                <a:latin typeface="宋体" panose="02010600030101010101" pitchFamily="2" charset="-122"/>
              </a:rPr>
              <a:t>；定义符号</a:t>
            </a:r>
            <a:r>
              <a:rPr lang="en-US" altLang="zh-CN" sz="2800" b="1">
                <a:latin typeface="宋体" panose="02010600030101010101" pitchFamily="2" charset="-122"/>
              </a:rPr>
              <a:t>size=4</a:t>
            </a:r>
            <a:endParaRPr lang="en-US" altLang="zh-CN" sz="2800" b="1"/>
          </a:p>
          <a:p>
            <a:pPr algn="just" eaLnBrk="1" hangingPunct="1"/>
            <a:r>
              <a:rPr lang="en-US" altLang="zh-CN" sz="2800" b="1">
                <a:solidFill>
                  <a:srgbClr val="FF6600"/>
                </a:solidFill>
                <a:latin typeface="宋体" panose="02010600030101010101" pitchFamily="2" charset="-122"/>
              </a:rPr>
              <a:t>PA0   .set    0   </a:t>
            </a:r>
            <a:r>
              <a:rPr lang="zh-CN" altLang="en-US" sz="2800" b="1">
                <a:solidFill>
                  <a:srgbClr val="FF6600"/>
                </a:solidFill>
                <a:latin typeface="宋体" panose="02010600030101010101" pitchFamily="2" charset="-122"/>
              </a:rPr>
              <a:t>；设置数据输出端口</a:t>
            </a:r>
            <a:r>
              <a:rPr lang="en-US" altLang="zh-CN" sz="2800" b="1">
                <a:solidFill>
                  <a:srgbClr val="FF6600"/>
                </a:solidFill>
                <a:latin typeface="宋体" panose="02010600030101010101" pitchFamily="2" charset="-122"/>
              </a:rPr>
              <a:t>I/O</a:t>
            </a:r>
            <a:r>
              <a:rPr lang="zh-CN" altLang="en-US" sz="2800" b="1">
                <a:solidFill>
                  <a:srgbClr val="FF6600"/>
                </a:solidFill>
                <a:latin typeface="宋体" panose="02010600030101010101" pitchFamily="2" charset="-122"/>
              </a:rPr>
              <a:t>，</a:t>
            </a:r>
            <a:r>
              <a:rPr lang="en-US" altLang="zh-CN" sz="2800" b="1">
                <a:solidFill>
                  <a:srgbClr val="FF6600"/>
                </a:solidFill>
                <a:latin typeface="宋体" panose="02010600030101010101" pitchFamily="2" charset="-122"/>
              </a:rPr>
              <a:t>PA0=0</a:t>
            </a:r>
            <a:endParaRPr lang="en-US" altLang="zh-CN" sz="2800" b="1">
              <a:solidFill>
                <a:srgbClr val="FF6600"/>
              </a:solidFill>
            </a:endParaRPr>
          </a:p>
          <a:p>
            <a:pPr algn="just" eaLnBrk="1" hangingPunct="1"/>
            <a:r>
              <a:rPr lang="en-US" altLang="zh-CN" sz="2800" b="1">
                <a:solidFill>
                  <a:srgbClr val="FF6600"/>
                </a:solidFill>
                <a:latin typeface="宋体" panose="02010600030101010101" pitchFamily="2" charset="-122"/>
              </a:rPr>
              <a:t>PA1   .set    1   </a:t>
            </a:r>
            <a:r>
              <a:rPr lang="zh-CN" altLang="en-US" sz="2800" b="1">
                <a:solidFill>
                  <a:srgbClr val="FF6600"/>
                </a:solidFill>
                <a:latin typeface="宋体" panose="02010600030101010101" pitchFamily="2" charset="-122"/>
              </a:rPr>
              <a:t>；设置数据输入端口</a:t>
            </a:r>
            <a:r>
              <a:rPr lang="en-US" altLang="zh-CN" sz="2800" b="1">
                <a:solidFill>
                  <a:srgbClr val="FF6600"/>
                </a:solidFill>
                <a:latin typeface="宋体" panose="02010600030101010101" pitchFamily="2" charset="-122"/>
              </a:rPr>
              <a:t>I/O</a:t>
            </a:r>
            <a:r>
              <a:rPr lang="zh-CN" altLang="en-US" sz="2800" b="1">
                <a:solidFill>
                  <a:srgbClr val="FF6600"/>
                </a:solidFill>
                <a:latin typeface="宋体" panose="02010600030101010101" pitchFamily="2" charset="-122"/>
              </a:rPr>
              <a:t>，</a:t>
            </a:r>
            <a:r>
              <a:rPr lang="en-US" altLang="zh-CN" sz="2800" b="1">
                <a:solidFill>
                  <a:srgbClr val="FF6600"/>
                </a:solidFill>
                <a:latin typeface="宋体" panose="02010600030101010101" pitchFamily="2" charset="-122"/>
              </a:rPr>
              <a:t>PA1=1</a:t>
            </a:r>
            <a:endParaRPr lang="en-US" altLang="zh-CN" sz="2800" b="1">
              <a:solidFill>
                <a:srgbClr val="FF6600"/>
              </a:solidFill>
            </a:endParaRPr>
          </a:p>
          <a:p>
            <a:pPr algn="just" eaLnBrk="1" hangingPunct="1"/>
            <a:r>
              <a:rPr lang="en-US" altLang="zh-CN" sz="2800" b="1">
                <a:latin typeface="宋体" panose="02010600030101010101" pitchFamily="2" charset="-122"/>
              </a:rPr>
              <a:t>      .data</a:t>
            </a:r>
            <a:endParaRPr lang="en-US" altLang="zh-CN" sz="2800" b="1"/>
          </a:p>
          <a:p>
            <a:pPr algn="just" eaLnBrk="1" hangingPunct="1"/>
            <a:r>
              <a:rPr lang="en-US" altLang="zh-CN" sz="2800" b="1">
                <a:latin typeface="宋体" panose="02010600030101010101" pitchFamily="2" charset="-122"/>
              </a:rPr>
              <a:t>COEF .word  1*32768/10,2*32768/10</a:t>
            </a:r>
            <a:r>
              <a:rPr lang="zh-CN" altLang="en-US" sz="2800" b="1">
                <a:latin typeface="宋体" panose="02010600030101010101" pitchFamily="2" charset="-122"/>
              </a:rPr>
              <a:t>；</a:t>
            </a:r>
            <a:r>
              <a:rPr lang="zh-CN" altLang="en-US" b="1">
                <a:latin typeface="宋体" panose="02010600030101010101" pitchFamily="2" charset="-122"/>
              </a:rPr>
              <a:t>系数对称</a:t>
            </a:r>
            <a:r>
              <a:rPr lang="en-US" altLang="zh-CN" b="1">
                <a:latin typeface="宋体" panose="02010600030101010101" pitchFamily="2" charset="-122"/>
              </a:rPr>
              <a:t>,</a:t>
            </a:r>
            <a:r>
              <a:rPr lang="zh-CN" altLang="en-US" b="1">
                <a:latin typeface="宋体" panose="02010600030101010101" pitchFamily="2" charset="-122"/>
              </a:rPr>
              <a:t>只需</a:t>
            </a:r>
          </a:p>
          <a:p>
            <a:pPr algn="just" eaLnBrk="1" hangingPunct="1"/>
            <a:r>
              <a:rPr lang="zh-CN" altLang="en-US" sz="2000" b="1">
                <a:latin typeface="宋体" panose="02010600030101010101" pitchFamily="2" charset="-122"/>
              </a:rPr>
              <a:t>       </a:t>
            </a:r>
            <a:r>
              <a:rPr lang="en-US" altLang="zh-CN" sz="2800" b="1">
                <a:latin typeface="宋体" panose="02010600030101010101" pitchFamily="2" charset="-122"/>
              </a:rPr>
              <a:t>.word  3*32768/10,4*32768/10 </a:t>
            </a:r>
            <a:r>
              <a:rPr lang="zh-CN" altLang="en-US" sz="2800" b="1">
                <a:latin typeface="宋体" panose="02010600030101010101" pitchFamily="2" charset="-122"/>
              </a:rPr>
              <a:t>；</a:t>
            </a:r>
            <a:r>
              <a:rPr lang="zh-CN" altLang="en-US" sz="2000" b="1">
                <a:latin typeface="宋体" panose="02010600030101010101" pitchFamily="2" charset="-122"/>
              </a:rPr>
              <a:t>给出</a:t>
            </a:r>
            <a:r>
              <a:rPr lang="en-US" altLang="zh-CN" sz="2000" b="1">
                <a:latin typeface="宋体" panose="02010600030101010101" pitchFamily="2" charset="-122"/>
              </a:rPr>
              <a:t>N/2=4</a:t>
            </a:r>
            <a:r>
              <a:rPr lang="zh-CN" altLang="en-US" sz="2000" b="1">
                <a:latin typeface="宋体" panose="02010600030101010101" pitchFamily="2" charset="-122"/>
              </a:rPr>
              <a:t>个系数</a:t>
            </a:r>
          </a:p>
        </p:txBody>
      </p:sp>
      <p:pic>
        <p:nvPicPr>
          <p:cNvPr id="102406"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9775" y="115888"/>
            <a:ext cx="3276600" cy="9794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80642">
                                            <p:txEl>
                                              <p:pRg st="0" end="0"/>
                                            </p:txEl>
                                          </p:spTgt>
                                        </p:tgtEl>
                                        <p:attrNameLst>
                                          <p:attrName>style.visibility</p:attrName>
                                        </p:attrNameLst>
                                      </p:cBhvr>
                                      <p:to>
                                        <p:strVal val="visible"/>
                                      </p:to>
                                    </p:set>
                                    <p:animEffect transition="in" filter="slide(fromTop)">
                                      <p:cBhvr>
                                        <p:cTn id="7" dur="500"/>
                                        <p:tgtEl>
                                          <p:spTgt spid="880642">
                                            <p:txEl>
                                              <p:pRg st="0" end="0"/>
                                            </p:txEl>
                                          </p:spTgt>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80642">
                                            <p:txEl>
                                              <p:pRg st="1" end="1"/>
                                            </p:txEl>
                                          </p:spTgt>
                                        </p:tgtEl>
                                        <p:attrNameLst>
                                          <p:attrName>style.visibility</p:attrName>
                                        </p:attrNameLst>
                                      </p:cBhvr>
                                      <p:to>
                                        <p:strVal val="visible"/>
                                      </p:to>
                                    </p:set>
                                    <p:animEffect transition="in" filter="slide(fromLeft)">
                                      <p:cBhvr>
                                        <p:cTn id="11" dur="500"/>
                                        <p:tgtEl>
                                          <p:spTgt spid="880642">
                                            <p:txEl>
                                              <p:pRg st="1" end="1"/>
                                            </p:txEl>
                                          </p:spTgt>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880642">
                                            <p:txEl>
                                              <p:pRg st="2" end="2"/>
                                            </p:txEl>
                                          </p:spTgt>
                                        </p:tgtEl>
                                        <p:attrNameLst>
                                          <p:attrName>style.visibility</p:attrName>
                                        </p:attrNameLst>
                                      </p:cBhvr>
                                      <p:to>
                                        <p:strVal val="visible"/>
                                      </p:to>
                                    </p:set>
                                    <p:animEffect transition="in" filter="slide(fromLeft)">
                                      <p:cBhvr>
                                        <p:cTn id="15" dur="500"/>
                                        <p:tgtEl>
                                          <p:spTgt spid="880642">
                                            <p:txEl>
                                              <p:pRg st="2" end="2"/>
                                            </p:txEl>
                                          </p:spTgt>
                                        </p:tgtEl>
                                      </p:cBhvr>
                                    </p:animEffect>
                                  </p:childTnLst>
                                </p:cTn>
                              </p:par>
                            </p:childTnLst>
                          </p:cTn>
                        </p:par>
                        <p:par>
                          <p:cTn id="16" fill="hold" nodeType="afterGroup">
                            <p:stCondLst>
                              <p:cond delay="1500"/>
                            </p:stCondLst>
                            <p:childTnLst>
                              <p:par>
                                <p:cTn id="17" presetID="12" presetClass="entr" presetSubtype="8" fill="hold" grpId="0" nodeType="afterEffect">
                                  <p:stCondLst>
                                    <p:cond delay="0"/>
                                  </p:stCondLst>
                                  <p:childTnLst>
                                    <p:set>
                                      <p:cBhvr>
                                        <p:cTn id="18" dur="1" fill="hold">
                                          <p:stCondLst>
                                            <p:cond delay="0"/>
                                          </p:stCondLst>
                                        </p:cTn>
                                        <p:tgtEl>
                                          <p:spTgt spid="880642">
                                            <p:txEl>
                                              <p:pRg st="3" end="3"/>
                                            </p:txEl>
                                          </p:spTgt>
                                        </p:tgtEl>
                                        <p:attrNameLst>
                                          <p:attrName>style.visibility</p:attrName>
                                        </p:attrNameLst>
                                      </p:cBhvr>
                                      <p:to>
                                        <p:strVal val="visible"/>
                                      </p:to>
                                    </p:set>
                                    <p:animEffect transition="in" filter="slide(fromLeft)">
                                      <p:cBhvr>
                                        <p:cTn id="19" dur="500"/>
                                        <p:tgtEl>
                                          <p:spTgt spid="880642">
                                            <p:txEl>
                                              <p:pRg st="3" end="3"/>
                                            </p:txEl>
                                          </p:spTgt>
                                        </p:tgtEl>
                                      </p:cBhvr>
                                    </p:animEffect>
                                  </p:childTnLst>
                                </p:cTn>
                              </p:par>
                            </p:childTnLst>
                          </p:cTn>
                        </p:par>
                        <p:par>
                          <p:cTn id="20" fill="hold" nodeType="afterGroup">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880642">
                                            <p:txEl>
                                              <p:pRg st="4" end="4"/>
                                            </p:txEl>
                                          </p:spTgt>
                                        </p:tgtEl>
                                        <p:attrNameLst>
                                          <p:attrName>style.visibility</p:attrName>
                                        </p:attrNameLst>
                                      </p:cBhvr>
                                      <p:to>
                                        <p:strVal val="visible"/>
                                      </p:to>
                                    </p:set>
                                    <p:animEffect transition="in" filter="slide(fromLeft)">
                                      <p:cBhvr>
                                        <p:cTn id="23" dur="500"/>
                                        <p:tgtEl>
                                          <p:spTgt spid="880642">
                                            <p:txEl>
                                              <p:pRg st="4" end="4"/>
                                            </p:txEl>
                                          </p:spTgt>
                                        </p:tgtEl>
                                      </p:cBhvr>
                                    </p:animEffect>
                                  </p:childTnLst>
                                </p:cTn>
                              </p:par>
                            </p:childTnLst>
                          </p:cTn>
                        </p:par>
                        <p:par>
                          <p:cTn id="24" fill="hold" nodeType="afterGroup">
                            <p:stCondLst>
                              <p:cond delay="2500"/>
                            </p:stCondLst>
                            <p:childTnLst>
                              <p:par>
                                <p:cTn id="25" presetID="12" presetClass="entr" presetSubtype="8" fill="hold" grpId="0" nodeType="afterEffect">
                                  <p:stCondLst>
                                    <p:cond delay="0"/>
                                  </p:stCondLst>
                                  <p:childTnLst>
                                    <p:set>
                                      <p:cBhvr>
                                        <p:cTn id="26" dur="1" fill="hold">
                                          <p:stCondLst>
                                            <p:cond delay="0"/>
                                          </p:stCondLst>
                                        </p:cTn>
                                        <p:tgtEl>
                                          <p:spTgt spid="880642">
                                            <p:txEl>
                                              <p:pRg st="5" end="5"/>
                                            </p:txEl>
                                          </p:spTgt>
                                        </p:tgtEl>
                                        <p:attrNameLst>
                                          <p:attrName>style.visibility</p:attrName>
                                        </p:attrNameLst>
                                      </p:cBhvr>
                                      <p:to>
                                        <p:strVal val="visible"/>
                                      </p:to>
                                    </p:set>
                                    <p:animEffect transition="in" filter="slide(fromLeft)">
                                      <p:cBhvr>
                                        <p:cTn id="27" dur="500"/>
                                        <p:tgtEl>
                                          <p:spTgt spid="880642">
                                            <p:txEl>
                                              <p:pRg st="5" end="5"/>
                                            </p:txEl>
                                          </p:spTgt>
                                        </p:tgtEl>
                                      </p:cBhvr>
                                    </p:animEffect>
                                  </p:childTnLst>
                                </p:cTn>
                              </p:par>
                            </p:childTnLst>
                          </p:cTn>
                        </p:par>
                        <p:par>
                          <p:cTn id="28" fill="hold" nodeType="afterGroup">
                            <p:stCondLst>
                              <p:cond delay="3000"/>
                            </p:stCondLst>
                            <p:childTnLst>
                              <p:par>
                                <p:cTn id="29" presetID="12" presetClass="entr" presetSubtype="8" fill="hold" grpId="0" nodeType="afterEffect">
                                  <p:stCondLst>
                                    <p:cond delay="0"/>
                                  </p:stCondLst>
                                  <p:childTnLst>
                                    <p:set>
                                      <p:cBhvr>
                                        <p:cTn id="30" dur="1" fill="hold">
                                          <p:stCondLst>
                                            <p:cond delay="0"/>
                                          </p:stCondLst>
                                        </p:cTn>
                                        <p:tgtEl>
                                          <p:spTgt spid="880642">
                                            <p:txEl>
                                              <p:pRg st="6" end="6"/>
                                            </p:txEl>
                                          </p:spTgt>
                                        </p:tgtEl>
                                        <p:attrNameLst>
                                          <p:attrName>style.visibility</p:attrName>
                                        </p:attrNameLst>
                                      </p:cBhvr>
                                      <p:to>
                                        <p:strVal val="visible"/>
                                      </p:to>
                                    </p:set>
                                    <p:animEffect transition="in" filter="slide(fromLeft)">
                                      <p:cBhvr>
                                        <p:cTn id="31" dur="500"/>
                                        <p:tgtEl>
                                          <p:spTgt spid="880642">
                                            <p:txEl>
                                              <p:pRg st="6" end="6"/>
                                            </p:txEl>
                                          </p:spTgt>
                                        </p:tgtEl>
                                      </p:cBhvr>
                                    </p:animEffect>
                                  </p:childTnLst>
                                </p:cTn>
                              </p:par>
                            </p:childTnLst>
                          </p:cTn>
                        </p:par>
                        <p:par>
                          <p:cTn id="32" fill="hold" nodeType="afterGroup">
                            <p:stCondLst>
                              <p:cond delay="3500"/>
                            </p:stCondLst>
                            <p:childTnLst>
                              <p:par>
                                <p:cTn id="33" presetID="12" presetClass="entr" presetSubtype="8" fill="hold" grpId="0" nodeType="afterEffect">
                                  <p:stCondLst>
                                    <p:cond delay="0"/>
                                  </p:stCondLst>
                                  <p:childTnLst>
                                    <p:set>
                                      <p:cBhvr>
                                        <p:cTn id="34" dur="1" fill="hold">
                                          <p:stCondLst>
                                            <p:cond delay="0"/>
                                          </p:stCondLst>
                                        </p:cTn>
                                        <p:tgtEl>
                                          <p:spTgt spid="880642">
                                            <p:txEl>
                                              <p:pRg st="7" end="7"/>
                                            </p:txEl>
                                          </p:spTgt>
                                        </p:tgtEl>
                                        <p:attrNameLst>
                                          <p:attrName>style.visibility</p:attrName>
                                        </p:attrNameLst>
                                      </p:cBhvr>
                                      <p:to>
                                        <p:strVal val="visible"/>
                                      </p:to>
                                    </p:set>
                                    <p:animEffect transition="in" filter="slide(fromLeft)">
                                      <p:cBhvr>
                                        <p:cTn id="35" dur="500"/>
                                        <p:tgtEl>
                                          <p:spTgt spid="880642">
                                            <p:txEl>
                                              <p:pRg st="7" end="7"/>
                                            </p:txEl>
                                          </p:spTgt>
                                        </p:tgtEl>
                                      </p:cBhvr>
                                    </p:animEffect>
                                  </p:childTnLst>
                                </p:cTn>
                              </p:par>
                            </p:childTnLst>
                          </p:cTn>
                        </p:par>
                        <p:par>
                          <p:cTn id="36" fill="hold" nodeType="afterGroup">
                            <p:stCondLst>
                              <p:cond delay="4000"/>
                            </p:stCondLst>
                            <p:childTnLst>
                              <p:par>
                                <p:cTn id="37" presetID="12" presetClass="entr" presetSubtype="8" fill="hold" grpId="0" nodeType="afterEffect">
                                  <p:stCondLst>
                                    <p:cond delay="0"/>
                                  </p:stCondLst>
                                  <p:childTnLst>
                                    <p:set>
                                      <p:cBhvr>
                                        <p:cTn id="38" dur="1" fill="hold">
                                          <p:stCondLst>
                                            <p:cond delay="0"/>
                                          </p:stCondLst>
                                        </p:cTn>
                                        <p:tgtEl>
                                          <p:spTgt spid="880642">
                                            <p:txEl>
                                              <p:pRg st="8" end="8"/>
                                            </p:txEl>
                                          </p:spTgt>
                                        </p:tgtEl>
                                        <p:attrNameLst>
                                          <p:attrName>style.visibility</p:attrName>
                                        </p:attrNameLst>
                                      </p:cBhvr>
                                      <p:to>
                                        <p:strVal val="visible"/>
                                      </p:to>
                                    </p:set>
                                    <p:animEffect transition="in" filter="slide(fromLeft)">
                                      <p:cBhvr>
                                        <p:cTn id="39" dur="500"/>
                                        <p:tgtEl>
                                          <p:spTgt spid="880642">
                                            <p:txEl>
                                              <p:pRg st="8" end="8"/>
                                            </p:txEl>
                                          </p:spTgt>
                                        </p:tgtEl>
                                      </p:cBhvr>
                                    </p:animEffect>
                                  </p:childTnLst>
                                </p:cTn>
                              </p:par>
                            </p:childTnLst>
                          </p:cTn>
                        </p:par>
                        <p:par>
                          <p:cTn id="40" fill="hold" nodeType="afterGroup">
                            <p:stCondLst>
                              <p:cond delay="4500"/>
                            </p:stCondLst>
                            <p:childTnLst>
                              <p:par>
                                <p:cTn id="41" presetID="12" presetClass="entr" presetSubtype="8" fill="hold" grpId="0" nodeType="afterEffect">
                                  <p:stCondLst>
                                    <p:cond delay="0"/>
                                  </p:stCondLst>
                                  <p:childTnLst>
                                    <p:set>
                                      <p:cBhvr>
                                        <p:cTn id="42" dur="1" fill="hold">
                                          <p:stCondLst>
                                            <p:cond delay="0"/>
                                          </p:stCondLst>
                                        </p:cTn>
                                        <p:tgtEl>
                                          <p:spTgt spid="880642">
                                            <p:txEl>
                                              <p:pRg st="9" end="9"/>
                                            </p:txEl>
                                          </p:spTgt>
                                        </p:tgtEl>
                                        <p:attrNameLst>
                                          <p:attrName>style.visibility</p:attrName>
                                        </p:attrNameLst>
                                      </p:cBhvr>
                                      <p:to>
                                        <p:strVal val="visible"/>
                                      </p:to>
                                    </p:set>
                                    <p:animEffect transition="in" filter="slide(fromLeft)">
                                      <p:cBhvr>
                                        <p:cTn id="43" dur="500"/>
                                        <p:tgtEl>
                                          <p:spTgt spid="880642">
                                            <p:txEl>
                                              <p:pRg st="9" end="9"/>
                                            </p:txEl>
                                          </p:spTgt>
                                        </p:tgtEl>
                                      </p:cBhvr>
                                    </p:animEffect>
                                  </p:childTnLst>
                                </p:cTn>
                              </p:par>
                            </p:childTnLst>
                          </p:cTn>
                        </p:par>
                        <p:par>
                          <p:cTn id="44" fill="hold" nodeType="afterGroup">
                            <p:stCondLst>
                              <p:cond delay="5000"/>
                            </p:stCondLst>
                            <p:childTnLst>
                              <p:par>
                                <p:cTn id="45" presetID="12" presetClass="entr" presetSubtype="8" fill="hold" grpId="0" nodeType="afterEffect">
                                  <p:stCondLst>
                                    <p:cond delay="0"/>
                                  </p:stCondLst>
                                  <p:childTnLst>
                                    <p:set>
                                      <p:cBhvr>
                                        <p:cTn id="46" dur="1" fill="hold">
                                          <p:stCondLst>
                                            <p:cond delay="0"/>
                                          </p:stCondLst>
                                        </p:cTn>
                                        <p:tgtEl>
                                          <p:spTgt spid="880642">
                                            <p:txEl>
                                              <p:pRg st="10" end="10"/>
                                            </p:txEl>
                                          </p:spTgt>
                                        </p:tgtEl>
                                        <p:attrNameLst>
                                          <p:attrName>style.visibility</p:attrName>
                                        </p:attrNameLst>
                                      </p:cBhvr>
                                      <p:to>
                                        <p:strVal val="visible"/>
                                      </p:to>
                                    </p:set>
                                    <p:animEffect transition="in" filter="slide(fromLeft)">
                                      <p:cBhvr>
                                        <p:cTn id="47" dur="500"/>
                                        <p:tgtEl>
                                          <p:spTgt spid="880642">
                                            <p:txEl>
                                              <p:pRg st="10" end="10"/>
                                            </p:txEl>
                                          </p:spTgt>
                                        </p:tgtEl>
                                      </p:cBhvr>
                                    </p:animEffect>
                                  </p:childTnLst>
                                </p:cTn>
                              </p:par>
                            </p:childTnLst>
                          </p:cTn>
                        </p:par>
                        <p:par>
                          <p:cTn id="48" fill="hold" nodeType="afterGroup">
                            <p:stCondLst>
                              <p:cond delay="5500"/>
                            </p:stCondLst>
                            <p:childTnLst>
                              <p:par>
                                <p:cTn id="49" presetID="12" presetClass="entr" presetSubtype="8" fill="hold" grpId="0" nodeType="afterEffect">
                                  <p:stCondLst>
                                    <p:cond delay="0"/>
                                  </p:stCondLst>
                                  <p:childTnLst>
                                    <p:set>
                                      <p:cBhvr>
                                        <p:cTn id="50" dur="1" fill="hold">
                                          <p:stCondLst>
                                            <p:cond delay="0"/>
                                          </p:stCondLst>
                                        </p:cTn>
                                        <p:tgtEl>
                                          <p:spTgt spid="880642">
                                            <p:txEl>
                                              <p:pRg st="11" end="11"/>
                                            </p:txEl>
                                          </p:spTgt>
                                        </p:tgtEl>
                                        <p:attrNameLst>
                                          <p:attrName>style.visibility</p:attrName>
                                        </p:attrNameLst>
                                      </p:cBhvr>
                                      <p:to>
                                        <p:strVal val="visible"/>
                                      </p:to>
                                    </p:set>
                                    <p:animEffect transition="in" filter="slide(fromLeft)">
                                      <p:cBhvr>
                                        <p:cTn id="51" dur="500"/>
                                        <p:tgtEl>
                                          <p:spTgt spid="880642">
                                            <p:txEl>
                                              <p:pRg st="11" end="11"/>
                                            </p:txEl>
                                          </p:spTgt>
                                        </p:tgtEl>
                                      </p:cBhvr>
                                    </p:animEffect>
                                  </p:childTnLst>
                                </p:cTn>
                              </p:par>
                            </p:childTnLst>
                          </p:cTn>
                        </p:par>
                        <p:par>
                          <p:cTn id="52" fill="hold" nodeType="afterGroup">
                            <p:stCondLst>
                              <p:cond delay="6000"/>
                            </p:stCondLst>
                            <p:childTnLst>
                              <p:par>
                                <p:cTn id="53" presetID="12" presetClass="entr" presetSubtype="8" fill="hold" grpId="0" nodeType="afterEffect">
                                  <p:stCondLst>
                                    <p:cond delay="0"/>
                                  </p:stCondLst>
                                  <p:childTnLst>
                                    <p:set>
                                      <p:cBhvr>
                                        <p:cTn id="54" dur="1" fill="hold">
                                          <p:stCondLst>
                                            <p:cond delay="0"/>
                                          </p:stCondLst>
                                        </p:cTn>
                                        <p:tgtEl>
                                          <p:spTgt spid="880642">
                                            <p:txEl>
                                              <p:pRg st="12" end="12"/>
                                            </p:txEl>
                                          </p:spTgt>
                                        </p:tgtEl>
                                        <p:attrNameLst>
                                          <p:attrName>style.visibility</p:attrName>
                                        </p:attrNameLst>
                                      </p:cBhvr>
                                      <p:to>
                                        <p:strVal val="visible"/>
                                      </p:to>
                                    </p:set>
                                    <p:animEffect transition="in" filter="slide(fromLeft)">
                                      <p:cBhvr>
                                        <p:cTn id="55" dur="500"/>
                                        <p:tgtEl>
                                          <p:spTgt spid="88064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42" grpId="0" build="allAtOnce"/>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F4C68BF-B699-47F4-8206-E2C994E56962}" type="slidenum">
              <a:rPr lang="en-US" altLang="zh-CN" sz="1400"/>
              <a:pPr eaLnBrk="1" hangingPunct="1"/>
              <a:t>96</a:t>
            </a:fld>
            <a:endParaRPr lang="en-US" altLang="zh-CN" sz="1400"/>
          </a:p>
        </p:txBody>
      </p:sp>
      <p:sp>
        <p:nvSpPr>
          <p:cNvPr id="881666" name="Rectangle 2"/>
          <p:cNvSpPr>
            <a:spLocks noChangeArrowheads="1"/>
          </p:cNvSpPr>
          <p:nvPr/>
        </p:nvSpPr>
        <p:spPr bwMode="auto">
          <a:xfrm>
            <a:off x="304800" y="1219200"/>
            <a:ext cx="84582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800" b="1"/>
              <a:t>          .text</a:t>
            </a:r>
          </a:p>
          <a:p>
            <a:pPr algn="just"/>
            <a:r>
              <a:rPr lang="en-US" altLang="zh-CN" sz="2800" b="1"/>
              <a:t>start: LD     #y,DP            </a:t>
            </a:r>
            <a:r>
              <a:rPr lang="zh-CN" altLang="en-US" sz="2000" b="1"/>
              <a:t>；设置数据存储器页指针的起始位置</a:t>
            </a:r>
          </a:p>
          <a:p>
            <a:pPr algn="just"/>
            <a:r>
              <a:rPr lang="zh-CN" altLang="en-US" sz="2800" b="1"/>
              <a:t>         </a:t>
            </a:r>
            <a:r>
              <a:rPr lang="en-US" altLang="zh-CN" sz="2800" b="1">
                <a:solidFill>
                  <a:schemeClr val="folHlink"/>
                </a:solidFill>
              </a:rPr>
              <a:t>SSBX  FRCT</a:t>
            </a:r>
            <a:r>
              <a:rPr lang="en-US" altLang="zh-CN" sz="2800" b="1"/>
              <a:t>           </a:t>
            </a:r>
            <a:r>
              <a:rPr lang="zh-CN" altLang="en-US" sz="2800" b="1"/>
              <a:t>；小数乘法</a:t>
            </a:r>
          </a:p>
          <a:p>
            <a:pPr algn="just"/>
            <a:r>
              <a:rPr lang="zh-CN" altLang="en-US" sz="2800" b="1"/>
              <a:t>         </a:t>
            </a:r>
            <a:r>
              <a:rPr lang="en-US" altLang="zh-CN" sz="2800" b="1">
                <a:solidFill>
                  <a:schemeClr val="tx2"/>
                </a:solidFill>
              </a:rPr>
              <a:t>STM   #x_new,AR2 </a:t>
            </a:r>
            <a:r>
              <a:rPr lang="zh-CN" altLang="en-US" sz="2800" b="1"/>
              <a:t>；</a:t>
            </a:r>
            <a:r>
              <a:rPr lang="en-US" altLang="zh-CN" b="1"/>
              <a:t>AR2</a:t>
            </a:r>
            <a:r>
              <a:rPr lang="zh-CN" altLang="en-US" b="1"/>
              <a:t>指向新缓冲区第</a:t>
            </a:r>
            <a:r>
              <a:rPr lang="en-US" altLang="zh-CN" b="1"/>
              <a:t>1</a:t>
            </a:r>
            <a:r>
              <a:rPr lang="zh-CN" altLang="en-US" b="1"/>
              <a:t>个单元</a:t>
            </a:r>
          </a:p>
          <a:p>
            <a:pPr algn="just"/>
            <a:r>
              <a:rPr lang="zh-CN" altLang="en-US" sz="2800" b="1">
                <a:solidFill>
                  <a:schemeClr val="tx2"/>
                </a:solidFill>
              </a:rPr>
              <a:t>         </a:t>
            </a:r>
            <a:r>
              <a:rPr lang="en-US" altLang="zh-CN" sz="2800" b="1">
                <a:solidFill>
                  <a:schemeClr val="tx2"/>
                </a:solidFill>
              </a:rPr>
              <a:t>STM   #x_old+</a:t>
            </a:r>
            <a:r>
              <a:rPr lang="zh-CN" altLang="en-US" sz="2800" b="1">
                <a:solidFill>
                  <a:schemeClr val="tx2"/>
                </a:solidFill>
              </a:rPr>
              <a:t>（</a:t>
            </a:r>
            <a:r>
              <a:rPr lang="en-US" altLang="zh-CN" sz="2800" b="1">
                <a:solidFill>
                  <a:schemeClr val="tx2"/>
                </a:solidFill>
              </a:rPr>
              <a:t>size-1</a:t>
            </a:r>
            <a:r>
              <a:rPr lang="zh-CN" altLang="en-US" sz="2800" b="1">
                <a:solidFill>
                  <a:schemeClr val="tx2"/>
                </a:solidFill>
              </a:rPr>
              <a:t>）</a:t>
            </a:r>
            <a:r>
              <a:rPr lang="en-US" altLang="zh-CN" sz="2800" b="1">
                <a:solidFill>
                  <a:schemeClr val="tx2"/>
                </a:solidFill>
              </a:rPr>
              <a:t>,AR3  </a:t>
            </a:r>
            <a:r>
              <a:rPr lang="zh-CN" altLang="en-US" sz="2800" b="1"/>
              <a:t>；</a:t>
            </a:r>
            <a:r>
              <a:rPr lang="en-US" altLang="zh-CN" sz="2800" b="1"/>
              <a:t>AR3</a:t>
            </a:r>
            <a:r>
              <a:rPr lang="zh-CN" altLang="en-US" sz="2800" b="1"/>
              <a:t>指向老缓</a:t>
            </a:r>
          </a:p>
          <a:p>
            <a:pPr algn="just"/>
            <a:r>
              <a:rPr lang="zh-CN" altLang="en-US" sz="2800" b="1"/>
              <a:t>                                         ；冲区最后</a:t>
            </a:r>
            <a:r>
              <a:rPr lang="en-US" altLang="zh-CN" sz="2800" b="1"/>
              <a:t>1</a:t>
            </a:r>
            <a:r>
              <a:rPr lang="zh-CN" altLang="en-US" sz="2800" b="1"/>
              <a:t>个单元</a:t>
            </a:r>
          </a:p>
          <a:p>
            <a:pPr algn="just"/>
            <a:r>
              <a:rPr lang="zh-CN" altLang="en-US" sz="2800" b="1">
                <a:solidFill>
                  <a:srgbClr val="FF00FF"/>
                </a:solidFill>
              </a:rPr>
              <a:t>         </a:t>
            </a:r>
            <a:r>
              <a:rPr lang="en-US" altLang="zh-CN" sz="2800" b="1">
                <a:solidFill>
                  <a:srgbClr val="FF00FF"/>
                </a:solidFill>
              </a:rPr>
              <a:t>STM      #size,BK</a:t>
            </a:r>
            <a:r>
              <a:rPr lang="en-US" altLang="zh-CN" sz="2800" b="1"/>
              <a:t>   </a:t>
            </a:r>
            <a:r>
              <a:rPr lang="zh-CN" altLang="en-US" sz="2800" b="1"/>
              <a:t>；</a:t>
            </a:r>
            <a:r>
              <a:rPr lang="zh-CN" altLang="en-US" b="1"/>
              <a:t>设置循环缓冲区长度</a:t>
            </a:r>
            <a:r>
              <a:rPr lang="en-US" altLang="zh-CN" b="1"/>
              <a:t>BK =size</a:t>
            </a:r>
          </a:p>
          <a:p>
            <a:pPr algn="just"/>
            <a:r>
              <a:rPr lang="en-US" altLang="zh-CN" sz="2800" b="1">
                <a:solidFill>
                  <a:srgbClr val="FF00FF"/>
                </a:solidFill>
              </a:rPr>
              <a:t>         STM      #</a:t>
            </a:r>
            <a:r>
              <a:rPr lang="en-US" altLang="zh-CN" sz="2800" b="1">
                <a:solidFill>
                  <a:srgbClr val="660066"/>
                </a:solidFill>
              </a:rPr>
              <a:t>-1</a:t>
            </a:r>
            <a:r>
              <a:rPr lang="en-US" altLang="zh-CN" sz="2800" b="1">
                <a:solidFill>
                  <a:srgbClr val="FF00FF"/>
                </a:solidFill>
              </a:rPr>
              <a:t>,AR0</a:t>
            </a:r>
            <a:r>
              <a:rPr lang="en-US" altLang="zh-CN" sz="2800" b="1"/>
              <a:t>    </a:t>
            </a:r>
            <a:r>
              <a:rPr lang="zh-CN" altLang="en-US" sz="2800" b="1"/>
              <a:t>；循环控制增量</a:t>
            </a:r>
            <a:r>
              <a:rPr lang="en-US" altLang="zh-CN" sz="2800" b="1"/>
              <a:t>AR0=-1</a:t>
            </a:r>
          </a:p>
          <a:p>
            <a:pPr algn="just"/>
            <a:r>
              <a:rPr lang="en-US" altLang="zh-CN" sz="2800" b="1"/>
              <a:t>         </a:t>
            </a:r>
            <a:r>
              <a:rPr lang="en-US" altLang="zh-CN" sz="2800" b="1">
                <a:solidFill>
                  <a:srgbClr val="FF6600"/>
                </a:solidFill>
              </a:rPr>
              <a:t>PORTR    PA1,#x_new  </a:t>
            </a:r>
            <a:r>
              <a:rPr lang="zh-CN" altLang="en-US" sz="2800" b="1"/>
              <a:t>；从</a:t>
            </a:r>
            <a:r>
              <a:rPr lang="en-US" altLang="zh-CN" sz="2800" b="1"/>
              <a:t>I/O</a:t>
            </a:r>
            <a:r>
              <a:rPr lang="zh-CN" altLang="en-US" sz="2800" b="1"/>
              <a:t>输入端口</a:t>
            </a:r>
            <a:r>
              <a:rPr lang="en-US" altLang="zh-CN" sz="2800" b="1"/>
              <a:t>PA1</a:t>
            </a:r>
          </a:p>
          <a:p>
            <a:pPr algn="just"/>
            <a:r>
              <a:rPr lang="en-US" altLang="zh-CN" sz="2800" b="1"/>
              <a:t>                                         </a:t>
            </a:r>
            <a:r>
              <a:rPr lang="zh-CN" altLang="en-US" sz="2800" b="1"/>
              <a:t>；输入数据到</a:t>
            </a:r>
            <a:r>
              <a:rPr lang="en-US" altLang="zh-CN" sz="2800" b="1"/>
              <a:t>x</a:t>
            </a:r>
            <a:r>
              <a:rPr lang="zh-CN" altLang="en-US" sz="2800" b="1"/>
              <a:t>（</a:t>
            </a:r>
            <a:r>
              <a:rPr lang="en-US" altLang="zh-CN" sz="2800" b="1"/>
              <a:t>n</a:t>
            </a:r>
            <a:r>
              <a:rPr lang="zh-CN" altLang="en-US" sz="2800" b="1"/>
              <a:t>）</a:t>
            </a:r>
          </a:p>
        </p:txBody>
      </p:sp>
      <p:pic>
        <p:nvPicPr>
          <p:cNvPr id="1034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0"/>
            <a:ext cx="5761038" cy="1720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81666"/>
                                        </p:tgtEl>
                                        <p:attrNameLst>
                                          <p:attrName>style.visibility</p:attrName>
                                        </p:attrNameLst>
                                      </p:cBhvr>
                                      <p:to>
                                        <p:strVal val="visible"/>
                                      </p:to>
                                    </p:set>
                                    <p:animEffect transition="in" filter="blinds(horizontal)">
                                      <p:cBhvr>
                                        <p:cTn id="7" dur="500"/>
                                        <p:tgtEl>
                                          <p:spTgt spid="881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666"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2325C39-11CA-4259-8E0C-C4B1C955F23B}" type="slidenum">
              <a:rPr lang="en-US" altLang="zh-CN" sz="1400"/>
              <a:pPr eaLnBrk="1" hangingPunct="1"/>
              <a:t>97</a:t>
            </a:fld>
            <a:endParaRPr lang="en-US" altLang="zh-CN" sz="1400"/>
          </a:p>
        </p:txBody>
      </p:sp>
      <p:sp>
        <p:nvSpPr>
          <p:cNvPr id="882690" name="Rectangle 2"/>
          <p:cNvSpPr>
            <a:spLocks noChangeArrowheads="1"/>
          </p:cNvSpPr>
          <p:nvPr/>
        </p:nvSpPr>
        <p:spPr bwMode="auto">
          <a:xfrm>
            <a:off x="250825" y="1417638"/>
            <a:ext cx="8610600" cy="531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10000"/>
              </a:spcBef>
            </a:pPr>
            <a:r>
              <a:rPr lang="en-US" altLang="zh-CN" b="1"/>
              <a:t>FIR5: </a:t>
            </a:r>
            <a:r>
              <a:rPr lang="en-US" altLang="zh-CN" b="1">
                <a:solidFill>
                  <a:schemeClr val="tx2"/>
                </a:solidFill>
              </a:rPr>
              <a:t>ADD      *AR2+0%,*AR3+0%,A</a:t>
            </a:r>
            <a:r>
              <a:rPr lang="en-US" altLang="zh-CN" b="1"/>
              <a:t>  </a:t>
            </a:r>
            <a:r>
              <a:rPr lang="zh-CN" altLang="en-US" b="1"/>
              <a:t>；</a:t>
            </a:r>
            <a:r>
              <a:rPr lang="en-US" altLang="zh-CN" b="1"/>
              <a:t>AH=x</a:t>
            </a:r>
            <a:r>
              <a:rPr lang="zh-CN" altLang="en-US" b="1"/>
              <a:t>（</a:t>
            </a:r>
            <a:r>
              <a:rPr lang="en-US" altLang="zh-CN" b="1"/>
              <a:t>n</a:t>
            </a:r>
            <a:r>
              <a:rPr lang="zh-CN" altLang="en-US" b="1"/>
              <a:t>）</a:t>
            </a:r>
            <a:r>
              <a:rPr lang="en-US" altLang="zh-CN" b="1"/>
              <a:t>+</a:t>
            </a:r>
          </a:p>
          <a:p>
            <a:pPr algn="just">
              <a:lnSpc>
                <a:spcPct val="80000"/>
              </a:lnSpc>
              <a:spcBef>
                <a:spcPct val="10000"/>
              </a:spcBef>
            </a:pPr>
            <a:r>
              <a:rPr lang="en-US" altLang="zh-CN" b="1"/>
              <a:t>                                                    </a:t>
            </a:r>
            <a:r>
              <a:rPr lang="zh-CN" altLang="en-US" b="1"/>
              <a:t>；</a:t>
            </a:r>
            <a:r>
              <a:rPr lang="en-US" altLang="zh-CN" b="1"/>
              <a:t>x</a:t>
            </a:r>
            <a:r>
              <a:rPr lang="zh-CN" altLang="en-US" b="1"/>
              <a:t>（</a:t>
            </a:r>
            <a:r>
              <a:rPr lang="en-US" altLang="zh-CN" b="1"/>
              <a:t>n-7</a:t>
            </a:r>
            <a:r>
              <a:rPr lang="zh-CN" altLang="en-US" b="1"/>
              <a:t>）（第一次）</a:t>
            </a:r>
          </a:p>
          <a:p>
            <a:pPr algn="just">
              <a:lnSpc>
                <a:spcPct val="80000"/>
              </a:lnSpc>
              <a:spcBef>
                <a:spcPct val="10000"/>
              </a:spcBef>
            </a:pPr>
            <a:r>
              <a:rPr lang="zh-CN" altLang="en-US" b="1"/>
              <a:t>          </a:t>
            </a:r>
            <a:r>
              <a:rPr lang="en-US" altLang="zh-CN" b="1">
                <a:solidFill>
                  <a:schemeClr val="tx2"/>
                </a:solidFill>
              </a:rPr>
              <a:t>RPTZ     B,#</a:t>
            </a:r>
            <a:r>
              <a:rPr lang="zh-CN" altLang="en-US" b="1">
                <a:solidFill>
                  <a:schemeClr val="tx2"/>
                </a:solidFill>
              </a:rPr>
              <a:t>（</a:t>
            </a:r>
            <a:r>
              <a:rPr lang="en-US" altLang="zh-CN" b="1">
                <a:solidFill>
                  <a:schemeClr val="tx2"/>
                </a:solidFill>
              </a:rPr>
              <a:t>size-1</a:t>
            </a:r>
            <a:r>
              <a:rPr lang="zh-CN" altLang="en-US" b="1">
                <a:solidFill>
                  <a:schemeClr val="tx2"/>
                </a:solidFill>
              </a:rPr>
              <a:t>）</a:t>
            </a:r>
            <a:r>
              <a:rPr lang="zh-CN" altLang="en-US" b="1"/>
              <a:t>    ；</a:t>
            </a:r>
            <a:r>
              <a:rPr lang="en-US" altLang="zh-CN" b="1"/>
              <a:t>B=0,</a:t>
            </a:r>
            <a:r>
              <a:rPr lang="zh-CN" altLang="en-US" b="1"/>
              <a:t>下条指令执行</a:t>
            </a:r>
            <a:r>
              <a:rPr lang="en-US" altLang="zh-CN" b="1"/>
              <a:t>size</a:t>
            </a:r>
            <a:r>
              <a:rPr lang="zh-CN" altLang="en-US" b="1"/>
              <a:t>次</a:t>
            </a:r>
          </a:p>
          <a:p>
            <a:pPr algn="just">
              <a:lnSpc>
                <a:spcPct val="80000"/>
              </a:lnSpc>
              <a:spcBef>
                <a:spcPct val="10000"/>
              </a:spcBef>
            </a:pPr>
            <a:r>
              <a:rPr lang="zh-CN" altLang="en-US" b="1"/>
              <a:t>          </a:t>
            </a:r>
            <a:r>
              <a:rPr lang="en-US" altLang="zh-CN" b="1">
                <a:solidFill>
                  <a:schemeClr val="tx2"/>
                </a:solidFill>
              </a:rPr>
              <a:t>FIRS       *AR2+0%,*AR3+0%,COEF</a:t>
            </a:r>
            <a:r>
              <a:rPr lang="en-US" altLang="zh-CN" b="1"/>
              <a:t> </a:t>
            </a:r>
            <a:r>
              <a:rPr lang="zh-CN" altLang="en-US" b="1"/>
              <a:t>；</a:t>
            </a:r>
            <a:r>
              <a:rPr lang="en-US" altLang="zh-CN" b="1"/>
              <a:t>B+=AH*h</a:t>
            </a:r>
            <a:r>
              <a:rPr lang="en-US" altLang="zh-CN" b="1" baseline="-30000"/>
              <a:t>0</a:t>
            </a:r>
            <a:r>
              <a:rPr lang="en-US" altLang="zh-CN" b="1"/>
              <a:t>,   </a:t>
            </a:r>
          </a:p>
          <a:p>
            <a:pPr algn="just">
              <a:lnSpc>
                <a:spcPct val="80000"/>
              </a:lnSpc>
              <a:spcBef>
                <a:spcPct val="10000"/>
              </a:spcBef>
            </a:pPr>
            <a:r>
              <a:rPr lang="en-US" altLang="zh-CN" b="1"/>
              <a:t>                                                    </a:t>
            </a:r>
            <a:r>
              <a:rPr lang="zh-CN" altLang="en-US" b="1"/>
              <a:t>；</a:t>
            </a:r>
            <a:r>
              <a:rPr lang="en-US" altLang="zh-CN" b="1"/>
              <a:t>AH=x</a:t>
            </a:r>
            <a:r>
              <a:rPr lang="zh-CN" altLang="en-US" b="1"/>
              <a:t>（</a:t>
            </a:r>
            <a:r>
              <a:rPr lang="en-US" altLang="zh-CN" b="1"/>
              <a:t>n-1</a:t>
            </a:r>
            <a:r>
              <a:rPr lang="zh-CN" altLang="en-US" b="1"/>
              <a:t>）</a:t>
            </a:r>
            <a:r>
              <a:rPr lang="en-US" altLang="zh-CN" b="1"/>
              <a:t>+x</a:t>
            </a:r>
            <a:r>
              <a:rPr lang="zh-CN" altLang="en-US" b="1"/>
              <a:t>（</a:t>
            </a:r>
            <a:r>
              <a:rPr lang="en-US" altLang="zh-CN" b="1"/>
              <a:t>n-6</a:t>
            </a:r>
            <a:r>
              <a:rPr lang="zh-CN" altLang="en-US" b="1"/>
              <a:t>）</a:t>
            </a:r>
            <a:r>
              <a:rPr lang="en-US" altLang="zh-CN" b="1"/>
              <a:t>…</a:t>
            </a:r>
          </a:p>
          <a:p>
            <a:pPr algn="just">
              <a:lnSpc>
                <a:spcPct val="80000"/>
              </a:lnSpc>
              <a:spcBef>
                <a:spcPct val="10000"/>
              </a:spcBef>
            </a:pPr>
            <a:r>
              <a:rPr lang="en-US" altLang="zh-CN" b="1"/>
              <a:t>          STH        B,@y                 </a:t>
            </a:r>
            <a:r>
              <a:rPr lang="zh-CN" altLang="en-US" b="1"/>
              <a:t>；保存结果到</a:t>
            </a:r>
            <a:r>
              <a:rPr lang="en-US" altLang="zh-CN" b="1"/>
              <a:t>y</a:t>
            </a:r>
          </a:p>
          <a:p>
            <a:pPr algn="just">
              <a:lnSpc>
                <a:spcPct val="80000"/>
              </a:lnSpc>
              <a:spcBef>
                <a:spcPct val="10000"/>
              </a:spcBef>
            </a:pPr>
            <a:r>
              <a:rPr lang="en-US" altLang="zh-CN" b="1"/>
              <a:t>          </a:t>
            </a:r>
            <a:r>
              <a:rPr lang="en-US" altLang="zh-CN" b="1">
                <a:solidFill>
                  <a:srgbClr val="FF0000"/>
                </a:solidFill>
              </a:rPr>
              <a:t>PORTW  @y,PA0            </a:t>
            </a:r>
            <a:r>
              <a:rPr lang="zh-CN" altLang="en-US" b="1">
                <a:solidFill>
                  <a:srgbClr val="FF0000"/>
                </a:solidFill>
              </a:rPr>
              <a:t>；输出结果到</a:t>
            </a:r>
            <a:r>
              <a:rPr lang="en-US" altLang="zh-CN" b="1">
                <a:solidFill>
                  <a:srgbClr val="FF0000"/>
                </a:solidFill>
              </a:rPr>
              <a:t>PA0</a:t>
            </a:r>
          </a:p>
          <a:p>
            <a:pPr algn="just">
              <a:lnSpc>
                <a:spcPct val="80000"/>
              </a:lnSpc>
              <a:spcBef>
                <a:spcPct val="10000"/>
              </a:spcBef>
            </a:pPr>
            <a:r>
              <a:rPr lang="en-US" altLang="zh-CN" b="1">
                <a:solidFill>
                  <a:srgbClr val="FF00FF"/>
                </a:solidFill>
              </a:rPr>
              <a:t>          MAR      *+AR2</a:t>
            </a:r>
            <a:r>
              <a:rPr lang="zh-CN" altLang="en-US" b="1">
                <a:solidFill>
                  <a:srgbClr val="FF00FF"/>
                </a:solidFill>
              </a:rPr>
              <a:t>（</a:t>
            </a:r>
            <a:r>
              <a:rPr lang="en-US" altLang="zh-CN" b="1">
                <a:solidFill>
                  <a:srgbClr val="FF00FF"/>
                </a:solidFill>
              </a:rPr>
              <a:t>2</a:t>
            </a:r>
            <a:r>
              <a:rPr lang="zh-CN" altLang="en-US" b="1">
                <a:solidFill>
                  <a:srgbClr val="FF00FF"/>
                </a:solidFill>
              </a:rPr>
              <a:t>）</a:t>
            </a:r>
            <a:r>
              <a:rPr lang="en-US" altLang="zh-CN" b="1">
                <a:solidFill>
                  <a:srgbClr val="FF00FF"/>
                </a:solidFill>
              </a:rPr>
              <a:t>%</a:t>
            </a:r>
            <a:r>
              <a:rPr lang="en-US" altLang="zh-CN" b="1"/>
              <a:t>  </a:t>
            </a:r>
            <a:r>
              <a:rPr lang="zh-CN" altLang="en-US" b="1"/>
              <a:t>；修正</a:t>
            </a:r>
            <a:r>
              <a:rPr lang="en-US" altLang="zh-CN" b="1"/>
              <a:t>AR2,</a:t>
            </a:r>
            <a:r>
              <a:rPr lang="zh-CN" altLang="en-US" b="1"/>
              <a:t>指向新缓  </a:t>
            </a:r>
          </a:p>
          <a:p>
            <a:pPr algn="just">
              <a:lnSpc>
                <a:spcPct val="80000"/>
              </a:lnSpc>
              <a:spcBef>
                <a:spcPct val="10000"/>
              </a:spcBef>
            </a:pPr>
            <a:r>
              <a:rPr lang="zh-CN" altLang="en-US" b="1"/>
              <a:t>                                                    ； 冲区最老的数据</a:t>
            </a:r>
          </a:p>
          <a:p>
            <a:pPr algn="just">
              <a:lnSpc>
                <a:spcPct val="80000"/>
              </a:lnSpc>
              <a:spcBef>
                <a:spcPct val="10000"/>
              </a:spcBef>
            </a:pPr>
            <a:r>
              <a:rPr lang="zh-CN" altLang="en-US" b="1"/>
              <a:t>         </a:t>
            </a:r>
            <a:r>
              <a:rPr lang="en-US" altLang="zh-CN" b="1">
                <a:solidFill>
                  <a:srgbClr val="FF00FF"/>
                </a:solidFill>
              </a:rPr>
              <a:t>MAR       *AR3+%</a:t>
            </a:r>
            <a:r>
              <a:rPr lang="en-US" altLang="zh-CN" b="1"/>
              <a:t>            </a:t>
            </a:r>
            <a:r>
              <a:rPr lang="zh-CN" altLang="en-US" b="1"/>
              <a:t>；修正</a:t>
            </a:r>
            <a:r>
              <a:rPr lang="en-US" altLang="zh-CN" b="1"/>
              <a:t>AR3,</a:t>
            </a:r>
            <a:r>
              <a:rPr lang="zh-CN" altLang="en-US" b="1"/>
              <a:t>指向老缓</a:t>
            </a:r>
          </a:p>
          <a:p>
            <a:pPr algn="just">
              <a:lnSpc>
                <a:spcPct val="80000"/>
              </a:lnSpc>
              <a:spcBef>
                <a:spcPct val="10000"/>
              </a:spcBef>
            </a:pPr>
            <a:r>
              <a:rPr lang="zh-CN" altLang="en-US" b="1"/>
              <a:t>                                                    ；冲区最老的数据</a:t>
            </a:r>
          </a:p>
          <a:p>
            <a:pPr algn="just">
              <a:lnSpc>
                <a:spcPct val="80000"/>
              </a:lnSpc>
              <a:spcBef>
                <a:spcPct val="10000"/>
              </a:spcBef>
            </a:pPr>
            <a:r>
              <a:rPr lang="zh-CN" altLang="en-US" b="1"/>
              <a:t>         </a:t>
            </a:r>
            <a:r>
              <a:rPr lang="en-US" altLang="zh-CN" b="1">
                <a:solidFill>
                  <a:srgbClr val="FF00FF"/>
                </a:solidFill>
              </a:rPr>
              <a:t>MVDD    *AR2,*AR3+0%</a:t>
            </a:r>
            <a:r>
              <a:rPr lang="en-US" altLang="zh-CN" b="1"/>
              <a:t> </a:t>
            </a:r>
            <a:r>
              <a:rPr lang="zh-CN" altLang="en-US" b="1"/>
              <a:t>； 新缓冲区向老缓</a:t>
            </a:r>
          </a:p>
          <a:p>
            <a:pPr algn="just">
              <a:lnSpc>
                <a:spcPct val="80000"/>
              </a:lnSpc>
              <a:spcBef>
                <a:spcPct val="10000"/>
              </a:spcBef>
            </a:pPr>
            <a:r>
              <a:rPr lang="zh-CN" altLang="en-US" b="1"/>
              <a:t>                                                    ；冲区传送一个数</a:t>
            </a:r>
          </a:p>
          <a:p>
            <a:pPr algn="just">
              <a:lnSpc>
                <a:spcPct val="80000"/>
              </a:lnSpc>
              <a:spcBef>
                <a:spcPct val="10000"/>
              </a:spcBef>
            </a:pPr>
            <a:r>
              <a:rPr lang="zh-CN" altLang="en-US" b="1"/>
              <a:t>         </a:t>
            </a:r>
            <a:r>
              <a:rPr lang="en-US" altLang="zh-CN" b="1"/>
              <a:t>BD          FIR5       </a:t>
            </a:r>
            <a:r>
              <a:rPr lang="zh-CN" altLang="en-US" b="1"/>
              <a:t>；执行完下条指令后转移</a:t>
            </a:r>
            <a:r>
              <a:rPr lang="en-US" altLang="zh-CN" b="1"/>
              <a:t>FIR5</a:t>
            </a:r>
            <a:r>
              <a:rPr lang="zh-CN" altLang="en-US" b="1"/>
              <a:t>并循环</a:t>
            </a:r>
          </a:p>
          <a:p>
            <a:pPr algn="just">
              <a:lnSpc>
                <a:spcPct val="80000"/>
              </a:lnSpc>
              <a:spcBef>
                <a:spcPct val="10000"/>
              </a:spcBef>
            </a:pPr>
            <a:r>
              <a:rPr lang="zh-CN" altLang="en-US" b="1"/>
              <a:t>         </a:t>
            </a:r>
            <a:r>
              <a:rPr lang="en-US" altLang="zh-CN" b="1">
                <a:solidFill>
                  <a:srgbClr val="FF0000"/>
                </a:solidFill>
              </a:rPr>
              <a:t>PORTR   PA1,*AR2        </a:t>
            </a:r>
            <a:r>
              <a:rPr lang="zh-CN" altLang="en-US" b="1">
                <a:solidFill>
                  <a:srgbClr val="FF0000"/>
                </a:solidFill>
              </a:rPr>
              <a:t>；输入新数据至新缓冲区</a:t>
            </a:r>
          </a:p>
          <a:p>
            <a:pPr algn="just">
              <a:lnSpc>
                <a:spcPct val="80000"/>
              </a:lnSpc>
              <a:spcBef>
                <a:spcPct val="10000"/>
              </a:spcBef>
            </a:pPr>
            <a:r>
              <a:rPr lang="zh-CN" altLang="en-US" b="1"/>
              <a:t>        </a:t>
            </a:r>
            <a:r>
              <a:rPr lang="en-US" altLang="zh-CN" b="1"/>
              <a:t>.end</a:t>
            </a:r>
          </a:p>
        </p:txBody>
      </p:sp>
      <p:pic>
        <p:nvPicPr>
          <p:cNvPr id="1044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115888"/>
            <a:ext cx="4108450" cy="12271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82690">
                                            <p:txEl>
                                              <p:pRg st="0" end="0"/>
                                            </p:txEl>
                                          </p:spTgt>
                                        </p:tgtEl>
                                        <p:attrNameLst>
                                          <p:attrName>style.visibility</p:attrName>
                                        </p:attrNameLst>
                                      </p:cBhvr>
                                      <p:to>
                                        <p:strVal val="visible"/>
                                      </p:to>
                                    </p:set>
                                    <p:animEffect transition="in" filter="slide(fromLeft)">
                                      <p:cBhvr>
                                        <p:cTn id="7" dur="500"/>
                                        <p:tgtEl>
                                          <p:spTgt spid="882690">
                                            <p:txEl>
                                              <p:pRg st="0" end="0"/>
                                            </p:txEl>
                                          </p:spTgt>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82690">
                                            <p:txEl>
                                              <p:pRg st="1" end="1"/>
                                            </p:txEl>
                                          </p:spTgt>
                                        </p:tgtEl>
                                        <p:attrNameLst>
                                          <p:attrName>style.visibility</p:attrName>
                                        </p:attrNameLst>
                                      </p:cBhvr>
                                      <p:to>
                                        <p:strVal val="visible"/>
                                      </p:to>
                                    </p:set>
                                    <p:animEffect transition="in" filter="slide(fromLeft)">
                                      <p:cBhvr>
                                        <p:cTn id="11" dur="500"/>
                                        <p:tgtEl>
                                          <p:spTgt spid="882690">
                                            <p:txEl>
                                              <p:pRg st="1" end="1"/>
                                            </p:txEl>
                                          </p:spTgt>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882690">
                                            <p:txEl>
                                              <p:pRg st="2" end="2"/>
                                            </p:txEl>
                                          </p:spTgt>
                                        </p:tgtEl>
                                        <p:attrNameLst>
                                          <p:attrName>style.visibility</p:attrName>
                                        </p:attrNameLst>
                                      </p:cBhvr>
                                      <p:to>
                                        <p:strVal val="visible"/>
                                      </p:to>
                                    </p:set>
                                    <p:animEffect transition="in" filter="slide(fromLeft)">
                                      <p:cBhvr>
                                        <p:cTn id="15" dur="500"/>
                                        <p:tgtEl>
                                          <p:spTgt spid="882690">
                                            <p:txEl>
                                              <p:pRg st="2" end="2"/>
                                            </p:txEl>
                                          </p:spTgt>
                                        </p:tgtEl>
                                      </p:cBhvr>
                                    </p:animEffect>
                                  </p:childTnLst>
                                </p:cTn>
                              </p:par>
                            </p:childTnLst>
                          </p:cTn>
                        </p:par>
                        <p:par>
                          <p:cTn id="16" fill="hold" nodeType="afterGroup">
                            <p:stCondLst>
                              <p:cond delay="1500"/>
                            </p:stCondLst>
                            <p:childTnLst>
                              <p:par>
                                <p:cTn id="17" presetID="12" presetClass="entr" presetSubtype="8" fill="hold" grpId="0" nodeType="afterEffect">
                                  <p:stCondLst>
                                    <p:cond delay="0"/>
                                  </p:stCondLst>
                                  <p:childTnLst>
                                    <p:set>
                                      <p:cBhvr>
                                        <p:cTn id="18" dur="1" fill="hold">
                                          <p:stCondLst>
                                            <p:cond delay="0"/>
                                          </p:stCondLst>
                                        </p:cTn>
                                        <p:tgtEl>
                                          <p:spTgt spid="882690">
                                            <p:txEl>
                                              <p:pRg st="3" end="3"/>
                                            </p:txEl>
                                          </p:spTgt>
                                        </p:tgtEl>
                                        <p:attrNameLst>
                                          <p:attrName>style.visibility</p:attrName>
                                        </p:attrNameLst>
                                      </p:cBhvr>
                                      <p:to>
                                        <p:strVal val="visible"/>
                                      </p:to>
                                    </p:set>
                                    <p:animEffect transition="in" filter="slide(fromLeft)">
                                      <p:cBhvr>
                                        <p:cTn id="19" dur="500"/>
                                        <p:tgtEl>
                                          <p:spTgt spid="882690">
                                            <p:txEl>
                                              <p:pRg st="3" end="3"/>
                                            </p:txEl>
                                          </p:spTgt>
                                        </p:tgtEl>
                                      </p:cBhvr>
                                    </p:animEffect>
                                  </p:childTnLst>
                                </p:cTn>
                              </p:par>
                            </p:childTnLst>
                          </p:cTn>
                        </p:par>
                        <p:par>
                          <p:cTn id="20" fill="hold" nodeType="afterGroup">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882690">
                                            <p:txEl>
                                              <p:pRg st="4" end="4"/>
                                            </p:txEl>
                                          </p:spTgt>
                                        </p:tgtEl>
                                        <p:attrNameLst>
                                          <p:attrName>style.visibility</p:attrName>
                                        </p:attrNameLst>
                                      </p:cBhvr>
                                      <p:to>
                                        <p:strVal val="visible"/>
                                      </p:to>
                                    </p:set>
                                    <p:animEffect transition="in" filter="slide(fromLeft)">
                                      <p:cBhvr>
                                        <p:cTn id="23" dur="500"/>
                                        <p:tgtEl>
                                          <p:spTgt spid="882690">
                                            <p:txEl>
                                              <p:pRg st="4" end="4"/>
                                            </p:txEl>
                                          </p:spTgt>
                                        </p:tgtEl>
                                      </p:cBhvr>
                                    </p:animEffect>
                                  </p:childTnLst>
                                </p:cTn>
                              </p:par>
                            </p:childTnLst>
                          </p:cTn>
                        </p:par>
                        <p:par>
                          <p:cTn id="24" fill="hold" nodeType="afterGroup">
                            <p:stCondLst>
                              <p:cond delay="2500"/>
                            </p:stCondLst>
                            <p:childTnLst>
                              <p:par>
                                <p:cTn id="25" presetID="12" presetClass="entr" presetSubtype="8" fill="hold" grpId="0" nodeType="afterEffect">
                                  <p:stCondLst>
                                    <p:cond delay="0"/>
                                  </p:stCondLst>
                                  <p:childTnLst>
                                    <p:set>
                                      <p:cBhvr>
                                        <p:cTn id="26" dur="1" fill="hold">
                                          <p:stCondLst>
                                            <p:cond delay="0"/>
                                          </p:stCondLst>
                                        </p:cTn>
                                        <p:tgtEl>
                                          <p:spTgt spid="882690">
                                            <p:txEl>
                                              <p:pRg st="5" end="5"/>
                                            </p:txEl>
                                          </p:spTgt>
                                        </p:tgtEl>
                                        <p:attrNameLst>
                                          <p:attrName>style.visibility</p:attrName>
                                        </p:attrNameLst>
                                      </p:cBhvr>
                                      <p:to>
                                        <p:strVal val="visible"/>
                                      </p:to>
                                    </p:set>
                                    <p:animEffect transition="in" filter="slide(fromLeft)">
                                      <p:cBhvr>
                                        <p:cTn id="27" dur="500"/>
                                        <p:tgtEl>
                                          <p:spTgt spid="882690">
                                            <p:txEl>
                                              <p:pRg st="5" end="5"/>
                                            </p:txEl>
                                          </p:spTgt>
                                        </p:tgtEl>
                                      </p:cBhvr>
                                    </p:animEffect>
                                  </p:childTnLst>
                                </p:cTn>
                              </p:par>
                            </p:childTnLst>
                          </p:cTn>
                        </p:par>
                        <p:par>
                          <p:cTn id="28" fill="hold" nodeType="afterGroup">
                            <p:stCondLst>
                              <p:cond delay="3000"/>
                            </p:stCondLst>
                            <p:childTnLst>
                              <p:par>
                                <p:cTn id="29" presetID="12" presetClass="entr" presetSubtype="8" fill="hold" grpId="0" nodeType="afterEffect">
                                  <p:stCondLst>
                                    <p:cond delay="0"/>
                                  </p:stCondLst>
                                  <p:childTnLst>
                                    <p:set>
                                      <p:cBhvr>
                                        <p:cTn id="30" dur="1" fill="hold">
                                          <p:stCondLst>
                                            <p:cond delay="0"/>
                                          </p:stCondLst>
                                        </p:cTn>
                                        <p:tgtEl>
                                          <p:spTgt spid="882690">
                                            <p:txEl>
                                              <p:pRg st="6" end="6"/>
                                            </p:txEl>
                                          </p:spTgt>
                                        </p:tgtEl>
                                        <p:attrNameLst>
                                          <p:attrName>style.visibility</p:attrName>
                                        </p:attrNameLst>
                                      </p:cBhvr>
                                      <p:to>
                                        <p:strVal val="visible"/>
                                      </p:to>
                                    </p:set>
                                    <p:animEffect transition="in" filter="slide(fromLeft)">
                                      <p:cBhvr>
                                        <p:cTn id="31" dur="500"/>
                                        <p:tgtEl>
                                          <p:spTgt spid="882690">
                                            <p:txEl>
                                              <p:pRg st="6" end="6"/>
                                            </p:txEl>
                                          </p:spTgt>
                                        </p:tgtEl>
                                      </p:cBhvr>
                                    </p:animEffect>
                                  </p:childTnLst>
                                </p:cTn>
                              </p:par>
                            </p:childTnLst>
                          </p:cTn>
                        </p:par>
                        <p:par>
                          <p:cTn id="32" fill="hold" nodeType="afterGroup">
                            <p:stCondLst>
                              <p:cond delay="3500"/>
                            </p:stCondLst>
                            <p:childTnLst>
                              <p:par>
                                <p:cTn id="33" presetID="12" presetClass="entr" presetSubtype="8" fill="hold" grpId="0" nodeType="afterEffect">
                                  <p:stCondLst>
                                    <p:cond delay="0"/>
                                  </p:stCondLst>
                                  <p:childTnLst>
                                    <p:set>
                                      <p:cBhvr>
                                        <p:cTn id="34" dur="1" fill="hold">
                                          <p:stCondLst>
                                            <p:cond delay="0"/>
                                          </p:stCondLst>
                                        </p:cTn>
                                        <p:tgtEl>
                                          <p:spTgt spid="882690">
                                            <p:txEl>
                                              <p:pRg st="7" end="7"/>
                                            </p:txEl>
                                          </p:spTgt>
                                        </p:tgtEl>
                                        <p:attrNameLst>
                                          <p:attrName>style.visibility</p:attrName>
                                        </p:attrNameLst>
                                      </p:cBhvr>
                                      <p:to>
                                        <p:strVal val="visible"/>
                                      </p:to>
                                    </p:set>
                                    <p:animEffect transition="in" filter="slide(fromLeft)">
                                      <p:cBhvr>
                                        <p:cTn id="35" dur="500"/>
                                        <p:tgtEl>
                                          <p:spTgt spid="882690">
                                            <p:txEl>
                                              <p:pRg st="7" end="7"/>
                                            </p:txEl>
                                          </p:spTgt>
                                        </p:tgtEl>
                                      </p:cBhvr>
                                    </p:animEffect>
                                  </p:childTnLst>
                                </p:cTn>
                              </p:par>
                            </p:childTnLst>
                          </p:cTn>
                        </p:par>
                        <p:par>
                          <p:cTn id="36" fill="hold" nodeType="afterGroup">
                            <p:stCondLst>
                              <p:cond delay="4000"/>
                            </p:stCondLst>
                            <p:childTnLst>
                              <p:par>
                                <p:cTn id="37" presetID="12" presetClass="entr" presetSubtype="8" fill="hold" grpId="0" nodeType="afterEffect">
                                  <p:stCondLst>
                                    <p:cond delay="0"/>
                                  </p:stCondLst>
                                  <p:childTnLst>
                                    <p:set>
                                      <p:cBhvr>
                                        <p:cTn id="38" dur="1" fill="hold">
                                          <p:stCondLst>
                                            <p:cond delay="0"/>
                                          </p:stCondLst>
                                        </p:cTn>
                                        <p:tgtEl>
                                          <p:spTgt spid="882690">
                                            <p:txEl>
                                              <p:pRg st="8" end="8"/>
                                            </p:txEl>
                                          </p:spTgt>
                                        </p:tgtEl>
                                        <p:attrNameLst>
                                          <p:attrName>style.visibility</p:attrName>
                                        </p:attrNameLst>
                                      </p:cBhvr>
                                      <p:to>
                                        <p:strVal val="visible"/>
                                      </p:to>
                                    </p:set>
                                    <p:animEffect transition="in" filter="slide(fromLeft)">
                                      <p:cBhvr>
                                        <p:cTn id="39" dur="500"/>
                                        <p:tgtEl>
                                          <p:spTgt spid="882690">
                                            <p:txEl>
                                              <p:pRg st="8" end="8"/>
                                            </p:txEl>
                                          </p:spTgt>
                                        </p:tgtEl>
                                      </p:cBhvr>
                                    </p:animEffect>
                                  </p:childTnLst>
                                </p:cTn>
                              </p:par>
                            </p:childTnLst>
                          </p:cTn>
                        </p:par>
                        <p:par>
                          <p:cTn id="40" fill="hold" nodeType="afterGroup">
                            <p:stCondLst>
                              <p:cond delay="4500"/>
                            </p:stCondLst>
                            <p:childTnLst>
                              <p:par>
                                <p:cTn id="41" presetID="12" presetClass="entr" presetSubtype="8" fill="hold" grpId="0" nodeType="afterEffect">
                                  <p:stCondLst>
                                    <p:cond delay="0"/>
                                  </p:stCondLst>
                                  <p:childTnLst>
                                    <p:set>
                                      <p:cBhvr>
                                        <p:cTn id="42" dur="1" fill="hold">
                                          <p:stCondLst>
                                            <p:cond delay="0"/>
                                          </p:stCondLst>
                                        </p:cTn>
                                        <p:tgtEl>
                                          <p:spTgt spid="882690">
                                            <p:txEl>
                                              <p:pRg st="9" end="9"/>
                                            </p:txEl>
                                          </p:spTgt>
                                        </p:tgtEl>
                                        <p:attrNameLst>
                                          <p:attrName>style.visibility</p:attrName>
                                        </p:attrNameLst>
                                      </p:cBhvr>
                                      <p:to>
                                        <p:strVal val="visible"/>
                                      </p:to>
                                    </p:set>
                                    <p:animEffect transition="in" filter="slide(fromLeft)">
                                      <p:cBhvr>
                                        <p:cTn id="43" dur="500"/>
                                        <p:tgtEl>
                                          <p:spTgt spid="882690">
                                            <p:txEl>
                                              <p:pRg st="9" end="9"/>
                                            </p:txEl>
                                          </p:spTgt>
                                        </p:tgtEl>
                                      </p:cBhvr>
                                    </p:animEffect>
                                  </p:childTnLst>
                                </p:cTn>
                              </p:par>
                            </p:childTnLst>
                          </p:cTn>
                        </p:par>
                        <p:par>
                          <p:cTn id="44" fill="hold" nodeType="afterGroup">
                            <p:stCondLst>
                              <p:cond delay="5000"/>
                            </p:stCondLst>
                            <p:childTnLst>
                              <p:par>
                                <p:cTn id="45" presetID="12" presetClass="entr" presetSubtype="8" fill="hold" grpId="0" nodeType="afterEffect">
                                  <p:stCondLst>
                                    <p:cond delay="0"/>
                                  </p:stCondLst>
                                  <p:childTnLst>
                                    <p:set>
                                      <p:cBhvr>
                                        <p:cTn id="46" dur="1" fill="hold">
                                          <p:stCondLst>
                                            <p:cond delay="0"/>
                                          </p:stCondLst>
                                        </p:cTn>
                                        <p:tgtEl>
                                          <p:spTgt spid="882690">
                                            <p:txEl>
                                              <p:pRg st="10" end="10"/>
                                            </p:txEl>
                                          </p:spTgt>
                                        </p:tgtEl>
                                        <p:attrNameLst>
                                          <p:attrName>style.visibility</p:attrName>
                                        </p:attrNameLst>
                                      </p:cBhvr>
                                      <p:to>
                                        <p:strVal val="visible"/>
                                      </p:to>
                                    </p:set>
                                    <p:animEffect transition="in" filter="slide(fromLeft)">
                                      <p:cBhvr>
                                        <p:cTn id="47" dur="500"/>
                                        <p:tgtEl>
                                          <p:spTgt spid="882690">
                                            <p:txEl>
                                              <p:pRg st="10" end="10"/>
                                            </p:txEl>
                                          </p:spTgt>
                                        </p:tgtEl>
                                      </p:cBhvr>
                                    </p:animEffect>
                                  </p:childTnLst>
                                </p:cTn>
                              </p:par>
                            </p:childTnLst>
                          </p:cTn>
                        </p:par>
                        <p:par>
                          <p:cTn id="48" fill="hold" nodeType="afterGroup">
                            <p:stCondLst>
                              <p:cond delay="5500"/>
                            </p:stCondLst>
                            <p:childTnLst>
                              <p:par>
                                <p:cTn id="49" presetID="12" presetClass="entr" presetSubtype="8" fill="hold" grpId="0" nodeType="afterEffect">
                                  <p:stCondLst>
                                    <p:cond delay="0"/>
                                  </p:stCondLst>
                                  <p:childTnLst>
                                    <p:set>
                                      <p:cBhvr>
                                        <p:cTn id="50" dur="1" fill="hold">
                                          <p:stCondLst>
                                            <p:cond delay="0"/>
                                          </p:stCondLst>
                                        </p:cTn>
                                        <p:tgtEl>
                                          <p:spTgt spid="882690">
                                            <p:txEl>
                                              <p:pRg st="11" end="11"/>
                                            </p:txEl>
                                          </p:spTgt>
                                        </p:tgtEl>
                                        <p:attrNameLst>
                                          <p:attrName>style.visibility</p:attrName>
                                        </p:attrNameLst>
                                      </p:cBhvr>
                                      <p:to>
                                        <p:strVal val="visible"/>
                                      </p:to>
                                    </p:set>
                                    <p:animEffect transition="in" filter="slide(fromLeft)">
                                      <p:cBhvr>
                                        <p:cTn id="51" dur="500"/>
                                        <p:tgtEl>
                                          <p:spTgt spid="882690">
                                            <p:txEl>
                                              <p:pRg st="11" end="11"/>
                                            </p:txEl>
                                          </p:spTgt>
                                        </p:tgtEl>
                                      </p:cBhvr>
                                    </p:animEffect>
                                  </p:childTnLst>
                                </p:cTn>
                              </p:par>
                            </p:childTnLst>
                          </p:cTn>
                        </p:par>
                        <p:par>
                          <p:cTn id="52" fill="hold" nodeType="afterGroup">
                            <p:stCondLst>
                              <p:cond delay="6000"/>
                            </p:stCondLst>
                            <p:childTnLst>
                              <p:par>
                                <p:cTn id="53" presetID="12" presetClass="entr" presetSubtype="8" fill="hold" grpId="0" nodeType="afterEffect">
                                  <p:stCondLst>
                                    <p:cond delay="0"/>
                                  </p:stCondLst>
                                  <p:childTnLst>
                                    <p:set>
                                      <p:cBhvr>
                                        <p:cTn id="54" dur="1" fill="hold">
                                          <p:stCondLst>
                                            <p:cond delay="0"/>
                                          </p:stCondLst>
                                        </p:cTn>
                                        <p:tgtEl>
                                          <p:spTgt spid="882690">
                                            <p:txEl>
                                              <p:pRg st="12" end="12"/>
                                            </p:txEl>
                                          </p:spTgt>
                                        </p:tgtEl>
                                        <p:attrNameLst>
                                          <p:attrName>style.visibility</p:attrName>
                                        </p:attrNameLst>
                                      </p:cBhvr>
                                      <p:to>
                                        <p:strVal val="visible"/>
                                      </p:to>
                                    </p:set>
                                    <p:animEffect transition="in" filter="slide(fromLeft)">
                                      <p:cBhvr>
                                        <p:cTn id="55" dur="500"/>
                                        <p:tgtEl>
                                          <p:spTgt spid="882690">
                                            <p:txEl>
                                              <p:pRg st="12" end="12"/>
                                            </p:txEl>
                                          </p:spTgt>
                                        </p:tgtEl>
                                      </p:cBhvr>
                                    </p:animEffect>
                                  </p:childTnLst>
                                </p:cTn>
                              </p:par>
                            </p:childTnLst>
                          </p:cTn>
                        </p:par>
                        <p:par>
                          <p:cTn id="56" fill="hold" nodeType="afterGroup">
                            <p:stCondLst>
                              <p:cond delay="6500"/>
                            </p:stCondLst>
                            <p:childTnLst>
                              <p:par>
                                <p:cTn id="57" presetID="12" presetClass="entr" presetSubtype="8" fill="hold" grpId="0" nodeType="afterEffect">
                                  <p:stCondLst>
                                    <p:cond delay="0"/>
                                  </p:stCondLst>
                                  <p:childTnLst>
                                    <p:set>
                                      <p:cBhvr>
                                        <p:cTn id="58" dur="1" fill="hold">
                                          <p:stCondLst>
                                            <p:cond delay="0"/>
                                          </p:stCondLst>
                                        </p:cTn>
                                        <p:tgtEl>
                                          <p:spTgt spid="882690">
                                            <p:txEl>
                                              <p:pRg st="13" end="13"/>
                                            </p:txEl>
                                          </p:spTgt>
                                        </p:tgtEl>
                                        <p:attrNameLst>
                                          <p:attrName>style.visibility</p:attrName>
                                        </p:attrNameLst>
                                      </p:cBhvr>
                                      <p:to>
                                        <p:strVal val="visible"/>
                                      </p:to>
                                    </p:set>
                                    <p:animEffect transition="in" filter="slide(fromLeft)">
                                      <p:cBhvr>
                                        <p:cTn id="59" dur="500"/>
                                        <p:tgtEl>
                                          <p:spTgt spid="882690">
                                            <p:txEl>
                                              <p:pRg st="13" end="13"/>
                                            </p:txEl>
                                          </p:spTgt>
                                        </p:tgtEl>
                                      </p:cBhvr>
                                    </p:animEffect>
                                  </p:childTnLst>
                                </p:cTn>
                              </p:par>
                            </p:childTnLst>
                          </p:cTn>
                        </p:par>
                        <p:par>
                          <p:cTn id="60" fill="hold" nodeType="afterGroup">
                            <p:stCondLst>
                              <p:cond delay="7000"/>
                            </p:stCondLst>
                            <p:childTnLst>
                              <p:par>
                                <p:cTn id="61" presetID="12" presetClass="entr" presetSubtype="8" fill="hold" grpId="0" nodeType="afterEffect">
                                  <p:stCondLst>
                                    <p:cond delay="0"/>
                                  </p:stCondLst>
                                  <p:childTnLst>
                                    <p:set>
                                      <p:cBhvr>
                                        <p:cTn id="62" dur="1" fill="hold">
                                          <p:stCondLst>
                                            <p:cond delay="0"/>
                                          </p:stCondLst>
                                        </p:cTn>
                                        <p:tgtEl>
                                          <p:spTgt spid="882690">
                                            <p:txEl>
                                              <p:pRg st="14" end="14"/>
                                            </p:txEl>
                                          </p:spTgt>
                                        </p:tgtEl>
                                        <p:attrNameLst>
                                          <p:attrName>style.visibility</p:attrName>
                                        </p:attrNameLst>
                                      </p:cBhvr>
                                      <p:to>
                                        <p:strVal val="visible"/>
                                      </p:to>
                                    </p:set>
                                    <p:animEffect transition="in" filter="slide(fromLeft)">
                                      <p:cBhvr>
                                        <p:cTn id="63" dur="500"/>
                                        <p:tgtEl>
                                          <p:spTgt spid="882690">
                                            <p:txEl>
                                              <p:pRg st="14" end="14"/>
                                            </p:txEl>
                                          </p:spTgt>
                                        </p:tgtEl>
                                      </p:cBhvr>
                                    </p:animEffect>
                                  </p:childTnLst>
                                </p:cTn>
                              </p:par>
                            </p:childTnLst>
                          </p:cTn>
                        </p:par>
                        <p:par>
                          <p:cTn id="64" fill="hold" nodeType="afterGroup">
                            <p:stCondLst>
                              <p:cond delay="7500"/>
                            </p:stCondLst>
                            <p:childTnLst>
                              <p:par>
                                <p:cTn id="65" presetID="12" presetClass="entr" presetSubtype="8" fill="hold" grpId="0" nodeType="afterEffect">
                                  <p:stCondLst>
                                    <p:cond delay="0"/>
                                  </p:stCondLst>
                                  <p:childTnLst>
                                    <p:set>
                                      <p:cBhvr>
                                        <p:cTn id="66" dur="1" fill="hold">
                                          <p:stCondLst>
                                            <p:cond delay="0"/>
                                          </p:stCondLst>
                                        </p:cTn>
                                        <p:tgtEl>
                                          <p:spTgt spid="882690">
                                            <p:txEl>
                                              <p:pRg st="15" end="15"/>
                                            </p:txEl>
                                          </p:spTgt>
                                        </p:tgtEl>
                                        <p:attrNameLst>
                                          <p:attrName>style.visibility</p:attrName>
                                        </p:attrNameLst>
                                      </p:cBhvr>
                                      <p:to>
                                        <p:strVal val="visible"/>
                                      </p:to>
                                    </p:set>
                                    <p:animEffect transition="in" filter="slide(fromLeft)">
                                      <p:cBhvr>
                                        <p:cTn id="67" dur="500"/>
                                        <p:tgtEl>
                                          <p:spTgt spid="882690">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2690" grpId="0" build="allAtOnce"/>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7CA9291-77A4-4033-87A0-230AF38BD8D5}" type="slidenum">
              <a:rPr lang="en-US" altLang="zh-CN" sz="1400"/>
              <a:pPr eaLnBrk="1" hangingPunct="1"/>
              <a:t>98</a:t>
            </a:fld>
            <a:endParaRPr lang="en-US" altLang="zh-CN" sz="1400"/>
          </a:p>
        </p:txBody>
      </p:sp>
      <p:sp>
        <p:nvSpPr>
          <p:cNvPr id="883714" name="Rectangle 2" descr="小棋盘"/>
          <p:cNvSpPr>
            <a:spLocks noChangeArrowheads="1"/>
          </p:cNvSpPr>
          <p:nvPr/>
        </p:nvSpPr>
        <p:spPr bwMode="auto">
          <a:xfrm>
            <a:off x="1258888" y="1125538"/>
            <a:ext cx="6365875" cy="650875"/>
          </a:xfrm>
          <a:prstGeom prst="rect">
            <a:avLst/>
          </a:prstGeom>
          <a:pattFill prst="smCheck">
            <a:fgClr>
              <a:schemeClr val="accent1"/>
            </a:fgClr>
            <a:bgClr>
              <a:schemeClr val="bg1"/>
            </a:bgClr>
          </a:pattFill>
          <a:ln w="9525">
            <a:solidFill>
              <a:srgbClr val="FF00FF"/>
            </a:solidFill>
            <a:miter lim="800000"/>
            <a:headEnd/>
            <a:tailEnd/>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solidFill>
                  <a:srgbClr val="FF0000"/>
                </a:solidFill>
                <a:latin typeface="宋体" panose="02010600030101010101" pitchFamily="2" charset="-122"/>
                <a:cs typeface="Times New Roman" panose="02020603050405020304" pitchFamily="18" charset="0"/>
              </a:rPr>
              <a:t>第五节  用</a:t>
            </a:r>
            <a:r>
              <a:rPr lang="en-US" altLang="zh-CN" sz="3600" b="1">
                <a:solidFill>
                  <a:srgbClr val="FF0000"/>
                </a:solidFill>
                <a:latin typeface="宋体" panose="02010600030101010101" pitchFamily="2" charset="-122"/>
                <a:cs typeface="Times New Roman" panose="02020603050405020304" pitchFamily="18" charset="0"/>
              </a:rPr>
              <a:t>DSP</a:t>
            </a:r>
            <a:r>
              <a:rPr lang="zh-CN" altLang="en-US" sz="3600" b="1">
                <a:solidFill>
                  <a:srgbClr val="FF0000"/>
                </a:solidFill>
                <a:latin typeface="宋体" panose="02010600030101010101" pitchFamily="2" charset="-122"/>
                <a:cs typeface="Times New Roman" panose="02020603050405020304" pitchFamily="18" charset="0"/>
              </a:rPr>
              <a:t>实现</a:t>
            </a:r>
            <a:r>
              <a:rPr lang="en-US" altLang="zh-CN" sz="3600" b="1">
                <a:solidFill>
                  <a:srgbClr val="FF0000"/>
                </a:solidFill>
                <a:latin typeface="宋体" panose="02010600030101010101" pitchFamily="2" charset="-122"/>
                <a:cs typeface="Times New Roman" panose="02020603050405020304" pitchFamily="18" charset="0"/>
              </a:rPr>
              <a:t>IIR</a:t>
            </a:r>
            <a:r>
              <a:rPr lang="zh-CN" altLang="en-US" sz="3600" b="1">
                <a:solidFill>
                  <a:srgbClr val="FF0000"/>
                </a:solidFill>
                <a:latin typeface="宋体" panose="02010600030101010101" pitchFamily="2" charset="-122"/>
                <a:cs typeface="Times New Roman" panose="02020603050405020304" pitchFamily="18" charset="0"/>
              </a:rPr>
              <a:t>滤波器</a:t>
            </a:r>
            <a:r>
              <a:rPr lang="zh-CN" altLang="en-US" sz="3600" b="1">
                <a:solidFill>
                  <a:srgbClr val="FF0000"/>
                </a:solidFill>
                <a:latin typeface="宋体" panose="02010600030101010101" pitchFamily="2" charset="-122"/>
              </a:rPr>
              <a:t> </a:t>
            </a:r>
          </a:p>
        </p:txBody>
      </p:sp>
      <p:sp>
        <p:nvSpPr>
          <p:cNvPr id="883715" name="Rectangle 3" descr="小棋盘"/>
          <p:cNvSpPr>
            <a:spLocks noChangeArrowheads="1"/>
          </p:cNvSpPr>
          <p:nvPr/>
        </p:nvSpPr>
        <p:spPr bwMode="auto">
          <a:xfrm>
            <a:off x="2051050" y="1916113"/>
            <a:ext cx="5105400" cy="539750"/>
          </a:xfrm>
          <a:prstGeom prst="rect">
            <a:avLst/>
          </a:prstGeom>
          <a:pattFill prst="smCheck">
            <a:fgClr>
              <a:schemeClr val="accent1"/>
            </a:fgClr>
            <a:bgClr>
              <a:srgbClr val="FFFFFF"/>
            </a:bgClr>
          </a:pattFill>
          <a:ln w="9525">
            <a:solidFill>
              <a:schemeClr val="hlink"/>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1</a:t>
            </a:r>
            <a:r>
              <a:rPr lang="zh-CN" altLang="en-US" sz="3200" b="1">
                <a:solidFill>
                  <a:srgbClr val="FF0000"/>
                </a:solidFill>
                <a:latin typeface="宋体" panose="02010600030101010101" pitchFamily="2" charset="-122"/>
                <a:ea typeface="仿宋_GB2312" pitchFamily="49" charset="-122"/>
              </a:rPr>
              <a:t>．</a:t>
            </a:r>
            <a:r>
              <a:rPr lang="en-US" altLang="zh-CN" sz="3200" b="1">
                <a:solidFill>
                  <a:srgbClr val="FF0000"/>
                </a:solidFill>
                <a:latin typeface="宋体" panose="02010600030101010101" pitchFamily="2" charset="-122"/>
                <a:ea typeface="仿宋_GB2312" pitchFamily="49" charset="-122"/>
              </a:rPr>
              <a:t>IIR</a:t>
            </a:r>
            <a:r>
              <a:rPr lang="zh-CN" altLang="en-US" sz="3200" b="1">
                <a:solidFill>
                  <a:srgbClr val="FF0000"/>
                </a:solidFill>
                <a:latin typeface="宋体" panose="02010600030101010101" pitchFamily="2" charset="-122"/>
                <a:ea typeface="仿宋_GB2312" pitchFamily="49" charset="-122"/>
              </a:rPr>
              <a:t>滤波器的基本概念 </a:t>
            </a:r>
          </a:p>
        </p:txBody>
      </p:sp>
      <p:sp>
        <p:nvSpPr>
          <p:cNvPr id="11271" name="Text Box 5"/>
          <p:cNvSpPr txBox="1">
            <a:spLocks noChangeArrowheads="1"/>
          </p:cNvSpPr>
          <p:nvPr/>
        </p:nvSpPr>
        <p:spPr bwMode="auto">
          <a:xfrm>
            <a:off x="395288" y="2492375"/>
            <a:ext cx="79930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943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N</a:t>
            </a:r>
            <a:r>
              <a:rPr lang="zh-CN" altLang="en-US" sz="2800" b="1"/>
              <a:t>阶无限冲激响应</a:t>
            </a:r>
            <a:r>
              <a:rPr lang="en-US" altLang="zh-CN" sz="2800" b="1"/>
              <a:t>(IIR)</a:t>
            </a:r>
            <a:r>
              <a:rPr lang="zh-CN" altLang="en-US" sz="2800" b="1"/>
              <a:t>滤波器的脉冲响应传输函数表达式为：</a:t>
            </a:r>
          </a:p>
        </p:txBody>
      </p:sp>
      <p:graphicFrame>
        <p:nvGraphicFramePr>
          <p:cNvPr id="11266" name="Object 8"/>
          <p:cNvGraphicFramePr>
            <a:graphicFrameLocks noGrp="1" noChangeAspect="1"/>
          </p:cNvGraphicFramePr>
          <p:nvPr>
            <p:ph sz="half" idx="2"/>
          </p:nvPr>
        </p:nvGraphicFramePr>
        <p:xfrm>
          <a:off x="3132138" y="3079750"/>
          <a:ext cx="2382837" cy="1800225"/>
        </p:xfrm>
        <a:graphic>
          <a:graphicData uri="http://schemas.openxmlformats.org/presentationml/2006/ole">
            <mc:AlternateContent xmlns:mc="http://schemas.openxmlformats.org/markup-compatibility/2006">
              <mc:Choice xmlns:v="urn:schemas-microsoft-com:vml" Requires="v">
                <p:oleObj spid="_x0000_s10242" name="公式" r:id="rId3" imgW="1143000" imgH="863600" progId="">
                  <p:embed/>
                </p:oleObj>
              </mc:Choice>
              <mc:Fallback>
                <p:oleObj name="公式" r:id="rId3" imgW="1143000" imgH="863600" progId="">
                  <p:embed/>
                  <p:pic>
                    <p:nvPicPr>
                      <p:cNvPr id="0" name="Picture 2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3079750"/>
                        <a:ext cx="2382837" cy="180022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7" name="Object 13"/>
          <p:cNvGraphicFramePr>
            <a:graphicFrameLocks noGrp="1" noChangeAspect="1"/>
          </p:cNvGraphicFramePr>
          <p:nvPr>
            <p:ph sz="half" idx="1"/>
          </p:nvPr>
        </p:nvGraphicFramePr>
        <p:xfrm>
          <a:off x="2384425" y="5472113"/>
          <a:ext cx="4806950" cy="1071562"/>
        </p:xfrm>
        <a:graphic>
          <a:graphicData uri="http://schemas.openxmlformats.org/presentationml/2006/ole">
            <mc:AlternateContent xmlns:mc="http://schemas.openxmlformats.org/markup-compatibility/2006">
              <mc:Choice xmlns:v="urn:schemas-microsoft-com:vml" Requires="v">
                <p:oleObj spid="_x0000_s10243" name="公式" r:id="rId5" imgW="1993900" imgH="444500" progId="">
                  <p:embed/>
                </p:oleObj>
              </mc:Choice>
              <mc:Fallback>
                <p:oleObj name="公式" r:id="rId5" imgW="1993900" imgH="444500" progId="">
                  <p:embed/>
                  <p:pic>
                    <p:nvPicPr>
                      <p:cNvPr id="0" name="Picture 27"/>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4425" y="5472113"/>
                        <a:ext cx="4806950" cy="1071562"/>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2" name="Text Box 16"/>
          <p:cNvSpPr txBox="1">
            <a:spLocks noChangeArrowheads="1"/>
          </p:cNvSpPr>
          <p:nvPr/>
        </p:nvSpPr>
        <p:spPr bwMode="auto">
          <a:xfrm>
            <a:off x="395288" y="4941888"/>
            <a:ext cx="597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9438"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其差分方程表达式可写为：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83714"/>
                                        </p:tgtEl>
                                        <p:attrNameLst>
                                          <p:attrName>style.visibility</p:attrName>
                                        </p:attrNameLst>
                                      </p:cBhvr>
                                      <p:to>
                                        <p:strVal val="visible"/>
                                      </p:to>
                                    </p:set>
                                    <p:animEffect transition="in" filter="slide(fromTop)">
                                      <p:cBhvr>
                                        <p:cTn id="7" dur="500"/>
                                        <p:tgtEl>
                                          <p:spTgt spid="883714"/>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83715"/>
                                        </p:tgtEl>
                                        <p:attrNameLst>
                                          <p:attrName>style.visibility</p:attrName>
                                        </p:attrNameLst>
                                      </p:cBhvr>
                                      <p:to>
                                        <p:strVal val="visible"/>
                                      </p:to>
                                    </p:set>
                                    <p:animEffect transition="in" filter="slide(fromBottom)">
                                      <p:cBhvr>
                                        <p:cTn id="11" dur="500"/>
                                        <p:tgtEl>
                                          <p:spTgt spid="883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714" grpId="0" animBg="1"/>
      <p:bldP spid="883715"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AE3A1C5-9C8B-49A0-AE9E-DB45A13B6573}" type="slidenum">
              <a:rPr lang="en-US" altLang="zh-CN" sz="1400"/>
              <a:pPr eaLnBrk="1" hangingPunct="1"/>
              <a:t>99</a:t>
            </a:fld>
            <a:endParaRPr lang="en-US" altLang="zh-CN" sz="1400"/>
          </a:p>
        </p:txBody>
      </p:sp>
      <p:sp>
        <p:nvSpPr>
          <p:cNvPr id="884738" name="Rectangle 2" descr="小棋盘"/>
          <p:cNvSpPr>
            <a:spLocks noChangeArrowheads="1"/>
          </p:cNvSpPr>
          <p:nvPr/>
        </p:nvSpPr>
        <p:spPr bwMode="auto">
          <a:xfrm>
            <a:off x="3419475" y="1052513"/>
            <a:ext cx="1447800" cy="48577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特  点</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12294" name="Rectangle 4"/>
          <p:cNvSpPr>
            <a:spLocks noChangeArrowheads="1"/>
          </p:cNvSpPr>
          <p:nvPr/>
        </p:nvSpPr>
        <p:spPr bwMode="auto">
          <a:xfrm>
            <a:off x="395288" y="1776413"/>
            <a:ext cx="8534400"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254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10000"/>
              </a:spcBef>
            </a:pPr>
            <a:r>
              <a:rPr lang="en-US" altLang="zh-CN" sz="2800" b="1">
                <a:latin typeface="宋体" panose="02010600030101010101" pitchFamily="2" charset="-122"/>
              </a:rPr>
              <a:t>y</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）由两部分构成：第一部分        是一个对</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）的</a:t>
            </a:r>
            <a:r>
              <a:rPr lang="en-US" altLang="zh-CN" sz="2800" b="1">
                <a:latin typeface="宋体" panose="02010600030101010101" pitchFamily="2" charset="-122"/>
              </a:rPr>
              <a:t>M</a:t>
            </a:r>
            <a:r>
              <a:rPr lang="zh-CN" altLang="en-US" sz="2800" b="1">
                <a:latin typeface="宋体" panose="02010600030101010101" pitchFamily="2" charset="-122"/>
              </a:rPr>
              <a:t>节延时链结构，每节延时抽头后加权相加，是一个横向结构网络；第二部分       也是一个</a:t>
            </a:r>
            <a:r>
              <a:rPr lang="en-US" altLang="zh-CN" sz="2800" b="1">
                <a:latin typeface="宋体" panose="02010600030101010101" pitchFamily="2" charset="-122"/>
              </a:rPr>
              <a:t>N</a:t>
            </a:r>
            <a:r>
              <a:rPr lang="zh-CN" altLang="en-US" sz="2800" b="1">
                <a:latin typeface="宋体" panose="02010600030101010101" pitchFamily="2" charset="-122"/>
              </a:rPr>
              <a:t>节延时链的横向结构网络，不过它是对</a:t>
            </a:r>
            <a:r>
              <a:rPr lang="en-US" altLang="zh-CN" sz="2800" b="1">
                <a:latin typeface="宋体" panose="02010600030101010101" pitchFamily="2" charset="-122"/>
              </a:rPr>
              <a:t>y</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）的延时，是个反馈网络。</a:t>
            </a:r>
            <a:endParaRPr lang="zh-CN" altLang="en-US" sz="2800" b="1"/>
          </a:p>
          <a:p>
            <a:pPr algn="just">
              <a:lnSpc>
                <a:spcPct val="120000"/>
              </a:lnSpc>
              <a:spcBef>
                <a:spcPct val="10000"/>
              </a:spcBef>
            </a:pPr>
            <a:r>
              <a:rPr lang="zh-CN" altLang="en-US" sz="2800" b="1">
                <a:latin typeface="宋体" panose="02010600030101010101" pitchFamily="2" charset="-122"/>
              </a:rPr>
              <a:t>若</a:t>
            </a:r>
            <a:r>
              <a:rPr lang="en-US" altLang="zh-CN" sz="2800" b="1">
                <a:latin typeface="宋体" panose="02010600030101010101" pitchFamily="2" charset="-122"/>
              </a:rPr>
              <a:t>a</a:t>
            </a:r>
            <a:r>
              <a:rPr lang="en-US" altLang="zh-CN" sz="2800" b="1" baseline="-30000">
                <a:latin typeface="宋体" panose="02010600030101010101" pitchFamily="2" charset="-122"/>
              </a:rPr>
              <a:t>j</a:t>
            </a:r>
            <a:r>
              <a:rPr lang="en-US" altLang="zh-CN" sz="2800" b="1">
                <a:latin typeface="宋体" panose="02010600030101010101" pitchFamily="2" charset="-122"/>
              </a:rPr>
              <a:t>=0</a:t>
            </a:r>
            <a:r>
              <a:rPr lang="zh-CN" altLang="en-US" sz="2800" b="1">
                <a:latin typeface="宋体" panose="02010600030101010101" pitchFamily="2" charset="-122"/>
              </a:rPr>
              <a:t>，</a:t>
            </a:r>
            <a:r>
              <a:rPr lang="en-US" altLang="zh-CN" sz="2800" b="1">
                <a:latin typeface="宋体" panose="02010600030101010101" pitchFamily="2" charset="-122"/>
              </a:rPr>
              <a:t>IIR</a:t>
            </a:r>
            <a:r>
              <a:rPr lang="zh-CN" altLang="en-US" sz="2800" b="1">
                <a:latin typeface="宋体" panose="02010600030101010101" pitchFamily="2" charset="-122"/>
              </a:rPr>
              <a:t>滤波器就变为</a:t>
            </a:r>
            <a:r>
              <a:rPr lang="en-US" altLang="zh-CN" sz="2800" b="1">
                <a:latin typeface="宋体" panose="02010600030101010101" pitchFamily="2" charset="-122"/>
              </a:rPr>
              <a:t>FIR</a:t>
            </a:r>
            <a:r>
              <a:rPr lang="zh-CN" altLang="en-US" sz="2800" b="1">
                <a:latin typeface="宋体" panose="02010600030101010101" pitchFamily="2" charset="-122"/>
              </a:rPr>
              <a:t>滤波器，其脉冲传输函数只有零点，系统总是稳定的，其单位冲激响应是有限长序列。而</a:t>
            </a:r>
            <a:r>
              <a:rPr lang="en-US" altLang="zh-CN" sz="2800" b="1">
                <a:latin typeface="宋体" panose="02010600030101010101" pitchFamily="2" charset="-122"/>
              </a:rPr>
              <a:t>IIR</a:t>
            </a:r>
            <a:r>
              <a:rPr lang="zh-CN" altLang="en-US" sz="2800" b="1">
                <a:latin typeface="宋体" panose="02010600030101010101" pitchFamily="2" charset="-122"/>
              </a:rPr>
              <a:t>滤波器的脉冲传递在</a:t>
            </a:r>
            <a:r>
              <a:rPr lang="en-US" altLang="zh-CN" sz="2800" b="1" i="1">
                <a:latin typeface="宋体" panose="02010600030101010101" pitchFamily="2" charset="-122"/>
              </a:rPr>
              <a:t>Z</a:t>
            </a:r>
            <a:r>
              <a:rPr lang="zh-CN" altLang="en-US" sz="2800" b="1">
                <a:latin typeface="宋体" panose="02010600030101010101" pitchFamily="2" charset="-122"/>
              </a:rPr>
              <a:t>平面上有极点存在，</a:t>
            </a:r>
            <a:r>
              <a:rPr lang="en-US" altLang="zh-CN" sz="2800" b="1"/>
              <a:t>a</a:t>
            </a:r>
            <a:r>
              <a:rPr lang="en-US" altLang="zh-CN" sz="2800" b="1" baseline="-25000"/>
              <a:t>j</a:t>
            </a:r>
            <a:r>
              <a:rPr lang="en-US" altLang="zh-CN" sz="2800" b="1"/>
              <a:t>≠0</a:t>
            </a:r>
            <a:r>
              <a:rPr lang="zh-CN" altLang="en-US" sz="2800" b="1"/>
              <a:t>，</a:t>
            </a:r>
            <a:r>
              <a:rPr lang="zh-CN" altLang="en-US" sz="2800" b="1">
                <a:latin typeface="宋体" panose="02010600030101010101" pitchFamily="2" charset="-122"/>
              </a:rPr>
              <a:t>其单位冲激响应是无限长序列。</a:t>
            </a:r>
          </a:p>
        </p:txBody>
      </p:sp>
      <p:graphicFrame>
        <p:nvGraphicFramePr>
          <p:cNvPr id="12290" name="Object 5"/>
          <p:cNvGraphicFramePr>
            <a:graphicFrameLocks noChangeAspect="1"/>
          </p:cNvGraphicFramePr>
          <p:nvPr/>
        </p:nvGraphicFramePr>
        <p:xfrm>
          <a:off x="6300788" y="1773238"/>
          <a:ext cx="1295400" cy="728662"/>
        </p:xfrm>
        <a:graphic>
          <a:graphicData uri="http://schemas.openxmlformats.org/presentationml/2006/ole">
            <mc:AlternateContent xmlns:mc="http://schemas.openxmlformats.org/markup-compatibility/2006">
              <mc:Choice xmlns:v="urn:schemas-microsoft-com:vml" Requires="v">
                <p:oleObj spid="_x0000_s11266" name="公式" r:id="rId3" imgW="761669" imgH="431613" progId="">
                  <p:embed/>
                </p:oleObj>
              </mc:Choice>
              <mc:Fallback>
                <p:oleObj name="公式" r:id="rId3" imgW="761669" imgH="431613" progId="">
                  <p:embed/>
                  <p:pic>
                    <p:nvPicPr>
                      <p:cNvPr id="0"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788" y="1773238"/>
                        <a:ext cx="1295400" cy="728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6"/>
          <p:cNvGraphicFramePr>
            <a:graphicFrameLocks noChangeAspect="1"/>
          </p:cNvGraphicFramePr>
          <p:nvPr/>
        </p:nvGraphicFramePr>
        <p:xfrm>
          <a:off x="6397625" y="2771775"/>
          <a:ext cx="1457325" cy="750888"/>
        </p:xfrm>
        <a:graphic>
          <a:graphicData uri="http://schemas.openxmlformats.org/presentationml/2006/ole">
            <mc:AlternateContent xmlns:mc="http://schemas.openxmlformats.org/markup-compatibility/2006">
              <mc:Choice xmlns:v="urn:schemas-microsoft-com:vml" Requires="v">
                <p:oleObj spid="_x0000_s11267" name="公式" r:id="rId5" imgW="850531" imgH="444307" progId="">
                  <p:embed/>
                </p:oleObj>
              </mc:Choice>
              <mc:Fallback>
                <p:oleObj name="公式" r:id="rId5" imgW="850531" imgH="444307"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7625" y="2771775"/>
                        <a:ext cx="1457325" cy="750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84738"/>
                                        </p:tgtEl>
                                        <p:attrNameLst>
                                          <p:attrName>style.visibility</p:attrName>
                                        </p:attrNameLst>
                                      </p:cBhvr>
                                      <p:to>
                                        <p:strVal val="visible"/>
                                      </p:to>
                                    </p:set>
                                    <p:animEffect transition="in" filter="slide(fromTop)">
                                      <p:cBhvr>
                                        <p:cTn id="7" dur="500"/>
                                        <p:tgtEl>
                                          <p:spTgt spid="884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38"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D68EA7BA-EC2A-45B6-B21C-E7F862FBE7C1}" type="slidenum">
              <a:rPr lang="en-US" altLang="zh-CN" sz="1400"/>
              <a:pPr eaLnBrk="1" hangingPunct="1"/>
              <a:t>100</a:t>
            </a:fld>
            <a:endParaRPr lang="en-US" altLang="zh-CN" sz="1400"/>
          </a:p>
        </p:txBody>
      </p:sp>
      <p:sp>
        <p:nvSpPr>
          <p:cNvPr id="885762" name="Rectangle 2" descr="小棋盘"/>
          <p:cNvSpPr>
            <a:spLocks noChangeArrowheads="1"/>
          </p:cNvSpPr>
          <p:nvPr/>
        </p:nvSpPr>
        <p:spPr bwMode="auto">
          <a:xfrm>
            <a:off x="3429000" y="1066800"/>
            <a:ext cx="1295400" cy="485775"/>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特  点</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885763" name="Rectangle 3"/>
          <p:cNvSpPr>
            <a:spLocks noChangeArrowheads="1"/>
          </p:cNvSpPr>
          <p:nvPr/>
        </p:nvSpPr>
        <p:spPr bwMode="auto">
          <a:xfrm>
            <a:off x="228600" y="1600200"/>
            <a:ext cx="85344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800" b="1">
                <a:solidFill>
                  <a:schemeClr val="tx2"/>
                </a:solidFill>
                <a:latin typeface="宋体" panose="02010600030101010101" pitchFamily="2" charset="-122"/>
              </a:rPr>
              <a:t>IIR</a:t>
            </a:r>
            <a:r>
              <a:rPr lang="zh-CN" altLang="en-US" sz="2800" b="1">
                <a:solidFill>
                  <a:schemeClr val="tx2"/>
                </a:solidFill>
                <a:latin typeface="宋体" panose="02010600030101010101" pitchFamily="2" charset="-122"/>
              </a:rPr>
              <a:t>滤波器与</a:t>
            </a:r>
            <a:r>
              <a:rPr lang="en-US" altLang="zh-CN" sz="2800" b="1">
                <a:solidFill>
                  <a:schemeClr val="tx2"/>
                </a:solidFill>
                <a:latin typeface="宋体" panose="02010600030101010101" pitchFamily="2" charset="-122"/>
              </a:rPr>
              <a:t>FIR</a:t>
            </a:r>
            <a:r>
              <a:rPr lang="zh-CN" altLang="en-US" sz="2800" b="1">
                <a:solidFill>
                  <a:schemeClr val="tx2"/>
                </a:solidFill>
                <a:latin typeface="宋体" panose="02010600030101010101" pitchFamily="2" charset="-122"/>
              </a:rPr>
              <a:t>滤波器的一个重要区别是，</a:t>
            </a:r>
            <a:r>
              <a:rPr lang="en-US" altLang="zh-CN" sz="2800" b="1">
                <a:solidFill>
                  <a:schemeClr val="tx2"/>
                </a:solidFill>
                <a:latin typeface="宋体" panose="02010600030101010101" pitchFamily="2" charset="-122"/>
              </a:rPr>
              <a:t>IIR</a:t>
            </a:r>
            <a:r>
              <a:rPr lang="zh-CN" altLang="en-US" sz="2800" b="1">
                <a:solidFill>
                  <a:schemeClr val="tx2"/>
                </a:solidFill>
                <a:latin typeface="宋体" panose="02010600030101010101" pitchFamily="2" charset="-122"/>
              </a:rPr>
              <a:t>滤波器可以用较少的阶数获得很高的选择特性，所用的存储单元少，运算次数少，具有经济、高效的特点。</a:t>
            </a:r>
            <a:r>
              <a:rPr lang="zh-CN" altLang="en-US" sz="2800" b="1">
                <a:solidFill>
                  <a:srgbClr val="FF00FF"/>
                </a:solidFill>
                <a:latin typeface="宋体" panose="02010600030101010101" pitchFamily="2" charset="-122"/>
              </a:rPr>
              <a:t>但是，在有限精度的运算中，可能出现不稳定现象。而且，选择性越好，相位的非线性越严重，不像</a:t>
            </a:r>
            <a:r>
              <a:rPr lang="en-US" altLang="zh-CN" sz="2800" b="1">
                <a:solidFill>
                  <a:srgbClr val="FF00FF"/>
                </a:solidFill>
                <a:latin typeface="宋体" panose="02010600030101010101" pitchFamily="2" charset="-122"/>
              </a:rPr>
              <a:t>FIR</a:t>
            </a:r>
            <a:r>
              <a:rPr lang="zh-CN" altLang="en-US" sz="2800" b="1">
                <a:solidFill>
                  <a:srgbClr val="FF00FF"/>
                </a:solidFill>
                <a:latin typeface="宋体" panose="02010600030101010101" pitchFamily="2" charset="-122"/>
              </a:rPr>
              <a:t>滤波器可以得到严格的线性相位。</a:t>
            </a:r>
          </a:p>
          <a:p>
            <a:pPr algn="just"/>
            <a:r>
              <a:rPr lang="zh-CN" altLang="en-US" sz="2800" b="1">
                <a:latin typeface="宋体" panose="02010600030101010101" pitchFamily="2" charset="-122"/>
              </a:rPr>
              <a:t>因此，在相位要求不敏感的场合，如语言通信等，选用</a:t>
            </a:r>
            <a:r>
              <a:rPr lang="en-US" altLang="zh-CN" sz="2800" b="1">
                <a:latin typeface="宋体" panose="02010600030101010101" pitchFamily="2" charset="-122"/>
              </a:rPr>
              <a:t>IIR</a:t>
            </a:r>
            <a:r>
              <a:rPr lang="zh-CN" altLang="en-US" sz="2800" b="1">
                <a:latin typeface="宋体" panose="02010600030101010101" pitchFamily="2" charset="-122"/>
              </a:rPr>
              <a:t>滤波器较为合适；而对于图像信号处理、数据传输等以波形携带信息的系统，对线性相位要求较高，在条件许可的情况下，采用系数对称</a:t>
            </a:r>
            <a:r>
              <a:rPr lang="en-US" altLang="zh-CN" sz="2800" b="1">
                <a:latin typeface="宋体" panose="02010600030101010101" pitchFamily="2" charset="-122"/>
              </a:rPr>
              <a:t>FIR</a:t>
            </a:r>
            <a:r>
              <a:rPr lang="zh-CN" altLang="en-US" sz="2800" b="1">
                <a:latin typeface="宋体" panose="02010600030101010101" pitchFamily="2" charset="-122"/>
              </a:rPr>
              <a:t>滤波器较好。</a:t>
            </a:r>
            <a:endParaRPr lang="zh-CN" altLang="en-US" sz="2800" b="1"/>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85762"/>
                                        </p:tgtEl>
                                        <p:attrNameLst>
                                          <p:attrName>style.visibility</p:attrName>
                                        </p:attrNameLst>
                                      </p:cBhvr>
                                      <p:to>
                                        <p:strVal val="visible"/>
                                      </p:to>
                                    </p:set>
                                    <p:animEffect transition="in" filter="slide(fromTop)">
                                      <p:cBhvr>
                                        <p:cTn id="7" dur="500"/>
                                        <p:tgtEl>
                                          <p:spTgt spid="885762"/>
                                        </p:tgtEl>
                                      </p:cBhvr>
                                    </p:animEffect>
                                  </p:childTnLst>
                                </p:cTn>
                              </p:par>
                            </p:childTnLst>
                          </p:cTn>
                        </p:par>
                        <p:par>
                          <p:cTn id="8" fill="hold" nodeType="afterGroup">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885763"/>
                                        </p:tgtEl>
                                        <p:attrNameLst>
                                          <p:attrName>style.visibility</p:attrName>
                                        </p:attrNameLst>
                                      </p:cBhvr>
                                      <p:to>
                                        <p:strVal val="visible"/>
                                      </p:to>
                                    </p:set>
                                    <p:animEffect transition="in" filter="blinds(vertical)">
                                      <p:cBhvr>
                                        <p:cTn id="11" dur="500"/>
                                        <p:tgtEl>
                                          <p:spTgt spid="885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5762" grpId="0" animBg="1"/>
      <p:bldP spid="88576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5B3FB9B-1146-425D-A0A3-C5B1379A359C}" type="slidenum">
              <a:rPr lang="en-US" altLang="zh-CN" sz="1400"/>
              <a:pPr eaLnBrk="1" hangingPunct="1"/>
              <a:t>101</a:t>
            </a:fld>
            <a:endParaRPr lang="en-US" altLang="zh-CN" sz="1400"/>
          </a:p>
        </p:txBody>
      </p:sp>
      <p:sp>
        <p:nvSpPr>
          <p:cNvPr id="886786" name="Rectangle 2" descr="小棋盘"/>
          <p:cNvSpPr>
            <a:spLocks noChangeArrowheads="1"/>
          </p:cNvSpPr>
          <p:nvPr/>
        </p:nvSpPr>
        <p:spPr bwMode="auto">
          <a:xfrm>
            <a:off x="1600200" y="1143000"/>
            <a:ext cx="60198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2</a:t>
            </a:r>
            <a:r>
              <a:rPr lang="zh-CN" altLang="en-US" sz="3200" b="1">
                <a:solidFill>
                  <a:srgbClr val="FF0000"/>
                </a:solidFill>
                <a:latin typeface="宋体" panose="02010600030101010101" pitchFamily="2" charset="-122"/>
                <a:ea typeface="仿宋_GB2312" pitchFamily="49" charset="-122"/>
              </a:rPr>
              <a:t>． 二阶</a:t>
            </a:r>
            <a:r>
              <a:rPr lang="en-US" altLang="zh-CN" sz="3200" b="1">
                <a:solidFill>
                  <a:srgbClr val="FF0000"/>
                </a:solidFill>
                <a:latin typeface="宋体" panose="02010600030101010101" pitchFamily="2" charset="-122"/>
                <a:ea typeface="仿宋_GB2312" pitchFamily="49" charset="-122"/>
              </a:rPr>
              <a:t>IIR</a:t>
            </a:r>
            <a:r>
              <a:rPr lang="zh-CN" altLang="en-US" sz="3200" b="1">
                <a:solidFill>
                  <a:srgbClr val="FF0000"/>
                </a:solidFill>
                <a:latin typeface="宋体" panose="02010600030101010101" pitchFamily="2" charset="-122"/>
                <a:ea typeface="仿宋_GB2312" pitchFamily="49" charset="-122"/>
              </a:rPr>
              <a:t>滤波器的实现方法 </a:t>
            </a:r>
          </a:p>
        </p:txBody>
      </p:sp>
      <p:sp>
        <p:nvSpPr>
          <p:cNvPr id="106500" name="Rectangle 5" descr="小棋盘"/>
          <p:cNvSpPr>
            <a:spLocks noChangeArrowheads="1"/>
          </p:cNvSpPr>
          <p:nvPr/>
        </p:nvSpPr>
        <p:spPr bwMode="auto">
          <a:xfrm>
            <a:off x="1258888" y="1844675"/>
            <a:ext cx="6672262" cy="1382713"/>
          </a:xfrm>
          <a:prstGeom prst="rect">
            <a:avLst/>
          </a:prstGeom>
          <a:pattFill prst="smCheck">
            <a:fgClr>
              <a:schemeClr val="accent1"/>
            </a:fgClr>
            <a:bgClr>
              <a:schemeClr val="bg1"/>
            </a:bgClr>
          </a:pattFill>
          <a:ln w="9525">
            <a:solidFill>
              <a:schemeClr val="hlink"/>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chemeClr val="tx2"/>
                </a:solidFill>
                <a:latin typeface="宋体" panose="02010600030101010101" pitchFamily="2" charset="-122"/>
              </a:rPr>
              <a:t>对于一个高阶的</a:t>
            </a:r>
            <a:r>
              <a:rPr lang="en-US" altLang="zh-CN" sz="2800" b="1">
                <a:solidFill>
                  <a:schemeClr val="tx2"/>
                </a:solidFill>
                <a:latin typeface="宋体" panose="02010600030101010101" pitchFamily="2" charset="-122"/>
              </a:rPr>
              <a:t>IIR</a:t>
            </a:r>
            <a:r>
              <a:rPr lang="zh-CN" altLang="en-US" sz="2800" b="1">
                <a:solidFill>
                  <a:schemeClr val="tx2"/>
                </a:solidFill>
                <a:latin typeface="宋体" panose="02010600030101010101" pitchFamily="2" charset="-122"/>
              </a:rPr>
              <a:t>滤波器，总可化成多个二阶基本节（或称二阶节）相级联或并联的形式</a:t>
            </a:r>
            <a:r>
              <a:rPr lang="zh-CN" altLang="en-US" sz="1100" b="1">
                <a:solidFill>
                  <a:schemeClr val="tx2"/>
                </a:solidFill>
              </a:rPr>
              <a:t> </a:t>
            </a:r>
            <a:endParaRPr lang="zh-CN" altLang="en-US" b="1">
              <a:solidFill>
                <a:schemeClr val="tx2"/>
              </a:solidFill>
            </a:endParaRPr>
          </a:p>
        </p:txBody>
      </p:sp>
      <p:sp>
        <p:nvSpPr>
          <p:cNvPr id="106501" name="Text Box 4"/>
          <p:cNvSpPr txBox="1">
            <a:spLocks noChangeArrowheads="1"/>
          </p:cNvSpPr>
          <p:nvPr/>
        </p:nvSpPr>
        <p:spPr bwMode="auto">
          <a:xfrm>
            <a:off x="1476375" y="6092825"/>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b="1">
                <a:latin typeface="宋体" panose="02010600030101010101" pitchFamily="2" charset="-122"/>
              </a:rPr>
              <a:t>3</a:t>
            </a:r>
            <a:r>
              <a:rPr kumimoji="0" lang="zh-CN" altLang="en-US" b="1">
                <a:latin typeface="宋体" panose="02010600030101010101" pitchFamily="2" charset="-122"/>
              </a:rPr>
              <a:t>个二阶节级联的六阶</a:t>
            </a:r>
            <a:r>
              <a:rPr kumimoji="0" lang="en-US" altLang="zh-CN" b="1">
                <a:latin typeface="宋体" panose="02010600030101010101" pitchFamily="2" charset="-122"/>
              </a:rPr>
              <a:t>IIR</a:t>
            </a:r>
            <a:r>
              <a:rPr kumimoji="0" lang="zh-CN" altLang="en-US" b="1">
                <a:latin typeface="宋体" panose="02010600030101010101" pitchFamily="2" charset="-122"/>
              </a:rPr>
              <a:t>滤波器</a:t>
            </a:r>
            <a:endParaRPr kumimoji="0" lang="zh-CN" altLang="en-US" b="1"/>
          </a:p>
        </p:txBody>
      </p:sp>
      <p:grpSp>
        <p:nvGrpSpPr>
          <p:cNvPr id="106502" name="Group 140"/>
          <p:cNvGrpSpPr>
            <a:grpSpLocks/>
          </p:cNvGrpSpPr>
          <p:nvPr/>
        </p:nvGrpSpPr>
        <p:grpSpPr bwMode="auto">
          <a:xfrm>
            <a:off x="190500" y="3284538"/>
            <a:ext cx="8672513" cy="2590800"/>
            <a:chOff x="0" y="2069"/>
            <a:chExt cx="5463" cy="1632"/>
          </a:xfrm>
        </p:grpSpPr>
        <p:grpSp>
          <p:nvGrpSpPr>
            <p:cNvPr id="106503" name="Group 138"/>
            <p:cNvGrpSpPr>
              <a:grpSpLocks/>
            </p:cNvGrpSpPr>
            <p:nvPr/>
          </p:nvGrpSpPr>
          <p:grpSpPr bwMode="auto">
            <a:xfrm>
              <a:off x="0" y="2079"/>
              <a:ext cx="1831" cy="1622"/>
              <a:chOff x="0" y="2079"/>
              <a:chExt cx="1831" cy="1622"/>
            </a:xfrm>
          </p:grpSpPr>
          <p:grpSp>
            <p:nvGrpSpPr>
              <p:cNvPr id="106588" name="Group 8"/>
              <p:cNvGrpSpPr>
                <a:grpSpLocks/>
              </p:cNvGrpSpPr>
              <p:nvPr/>
            </p:nvGrpSpPr>
            <p:grpSpPr bwMode="auto">
              <a:xfrm>
                <a:off x="261" y="2841"/>
                <a:ext cx="149" cy="196"/>
                <a:chOff x="884" y="2508"/>
                <a:chExt cx="182" cy="196"/>
              </a:xfrm>
            </p:grpSpPr>
            <p:sp>
              <p:nvSpPr>
                <p:cNvPr id="106626" name="Oval 6"/>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627" name="Text Box 7"/>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06589" name="Text Box 9"/>
              <p:cNvSpPr txBox="1">
                <a:spLocks noChangeArrowheads="1"/>
              </p:cNvSpPr>
              <p:nvPr/>
            </p:nvSpPr>
            <p:spPr bwMode="auto">
              <a:xfrm>
                <a:off x="596" y="2811"/>
                <a:ext cx="225" cy="242"/>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t>z</a:t>
                </a:r>
                <a:r>
                  <a:rPr lang="en-US" altLang="zh-CN" b="1" baseline="30000"/>
                  <a:t>-1</a:t>
                </a:r>
              </a:p>
            </p:txBody>
          </p:sp>
          <p:sp>
            <p:nvSpPr>
              <p:cNvPr id="106590" name="AutoShape 10"/>
              <p:cNvSpPr>
                <a:spLocks noChangeArrowheads="1"/>
              </p:cNvSpPr>
              <p:nvPr/>
            </p:nvSpPr>
            <p:spPr bwMode="auto">
              <a:xfrm rot="5400000">
                <a:off x="592" y="2281"/>
                <a:ext cx="227" cy="150"/>
              </a:xfrm>
              <a:prstGeom prst="triangle">
                <a:avLst>
                  <a:gd name="adj" fmla="val 50000"/>
                </a:avLst>
              </a:prstGeom>
              <a:solidFill>
                <a:srgbClr val="00FFFF"/>
              </a:solidFill>
              <a:ln w="9525">
                <a:solidFill>
                  <a:srgbClr val="FF00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91" name="AutoShape 11"/>
              <p:cNvSpPr>
                <a:spLocks noChangeArrowheads="1"/>
              </p:cNvSpPr>
              <p:nvPr/>
            </p:nvSpPr>
            <p:spPr bwMode="auto">
              <a:xfrm rot="-5400000">
                <a:off x="594" y="3287"/>
                <a:ext cx="227" cy="150"/>
              </a:xfrm>
              <a:prstGeom prst="triangle">
                <a:avLst>
                  <a:gd name="adj" fmla="val 50000"/>
                </a:avLst>
              </a:prstGeom>
              <a:solidFill>
                <a:srgbClr val="FFFF99"/>
              </a:solidFill>
              <a:ln w="9525">
                <a:solidFill>
                  <a:schemeClr val="tx2"/>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92" name="Line 12"/>
              <p:cNvSpPr>
                <a:spLocks noChangeShapeType="1"/>
              </p:cNvSpPr>
              <p:nvPr/>
            </p:nvSpPr>
            <p:spPr bwMode="auto">
              <a:xfrm flipV="1">
                <a:off x="484" y="2356"/>
                <a:ext cx="142" cy="1"/>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93" name="Line 13"/>
              <p:cNvSpPr>
                <a:spLocks noChangeShapeType="1"/>
              </p:cNvSpPr>
              <p:nvPr/>
            </p:nvSpPr>
            <p:spPr bwMode="auto">
              <a:xfrm flipV="1">
                <a:off x="783" y="3355"/>
                <a:ext cx="112" cy="4"/>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94" name="Line 14"/>
              <p:cNvSpPr>
                <a:spLocks noChangeShapeType="1"/>
              </p:cNvSpPr>
              <p:nvPr/>
            </p:nvSpPr>
            <p:spPr bwMode="auto">
              <a:xfrm>
                <a:off x="783" y="2356"/>
                <a:ext cx="970" cy="1"/>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95" name="Line 15"/>
              <p:cNvSpPr>
                <a:spLocks noChangeShapeType="1"/>
              </p:cNvSpPr>
              <p:nvPr/>
            </p:nvSpPr>
            <p:spPr bwMode="auto">
              <a:xfrm>
                <a:off x="521" y="3364"/>
                <a:ext cx="113"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96" name="Text Box 16"/>
              <p:cNvSpPr txBox="1">
                <a:spLocks noChangeArrowheads="1"/>
              </p:cNvSpPr>
              <p:nvPr/>
            </p:nvSpPr>
            <p:spPr bwMode="auto">
              <a:xfrm>
                <a:off x="596" y="2079"/>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b</a:t>
                </a:r>
                <a:r>
                  <a:rPr lang="en-US" altLang="zh-CN" sz="2000" b="1" baseline="-25000">
                    <a:solidFill>
                      <a:srgbClr val="FF00FF"/>
                    </a:solidFill>
                  </a:rPr>
                  <a:t>0</a:t>
                </a:r>
              </a:p>
            </p:txBody>
          </p:sp>
          <p:sp>
            <p:nvSpPr>
              <p:cNvPr id="106597" name="Text Box 17"/>
              <p:cNvSpPr txBox="1">
                <a:spLocks noChangeArrowheads="1"/>
              </p:cNvSpPr>
              <p:nvPr/>
            </p:nvSpPr>
            <p:spPr bwMode="auto">
              <a:xfrm>
                <a:off x="559" y="3083"/>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a</a:t>
                </a:r>
                <a:r>
                  <a:rPr lang="en-US" altLang="zh-CN" sz="2000" b="1" baseline="-25000">
                    <a:solidFill>
                      <a:schemeClr val="tx2"/>
                    </a:solidFill>
                  </a:rPr>
                  <a:t>1</a:t>
                </a:r>
              </a:p>
            </p:txBody>
          </p:sp>
          <p:sp>
            <p:nvSpPr>
              <p:cNvPr id="106598" name="Line 19"/>
              <p:cNvSpPr>
                <a:spLocks noChangeShapeType="1"/>
              </p:cNvSpPr>
              <p:nvPr/>
            </p:nvSpPr>
            <p:spPr bwMode="auto">
              <a:xfrm>
                <a:off x="112" y="2947"/>
                <a:ext cx="149"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99" name="Text Box 20"/>
              <p:cNvSpPr txBox="1">
                <a:spLocks noChangeArrowheads="1"/>
              </p:cNvSpPr>
              <p:nvPr/>
            </p:nvSpPr>
            <p:spPr bwMode="auto">
              <a:xfrm>
                <a:off x="0" y="2674"/>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x(n)</a:t>
                </a:r>
                <a:endParaRPr lang="en-US" altLang="zh-CN" sz="2000" b="1" baseline="-25000">
                  <a:solidFill>
                    <a:srgbClr val="FF0000"/>
                  </a:solidFill>
                </a:endParaRPr>
              </a:p>
            </p:txBody>
          </p:sp>
          <p:sp>
            <p:nvSpPr>
              <p:cNvPr id="106600" name="Line 21"/>
              <p:cNvSpPr>
                <a:spLocks noChangeShapeType="1"/>
              </p:cNvSpPr>
              <p:nvPr/>
            </p:nvSpPr>
            <p:spPr bwMode="auto">
              <a:xfrm>
                <a:off x="410" y="2947"/>
                <a:ext cx="186"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601" name="Line 22"/>
              <p:cNvSpPr>
                <a:spLocks noChangeShapeType="1"/>
              </p:cNvSpPr>
              <p:nvPr/>
            </p:nvSpPr>
            <p:spPr bwMode="auto">
              <a:xfrm>
                <a:off x="821" y="2947"/>
                <a:ext cx="185"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602" name="Text Box 23"/>
              <p:cNvSpPr txBox="1">
                <a:spLocks noChangeArrowheads="1"/>
              </p:cNvSpPr>
              <p:nvPr/>
            </p:nvSpPr>
            <p:spPr bwMode="auto">
              <a:xfrm>
                <a:off x="1006" y="2811"/>
                <a:ext cx="226" cy="242"/>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t>z</a:t>
                </a:r>
                <a:r>
                  <a:rPr lang="en-US" altLang="zh-CN" b="1" baseline="30000"/>
                  <a:t>-1</a:t>
                </a:r>
              </a:p>
            </p:txBody>
          </p:sp>
          <p:sp>
            <p:nvSpPr>
              <p:cNvPr id="106603" name="AutoShape 24"/>
              <p:cNvSpPr>
                <a:spLocks noChangeArrowheads="1"/>
              </p:cNvSpPr>
              <p:nvPr/>
            </p:nvSpPr>
            <p:spPr bwMode="auto">
              <a:xfrm rot="5400000">
                <a:off x="1378" y="2870"/>
                <a:ext cx="227" cy="149"/>
              </a:xfrm>
              <a:prstGeom prst="triangle">
                <a:avLst>
                  <a:gd name="adj" fmla="val 50000"/>
                </a:avLst>
              </a:prstGeom>
              <a:solidFill>
                <a:srgbClr val="00FFFF"/>
              </a:solidFill>
              <a:ln w="9525">
                <a:solidFill>
                  <a:srgbClr val="FF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604" name="Line 25"/>
              <p:cNvSpPr>
                <a:spLocks noChangeShapeType="1"/>
              </p:cNvSpPr>
              <p:nvPr/>
            </p:nvSpPr>
            <p:spPr bwMode="auto">
              <a:xfrm>
                <a:off x="1224" y="2945"/>
                <a:ext cx="193" cy="2"/>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605" name="Line 26"/>
              <p:cNvSpPr>
                <a:spLocks noChangeShapeType="1"/>
              </p:cNvSpPr>
              <p:nvPr/>
            </p:nvSpPr>
            <p:spPr bwMode="auto">
              <a:xfrm>
                <a:off x="1568" y="2945"/>
                <a:ext cx="109" cy="2"/>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606" name="AutoShape 27"/>
              <p:cNvSpPr>
                <a:spLocks noChangeArrowheads="1"/>
              </p:cNvSpPr>
              <p:nvPr/>
            </p:nvSpPr>
            <p:spPr bwMode="auto">
              <a:xfrm rot="5400000">
                <a:off x="1041" y="2554"/>
                <a:ext cx="227" cy="149"/>
              </a:xfrm>
              <a:prstGeom prst="triangle">
                <a:avLst>
                  <a:gd name="adj" fmla="val 50000"/>
                </a:avLst>
              </a:prstGeom>
              <a:solidFill>
                <a:srgbClr val="00FFFF"/>
              </a:solidFill>
              <a:ln w="9525">
                <a:solidFill>
                  <a:srgbClr val="FF00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607" name="Line 28"/>
              <p:cNvSpPr>
                <a:spLocks noChangeShapeType="1"/>
              </p:cNvSpPr>
              <p:nvPr/>
            </p:nvSpPr>
            <p:spPr bwMode="auto">
              <a:xfrm>
                <a:off x="895" y="2629"/>
                <a:ext cx="179"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08" name="Line 29"/>
              <p:cNvSpPr>
                <a:spLocks noChangeShapeType="1"/>
              </p:cNvSpPr>
              <p:nvPr/>
            </p:nvSpPr>
            <p:spPr bwMode="auto">
              <a:xfrm>
                <a:off x="1231" y="2629"/>
                <a:ext cx="223"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09" name="Text Box 30"/>
              <p:cNvSpPr txBox="1">
                <a:spLocks noChangeArrowheads="1"/>
              </p:cNvSpPr>
              <p:nvPr/>
            </p:nvSpPr>
            <p:spPr bwMode="auto">
              <a:xfrm>
                <a:off x="1044" y="2362"/>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b</a:t>
                </a:r>
                <a:r>
                  <a:rPr lang="en-US" altLang="zh-CN" sz="2000" b="1" baseline="-25000">
                    <a:solidFill>
                      <a:srgbClr val="FF00FF"/>
                    </a:solidFill>
                  </a:rPr>
                  <a:t>1</a:t>
                </a:r>
              </a:p>
            </p:txBody>
          </p:sp>
          <p:grpSp>
            <p:nvGrpSpPr>
              <p:cNvPr id="106610" name="Group 31"/>
              <p:cNvGrpSpPr>
                <a:grpSpLocks/>
              </p:cNvGrpSpPr>
              <p:nvPr/>
            </p:nvGrpSpPr>
            <p:grpSpPr bwMode="auto">
              <a:xfrm>
                <a:off x="1681" y="2846"/>
                <a:ext cx="150" cy="196"/>
                <a:chOff x="884" y="2508"/>
                <a:chExt cx="182" cy="196"/>
              </a:xfrm>
            </p:grpSpPr>
            <p:sp>
              <p:nvSpPr>
                <p:cNvPr id="106624" name="Oval 32"/>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625" name="Text Box 33"/>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06611" name="Line 34"/>
              <p:cNvSpPr>
                <a:spLocks noChangeShapeType="1"/>
              </p:cNvSpPr>
              <p:nvPr/>
            </p:nvSpPr>
            <p:spPr bwMode="auto">
              <a:xfrm>
                <a:off x="1755" y="2357"/>
                <a:ext cx="0" cy="499"/>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612" name="Line 35"/>
              <p:cNvSpPr>
                <a:spLocks noChangeShapeType="1"/>
              </p:cNvSpPr>
              <p:nvPr/>
            </p:nvSpPr>
            <p:spPr bwMode="auto">
              <a:xfrm>
                <a:off x="1454" y="2629"/>
                <a:ext cx="260" cy="272"/>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613" name="Text Box 36"/>
              <p:cNvSpPr txBox="1">
                <a:spLocks noChangeArrowheads="1"/>
              </p:cNvSpPr>
              <p:nvPr/>
            </p:nvSpPr>
            <p:spPr bwMode="auto">
              <a:xfrm>
                <a:off x="1383" y="2664"/>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b</a:t>
                </a:r>
                <a:r>
                  <a:rPr lang="en-US" altLang="zh-CN" sz="2000" b="1" baseline="-25000">
                    <a:solidFill>
                      <a:srgbClr val="FF00FF"/>
                    </a:solidFill>
                  </a:rPr>
                  <a:t>2</a:t>
                </a:r>
              </a:p>
            </p:txBody>
          </p:sp>
          <p:sp>
            <p:nvSpPr>
              <p:cNvPr id="106614" name="Line 37"/>
              <p:cNvSpPr>
                <a:spLocks noChangeShapeType="1"/>
              </p:cNvSpPr>
              <p:nvPr/>
            </p:nvSpPr>
            <p:spPr bwMode="auto">
              <a:xfrm>
                <a:off x="484" y="2357"/>
                <a:ext cx="0" cy="59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15" name="Line 38"/>
              <p:cNvSpPr>
                <a:spLocks noChangeShapeType="1"/>
              </p:cNvSpPr>
              <p:nvPr/>
            </p:nvSpPr>
            <p:spPr bwMode="auto">
              <a:xfrm>
                <a:off x="895" y="2629"/>
                <a:ext cx="0" cy="318"/>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16" name="Line 39"/>
              <p:cNvSpPr>
                <a:spLocks noChangeShapeType="1"/>
              </p:cNvSpPr>
              <p:nvPr/>
            </p:nvSpPr>
            <p:spPr bwMode="auto">
              <a:xfrm>
                <a:off x="895" y="2947"/>
                <a:ext cx="0" cy="408"/>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17" name="AutoShape 40"/>
              <p:cNvSpPr>
                <a:spLocks noChangeArrowheads="1"/>
              </p:cNvSpPr>
              <p:nvPr/>
            </p:nvSpPr>
            <p:spPr bwMode="auto">
              <a:xfrm rot="-5400000">
                <a:off x="1041" y="3513"/>
                <a:ext cx="227" cy="150"/>
              </a:xfrm>
              <a:prstGeom prst="triangle">
                <a:avLst>
                  <a:gd name="adj" fmla="val 50000"/>
                </a:avLst>
              </a:prstGeom>
              <a:solidFill>
                <a:srgbClr val="FFFF99"/>
              </a:solidFill>
              <a:ln w="9525">
                <a:solidFill>
                  <a:schemeClr val="tx2"/>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618" name="Line 41"/>
              <p:cNvSpPr>
                <a:spLocks noChangeShapeType="1"/>
              </p:cNvSpPr>
              <p:nvPr/>
            </p:nvSpPr>
            <p:spPr bwMode="auto">
              <a:xfrm flipV="1">
                <a:off x="1230" y="3582"/>
                <a:ext cx="75" cy="3"/>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19" name="Line 42"/>
              <p:cNvSpPr>
                <a:spLocks noChangeShapeType="1"/>
              </p:cNvSpPr>
              <p:nvPr/>
            </p:nvSpPr>
            <p:spPr bwMode="auto">
              <a:xfrm>
                <a:off x="335" y="3582"/>
                <a:ext cx="746" cy="8"/>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20" name="Text Box 43"/>
              <p:cNvSpPr txBox="1">
                <a:spLocks noChangeArrowheads="1"/>
              </p:cNvSpPr>
              <p:nvPr/>
            </p:nvSpPr>
            <p:spPr bwMode="auto">
              <a:xfrm>
                <a:off x="1006" y="3309"/>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a</a:t>
                </a:r>
                <a:r>
                  <a:rPr lang="en-US" altLang="zh-CN" sz="2000" b="1" baseline="-25000">
                    <a:solidFill>
                      <a:schemeClr val="tx2"/>
                    </a:solidFill>
                  </a:rPr>
                  <a:t>2</a:t>
                </a:r>
              </a:p>
            </p:txBody>
          </p:sp>
          <p:sp>
            <p:nvSpPr>
              <p:cNvPr id="106621" name="Line 46"/>
              <p:cNvSpPr>
                <a:spLocks noChangeShapeType="1"/>
              </p:cNvSpPr>
              <p:nvPr/>
            </p:nvSpPr>
            <p:spPr bwMode="auto">
              <a:xfrm>
                <a:off x="1305" y="2947"/>
                <a:ext cx="0" cy="635"/>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22" name="Line 47"/>
              <p:cNvSpPr>
                <a:spLocks noChangeShapeType="1"/>
              </p:cNvSpPr>
              <p:nvPr/>
            </p:nvSpPr>
            <p:spPr bwMode="auto">
              <a:xfrm>
                <a:off x="335" y="3037"/>
                <a:ext cx="0" cy="545"/>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623" name="Line 48"/>
              <p:cNvSpPr>
                <a:spLocks noChangeShapeType="1"/>
              </p:cNvSpPr>
              <p:nvPr/>
            </p:nvSpPr>
            <p:spPr bwMode="auto">
              <a:xfrm>
                <a:off x="389" y="3002"/>
                <a:ext cx="150" cy="363"/>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6504" name="Group 133"/>
            <p:cNvGrpSpPr>
              <a:grpSpLocks/>
            </p:cNvGrpSpPr>
            <p:nvPr/>
          </p:nvGrpSpPr>
          <p:grpSpPr bwMode="auto">
            <a:xfrm>
              <a:off x="1790" y="2079"/>
              <a:ext cx="1771" cy="1622"/>
              <a:chOff x="1967" y="2381"/>
              <a:chExt cx="1762" cy="1622"/>
            </a:xfrm>
          </p:grpSpPr>
          <p:grpSp>
            <p:nvGrpSpPr>
              <p:cNvPr id="106548" name="Group 51"/>
              <p:cNvGrpSpPr>
                <a:grpSpLocks/>
              </p:cNvGrpSpPr>
              <p:nvPr/>
            </p:nvGrpSpPr>
            <p:grpSpPr bwMode="auto">
              <a:xfrm>
                <a:off x="2165" y="3143"/>
                <a:ext cx="149" cy="196"/>
                <a:chOff x="884" y="2508"/>
                <a:chExt cx="182" cy="196"/>
              </a:xfrm>
            </p:grpSpPr>
            <p:sp>
              <p:nvSpPr>
                <p:cNvPr id="106586" name="Oval 52"/>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87" name="Text Box 53"/>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06549" name="Text Box 54"/>
              <p:cNvSpPr txBox="1">
                <a:spLocks noChangeArrowheads="1"/>
              </p:cNvSpPr>
              <p:nvPr/>
            </p:nvSpPr>
            <p:spPr bwMode="auto">
              <a:xfrm>
                <a:off x="2499" y="3113"/>
                <a:ext cx="224" cy="242"/>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t>z</a:t>
                </a:r>
                <a:r>
                  <a:rPr lang="en-US" altLang="zh-CN" b="1" baseline="30000"/>
                  <a:t>-1</a:t>
                </a:r>
              </a:p>
            </p:txBody>
          </p:sp>
          <p:sp>
            <p:nvSpPr>
              <p:cNvPr id="106550" name="AutoShape 55"/>
              <p:cNvSpPr>
                <a:spLocks noChangeArrowheads="1"/>
              </p:cNvSpPr>
              <p:nvPr/>
            </p:nvSpPr>
            <p:spPr bwMode="auto">
              <a:xfrm rot="5400000">
                <a:off x="2496" y="2583"/>
                <a:ext cx="227" cy="149"/>
              </a:xfrm>
              <a:prstGeom prst="triangle">
                <a:avLst>
                  <a:gd name="adj" fmla="val 50000"/>
                </a:avLst>
              </a:prstGeom>
              <a:solidFill>
                <a:srgbClr val="00FFFF"/>
              </a:solidFill>
              <a:ln w="9525">
                <a:solidFill>
                  <a:srgbClr val="FF00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51" name="AutoShape 56"/>
              <p:cNvSpPr>
                <a:spLocks noChangeArrowheads="1"/>
              </p:cNvSpPr>
              <p:nvPr/>
            </p:nvSpPr>
            <p:spPr bwMode="auto">
              <a:xfrm rot="-5400000">
                <a:off x="2497" y="3589"/>
                <a:ext cx="227" cy="149"/>
              </a:xfrm>
              <a:prstGeom prst="triangle">
                <a:avLst>
                  <a:gd name="adj" fmla="val 50000"/>
                </a:avLst>
              </a:prstGeom>
              <a:solidFill>
                <a:srgbClr val="FFFF99"/>
              </a:solidFill>
              <a:ln w="9525">
                <a:solidFill>
                  <a:schemeClr val="tx2"/>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52" name="Line 57"/>
              <p:cNvSpPr>
                <a:spLocks noChangeShapeType="1"/>
              </p:cNvSpPr>
              <p:nvPr/>
            </p:nvSpPr>
            <p:spPr bwMode="auto">
              <a:xfrm flipV="1">
                <a:off x="2388" y="2658"/>
                <a:ext cx="141" cy="1"/>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53" name="Line 58"/>
              <p:cNvSpPr>
                <a:spLocks noChangeShapeType="1"/>
              </p:cNvSpPr>
              <p:nvPr/>
            </p:nvSpPr>
            <p:spPr bwMode="auto">
              <a:xfrm flipV="1">
                <a:off x="2685" y="3657"/>
                <a:ext cx="111" cy="4"/>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54" name="Line 59"/>
              <p:cNvSpPr>
                <a:spLocks noChangeShapeType="1"/>
              </p:cNvSpPr>
              <p:nvPr/>
            </p:nvSpPr>
            <p:spPr bwMode="auto">
              <a:xfrm>
                <a:off x="2685" y="2658"/>
                <a:ext cx="966" cy="1"/>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55" name="Line 60"/>
              <p:cNvSpPr>
                <a:spLocks noChangeShapeType="1"/>
              </p:cNvSpPr>
              <p:nvPr/>
            </p:nvSpPr>
            <p:spPr bwMode="auto">
              <a:xfrm>
                <a:off x="2425" y="3666"/>
                <a:ext cx="112"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56" name="Text Box 61"/>
              <p:cNvSpPr txBox="1">
                <a:spLocks noChangeArrowheads="1"/>
              </p:cNvSpPr>
              <p:nvPr/>
            </p:nvSpPr>
            <p:spPr bwMode="auto">
              <a:xfrm>
                <a:off x="2499" y="2381"/>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d</a:t>
                </a:r>
                <a:r>
                  <a:rPr lang="en-US" altLang="zh-CN" sz="2000" b="1" baseline="-25000">
                    <a:solidFill>
                      <a:srgbClr val="FF00FF"/>
                    </a:solidFill>
                  </a:rPr>
                  <a:t>0</a:t>
                </a:r>
              </a:p>
            </p:txBody>
          </p:sp>
          <p:sp>
            <p:nvSpPr>
              <p:cNvPr id="106557" name="Text Box 62"/>
              <p:cNvSpPr txBox="1">
                <a:spLocks noChangeArrowheads="1"/>
              </p:cNvSpPr>
              <p:nvPr/>
            </p:nvSpPr>
            <p:spPr bwMode="auto">
              <a:xfrm>
                <a:off x="2463" y="3385"/>
                <a:ext cx="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c</a:t>
                </a:r>
                <a:r>
                  <a:rPr lang="en-US" altLang="zh-CN" sz="2000" b="1" baseline="-25000">
                    <a:solidFill>
                      <a:schemeClr val="tx2"/>
                    </a:solidFill>
                  </a:rPr>
                  <a:t>1</a:t>
                </a:r>
              </a:p>
            </p:txBody>
          </p:sp>
          <p:sp>
            <p:nvSpPr>
              <p:cNvPr id="106558" name="Line 63"/>
              <p:cNvSpPr>
                <a:spLocks noChangeShapeType="1"/>
              </p:cNvSpPr>
              <p:nvPr/>
            </p:nvSpPr>
            <p:spPr bwMode="auto">
              <a:xfrm>
                <a:off x="2017" y="3249"/>
                <a:ext cx="148"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59" name="Text Box 64"/>
              <p:cNvSpPr txBox="1">
                <a:spLocks noChangeArrowheads="1"/>
              </p:cNvSpPr>
              <p:nvPr/>
            </p:nvSpPr>
            <p:spPr bwMode="auto">
              <a:xfrm>
                <a:off x="1967" y="2951"/>
                <a:ext cx="2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x</a:t>
                </a:r>
                <a:r>
                  <a:rPr lang="en-US" altLang="zh-CN" sz="2000" b="1" baseline="-25000">
                    <a:solidFill>
                      <a:srgbClr val="FF0000"/>
                    </a:solidFill>
                  </a:rPr>
                  <a:t>1</a:t>
                </a:r>
                <a:r>
                  <a:rPr lang="en-US" altLang="zh-CN" sz="2000" b="1">
                    <a:solidFill>
                      <a:srgbClr val="FF0000"/>
                    </a:solidFill>
                  </a:rPr>
                  <a:t>(n)</a:t>
                </a:r>
                <a:endParaRPr lang="en-US" altLang="zh-CN" sz="2000" b="1" baseline="-25000">
                  <a:solidFill>
                    <a:srgbClr val="FF0000"/>
                  </a:solidFill>
                </a:endParaRPr>
              </a:p>
            </p:txBody>
          </p:sp>
          <p:sp>
            <p:nvSpPr>
              <p:cNvPr id="106560" name="Line 65"/>
              <p:cNvSpPr>
                <a:spLocks noChangeShapeType="1"/>
              </p:cNvSpPr>
              <p:nvPr/>
            </p:nvSpPr>
            <p:spPr bwMode="auto">
              <a:xfrm>
                <a:off x="2314" y="3249"/>
                <a:ext cx="185"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61" name="Line 66"/>
              <p:cNvSpPr>
                <a:spLocks noChangeShapeType="1"/>
              </p:cNvSpPr>
              <p:nvPr/>
            </p:nvSpPr>
            <p:spPr bwMode="auto">
              <a:xfrm>
                <a:off x="2723" y="3249"/>
                <a:ext cx="185"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62" name="Text Box 67"/>
              <p:cNvSpPr txBox="1">
                <a:spLocks noChangeArrowheads="1"/>
              </p:cNvSpPr>
              <p:nvPr/>
            </p:nvSpPr>
            <p:spPr bwMode="auto">
              <a:xfrm>
                <a:off x="2908" y="3113"/>
                <a:ext cx="223" cy="242"/>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t>z</a:t>
                </a:r>
                <a:r>
                  <a:rPr lang="en-US" altLang="zh-CN" b="1" baseline="30000"/>
                  <a:t>-1</a:t>
                </a:r>
              </a:p>
            </p:txBody>
          </p:sp>
          <p:sp>
            <p:nvSpPr>
              <p:cNvPr id="106563" name="AutoShape 68"/>
              <p:cNvSpPr>
                <a:spLocks noChangeArrowheads="1"/>
              </p:cNvSpPr>
              <p:nvPr/>
            </p:nvSpPr>
            <p:spPr bwMode="auto">
              <a:xfrm rot="5400000">
                <a:off x="3277" y="3172"/>
                <a:ext cx="227" cy="149"/>
              </a:xfrm>
              <a:prstGeom prst="triangle">
                <a:avLst>
                  <a:gd name="adj" fmla="val 50000"/>
                </a:avLst>
              </a:prstGeom>
              <a:solidFill>
                <a:srgbClr val="00FFFF"/>
              </a:solidFill>
              <a:ln w="9525">
                <a:solidFill>
                  <a:srgbClr val="FF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64" name="Line 69"/>
              <p:cNvSpPr>
                <a:spLocks noChangeShapeType="1"/>
              </p:cNvSpPr>
              <p:nvPr/>
            </p:nvSpPr>
            <p:spPr bwMode="auto">
              <a:xfrm>
                <a:off x="3125" y="3247"/>
                <a:ext cx="191" cy="2"/>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65" name="Line 70"/>
              <p:cNvSpPr>
                <a:spLocks noChangeShapeType="1"/>
              </p:cNvSpPr>
              <p:nvPr/>
            </p:nvSpPr>
            <p:spPr bwMode="auto">
              <a:xfrm>
                <a:off x="3467" y="3247"/>
                <a:ext cx="109" cy="2"/>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66" name="AutoShape 71"/>
              <p:cNvSpPr>
                <a:spLocks noChangeArrowheads="1"/>
              </p:cNvSpPr>
              <p:nvPr/>
            </p:nvSpPr>
            <p:spPr bwMode="auto">
              <a:xfrm rot="5400000">
                <a:off x="2942" y="2856"/>
                <a:ext cx="227" cy="149"/>
              </a:xfrm>
              <a:prstGeom prst="triangle">
                <a:avLst>
                  <a:gd name="adj" fmla="val 50000"/>
                </a:avLst>
              </a:prstGeom>
              <a:solidFill>
                <a:srgbClr val="00FFFF"/>
              </a:solidFill>
              <a:ln w="9525">
                <a:solidFill>
                  <a:srgbClr val="FF00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67" name="Line 72"/>
              <p:cNvSpPr>
                <a:spLocks noChangeShapeType="1"/>
              </p:cNvSpPr>
              <p:nvPr/>
            </p:nvSpPr>
            <p:spPr bwMode="auto">
              <a:xfrm>
                <a:off x="2796" y="2931"/>
                <a:ext cx="179"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68" name="Line 73"/>
              <p:cNvSpPr>
                <a:spLocks noChangeShapeType="1"/>
              </p:cNvSpPr>
              <p:nvPr/>
            </p:nvSpPr>
            <p:spPr bwMode="auto">
              <a:xfrm>
                <a:off x="3131" y="2931"/>
                <a:ext cx="223"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69" name="Text Box 74"/>
              <p:cNvSpPr txBox="1">
                <a:spLocks noChangeArrowheads="1"/>
              </p:cNvSpPr>
              <p:nvPr/>
            </p:nvSpPr>
            <p:spPr bwMode="auto">
              <a:xfrm>
                <a:off x="2945" y="2664"/>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d</a:t>
                </a:r>
                <a:r>
                  <a:rPr lang="en-US" altLang="zh-CN" sz="2000" b="1" baseline="-25000">
                    <a:solidFill>
                      <a:srgbClr val="FF00FF"/>
                    </a:solidFill>
                  </a:rPr>
                  <a:t>1</a:t>
                </a:r>
              </a:p>
            </p:txBody>
          </p:sp>
          <p:grpSp>
            <p:nvGrpSpPr>
              <p:cNvPr id="106570" name="Group 75"/>
              <p:cNvGrpSpPr>
                <a:grpSpLocks/>
              </p:cNvGrpSpPr>
              <p:nvPr/>
            </p:nvGrpSpPr>
            <p:grpSpPr bwMode="auto">
              <a:xfrm>
                <a:off x="3580" y="3148"/>
                <a:ext cx="149" cy="196"/>
                <a:chOff x="884" y="2508"/>
                <a:chExt cx="182" cy="196"/>
              </a:xfrm>
            </p:grpSpPr>
            <p:sp>
              <p:nvSpPr>
                <p:cNvPr id="106584" name="Oval 76"/>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85" name="Text Box 77"/>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06571" name="Line 78"/>
              <p:cNvSpPr>
                <a:spLocks noChangeShapeType="1"/>
              </p:cNvSpPr>
              <p:nvPr/>
            </p:nvSpPr>
            <p:spPr bwMode="auto">
              <a:xfrm>
                <a:off x="3653" y="2659"/>
                <a:ext cx="0" cy="499"/>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72" name="Line 79"/>
              <p:cNvSpPr>
                <a:spLocks noChangeShapeType="1"/>
              </p:cNvSpPr>
              <p:nvPr/>
            </p:nvSpPr>
            <p:spPr bwMode="auto">
              <a:xfrm>
                <a:off x="3353" y="2931"/>
                <a:ext cx="259" cy="272"/>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73" name="Text Box 80"/>
              <p:cNvSpPr txBox="1">
                <a:spLocks noChangeArrowheads="1"/>
              </p:cNvSpPr>
              <p:nvPr/>
            </p:nvSpPr>
            <p:spPr bwMode="auto">
              <a:xfrm>
                <a:off x="3283" y="2966"/>
                <a:ext cx="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d</a:t>
                </a:r>
                <a:r>
                  <a:rPr lang="en-US" altLang="zh-CN" sz="2000" b="1" baseline="-25000">
                    <a:solidFill>
                      <a:srgbClr val="FF00FF"/>
                    </a:solidFill>
                  </a:rPr>
                  <a:t>2</a:t>
                </a:r>
              </a:p>
            </p:txBody>
          </p:sp>
          <p:sp>
            <p:nvSpPr>
              <p:cNvPr id="106574" name="Line 81"/>
              <p:cNvSpPr>
                <a:spLocks noChangeShapeType="1"/>
              </p:cNvSpPr>
              <p:nvPr/>
            </p:nvSpPr>
            <p:spPr bwMode="auto">
              <a:xfrm>
                <a:off x="2388" y="2659"/>
                <a:ext cx="0" cy="59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75" name="Line 82"/>
              <p:cNvSpPr>
                <a:spLocks noChangeShapeType="1"/>
              </p:cNvSpPr>
              <p:nvPr/>
            </p:nvSpPr>
            <p:spPr bwMode="auto">
              <a:xfrm>
                <a:off x="2796" y="2931"/>
                <a:ext cx="0" cy="318"/>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76" name="Line 83"/>
              <p:cNvSpPr>
                <a:spLocks noChangeShapeType="1"/>
              </p:cNvSpPr>
              <p:nvPr/>
            </p:nvSpPr>
            <p:spPr bwMode="auto">
              <a:xfrm>
                <a:off x="2796" y="3249"/>
                <a:ext cx="0" cy="408"/>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77" name="AutoShape 84"/>
              <p:cNvSpPr>
                <a:spLocks noChangeArrowheads="1"/>
              </p:cNvSpPr>
              <p:nvPr/>
            </p:nvSpPr>
            <p:spPr bwMode="auto">
              <a:xfrm rot="-5400000">
                <a:off x="2942" y="3815"/>
                <a:ext cx="227" cy="149"/>
              </a:xfrm>
              <a:prstGeom prst="triangle">
                <a:avLst>
                  <a:gd name="adj" fmla="val 50000"/>
                </a:avLst>
              </a:prstGeom>
              <a:solidFill>
                <a:srgbClr val="FFFF99"/>
              </a:solidFill>
              <a:ln w="9525">
                <a:solidFill>
                  <a:schemeClr val="tx2"/>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78" name="Line 85"/>
              <p:cNvSpPr>
                <a:spLocks noChangeShapeType="1"/>
              </p:cNvSpPr>
              <p:nvPr/>
            </p:nvSpPr>
            <p:spPr bwMode="auto">
              <a:xfrm flipV="1">
                <a:off x="3130" y="3884"/>
                <a:ext cx="75" cy="3"/>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79" name="Line 86"/>
              <p:cNvSpPr>
                <a:spLocks noChangeShapeType="1"/>
              </p:cNvSpPr>
              <p:nvPr/>
            </p:nvSpPr>
            <p:spPr bwMode="auto">
              <a:xfrm>
                <a:off x="2240" y="3884"/>
                <a:ext cx="742" cy="8"/>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80" name="Text Box 87"/>
              <p:cNvSpPr txBox="1">
                <a:spLocks noChangeArrowheads="1"/>
              </p:cNvSpPr>
              <p:nvPr/>
            </p:nvSpPr>
            <p:spPr bwMode="auto">
              <a:xfrm>
                <a:off x="2908" y="3611"/>
                <a:ext cx="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c</a:t>
                </a:r>
                <a:r>
                  <a:rPr lang="en-US" altLang="zh-CN" sz="2000" b="1" baseline="-25000">
                    <a:solidFill>
                      <a:schemeClr val="tx2"/>
                    </a:solidFill>
                  </a:rPr>
                  <a:t>2</a:t>
                </a:r>
              </a:p>
            </p:txBody>
          </p:sp>
          <p:sp>
            <p:nvSpPr>
              <p:cNvPr id="106581" name="Line 88"/>
              <p:cNvSpPr>
                <a:spLocks noChangeShapeType="1"/>
              </p:cNvSpPr>
              <p:nvPr/>
            </p:nvSpPr>
            <p:spPr bwMode="auto">
              <a:xfrm>
                <a:off x="3205" y="3249"/>
                <a:ext cx="0" cy="635"/>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82" name="Line 89"/>
              <p:cNvSpPr>
                <a:spLocks noChangeShapeType="1"/>
              </p:cNvSpPr>
              <p:nvPr/>
            </p:nvSpPr>
            <p:spPr bwMode="auto">
              <a:xfrm>
                <a:off x="2240" y="3339"/>
                <a:ext cx="0" cy="545"/>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83" name="Line 90"/>
              <p:cNvSpPr>
                <a:spLocks noChangeShapeType="1"/>
              </p:cNvSpPr>
              <p:nvPr/>
            </p:nvSpPr>
            <p:spPr bwMode="auto">
              <a:xfrm>
                <a:off x="2293" y="3304"/>
                <a:ext cx="149" cy="363"/>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6505" name="Group 139"/>
            <p:cNvGrpSpPr>
              <a:grpSpLocks/>
            </p:cNvGrpSpPr>
            <p:nvPr/>
          </p:nvGrpSpPr>
          <p:grpSpPr bwMode="auto">
            <a:xfrm>
              <a:off x="3514" y="2069"/>
              <a:ext cx="1949" cy="1622"/>
              <a:chOff x="3514" y="2069"/>
              <a:chExt cx="1949" cy="1622"/>
            </a:xfrm>
          </p:grpSpPr>
          <p:grpSp>
            <p:nvGrpSpPr>
              <p:cNvPr id="106506" name="Group 91"/>
              <p:cNvGrpSpPr>
                <a:grpSpLocks/>
              </p:cNvGrpSpPr>
              <p:nvPr/>
            </p:nvGrpSpPr>
            <p:grpSpPr bwMode="auto">
              <a:xfrm>
                <a:off x="3713" y="2831"/>
                <a:ext cx="150" cy="196"/>
                <a:chOff x="884" y="2508"/>
                <a:chExt cx="182" cy="196"/>
              </a:xfrm>
            </p:grpSpPr>
            <p:sp>
              <p:nvSpPr>
                <p:cNvPr id="106546" name="Oval 92"/>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47" name="Text Box 93"/>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06507" name="Text Box 94"/>
              <p:cNvSpPr txBox="1">
                <a:spLocks noChangeArrowheads="1"/>
              </p:cNvSpPr>
              <p:nvPr/>
            </p:nvSpPr>
            <p:spPr bwMode="auto">
              <a:xfrm>
                <a:off x="4049" y="2801"/>
                <a:ext cx="224" cy="242"/>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t>z</a:t>
                </a:r>
                <a:r>
                  <a:rPr lang="en-US" altLang="zh-CN" b="1" baseline="30000"/>
                  <a:t>-1</a:t>
                </a:r>
              </a:p>
            </p:txBody>
          </p:sp>
          <p:sp>
            <p:nvSpPr>
              <p:cNvPr id="106508" name="AutoShape 95"/>
              <p:cNvSpPr>
                <a:spLocks noChangeArrowheads="1"/>
              </p:cNvSpPr>
              <p:nvPr/>
            </p:nvSpPr>
            <p:spPr bwMode="auto">
              <a:xfrm rot="5400000">
                <a:off x="4045" y="2271"/>
                <a:ext cx="227" cy="150"/>
              </a:xfrm>
              <a:prstGeom prst="triangle">
                <a:avLst>
                  <a:gd name="adj" fmla="val 50000"/>
                </a:avLst>
              </a:prstGeom>
              <a:solidFill>
                <a:srgbClr val="00FFFF"/>
              </a:solidFill>
              <a:ln w="9525">
                <a:solidFill>
                  <a:srgbClr val="FF00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09" name="AutoShape 96"/>
              <p:cNvSpPr>
                <a:spLocks noChangeArrowheads="1"/>
              </p:cNvSpPr>
              <p:nvPr/>
            </p:nvSpPr>
            <p:spPr bwMode="auto">
              <a:xfrm rot="-5400000">
                <a:off x="4047" y="3277"/>
                <a:ext cx="227" cy="150"/>
              </a:xfrm>
              <a:prstGeom prst="triangle">
                <a:avLst>
                  <a:gd name="adj" fmla="val 50000"/>
                </a:avLst>
              </a:prstGeom>
              <a:solidFill>
                <a:srgbClr val="FFFF99"/>
              </a:solidFill>
              <a:ln w="9525">
                <a:solidFill>
                  <a:schemeClr val="tx2"/>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10" name="Line 97"/>
              <p:cNvSpPr>
                <a:spLocks noChangeShapeType="1"/>
              </p:cNvSpPr>
              <p:nvPr/>
            </p:nvSpPr>
            <p:spPr bwMode="auto">
              <a:xfrm flipV="1">
                <a:off x="3936" y="2346"/>
                <a:ext cx="142" cy="1"/>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11" name="Line 98"/>
              <p:cNvSpPr>
                <a:spLocks noChangeShapeType="1"/>
              </p:cNvSpPr>
              <p:nvPr/>
            </p:nvSpPr>
            <p:spPr bwMode="auto">
              <a:xfrm flipV="1">
                <a:off x="4236" y="3345"/>
                <a:ext cx="111" cy="4"/>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12" name="Line 99"/>
              <p:cNvSpPr>
                <a:spLocks noChangeShapeType="1"/>
              </p:cNvSpPr>
              <p:nvPr/>
            </p:nvSpPr>
            <p:spPr bwMode="auto">
              <a:xfrm>
                <a:off x="4236" y="2346"/>
                <a:ext cx="970" cy="1"/>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13" name="Line 100"/>
              <p:cNvSpPr>
                <a:spLocks noChangeShapeType="1"/>
              </p:cNvSpPr>
              <p:nvPr/>
            </p:nvSpPr>
            <p:spPr bwMode="auto">
              <a:xfrm>
                <a:off x="3973" y="3354"/>
                <a:ext cx="113"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14" name="Text Box 101"/>
              <p:cNvSpPr txBox="1">
                <a:spLocks noChangeArrowheads="1"/>
              </p:cNvSpPr>
              <p:nvPr/>
            </p:nvSpPr>
            <p:spPr bwMode="auto">
              <a:xfrm>
                <a:off x="4049" y="2069"/>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f</a:t>
                </a:r>
                <a:r>
                  <a:rPr lang="en-US" altLang="zh-CN" sz="2000" b="1" baseline="-25000">
                    <a:solidFill>
                      <a:srgbClr val="FF00FF"/>
                    </a:solidFill>
                  </a:rPr>
                  <a:t>0</a:t>
                </a:r>
              </a:p>
            </p:txBody>
          </p:sp>
          <p:sp>
            <p:nvSpPr>
              <p:cNvPr id="106515" name="Text Box 102"/>
              <p:cNvSpPr txBox="1">
                <a:spLocks noChangeArrowheads="1"/>
              </p:cNvSpPr>
              <p:nvPr/>
            </p:nvSpPr>
            <p:spPr bwMode="auto">
              <a:xfrm>
                <a:off x="4012" y="3073"/>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e</a:t>
                </a:r>
                <a:r>
                  <a:rPr lang="en-US" altLang="zh-CN" sz="2000" b="1" baseline="-25000">
                    <a:solidFill>
                      <a:schemeClr val="tx2"/>
                    </a:solidFill>
                  </a:rPr>
                  <a:t>1</a:t>
                </a:r>
              </a:p>
            </p:txBody>
          </p:sp>
          <p:sp>
            <p:nvSpPr>
              <p:cNvPr id="106516" name="Line 103"/>
              <p:cNvSpPr>
                <a:spLocks noChangeShapeType="1"/>
              </p:cNvSpPr>
              <p:nvPr/>
            </p:nvSpPr>
            <p:spPr bwMode="auto">
              <a:xfrm>
                <a:off x="3564" y="2937"/>
                <a:ext cx="149"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17" name="Text Box 104"/>
              <p:cNvSpPr txBox="1">
                <a:spLocks noChangeArrowheads="1"/>
              </p:cNvSpPr>
              <p:nvPr/>
            </p:nvSpPr>
            <p:spPr bwMode="auto">
              <a:xfrm>
                <a:off x="3514" y="2639"/>
                <a:ext cx="2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x</a:t>
                </a:r>
                <a:r>
                  <a:rPr lang="en-US" altLang="zh-CN" sz="2000" b="1" baseline="-25000">
                    <a:solidFill>
                      <a:srgbClr val="FF0000"/>
                    </a:solidFill>
                  </a:rPr>
                  <a:t>2</a:t>
                </a:r>
                <a:r>
                  <a:rPr lang="en-US" altLang="zh-CN" sz="2000" b="1">
                    <a:solidFill>
                      <a:srgbClr val="FF0000"/>
                    </a:solidFill>
                  </a:rPr>
                  <a:t>(n)</a:t>
                </a:r>
                <a:endParaRPr lang="en-US" altLang="zh-CN" sz="2000" b="1" baseline="-25000">
                  <a:solidFill>
                    <a:srgbClr val="FF0000"/>
                  </a:solidFill>
                </a:endParaRPr>
              </a:p>
            </p:txBody>
          </p:sp>
          <p:sp>
            <p:nvSpPr>
              <p:cNvPr id="106518" name="Line 105"/>
              <p:cNvSpPr>
                <a:spLocks noChangeShapeType="1"/>
              </p:cNvSpPr>
              <p:nvPr/>
            </p:nvSpPr>
            <p:spPr bwMode="auto">
              <a:xfrm>
                <a:off x="3863" y="2937"/>
                <a:ext cx="186"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19" name="Line 106"/>
              <p:cNvSpPr>
                <a:spLocks noChangeShapeType="1"/>
              </p:cNvSpPr>
              <p:nvPr/>
            </p:nvSpPr>
            <p:spPr bwMode="auto">
              <a:xfrm>
                <a:off x="4273" y="2937"/>
                <a:ext cx="186"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20" name="Text Box 107"/>
              <p:cNvSpPr txBox="1">
                <a:spLocks noChangeArrowheads="1"/>
              </p:cNvSpPr>
              <p:nvPr/>
            </p:nvSpPr>
            <p:spPr bwMode="auto">
              <a:xfrm>
                <a:off x="4459" y="2801"/>
                <a:ext cx="225" cy="242"/>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t>z</a:t>
                </a:r>
                <a:r>
                  <a:rPr lang="en-US" altLang="zh-CN" b="1" baseline="30000"/>
                  <a:t>-1</a:t>
                </a:r>
              </a:p>
            </p:txBody>
          </p:sp>
          <p:sp>
            <p:nvSpPr>
              <p:cNvPr id="106521" name="AutoShape 108"/>
              <p:cNvSpPr>
                <a:spLocks noChangeArrowheads="1"/>
              </p:cNvSpPr>
              <p:nvPr/>
            </p:nvSpPr>
            <p:spPr bwMode="auto">
              <a:xfrm rot="5400000">
                <a:off x="4831" y="2860"/>
                <a:ext cx="227" cy="149"/>
              </a:xfrm>
              <a:prstGeom prst="triangle">
                <a:avLst>
                  <a:gd name="adj" fmla="val 50000"/>
                </a:avLst>
              </a:prstGeom>
              <a:solidFill>
                <a:srgbClr val="00FFFF"/>
              </a:solidFill>
              <a:ln w="9525">
                <a:solidFill>
                  <a:srgbClr val="FF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22" name="Line 109"/>
              <p:cNvSpPr>
                <a:spLocks noChangeShapeType="1"/>
              </p:cNvSpPr>
              <p:nvPr/>
            </p:nvSpPr>
            <p:spPr bwMode="auto">
              <a:xfrm>
                <a:off x="4677" y="2935"/>
                <a:ext cx="193" cy="2"/>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23" name="Line 110"/>
              <p:cNvSpPr>
                <a:spLocks noChangeShapeType="1"/>
              </p:cNvSpPr>
              <p:nvPr/>
            </p:nvSpPr>
            <p:spPr bwMode="auto">
              <a:xfrm>
                <a:off x="5021" y="2935"/>
                <a:ext cx="109" cy="2"/>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24" name="AutoShape 111"/>
              <p:cNvSpPr>
                <a:spLocks noChangeArrowheads="1"/>
              </p:cNvSpPr>
              <p:nvPr/>
            </p:nvSpPr>
            <p:spPr bwMode="auto">
              <a:xfrm rot="5400000">
                <a:off x="4493" y="2544"/>
                <a:ext cx="227" cy="150"/>
              </a:xfrm>
              <a:prstGeom prst="triangle">
                <a:avLst>
                  <a:gd name="adj" fmla="val 50000"/>
                </a:avLst>
              </a:prstGeom>
              <a:solidFill>
                <a:srgbClr val="00FFFF"/>
              </a:solidFill>
              <a:ln w="9525">
                <a:solidFill>
                  <a:srgbClr val="FF00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25" name="Line 112"/>
              <p:cNvSpPr>
                <a:spLocks noChangeShapeType="1"/>
              </p:cNvSpPr>
              <p:nvPr/>
            </p:nvSpPr>
            <p:spPr bwMode="auto">
              <a:xfrm>
                <a:off x="4347" y="2619"/>
                <a:ext cx="179"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26" name="Line 113"/>
              <p:cNvSpPr>
                <a:spLocks noChangeShapeType="1"/>
              </p:cNvSpPr>
              <p:nvPr/>
            </p:nvSpPr>
            <p:spPr bwMode="auto">
              <a:xfrm>
                <a:off x="4684" y="2619"/>
                <a:ext cx="223" cy="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27" name="Text Box 114"/>
              <p:cNvSpPr txBox="1">
                <a:spLocks noChangeArrowheads="1"/>
              </p:cNvSpPr>
              <p:nvPr/>
            </p:nvSpPr>
            <p:spPr bwMode="auto">
              <a:xfrm>
                <a:off x="4497" y="2352"/>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f</a:t>
                </a:r>
                <a:r>
                  <a:rPr lang="en-US" altLang="zh-CN" sz="2000" b="1" baseline="-25000">
                    <a:solidFill>
                      <a:srgbClr val="FF00FF"/>
                    </a:solidFill>
                  </a:rPr>
                  <a:t>1</a:t>
                </a:r>
              </a:p>
            </p:txBody>
          </p:sp>
          <p:grpSp>
            <p:nvGrpSpPr>
              <p:cNvPr id="106528" name="Group 115"/>
              <p:cNvGrpSpPr>
                <a:grpSpLocks/>
              </p:cNvGrpSpPr>
              <p:nvPr/>
            </p:nvGrpSpPr>
            <p:grpSpPr bwMode="auto">
              <a:xfrm>
                <a:off x="5134" y="2836"/>
                <a:ext cx="150" cy="196"/>
                <a:chOff x="884" y="2508"/>
                <a:chExt cx="182" cy="196"/>
              </a:xfrm>
            </p:grpSpPr>
            <p:sp>
              <p:nvSpPr>
                <p:cNvPr id="106544" name="Oval 116"/>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45" name="Text Box 117"/>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06529" name="Line 118"/>
              <p:cNvSpPr>
                <a:spLocks noChangeShapeType="1"/>
              </p:cNvSpPr>
              <p:nvPr/>
            </p:nvSpPr>
            <p:spPr bwMode="auto">
              <a:xfrm>
                <a:off x="5209" y="2347"/>
                <a:ext cx="0" cy="499"/>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30" name="Line 119"/>
              <p:cNvSpPr>
                <a:spLocks noChangeShapeType="1"/>
              </p:cNvSpPr>
              <p:nvPr/>
            </p:nvSpPr>
            <p:spPr bwMode="auto">
              <a:xfrm>
                <a:off x="4906" y="2619"/>
                <a:ext cx="261" cy="272"/>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31" name="Text Box 120"/>
              <p:cNvSpPr txBox="1">
                <a:spLocks noChangeArrowheads="1"/>
              </p:cNvSpPr>
              <p:nvPr/>
            </p:nvSpPr>
            <p:spPr bwMode="auto">
              <a:xfrm>
                <a:off x="4836" y="2654"/>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FF"/>
                    </a:solidFill>
                  </a:rPr>
                  <a:t>f</a:t>
                </a:r>
                <a:r>
                  <a:rPr lang="en-US" altLang="zh-CN" sz="2000" b="1" baseline="-25000">
                    <a:solidFill>
                      <a:srgbClr val="FF00FF"/>
                    </a:solidFill>
                  </a:rPr>
                  <a:t>2</a:t>
                </a:r>
              </a:p>
            </p:txBody>
          </p:sp>
          <p:sp>
            <p:nvSpPr>
              <p:cNvPr id="106532" name="Line 121"/>
              <p:cNvSpPr>
                <a:spLocks noChangeShapeType="1"/>
              </p:cNvSpPr>
              <p:nvPr/>
            </p:nvSpPr>
            <p:spPr bwMode="auto">
              <a:xfrm>
                <a:off x="3936" y="2347"/>
                <a:ext cx="0" cy="590"/>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33" name="Line 122"/>
              <p:cNvSpPr>
                <a:spLocks noChangeShapeType="1"/>
              </p:cNvSpPr>
              <p:nvPr/>
            </p:nvSpPr>
            <p:spPr bwMode="auto">
              <a:xfrm>
                <a:off x="4347" y="2619"/>
                <a:ext cx="0" cy="318"/>
              </a:xfrm>
              <a:prstGeom prst="line">
                <a:avLst/>
              </a:prstGeom>
              <a:noFill/>
              <a:ln w="2857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34" name="Line 123"/>
              <p:cNvSpPr>
                <a:spLocks noChangeShapeType="1"/>
              </p:cNvSpPr>
              <p:nvPr/>
            </p:nvSpPr>
            <p:spPr bwMode="auto">
              <a:xfrm>
                <a:off x="4347" y="2937"/>
                <a:ext cx="0" cy="408"/>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35" name="AutoShape 124"/>
              <p:cNvSpPr>
                <a:spLocks noChangeArrowheads="1"/>
              </p:cNvSpPr>
              <p:nvPr/>
            </p:nvSpPr>
            <p:spPr bwMode="auto">
              <a:xfrm rot="-5400000">
                <a:off x="4494" y="3503"/>
                <a:ext cx="227" cy="150"/>
              </a:xfrm>
              <a:prstGeom prst="triangle">
                <a:avLst>
                  <a:gd name="adj" fmla="val 50000"/>
                </a:avLst>
              </a:prstGeom>
              <a:solidFill>
                <a:srgbClr val="FFFF99"/>
              </a:solidFill>
              <a:ln w="9525">
                <a:solidFill>
                  <a:schemeClr val="tx2"/>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6536" name="Line 125"/>
              <p:cNvSpPr>
                <a:spLocks noChangeShapeType="1"/>
              </p:cNvSpPr>
              <p:nvPr/>
            </p:nvSpPr>
            <p:spPr bwMode="auto">
              <a:xfrm flipV="1">
                <a:off x="4683" y="3572"/>
                <a:ext cx="74" cy="3"/>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37" name="Line 126"/>
              <p:cNvSpPr>
                <a:spLocks noChangeShapeType="1"/>
              </p:cNvSpPr>
              <p:nvPr/>
            </p:nvSpPr>
            <p:spPr bwMode="auto">
              <a:xfrm>
                <a:off x="3787" y="3572"/>
                <a:ext cx="747" cy="8"/>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38" name="Text Box 127"/>
              <p:cNvSpPr txBox="1">
                <a:spLocks noChangeArrowheads="1"/>
              </p:cNvSpPr>
              <p:nvPr/>
            </p:nvSpPr>
            <p:spPr bwMode="auto">
              <a:xfrm>
                <a:off x="4459" y="3299"/>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e</a:t>
                </a:r>
                <a:r>
                  <a:rPr lang="en-US" altLang="zh-CN" sz="2000" b="1" baseline="-25000">
                    <a:solidFill>
                      <a:schemeClr val="tx2"/>
                    </a:solidFill>
                  </a:rPr>
                  <a:t>2</a:t>
                </a:r>
              </a:p>
            </p:txBody>
          </p:sp>
          <p:sp>
            <p:nvSpPr>
              <p:cNvPr id="106539" name="Line 128"/>
              <p:cNvSpPr>
                <a:spLocks noChangeShapeType="1"/>
              </p:cNvSpPr>
              <p:nvPr/>
            </p:nvSpPr>
            <p:spPr bwMode="auto">
              <a:xfrm>
                <a:off x="4757" y="2937"/>
                <a:ext cx="0" cy="635"/>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40" name="Line 129"/>
              <p:cNvSpPr>
                <a:spLocks noChangeShapeType="1"/>
              </p:cNvSpPr>
              <p:nvPr/>
            </p:nvSpPr>
            <p:spPr bwMode="auto">
              <a:xfrm>
                <a:off x="3787" y="3027"/>
                <a:ext cx="0" cy="545"/>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41" name="Line 130"/>
              <p:cNvSpPr>
                <a:spLocks noChangeShapeType="1"/>
              </p:cNvSpPr>
              <p:nvPr/>
            </p:nvSpPr>
            <p:spPr bwMode="auto">
              <a:xfrm>
                <a:off x="3842" y="2992"/>
                <a:ext cx="148" cy="363"/>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542" name="Line 136"/>
              <p:cNvSpPr>
                <a:spLocks noChangeShapeType="1"/>
              </p:cNvSpPr>
              <p:nvPr/>
            </p:nvSpPr>
            <p:spPr bwMode="auto">
              <a:xfrm>
                <a:off x="5284" y="2931"/>
                <a:ext cx="149"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43" name="Text Box 137"/>
              <p:cNvSpPr txBox="1">
                <a:spLocks noChangeArrowheads="1"/>
              </p:cNvSpPr>
              <p:nvPr/>
            </p:nvSpPr>
            <p:spPr bwMode="auto">
              <a:xfrm>
                <a:off x="5239" y="2659"/>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y(n)</a:t>
                </a:r>
                <a:endParaRPr lang="en-US" altLang="zh-CN" sz="2000" b="1" baseline="-25000">
                  <a:solidFill>
                    <a:srgbClr val="FF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86786"/>
                                        </p:tgtEl>
                                        <p:attrNameLst>
                                          <p:attrName>style.visibility</p:attrName>
                                        </p:attrNameLst>
                                      </p:cBhvr>
                                      <p:to>
                                        <p:strVal val="visible"/>
                                      </p:to>
                                    </p:set>
                                    <p:animEffect transition="in" filter="slide(fromTop)">
                                      <p:cBhvr>
                                        <p:cTn id="7" dur="500"/>
                                        <p:tgtEl>
                                          <p:spTgt spid="88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6786"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86200A9-7523-44A4-886A-9253A0171073}" type="slidenum">
              <a:rPr lang="en-US" altLang="zh-CN" sz="1400"/>
              <a:pPr eaLnBrk="1" hangingPunct="1"/>
              <a:t>102</a:t>
            </a:fld>
            <a:endParaRPr lang="en-US" altLang="zh-CN" sz="1400"/>
          </a:p>
        </p:txBody>
      </p:sp>
      <p:sp>
        <p:nvSpPr>
          <p:cNvPr id="887810" name="Rectangle 2"/>
          <p:cNvSpPr>
            <a:spLocks noChangeArrowheads="1"/>
          </p:cNvSpPr>
          <p:nvPr/>
        </p:nvSpPr>
        <p:spPr bwMode="auto">
          <a:xfrm>
            <a:off x="250825" y="1052513"/>
            <a:ext cx="84582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667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chemeClr val="tx2"/>
                </a:solidFill>
                <a:latin typeface="宋体" panose="02010600030101010101" pitchFamily="2" charset="-122"/>
              </a:rPr>
              <a:t>二阶节的标准形式由反馈通道和前向通道的差分方程构成：</a:t>
            </a:r>
          </a:p>
          <a:p>
            <a:pPr algn="just"/>
            <a:r>
              <a:rPr lang="zh-CN" altLang="en-US" sz="2800" b="1">
                <a:solidFill>
                  <a:schemeClr val="folHlink"/>
                </a:solidFill>
                <a:latin typeface="宋体" panose="02010600030101010101" pitchFamily="2" charset="-122"/>
              </a:rPr>
              <a:t>反馈通道：  </a:t>
            </a:r>
            <a:r>
              <a:rPr lang="en-US" altLang="zh-CN" sz="2800" b="1">
                <a:solidFill>
                  <a:schemeClr val="folHlink"/>
                </a:solidFill>
                <a:latin typeface="宋体" panose="02010600030101010101" pitchFamily="2" charset="-122"/>
              </a:rPr>
              <a:t>x</a:t>
            </a:r>
            <a:r>
              <a:rPr lang="en-US" altLang="zh-CN" sz="2800" b="1" baseline="-25000">
                <a:solidFill>
                  <a:schemeClr val="folHlink"/>
                </a:solidFill>
                <a:latin typeface="宋体" panose="02010600030101010101" pitchFamily="2" charset="-122"/>
              </a:rPr>
              <a:t>0</a:t>
            </a:r>
            <a:r>
              <a:rPr lang="en-US" altLang="zh-CN" sz="2800" b="1">
                <a:solidFill>
                  <a:schemeClr val="folHlink"/>
                </a:solidFill>
                <a:latin typeface="宋体" panose="02010600030101010101" pitchFamily="2" charset="-122"/>
              </a:rPr>
              <a:t>=w</a:t>
            </a:r>
            <a:r>
              <a:rPr lang="zh-CN" altLang="en-US" sz="2800" b="1">
                <a:solidFill>
                  <a:schemeClr val="folHlink"/>
                </a:solidFill>
                <a:latin typeface="宋体" panose="02010600030101010101" pitchFamily="2" charset="-122"/>
              </a:rPr>
              <a:t>（</a:t>
            </a:r>
            <a:r>
              <a:rPr lang="en-US" altLang="zh-CN" sz="2800" b="1">
                <a:solidFill>
                  <a:schemeClr val="folHlink"/>
                </a:solidFill>
                <a:latin typeface="宋体" panose="02010600030101010101" pitchFamily="2" charset="-122"/>
              </a:rPr>
              <a:t>n</a:t>
            </a:r>
            <a:r>
              <a:rPr lang="zh-CN" altLang="en-US" sz="2800" b="1">
                <a:solidFill>
                  <a:schemeClr val="folHlink"/>
                </a:solidFill>
                <a:latin typeface="宋体" panose="02010600030101010101" pitchFamily="2" charset="-122"/>
              </a:rPr>
              <a:t>）</a:t>
            </a:r>
            <a:r>
              <a:rPr lang="en-US" altLang="zh-CN" sz="2800" b="1">
                <a:solidFill>
                  <a:schemeClr val="folHlink"/>
                </a:solidFill>
                <a:latin typeface="宋体" panose="02010600030101010101" pitchFamily="2" charset="-122"/>
              </a:rPr>
              <a:t>=x</a:t>
            </a:r>
            <a:r>
              <a:rPr lang="zh-CN" altLang="en-US" sz="2800" b="1">
                <a:solidFill>
                  <a:schemeClr val="folHlink"/>
                </a:solidFill>
                <a:latin typeface="宋体" panose="02010600030101010101" pitchFamily="2" charset="-122"/>
              </a:rPr>
              <a:t>（</a:t>
            </a:r>
            <a:r>
              <a:rPr lang="en-US" altLang="zh-CN" sz="2800" b="1">
                <a:solidFill>
                  <a:schemeClr val="folHlink"/>
                </a:solidFill>
                <a:latin typeface="宋体" panose="02010600030101010101" pitchFamily="2" charset="-122"/>
              </a:rPr>
              <a:t>n</a:t>
            </a:r>
            <a:r>
              <a:rPr lang="zh-CN" altLang="en-US" sz="2800" b="1">
                <a:solidFill>
                  <a:schemeClr val="folHlink"/>
                </a:solidFill>
                <a:latin typeface="宋体" panose="02010600030101010101" pitchFamily="2" charset="-122"/>
              </a:rPr>
              <a:t>）</a:t>
            </a:r>
            <a:r>
              <a:rPr lang="en-US" altLang="zh-CN" sz="2800" b="1">
                <a:solidFill>
                  <a:schemeClr val="folHlink"/>
                </a:solidFill>
                <a:latin typeface="宋体" panose="02010600030101010101" pitchFamily="2" charset="-122"/>
              </a:rPr>
              <a:t>+A</a:t>
            </a:r>
            <a:r>
              <a:rPr lang="en-US" altLang="zh-CN" sz="2800" b="1" baseline="-25000">
                <a:solidFill>
                  <a:schemeClr val="folHlink"/>
                </a:solidFill>
                <a:latin typeface="宋体" panose="02010600030101010101" pitchFamily="2" charset="-122"/>
              </a:rPr>
              <a:t>1</a:t>
            </a:r>
            <a:r>
              <a:rPr lang="en-US" altLang="zh-CN" sz="2800" b="1">
                <a:solidFill>
                  <a:schemeClr val="folHlink"/>
                </a:solidFill>
                <a:latin typeface="宋体" panose="02010600030101010101" pitchFamily="2" charset="-122"/>
              </a:rPr>
              <a:t>*x</a:t>
            </a:r>
            <a:r>
              <a:rPr lang="en-US" altLang="zh-CN" sz="2800" b="1" baseline="-25000">
                <a:solidFill>
                  <a:schemeClr val="folHlink"/>
                </a:solidFill>
                <a:latin typeface="宋体" panose="02010600030101010101" pitchFamily="2" charset="-122"/>
              </a:rPr>
              <a:t>1</a:t>
            </a:r>
            <a:r>
              <a:rPr lang="en-US" altLang="zh-CN" sz="2800" b="1">
                <a:solidFill>
                  <a:schemeClr val="folHlink"/>
                </a:solidFill>
                <a:latin typeface="宋体" panose="02010600030101010101" pitchFamily="2" charset="-122"/>
              </a:rPr>
              <a:t>+A</a:t>
            </a:r>
            <a:r>
              <a:rPr lang="en-US" altLang="zh-CN" sz="2800" b="1" baseline="-25000">
                <a:solidFill>
                  <a:schemeClr val="folHlink"/>
                </a:solidFill>
                <a:latin typeface="宋体" panose="02010600030101010101" pitchFamily="2" charset="-122"/>
              </a:rPr>
              <a:t>2</a:t>
            </a:r>
            <a:r>
              <a:rPr lang="en-US" altLang="zh-CN" sz="2800" b="1">
                <a:solidFill>
                  <a:schemeClr val="folHlink"/>
                </a:solidFill>
                <a:latin typeface="宋体" panose="02010600030101010101" pitchFamily="2" charset="-122"/>
              </a:rPr>
              <a:t>*x</a:t>
            </a:r>
            <a:r>
              <a:rPr lang="en-US" altLang="zh-CN" sz="2800" b="1" baseline="-25000">
                <a:solidFill>
                  <a:schemeClr val="folHlink"/>
                </a:solidFill>
                <a:latin typeface="宋体" panose="02010600030101010101" pitchFamily="2" charset="-122"/>
              </a:rPr>
              <a:t>2</a:t>
            </a:r>
          </a:p>
          <a:p>
            <a:pPr algn="just"/>
            <a:r>
              <a:rPr lang="zh-CN" altLang="en-US" sz="2800" b="1">
                <a:solidFill>
                  <a:srgbClr val="FF00FF"/>
                </a:solidFill>
                <a:latin typeface="宋体" panose="02010600030101010101" pitchFamily="2" charset="-122"/>
              </a:rPr>
              <a:t>前向通道：  </a:t>
            </a:r>
            <a:r>
              <a:rPr lang="en-US" altLang="zh-CN" sz="2800" b="1">
                <a:solidFill>
                  <a:srgbClr val="FF00FF"/>
                </a:solidFill>
                <a:latin typeface="宋体" panose="02010600030101010101" pitchFamily="2" charset="-122"/>
              </a:rPr>
              <a:t>y</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n</a:t>
            </a:r>
            <a:r>
              <a:rPr lang="zh-CN" altLang="en-US" sz="2800" b="1">
                <a:solidFill>
                  <a:srgbClr val="FF00FF"/>
                </a:solidFill>
                <a:latin typeface="宋体" panose="02010600030101010101" pitchFamily="2" charset="-122"/>
              </a:rPr>
              <a:t>）</a:t>
            </a:r>
            <a:r>
              <a:rPr lang="en-US" altLang="zh-CN" sz="2800" b="1">
                <a:solidFill>
                  <a:srgbClr val="FF00FF"/>
                </a:solidFill>
                <a:latin typeface="宋体" panose="02010600030101010101" pitchFamily="2" charset="-122"/>
              </a:rPr>
              <a:t>=B</a:t>
            </a:r>
            <a:r>
              <a:rPr lang="en-US" altLang="zh-CN" sz="2800" b="1" baseline="-25000">
                <a:solidFill>
                  <a:srgbClr val="FF00FF"/>
                </a:solidFill>
                <a:latin typeface="宋体" panose="02010600030101010101" pitchFamily="2" charset="-122"/>
              </a:rPr>
              <a:t>0</a:t>
            </a:r>
            <a:r>
              <a:rPr lang="en-US" altLang="zh-CN" sz="2800" b="1">
                <a:solidFill>
                  <a:srgbClr val="FF00FF"/>
                </a:solidFill>
                <a:latin typeface="宋体" panose="02010600030101010101" pitchFamily="2" charset="-122"/>
              </a:rPr>
              <a:t>*x</a:t>
            </a:r>
            <a:r>
              <a:rPr lang="en-US" altLang="zh-CN" sz="2800" b="1" baseline="-25000">
                <a:solidFill>
                  <a:srgbClr val="FF00FF"/>
                </a:solidFill>
                <a:latin typeface="宋体" panose="02010600030101010101" pitchFamily="2" charset="-122"/>
              </a:rPr>
              <a:t>0</a:t>
            </a:r>
            <a:r>
              <a:rPr lang="en-US" altLang="zh-CN" sz="2800" b="1">
                <a:solidFill>
                  <a:srgbClr val="FF00FF"/>
                </a:solidFill>
                <a:latin typeface="宋体" panose="02010600030101010101" pitchFamily="2" charset="-122"/>
              </a:rPr>
              <a:t>+B</a:t>
            </a:r>
            <a:r>
              <a:rPr lang="en-US" altLang="zh-CN" sz="2800" b="1" baseline="-25000">
                <a:solidFill>
                  <a:srgbClr val="FF00FF"/>
                </a:solidFill>
                <a:latin typeface="宋体" panose="02010600030101010101" pitchFamily="2" charset="-122"/>
              </a:rPr>
              <a:t>1</a:t>
            </a:r>
            <a:r>
              <a:rPr lang="en-US" altLang="zh-CN" sz="2800" b="1">
                <a:solidFill>
                  <a:srgbClr val="FF00FF"/>
                </a:solidFill>
                <a:latin typeface="宋体" panose="02010600030101010101" pitchFamily="2" charset="-122"/>
              </a:rPr>
              <a:t>*x</a:t>
            </a:r>
            <a:r>
              <a:rPr lang="en-US" altLang="zh-CN" sz="2800" b="1" baseline="-25000">
                <a:solidFill>
                  <a:srgbClr val="FF00FF"/>
                </a:solidFill>
                <a:latin typeface="宋体" panose="02010600030101010101" pitchFamily="2" charset="-122"/>
              </a:rPr>
              <a:t>1</a:t>
            </a:r>
            <a:r>
              <a:rPr lang="en-US" altLang="zh-CN" sz="2800" b="1">
                <a:solidFill>
                  <a:srgbClr val="FF00FF"/>
                </a:solidFill>
                <a:latin typeface="宋体" panose="02010600030101010101" pitchFamily="2" charset="-122"/>
              </a:rPr>
              <a:t>+B</a:t>
            </a:r>
            <a:r>
              <a:rPr lang="en-US" altLang="zh-CN" sz="2800" b="1" baseline="-25000">
                <a:solidFill>
                  <a:srgbClr val="FF00FF"/>
                </a:solidFill>
                <a:latin typeface="宋体" panose="02010600030101010101" pitchFamily="2" charset="-122"/>
              </a:rPr>
              <a:t>2</a:t>
            </a:r>
            <a:r>
              <a:rPr lang="en-US" altLang="zh-CN" sz="2800" b="1">
                <a:solidFill>
                  <a:srgbClr val="FF00FF"/>
                </a:solidFill>
                <a:latin typeface="宋体" panose="02010600030101010101" pitchFamily="2" charset="-122"/>
              </a:rPr>
              <a:t>*x</a:t>
            </a:r>
            <a:r>
              <a:rPr lang="en-US" altLang="zh-CN" sz="2800" b="1" baseline="-25000">
                <a:solidFill>
                  <a:srgbClr val="FF00FF"/>
                </a:solidFill>
                <a:latin typeface="宋体" panose="02010600030101010101" pitchFamily="2" charset="-122"/>
              </a:rPr>
              <a:t>2</a:t>
            </a:r>
          </a:p>
        </p:txBody>
      </p:sp>
      <p:sp>
        <p:nvSpPr>
          <p:cNvPr id="887812" name="Text Box 4"/>
          <p:cNvSpPr txBox="1">
            <a:spLocks noChangeArrowheads="1"/>
          </p:cNvSpPr>
          <p:nvPr/>
        </p:nvSpPr>
        <p:spPr bwMode="auto">
          <a:xfrm>
            <a:off x="2771775" y="6308725"/>
            <a:ext cx="352901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Aft>
                <a:spcPts val="800"/>
              </a:spcAft>
            </a:pPr>
            <a:r>
              <a:rPr kumimoji="0" lang="zh-CN" altLang="en-US" b="1">
                <a:latin typeface="宋体" panose="02010600030101010101" pitchFamily="2" charset="-122"/>
              </a:rPr>
              <a:t>二阶节</a:t>
            </a:r>
            <a:r>
              <a:rPr kumimoji="0" lang="en-US" altLang="zh-CN" b="1">
                <a:latin typeface="宋体" panose="02010600030101010101" pitchFamily="2" charset="-122"/>
              </a:rPr>
              <a:t>IIR</a:t>
            </a:r>
            <a:r>
              <a:rPr kumimoji="0" lang="zh-CN" altLang="en-US" b="1">
                <a:latin typeface="宋体" panose="02010600030101010101" pitchFamily="2" charset="-122"/>
              </a:rPr>
              <a:t>滤波器</a:t>
            </a:r>
            <a:endParaRPr kumimoji="0" lang="zh-CN" altLang="en-US" b="1"/>
          </a:p>
        </p:txBody>
      </p:sp>
      <p:grpSp>
        <p:nvGrpSpPr>
          <p:cNvPr id="13318" name="Group 99"/>
          <p:cNvGrpSpPr>
            <a:grpSpLocks/>
          </p:cNvGrpSpPr>
          <p:nvPr/>
        </p:nvGrpSpPr>
        <p:grpSpPr bwMode="auto">
          <a:xfrm>
            <a:off x="1187450" y="2852738"/>
            <a:ext cx="6551613" cy="3255962"/>
            <a:chOff x="431" y="1979"/>
            <a:chExt cx="4127" cy="2051"/>
          </a:xfrm>
        </p:grpSpPr>
        <p:grpSp>
          <p:nvGrpSpPr>
            <p:cNvPr id="13319" name="Group 7"/>
            <p:cNvGrpSpPr>
              <a:grpSpLocks/>
            </p:cNvGrpSpPr>
            <p:nvPr/>
          </p:nvGrpSpPr>
          <p:grpSpPr bwMode="auto">
            <a:xfrm>
              <a:off x="703" y="2287"/>
              <a:ext cx="181" cy="192"/>
              <a:chOff x="884" y="2508"/>
              <a:chExt cx="182" cy="197"/>
            </a:xfrm>
          </p:grpSpPr>
          <p:sp>
            <p:nvSpPr>
              <p:cNvPr id="13379" name="Oval 8"/>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80" name="Text Box 9"/>
              <p:cNvSpPr txBox="1">
                <a:spLocks noChangeArrowheads="1"/>
              </p:cNvSpPr>
              <p:nvPr/>
            </p:nvSpPr>
            <p:spPr bwMode="auto">
              <a:xfrm>
                <a:off x="910" y="2508"/>
                <a:ext cx="1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3320" name="Text Box 10"/>
            <p:cNvSpPr txBox="1">
              <a:spLocks noChangeArrowheads="1"/>
            </p:cNvSpPr>
            <p:nvPr/>
          </p:nvSpPr>
          <p:spPr bwMode="auto">
            <a:xfrm>
              <a:off x="2172" y="2614"/>
              <a:ext cx="345" cy="281"/>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t>z</a:t>
              </a:r>
              <a:r>
                <a:rPr lang="en-US" altLang="zh-CN" sz="2800" b="1" baseline="30000"/>
                <a:t>-1</a:t>
              </a:r>
            </a:p>
          </p:txBody>
        </p:sp>
        <p:sp>
          <p:nvSpPr>
            <p:cNvPr id="13321" name="Line 16"/>
            <p:cNvSpPr>
              <a:spLocks noChangeShapeType="1"/>
            </p:cNvSpPr>
            <p:nvPr/>
          </p:nvSpPr>
          <p:spPr bwMode="auto">
            <a:xfrm>
              <a:off x="1383" y="3067"/>
              <a:ext cx="27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22" name="Text Box 17"/>
            <p:cNvSpPr txBox="1">
              <a:spLocks noChangeArrowheads="1"/>
            </p:cNvSpPr>
            <p:nvPr/>
          </p:nvSpPr>
          <p:spPr bwMode="auto">
            <a:xfrm>
              <a:off x="2245" y="2205"/>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solidFill>
                    <a:srgbClr val="FF00FF"/>
                  </a:solidFill>
                </a:rPr>
                <a:t>x</a:t>
              </a:r>
              <a:r>
                <a:rPr lang="en-US" altLang="zh-CN" sz="2800" b="1" baseline="-25000">
                  <a:solidFill>
                    <a:srgbClr val="FF00FF"/>
                  </a:solidFill>
                </a:rPr>
                <a:t>0</a:t>
              </a:r>
            </a:p>
          </p:txBody>
        </p:sp>
        <p:sp>
          <p:nvSpPr>
            <p:cNvPr id="13323" name="Line 19"/>
            <p:cNvSpPr>
              <a:spLocks noChangeShapeType="1"/>
            </p:cNvSpPr>
            <p:nvPr/>
          </p:nvSpPr>
          <p:spPr bwMode="auto">
            <a:xfrm>
              <a:off x="431" y="2387"/>
              <a:ext cx="264" cy="6"/>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24" name="Text Box 20"/>
            <p:cNvSpPr txBox="1">
              <a:spLocks noChangeArrowheads="1"/>
            </p:cNvSpPr>
            <p:nvPr/>
          </p:nvSpPr>
          <p:spPr bwMode="auto">
            <a:xfrm>
              <a:off x="474" y="2120"/>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x(n)</a:t>
              </a:r>
              <a:endParaRPr lang="en-US" altLang="zh-CN" sz="2000" b="1" baseline="-25000">
                <a:solidFill>
                  <a:srgbClr val="FF0000"/>
                </a:solidFill>
              </a:endParaRPr>
            </a:p>
          </p:txBody>
        </p:sp>
        <p:sp>
          <p:nvSpPr>
            <p:cNvPr id="13325" name="Line 21"/>
            <p:cNvSpPr>
              <a:spLocks noChangeShapeType="1"/>
            </p:cNvSpPr>
            <p:nvPr/>
          </p:nvSpPr>
          <p:spPr bwMode="auto">
            <a:xfrm flipV="1">
              <a:off x="884" y="2387"/>
              <a:ext cx="1270" cy="6"/>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3326" name="Group 31"/>
            <p:cNvGrpSpPr>
              <a:grpSpLocks/>
            </p:cNvGrpSpPr>
            <p:nvPr/>
          </p:nvGrpSpPr>
          <p:grpSpPr bwMode="auto">
            <a:xfrm>
              <a:off x="1610" y="2966"/>
              <a:ext cx="181" cy="196"/>
              <a:chOff x="884" y="2508"/>
              <a:chExt cx="182" cy="196"/>
            </a:xfrm>
          </p:grpSpPr>
          <p:sp>
            <p:nvSpPr>
              <p:cNvPr id="13377" name="Oval 32"/>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78" name="Text Box 33"/>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3327" name="Line 45"/>
            <p:cNvSpPr>
              <a:spLocks noChangeShapeType="1"/>
            </p:cNvSpPr>
            <p:nvPr/>
          </p:nvSpPr>
          <p:spPr bwMode="auto">
            <a:xfrm flipH="1">
              <a:off x="793" y="2483"/>
              <a:ext cx="16" cy="1174"/>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28" name="Line 46"/>
            <p:cNvSpPr>
              <a:spLocks noChangeShapeType="1"/>
            </p:cNvSpPr>
            <p:nvPr/>
          </p:nvSpPr>
          <p:spPr bwMode="auto">
            <a:xfrm>
              <a:off x="863" y="2448"/>
              <a:ext cx="520" cy="619"/>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29" name="Line 47"/>
            <p:cNvSpPr>
              <a:spLocks noChangeShapeType="1"/>
            </p:cNvSpPr>
            <p:nvPr/>
          </p:nvSpPr>
          <p:spPr bwMode="auto">
            <a:xfrm>
              <a:off x="2338" y="2478"/>
              <a:ext cx="0" cy="136"/>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30" name="Line 48"/>
            <p:cNvSpPr>
              <a:spLocks noChangeShapeType="1"/>
            </p:cNvSpPr>
            <p:nvPr/>
          </p:nvSpPr>
          <p:spPr bwMode="auto">
            <a:xfrm>
              <a:off x="2328" y="2856"/>
              <a:ext cx="0" cy="136"/>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31" name="Text Box 49"/>
            <p:cNvSpPr txBox="1">
              <a:spLocks noChangeArrowheads="1"/>
            </p:cNvSpPr>
            <p:nvPr/>
          </p:nvSpPr>
          <p:spPr bwMode="auto">
            <a:xfrm>
              <a:off x="2245" y="2881"/>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solidFill>
                    <a:srgbClr val="FF00FF"/>
                  </a:solidFill>
                </a:rPr>
                <a:t>x</a:t>
              </a:r>
              <a:r>
                <a:rPr lang="en-US" altLang="zh-CN" sz="2800" b="1" baseline="-25000">
                  <a:solidFill>
                    <a:srgbClr val="FF00FF"/>
                  </a:solidFill>
                </a:rPr>
                <a:t>1</a:t>
              </a:r>
            </a:p>
          </p:txBody>
        </p:sp>
        <p:sp>
          <p:nvSpPr>
            <p:cNvPr id="13332" name="Text Box 50"/>
            <p:cNvSpPr txBox="1">
              <a:spLocks noChangeArrowheads="1"/>
            </p:cNvSpPr>
            <p:nvPr/>
          </p:nvSpPr>
          <p:spPr bwMode="auto">
            <a:xfrm>
              <a:off x="2154" y="3249"/>
              <a:ext cx="363" cy="281"/>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t>z</a:t>
              </a:r>
              <a:r>
                <a:rPr lang="en-US" altLang="zh-CN" sz="2800" b="1" baseline="30000"/>
                <a:t>-1</a:t>
              </a:r>
            </a:p>
          </p:txBody>
        </p:sp>
        <p:sp>
          <p:nvSpPr>
            <p:cNvPr id="13333" name="Line 51"/>
            <p:cNvSpPr>
              <a:spLocks noChangeShapeType="1"/>
            </p:cNvSpPr>
            <p:nvPr/>
          </p:nvSpPr>
          <p:spPr bwMode="auto">
            <a:xfrm>
              <a:off x="2320" y="3113"/>
              <a:ext cx="0" cy="136"/>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34" name="Line 52"/>
            <p:cNvSpPr>
              <a:spLocks noChangeShapeType="1"/>
            </p:cNvSpPr>
            <p:nvPr/>
          </p:nvSpPr>
          <p:spPr bwMode="auto">
            <a:xfrm>
              <a:off x="2310" y="3491"/>
              <a:ext cx="0" cy="136"/>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35" name="Text Box 53"/>
            <p:cNvSpPr txBox="1">
              <a:spLocks noChangeArrowheads="1"/>
            </p:cNvSpPr>
            <p:nvPr/>
          </p:nvSpPr>
          <p:spPr bwMode="auto">
            <a:xfrm>
              <a:off x="2225" y="3542"/>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solidFill>
                    <a:srgbClr val="FF00FF"/>
                  </a:solidFill>
                </a:rPr>
                <a:t>x</a:t>
              </a:r>
              <a:r>
                <a:rPr lang="en-US" altLang="zh-CN" sz="2800" b="1" baseline="-25000">
                  <a:solidFill>
                    <a:srgbClr val="FF00FF"/>
                  </a:solidFill>
                </a:rPr>
                <a:t>2</a:t>
              </a:r>
            </a:p>
          </p:txBody>
        </p:sp>
        <p:sp>
          <p:nvSpPr>
            <p:cNvPr id="13336" name="Line 54"/>
            <p:cNvSpPr>
              <a:spLocks noChangeShapeType="1"/>
            </p:cNvSpPr>
            <p:nvPr/>
          </p:nvSpPr>
          <p:spPr bwMode="auto">
            <a:xfrm>
              <a:off x="1791" y="3067"/>
              <a:ext cx="318" cy="0"/>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37" name="Line 55"/>
            <p:cNvSpPr>
              <a:spLocks noChangeShapeType="1"/>
            </p:cNvSpPr>
            <p:nvPr/>
          </p:nvSpPr>
          <p:spPr bwMode="auto">
            <a:xfrm>
              <a:off x="793" y="3657"/>
              <a:ext cx="86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3338" name="Group 56"/>
            <p:cNvGrpSpPr>
              <a:grpSpLocks/>
            </p:cNvGrpSpPr>
            <p:nvPr/>
          </p:nvGrpSpPr>
          <p:grpSpPr bwMode="auto">
            <a:xfrm>
              <a:off x="1610" y="3556"/>
              <a:ext cx="181" cy="196"/>
              <a:chOff x="884" y="2508"/>
              <a:chExt cx="182" cy="196"/>
            </a:xfrm>
          </p:grpSpPr>
          <p:sp>
            <p:nvSpPr>
              <p:cNvPr id="13375" name="Oval 57"/>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76" name="Text Box 58"/>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3339" name="Line 59"/>
            <p:cNvSpPr>
              <a:spLocks noChangeShapeType="1"/>
            </p:cNvSpPr>
            <p:nvPr/>
          </p:nvSpPr>
          <p:spPr bwMode="auto">
            <a:xfrm>
              <a:off x="1791" y="3657"/>
              <a:ext cx="318" cy="0"/>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40" name="Text Box 60"/>
            <p:cNvSpPr txBox="1">
              <a:spLocks noChangeArrowheads="1"/>
            </p:cNvSpPr>
            <p:nvPr/>
          </p:nvSpPr>
          <p:spPr bwMode="auto">
            <a:xfrm>
              <a:off x="1429" y="2160"/>
              <a:ext cx="4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w(n)</a:t>
              </a:r>
              <a:endParaRPr lang="en-US" altLang="zh-CN" sz="2000" b="1" baseline="-25000">
                <a:solidFill>
                  <a:srgbClr val="FF0000"/>
                </a:solidFill>
              </a:endParaRPr>
            </a:p>
          </p:txBody>
        </p:sp>
        <p:sp>
          <p:nvSpPr>
            <p:cNvPr id="13341" name="Line 61"/>
            <p:cNvSpPr>
              <a:spLocks noChangeShapeType="1"/>
            </p:cNvSpPr>
            <p:nvPr/>
          </p:nvSpPr>
          <p:spPr bwMode="auto">
            <a:xfrm>
              <a:off x="1701" y="2840"/>
              <a:ext cx="0" cy="136"/>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42" name="Line 62"/>
            <p:cNvSpPr>
              <a:spLocks noChangeShapeType="1"/>
            </p:cNvSpPr>
            <p:nvPr/>
          </p:nvSpPr>
          <p:spPr bwMode="auto">
            <a:xfrm>
              <a:off x="1701" y="3430"/>
              <a:ext cx="0" cy="136"/>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43" name="Text Box 63"/>
            <p:cNvSpPr txBox="1">
              <a:spLocks noChangeArrowheads="1"/>
            </p:cNvSpPr>
            <p:nvPr/>
          </p:nvSpPr>
          <p:spPr bwMode="auto">
            <a:xfrm>
              <a:off x="1610" y="2659"/>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A</a:t>
              </a:r>
              <a:r>
                <a:rPr lang="en-US" altLang="zh-CN" sz="2000" b="1" baseline="-25000">
                  <a:solidFill>
                    <a:schemeClr val="tx2"/>
                  </a:solidFill>
                </a:rPr>
                <a:t>1</a:t>
              </a:r>
            </a:p>
          </p:txBody>
        </p:sp>
        <p:sp>
          <p:nvSpPr>
            <p:cNvPr id="13344" name="Text Box 64"/>
            <p:cNvSpPr txBox="1">
              <a:spLocks noChangeArrowheads="1"/>
            </p:cNvSpPr>
            <p:nvPr/>
          </p:nvSpPr>
          <p:spPr bwMode="auto">
            <a:xfrm>
              <a:off x="1610" y="3249"/>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A</a:t>
              </a:r>
              <a:r>
                <a:rPr lang="en-US" altLang="zh-CN" sz="2000" b="1" baseline="-25000">
                  <a:solidFill>
                    <a:schemeClr val="tx2"/>
                  </a:solidFill>
                </a:rPr>
                <a:t>2</a:t>
              </a:r>
            </a:p>
          </p:txBody>
        </p:sp>
        <p:sp>
          <p:nvSpPr>
            <p:cNvPr id="13345" name="Text Box 65"/>
            <p:cNvSpPr txBox="1">
              <a:spLocks noChangeArrowheads="1"/>
            </p:cNvSpPr>
            <p:nvPr/>
          </p:nvSpPr>
          <p:spPr bwMode="auto">
            <a:xfrm>
              <a:off x="1247" y="3838"/>
              <a:ext cx="7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chemeClr val="tx2"/>
                  </a:solidFill>
                </a:rPr>
                <a:t>反馈通道</a:t>
              </a:r>
              <a:endParaRPr lang="zh-CN" altLang="en-US" sz="2000" b="1" baseline="-25000">
                <a:solidFill>
                  <a:schemeClr val="tx2"/>
                </a:solidFill>
              </a:endParaRPr>
            </a:p>
          </p:txBody>
        </p:sp>
        <p:grpSp>
          <p:nvGrpSpPr>
            <p:cNvPr id="13346" name="Group 69"/>
            <p:cNvGrpSpPr>
              <a:grpSpLocks/>
            </p:cNvGrpSpPr>
            <p:nvPr/>
          </p:nvGrpSpPr>
          <p:grpSpPr bwMode="auto">
            <a:xfrm>
              <a:off x="2835" y="3556"/>
              <a:ext cx="181" cy="196"/>
              <a:chOff x="884" y="2508"/>
              <a:chExt cx="182" cy="196"/>
            </a:xfrm>
          </p:grpSpPr>
          <p:sp>
            <p:nvSpPr>
              <p:cNvPr id="13373" name="Oval 70"/>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74" name="Text Box 71"/>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3347" name="Line 73"/>
            <p:cNvSpPr>
              <a:spLocks noChangeShapeType="1"/>
            </p:cNvSpPr>
            <p:nvPr/>
          </p:nvSpPr>
          <p:spPr bwMode="auto">
            <a:xfrm>
              <a:off x="2517" y="3657"/>
              <a:ext cx="318"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48" name="Line 74"/>
            <p:cNvSpPr>
              <a:spLocks noChangeShapeType="1"/>
            </p:cNvSpPr>
            <p:nvPr/>
          </p:nvSpPr>
          <p:spPr bwMode="auto">
            <a:xfrm>
              <a:off x="2925" y="3430"/>
              <a:ext cx="0" cy="136"/>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49" name="Text Box 75"/>
            <p:cNvSpPr txBox="1">
              <a:spLocks noChangeArrowheads="1"/>
            </p:cNvSpPr>
            <p:nvPr/>
          </p:nvSpPr>
          <p:spPr bwMode="auto">
            <a:xfrm>
              <a:off x="2835" y="3249"/>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2</a:t>
              </a:r>
            </a:p>
          </p:txBody>
        </p:sp>
        <p:grpSp>
          <p:nvGrpSpPr>
            <p:cNvPr id="13350" name="Group 76"/>
            <p:cNvGrpSpPr>
              <a:grpSpLocks/>
            </p:cNvGrpSpPr>
            <p:nvPr/>
          </p:nvGrpSpPr>
          <p:grpSpPr bwMode="auto">
            <a:xfrm>
              <a:off x="2835" y="2966"/>
              <a:ext cx="181" cy="196"/>
              <a:chOff x="884" y="2508"/>
              <a:chExt cx="182" cy="196"/>
            </a:xfrm>
          </p:grpSpPr>
          <p:sp>
            <p:nvSpPr>
              <p:cNvPr id="13371" name="Oval 77"/>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72" name="Text Box 78"/>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3351" name="Line 79"/>
            <p:cNvSpPr>
              <a:spLocks noChangeShapeType="1"/>
            </p:cNvSpPr>
            <p:nvPr/>
          </p:nvSpPr>
          <p:spPr bwMode="auto">
            <a:xfrm>
              <a:off x="2517" y="3067"/>
              <a:ext cx="318"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52" name="Line 80"/>
            <p:cNvSpPr>
              <a:spLocks noChangeShapeType="1"/>
            </p:cNvSpPr>
            <p:nvPr/>
          </p:nvSpPr>
          <p:spPr bwMode="auto">
            <a:xfrm>
              <a:off x="2925" y="2840"/>
              <a:ext cx="0" cy="136"/>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53" name="Text Box 81"/>
            <p:cNvSpPr txBox="1">
              <a:spLocks noChangeArrowheads="1"/>
            </p:cNvSpPr>
            <p:nvPr/>
          </p:nvSpPr>
          <p:spPr bwMode="auto">
            <a:xfrm>
              <a:off x="2835" y="2659"/>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1</a:t>
              </a:r>
            </a:p>
          </p:txBody>
        </p:sp>
        <p:grpSp>
          <p:nvGrpSpPr>
            <p:cNvPr id="13354" name="Group 82"/>
            <p:cNvGrpSpPr>
              <a:grpSpLocks/>
            </p:cNvGrpSpPr>
            <p:nvPr/>
          </p:nvGrpSpPr>
          <p:grpSpPr bwMode="auto">
            <a:xfrm>
              <a:off x="2835" y="2286"/>
              <a:ext cx="181" cy="196"/>
              <a:chOff x="884" y="2508"/>
              <a:chExt cx="182" cy="196"/>
            </a:xfrm>
          </p:grpSpPr>
          <p:sp>
            <p:nvSpPr>
              <p:cNvPr id="13369" name="Oval 83"/>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70" name="Text Box 84"/>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3355" name="Line 85"/>
            <p:cNvSpPr>
              <a:spLocks noChangeShapeType="1"/>
            </p:cNvSpPr>
            <p:nvPr/>
          </p:nvSpPr>
          <p:spPr bwMode="auto">
            <a:xfrm>
              <a:off x="2517" y="2387"/>
              <a:ext cx="318"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56" name="Line 86"/>
            <p:cNvSpPr>
              <a:spLocks noChangeShapeType="1"/>
            </p:cNvSpPr>
            <p:nvPr/>
          </p:nvSpPr>
          <p:spPr bwMode="auto">
            <a:xfrm>
              <a:off x="2925" y="2160"/>
              <a:ext cx="0" cy="136"/>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57" name="Text Box 87"/>
            <p:cNvSpPr txBox="1">
              <a:spLocks noChangeArrowheads="1"/>
            </p:cNvSpPr>
            <p:nvPr/>
          </p:nvSpPr>
          <p:spPr bwMode="auto">
            <a:xfrm>
              <a:off x="2835" y="1979"/>
              <a:ext cx="2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0</a:t>
              </a:r>
            </a:p>
          </p:txBody>
        </p:sp>
        <p:sp>
          <p:nvSpPr>
            <p:cNvPr id="13358" name="Line 88"/>
            <p:cNvSpPr>
              <a:spLocks noChangeShapeType="1"/>
            </p:cNvSpPr>
            <p:nvPr/>
          </p:nvSpPr>
          <p:spPr bwMode="auto">
            <a:xfrm flipV="1">
              <a:off x="3016" y="2387"/>
              <a:ext cx="907" cy="6"/>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3359" name="Group 89"/>
            <p:cNvGrpSpPr>
              <a:grpSpLocks/>
            </p:cNvGrpSpPr>
            <p:nvPr/>
          </p:nvGrpSpPr>
          <p:grpSpPr bwMode="auto">
            <a:xfrm>
              <a:off x="3923" y="2296"/>
              <a:ext cx="182" cy="196"/>
              <a:chOff x="884" y="2508"/>
              <a:chExt cx="182" cy="196"/>
            </a:xfrm>
          </p:grpSpPr>
          <p:sp>
            <p:nvSpPr>
              <p:cNvPr id="13367" name="Oval 90"/>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68" name="Text Box 91"/>
              <p:cNvSpPr txBox="1">
                <a:spLocks noChangeArrowheads="1"/>
              </p:cNvSpPr>
              <p:nvPr/>
            </p:nvSpPr>
            <p:spPr bwMode="auto">
              <a:xfrm>
                <a:off x="910" y="2508"/>
                <a:ext cx="1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3360" name="Line 92"/>
            <p:cNvSpPr>
              <a:spLocks noChangeShapeType="1"/>
            </p:cNvSpPr>
            <p:nvPr/>
          </p:nvSpPr>
          <p:spPr bwMode="auto">
            <a:xfrm flipV="1">
              <a:off x="3016" y="3067"/>
              <a:ext cx="318" cy="6"/>
            </a:xfrm>
            <a:prstGeom prst="line">
              <a:avLst/>
            </a:prstGeom>
            <a:noFill/>
            <a:ln w="2857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61" name="Line 93"/>
            <p:cNvSpPr>
              <a:spLocks noChangeShapeType="1"/>
            </p:cNvSpPr>
            <p:nvPr/>
          </p:nvSpPr>
          <p:spPr bwMode="auto">
            <a:xfrm flipV="1">
              <a:off x="3016" y="3657"/>
              <a:ext cx="998" cy="6"/>
            </a:xfrm>
            <a:prstGeom prst="line">
              <a:avLst/>
            </a:prstGeom>
            <a:noFill/>
            <a:ln w="2857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62" name="Line 94"/>
            <p:cNvSpPr>
              <a:spLocks noChangeShapeType="1"/>
            </p:cNvSpPr>
            <p:nvPr/>
          </p:nvSpPr>
          <p:spPr bwMode="auto">
            <a:xfrm flipV="1">
              <a:off x="3334" y="2448"/>
              <a:ext cx="595" cy="619"/>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63" name="Line 95"/>
            <p:cNvSpPr>
              <a:spLocks noChangeShapeType="1"/>
            </p:cNvSpPr>
            <p:nvPr/>
          </p:nvSpPr>
          <p:spPr bwMode="auto">
            <a:xfrm flipV="1">
              <a:off x="4014" y="2478"/>
              <a:ext cx="1" cy="1179"/>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64" name="Line 96"/>
            <p:cNvSpPr>
              <a:spLocks noChangeShapeType="1"/>
            </p:cNvSpPr>
            <p:nvPr/>
          </p:nvSpPr>
          <p:spPr bwMode="auto">
            <a:xfrm flipV="1">
              <a:off x="4105" y="2387"/>
              <a:ext cx="362"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365" name="Text Box 97"/>
            <p:cNvSpPr txBox="1">
              <a:spLocks noChangeArrowheads="1"/>
            </p:cNvSpPr>
            <p:nvPr/>
          </p:nvSpPr>
          <p:spPr bwMode="auto">
            <a:xfrm>
              <a:off x="2835" y="3838"/>
              <a:ext cx="7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chemeClr val="folHlink"/>
                  </a:solidFill>
                </a:rPr>
                <a:t>前向通道</a:t>
              </a:r>
              <a:endParaRPr lang="zh-CN" altLang="en-US" sz="2000" b="1" baseline="-25000">
                <a:solidFill>
                  <a:schemeClr val="folHlink"/>
                </a:solidFill>
              </a:endParaRPr>
            </a:p>
          </p:txBody>
        </p:sp>
        <p:sp>
          <p:nvSpPr>
            <p:cNvPr id="13366" name="Text Box 98"/>
            <p:cNvSpPr txBox="1">
              <a:spLocks noChangeArrowheads="1"/>
            </p:cNvSpPr>
            <p:nvPr/>
          </p:nvSpPr>
          <p:spPr bwMode="auto">
            <a:xfrm>
              <a:off x="4105" y="2160"/>
              <a:ext cx="4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y(n)</a:t>
              </a:r>
              <a:endParaRPr lang="en-US" altLang="zh-CN" sz="2000" b="1" baseline="-25000">
                <a:solidFill>
                  <a:srgbClr val="FF0000"/>
                </a:solidFill>
              </a:endParaRPr>
            </a:p>
          </p:txBody>
        </p:sp>
      </p:grpSp>
      <p:graphicFrame>
        <p:nvGraphicFramePr>
          <p:cNvPr id="13314" name="Object 101"/>
          <p:cNvGraphicFramePr>
            <a:graphicFrameLocks noChangeAspect="1"/>
          </p:cNvGraphicFramePr>
          <p:nvPr/>
        </p:nvGraphicFramePr>
        <p:xfrm>
          <a:off x="2124075" y="1557338"/>
          <a:ext cx="6732588" cy="382587"/>
        </p:xfrm>
        <a:graphic>
          <a:graphicData uri="http://schemas.openxmlformats.org/presentationml/2006/ole">
            <mc:AlternateContent xmlns:mc="http://schemas.openxmlformats.org/markup-compatibility/2006">
              <mc:Choice xmlns:v="urn:schemas-microsoft-com:vml" Requires="v">
                <p:oleObj spid="_x0000_s12290" name="公式" r:id="rId3" imgW="3581400" imgH="203200" progId="">
                  <p:embed/>
                </p:oleObj>
              </mc:Choice>
              <mc:Fallback>
                <p:oleObj name="公式" r:id="rId3" imgW="3581400" imgH="203200" progId="">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557338"/>
                        <a:ext cx="6732588" cy="3825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00FF00"/>
                              </a:outerShdw>
                            </a:effectLst>
                          </a14:hiddenEffects>
                        </a:ext>
                      </a:extLst>
                    </p:spPr>
                  </p:pic>
                </p:oleObj>
              </mc:Fallback>
            </mc:AlternateContent>
          </a:graphicData>
        </a:graphic>
      </p:graphicFrame>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87810"/>
                                        </p:tgtEl>
                                        <p:attrNameLst>
                                          <p:attrName>style.visibility</p:attrName>
                                        </p:attrNameLst>
                                      </p:cBhvr>
                                      <p:to>
                                        <p:strVal val="visible"/>
                                      </p:to>
                                    </p:set>
                                    <p:animEffect transition="in" filter="blinds(horizontal)">
                                      <p:cBhvr>
                                        <p:cTn id="7" dur="500"/>
                                        <p:tgtEl>
                                          <p:spTgt spid="887810"/>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87812"/>
                                        </p:tgtEl>
                                        <p:attrNameLst>
                                          <p:attrName>style.visibility</p:attrName>
                                        </p:attrNameLst>
                                      </p:cBhvr>
                                      <p:to>
                                        <p:strVal val="visible"/>
                                      </p:to>
                                    </p:set>
                                    <p:animEffect transition="in" filter="slide(fromBottom)">
                                      <p:cBhvr>
                                        <p:cTn id="11" dur="500"/>
                                        <p:tgtEl>
                                          <p:spTgt spid="887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7810" grpId="0"/>
      <p:bldP spid="887812"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E39F66B-EE9C-4DFA-BBA0-420B2B21296A}" type="slidenum">
              <a:rPr lang="en-US" altLang="zh-CN" sz="1400"/>
              <a:pPr eaLnBrk="1" hangingPunct="1"/>
              <a:t>103</a:t>
            </a:fld>
            <a:endParaRPr lang="en-US" altLang="zh-CN" sz="1400"/>
          </a:p>
        </p:txBody>
      </p:sp>
      <p:sp>
        <p:nvSpPr>
          <p:cNvPr id="888834" name="Rectangle 2" descr="小棋盘"/>
          <p:cNvSpPr>
            <a:spLocks noChangeArrowheads="1"/>
          </p:cNvSpPr>
          <p:nvPr/>
        </p:nvSpPr>
        <p:spPr bwMode="auto">
          <a:xfrm>
            <a:off x="533400" y="1371600"/>
            <a:ext cx="8077200" cy="588963"/>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FF0000"/>
                </a:solidFill>
                <a:latin typeface="宋体" panose="02010600030101010101" pitchFamily="2" charset="-122"/>
                <a:cs typeface="Times New Roman" panose="02020603050405020304" pitchFamily="18" charset="0"/>
              </a:rPr>
              <a:t>（</a:t>
            </a:r>
            <a:r>
              <a:rPr lang="en-US" altLang="zh-CN" sz="3200" b="1">
                <a:solidFill>
                  <a:srgbClr val="FF0000"/>
                </a:solidFill>
                <a:latin typeface="宋体" panose="02010600030101010101" pitchFamily="2" charset="-122"/>
                <a:cs typeface="Times New Roman" panose="02020603050405020304" pitchFamily="18" charset="0"/>
              </a:rPr>
              <a:t>1</a:t>
            </a:r>
            <a:r>
              <a:rPr lang="zh-CN" altLang="en-US" sz="3200" b="1">
                <a:solidFill>
                  <a:srgbClr val="FF0000"/>
                </a:solidFill>
                <a:latin typeface="宋体" panose="02010600030101010101" pitchFamily="2" charset="-122"/>
                <a:cs typeface="Times New Roman" panose="02020603050405020304" pitchFamily="18" charset="0"/>
              </a:rPr>
              <a:t>）二阶</a:t>
            </a:r>
            <a:r>
              <a:rPr lang="en-US" altLang="zh-CN" sz="3200" b="1">
                <a:solidFill>
                  <a:srgbClr val="FF0000"/>
                </a:solidFill>
                <a:latin typeface="宋体" panose="02010600030101010101" pitchFamily="2" charset="-122"/>
                <a:cs typeface="Times New Roman" panose="02020603050405020304" pitchFamily="18" charset="0"/>
              </a:rPr>
              <a:t>IIR</a:t>
            </a:r>
            <a:r>
              <a:rPr lang="zh-CN" altLang="en-US" sz="3200" b="1">
                <a:solidFill>
                  <a:srgbClr val="FF0000"/>
                </a:solidFill>
                <a:latin typeface="宋体" panose="02010600030101010101" pitchFamily="2" charset="-122"/>
                <a:cs typeface="Times New Roman" panose="02020603050405020304" pitchFamily="18" charset="0"/>
              </a:rPr>
              <a:t>滤波器的单操作数指令实现法</a:t>
            </a:r>
          </a:p>
        </p:txBody>
      </p:sp>
      <p:sp>
        <p:nvSpPr>
          <p:cNvPr id="888835" name="Rectangle 3"/>
          <p:cNvSpPr>
            <a:spLocks noChangeArrowheads="1"/>
          </p:cNvSpPr>
          <p:nvPr/>
        </p:nvSpPr>
        <p:spPr bwMode="auto">
          <a:xfrm>
            <a:off x="250825" y="2205038"/>
            <a:ext cx="4249738"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宋体" panose="02010600030101010101" pitchFamily="2" charset="-122"/>
                <a:cs typeface="Times New Roman" panose="02020603050405020304" pitchFamily="18" charset="0"/>
              </a:rPr>
              <a:t>如存储器分配图</a:t>
            </a:r>
            <a:r>
              <a:rPr lang="zh-CN" altLang="en-US" sz="2800" b="1">
                <a:latin typeface="宋体" panose="02010600030101010101" pitchFamily="2" charset="-122"/>
              </a:rPr>
              <a:t>所示。</a:t>
            </a:r>
            <a:r>
              <a:rPr lang="en-US" altLang="zh-CN" sz="2800" b="1">
                <a:solidFill>
                  <a:schemeClr val="tx2"/>
                </a:solidFill>
                <a:latin typeface="宋体" panose="02010600030101010101" pitchFamily="2" charset="-122"/>
                <a:cs typeface="Times New Roman" panose="02020603050405020304" pitchFamily="18" charset="0"/>
              </a:rPr>
              <a:t>x0</a:t>
            </a:r>
            <a:r>
              <a:rPr lang="zh-CN" altLang="en-US" sz="2800" b="1">
                <a:solidFill>
                  <a:schemeClr val="tx2"/>
                </a:solidFill>
                <a:latin typeface="宋体" panose="02010600030101010101" pitchFamily="2" charset="-122"/>
                <a:cs typeface="Times New Roman" panose="02020603050405020304" pitchFamily="18" charset="0"/>
              </a:rPr>
              <a:t>单元有三个用处：</a:t>
            </a:r>
          </a:p>
          <a:p>
            <a:pPr eaLnBrk="1" hangingPunct="1"/>
            <a:r>
              <a:rPr lang="en-US" altLang="zh-CN" sz="2800" b="1">
                <a:solidFill>
                  <a:schemeClr val="folHlink"/>
                </a:solidFill>
                <a:latin typeface="宋体" panose="02010600030101010101" pitchFamily="2" charset="-122"/>
                <a:cs typeface="Times New Roman" panose="02020603050405020304" pitchFamily="18" charset="0"/>
              </a:rPr>
              <a:t>1)</a:t>
            </a:r>
            <a:r>
              <a:rPr lang="zh-CN" altLang="en-US" sz="2800" b="1">
                <a:solidFill>
                  <a:schemeClr val="folHlink"/>
                </a:solidFill>
                <a:latin typeface="宋体" panose="02010600030101010101" pitchFamily="2" charset="-122"/>
                <a:cs typeface="Times New Roman" panose="02020603050405020304" pitchFamily="18" charset="0"/>
              </a:rPr>
              <a:t>存放输入数据</a:t>
            </a:r>
            <a:r>
              <a:rPr lang="en-US" altLang="zh-CN" sz="2800" b="1">
                <a:solidFill>
                  <a:schemeClr val="folHlink"/>
                </a:solidFill>
                <a:latin typeface="宋体" panose="02010600030101010101" pitchFamily="2" charset="-122"/>
                <a:cs typeface="Times New Roman" panose="02020603050405020304" pitchFamily="18" charset="0"/>
              </a:rPr>
              <a:t>x</a:t>
            </a:r>
            <a:r>
              <a:rPr lang="zh-CN" altLang="en-US" sz="2800" b="1">
                <a:solidFill>
                  <a:schemeClr val="folHlink"/>
                </a:solidFill>
                <a:latin typeface="宋体" panose="02010600030101010101" pitchFamily="2" charset="-122"/>
                <a:cs typeface="Times New Roman" panose="02020603050405020304" pitchFamily="18" charset="0"/>
              </a:rPr>
              <a:t>（</a:t>
            </a:r>
            <a:r>
              <a:rPr lang="en-US" altLang="zh-CN" sz="2800" b="1">
                <a:solidFill>
                  <a:schemeClr val="folHlink"/>
                </a:solidFill>
                <a:latin typeface="宋体" panose="02010600030101010101" pitchFamily="2" charset="-122"/>
                <a:cs typeface="Times New Roman" panose="02020603050405020304" pitchFamily="18" charset="0"/>
              </a:rPr>
              <a:t>n</a:t>
            </a:r>
            <a:r>
              <a:rPr lang="zh-CN" altLang="en-US" sz="2800" b="1">
                <a:solidFill>
                  <a:schemeClr val="folHlink"/>
                </a:solidFill>
                <a:latin typeface="宋体" panose="02010600030101010101" pitchFamily="2" charset="-122"/>
                <a:cs typeface="Times New Roman" panose="02020603050405020304" pitchFamily="18" charset="0"/>
              </a:rPr>
              <a:t>）</a:t>
            </a:r>
          </a:p>
          <a:p>
            <a:pPr eaLnBrk="1" hangingPunct="1"/>
            <a:r>
              <a:rPr lang="en-US" altLang="zh-CN" sz="2800" b="1">
                <a:solidFill>
                  <a:schemeClr val="tx2"/>
                </a:solidFill>
                <a:latin typeface="宋体" panose="02010600030101010101" pitchFamily="2" charset="-122"/>
                <a:cs typeface="Times New Roman" panose="02020603050405020304" pitchFamily="18" charset="0"/>
              </a:rPr>
              <a:t>2)</a:t>
            </a:r>
            <a:r>
              <a:rPr lang="zh-CN" altLang="en-US" sz="2800" b="1">
                <a:solidFill>
                  <a:schemeClr val="tx2"/>
                </a:solidFill>
                <a:latin typeface="宋体" panose="02010600030101010101" pitchFamily="2" charset="-122"/>
                <a:cs typeface="Times New Roman" panose="02020603050405020304" pitchFamily="18" charset="0"/>
              </a:rPr>
              <a:t>暂时存放相加器的输出</a:t>
            </a:r>
            <a:r>
              <a:rPr lang="en-US" altLang="zh-CN" sz="2800" b="1">
                <a:solidFill>
                  <a:schemeClr val="tx2"/>
                </a:solidFill>
                <a:latin typeface="宋体" panose="02010600030101010101" pitchFamily="2" charset="-122"/>
                <a:cs typeface="Times New Roman" panose="02020603050405020304" pitchFamily="18" charset="0"/>
              </a:rPr>
              <a:t>x0</a:t>
            </a:r>
          </a:p>
          <a:p>
            <a:pPr eaLnBrk="1" hangingPunct="1"/>
            <a:r>
              <a:rPr lang="en-US" altLang="zh-CN" sz="2800" b="1">
                <a:solidFill>
                  <a:srgbClr val="FF00FF"/>
                </a:solidFill>
                <a:latin typeface="宋体" panose="02010600030101010101" pitchFamily="2" charset="-122"/>
                <a:cs typeface="Times New Roman" panose="02020603050405020304" pitchFamily="18" charset="0"/>
              </a:rPr>
              <a:t>3)</a:t>
            </a:r>
            <a:r>
              <a:rPr lang="zh-CN" altLang="en-US" sz="2800" b="1">
                <a:solidFill>
                  <a:srgbClr val="FF00FF"/>
                </a:solidFill>
                <a:latin typeface="宋体" panose="02010600030101010101" pitchFamily="2" charset="-122"/>
                <a:cs typeface="Times New Roman" panose="02020603050405020304" pitchFamily="18" charset="0"/>
              </a:rPr>
              <a:t>输出数据</a:t>
            </a:r>
            <a:r>
              <a:rPr lang="en-US" altLang="zh-CN" sz="2800" b="1">
                <a:solidFill>
                  <a:srgbClr val="FF00FF"/>
                </a:solidFill>
                <a:latin typeface="宋体" panose="02010600030101010101" pitchFamily="2" charset="-122"/>
                <a:cs typeface="Times New Roman" panose="02020603050405020304" pitchFamily="18" charset="0"/>
              </a:rPr>
              <a:t>y</a:t>
            </a:r>
            <a:r>
              <a:rPr lang="zh-CN" altLang="en-US" sz="2800" b="1">
                <a:solidFill>
                  <a:srgbClr val="FF00FF"/>
                </a:solidFill>
                <a:latin typeface="宋体" panose="02010600030101010101" pitchFamily="2" charset="-122"/>
                <a:cs typeface="Times New Roman" panose="02020603050405020304" pitchFamily="18" charset="0"/>
              </a:rPr>
              <a:t>（</a:t>
            </a:r>
            <a:r>
              <a:rPr lang="en-US" altLang="zh-CN" sz="2800" b="1">
                <a:solidFill>
                  <a:srgbClr val="FF00FF"/>
                </a:solidFill>
                <a:latin typeface="宋体" panose="02010600030101010101" pitchFamily="2" charset="-122"/>
                <a:cs typeface="Times New Roman" panose="02020603050405020304" pitchFamily="18" charset="0"/>
              </a:rPr>
              <a:t>n</a:t>
            </a:r>
            <a:r>
              <a:rPr lang="zh-CN" altLang="en-US" sz="2800" b="1">
                <a:solidFill>
                  <a:srgbClr val="FF00FF"/>
                </a:solidFill>
                <a:latin typeface="宋体" panose="02010600030101010101" pitchFamily="2" charset="-122"/>
                <a:cs typeface="Times New Roman" panose="02020603050405020304" pitchFamily="18" charset="0"/>
              </a:rPr>
              <a:t>）。</a:t>
            </a:r>
          </a:p>
          <a:p>
            <a:pPr eaLnBrk="1" hangingPunct="1"/>
            <a:r>
              <a:rPr lang="zh-CN" altLang="en-US" sz="2800" b="1">
                <a:latin typeface="宋体" panose="02010600030101010101" pitchFamily="2" charset="-122"/>
                <a:ea typeface="黑体" panose="02010609060101010101" pitchFamily="49" charset="-122"/>
              </a:rPr>
              <a:t>例</a:t>
            </a:r>
            <a:r>
              <a:rPr lang="en-US" altLang="zh-CN" sz="2800" b="1">
                <a:latin typeface="宋体" panose="02010600030101010101" pitchFamily="2" charset="-122"/>
                <a:ea typeface="黑体" panose="02010609060101010101" pitchFamily="49" charset="-122"/>
              </a:rPr>
              <a:t>5-30  </a:t>
            </a:r>
            <a:r>
              <a:rPr lang="zh-CN" altLang="en-US" sz="2800" b="1">
                <a:latin typeface="宋体" panose="02010600030101010101" pitchFamily="2" charset="-122"/>
              </a:rPr>
              <a:t>编写二阶</a:t>
            </a:r>
            <a:r>
              <a:rPr lang="en-US" altLang="zh-CN" sz="2800" b="1">
                <a:latin typeface="宋体" panose="02010600030101010101" pitchFamily="2" charset="-122"/>
              </a:rPr>
              <a:t>IIR</a:t>
            </a:r>
            <a:r>
              <a:rPr lang="zh-CN" altLang="en-US" sz="2800" b="1">
                <a:latin typeface="宋体" panose="02010600030101010101" pitchFamily="2" charset="-122"/>
              </a:rPr>
              <a:t>滤波器的程序。</a:t>
            </a:r>
          </a:p>
        </p:txBody>
      </p:sp>
      <p:sp>
        <p:nvSpPr>
          <p:cNvPr id="107525" name="Text Box 5" descr="小棋盘"/>
          <p:cNvSpPr txBox="1">
            <a:spLocks noChangeArrowheads="1"/>
          </p:cNvSpPr>
          <p:nvPr/>
        </p:nvSpPr>
        <p:spPr bwMode="auto">
          <a:xfrm>
            <a:off x="5651500" y="2708275"/>
            <a:ext cx="2278063" cy="503238"/>
          </a:xfrm>
          <a:prstGeom prst="rect">
            <a:avLst/>
          </a:prstGeom>
          <a:pattFill prst="smCheck">
            <a:fgClr>
              <a:schemeClr val="accent1"/>
            </a:fgClr>
            <a:bgClr>
              <a:srgbClr val="FFFFFF"/>
            </a:bgClr>
          </a:pattFill>
          <a:ln w="9525">
            <a:solidFill>
              <a:schemeClr val="hlink"/>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b="1">
                <a:solidFill>
                  <a:schemeClr val="tx2"/>
                </a:solidFill>
                <a:latin typeface="宋体" panose="02010600030101010101" pitchFamily="2" charset="-122"/>
              </a:rPr>
              <a:t>存储器分配图</a:t>
            </a:r>
          </a:p>
        </p:txBody>
      </p:sp>
      <p:sp>
        <p:nvSpPr>
          <p:cNvPr id="107526" name="Text Box 7"/>
          <p:cNvSpPr txBox="1">
            <a:spLocks noChangeArrowheads="1"/>
          </p:cNvSpPr>
          <p:nvPr/>
        </p:nvSpPr>
        <p:spPr bwMode="auto">
          <a:xfrm>
            <a:off x="6734175" y="4006850"/>
            <a:ext cx="938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COEF</a:t>
            </a:r>
            <a:endParaRPr lang="en-US" altLang="zh-CN" sz="2000" b="1" baseline="-25000">
              <a:solidFill>
                <a:schemeClr val="tx2"/>
              </a:solidFill>
            </a:endParaRPr>
          </a:p>
        </p:txBody>
      </p:sp>
      <p:sp>
        <p:nvSpPr>
          <p:cNvPr id="107527" name="Text Box 9"/>
          <p:cNvSpPr txBox="1">
            <a:spLocks noChangeArrowheads="1"/>
          </p:cNvSpPr>
          <p:nvPr/>
        </p:nvSpPr>
        <p:spPr bwMode="auto">
          <a:xfrm>
            <a:off x="7631113" y="400685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2</a:t>
            </a:r>
          </a:p>
        </p:txBody>
      </p:sp>
      <p:sp>
        <p:nvSpPr>
          <p:cNvPr id="107528" name="Text Box 10"/>
          <p:cNvSpPr txBox="1">
            <a:spLocks noChangeArrowheads="1"/>
          </p:cNvSpPr>
          <p:nvPr/>
        </p:nvSpPr>
        <p:spPr bwMode="auto">
          <a:xfrm>
            <a:off x="7631113" y="440690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1</a:t>
            </a:r>
          </a:p>
        </p:txBody>
      </p:sp>
      <p:sp>
        <p:nvSpPr>
          <p:cNvPr id="107529" name="Text Box 11"/>
          <p:cNvSpPr txBox="1">
            <a:spLocks noChangeArrowheads="1"/>
          </p:cNvSpPr>
          <p:nvPr/>
        </p:nvSpPr>
        <p:spPr bwMode="auto">
          <a:xfrm>
            <a:off x="7631113" y="480695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0</a:t>
            </a:r>
          </a:p>
        </p:txBody>
      </p:sp>
      <p:sp>
        <p:nvSpPr>
          <p:cNvPr id="107530" name="Text Box 12"/>
          <p:cNvSpPr txBox="1">
            <a:spLocks noChangeArrowheads="1"/>
          </p:cNvSpPr>
          <p:nvPr/>
        </p:nvSpPr>
        <p:spPr bwMode="auto">
          <a:xfrm>
            <a:off x="7631113" y="5208588"/>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2</a:t>
            </a:r>
          </a:p>
        </p:txBody>
      </p:sp>
      <p:sp>
        <p:nvSpPr>
          <p:cNvPr id="107531" name="Text Box 16"/>
          <p:cNvSpPr txBox="1">
            <a:spLocks noChangeArrowheads="1"/>
          </p:cNvSpPr>
          <p:nvPr/>
        </p:nvSpPr>
        <p:spPr bwMode="auto">
          <a:xfrm>
            <a:off x="7381875" y="3502025"/>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107532" name="Text Box 18"/>
          <p:cNvSpPr txBox="1">
            <a:spLocks noChangeArrowheads="1"/>
          </p:cNvSpPr>
          <p:nvPr/>
        </p:nvSpPr>
        <p:spPr bwMode="auto">
          <a:xfrm>
            <a:off x="7629525" y="5614988"/>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1</a:t>
            </a:r>
          </a:p>
        </p:txBody>
      </p:sp>
      <p:sp>
        <p:nvSpPr>
          <p:cNvPr id="107533" name="Text Box 20"/>
          <p:cNvSpPr txBox="1">
            <a:spLocks noChangeArrowheads="1"/>
          </p:cNvSpPr>
          <p:nvPr/>
        </p:nvSpPr>
        <p:spPr bwMode="auto">
          <a:xfrm>
            <a:off x="5399088" y="400685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a:t>
            </a:r>
            <a:r>
              <a:rPr lang="en-US" altLang="zh-CN" b="1" baseline="-25000">
                <a:solidFill>
                  <a:srgbClr val="FF6600"/>
                </a:solidFill>
              </a:rPr>
              <a:t>0</a:t>
            </a:r>
          </a:p>
        </p:txBody>
      </p:sp>
      <p:sp>
        <p:nvSpPr>
          <p:cNvPr id="107534" name="Text Box 21"/>
          <p:cNvSpPr txBox="1">
            <a:spLocks noChangeArrowheads="1"/>
          </p:cNvSpPr>
          <p:nvPr/>
        </p:nvSpPr>
        <p:spPr bwMode="auto">
          <a:xfrm>
            <a:off x="5399088" y="440690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a:t>
            </a:r>
            <a:r>
              <a:rPr lang="en-US" altLang="zh-CN" b="1" baseline="-25000">
                <a:solidFill>
                  <a:srgbClr val="FF6600"/>
                </a:solidFill>
              </a:rPr>
              <a:t>1</a:t>
            </a:r>
          </a:p>
        </p:txBody>
      </p:sp>
      <p:sp>
        <p:nvSpPr>
          <p:cNvPr id="107535" name="Text Box 22"/>
          <p:cNvSpPr txBox="1">
            <a:spLocks noChangeArrowheads="1"/>
          </p:cNvSpPr>
          <p:nvPr/>
        </p:nvSpPr>
        <p:spPr bwMode="auto">
          <a:xfrm>
            <a:off x="5399088" y="480695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a:t>
            </a:r>
            <a:r>
              <a:rPr lang="en-US" altLang="zh-CN" b="1" baseline="-25000">
                <a:solidFill>
                  <a:srgbClr val="FF6600"/>
                </a:solidFill>
              </a:rPr>
              <a:t>2</a:t>
            </a:r>
          </a:p>
        </p:txBody>
      </p:sp>
      <p:sp>
        <p:nvSpPr>
          <p:cNvPr id="107536" name="Text Box 24"/>
          <p:cNvSpPr txBox="1">
            <a:spLocks noChangeArrowheads="1"/>
          </p:cNvSpPr>
          <p:nvPr/>
        </p:nvSpPr>
        <p:spPr bwMode="auto">
          <a:xfrm>
            <a:off x="5149850" y="3502025"/>
            <a:ext cx="1511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zh-CN" altLang="en-US" sz="2000" b="1">
                <a:solidFill>
                  <a:srgbClr val="FF00FF"/>
                </a:solidFill>
              </a:rPr>
              <a:t>数据存储器</a:t>
            </a:r>
          </a:p>
        </p:txBody>
      </p:sp>
      <p:sp>
        <p:nvSpPr>
          <p:cNvPr id="107537" name="Text Box 26"/>
          <p:cNvSpPr txBox="1">
            <a:spLocks noChangeArrowheads="1"/>
          </p:cNvSpPr>
          <p:nvPr/>
        </p:nvSpPr>
        <p:spPr bwMode="auto">
          <a:xfrm>
            <a:off x="3995738" y="4006850"/>
            <a:ext cx="1443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0000"/>
                </a:solidFill>
              </a:rPr>
              <a:t>x(n),y(n)</a:t>
            </a:r>
            <a:endParaRPr lang="en-US" altLang="zh-CN" b="1" baseline="-25000">
              <a:solidFill>
                <a:srgbClr val="FF0000"/>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88834"/>
                                        </p:tgtEl>
                                        <p:attrNameLst>
                                          <p:attrName>style.visibility</p:attrName>
                                        </p:attrNameLst>
                                      </p:cBhvr>
                                      <p:to>
                                        <p:strVal val="visible"/>
                                      </p:to>
                                    </p:set>
                                    <p:animEffect transition="in" filter="slide(fromTop)">
                                      <p:cBhvr>
                                        <p:cTn id="7" dur="500"/>
                                        <p:tgtEl>
                                          <p:spTgt spid="888834"/>
                                        </p:tgtEl>
                                      </p:cBhvr>
                                    </p:animEffect>
                                  </p:childTnLst>
                                </p:cTn>
                              </p:par>
                            </p:childTnLst>
                          </p:cTn>
                        </p:par>
                        <p:par>
                          <p:cTn id="8" fill="hold" nodeType="afterGroup">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888835"/>
                                        </p:tgtEl>
                                        <p:attrNameLst>
                                          <p:attrName>style.visibility</p:attrName>
                                        </p:attrNameLst>
                                      </p:cBhvr>
                                      <p:to>
                                        <p:strVal val="visible"/>
                                      </p:to>
                                    </p:set>
                                    <p:animEffect transition="in" filter="blinds(vertical)">
                                      <p:cBhvr>
                                        <p:cTn id="11" dur="500"/>
                                        <p:tgtEl>
                                          <p:spTgt spid="888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8834" grpId="0" animBg="1"/>
      <p:bldP spid="88883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3DF7254-F97F-410F-9567-E147643FAB66}" type="slidenum">
              <a:rPr lang="en-US" altLang="zh-CN" sz="1400"/>
              <a:pPr eaLnBrk="1" hangingPunct="1"/>
              <a:t>104</a:t>
            </a:fld>
            <a:endParaRPr lang="en-US" altLang="zh-CN" sz="1400"/>
          </a:p>
        </p:txBody>
      </p:sp>
      <p:sp>
        <p:nvSpPr>
          <p:cNvPr id="889858" name="Rectangle 2"/>
          <p:cNvSpPr>
            <a:spLocks noChangeArrowheads="1"/>
          </p:cNvSpPr>
          <p:nvPr/>
        </p:nvSpPr>
        <p:spPr bwMode="auto">
          <a:xfrm>
            <a:off x="381000" y="990600"/>
            <a:ext cx="8583613" cy="570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0000"/>
              </a:spcBef>
            </a:pPr>
            <a:r>
              <a:rPr lang="en-US" altLang="zh-CN" b="1"/>
              <a:t>          .title    “IIR1.asm”  </a:t>
            </a:r>
            <a:r>
              <a:rPr lang="zh-CN" altLang="en-US" b="1"/>
              <a:t>；给汇编程序取名</a:t>
            </a:r>
          </a:p>
          <a:p>
            <a:pPr algn="just">
              <a:lnSpc>
                <a:spcPct val="80000"/>
              </a:lnSpc>
              <a:spcBef>
                <a:spcPct val="10000"/>
              </a:spcBef>
            </a:pPr>
            <a:r>
              <a:rPr lang="zh-CN" altLang="en-US" b="1"/>
              <a:t>          </a:t>
            </a:r>
            <a:r>
              <a:rPr lang="en-US" altLang="zh-CN" b="1">
                <a:solidFill>
                  <a:schemeClr val="folHlink"/>
                </a:solidFill>
              </a:rPr>
              <a:t>.mmregs</a:t>
            </a:r>
            <a:r>
              <a:rPr lang="en-US" altLang="zh-CN" b="1"/>
              <a:t>                </a:t>
            </a:r>
            <a:r>
              <a:rPr lang="zh-CN" altLang="en-US" b="1"/>
              <a:t>；定义存储器映象寄存器</a:t>
            </a:r>
          </a:p>
          <a:p>
            <a:pPr algn="just">
              <a:lnSpc>
                <a:spcPct val="80000"/>
              </a:lnSpc>
              <a:spcBef>
                <a:spcPct val="10000"/>
              </a:spcBef>
            </a:pPr>
            <a:r>
              <a:rPr lang="zh-CN" altLang="en-US" b="1"/>
              <a:t>          </a:t>
            </a:r>
            <a:r>
              <a:rPr lang="en-US" altLang="zh-CN" b="1"/>
              <a:t>.def     start           </a:t>
            </a:r>
            <a:r>
              <a:rPr lang="zh-CN" altLang="en-US" b="1"/>
              <a:t>；定义标号</a:t>
            </a:r>
            <a:r>
              <a:rPr lang="en-US" altLang="zh-CN" b="1"/>
              <a:t>start</a:t>
            </a:r>
            <a:r>
              <a:rPr lang="zh-CN" altLang="en-US" b="1"/>
              <a:t>的起始位置</a:t>
            </a:r>
          </a:p>
          <a:p>
            <a:pPr algn="just">
              <a:lnSpc>
                <a:spcPct val="80000"/>
              </a:lnSpc>
              <a:spcBef>
                <a:spcPct val="10000"/>
              </a:spcBef>
            </a:pPr>
            <a:r>
              <a:rPr lang="en-US" altLang="zh-CN" b="1">
                <a:solidFill>
                  <a:srgbClr val="FF00FF"/>
                </a:solidFill>
              </a:rPr>
              <a:t>X0     .usect  “x”,1          </a:t>
            </a:r>
            <a:r>
              <a:rPr lang="zh-CN" altLang="en-US" b="1">
                <a:solidFill>
                  <a:srgbClr val="FF00FF"/>
                </a:solidFill>
              </a:rPr>
              <a:t>；自定义</a:t>
            </a:r>
            <a:r>
              <a:rPr lang="en-US" altLang="zh-CN" b="1">
                <a:solidFill>
                  <a:srgbClr val="FF00FF"/>
                </a:solidFill>
              </a:rPr>
              <a:t>3</a:t>
            </a:r>
            <a:r>
              <a:rPr lang="zh-CN" altLang="en-US" b="1">
                <a:solidFill>
                  <a:srgbClr val="FF00FF"/>
                </a:solidFill>
              </a:rPr>
              <a:t>个单元的未初始化段</a:t>
            </a:r>
            <a:r>
              <a:rPr lang="en-US" altLang="zh-CN" b="1">
                <a:solidFill>
                  <a:srgbClr val="FF00FF"/>
                </a:solidFill>
              </a:rPr>
              <a:t>x</a:t>
            </a:r>
          </a:p>
          <a:p>
            <a:pPr algn="just">
              <a:lnSpc>
                <a:spcPct val="80000"/>
              </a:lnSpc>
              <a:spcBef>
                <a:spcPct val="10000"/>
              </a:spcBef>
            </a:pPr>
            <a:r>
              <a:rPr lang="en-US" altLang="zh-CN" b="1">
                <a:solidFill>
                  <a:srgbClr val="FF00FF"/>
                </a:solidFill>
              </a:rPr>
              <a:t>X1     .usect  “x”,1          </a:t>
            </a:r>
            <a:r>
              <a:rPr lang="zh-CN" altLang="en-US" b="1">
                <a:solidFill>
                  <a:srgbClr val="FF00FF"/>
                </a:solidFill>
              </a:rPr>
              <a:t>；</a:t>
            </a:r>
          </a:p>
          <a:p>
            <a:pPr algn="just">
              <a:lnSpc>
                <a:spcPct val="80000"/>
              </a:lnSpc>
              <a:spcBef>
                <a:spcPct val="10000"/>
              </a:spcBef>
            </a:pPr>
            <a:r>
              <a:rPr lang="en-US" altLang="zh-CN" b="1">
                <a:solidFill>
                  <a:srgbClr val="FF00FF"/>
                </a:solidFill>
              </a:rPr>
              <a:t>X2      .usect  “x”,1</a:t>
            </a:r>
            <a:r>
              <a:rPr lang="en-US" altLang="zh-CN" b="1"/>
              <a:t>         </a:t>
            </a:r>
            <a:r>
              <a:rPr lang="zh-CN" altLang="en-US" b="1"/>
              <a:t>；</a:t>
            </a:r>
          </a:p>
          <a:p>
            <a:pPr algn="just">
              <a:lnSpc>
                <a:spcPct val="80000"/>
              </a:lnSpc>
              <a:spcBef>
                <a:spcPct val="10000"/>
              </a:spcBef>
            </a:pPr>
            <a:r>
              <a:rPr lang="en-US" altLang="zh-CN" b="1">
                <a:solidFill>
                  <a:schemeClr val="tx2"/>
                </a:solidFill>
              </a:rPr>
              <a:t>B2     .usect  “COEF”,1  </a:t>
            </a:r>
            <a:r>
              <a:rPr lang="zh-CN" altLang="en-US" b="1">
                <a:solidFill>
                  <a:schemeClr val="tx2"/>
                </a:solidFill>
              </a:rPr>
              <a:t>；自定义</a:t>
            </a:r>
            <a:r>
              <a:rPr lang="en-US" altLang="zh-CN" b="1">
                <a:solidFill>
                  <a:schemeClr val="tx2"/>
                </a:solidFill>
              </a:rPr>
              <a:t>5</a:t>
            </a:r>
            <a:r>
              <a:rPr lang="zh-CN" altLang="en-US" b="1">
                <a:solidFill>
                  <a:schemeClr val="tx2"/>
                </a:solidFill>
              </a:rPr>
              <a:t>个单元的未初始化段</a:t>
            </a:r>
            <a:r>
              <a:rPr lang="en-US" altLang="zh-CN" b="1">
                <a:solidFill>
                  <a:schemeClr val="tx2"/>
                </a:solidFill>
              </a:rPr>
              <a:t>COEF</a:t>
            </a:r>
          </a:p>
          <a:p>
            <a:pPr algn="just">
              <a:lnSpc>
                <a:spcPct val="80000"/>
              </a:lnSpc>
              <a:spcBef>
                <a:spcPct val="10000"/>
              </a:spcBef>
            </a:pPr>
            <a:r>
              <a:rPr lang="en-US" altLang="zh-CN" b="1">
                <a:solidFill>
                  <a:schemeClr val="tx2"/>
                </a:solidFill>
              </a:rPr>
              <a:t>B1     .usect  “COEF”,1  </a:t>
            </a:r>
            <a:r>
              <a:rPr lang="zh-CN" altLang="en-US" b="1">
                <a:solidFill>
                  <a:schemeClr val="tx2"/>
                </a:solidFill>
              </a:rPr>
              <a:t>；</a:t>
            </a:r>
          </a:p>
          <a:p>
            <a:pPr algn="just">
              <a:lnSpc>
                <a:spcPct val="80000"/>
              </a:lnSpc>
              <a:spcBef>
                <a:spcPct val="10000"/>
              </a:spcBef>
            </a:pPr>
            <a:r>
              <a:rPr lang="en-US" altLang="zh-CN" b="1">
                <a:solidFill>
                  <a:schemeClr val="tx2"/>
                </a:solidFill>
              </a:rPr>
              <a:t>B0     .usect  “COEF”,1  </a:t>
            </a:r>
            <a:r>
              <a:rPr lang="zh-CN" altLang="en-US" b="1">
                <a:solidFill>
                  <a:schemeClr val="tx2"/>
                </a:solidFill>
              </a:rPr>
              <a:t>；</a:t>
            </a:r>
          </a:p>
          <a:p>
            <a:pPr algn="just">
              <a:lnSpc>
                <a:spcPct val="80000"/>
              </a:lnSpc>
              <a:spcBef>
                <a:spcPct val="10000"/>
              </a:spcBef>
            </a:pPr>
            <a:r>
              <a:rPr lang="en-US" altLang="zh-CN" b="1">
                <a:solidFill>
                  <a:schemeClr val="tx2"/>
                </a:solidFill>
              </a:rPr>
              <a:t>A2     .usect  “COEF”,1  </a:t>
            </a:r>
            <a:r>
              <a:rPr lang="zh-CN" altLang="en-US" b="1">
                <a:solidFill>
                  <a:schemeClr val="tx2"/>
                </a:solidFill>
              </a:rPr>
              <a:t>；</a:t>
            </a:r>
          </a:p>
          <a:p>
            <a:pPr algn="just">
              <a:lnSpc>
                <a:spcPct val="80000"/>
              </a:lnSpc>
              <a:spcBef>
                <a:spcPct val="10000"/>
              </a:spcBef>
            </a:pPr>
            <a:r>
              <a:rPr lang="en-US" altLang="zh-CN" b="1">
                <a:solidFill>
                  <a:schemeClr val="tx2"/>
                </a:solidFill>
              </a:rPr>
              <a:t>A1     .usect  “COEF”,1  </a:t>
            </a:r>
            <a:r>
              <a:rPr lang="zh-CN" altLang="en-US" b="1">
                <a:solidFill>
                  <a:schemeClr val="tx2"/>
                </a:solidFill>
              </a:rPr>
              <a:t>；</a:t>
            </a:r>
          </a:p>
          <a:p>
            <a:pPr algn="just">
              <a:lnSpc>
                <a:spcPct val="80000"/>
              </a:lnSpc>
              <a:spcBef>
                <a:spcPct val="10000"/>
              </a:spcBef>
            </a:pPr>
            <a:r>
              <a:rPr lang="en-US" altLang="zh-CN" b="1">
                <a:solidFill>
                  <a:srgbClr val="FF6600"/>
                </a:solidFill>
              </a:rPr>
              <a:t>PA0   .set     0                 </a:t>
            </a:r>
            <a:r>
              <a:rPr lang="zh-CN" altLang="en-US" b="1">
                <a:solidFill>
                  <a:srgbClr val="FF6600"/>
                </a:solidFill>
              </a:rPr>
              <a:t>；设置数据输出端口</a:t>
            </a:r>
            <a:r>
              <a:rPr lang="en-US" altLang="zh-CN" b="1">
                <a:solidFill>
                  <a:srgbClr val="FF6600"/>
                </a:solidFill>
              </a:rPr>
              <a:t>I/O</a:t>
            </a:r>
            <a:r>
              <a:rPr lang="zh-CN" altLang="en-US" b="1">
                <a:solidFill>
                  <a:srgbClr val="FF6600"/>
                </a:solidFill>
              </a:rPr>
              <a:t>，</a:t>
            </a:r>
            <a:r>
              <a:rPr lang="en-US" altLang="zh-CN" b="1">
                <a:solidFill>
                  <a:srgbClr val="FF6600"/>
                </a:solidFill>
              </a:rPr>
              <a:t>PA0=0</a:t>
            </a:r>
          </a:p>
          <a:p>
            <a:pPr algn="just">
              <a:lnSpc>
                <a:spcPct val="80000"/>
              </a:lnSpc>
              <a:spcBef>
                <a:spcPct val="10000"/>
              </a:spcBef>
            </a:pPr>
            <a:r>
              <a:rPr lang="en-US" altLang="zh-CN" b="1">
                <a:solidFill>
                  <a:srgbClr val="FF6600"/>
                </a:solidFill>
              </a:rPr>
              <a:t>PA1   .set     1                 </a:t>
            </a:r>
            <a:r>
              <a:rPr lang="zh-CN" altLang="en-US" b="1">
                <a:solidFill>
                  <a:srgbClr val="FF6600"/>
                </a:solidFill>
              </a:rPr>
              <a:t>；设置数据输入端口</a:t>
            </a:r>
            <a:r>
              <a:rPr lang="en-US" altLang="zh-CN" b="1">
                <a:solidFill>
                  <a:srgbClr val="FF6600"/>
                </a:solidFill>
              </a:rPr>
              <a:t>I/O</a:t>
            </a:r>
            <a:r>
              <a:rPr lang="zh-CN" altLang="en-US" b="1">
                <a:solidFill>
                  <a:srgbClr val="FF6600"/>
                </a:solidFill>
              </a:rPr>
              <a:t>，</a:t>
            </a:r>
            <a:r>
              <a:rPr lang="en-US" altLang="zh-CN" b="1">
                <a:solidFill>
                  <a:srgbClr val="FF6600"/>
                </a:solidFill>
              </a:rPr>
              <a:t>PA1=1</a:t>
            </a:r>
          </a:p>
          <a:p>
            <a:pPr algn="just">
              <a:lnSpc>
                <a:spcPct val="80000"/>
              </a:lnSpc>
              <a:spcBef>
                <a:spcPct val="10000"/>
              </a:spcBef>
            </a:pPr>
            <a:r>
              <a:rPr lang="en-US" altLang="zh-CN" b="1"/>
              <a:t>            .data</a:t>
            </a:r>
          </a:p>
          <a:p>
            <a:pPr algn="just">
              <a:lnSpc>
                <a:spcPct val="80000"/>
              </a:lnSpc>
              <a:spcBef>
                <a:spcPct val="10000"/>
              </a:spcBef>
            </a:pPr>
            <a:r>
              <a:rPr lang="en-US" altLang="zh-CN" b="1"/>
              <a:t>table:  .word    0, 0            </a:t>
            </a:r>
            <a:r>
              <a:rPr lang="zh-CN" altLang="en-US" b="1"/>
              <a:t>；</a:t>
            </a:r>
            <a:r>
              <a:rPr lang="en-US" altLang="zh-CN" b="1"/>
              <a:t>x(n-1), x(n-2)</a:t>
            </a:r>
          </a:p>
          <a:p>
            <a:pPr algn="just">
              <a:lnSpc>
                <a:spcPct val="80000"/>
              </a:lnSpc>
              <a:spcBef>
                <a:spcPct val="10000"/>
              </a:spcBef>
            </a:pPr>
            <a:r>
              <a:rPr lang="en-US" altLang="zh-CN" b="1"/>
              <a:t>            .word    1*32768/10,2*32768/10,3*32768/10 </a:t>
            </a:r>
            <a:r>
              <a:rPr lang="zh-CN" altLang="en-US" b="1"/>
              <a:t>；</a:t>
            </a:r>
            <a:r>
              <a:rPr lang="en-US" altLang="zh-CN" b="1"/>
              <a:t>B2,B1,B0</a:t>
            </a:r>
          </a:p>
          <a:p>
            <a:pPr algn="just">
              <a:lnSpc>
                <a:spcPct val="80000"/>
              </a:lnSpc>
              <a:spcBef>
                <a:spcPct val="10000"/>
              </a:spcBef>
            </a:pPr>
            <a:r>
              <a:rPr lang="en-US" altLang="zh-CN" b="1"/>
              <a:t>            .word    5*32768/10,-4*32768/10 </a:t>
            </a:r>
            <a:r>
              <a:rPr lang="zh-CN" altLang="en-US" b="1"/>
              <a:t>；</a:t>
            </a:r>
            <a:r>
              <a:rPr lang="en-US" altLang="zh-CN" b="1"/>
              <a:t>A2,A1</a:t>
            </a:r>
          </a:p>
        </p:txBody>
      </p:sp>
      <p:pic>
        <p:nvPicPr>
          <p:cNvPr id="10854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25" y="115888"/>
            <a:ext cx="2187575" cy="11922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89858"/>
                                        </p:tgtEl>
                                        <p:attrNameLst>
                                          <p:attrName>style.visibility</p:attrName>
                                        </p:attrNameLst>
                                      </p:cBhvr>
                                      <p:to>
                                        <p:strVal val="visible"/>
                                      </p:to>
                                    </p:set>
                                    <p:animEffect transition="in" filter="blinds(vertical)">
                                      <p:cBhvr>
                                        <p:cTn id="7" dur="500"/>
                                        <p:tgtEl>
                                          <p:spTgt spid="889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9858"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E3ECE08-D659-4482-BCC2-996B6FFCA4D0}" type="slidenum">
              <a:rPr lang="en-US" altLang="zh-CN" sz="1400"/>
              <a:pPr eaLnBrk="1" hangingPunct="1"/>
              <a:t>105</a:t>
            </a:fld>
            <a:endParaRPr lang="en-US" altLang="zh-CN" sz="1400"/>
          </a:p>
        </p:txBody>
      </p:sp>
      <p:sp>
        <p:nvSpPr>
          <p:cNvPr id="890882" name="Rectangle 2"/>
          <p:cNvSpPr>
            <a:spLocks noChangeArrowheads="1"/>
          </p:cNvSpPr>
          <p:nvPr/>
        </p:nvSpPr>
        <p:spPr bwMode="auto">
          <a:xfrm>
            <a:off x="228600" y="1066800"/>
            <a:ext cx="85344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t>          </a:t>
            </a:r>
            <a:r>
              <a:rPr lang="en-US" altLang="zh-CN" sz="2800" b="1"/>
              <a:t>.text</a:t>
            </a:r>
          </a:p>
          <a:p>
            <a:pPr algn="just"/>
            <a:r>
              <a:rPr lang="en-US" altLang="zh-CN" sz="2800" b="1"/>
              <a:t>start:  LD      #x0,DP        </a:t>
            </a:r>
            <a:r>
              <a:rPr lang="zh-CN" altLang="en-US" sz="2800" b="1"/>
              <a:t>；以</a:t>
            </a:r>
            <a:r>
              <a:rPr lang="en-US" altLang="zh-CN" sz="2800" b="1"/>
              <a:t>x0</a:t>
            </a:r>
            <a:r>
              <a:rPr lang="zh-CN" altLang="en-US" sz="2800" b="1"/>
              <a:t>的地址为数据存储器</a:t>
            </a:r>
          </a:p>
          <a:p>
            <a:pPr algn="just"/>
            <a:r>
              <a:rPr lang="zh-CN" altLang="en-US" sz="2800" b="1"/>
              <a:t>                                           ；页指针起始位置</a:t>
            </a:r>
          </a:p>
          <a:p>
            <a:pPr algn="just"/>
            <a:r>
              <a:rPr lang="zh-CN" altLang="en-US" sz="2800" b="1"/>
              <a:t>         </a:t>
            </a:r>
            <a:r>
              <a:rPr lang="en-US" altLang="zh-CN" sz="2800" b="1">
                <a:solidFill>
                  <a:schemeClr val="folHlink"/>
                </a:solidFill>
              </a:rPr>
              <a:t>SSBX   FRCT          </a:t>
            </a:r>
            <a:r>
              <a:rPr lang="zh-CN" altLang="en-US" sz="2800" b="1">
                <a:solidFill>
                  <a:schemeClr val="folHlink"/>
                </a:solidFill>
              </a:rPr>
              <a:t>；小数乘法</a:t>
            </a:r>
          </a:p>
          <a:p>
            <a:pPr algn="just"/>
            <a:r>
              <a:rPr lang="zh-CN" altLang="en-US" sz="2800" b="1"/>
              <a:t>         </a:t>
            </a:r>
            <a:r>
              <a:rPr lang="en-US" altLang="zh-CN" sz="2800" b="1"/>
              <a:t>STM     #x1,AR1     </a:t>
            </a:r>
            <a:r>
              <a:rPr lang="zh-CN" altLang="en-US" sz="2800" b="1"/>
              <a:t>；</a:t>
            </a:r>
            <a:r>
              <a:rPr lang="en-US" altLang="zh-CN" sz="2800" b="1"/>
              <a:t>x1</a:t>
            </a:r>
            <a:r>
              <a:rPr lang="zh-CN" altLang="en-US" sz="2800" b="1"/>
              <a:t>首地址传给</a:t>
            </a:r>
            <a:r>
              <a:rPr lang="en-US" altLang="zh-CN" sz="2800" b="1"/>
              <a:t>AR1</a:t>
            </a:r>
          </a:p>
          <a:p>
            <a:pPr algn="just"/>
            <a:r>
              <a:rPr lang="en-US" altLang="zh-CN" sz="2800" b="1"/>
              <a:t>         </a:t>
            </a:r>
            <a:r>
              <a:rPr lang="en-US" altLang="zh-CN" sz="2800" b="1">
                <a:solidFill>
                  <a:srgbClr val="FF00FF"/>
                </a:solidFill>
              </a:rPr>
              <a:t>RPT      #1                </a:t>
            </a:r>
            <a:r>
              <a:rPr lang="zh-CN" altLang="en-US" sz="2800" b="1">
                <a:solidFill>
                  <a:srgbClr val="FF00FF"/>
                </a:solidFill>
              </a:rPr>
              <a:t>；重复</a:t>
            </a:r>
            <a:r>
              <a:rPr lang="en-US" altLang="zh-CN" sz="2800" b="1">
                <a:solidFill>
                  <a:srgbClr val="FF00FF"/>
                </a:solidFill>
              </a:rPr>
              <a:t>2</a:t>
            </a:r>
            <a:r>
              <a:rPr lang="zh-CN" altLang="en-US" sz="2800" b="1">
                <a:solidFill>
                  <a:srgbClr val="FF00FF"/>
                </a:solidFill>
              </a:rPr>
              <a:t>次下条指令</a:t>
            </a:r>
          </a:p>
          <a:p>
            <a:pPr algn="just"/>
            <a:r>
              <a:rPr lang="zh-CN" altLang="en-US" sz="2800" b="1">
                <a:solidFill>
                  <a:srgbClr val="FF00FF"/>
                </a:solidFill>
              </a:rPr>
              <a:t>         </a:t>
            </a:r>
            <a:r>
              <a:rPr lang="en-US" altLang="zh-CN" sz="2800" b="1">
                <a:solidFill>
                  <a:srgbClr val="FF00FF"/>
                </a:solidFill>
              </a:rPr>
              <a:t>MVPD  #table,*AR1+ </a:t>
            </a:r>
            <a:r>
              <a:rPr lang="zh-CN" altLang="en-US" sz="2800" b="1">
                <a:solidFill>
                  <a:srgbClr val="FF00FF"/>
                </a:solidFill>
              </a:rPr>
              <a:t>；用程序空间的</a:t>
            </a:r>
            <a:r>
              <a:rPr lang="en-US" altLang="zh-CN" sz="2800" b="1">
                <a:solidFill>
                  <a:srgbClr val="FF00FF"/>
                </a:solidFill>
              </a:rPr>
              <a:t>2</a:t>
            </a:r>
            <a:r>
              <a:rPr lang="zh-CN" altLang="en-US" sz="2800" b="1">
                <a:solidFill>
                  <a:srgbClr val="FF00FF"/>
                </a:solidFill>
              </a:rPr>
              <a:t>个</a:t>
            </a:r>
          </a:p>
          <a:p>
            <a:pPr algn="just"/>
            <a:r>
              <a:rPr lang="zh-CN" altLang="en-US" sz="2800" b="1">
                <a:solidFill>
                  <a:srgbClr val="FF00FF"/>
                </a:solidFill>
              </a:rPr>
              <a:t>                                           ；系数</a:t>
            </a:r>
            <a:r>
              <a:rPr lang="en-US" altLang="zh-CN" sz="2800" b="1">
                <a:solidFill>
                  <a:srgbClr val="FF00FF"/>
                </a:solidFill>
              </a:rPr>
              <a:t>0</a:t>
            </a:r>
            <a:r>
              <a:rPr lang="zh-CN" altLang="en-US" sz="2800" b="1">
                <a:solidFill>
                  <a:srgbClr val="FF00FF"/>
                </a:solidFill>
              </a:rPr>
              <a:t>对</a:t>
            </a:r>
            <a:r>
              <a:rPr lang="en-US" altLang="zh-CN" sz="2800" b="1">
                <a:solidFill>
                  <a:srgbClr val="FF00FF"/>
                </a:solidFill>
              </a:rPr>
              <a:t>x1, x2</a:t>
            </a:r>
            <a:r>
              <a:rPr lang="zh-CN" altLang="en-US" sz="2800" b="1">
                <a:solidFill>
                  <a:srgbClr val="FF00FF"/>
                </a:solidFill>
              </a:rPr>
              <a:t>单元清零</a:t>
            </a:r>
          </a:p>
          <a:p>
            <a:pPr algn="just"/>
            <a:r>
              <a:rPr lang="zh-CN" altLang="en-US" sz="2800" b="1"/>
              <a:t>         </a:t>
            </a:r>
            <a:r>
              <a:rPr lang="en-US" altLang="zh-CN" sz="2800" b="1"/>
              <a:t>STM     #B2,AR1     </a:t>
            </a:r>
            <a:r>
              <a:rPr lang="zh-CN" altLang="en-US" sz="2800" b="1"/>
              <a:t>；</a:t>
            </a:r>
            <a:r>
              <a:rPr lang="en-US" altLang="zh-CN" sz="2800" b="1"/>
              <a:t>B2</a:t>
            </a:r>
            <a:r>
              <a:rPr lang="zh-CN" altLang="en-US" sz="2800" b="1"/>
              <a:t>首地址传给</a:t>
            </a:r>
            <a:r>
              <a:rPr lang="en-US" altLang="zh-CN" sz="2800" b="1"/>
              <a:t>AR1</a:t>
            </a:r>
          </a:p>
          <a:p>
            <a:pPr algn="just"/>
            <a:r>
              <a:rPr lang="en-US" altLang="zh-CN" sz="2800" b="1"/>
              <a:t>         </a:t>
            </a:r>
            <a:r>
              <a:rPr lang="en-US" altLang="zh-CN" sz="2800" b="1">
                <a:solidFill>
                  <a:schemeClr val="tx2"/>
                </a:solidFill>
              </a:rPr>
              <a:t>RPT      #4                </a:t>
            </a:r>
            <a:r>
              <a:rPr lang="zh-CN" altLang="en-US" sz="2800" b="1">
                <a:solidFill>
                  <a:schemeClr val="tx2"/>
                </a:solidFill>
              </a:rPr>
              <a:t>；重复</a:t>
            </a:r>
            <a:r>
              <a:rPr lang="en-US" altLang="zh-CN" sz="2800" b="1">
                <a:solidFill>
                  <a:schemeClr val="tx2"/>
                </a:solidFill>
              </a:rPr>
              <a:t>5</a:t>
            </a:r>
            <a:r>
              <a:rPr lang="zh-CN" altLang="en-US" sz="2800" b="1">
                <a:solidFill>
                  <a:schemeClr val="tx2"/>
                </a:solidFill>
              </a:rPr>
              <a:t>次下条指令</a:t>
            </a:r>
          </a:p>
          <a:p>
            <a:pPr algn="just"/>
            <a:r>
              <a:rPr lang="zh-CN" altLang="en-US" sz="2800" b="1">
                <a:solidFill>
                  <a:schemeClr val="tx2"/>
                </a:solidFill>
              </a:rPr>
              <a:t>         </a:t>
            </a:r>
            <a:r>
              <a:rPr lang="en-US" altLang="zh-CN" sz="2800" b="1">
                <a:solidFill>
                  <a:schemeClr val="tx2"/>
                </a:solidFill>
              </a:rPr>
              <a:t>MVPD  #table+2,*AR1+ </a:t>
            </a:r>
            <a:r>
              <a:rPr lang="zh-CN" altLang="en-US" sz="2800" b="1">
                <a:solidFill>
                  <a:schemeClr val="tx2"/>
                </a:solidFill>
              </a:rPr>
              <a:t>；用</a:t>
            </a:r>
            <a:r>
              <a:rPr lang="en-US" altLang="zh-CN" sz="2800" b="1">
                <a:solidFill>
                  <a:schemeClr val="tx2"/>
                </a:solidFill>
              </a:rPr>
              <a:t>5</a:t>
            </a:r>
            <a:r>
              <a:rPr lang="zh-CN" altLang="en-US" sz="2800" b="1">
                <a:solidFill>
                  <a:schemeClr val="tx2"/>
                </a:solidFill>
              </a:rPr>
              <a:t>个系数对</a:t>
            </a:r>
          </a:p>
          <a:p>
            <a:pPr algn="just"/>
            <a:r>
              <a:rPr lang="zh-CN" altLang="en-US" sz="2800" b="1">
                <a:solidFill>
                  <a:schemeClr val="tx2"/>
                </a:solidFill>
              </a:rPr>
              <a:t>                                           ； </a:t>
            </a:r>
            <a:r>
              <a:rPr lang="en-US" altLang="zh-CN" sz="2800" b="1">
                <a:solidFill>
                  <a:schemeClr val="tx2"/>
                </a:solidFill>
              </a:rPr>
              <a:t>B2,B1,B0,A2,A1</a:t>
            </a:r>
            <a:r>
              <a:rPr lang="zh-CN" altLang="en-US" sz="2800" b="1">
                <a:solidFill>
                  <a:schemeClr val="tx2"/>
                </a:solidFill>
              </a:rPr>
              <a:t>单元赋值</a:t>
            </a:r>
          </a:p>
        </p:txBody>
      </p:sp>
      <p:pic>
        <p:nvPicPr>
          <p:cNvPr id="1095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188913"/>
            <a:ext cx="2474912" cy="13477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90882"/>
                                        </p:tgtEl>
                                        <p:attrNameLst>
                                          <p:attrName>style.visibility</p:attrName>
                                        </p:attrNameLst>
                                      </p:cBhvr>
                                      <p:to>
                                        <p:strVal val="visible"/>
                                      </p:to>
                                    </p:set>
                                    <p:animEffect transition="in" filter="blinds(horizontal)">
                                      <p:cBhvr>
                                        <p:cTn id="7" dur="500"/>
                                        <p:tgtEl>
                                          <p:spTgt spid="890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882"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E743AF5-71C4-4012-94A6-0D3D844AFBF4}" type="slidenum">
              <a:rPr lang="en-US" altLang="zh-CN" sz="1400"/>
              <a:pPr eaLnBrk="1" hangingPunct="1"/>
              <a:t>106</a:t>
            </a:fld>
            <a:endParaRPr lang="en-US" altLang="zh-CN" sz="1400"/>
          </a:p>
        </p:txBody>
      </p:sp>
      <p:sp>
        <p:nvSpPr>
          <p:cNvPr id="891906" name="Rectangle 2"/>
          <p:cNvSpPr>
            <a:spLocks noChangeArrowheads="1"/>
          </p:cNvSpPr>
          <p:nvPr/>
        </p:nvSpPr>
        <p:spPr bwMode="auto">
          <a:xfrm>
            <a:off x="381000" y="1219200"/>
            <a:ext cx="8458200" cy="531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10000"/>
              </a:spcBef>
            </a:pPr>
            <a:r>
              <a:rPr lang="en-US" altLang="zh-CN" b="1"/>
              <a:t>IIR1: </a:t>
            </a:r>
            <a:r>
              <a:rPr lang="en-US" altLang="zh-CN" b="1">
                <a:solidFill>
                  <a:srgbClr val="FF6600"/>
                </a:solidFill>
              </a:rPr>
              <a:t>PORTR PA1,@x0   </a:t>
            </a:r>
            <a:r>
              <a:rPr lang="zh-CN" altLang="en-US" b="1">
                <a:solidFill>
                  <a:srgbClr val="FF6600"/>
                </a:solidFill>
              </a:rPr>
              <a:t>；从</a:t>
            </a:r>
            <a:r>
              <a:rPr lang="en-US" altLang="zh-CN" b="1">
                <a:solidFill>
                  <a:srgbClr val="FF6600"/>
                </a:solidFill>
              </a:rPr>
              <a:t>PA1</a:t>
            </a:r>
            <a:r>
              <a:rPr lang="zh-CN" altLang="en-US" b="1">
                <a:solidFill>
                  <a:srgbClr val="FF6600"/>
                </a:solidFill>
              </a:rPr>
              <a:t>输入数据到</a:t>
            </a:r>
            <a:r>
              <a:rPr lang="en-US" altLang="zh-CN" b="1">
                <a:solidFill>
                  <a:srgbClr val="FF6600"/>
                </a:solidFill>
              </a:rPr>
              <a:t>x</a:t>
            </a:r>
            <a:r>
              <a:rPr lang="zh-CN" altLang="en-US" b="1">
                <a:solidFill>
                  <a:srgbClr val="FF6600"/>
                </a:solidFill>
              </a:rPr>
              <a:t>（</a:t>
            </a:r>
            <a:r>
              <a:rPr lang="en-US" altLang="zh-CN" b="1">
                <a:solidFill>
                  <a:srgbClr val="FF6600"/>
                </a:solidFill>
              </a:rPr>
              <a:t>n</a:t>
            </a:r>
            <a:r>
              <a:rPr lang="zh-CN" altLang="en-US" b="1">
                <a:solidFill>
                  <a:srgbClr val="FF6600"/>
                </a:solidFill>
              </a:rPr>
              <a:t>）</a:t>
            </a:r>
          </a:p>
          <a:p>
            <a:pPr>
              <a:lnSpc>
                <a:spcPct val="80000"/>
              </a:lnSpc>
              <a:spcBef>
                <a:spcPct val="10000"/>
              </a:spcBef>
            </a:pPr>
            <a:r>
              <a:rPr lang="zh-CN" altLang="en-US" b="1"/>
              <a:t>         </a:t>
            </a:r>
            <a:r>
              <a:rPr lang="en-US" altLang="zh-CN" b="1">
                <a:solidFill>
                  <a:srgbClr val="FF00FF"/>
                </a:solidFill>
              </a:rPr>
              <a:t>LD     </a:t>
            </a:r>
            <a:r>
              <a:rPr lang="en-US" altLang="zh-CN" b="1">
                <a:solidFill>
                  <a:schemeClr val="bg1"/>
                </a:solidFill>
              </a:rPr>
              <a:t> </a:t>
            </a:r>
            <a:r>
              <a:rPr lang="en-US" altLang="zh-CN" b="1">
                <a:solidFill>
                  <a:srgbClr val="FF00FF"/>
                </a:solidFill>
              </a:rPr>
              <a:t>@x0,16,A</a:t>
            </a:r>
            <a:r>
              <a:rPr lang="en-US" altLang="zh-CN" b="1"/>
              <a:t>     </a:t>
            </a:r>
            <a:r>
              <a:rPr lang="zh-CN" altLang="en-US" b="1"/>
              <a:t>；计算反馈通道</a:t>
            </a:r>
            <a:r>
              <a:rPr lang="en-US" altLang="zh-CN" b="1"/>
              <a:t>,x0</a:t>
            </a:r>
            <a:r>
              <a:rPr lang="zh-CN" altLang="en-US" b="1"/>
              <a:t>送</a:t>
            </a:r>
            <a:r>
              <a:rPr lang="en-US" altLang="zh-CN" b="1"/>
              <a:t>A</a:t>
            </a:r>
            <a:r>
              <a:rPr lang="zh-CN" altLang="en-US" b="1"/>
              <a:t>的</a:t>
            </a:r>
            <a:r>
              <a:rPr lang="en-US" altLang="zh-CN" b="1"/>
              <a:t>16</a:t>
            </a:r>
            <a:r>
              <a:rPr lang="zh-CN" altLang="en-US" b="1"/>
              <a:t>位高端字</a:t>
            </a:r>
          </a:p>
          <a:p>
            <a:pPr>
              <a:lnSpc>
                <a:spcPct val="80000"/>
              </a:lnSpc>
              <a:spcBef>
                <a:spcPct val="10000"/>
              </a:spcBef>
            </a:pPr>
            <a:r>
              <a:rPr lang="zh-CN" altLang="en-US" b="1"/>
              <a:t>         </a:t>
            </a:r>
            <a:r>
              <a:rPr lang="en-US" altLang="zh-CN" b="1">
                <a:solidFill>
                  <a:srgbClr val="FF00FF"/>
                </a:solidFill>
              </a:rPr>
              <a:t>LD      @x1,T</a:t>
            </a:r>
            <a:r>
              <a:rPr lang="en-US" altLang="zh-CN" b="1"/>
              <a:t>          </a:t>
            </a:r>
            <a:r>
              <a:rPr lang="zh-CN" altLang="en-US" b="1"/>
              <a:t>；</a:t>
            </a:r>
            <a:r>
              <a:rPr lang="en-US" altLang="zh-CN" b="1"/>
              <a:t>x1</a:t>
            </a:r>
            <a:r>
              <a:rPr lang="zh-CN" altLang="en-US" b="1"/>
              <a:t>送</a:t>
            </a:r>
            <a:r>
              <a:rPr lang="en-US" altLang="zh-CN" b="1"/>
              <a:t>T</a:t>
            </a:r>
            <a:r>
              <a:rPr lang="zh-CN" altLang="en-US" b="1"/>
              <a:t>寄存器</a:t>
            </a:r>
          </a:p>
          <a:p>
            <a:pPr>
              <a:lnSpc>
                <a:spcPct val="80000"/>
              </a:lnSpc>
              <a:spcBef>
                <a:spcPct val="10000"/>
              </a:spcBef>
            </a:pPr>
            <a:r>
              <a:rPr lang="zh-CN" altLang="en-US" b="1"/>
              <a:t>         </a:t>
            </a:r>
            <a:r>
              <a:rPr lang="en-US" altLang="zh-CN" b="1">
                <a:solidFill>
                  <a:srgbClr val="FF00FF"/>
                </a:solidFill>
              </a:rPr>
              <a:t>MAC  @A1,A</a:t>
            </a:r>
            <a:r>
              <a:rPr lang="en-US" altLang="zh-CN" b="1"/>
              <a:t>         </a:t>
            </a:r>
            <a:r>
              <a:rPr lang="zh-CN" altLang="en-US" b="1"/>
              <a:t>；</a:t>
            </a:r>
            <a:r>
              <a:rPr lang="en-US" altLang="zh-CN" b="1"/>
              <a:t>x0+x1*A1→A</a:t>
            </a:r>
          </a:p>
          <a:p>
            <a:pPr>
              <a:lnSpc>
                <a:spcPct val="80000"/>
              </a:lnSpc>
              <a:spcBef>
                <a:spcPct val="10000"/>
              </a:spcBef>
            </a:pPr>
            <a:r>
              <a:rPr lang="en-US" altLang="zh-CN" b="1"/>
              <a:t>         </a:t>
            </a:r>
            <a:r>
              <a:rPr lang="en-US" altLang="zh-CN" b="1">
                <a:solidFill>
                  <a:schemeClr val="folHlink"/>
                </a:solidFill>
              </a:rPr>
              <a:t>LD      @x2,T          </a:t>
            </a:r>
            <a:r>
              <a:rPr lang="zh-CN" altLang="en-US" b="1">
                <a:solidFill>
                  <a:schemeClr val="folHlink"/>
                </a:solidFill>
              </a:rPr>
              <a:t>；</a:t>
            </a:r>
            <a:r>
              <a:rPr lang="en-US" altLang="zh-CN" b="1">
                <a:solidFill>
                  <a:schemeClr val="folHlink"/>
                </a:solidFill>
              </a:rPr>
              <a:t>x2</a:t>
            </a:r>
            <a:r>
              <a:rPr lang="zh-CN" altLang="en-US" b="1">
                <a:solidFill>
                  <a:schemeClr val="folHlink"/>
                </a:solidFill>
              </a:rPr>
              <a:t>送</a:t>
            </a:r>
            <a:r>
              <a:rPr lang="en-US" altLang="zh-CN" b="1">
                <a:solidFill>
                  <a:schemeClr val="folHlink"/>
                </a:solidFill>
              </a:rPr>
              <a:t>T</a:t>
            </a:r>
            <a:r>
              <a:rPr lang="zh-CN" altLang="en-US" b="1">
                <a:solidFill>
                  <a:schemeClr val="folHlink"/>
                </a:solidFill>
              </a:rPr>
              <a:t>寄存器</a:t>
            </a:r>
          </a:p>
          <a:p>
            <a:pPr>
              <a:lnSpc>
                <a:spcPct val="80000"/>
              </a:lnSpc>
              <a:spcBef>
                <a:spcPct val="10000"/>
              </a:spcBef>
            </a:pPr>
            <a:r>
              <a:rPr lang="zh-CN" altLang="en-US" b="1">
                <a:solidFill>
                  <a:schemeClr val="folHlink"/>
                </a:solidFill>
              </a:rPr>
              <a:t>         </a:t>
            </a:r>
            <a:r>
              <a:rPr lang="en-US" altLang="zh-CN" b="1">
                <a:solidFill>
                  <a:schemeClr val="folHlink"/>
                </a:solidFill>
              </a:rPr>
              <a:t>MAC  @A2,A         </a:t>
            </a:r>
            <a:r>
              <a:rPr lang="zh-CN" altLang="en-US" b="1">
                <a:solidFill>
                  <a:schemeClr val="folHlink"/>
                </a:solidFill>
              </a:rPr>
              <a:t>；</a:t>
            </a:r>
            <a:r>
              <a:rPr lang="en-US" altLang="zh-CN" b="1">
                <a:solidFill>
                  <a:schemeClr val="folHlink"/>
                </a:solidFill>
              </a:rPr>
              <a:t>x0+x1*A1+x2*A2→A</a:t>
            </a:r>
          </a:p>
          <a:p>
            <a:pPr>
              <a:lnSpc>
                <a:spcPct val="80000"/>
              </a:lnSpc>
              <a:spcBef>
                <a:spcPct val="10000"/>
              </a:spcBef>
            </a:pPr>
            <a:r>
              <a:rPr lang="en-US" altLang="zh-CN" b="1"/>
              <a:t>         </a:t>
            </a:r>
            <a:r>
              <a:rPr lang="en-US" altLang="zh-CN" b="1">
                <a:solidFill>
                  <a:srgbClr val="FF0000"/>
                </a:solidFill>
              </a:rPr>
              <a:t>STH    A,@x0         </a:t>
            </a:r>
            <a:r>
              <a:rPr lang="zh-CN" altLang="en-US" b="1">
                <a:solidFill>
                  <a:srgbClr val="FF0000"/>
                </a:solidFill>
              </a:rPr>
              <a:t>；暂存</a:t>
            </a:r>
            <a:r>
              <a:rPr lang="en-US" altLang="zh-CN" b="1">
                <a:solidFill>
                  <a:srgbClr val="FF0000"/>
                </a:solidFill>
              </a:rPr>
              <a:t>x0+x1*A1+x2*A2→x0</a:t>
            </a:r>
            <a:r>
              <a:rPr lang="zh-CN" altLang="en-US" b="1">
                <a:solidFill>
                  <a:srgbClr val="FF0000"/>
                </a:solidFill>
              </a:rPr>
              <a:t>单元</a:t>
            </a:r>
          </a:p>
          <a:p>
            <a:pPr>
              <a:lnSpc>
                <a:spcPct val="80000"/>
              </a:lnSpc>
              <a:spcBef>
                <a:spcPct val="10000"/>
              </a:spcBef>
            </a:pPr>
            <a:r>
              <a:rPr lang="zh-CN" altLang="en-US" b="1"/>
              <a:t>         </a:t>
            </a:r>
            <a:r>
              <a:rPr lang="en-US" altLang="zh-CN" b="1">
                <a:solidFill>
                  <a:schemeClr val="tx2"/>
                </a:solidFill>
              </a:rPr>
              <a:t>MPY   @B2,A</a:t>
            </a:r>
            <a:r>
              <a:rPr lang="en-US" altLang="zh-CN" b="1"/>
              <a:t>        </a:t>
            </a:r>
            <a:r>
              <a:rPr lang="zh-CN" altLang="en-US" b="1"/>
              <a:t>；计算前向通道</a:t>
            </a:r>
            <a:r>
              <a:rPr lang="en-US" altLang="zh-CN" b="1"/>
              <a:t>,x2*B2→A</a:t>
            </a:r>
          </a:p>
          <a:p>
            <a:pPr>
              <a:lnSpc>
                <a:spcPct val="80000"/>
              </a:lnSpc>
              <a:spcBef>
                <a:spcPct val="10000"/>
              </a:spcBef>
            </a:pPr>
            <a:r>
              <a:rPr lang="en-US" altLang="zh-CN" b="1"/>
              <a:t>         </a:t>
            </a:r>
            <a:r>
              <a:rPr lang="en-US" altLang="zh-CN" b="1">
                <a:solidFill>
                  <a:srgbClr val="660066"/>
                </a:solidFill>
              </a:rPr>
              <a:t>LTD    @x1             </a:t>
            </a:r>
            <a:r>
              <a:rPr lang="zh-CN" altLang="en-US" b="1">
                <a:solidFill>
                  <a:srgbClr val="660066"/>
                </a:solidFill>
              </a:rPr>
              <a:t>；</a:t>
            </a:r>
            <a:r>
              <a:rPr lang="en-US" altLang="zh-CN" b="1">
                <a:solidFill>
                  <a:srgbClr val="660066"/>
                </a:solidFill>
              </a:rPr>
              <a:t>x1</a:t>
            </a:r>
            <a:r>
              <a:rPr lang="zh-CN" altLang="en-US" b="1">
                <a:solidFill>
                  <a:srgbClr val="660066"/>
                </a:solidFill>
              </a:rPr>
              <a:t>送</a:t>
            </a:r>
            <a:r>
              <a:rPr lang="en-US" altLang="zh-CN" b="1">
                <a:solidFill>
                  <a:srgbClr val="660066"/>
                </a:solidFill>
              </a:rPr>
              <a:t>T</a:t>
            </a:r>
            <a:r>
              <a:rPr lang="zh-CN" altLang="en-US" b="1">
                <a:solidFill>
                  <a:srgbClr val="660066"/>
                </a:solidFill>
              </a:rPr>
              <a:t>寄存器</a:t>
            </a:r>
            <a:r>
              <a:rPr lang="en-US" altLang="zh-CN" b="1">
                <a:solidFill>
                  <a:srgbClr val="660066"/>
                </a:solidFill>
              </a:rPr>
              <a:t>,x1</a:t>
            </a:r>
            <a:r>
              <a:rPr lang="zh-CN" altLang="en-US" b="1">
                <a:solidFill>
                  <a:srgbClr val="660066"/>
                </a:solidFill>
              </a:rPr>
              <a:t>移至</a:t>
            </a:r>
            <a:r>
              <a:rPr lang="en-US" altLang="zh-CN" b="1">
                <a:solidFill>
                  <a:srgbClr val="660066"/>
                </a:solidFill>
              </a:rPr>
              <a:t>x2</a:t>
            </a:r>
            <a:r>
              <a:rPr lang="zh-CN" altLang="en-US" b="1">
                <a:solidFill>
                  <a:srgbClr val="660066"/>
                </a:solidFill>
              </a:rPr>
              <a:t>单元</a:t>
            </a:r>
          </a:p>
          <a:p>
            <a:pPr>
              <a:lnSpc>
                <a:spcPct val="80000"/>
              </a:lnSpc>
              <a:spcBef>
                <a:spcPct val="10000"/>
              </a:spcBef>
            </a:pPr>
            <a:r>
              <a:rPr lang="zh-CN" altLang="en-US" b="1">
                <a:solidFill>
                  <a:srgbClr val="660066"/>
                </a:solidFill>
              </a:rPr>
              <a:t>         </a:t>
            </a:r>
            <a:r>
              <a:rPr lang="en-US" altLang="zh-CN" b="1">
                <a:solidFill>
                  <a:srgbClr val="660066"/>
                </a:solidFill>
              </a:rPr>
              <a:t>MAC   @B1,A        </a:t>
            </a:r>
            <a:r>
              <a:rPr lang="zh-CN" altLang="en-US" b="1">
                <a:solidFill>
                  <a:srgbClr val="660066"/>
                </a:solidFill>
              </a:rPr>
              <a:t>；</a:t>
            </a:r>
            <a:r>
              <a:rPr lang="en-US" altLang="zh-CN" b="1">
                <a:solidFill>
                  <a:srgbClr val="660066"/>
                </a:solidFill>
              </a:rPr>
              <a:t>x2*B2+x1*B1→A</a:t>
            </a:r>
          </a:p>
          <a:p>
            <a:pPr>
              <a:lnSpc>
                <a:spcPct val="80000"/>
              </a:lnSpc>
              <a:spcBef>
                <a:spcPct val="10000"/>
              </a:spcBef>
            </a:pPr>
            <a:r>
              <a:rPr lang="en-US" altLang="zh-CN" b="1"/>
              <a:t>         </a:t>
            </a:r>
            <a:r>
              <a:rPr lang="en-US" altLang="zh-CN" b="1">
                <a:solidFill>
                  <a:srgbClr val="FF00FF"/>
                </a:solidFill>
              </a:rPr>
              <a:t>LTD    @x0             </a:t>
            </a:r>
            <a:r>
              <a:rPr lang="zh-CN" altLang="en-US" b="1">
                <a:solidFill>
                  <a:srgbClr val="FF00FF"/>
                </a:solidFill>
              </a:rPr>
              <a:t>；</a:t>
            </a:r>
            <a:r>
              <a:rPr lang="en-US" altLang="zh-CN" b="1">
                <a:solidFill>
                  <a:srgbClr val="FF00FF"/>
                </a:solidFill>
              </a:rPr>
              <a:t>x0</a:t>
            </a:r>
            <a:r>
              <a:rPr lang="zh-CN" altLang="en-US" b="1">
                <a:solidFill>
                  <a:srgbClr val="FF00FF"/>
                </a:solidFill>
              </a:rPr>
              <a:t>送</a:t>
            </a:r>
            <a:r>
              <a:rPr lang="en-US" altLang="zh-CN" b="1">
                <a:solidFill>
                  <a:srgbClr val="FF00FF"/>
                </a:solidFill>
              </a:rPr>
              <a:t>T</a:t>
            </a:r>
            <a:r>
              <a:rPr lang="zh-CN" altLang="en-US" b="1">
                <a:solidFill>
                  <a:srgbClr val="FF00FF"/>
                </a:solidFill>
              </a:rPr>
              <a:t>寄存器</a:t>
            </a:r>
            <a:r>
              <a:rPr lang="en-US" altLang="zh-CN" b="1">
                <a:solidFill>
                  <a:srgbClr val="FF00FF"/>
                </a:solidFill>
              </a:rPr>
              <a:t>,x0</a:t>
            </a:r>
            <a:r>
              <a:rPr lang="zh-CN" altLang="en-US" b="1">
                <a:solidFill>
                  <a:srgbClr val="FF00FF"/>
                </a:solidFill>
              </a:rPr>
              <a:t>移至</a:t>
            </a:r>
            <a:r>
              <a:rPr lang="en-US" altLang="zh-CN" b="1">
                <a:solidFill>
                  <a:srgbClr val="FF00FF"/>
                </a:solidFill>
              </a:rPr>
              <a:t>x1</a:t>
            </a:r>
            <a:r>
              <a:rPr lang="zh-CN" altLang="en-US" b="1">
                <a:solidFill>
                  <a:srgbClr val="FF00FF"/>
                </a:solidFill>
              </a:rPr>
              <a:t>单元</a:t>
            </a:r>
          </a:p>
          <a:p>
            <a:pPr>
              <a:lnSpc>
                <a:spcPct val="80000"/>
              </a:lnSpc>
              <a:spcBef>
                <a:spcPct val="10000"/>
              </a:spcBef>
            </a:pPr>
            <a:r>
              <a:rPr lang="zh-CN" altLang="en-US" b="1">
                <a:solidFill>
                  <a:srgbClr val="FF00FF"/>
                </a:solidFill>
              </a:rPr>
              <a:t>         </a:t>
            </a:r>
            <a:r>
              <a:rPr lang="en-US" altLang="zh-CN" b="1">
                <a:solidFill>
                  <a:srgbClr val="FF00FF"/>
                </a:solidFill>
              </a:rPr>
              <a:t>MAC   @B0,A        </a:t>
            </a:r>
            <a:r>
              <a:rPr lang="zh-CN" altLang="en-US" b="1">
                <a:solidFill>
                  <a:srgbClr val="FF00FF"/>
                </a:solidFill>
              </a:rPr>
              <a:t>；</a:t>
            </a:r>
            <a:r>
              <a:rPr lang="en-US" altLang="zh-CN" b="1">
                <a:solidFill>
                  <a:srgbClr val="FF00FF"/>
                </a:solidFill>
              </a:rPr>
              <a:t>x2*B2+x1*B1+x0*B0→A</a:t>
            </a:r>
          </a:p>
          <a:p>
            <a:pPr>
              <a:lnSpc>
                <a:spcPct val="80000"/>
              </a:lnSpc>
              <a:spcBef>
                <a:spcPct val="10000"/>
              </a:spcBef>
            </a:pPr>
            <a:r>
              <a:rPr lang="en-US" altLang="zh-CN" b="1"/>
              <a:t>         </a:t>
            </a:r>
            <a:r>
              <a:rPr lang="en-US" altLang="zh-CN" b="1">
                <a:solidFill>
                  <a:srgbClr val="FF0000"/>
                </a:solidFill>
              </a:rPr>
              <a:t>STH  A,@x0           </a:t>
            </a:r>
            <a:r>
              <a:rPr lang="zh-CN" altLang="en-US" b="1">
                <a:solidFill>
                  <a:srgbClr val="FF0000"/>
                </a:solidFill>
              </a:rPr>
              <a:t>；</a:t>
            </a:r>
            <a:r>
              <a:rPr lang="zh-CN" altLang="en-US" sz="2000" b="1">
                <a:solidFill>
                  <a:srgbClr val="FF0000"/>
                </a:solidFill>
              </a:rPr>
              <a:t>暂存</a:t>
            </a:r>
            <a:r>
              <a:rPr lang="en-US" altLang="zh-CN" sz="2000" b="1">
                <a:solidFill>
                  <a:srgbClr val="FF0000"/>
                </a:solidFill>
              </a:rPr>
              <a:t>y</a:t>
            </a:r>
            <a:r>
              <a:rPr lang="zh-CN" altLang="en-US" sz="2000" b="1">
                <a:solidFill>
                  <a:srgbClr val="FF0000"/>
                </a:solidFill>
              </a:rPr>
              <a:t>（</a:t>
            </a:r>
            <a:r>
              <a:rPr lang="en-US" altLang="zh-CN" sz="2000" b="1">
                <a:solidFill>
                  <a:srgbClr val="FF0000"/>
                </a:solidFill>
              </a:rPr>
              <a:t>n</a:t>
            </a:r>
            <a:r>
              <a:rPr lang="zh-CN" altLang="en-US" sz="2000" b="1">
                <a:solidFill>
                  <a:srgbClr val="FF0000"/>
                </a:solidFill>
              </a:rPr>
              <a:t>）</a:t>
            </a:r>
            <a:r>
              <a:rPr lang="en-US" altLang="zh-CN" sz="2000" b="1">
                <a:solidFill>
                  <a:srgbClr val="FF0000"/>
                </a:solidFill>
              </a:rPr>
              <a:t>=x2*B2+x1*B1+x0*B0→x0</a:t>
            </a:r>
            <a:r>
              <a:rPr lang="zh-CN" altLang="en-US" sz="2000" b="1">
                <a:solidFill>
                  <a:srgbClr val="FF0000"/>
                </a:solidFill>
              </a:rPr>
              <a:t>单元</a:t>
            </a:r>
          </a:p>
          <a:p>
            <a:pPr>
              <a:lnSpc>
                <a:spcPct val="80000"/>
              </a:lnSpc>
              <a:spcBef>
                <a:spcPct val="10000"/>
              </a:spcBef>
            </a:pPr>
            <a:r>
              <a:rPr lang="zh-CN" altLang="en-US" b="1"/>
              <a:t>         </a:t>
            </a:r>
            <a:r>
              <a:rPr lang="en-US" altLang="zh-CN" b="1"/>
              <a:t>BD       IIR1            </a:t>
            </a:r>
            <a:r>
              <a:rPr lang="zh-CN" altLang="en-US" b="1"/>
              <a:t>；执行完下条指令后循环</a:t>
            </a:r>
          </a:p>
          <a:p>
            <a:pPr>
              <a:lnSpc>
                <a:spcPct val="80000"/>
              </a:lnSpc>
              <a:spcBef>
                <a:spcPct val="10000"/>
              </a:spcBef>
            </a:pPr>
            <a:r>
              <a:rPr lang="zh-CN" altLang="en-US" b="1"/>
              <a:t>         </a:t>
            </a:r>
            <a:r>
              <a:rPr lang="en-US" altLang="zh-CN" b="1">
                <a:solidFill>
                  <a:srgbClr val="FF6600"/>
                </a:solidFill>
              </a:rPr>
              <a:t>PORTW  @x0,PA0   </a:t>
            </a:r>
            <a:r>
              <a:rPr lang="zh-CN" altLang="en-US" b="1">
                <a:solidFill>
                  <a:srgbClr val="FF6600"/>
                </a:solidFill>
              </a:rPr>
              <a:t>；给出结果</a:t>
            </a:r>
            <a:r>
              <a:rPr lang="en-US" altLang="zh-CN" b="1">
                <a:solidFill>
                  <a:srgbClr val="FF6600"/>
                </a:solidFill>
              </a:rPr>
              <a:t>y</a:t>
            </a:r>
            <a:r>
              <a:rPr lang="zh-CN" altLang="en-US" b="1">
                <a:solidFill>
                  <a:srgbClr val="FF6600"/>
                </a:solidFill>
              </a:rPr>
              <a:t>（</a:t>
            </a:r>
            <a:r>
              <a:rPr lang="en-US" altLang="zh-CN" b="1">
                <a:solidFill>
                  <a:srgbClr val="FF6600"/>
                </a:solidFill>
              </a:rPr>
              <a:t>n</a:t>
            </a:r>
            <a:r>
              <a:rPr lang="zh-CN" altLang="en-US" b="1">
                <a:solidFill>
                  <a:srgbClr val="FF6600"/>
                </a:solidFill>
              </a:rPr>
              <a:t>）到</a:t>
            </a:r>
            <a:r>
              <a:rPr lang="en-US" altLang="zh-CN" b="1">
                <a:solidFill>
                  <a:srgbClr val="FF6600"/>
                </a:solidFill>
              </a:rPr>
              <a:t>PA0</a:t>
            </a:r>
            <a:r>
              <a:rPr lang="zh-CN" altLang="en-US" b="1">
                <a:solidFill>
                  <a:srgbClr val="FF6600"/>
                </a:solidFill>
              </a:rPr>
              <a:t>端口</a:t>
            </a:r>
          </a:p>
          <a:p>
            <a:pPr>
              <a:lnSpc>
                <a:spcPct val="80000"/>
              </a:lnSpc>
              <a:spcBef>
                <a:spcPct val="10000"/>
              </a:spcBef>
            </a:pPr>
            <a:r>
              <a:rPr lang="zh-CN" altLang="en-US" b="1"/>
              <a:t>         </a:t>
            </a:r>
            <a:r>
              <a:rPr lang="en-US" altLang="zh-CN" b="1"/>
              <a:t>.end</a:t>
            </a:r>
          </a:p>
        </p:txBody>
      </p:sp>
      <p:sp>
        <p:nvSpPr>
          <p:cNvPr id="891907" name="Rectangle 3" descr="小棋盘"/>
          <p:cNvSpPr>
            <a:spLocks noChangeArrowheads="1"/>
          </p:cNvSpPr>
          <p:nvPr/>
        </p:nvSpPr>
        <p:spPr bwMode="auto">
          <a:xfrm>
            <a:off x="179388" y="1700213"/>
            <a:ext cx="576262" cy="16383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后向运算</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110597" name="AutoShape 4"/>
          <p:cNvSpPr>
            <a:spLocks/>
          </p:cNvSpPr>
          <p:nvPr/>
        </p:nvSpPr>
        <p:spPr bwMode="auto">
          <a:xfrm>
            <a:off x="900113" y="1700213"/>
            <a:ext cx="142875" cy="1657350"/>
          </a:xfrm>
          <a:prstGeom prst="leftBrace">
            <a:avLst>
              <a:gd name="adj1" fmla="val 96667"/>
              <a:gd name="adj2"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91909" name="Rectangle 5" descr="小棋盘"/>
          <p:cNvSpPr>
            <a:spLocks noChangeArrowheads="1"/>
          </p:cNvSpPr>
          <p:nvPr/>
        </p:nvSpPr>
        <p:spPr bwMode="auto">
          <a:xfrm>
            <a:off x="179388" y="3716338"/>
            <a:ext cx="576262" cy="16383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前向运算</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110599" name="AutoShape 6"/>
          <p:cNvSpPr>
            <a:spLocks/>
          </p:cNvSpPr>
          <p:nvPr/>
        </p:nvSpPr>
        <p:spPr bwMode="auto">
          <a:xfrm>
            <a:off x="971550" y="3716338"/>
            <a:ext cx="142875" cy="1657350"/>
          </a:xfrm>
          <a:prstGeom prst="leftBrace">
            <a:avLst>
              <a:gd name="adj1" fmla="val 96667"/>
              <a:gd name="adj2"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110600"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9925" y="1916113"/>
            <a:ext cx="1319213"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01"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67625" y="3860800"/>
            <a:ext cx="1363663"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03"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0"/>
            <a:ext cx="2041525" cy="11128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91906"/>
                                        </p:tgtEl>
                                        <p:attrNameLst>
                                          <p:attrName>style.visibility</p:attrName>
                                        </p:attrNameLst>
                                      </p:cBhvr>
                                      <p:to>
                                        <p:strVal val="visible"/>
                                      </p:to>
                                    </p:set>
                                    <p:animEffect transition="in" filter="blinds(vertical)">
                                      <p:cBhvr>
                                        <p:cTn id="7" dur="500"/>
                                        <p:tgtEl>
                                          <p:spTgt spid="891906"/>
                                        </p:tgtEl>
                                      </p:cBhvr>
                                    </p:animEffect>
                                  </p:childTnLst>
                                </p:cTn>
                              </p:par>
                            </p:childTnLst>
                          </p:cTn>
                        </p:par>
                        <p:par>
                          <p:cTn id="8" fill="hold" nodeType="afterGroup">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891907"/>
                                        </p:tgtEl>
                                        <p:attrNameLst>
                                          <p:attrName>style.visibility</p:attrName>
                                        </p:attrNameLst>
                                      </p:cBhvr>
                                      <p:to>
                                        <p:strVal val="visible"/>
                                      </p:to>
                                    </p:set>
                                    <p:animEffect transition="in" filter="slide(fromTop)">
                                      <p:cBhvr>
                                        <p:cTn id="11" dur="500"/>
                                        <p:tgtEl>
                                          <p:spTgt spid="891907"/>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891909"/>
                                        </p:tgtEl>
                                        <p:attrNameLst>
                                          <p:attrName>style.visibility</p:attrName>
                                        </p:attrNameLst>
                                      </p:cBhvr>
                                      <p:to>
                                        <p:strVal val="visible"/>
                                      </p:to>
                                    </p:set>
                                    <p:animEffect transition="in" filter="slide(fromTop)">
                                      <p:cBhvr>
                                        <p:cTn id="15" dur="500"/>
                                        <p:tgtEl>
                                          <p:spTgt spid="891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906" grpId="0"/>
      <p:bldP spid="891907" grpId="0" animBg="1"/>
      <p:bldP spid="891909"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F1CDF64-EABC-4A3B-A5C8-A2EE1CDA013E}" type="slidenum">
              <a:rPr lang="en-US" altLang="zh-CN" sz="1400"/>
              <a:pPr eaLnBrk="1" hangingPunct="1"/>
              <a:t>107</a:t>
            </a:fld>
            <a:endParaRPr lang="en-US" altLang="zh-CN" sz="1400"/>
          </a:p>
        </p:txBody>
      </p:sp>
      <p:sp>
        <p:nvSpPr>
          <p:cNvPr id="892930" name="Rectangle 2" descr="小棋盘"/>
          <p:cNvSpPr>
            <a:spLocks noChangeArrowheads="1"/>
          </p:cNvSpPr>
          <p:nvPr/>
        </p:nvSpPr>
        <p:spPr bwMode="auto">
          <a:xfrm>
            <a:off x="539750" y="1125538"/>
            <a:ext cx="8064500" cy="588962"/>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FF0000"/>
                </a:solidFill>
                <a:latin typeface="宋体" panose="02010600030101010101" pitchFamily="2" charset="-122"/>
                <a:cs typeface="Times New Roman" panose="02020603050405020304" pitchFamily="18" charset="0"/>
              </a:rPr>
              <a:t>（</a:t>
            </a:r>
            <a:r>
              <a:rPr lang="en-US" altLang="zh-CN" sz="3200" b="1">
                <a:solidFill>
                  <a:srgbClr val="FF0000"/>
                </a:solidFill>
                <a:latin typeface="宋体" panose="02010600030101010101" pitchFamily="2" charset="-122"/>
                <a:cs typeface="Times New Roman" panose="02020603050405020304" pitchFamily="18" charset="0"/>
              </a:rPr>
              <a:t>2</a:t>
            </a:r>
            <a:r>
              <a:rPr lang="zh-CN" altLang="en-US" sz="3200" b="1">
                <a:solidFill>
                  <a:srgbClr val="FF0000"/>
                </a:solidFill>
                <a:latin typeface="宋体" panose="02010600030101010101" pitchFamily="2" charset="-122"/>
                <a:cs typeface="Times New Roman" panose="02020603050405020304" pitchFamily="18" charset="0"/>
              </a:rPr>
              <a:t>）二阶</a:t>
            </a:r>
            <a:r>
              <a:rPr lang="en-US" altLang="zh-CN" sz="3200" b="1">
                <a:solidFill>
                  <a:srgbClr val="FF0000"/>
                </a:solidFill>
                <a:latin typeface="宋体" panose="02010600030101010101" pitchFamily="2" charset="-122"/>
                <a:cs typeface="Times New Roman" panose="02020603050405020304" pitchFamily="18" charset="0"/>
              </a:rPr>
              <a:t>IIR</a:t>
            </a:r>
            <a:r>
              <a:rPr lang="zh-CN" altLang="en-US" sz="3200" b="1">
                <a:solidFill>
                  <a:srgbClr val="FF0000"/>
                </a:solidFill>
                <a:latin typeface="宋体" panose="02010600030101010101" pitchFamily="2" charset="-122"/>
                <a:cs typeface="Times New Roman" panose="02020603050405020304" pitchFamily="18" charset="0"/>
              </a:rPr>
              <a:t>滤波器的双操作数指令实现法 </a:t>
            </a:r>
          </a:p>
        </p:txBody>
      </p:sp>
      <p:sp>
        <p:nvSpPr>
          <p:cNvPr id="892931" name="Rectangle 3"/>
          <p:cNvSpPr>
            <a:spLocks noChangeArrowheads="1"/>
          </p:cNvSpPr>
          <p:nvPr/>
        </p:nvSpPr>
        <p:spPr bwMode="auto">
          <a:xfrm>
            <a:off x="971550" y="1844675"/>
            <a:ext cx="7924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宋体" panose="02010600030101010101" pitchFamily="2" charset="-122"/>
                <a:cs typeface="Times New Roman" panose="02020603050405020304" pitchFamily="18" charset="0"/>
              </a:rPr>
              <a:t>乘法累加运算利用双操作数指令，数据和系数表在数据存储器（</a:t>
            </a:r>
            <a:r>
              <a:rPr lang="en-US" altLang="zh-CN" sz="2800" b="1">
                <a:latin typeface="宋体" panose="02010600030101010101" pitchFamily="2" charset="-122"/>
                <a:cs typeface="Times New Roman" panose="02020603050405020304" pitchFamily="18" charset="0"/>
              </a:rPr>
              <a:t>DARAM</a:t>
            </a:r>
            <a:r>
              <a:rPr lang="zh-CN" altLang="en-US" sz="2800" b="1">
                <a:latin typeface="宋体" panose="02010600030101010101" pitchFamily="2" charset="-122"/>
                <a:cs typeface="Times New Roman" panose="02020603050405020304" pitchFamily="18" charset="0"/>
              </a:rPr>
              <a:t>），其存储器分配图如图： </a:t>
            </a:r>
          </a:p>
        </p:txBody>
      </p:sp>
      <p:sp>
        <p:nvSpPr>
          <p:cNvPr id="892933" name="Rectangle 5" descr="小棋盘"/>
          <p:cNvSpPr>
            <a:spLocks noChangeArrowheads="1"/>
          </p:cNvSpPr>
          <p:nvPr/>
        </p:nvSpPr>
        <p:spPr bwMode="auto">
          <a:xfrm>
            <a:off x="250825" y="1916113"/>
            <a:ext cx="576263" cy="869950"/>
          </a:xfrm>
          <a:prstGeom prst="rect">
            <a:avLst/>
          </a:prstGeom>
          <a:pattFill prst="smCheck">
            <a:fgClr>
              <a:schemeClr val="accent1"/>
            </a:fgClr>
            <a:bgClr>
              <a:srgbClr val="FFFFFF"/>
            </a:bgClr>
          </a:pattFill>
          <a:ln w="9525">
            <a:solidFill>
              <a:schemeClr val="hlink"/>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特  点</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111622" name="Text Box 7"/>
          <p:cNvSpPr txBox="1">
            <a:spLocks noChangeArrowheads="1"/>
          </p:cNvSpPr>
          <p:nvPr/>
        </p:nvSpPr>
        <p:spPr bwMode="auto">
          <a:xfrm>
            <a:off x="6661150" y="4221163"/>
            <a:ext cx="938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sz="2000" b="1">
                <a:solidFill>
                  <a:schemeClr val="tx2"/>
                </a:solidFill>
              </a:rPr>
              <a:t>COEF</a:t>
            </a:r>
            <a:endParaRPr lang="en-US" altLang="zh-CN" sz="2000" b="1" baseline="-25000">
              <a:solidFill>
                <a:schemeClr val="tx2"/>
              </a:solidFill>
            </a:endParaRPr>
          </a:p>
        </p:txBody>
      </p:sp>
      <p:sp>
        <p:nvSpPr>
          <p:cNvPr id="111623" name="Text Box 8"/>
          <p:cNvSpPr txBox="1">
            <a:spLocks noChangeArrowheads="1"/>
          </p:cNvSpPr>
          <p:nvPr/>
        </p:nvSpPr>
        <p:spPr bwMode="auto">
          <a:xfrm>
            <a:off x="7558088" y="422116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2</a:t>
            </a:r>
          </a:p>
        </p:txBody>
      </p:sp>
      <p:sp>
        <p:nvSpPr>
          <p:cNvPr id="111624" name="Text Box 9"/>
          <p:cNvSpPr txBox="1">
            <a:spLocks noChangeArrowheads="1"/>
          </p:cNvSpPr>
          <p:nvPr/>
        </p:nvSpPr>
        <p:spPr bwMode="auto">
          <a:xfrm>
            <a:off x="7558088" y="462121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1</a:t>
            </a:r>
          </a:p>
        </p:txBody>
      </p:sp>
      <p:sp>
        <p:nvSpPr>
          <p:cNvPr id="111625" name="Text Box 10"/>
          <p:cNvSpPr txBox="1">
            <a:spLocks noChangeArrowheads="1"/>
          </p:cNvSpPr>
          <p:nvPr/>
        </p:nvSpPr>
        <p:spPr bwMode="auto">
          <a:xfrm>
            <a:off x="7558088" y="5021263"/>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0</a:t>
            </a:r>
          </a:p>
        </p:txBody>
      </p:sp>
      <p:sp>
        <p:nvSpPr>
          <p:cNvPr id="111626" name="Text Box 11"/>
          <p:cNvSpPr txBox="1">
            <a:spLocks noChangeArrowheads="1"/>
          </p:cNvSpPr>
          <p:nvPr/>
        </p:nvSpPr>
        <p:spPr bwMode="auto">
          <a:xfrm>
            <a:off x="7558088" y="5422900"/>
            <a:ext cx="1081087"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2</a:t>
            </a:r>
          </a:p>
        </p:txBody>
      </p:sp>
      <p:sp>
        <p:nvSpPr>
          <p:cNvPr id="111627" name="Text Box 13"/>
          <p:cNvSpPr txBox="1">
            <a:spLocks noChangeArrowheads="1"/>
          </p:cNvSpPr>
          <p:nvPr/>
        </p:nvSpPr>
        <p:spPr bwMode="auto">
          <a:xfrm>
            <a:off x="7556500" y="5829300"/>
            <a:ext cx="1081088" cy="406400"/>
          </a:xfrm>
          <a:prstGeom prst="rect">
            <a:avLst/>
          </a:prstGeom>
          <a:solidFill>
            <a:srgbClr val="CCFFFF"/>
          </a:solid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A</a:t>
            </a:r>
            <a:r>
              <a:rPr lang="en-US" altLang="zh-CN" sz="2000" b="1" baseline="-25000">
                <a:solidFill>
                  <a:schemeClr val="folHlink"/>
                </a:solidFill>
              </a:rPr>
              <a:t>1</a:t>
            </a:r>
          </a:p>
        </p:txBody>
      </p:sp>
      <p:sp>
        <p:nvSpPr>
          <p:cNvPr id="111628" name="Text Box 14"/>
          <p:cNvSpPr txBox="1">
            <a:spLocks noChangeArrowheads="1"/>
          </p:cNvSpPr>
          <p:nvPr/>
        </p:nvSpPr>
        <p:spPr bwMode="auto">
          <a:xfrm>
            <a:off x="1797050" y="4654550"/>
            <a:ext cx="1081088"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a:t>
            </a:r>
            <a:r>
              <a:rPr lang="en-US" altLang="zh-CN" b="1" baseline="-25000">
                <a:solidFill>
                  <a:srgbClr val="FF6600"/>
                </a:solidFill>
              </a:rPr>
              <a:t>2</a:t>
            </a:r>
          </a:p>
        </p:txBody>
      </p:sp>
      <p:sp>
        <p:nvSpPr>
          <p:cNvPr id="111629" name="Text Box 15"/>
          <p:cNvSpPr txBox="1">
            <a:spLocks noChangeArrowheads="1"/>
          </p:cNvSpPr>
          <p:nvPr/>
        </p:nvSpPr>
        <p:spPr bwMode="auto">
          <a:xfrm>
            <a:off x="1797050" y="5054600"/>
            <a:ext cx="1081088"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a:t>
            </a:r>
            <a:r>
              <a:rPr lang="en-US" altLang="zh-CN" b="1" baseline="-25000">
                <a:solidFill>
                  <a:srgbClr val="FF6600"/>
                </a:solidFill>
              </a:rPr>
              <a:t>1</a:t>
            </a:r>
          </a:p>
        </p:txBody>
      </p:sp>
      <p:sp>
        <p:nvSpPr>
          <p:cNvPr id="111630" name="Text Box 16"/>
          <p:cNvSpPr txBox="1">
            <a:spLocks noChangeArrowheads="1"/>
          </p:cNvSpPr>
          <p:nvPr/>
        </p:nvSpPr>
        <p:spPr bwMode="auto">
          <a:xfrm>
            <a:off x="1797050" y="5454650"/>
            <a:ext cx="1081088"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a:t>
            </a:r>
            <a:r>
              <a:rPr lang="en-US" altLang="zh-CN" b="1" baseline="-25000">
                <a:solidFill>
                  <a:srgbClr val="FF6600"/>
                </a:solidFill>
              </a:rPr>
              <a:t>0</a:t>
            </a:r>
          </a:p>
        </p:txBody>
      </p:sp>
      <p:sp>
        <p:nvSpPr>
          <p:cNvPr id="111631" name="Text Box 17"/>
          <p:cNvSpPr txBox="1">
            <a:spLocks noChangeArrowheads="1"/>
          </p:cNvSpPr>
          <p:nvPr/>
        </p:nvSpPr>
        <p:spPr bwMode="auto">
          <a:xfrm>
            <a:off x="1547813" y="3573463"/>
            <a:ext cx="15113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zh-CN" altLang="en-US" sz="2000" b="1">
                <a:solidFill>
                  <a:srgbClr val="FF00FF"/>
                </a:solidFill>
              </a:rPr>
              <a:t>数据存储器</a:t>
            </a:r>
          </a:p>
          <a:p>
            <a:pPr algn="ctr" eaLnBrk="1" hangingPunct="1">
              <a:lnSpc>
                <a:spcPct val="90000"/>
              </a:lnSpc>
            </a:pPr>
            <a:r>
              <a:rPr lang="en-US" altLang="zh-CN" sz="2000" b="1">
                <a:solidFill>
                  <a:srgbClr val="FF00FF"/>
                </a:solidFill>
              </a:rPr>
              <a:t>(DARAM)</a:t>
            </a:r>
          </a:p>
          <a:p>
            <a:pPr algn="ctr" eaLnBrk="1" hangingPunct="1">
              <a:lnSpc>
                <a:spcPct val="90000"/>
              </a:lnSpc>
            </a:pPr>
            <a:r>
              <a:rPr lang="zh-CN" altLang="en-US" sz="2000" b="1">
                <a:solidFill>
                  <a:srgbClr val="FF00FF"/>
                </a:solidFill>
              </a:rPr>
              <a:t>起始状态</a:t>
            </a:r>
          </a:p>
        </p:txBody>
      </p:sp>
      <p:sp>
        <p:nvSpPr>
          <p:cNvPr id="111632" name="Text Box 20"/>
          <p:cNvSpPr txBox="1">
            <a:spLocks noChangeArrowheads="1"/>
          </p:cNvSpPr>
          <p:nvPr/>
        </p:nvSpPr>
        <p:spPr bwMode="auto">
          <a:xfrm>
            <a:off x="7308850" y="3500438"/>
            <a:ext cx="1511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zh-CN" altLang="en-US" sz="2000" b="1">
                <a:solidFill>
                  <a:srgbClr val="FF00FF"/>
                </a:solidFill>
              </a:rPr>
              <a:t>数据存储器</a:t>
            </a:r>
          </a:p>
          <a:p>
            <a:pPr algn="ctr" eaLnBrk="1" hangingPunct="1">
              <a:lnSpc>
                <a:spcPct val="90000"/>
              </a:lnSpc>
            </a:pPr>
            <a:r>
              <a:rPr lang="en-US" altLang="zh-CN" sz="2000" b="1">
                <a:solidFill>
                  <a:srgbClr val="FF00FF"/>
                </a:solidFill>
              </a:rPr>
              <a:t>(DARAM)</a:t>
            </a:r>
          </a:p>
        </p:txBody>
      </p:sp>
      <p:sp>
        <p:nvSpPr>
          <p:cNvPr id="111633" name="Text Box 21"/>
          <p:cNvSpPr txBox="1">
            <a:spLocks noChangeArrowheads="1"/>
          </p:cNvSpPr>
          <p:nvPr/>
        </p:nvSpPr>
        <p:spPr bwMode="auto">
          <a:xfrm>
            <a:off x="503238" y="465455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6600"/>
                </a:solidFill>
              </a:rPr>
              <a:t>AR3</a:t>
            </a:r>
            <a:endParaRPr lang="en-US" altLang="zh-CN" b="1" baseline="-25000">
              <a:solidFill>
                <a:srgbClr val="FF6600"/>
              </a:solidFill>
            </a:endParaRPr>
          </a:p>
        </p:txBody>
      </p:sp>
      <p:sp>
        <p:nvSpPr>
          <p:cNvPr id="111634" name="Line 22"/>
          <p:cNvSpPr>
            <a:spLocks noChangeShapeType="1"/>
          </p:cNvSpPr>
          <p:nvPr/>
        </p:nvSpPr>
        <p:spPr bwMode="auto">
          <a:xfrm>
            <a:off x="1366838" y="4870450"/>
            <a:ext cx="431800"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1635" name="Text Box 23"/>
          <p:cNvSpPr txBox="1">
            <a:spLocks noChangeArrowheads="1"/>
          </p:cNvSpPr>
          <p:nvPr/>
        </p:nvSpPr>
        <p:spPr bwMode="auto">
          <a:xfrm>
            <a:off x="4425950" y="4654550"/>
            <a:ext cx="1081088"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x(n)</a:t>
            </a:r>
            <a:endParaRPr lang="en-US" altLang="zh-CN" b="1" baseline="-25000">
              <a:solidFill>
                <a:srgbClr val="FF6600"/>
              </a:solidFill>
            </a:endParaRPr>
          </a:p>
        </p:txBody>
      </p:sp>
      <p:sp>
        <p:nvSpPr>
          <p:cNvPr id="111636" name="Text Box 24"/>
          <p:cNvSpPr txBox="1">
            <a:spLocks noChangeArrowheads="1"/>
          </p:cNvSpPr>
          <p:nvPr/>
        </p:nvSpPr>
        <p:spPr bwMode="auto">
          <a:xfrm>
            <a:off x="4425950" y="5054600"/>
            <a:ext cx="1081088"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a:t>
            </a:r>
            <a:r>
              <a:rPr lang="en-US" altLang="zh-CN" b="1" baseline="-25000">
                <a:solidFill>
                  <a:srgbClr val="FF6600"/>
                </a:solidFill>
              </a:rPr>
              <a:t>1</a:t>
            </a:r>
          </a:p>
        </p:txBody>
      </p:sp>
      <p:sp>
        <p:nvSpPr>
          <p:cNvPr id="111637" name="Text Box 25"/>
          <p:cNvSpPr txBox="1">
            <a:spLocks noChangeArrowheads="1"/>
          </p:cNvSpPr>
          <p:nvPr/>
        </p:nvSpPr>
        <p:spPr bwMode="auto">
          <a:xfrm>
            <a:off x="4425950" y="5454650"/>
            <a:ext cx="1081088"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a:t>
            </a:r>
            <a:r>
              <a:rPr lang="en-US" altLang="zh-CN" b="1" baseline="-25000">
                <a:solidFill>
                  <a:srgbClr val="FF6600"/>
                </a:solidFill>
              </a:rPr>
              <a:t>0</a:t>
            </a:r>
          </a:p>
        </p:txBody>
      </p:sp>
      <p:sp>
        <p:nvSpPr>
          <p:cNvPr id="111638" name="Text Box 26"/>
          <p:cNvSpPr txBox="1">
            <a:spLocks noChangeArrowheads="1"/>
          </p:cNvSpPr>
          <p:nvPr/>
        </p:nvSpPr>
        <p:spPr bwMode="auto">
          <a:xfrm>
            <a:off x="3132138" y="465455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6600"/>
                </a:solidFill>
              </a:rPr>
              <a:t>AR3</a:t>
            </a:r>
            <a:endParaRPr lang="en-US" altLang="zh-CN" b="1" baseline="-25000">
              <a:solidFill>
                <a:srgbClr val="FF6600"/>
              </a:solidFill>
            </a:endParaRPr>
          </a:p>
        </p:txBody>
      </p:sp>
      <p:sp>
        <p:nvSpPr>
          <p:cNvPr id="111639" name="Line 27"/>
          <p:cNvSpPr>
            <a:spLocks noChangeShapeType="1"/>
          </p:cNvSpPr>
          <p:nvPr/>
        </p:nvSpPr>
        <p:spPr bwMode="auto">
          <a:xfrm>
            <a:off x="3995738" y="4870450"/>
            <a:ext cx="431800"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1640" name="Text Box 28"/>
          <p:cNvSpPr txBox="1">
            <a:spLocks noChangeArrowheads="1"/>
          </p:cNvSpPr>
          <p:nvPr/>
        </p:nvSpPr>
        <p:spPr bwMode="auto">
          <a:xfrm>
            <a:off x="5580063" y="4581525"/>
            <a:ext cx="576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rPr>
              <a:t>x</a:t>
            </a:r>
            <a:r>
              <a:rPr lang="en-US" altLang="zh-CN" b="1" baseline="-25000">
                <a:solidFill>
                  <a:srgbClr val="FF0000"/>
                </a:solidFill>
              </a:rPr>
              <a:t>0</a:t>
            </a:r>
          </a:p>
        </p:txBody>
      </p:sp>
      <p:sp>
        <p:nvSpPr>
          <p:cNvPr id="111641" name="Text Box 29"/>
          <p:cNvSpPr txBox="1">
            <a:spLocks noChangeArrowheads="1"/>
          </p:cNvSpPr>
          <p:nvPr/>
        </p:nvSpPr>
        <p:spPr bwMode="auto">
          <a:xfrm>
            <a:off x="5508625" y="5014913"/>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rPr>
              <a:t>y(n)</a:t>
            </a:r>
            <a:endParaRPr lang="en-US" altLang="zh-CN" b="1" baseline="-25000">
              <a:solidFill>
                <a:srgbClr val="FF0000"/>
              </a:solidFill>
            </a:endParaRPr>
          </a:p>
        </p:txBody>
      </p:sp>
      <p:sp>
        <p:nvSpPr>
          <p:cNvPr id="111642" name="Text Box 30"/>
          <p:cNvSpPr txBox="1">
            <a:spLocks noChangeArrowheads="1"/>
          </p:cNvSpPr>
          <p:nvPr/>
        </p:nvSpPr>
        <p:spPr bwMode="auto">
          <a:xfrm>
            <a:off x="6156325" y="5805488"/>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tx2"/>
                </a:solidFill>
              </a:rPr>
              <a:t>AR4</a:t>
            </a:r>
            <a:endParaRPr lang="en-US" altLang="zh-CN" b="1" baseline="-25000">
              <a:solidFill>
                <a:schemeClr val="tx2"/>
              </a:solidFill>
            </a:endParaRPr>
          </a:p>
        </p:txBody>
      </p:sp>
      <p:sp>
        <p:nvSpPr>
          <p:cNvPr id="111643" name="Line 31"/>
          <p:cNvSpPr>
            <a:spLocks noChangeShapeType="1"/>
          </p:cNvSpPr>
          <p:nvPr/>
        </p:nvSpPr>
        <p:spPr bwMode="auto">
          <a:xfrm>
            <a:off x="7019925" y="6021388"/>
            <a:ext cx="431800"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1644" name="Text Box 32"/>
          <p:cNvSpPr txBox="1">
            <a:spLocks noChangeArrowheads="1"/>
          </p:cNvSpPr>
          <p:nvPr/>
        </p:nvSpPr>
        <p:spPr bwMode="auto">
          <a:xfrm>
            <a:off x="4140200" y="4078288"/>
            <a:ext cx="17272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zh-CN" altLang="en-US" b="1">
                <a:solidFill>
                  <a:schemeClr val="tx2"/>
                </a:solidFill>
              </a:rPr>
              <a:t>第</a:t>
            </a:r>
            <a:r>
              <a:rPr lang="en-US" altLang="zh-CN" b="1">
                <a:solidFill>
                  <a:schemeClr val="tx2"/>
                </a:solidFill>
              </a:rPr>
              <a:t>1</a:t>
            </a:r>
            <a:r>
              <a:rPr lang="zh-CN" altLang="en-US" b="1">
                <a:solidFill>
                  <a:schemeClr val="tx2"/>
                </a:solidFill>
              </a:rPr>
              <a:t>次迭代</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92930"/>
                                        </p:tgtEl>
                                        <p:attrNameLst>
                                          <p:attrName>style.visibility</p:attrName>
                                        </p:attrNameLst>
                                      </p:cBhvr>
                                      <p:to>
                                        <p:strVal val="visible"/>
                                      </p:to>
                                    </p:set>
                                    <p:animEffect transition="in" filter="slide(fromTop)">
                                      <p:cBhvr>
                                        <p:cTn id="7" dur="500"/>
                                        <p:tgtEl>
                                          <p:spTgt spid="892930"/>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92931"/>
                                        </p:tgtEl>
                                        <p:attrNameLst>
                                          <p:attrName>style.visibility</p:attrName>
                                        </p:attrNameLst>
                                      </p:cBhvr>
                                      <p:to>
                                        <p:strVal val="visible"/>
                                      </p:to>
                                    </p:set>
                                    <p:animEffect transition="in" filter="slide(fromLeft)">
                                      <p:cBhvr>
                                        <p:cTn id="11" dur="500"/>
                                        <p:tgtEl>
                                          <p:spTgt spid="892931"/>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892933"/>
                                        </p:tgtEl>
                                        <p:attrNameLst>
                                          <p:attrName>style.visibility</p:attrName>
                                        </p:attrNameLst>
                                      </p:cBhvr>
                                      <p:to>
                                        <p:strVal val="visible"/>
                                      </p:to>
                                    </p:set>
                                    <p:animEffect transition="in" filter="slide(fromTop)">
                                      <p:cBhvr>
                                        <p:cTn id="15" dur="500"/>
                                        <p:tgtEl>
                                          <p:spTgt spid="892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0" grpId="0" animBg="1"/>
      <p:bldP spid="892931" grpId="0"/>
      <p:bldP spid="892933"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30D097C-13D5-4652-B8FA-E1A7355AE788}" type="slidenum">
              <a:rPr lang="en-US" altLang="zh-CN" sz="1400"/>
              <a:pPr eaLnBrk="1" hangingPunct="1"/>
              <a:t>108</a:t>
            </a:fld>
            <a:endParaRPr lang="en-US" altLang="zh-CN" sz="1400"/>
          </a:p>
        </p:txBody>
      </p:sp>
      <p:grpSp>
        <p:nvGrpSpPr>
          <p:cNvPr id="2" name="Group 2"/>
          <p:cNvGrpSpPr>
            <a:grpSpLocks/>
          </p:cNvGrpSpPr>
          <p:nvPr/>
        </p:nvGrpSpPr>
        <p:grpSpPr bwMode="auto">
          <a:xfrm>
            <a:off x="250825" y="1052513"/>
            <a:ext cx="8610600" cy="5216525"/>
            <a:chOff x="144" y="576"/>
            <a:chExt cx="5424" cy="3286"/>
          </a:xfrm>
        </p:grpSpPr>
        <p:sp>
          <p:nvSpPr>
            <p:cNvPr id="14341" name="Rectangle 3"/>
            <p:cNvSpPr>
              <a:spLocks noChangeArrowheads="1"/>
            </p:cNvSpPr>
            <p:nvPr/>
          </p:nvSpPr>
          <p:spPr bwMode="auto">
            <a:xfrm>
              <a:off x="144" y="576"/>
              <a:ext cx="5424" cy="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ea typeface="黑体" panose="02010609060101010101" pitchFamily="49" charset="-122"/>
                </a:rPr>
                <a:t>例</a:t>
              </a:r>
              <a:r>
                <a:rPr lang="en-US" altLang="zh-CN" sz="2800" b="1">
                  <a:ea typeface="黑体" panose="02010609060101010101" pitchFamily="49" charset="-122"/>
                </a:rPr>
                <a:t>5-31  </a:t>
              </a:r>
              <a:r>
                <a:rPr lang="en-US" altLang="zh-CN" sz="2800" b="1"/>
                <a:t> </a:t>
              </a:r>
              <a:r>
                <a:rPr lang="zh-CN" altLang="en-US" sz="2800" b="1"/>
                <a:t>用双操作数指令实现二阶</a:t>
              </a:r>
              <a:r>
                <a:rPr lang="en-US" altLang="zh-CN" sz="2800" b="1"/>
                <a:t>IIR</a:t>
              </a:r>
              <a:r>
                <a:rPr lang="zh-CN" altLang="en-US" sz="2800" b="1"/>
                <a:t>滤波器。</a:t>
              </a:r>
            </a:p>
            <a:p>
              <a:pPr algn="just"/>
              <a:r>
                <a:rPr lang="en-US" altLang="zh-CN" sz="2800" b="1"/>
                <a:t>H(</a:t>
              </a:r>
              <a:r>
                <a:rPr lang="en-US" altLang="zh-CN" sz="2800" b="1" i="1"/>
                <a:t>z</a:t>
              </a:r>
              <a:r>
                <a:rPr lang="en-US" altLang="zh-CN" sz="2800" b="1"/>
                <a:t>)=</a:t>
              </a:r>
            </a:p>
            <a:p>
              <a:pPr algn="just"/>
              <a:r>
                <a:rPr lang="en-US" altLang="zh-CN" sz="2800" b="1"/>
                <a:t> </a:t>
              </a:r>
            </a:p>
            <a:p>
              <a:pPr algn="just"/>
              <a:r>
                <a:rPr lang="en-US" altLang="zh-CN" sz="2800" b="1"/>
                <a:t>           .title    “IIR2.ASM”   </a:t>
              </a:r>
              <a:r>
                <a:rPr lang="zh-CN" altLang="en-US" sz="2800" b="1"/>
                <a:t>；给汇编程序取名</a:t>
              </a:r>
            </a:p>
            <a:p>
              <a:pPr algn="just"/>
              <a:r>
                <a:rPr lang="zh-CN" altLang="en-US" sz="2800" b="1"/>
                <a:t>           </a:t>
              </a:r>
              <a:r>
                <a:rPr lang="en-US" altLang="zh-CN" sz="2800" b="1">
                  <a:solidFill>
                    <a:schemeClr val="folHlink"/>
                  </a:solidFill>
                </a:rPr>
                <a:t>.mmregs</a:t>
              </a:r>
              <a:r>
                <a:rPr lang="en-US" altLang="zh-CN" sz="2800" b="1"/>
                <a:t>       </a:t>
              </a:r>
              <a:r>
                <a:rPr lang="zh-CN" altLang="en-US" sz="2800" b="1"/>
                <a:t>；定义存储器映象寄存器</a:t>
              </a:r>
            </a:p>
            <a:p>
              <a:pPr algn="just"/>
              <a:r>
                <a:rPr lang="zh-CN" altLang="en-US" sz="2800" b="1"/>
                <a:t>           </a:t>
              </a:r>
              <a:r>
                <a:rPr lang="en-US" altLang="zh-CN" sz="2800" b="1"/>
                <a:t>.def     start   </a:t>
              </a:r>
              <a:r>
                <a:rPr lang="zh-CN" altLang="en-US" sz="2800" b="1"/>
                <a:t>；定义标号</a:t>
              </a:r>
              <a:r>
                <a:rPr lang="en-US" altLang="zh-CN" sz="2800" b="1"/>
                <a:t>start</a:t>
              </a:r>
              <a:r>
                <a:rPr lang="zh-CN" altLang="en-US" sz="2800" b="1"/>
                <a:t>的起始位置</a:t>
              </a:r>
            </a:p>
            <a:p>
              <a:pPr algn="just"/>
              <a:r>
                <a:rPr lang="en-US" altLang="zh-CN" sz="2800" b="1">
                  <a:solidFill>
                    <a:schemeClr val="tx2"/>
                  </a:solidFill>
                </a:rPr>
                <a:t>x2       .usect  “x”,1 </a:t>
              </a:r>
              <a:r>
                <a:rPr lang="zh-CN" altLang="en-US" sz="2800" b="1">
                  <a:solidFill>
                    <a:schemeClr val="tx2"/>
                  </a:solidFill>
                </a:rPr>
                <a:t>；自定义</a:t>
              </a:r>
              <a:r>
                <a:rPr lang="en-US" altLang="zh-CN" sz="2800" b="1">
                  <a:solidFill>
                    <a:schemeClr val="tx2"/>
                  </a:solidFill>
                </a:rPr>
                <a:t>3</a:t>
              </a:r>
              <a:r>
                <a:rPr lang="zh-CN" altLang="en-US" sz="2800" b="1">
                  <a:solidFill>
                    <a:schemeClr val="tx2"/>
                  </a:solidFill>
                </a:rPr>
                <a:t>个单元的未初始化段</a:t>
              </a:r>
              <a:r>
                <a:rPr lang="en-US" altLang="zh-CN" sz="2800" b="1">
                  <a:solidFill>
                    <a:schemeClr val="tx2"/>
                  </a:solidFill>
                </a:rPr>
                <a:t>x</a:t>
              </a:r>
            </a:p>
            <a:p>
              <a:pPr algn="just"/>
              <a:r>
                <a:rPr lang="en-US" altLang="zh-CN" sz="2800" b="1"/>
                <a:t>X1      .usect  “x”,1          </a:t>
              </a:r>
              <a:r>
                <a:rPr lang="zh-CN" altLang="en-US" sz="2800" b="1"/>
                <a:t>；</a:t>
              </a:r>
            </a:p>
            <a:p>
              <a:pPr algn="just"/>
              <a:r>
                <a:rPr lang="en-US" altLang="zh-CN" sz="2800" b="1"/>
                <a:t>X0      .usect  “x”,1          </a:t>
              </a:r>
              <a:r>
                <a:rPr lang="zh-CN" altLang="en-US" sz="2800" b="1"/>
                <a:t>；</a:t>
              </a:r>
            </a:p>
            <a:p>
              <a:pPr algn="just"/>
              <a:r>
                <a:rPr lang="en-US" altLang="zh-CN" sz="2800" b="1">
                  <a:solidFill>
                    <a:srgbClr val="FF00FF"/>
                  </a:solidFill>
                </a:rPr>
                <a:t>COEF .usect  “COEF”,5 </a:t>
              </a:r>
              <a:r>
                <a:rPr lang="zh-CN" altLang="en-US" sz="2800" b="1">
                  <a:solidFill>
                    <a:srgbClr val="FF00FF"/>
                  </a:solidFill>
                </a:rPr>
                <a:t>；</a:t>
              </a:r>
              <a:r>
                <a:rPr lang="zh-CN" altLang="en-US" sz="2000" b="1">
                  <a:solidFill>
                    <a:srgbClr val="FF00FF"/>
                  </a:solidFill>
                </a:rPr>
                <a:t>自定义</a:t>
              </a:r>
              <a:r>
                <a:rPr lang="en-US" altLang="zh-CN" sz="2000" b="1">
                  <a:solidFill>
                    <a:srgbClr val="FF00FF"/>
                  </a:solidFill>
                </a:rPr>
                <a:t>5</a:t>
              </a:r>
              <a:r>
                <a:rPr lang="zh-CN" altLang="en-US" sz="2000" b="1">
                  <a:solidFill>
                    <a:srgbClr val="FF00FF"/>
                  </a:solidFill>
                </a:rPr>
                <a:t>个单元的未初始化段</a:t>
              </a:r>
              <a:r>
                <a:rPr lang="en-US" altLang="zh-CN" sz="2000" b="1">
                  <a:solidFill>
                    <a:srgbClr val="FF00FF"/>
                  </a:solidFill>
                </a:rPr>
                <a:t>COEF</a:t>
              </a:r>
            </a:p>
            <a:p>
              <a:pPr algn="just"/>
              <a:r>
                <a:rPr lang="en-US" altLang="zh-CN" sz="2800" b="1">
                  <a:solidFill>
                    <a:srgbClr val="FF6600"/>
                  </a:solidFill>
                </a:rPr>
                <a:t>PA0    .set     0          </a:t>
              </a:r>
              <a:r>
                <a:rPr lang="zh-CN" altLang="en-US" sz="2800" b="1">
                  <a:solidFill>
                    <a:srgbClr val="FF6600"/>
                  </a:solidFill>
                </a:rPr>
                <a:t>；设置数据输出端口</a:t>
              </a:r>
              <a:r>
                <a:rPr lang="en-US" altLang="zh-CN" sz="2800" b="1">
                  <a:solidFill>
                    <a:srgbClr val="FF6600"/>
                  </a:solidFill>
                </a:rPr>
                <a:t>I/O</a:t>
              </a:r>
              <a:r>
                <a:rPr lang="zh-CN" altLang="en-US" sz="2800" b="1">
                  <a:solidFill>
                    <a:srgbClr val="FF6600"/>
                  </a:solidFill>
                </a:rPr>
                <a:t>，</a:t>
              </a:r>
              <a:r>
                <a:rPr lang="en-US" altLang="zh-CN" sz="2800" b="1">
                  <a:solidFill>
                    <a:srgbClr val="FF6600"/>
                  </a:solidFill>
                </a:rPr>
                <a:t>PA0=0</a:t>
              </a:r>
            </a:p>
            <a:p>
              <a:pPr algn="just"/>
              <a:r>
                <a:rPr lang="en-US" altLang="zh-CN" sz="2800" b="1">
                  <a:solidFill>
                    <a:srgbClr val="FF6600"/>
                  </a:solidFill>
                </a:rPr>
                <a:t>PA1    .set     1          </a:t>
              </a:r>
              <a:r>
                <a:rPr lang="zh-CN" altLang="en-US" sz="2800" b="1">
                  <a:solidFill>
                    <a:srgbClr val="FF6600"/>
                  </a:solidFill>
                </a:rPr>
                <a:t>；设置数据输入端口</a:t>
              </a:r>
              <a:r>
                <a:rPr lang="en-US" altLang="zh-CN" sz="2800" b="1">
                  <a:solidFill>
                    <a:srgbClr val="FF6600"/>
                  </a:solidFill>
                </a:rPr>
                <a:t>I/O</a:t>
              </a:r>
              <a:r>
                <a:rPr lang="zh-CN" altLang="en-US" sz="2800" b="1">
                  <a:solidFill>
                    <a:srgbClr val="FF6600"/>
                  </a:solidFill>
                </a:rPr>
                <a:t>，</a:t>
              </a:r>
              <a:r>
                <a:rPr lang="en-US" altLang="zh-CN" sz="2800" b="1">
                  <a:solidFill>
                    <a:srgbClr val="FF6600"/>
                  </a:solidFill>
                </a:rPr>
                <a:t>PA1=1</a:t>
              </a:r>
            </a:p>
          </p:txBody>
        </p:sp>
        <p:graphicFrame>
          <p:nvGraphicFramePr>
            <p:cNvPr id="14338" name="Object 4"/>
            <p:cNvGraphicFramePr>
              <a:graphicFrameLocks noChangeAspect="1"/>
            </p:cNvGraphicFramePr>
            <p:nvPr/>
          </p:nvGraphicFramePr>
          <p:xfrm>
            <a:off x="912" y="768"/>
            <a:ext cx="1824" cy="509"/>
          </p:xfrm>
          <a:graphic>
            <a:graphicData uri="http://schemas.openxmlformats.org/presentationml/2006/ole">
              <mc:AlternateContent xmlns:mc="http://schemas.openxmlformats.org/markup-compatibility/2006">
                <mc:Choice xmlns:v="urn:schemas-microsoft-com:vml" Requires="v">
                  <p:oleObj spid="_x0000_s13314" name="公式" r:id="rId3" imgW="1396394" imgH="393529" progId="">
                    <p:embed/>
                  </p:oleObj>
                </mc:Choice>
                <mc:Fallback>
                  <p:oleObj name="公式" r:id="rId3" imgW="1396394" imgH="393529" progId="">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768"/>
                          <a:ext cx="1824" cy="5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14343"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03800" y="0"/>
            <a:ext cx="3227388" cy="1128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062359F-EFC0-4673-AB21-677D79F19180}" type="slidenum">
              <a:rPr lang="en-US" altLang="zh-CN" sz="1400"/>
              <a:pPr eaLnBrk="1" hangingPunct="1"/>
              <a:t>109</a:t>
            </a:fld>
            <a:endParaRPr lang="en-US" altLang="zh-CN" sz="1400"/>
          </a:p>
        </p:txBody>
      </p:sp>
      <p:sp>
        <p:nvSpPr>
          <p:cNvPr id="894978" name="Rectangle 2"/>
          <p:cNvSpPr>
            <a:spLocks noChangeArrowheads="1"/>
          </p:cNvSpPr>
          <p:nvPr/>
        </p:nvSpPr>
        <p:spPr bwMode="auto">
          <a:xfrm>
            <a:off x="179388" y="1196975"/>
            <a:ext cx="8856662"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80000"/>
              </a:lnSpc>
            </a:pPr>
            <a:r>
              <a:rPr lang="en-US" altLang="zh-CN" b="1"/>
              <a:t>          .data</a:t>
            </a:r>
          </a:p>
          <a:p>
            <a:pPr algn="just">
              <a:lnSpc>
                <a:spcPct val="80000"/>
              </a:lnSpc>
            </a:pPr>
            <a:r>
              <a:rPr lang="en-US" altLang="zh-CN" b="1"/>
              <a:t>table: .word    0, 0                                                          </a:t>
            </a:r>
            <a:r>
              <a:rPr lang="zh-CN" altLang="en-US" b="1"/>
              <a:t>；</a:t>
            </a:r>
            <a:r>
              <a:rPr lang="en-US" altLang="zh-CN" sz="2000" b="1"/>
              <a:t>x(n-2), x(n-1)</a:t>
            </a:r>
          </a:p>
          <a:p>
            <a:pPr algn="just">
              <a:lnSpc>
                <a:spcPct val="80000"/>
              </a:lnSpc>
            </a:pPr>
            <a:r>
              <a:rPr lang="en-US" altLang="zh-CN" b="1"/>
              <a:t>         .word     676*32768/10000,1352*32768/10000    </a:t>
            </a:r>
            <a:r>
              <a:rPr lang="zh-CN" altLang="en-US" b="1"/>
              <a:t>；</a:t>
            </a:r>
            <a:r>
              <a:rPr lang="en-US" altLang="zh-CN" b="1"/>
              <a:t>B2,B1</a:t>
            </a:r>
          </a:p>
          <a:p>
            <a:pPr algn="just">
              <a:lnSpc>
                <a:spcPct val="80000"/>
              </a:lnSpc>
            </a:pPr>
            <a:r>
              <a:rPr lang="en-US" altLang="zh-CN" b="1"/>
              <a:t>         .word     676*32768/10000                                    </a:t>
            </a:r>
            <a:r>
              <a:rPr lang="zh-CN" altLang="en-US" b="1"/>
              <a:t>；</a:t>
            </a:r>
            <a:r>
              <a:rPr lang="en-US" altLang="zh-CN" b="1"/>
              <a:t>B0</a:t>
            </a:r>
          </a:p>
          <a:p>
            <a:pPr algn="just">
              <a:lnSpc>
                <a:spcPct val="80000"/>
              </a:lnSpc>
            </a:pPr>
            <a:r>
              <a:rPr lang="en-US" altLang="zh-CN" b="1"/>
              <a:t>         .word     -4142*32768/10000,7071*32768/10000 </a:t>
            </a:r>
            <a:r>
              <a:rPr lang="zh-CN" altLang="en-US" b="1"/>
              <a:t>；</a:t>
            </a:r>
            <a:r>
              <a:rPr lang="en-US" altLang="zh-CN" b="1"/>
              <a:t>A2,A1/2</a:t>
            </a:r>
          </a:p>
          <a:p>
            <a:pPr algn="just">
              <a:lnSpc>
                <a:spcPct val="80000"/>
              </a:lnSpc>
            </a:pPr>
            <a:r>
              <a:rPr lang="en-US" altLang="zh-CN" b="1"/>
              <a:t>         .text</a:t>
            </a:r>
          </a:p>
          <a:p>
            <a:pPr algn="just">
              <a:lnSpc>
                <a:spcPct val="80000"/>
              </a:lnSpc>
            </a:pPr>
            <a:r>
              <a:rPr lang="en-US" altLang="zh-CN" b="1"/>
              <a:t>start: </a:t>
            </a:r>
            <a:r>
              <a:rPr lang="en-US" altLang="zh-CN" b="1">
                <a:solidFill>
                  <a:schemeClr val="folHlink"/>
                </a:solidFill>
              </a:rPr>
              <a:t>SSBX    FRCT            </a:t>
            </a:r>
            <a:r>
              <a:rPr lang="zh-CN" altLang="en-US" b="1">
                <a:solidFill>
                  <a:schemeClr val="folHlink"/>
                </a:solidFill>
              </a:rPr>
              <a:t>；小数乘法</a:t>
            </a:r>
          </a:p>
          <a:p>
            <a:pPr algn="just">
              <a:lnSpc>
                <a:spcPct val="80000"/>
              </a:lnSpc>
            </a:pPr>
            <a:r>
              <a:rPr lang="zh-CN" altLang="en-US" b="1"/>
              <a:t>         </a:t>
            </a:r>
            <a:r>
              <a:rPr lang="en-US" altLang="zh-CN" b="1"/>
              <a:t>STM       #x2,AR1          </a:t>
            </a:r>
            <a:r>
              <a:rPr lang="zh-CN" altLang="en-US" b="1"/>
              <a:t>；</a:t>
            </a:r>
            <a:r>
              <a:rPr lang="en-US" altLang="zh-CN" b="1"/>
              <a:t>x2</a:t>
            </a:r>
            <a:r>
              <a:rPr lang="zh-CN" altLang="en-US" b="1"/>
              <a:t>首地址传给</a:t>
            </a:r>
            <a:r>
              <a:rPr lang="en-US" altLang="zh-CN" b="1"/>
              <a:t>AR1</a:t>
            </a:r>
          </a:p>
          <a:p>
            <a:pPr algn="just">
              <a:lnSpc>
                <a:spcPct val="80000"/>
              </a:lnSpc>
            </a:pPr>
            <a:r>
              <a:rPr lang="en-US" altLang="zh-CN" b="1"/>
              <a:t>         RPT        #1                    </a:t>
            </a:r>
            <a:r>
              <a:rPr lang="zh-CN" altLang="en-US" b="1"/>
              <a:t>；重复</a:t>
            </a:r>
            <a:r>
              <a:rPr lang="en-US" altLang="zh-CN" b="1"/>
              <a:t>2</a:t>
            </a:r>
            <a:r>
              <a:rPr lang="zh-CN" altLang="en-US" b="1"/>
              <a:t>次下条指令</a:t>
            </a:r>
          </a:p>
          <a:p>
            <a:pPr algn="just">
              <a:lnSpc>
                <a:spcPct val="80000"/>
              </a:lnSpc>
            </a:pPr>
            <a:r>
              <a:rPr lang="zh-CN" altLang="en-US" b="1"/>
              <a:t>         </a:t>
            </a:r>
            <a:r>
              <a:rPr lang="en-US" altLang="zh-CN" b="1"/>
              <a:t>MVPD   </a:t>
            </a:r>
            <a:r>
              <a:rPr lang="en-US" altLang="zh-CN" sz="2000" b="1"/>
              <a:t>#table,*AR1+ </a:t>
            </a:r>
            <a:r>
              <a:rPr lang="zh-CN" altLang="en-US" sz="2000" b="1"/>
              <a:t>；用程序空间的</a:t>
            </a:r>
            <a:r>
              <a:rPr lang="en-US" altLang="zh-CN" sz="2000" b="1"/>
              <a:t>2</a:t>
            </a:r>
            <a:r>
              <a:rPr lang="zh-CN" altLang="en-US" sz="2000" b="1"/>
              <a:t>个系数</a:t>
            </a:r>
            <a:r>
              <a:rPr lang="en-US" altLang="zh-CN" sz="2000" b="1"/>
              <a:t>0</a:t>
            </a:r>
            <a:r>
              <a:rPr lang="zh-CN" altLang="en-US" sz="2000" b="1"/>
              <a:t>对</a:t>
            </a:r>
            <a:r>
              <a:rPr lang="en-US" altLang="zh-CN" sz="2000" b="1"/>
              <a:t>x2, x1</a:t>
            </a:r>
            <a:r>
              <a:rPr lang="zh-CN" altLang="en-US" sz="2000" b="1"/>
              <a:t>单元清零</a:t>
            </a:r>
          </a:p>
          <a:p>
            <a:pPr algn="just">
              <a:lnSpc>
                <a:spcPct val="80000"/>
              </a:lnSpc>
            </a:pPr>
            <a:r>
              <a:rPr lang="zh-CN" altLang="en-US" b="1"/>
              <a:t>         </a:t>
            </a:r>
            <a:r>
              <a:rPr lang="en-US" altLang="zh-CN" b="1"/>
              <a:t>STM       #COEF,AR1   </a:t>
            </a:r>
            <a:r>
              <a:rPr lang="zh-CN" altLang="en-US" b="1"/>
              <a:t>；</a:t>
            </a:r>
            <a:r>
              <a:rPr lang="en-US" altLang="zh-CN" b="1"/>
              <a:t>COEF </a:t>
            </a:r>
            <a:r>
              <a:rPr lang="zh-CN" altLang="en-US" b="1"/>
              <a:t>首地址传给</a:t>
            </a:r>
            <a:r>
              <a:rPr lang="en-US" altLang="zh-CN" b="1"/>
              <a:t>AR1</a:t>
            </a:r>
          </a:p>
          <a:p>
            <a:pPr algn="just">
              <a:lnSpc>
                <a:spcPct val="80000"/>
              </a:lnSpc>
            </a:pPr>
            <a:r>
              <a:rPr lang="en-US" altLang="zh-CN" b="1"/>
              <a:t>         RPT        #4                    </a:t>
            </a:r>
            <a:r>
              <a:rPr lang="zh-CN" altLang="en-US" b="1"/>
              <a:t>；重复</a:t>
            </a:r>
            <a:r>
              <a:rPr lang="en-US" altLang="zh-CN" b="1"/>
              <a:t>5</a:t>
            </a:r>
            <a:r>
              <a:rPr lang="zh-CN" altLang="en-US" b="1"/>
              <a:t>次下条指令</a:t>
            </a:r>
          </a:p>
          <a:p>
            <a:pPr algn="just">
              <a:lnSpc>
                <a:spcPct val="80000"/>
              </a:lnSpc>
            </a:pPr>
            <a:r>
              <a:rPr lang="zh-CN" altLang="en-US" b="1"/>
              <a:t>         </a:t>
            </a:r>
            <a:r>
              <a:rPr lang="en-US" altLang="zh-CN" b="1">
                <a:solidFill>
                  <a:schemeClr val="tx2"/>
                </a:solidFill>
              </a:rPr>
              <a:t>MVPD    #table+2,*AR1+ </a:t>
            </a:r>
            <a:r>
              <a:rPr lang="zh-CN" altLang="en-US" b="1">
                <a:solidFill>
                  <a:schemeClr val="tx2"/>
                </a:solidFill>
              </a:rPr>
              <a:t>；将</a:t>
            </a:r>
            <a:r>
              <a:rPr lang="en-US" altLang="zh-CN" b="1">
                <a:solidFill>
                  <a:schemeClr val="tx2"/>
                </a:solidFill>
              </a:rPr>
              <a:t>5</a:t>
            </a:r>
            <a:r>
              <a:rPr lang="zh-CN" altLang="en-US" b="1">
                <a:solidFill>
                  <a:schemeClr val="tx2"/>
                </a:solidFill>
              </a:rPr>
              <a:t>个系数传到</a:t>
            </a:r>
            <a:r>
              <a:rPr lang="en-US" altLang="zh-CN" b="1">
                <a:solidFill>
                  <a:schemeClr val="tx2"/>
                </a:solidFill>
              </a:rPr>
              <a:t>COEF</a:t>
            </a:r>
            <a:r>
              <a:rPr lang="zh-CN" altLang="en-US" b="1">
                <a:solidFill>
                  <a:schemeClr val="tx2"/>
                </a:solidFill>
              </a:rPr>
              <a:t>单元</a:t>
            </a:r>
          </a:p>
          <a:p>
            <a:pPr algn="just">
              <a:lnSpc>
                <a:spcPct val="80000"/>
              </a:lnSpc>
            </a:pPr>
            <a:r>
              <a:rPr lang="zh-CN" altLang="en-US" b="1"/>
              <a:t>         </a:t>
            </a:r>
            <a:r>
              <a:rPr lang="en-US" altLang="zh-CN" b="1"/>
              <a:t>STM       #x2,AR3         </a:t>
            </a:r>
            <a:r>
              <a:rPr lang="zh-CN" altLang="en-US" b="1"/>
              <a:t>；</a:t>
            </a:r>
            <a:r>
              <a:rPr lang="en-US" altLang="zh-CN" b="1"/>
              <a:t>x2</a:t>
            </a:r>
            <a:r>
              <a:rPr lang="zh-CN" altLang="en-US" b="1"/>
              <a:t>首地址传给</a:t>
            </a:r>
            <a:r>
              <a:rPr lang="en-US" altLang="zh-CN" b="1"/>
              <a:t>AR3</a:t>
            </a:r>
          </a:p>
          <a:p>
            <a:pPr algn="just">
              <a:lnSpc>
                <a:spcPct val="80000"/>
              </a:lnSpc>
            </a:pPr>
            <a:r>
              <a:rPr lang="en-US" altLang="zh-CN" b="1"/>
              <a:t>         </a:t>
            </a:r>
            <a:r>
              <a:rPr lang="en-US" altLang="zh-CN" b="1">
                <a:solidFill>
                  <a:schemeClr val="tx2"/>
                </a:solidFill>
              </a:rPr>
              <a:t>STM       #COEF+4,AR4  </a:t>
            </a:r>
            <a:r>
              <a:rPr lang="zh-CN" altLang="en-US" b="1">
                <a:solidFill>
                  <a:schemeClr val="tx2"/>
                </a:solidFill>
              </a:rPr>
              <a:t>； </a:t>
            </a:r>
            <a:r>
              <a:rPr lang="en-US" altLang="zh-CN" b="1">
                <a:solidFill>
                  <a:schemeClr val="tx2"/>
                </a:solidFill>
              </a:rPr>
              <a:t>COEF</a:t>
            </a:r>
            <a:r>
              <a:rPr lang="zh-CN" altLang="en-US" b="1">
                <a:solidFill>
                  <a:schemeClr val="tx2"/>
                </a:solidFill>
              </a:rPr>
              <a:t>中的</a:t>
            </a:r>
            <a:r>
              <a:rPr lang="en-US" altLang="zh-CN" b="1">
                <a:solidFill>
                  <a:schemeClr val="tx2"/>
                </a:solidFill>
              </a:rPr>
              <a:t>A1</a:t>
            </a:r>
            <a:r>
              <a:rPr lang="zh-CN" altLang="en-US" b="1">
                <a:solidFill>
                  <a:schemeClr val="tx2"/>
                </a:solidFill>
              </a:rPr>
              <a:t>地址传给</a:t>
            </a:r>
            <a:r>
              <a:rPr lang="en-US" altLang="zh-CN" b="1">
                <a:solidFill>
                  <a:schemeClr val="tx2"/>
                </a:solidFill>
              </a:rPr>
              <a:t>AR4</a:t>
            </a:r>
          </a:p>
          <a:p>
            <a:pPr algn="just">
              <a:lnSpc>
                <a:spcPct val="80000"/>
              </a:lnSpc>
            </a:pPr>
            <a:r>
              <a:rPr lang="en-US" altLang="zh-CN" b="1"/>
              <a:t>         MVMM AR4,AR1      </a:t>
            </a:r>
            <a:r>
              <a:rPr lang="zh-CN" altLang="en-US" b="1"/>
              <a:t>；保存</a:t>
            </a:r>
            <a:r>
              <a:rPr lang="en-US" altLang="zh-CN" b="1"/>
              <a:t>AR4</a:t>
            </a:r>
            <a:r>
              <a:rPr lang="zh-CN" altLang="en-US" b="1"/>
              <a:t>地址值在</a:t>
            </a:r>
            <a:r>
              <a:rPr lang="en-US" altLang="zh-CN" b="1"/>
              <a:t>AR1</a:t>
            </a:r>
            <a:r>
              <a:rPr lang="zh-CN" altLang="en-US" b="1"/>
              <a:t>中</a:t>
            </a:r>
          </a:p>
          <a:p>
            <a:pPr algn="just">
              <a:lnSpc>
                <a:spcPct val="80000"/>
              </a:lnSpc>
            </a:pPr>
            <a:r>
              <a:rPr lang="zh-CN" altLang="en-US" b="1"/>
              <a:t>         </a:t>
            </a:r>
            <a:r>
              <a:rPr lang="en-US" altLang="zh-CN" b="1"/>
              <a:t>STM       #3,BK             </a:t>
            </a:r>
            <a:r>
              <a:rPr lang="zh-CN" altLang="en-US" b="1"/>
              <a:t>；设置循环缓冲区长度 </a:t>
            </a:r>
          </a:p>
          <a:p>
            <a:pPr algn="just">
              <a:lnSpc>
                <a:spcPct val="80000"/>
              </a:lnSpc>
            </a:pPr>
            <a:r>
              <a:rPr lang="zh-CN" altLang="en-US" b="1"/>
              <a:t>         </a:t>
            </a:r>
            <a:r>
              <a:rPr lang="en-US" altLang="zh-CN" b="1">
                <a:solidFill>
                  <a:srgbClr val="FF00FF"/>
                </a:solidFill>
              </a:rPr>
              <a:t>STM       #</a:t>
            </a:r>
            <a:r>
              <a:rPr lang="en-US" altLang="zh-CN" b="1">
                <a:solidFill>
                  <a:srgbClr val="660066"/>
                </a:solidFill>
              </a:rPr>
              <a:t>-1</a:t>
            </a:r>
            <a:r>
              <a:rPr lang="en-US" altLang="zh-CN" b="1">
                <a:solidFill>
                  <a:srgbClr val="FF00FF"/>
                </a:solidFill>
              </a:rPr>
              <a:t>,AR0          </a:t>
            </a:r>
            <a:r>
              <a:rPr lang="zh-CN" altLang="en-US" b="1">
                <a:solidFill>
                  <a:srgbClr val="FF00FF"/>
                </a:solidFill>
              </a:rPr>
              <a:t>；设置间接寻址步长</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94978"/>
                                        </p:tgtEl>
                                        <p:attrNameLst>
                                          <p:attrName>style.visibility</p:attrName>
                                        </p:attrNameLst>
                                      </p:cBhvr>
                                      <p:to>
                                        <p:strVal val="visible"/>
                                      </p:to>
                                    </p:set>
                                    <p:animEffect transition="in" filter="blinds(vertical)">
                                      <p:cBhvr>
                                        <p:cTn id="7" dur="500"/>
                                        <p:tgtEl>
                                          <p:spTgt spid="894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497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8A1A276-DB2D-4E25-A274-1470C140DDC7}" type="slidenum">
              <a:rPr lang="en-US" altLang="zh-CN" sz="1400"/>
              <a:pPr eaLnBrk="1" hangingPunct="1"/>
              <a:t>110</a:t>
            </a:fld>
            <a:endParaRPr lang="en-US" altLang="zh-CN" sz="1400"/>
          </a:p>
        </p:txBody>
      </p:sp>
      <p:sp>
        <p:nvSpPr>
          <p:cNvPr id="896002" name="Rectangle 2"/>
          <p:cNvSpPr>
            <a:spLocks noChangeArrowheads="1"/>
          </p:cNvSpPr>
          <p:nvPr/>
        </p:nvSpPr>
        <p:spPr bwMode="auto">
          <a:xfrm>
            <a:off x="228600" y="990600"/>
            <a:ext cx="853440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b="1"/>
              <a:t>IIR2:  </a:t>
            </a:r>
            <a:r>
              <a:rPr lang="en-US" altLang="zh-CN" b="1">
                <a:solidFill>
                  <a:srgbClr val="FF6600"/>
                </a:solidFill>
              </a:rPr>
              <a:t>PORTR PA1,*AR3           </a:t>
            </a:r>
            <a:r>
              <a:rPr lang="zh-CN" altLang="en-US" b="1">
                <a:solidFill>
                  <a:srgbClr val="FF6600"/>
                </a:solidFill>
              </a:rPr>
              <a:t>；从</a:t>
            </a:r>
            <a:r>
              <a:rPr lang="en-US" altLang="zh-CN" b="1">
                <a:solidFill>
                  <a:srgbClr val="FF6600"/>
                </a:solidFill>
              </a:rPr>
              <a:t>PA1</a:t>
            </a:r>
            <a:r>
              <a:rPr lang="zh-CN" altLang="en-US" b="1">
                <a:solidFill>
                  <a:srgbClr val="FF6600"/>
                </a:solidFill>
              </a:rPr>
              <a:t>口输入数据到</a:t>
            </a:r>
            <a:r>
              <a:rPr lang="en-US" altLang="zh-CN" b="1">
                <a:solidFill>
                  <a:srgbClr val="FF6600"/>
                </a:solidFill>
              </a:rPr>
              <a:t>x</a:t>
            </a:r>
            <a:r>
              <a:rPr lang="zh-CN" altLang="en-US" b="1">
                <a:solidFill>
                  <a:srgbClr val="FF6600"/>
                </a:solidFill>
              </a:rPr>
              <a:t>（</a:t>
            </a:r>
            <a:r>
              <a:rPr lang="en-US" altLang="zh-CN" b="1">
                <a:solidFill>
                  <a:srgbClr val="FF6600"/>
                </a:solidFill>
              </a:rPr>
              <a:t>n</a:t>
            </a:r>
            <a:r>
              <a:rPr lang="zh-CN" altLang="en-US" b="1">
                <a:solidFill>
                  <a:srgbClr val="FF6600"/>
                </a:solidFill>
              </a:rPr>
              <a:t>）</a:t>
            </a:r>
          </a:p>
          <a:p>
            <a:pPr algn="just"/>
            <a:r>
              <a:rPr lang="zh-CN" altLang="en-US" b="1"/>
              <a:t>          </a:t>
            </a:r>
            <a:r>
              <a:rPr lang="en-US" altLang="zh-CN" b="1">
                <a:solidFill>
                  <a:schemeClr val="folHlink"/>
                </a:solidFill>
              </a:rPr>
              <a:t>LD         *AR3+0%,16,A    </a:t>
            </a:r>
            <a:r>
              <a:rPr lang="zh-CN" altLang="en-US" b="1">
                <a:solidFill>
                  <a:schemeClr val="folHlink"/>
                </a:solidFill>
              </a:rPr>
              <a:t>；计算反馈通道，</a:t>
            </a:r>
            <a:r>
              <a:rPr lang="en-US" altLang="zh-CN" b="1">
                <a:solidFill>
                  <a:schemeClr val="folHlink"/>
                </a:solidFill>
              </a:rPr>
              <a:t>A=x</a:t>
            </a:r>
            <a:r>
              <a:rPr lang="zh-CN" altLang="en-US" b="1">
                <a:solidFill>
                  <a:schemeClr val="folHlink"/>
                </a:solidFill>
              </a:rPr>
              <a:t>（</a:t>
            </a:r>
            <a:r>
              <a:rPr lang="en-US" altLang="zh-CN" b="1">
                <a:solidFill>
                  <a:schemeClr val="folHlink"/>
                </a:solidFill>
              </a:rPr>
              <a:t>n</a:t>
            </a:r>
            <a:r>
              <a:rPr lang="zh-CN" altLang="en-US" b="1">
                <a:solidFill>
                  <a:schemeClr val="folHlink"/>
                </a:solidFill>
              </a:rPr>
              <a:t>）</a:t>
            </a:r>
          </a:p>
          <a:p>
            <a:pPr algn="just"/>
            <a:r>
              <a:rPr lang="zh-CN" altLang="en-US" b="1"/>
              <a:t>          </a:t>
            </a:r>
            <a:r>
              <a:rPr lang="en-US" altLang="zh-CN" b="1">
                <a:solidFill>
                  <a:srgbClr val="FF6600"/>
                </a:solidFill>
              </a:rPr>
              <a:t>MAC     *AR3,*AR4,A</a:t>
            </a:r>
            <a:r>
              <a:rPr lang="en-US" altLang="zh-CN" b="1"/>
              <a:t>      </a:t>
            </a:r>
            <a:r>
              <a:rPr lang="zh-CN" altLang="en-US" b="1"/>
              <a:t>；</a:t>
            </a:r>
            <a:r>
              <a:rPr lang="en-US" altLang="zh-CN" b="1"/>
              <a:t>A=x</a:t>
            </a:r>
            <a:r>
              <a:rPr lang="zh-CN" altLang="en-US" b="1"/>
              <a:t>（</a:t>
            </a:r>
            <a:r>
              <a:rPr lang="en-US" altLang="zh-CN" b="1"/>
              <a:t>n</a:t>
            </a:r>
            <a:r>
              <a:rPr lang="zh-CN" altLang="en-US" b="1"/>
              <a:t>）</a:t>
            </a:r>
            <a:r>
              <a:rPr lang="en-US" altLang="zh-CN" b="1"/>
              <a:t>+A1*x1</a:t>
            </a:r>
          </a:p>
          <a:p>
            <a:pPr algn="just"/>
            <a:r>
              <a:rPr lang="en-US" altLang="zh-CN" b="1"/>
              <a:t>          </a:t>
            </a:r>
            <a:r>
              <a:rPr lang="en-US" altLang="zh-CN" b="1">
                <a:solidFill>
                  <a:srgbClr val="FF6600"/>
                </a:solidFill>
              </a:rPr>
              <a:t>MAC     *AR3+0%,*AR4-,A</a:t>
            </a:r>
            <a:r>
              <a:rPr lang="en-US" altLang="zh-CN" b="1"/>
              <a:t>  </a:t>
            </a:r>
            <a:r>
              <a:rPr lang="zh-CN" altLang="en-US" b="1"/>
              <a:t>；</a:t>
            </a:r>
            <a:r>
              <a:rPr lang="en-US" altLang="zh-CN" b="1"/>
              <a:t>A=x</a:t>
            </a:r>
            <a:r>
              <a:rPr lang="zh-CN" altLang="en-US" b="1"/>
              <a:t>（</a:t>
            </a:r>
            <a:r>
              <a:rPr lang="en-US" altLang="zh-CN" b="1"/>
              <a:t>n</a:t>
            </a:r>
            <a:r>
              <a:rPr lang="zh-CN" altLang="en-US" b="1"/>
              <a:t>）</a:t>
            </a:r>
            <a:r>
              <a:rPr lang="en-US" altLang="zh-CN" b="1"/>
              <a:t>+A1*x1+A1*x1</a:t>
            </a:r>
          </a:p>
          <a:p>
            <a:pPr algn="just"/>
            <a:r>
              <a:rPr lang="en-US" altLang="zh-CN" b="1"/>
              <a:t>          </a:t>
            </a:r>
            <a:r>
              <a:rPr lang="en-US" altLang="zh-CN" b="1">
                <a:solidFill>
                  <a:srgbClr val="FF6600"/>
                </a:solidFill>
              </a:rPr>
              <a:t>MAC     *AR3+0%,*AR4-,A</a:t>
            </a:r>
            <a:r>
              <a:rPr lang="en-US" altLang="zh-CN" b="1"/>
              <a:t> </a:t>
            </a:r>
            <a:r>
              <a:rPr lang="zh-CN" altLang="en-US" b="1"/>
              <a:t>；</a:t>
            </a:r>
            <a:r>
              <a:rPr lang="en-US" altLang="zh-CN" b="1"/>
              <a:t>A=x</a:t>
            </a:r>
            <a:r>
              <a:rPr lang="zh-CN" altLang="en-US" b="1"/>
              <a:t>（</a:t>
            </a:r>
            <a:r>
              <a:rPr lang="en-US" altLang="zh-CN" b="1"/>
              <a:t>n</a:t>
            </a:r>
            <a:r>
              <a:rPr lang="zh-CN" altLang="en-US" b="1"/>
              <a:t>）</a:t>
            </a:r>
            <a:r>
              <a:rPr lang="en-US" altLang="zh-CN" b="1"/>
              <a:t>+</a:t>
            </a:r>
          </a:p>
          <a:p>
            <a:pPr algn="just"/>
            <a:r>
              <a:rPr lang="en-US" altLang="zh-CN" b="1"/>
              <a:t>                                                        </a:t>
            </a:r>
            <a:r>
              <a:rPr lang="zh-CN" altLang="en-US" b="1"/>
              <a:t>；</a:t>
            </a:r>
            <a:r>
              <a:rPr lang="en-US" altLang="zh-CN" b="1"/>
              <a:t>2*A1*x1+A2*x2=x0</a:t>
            </a:r>
          </a:p>
          <a:p>
            <a:pPr algn="just"/>
            <a:r>
              <a:rPr lang="en-US" altLang="zh-CN" b="1"/>
              <a:t>         </a:t>
            </a:r>
            <a:r>
              <a:rPr lang="en-US" altLang="zh-CN" b="1">
                <a:solidFill>
                  <a:srgbClr val="FF0000"/>
                </a:solidFill>
              </a:rPr>
              <a:t>STH        A,*AR3                 </a:t>
            </a:r>
            <a:r>
              <a:rPr lang="zh-CN" altLang="en-US" b="1">
                <a:solidFill>
                  <a:srgbClr val="FF0000"/>
                </a:solidFill>
              </a:rPr>
              <a:t>；保存</a:t>
            </a:r>
            <a:r>
              <a:rPr lang="en-US" altLang="zh-CN" b="1">
                <a:solidFill>
                  <a:srgbClr val="FF0000"/>
                </a:solidFill>
              </a:rPr>
              <a:t>x0</a:t>
            </a:r>
          </a:p>
          <a:p>
            <a:pPr algn="just"/>
            <a:r>
              <a:rPr lang="en-US" altLang="zh-CN" b="1"/>
              <a:t>         </a:t>
            </a:r>
            <a:r>
              <a:rPr lang="en-US" altLang="zh-CN" b="1">
                <a:solidFill>
                  <a:schemeClr val="tx2"/>
                </a:solidFill>
              </a:rPr>
              <a:t>MPY       *AR3+0%,*AR4-,A</a:t>
            </a:r>
            <a:r>
              <a:rPr lang="en-US" altLang="zh-CN" b="1"/>
              <a:t>  </a:t>
            </a:r>
            <a:r>
              <a:rPr lang="zh-CN" altLang="en-US" b="1"/>
              <a:t>；计算前向通道。</a:t>
            </a:r>
            <a:r>
              <a:rPr lang="en-US" altLang="zh-CN" b="1"/>
              <a:t>A=B0*x0</a:t>
            </a:r>
          </a:p>
          <a:p>
            <a:pPr algn="just"/>
            <a:r>
              <a:rPr lang="en-US" altLang="zh-CN" b="1"/>
              <a:t>         </a:t>
            </a:r>
            <a:r>
              <a:rPr lang="en-US" altLang="zh-CN" b="1">
                <a:solidFill>
                  <a:schemeClr val="tx2"/>
                </a:solidFill>
              </a:rPr>
              <a:t>MAC       *AR3+0%,*AR4-,A</a:t>
            </a:r>
            <a:r>
              <a:rPr lang="en-US" altLang="zh-CN" b="1"/>
              <a:t>  </a:t>
            </a:r>
            <a:r>
              <a:rPr lang="zh-CN" altLang="en-US" b="1"/>
              <a:t>；</a:t>
            </a:r>
            <a:r>
              <a:rPr lang="en-US" altLang="zh-CN" b="1"/>
              <a:t>A=B0*x0+B1*x1</a:t>
            </a:r>
          </a:p>
          <a:p>
            <a:pPr algn="just"/>
            <a:r>
              <a:rPr lang="en-US" altLang="zh-CN" b="1"/>
              <a:t>         </a:t>
            </a:r>
            <a:r>
              <a:rPr lang="en-US" altLang="zh-CN" b="1">
                <a:solidFill>
                  <a:schemeClr val="tx2"/>
                </a:solidFill>
              </a:rPr>
              <a:t>MAC      *AR3,*AR4-,A</a:t>
            </a:r>
            <a:r>
              <a:rPr lang="en-US" altLang="zh-CN" b="1"/>
              <a:t>     </a:t>
            </a:r>
            <a:r>
              <a:rPr lang="zh-CN" altLang="en-US" sz="2000" b="1"/>
              <a:t>；</a:t>
            </a:r>
            <a:r>
              <a:rPr lang="en-US" altLang="zh-CN" sz="2000" b="1"/>
              <a:t>A=B0*x0+B1*x1+B2*x2=y</a:t>
            </a:r>
            <a:r>
              <a:rPr lang="zh-CN" altLang="en-US" sz="2000" b="1"/>
              <a:t>（</a:t>
            </a:r>
            <a:r>
              <a:rPr lang="en-US" altLang="zh-CN" sz="2000" b="1"/>
              <a:t>n</a:t>
            </a:r>
            <a:r>
              <a:rPr lang="zh-CN" altLang="en-US" sz="2000" b="1"/>
              <a:t>）</a:t>
            </a:r>
          </a:p>
          <a:p>
            <a:pPr algn="just"/>
            <a:r>
              <a:rPr lang="zh-CN" altLang="en-US" b="1"/>
              <a:t>         </a:t>
            </a:r>
            <a:r>
              <a:rPr lang="en-US" altLang="zh-CN" b="1">
                <a:solidFill>
                  <a:srgbClr val="FF0000"/>
                </a:solidFill>
              </a:rPr>
              <a:t>STH        A,*AR3                 </a:t>
            </a:r>
            <a:r>
              <a:rPr lang="zh-CN" altLang="en-US" b="1">
                <a:solidFill>
                  <a:srgbClr val="FF0000"/>
                </a:solidFill>
              </a:rPr>
              <a:t>；保存</a:t>
            </a:r>
            <a:r>
              <a:rPr lang="en-US" altLang="zh-CN" b="1">
                <a:solidFill>
                  <a:srgbClr val="FF0000"/>
                </a:solidFill>
              </a:rPr>
              <a:t>y</a:t>
            </a:r>
            <a:r>
              <a:rPr lang="zh-CN" altLang="en-US" b="1">
                <a:solidFill>
                  <a:srgbClr val="FF0000"/>
                </a:solidFill>
              </a:rPr>
              <a:t>（</a:t>
            </a:r>
            <a:r>
              <a:rPr lang="en-US" altLang="zh-CN" b="1">
                <a:solidFill>
                  <a:srgbClr val="FF0000"/>
                </a:solidFill>
              </a:rPr>
              <a:t>n</a:t>
            </a:r>
            <a:r>
              <a:rPr lang="zh-CN" altLang="en-US" b="1">
                <a:solidFill>
                  <a:srgbClr val="FF0000"/>
                </a:solidFill>
              </a:rPr>
              <a:t>）</a:t>
            </a:r>
          </a:p>
          <a:p>
            <a:pPr algn="just"/>
            <a:r>
              <a:rPr lang="zh-CN" altLang="en-US" b="1"/>
              <a:t>         </a:t>
            </a:r>
            <a:r>
              <a:rPr lang="en-US" altLang="zh-CN" b="1"/>
              <a:t>MVMM  AR1,AR4              </a:t>
            </a:r>
            <a:r>
              <a:rPr lang="zh-CN" altLang="en-US" b="1"/>
              <a:t>；</a:t>
            </a:r>
            <a:r>
              <a:rPr lang="en-US" altLang="zh-CN" b="1"/>
              <a:t>AR4</a:t>
            </a:r>
            <a:r>
              <a:rPr lang="zh-CN" altLang="en-US" b="1"/>
              <a:t>重新指向</a:t>
            </a:r>
            <a:r>
              <a:rPr lang="en-US" altLang="zh-CN" b="1"/>
              <a:t>A1</a:t>
            </a:r>
          </a:p>
          <a:p>
            <a:pPr algn="just"/>
            <a:r>
              <a:rPr lang="en-US" altLang="zh-CN" b="1"/>
              <a:t>         BD          IIR2                       </a:t>
            </a:r>
            <a:r>
              <a:rPr lang="zh-CN" altLang="en-US" b="1"/>
              <a:t>；执行完下条指令后循环</a:t>
            </a:r>
          </a:p>
          <a:p>
            <a:pPr algn="just"/>
            <a:r>
              <a:rPr lang="zh-CN" altLang="en-US" b="1"/>
              <a:t>         </a:t>
            </a:r>
            <a:r>
              <a:rPr lang="en-US" altLang="zh-CN" b="1">
                <a:solidFill>
                  <a:srgbClr val="FF0000"/>
                </a:solidFill>
              </a:rPr>
              <a:t>PORTW *AR3,PA0             </a:t>
            </a:r>
            <a:r>
              <a:rPr lang="zh-CN" altLang="en-US" b="1">
                <a:solidFill>
                  <a:srgbClr val="FF0000"/>
                </a:solidFill>
              </a:rPr>
              <a:t>；向</a:t>
            </a:r>
            <a:r>
              <a:rPr lang="en-US" altLang="zh-CN" b="1">
                <a:solidFill>
                  <a:srgbClr val="FF0000"/>
                </a:solidFill>
              </a:rPr>
              <a:t>PA0</a:t>
            </a:r>
            <a:r>
              <a:rPr lang="zh-CN" altLang="en-US" b="1">
                <a:solidFill>
                  <a:srgbClr val="FF0000"/>
                </a:solidFill>
              </a:rPr>
              <a:t>口输出数据</a:t>
            </a:r>
          </a:p>
          <a:p>
            <a:pPr algn="just"/>
            <a:r>
              <a:rPr lang="zh-CN" altLang="en-US" b="1"/>
              <a:t>         </a:t>
            </a:r>
            <a:r>
              <a:rPr lang="en-US" altLang="zh-CN" b="1"/>
              <a:t>.end</a:t>
            </a:r>
          </a:p>
        </p:txBody>
      </p:sp>
      <p:sp>
        <p:nvSpPr>
          <p:cNvPr id="896003" name="Rectangle 3" descr="小棋盘"/>
          <p:cNvSpPr>
            <a:spLocks noChangeArrowheads="1"/>
          </p:cNvSpPr>
          <p:nvPr/>
        </p:nvSpPr>
        <p:spPr bwMode="auto">
          <a:xfrm>
            <a:off x="179388" y="1700213"/>
            <a:ext cx="576262" cy="16383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后向运算</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113669" name="AutoShape 4"/>
          <p:cNvSpPr>
            <a:spLocks/>
          </p:cNvSpPr>
          <p:nvPr/>
        </p:nvSpPr>
        <p:spPr bwMode="auto">
          <a:xfrm>
            <a:off x="827088" y="1700213"/>
            <a:ext cx="142875" cy="1657350"/>
          </a:xfrm>
          <a:prstGeom prst="leftBrace">
            <a:avLst>
              <a:gd name="adj1" fmla="val 96667"/>
              <a:gd name="adj2"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96005" name="Rectangle 5" descr="小棋盘"/>
          <p:cNvSpPr>
            <a:spLocks noChangeArrowheads="1"/>
          </p:cNvSpPr>
          <p:nvPr/>
        </p:nvSpPr>
        <p:spPr bwMode="auto">
          <a:xfrm>
            <a:off x="179388" y="3500438"/>
            <a:ext cx="576262" cy="16383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前向运算</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113671" name="AutoShape 6"/>
          <p:cNvSpPr>
            <a:spLocks/>
          </p:cNvSpPr>
          <p:nvPr/>
        </p:nvSpPr>
        <p:spPr bwMode="auto">
          <a:xfrm>
            <a:off x="827088" y="3716338"/>
            <a:ext cx="144462" cy="1225550"/>
          </a:xfrm>
          <a:prstGeom prst="leftBrace">
            <a:avLst>
              <a:gd name="adj1" fmla="val 70696"/>
              <a:gd name="adj2"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113672"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188" y="2420938"/>
            <a:ext cx="1319212"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73"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6188" y="5751513"/>
            <a:ext cx="1363662" cy="110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75"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5375" y="0"/>
            <a:ext cx="3009900" cy="10525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96002"/>
                                        </p:tgtEl>
                                        <p:attrNameLst>
                                          <p:attrName>style.visibility</p:attrName>
                                        </p:attrNameLst>
                                      </p:cBhvr>
                                      <p:to>
                                        <p:strVal val="visible"/>
                                      </p:to>
                                    </p:set>
                                    <p:animEffect transition="in" filter="blinds(horizontal)">
                                      <p:cBhvr>
                                        <p:cTn id="7" dur="500"/>
                                        <p:tgtEl>
                                          <p:spTgt spid="896002"/>
                                        </p:tgtEl>
                                      </p:cBhvr>
                                    </p:animEffect>
                                  </p:childTnLst>
                                </p:cTn>
                              </p:par>
                            </p:childTnLst>
                          </p:cTn>
                        </p:par>
                        <p:par>
                          <p:cTn id="8" fill="hold" nodeType="afterGroup">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896003"/>
                                        </p:tgtEl>
                                        <p:attrNameLst>
                                          <p:attrName>style.visibility</p:attrName>
                                        </p:attrNameLst>
                                      </p:cBhvr>
                                      <p:to>
                                        <p:strVal val="visible"/>
                                      </p:to>
                                    </p:set>
                                    <p:animEffect transition="in" filter="slide(fromTop)">
                                      <p:cBhvr>
                                        <p:cTn id="11" dur="500"/>
                                        <p:tgtEl>
                                          <p:spTgt spid="896003"/>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896005"/>
                                        </p:tgtEl>
                                        <p:attrNameLst>
                                          <p:attrName>style.visibility</p:attrName>
                                        </p:attrNameLst>
                                      </p:cBhvr>
                                      <p:to>
                                        <p:strVal val="visible"/>
                                      </p:to>
                                    </p:set>
                                    <p:animEffect transition="in" filter="slide(fromTop)">
                                      <p:cBhvr>
                                        <p:cTn id="15" dur="500"/>
                                        <p:tgtEl>
                                          <p:spTgt spid="896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6002" grpId="0"/>
      <p:bldP spid="896003" grpId="0" animBg="1"/>
      <p:bldP spid="896005"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1870ADE-718A-42AD-BBF7-C9D8F73CE637}" type="slidenum">
              <a:rPr lang="en-US" altLang="zh-CN" sz="1400"/>
              <a:pPr eaLnBrk="1" hangingPunct="1"/>
              <a:t>111</a:t>
            </a:fld>
            <a:endParaRPr lang="en-US" altLang="zh-CN" sz="1400"/>
          </a:p>
        </p:txBody>
      </p:sp>
      <p:sp>
        <p:nvSpPr>
          <p:cNvPr id="897026" name="Rectangle 2" descr="小棋盘"/>
          <p:cNvSpPr>
            <a:spLocks noChangeArrowheads="1"/>
          </p:cNvSpPr>
          <p:nvPr/>
        </p:nvSpPr>
        <p:spPr bwMode="auto">
          <a:xfrm>
            <a:off x="533400" y="1143000"/>
            <a:ext cx="8077200" cy="588963"/>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FF0000"/>
                </a:solidFill>
                <a:latin typeface="宋体" panose="02010600030101010101" pitchFamily="2" charset="-122"/>
                <a:cs typeface="Times New Roman" panose="02020603050405020304" pitchFamily="18" charset="0"/>
              </a:rPr>
              <a:t>（</a:t>
            </a:r>
            <a:r>
              <a:rPr lang="en-US" altLang="zh-CN" sz="3200" b="1">
                <a:solidFill>
                  <a:srgbClr val="FF0000"/>
                </a:solidFill>
                <a:latin typeface="宋体" panose="02010600030101010101" pitchFamily="2" charset="-122"/>
                <a:cs typeface="Times New Roman" panose="02020603050405020304" pitchFamily="18" charset="0"/>
              </a:rPr>
              <a:t>3</a:t>
            </a:r>
            <a:r>
              <a:rPr lang="zh-CN" altLang="en-US" sz="3200" b="1">
                <a:solidFill>
                  <a:srgbClr val="FF0000"/>
                </a:solidFill>
                <a:latin typeface="宋体" panose="02010600030101010101" pitchFamily="2" charset="-122"/>
                <a:cs typeface="Times New Roman" panose="02020603050405020304" pitchFamily="18" charset="0"/>
              </a:rPr>
              <a:t>）直接形式二阶</a:t>
            </a:r>
            <a:r>
              <a:rPr lang="en-US" altLang="zh-CN" sz="3200" b="1">
                <a:solidFill>
                  <a:srgbClr val="FF0000"/>
                </a:solidFill>
                <a:latin typeface="宋体" panose="02010600030101010101" pitchFamily="2" charset="-122"/>
                <a:cs typeface="Times New Roman" panose="02020603050405020304" pitchFamily="18" charset="0"/>
              </a:rPr>
              <a:t>IIR</a:t>
            </a:r>
            <a:r>
              <a:rPr lang="zh-CN" altLang="en-US" sz="3200" b="1">
                <a:solidFill>
                  <a:srgbClr val="FF0000"/>
                </a:solidFill>
                <a:latin typeface="宋体" panose="02010600030101010101" pitchFamily="2" charset="-122"/>
                <a:cs typeface="Times New Roman" panose="02020603050405020304" pitchFamily="18" charset="0"/>
              </a:rPr>
              <a:t>滤波器的实现法</a:t>
            </a:r>
          </a:p>
        </p:txBody>
      </p:sp>
      <p:sp>
        <p:nvSpPr>
          <p:cNvPr id="897029" name="Rectangle 5"/>
          <p:cNvSpPr>
            <a:spLocks noChangeArrowheads="1"/>
          </p:cNvSpPr>
          <p:nvPr/>
        </p:nvSpPr>
        <p:spPr bwMode="auto">
          <a:xfrm>
            <a:off x="395288" y="1989138"/>
            <a:ext cx="76327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800" b="1">
                <a:latin typeface="宋体" panose="02010600030101010101" pitchFamily="2" charset="-122"/>
                <a:cs typeface="Times New Roman" panose="02020603050405020304" pitchFamily="18" charset="0"/>
              </a:rPr>
              <a:t>  IIR</a:t>
            </a:r>
            <a:r>
              <a:rPr lang="zh-CN" altLang="en-US" sz="2800" b="1">
                <a:latin typeface="宋体" panose="02010600030101010101" pitchFamily="2" charset="-122"/>
              </a:rPr>
              <a:t>差分方程为：</a:t>
            </a:r>
            <a:endParaRPr lang="zh-CN" altLang="en-US" sz="2800" b="1"/>
          </a:p>
          <a:p>
            <a:pPr algn="just" eaLnBrk="1" hangingPunct="1"/>
            <a:r>
              <a:rPr lang="en-US" altLang="zh-CN" sz="2800" b="1">
                <a:latin typeface="宋体" panose="02010600030101010101" pitchFamily="2" charset="-122"/>
              </a:rPr>
              <a:t>y</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=B0*x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+B1*x</a:t>
            </a:r>
            <a:r>
              <a:rPr lang="zh-CN" altLang="en-US" sz="2800" b="1">
                <a:latin typeface="宋体" panose="02010600030101010101" pitchFamily="2" charset="-122"/>
              </a:rPr>
              <a:t>（</a:t>
            </a:r>
            <a:r>
              <a:rPr lang="en-US" altLang="zh-CN" sz="2800" b="1">
                <a:latin typeface="宋体" panose="02010600030101010101" pitchFamily="2" charset="-122"/>
              </a:rPr>
              <a:t>n-1</a:t>
            </a:r>
            <a:r>
              <a:rPr lang="zh-CN" altLang="en-US" sz="2800" b="1">
                <a:latin typeface="宋体" panose="02010600030101010101" pitchFamily="2" charset="-122"/>
              </a:rPr>
              <a:t>）</a:t>
            </a:r>
            <a:r>
              <a:rPr lang="en-US" altLang="zh-CN" sz="2800" b="1">
                <a:latin typeface="宋体" panose="02010600030101010101" pitchFamily="2" charset="-122"/>
              </a:rPr>
              <a:t>+B2*x</a:t>
            </a:r>
            <a:r>
              <a:rPr lang="zh-CN" altLang="en-US" sz="2800" b="1">
                <a:latin typeface="宋体" panose="02010600030101010101" pitchFamily="2" charset="-122"/>
              </a:rPr>
              <a:t>（</a:t>
            </a:r>
            <a:r>
              <a:rPr lang="en-US" altLang="zh-CN" sz="2800" b="1">
                <a:latin typeface="宋体" panose="02010600030101010101" pitchFamily="2" charset="-122"/>
              </a:rPr>
              <a:t>n-2</a:t>
            </a:r>
            <a:r>
              <a:rPr lang="zh-CN" altLang="en-US" sz="2800" b="1">
                <a:latin typeface="宋体" panose="02010600030101010101" pitchFamily="2" charset="-122"/>
              </a:rPr>
              <a:t>）</a:t>
            </a:r>
            <a:endParaRPr lang="zh-CN" altLang="en-US" sz="2800" b="1"/>
          </a:p>
          <a:p>
            <a:pPr algn="just"/>
            <a:r>
              <a:rPr lang="en-US" altLang="zh-CN" sz="2800" b="1">
                <a:latin typeface="宋体" panose="02010600030101010101" pitchFamily="2" charset="-122"/>
              </a:rPr>
              <a:t>+A1*y</a:t>
            </a:r>
            <a:r>
              <a:rPr lang="zh-CN" altLang="en-US" sz="2800" b="1">
                <a:latin typeface="宋体" panose="02010600030101010101" pitchFamily="2" charset="-122"/>
              </a:rPr>
              <a:t>（</a:t>
            </a:r>
            <a:r>
              <a:rPr lang="en-US" altLang="zh-CN" sz="2800" b="1">
                <a:latin typeface="宋体" panose="02010600030101010101" pitchFamily="2" charset="-122"/>
              </a:rPr>
              <a:t>n-1</a:t>
            </a:r>
            <a:r>
              <a:rPr lang="zh-CN" altLang="en-US" sz="2800" b="1">
                <a:latin typeface="宋体" panose="02010600030101010101" pitchFamily="2" charset="-122"/>
              </a:rPr>
              <a:t>）</a:t>
            </a:r>
            <a:r>
              <a:rPr lang="en-US" altLang="zh-CN" sz="2800" b="1">
                <a:latin typeface="宋体" panose="02010600030101010101" pitchFamily="2" charset="-122"/>
              </a:rPr>
              <a:t>+A2*y</a:t>
            </a:r>
            <a:r>
              <a:rPr lang="zh-CN" altLang="en-US" sz="2800" b="1">
                <a:latin typeface="宋体" panose="02010600030101010101" pitchFamily="2" charset="-122"/>
              </a:rPr>
              <a:t>（</a:t>
            </a:r>
            <a:r>
              <a:rPr lang="en-US" altLang="zh-CN" sz="2800" b="1">
                <a:latin typeface="宋体" panose="02010600030101010101" pitchFamily="2" charset="-122"/>
              </a:rPr>
              <a:t>n-2</a:t>
            </a:r>
            <a:r>
              <a:rPr lang="zh-CN" altLang="en-US" sz="2800" b="1">
                <a:latin typeface="宋体" panose="02010600030101010101" pitchFamily="2" charset="-122"/>
              </a:rPr>
              <a:t>）</a:t>
            </a:r>
            <a:endParaRPr lang="zh-CN" altLang="en-US" sz="2800" b="1"/>
          </a:p>
        </p:txBody>
      </p:sp>
      <p:sp>
        <p:nvSpPr>
          <p:cNvPr id="897032" name="Rectangle 8"/>
          <p:cNvSpPr>
            <a:spLocks noChangeArrowheads="1"/>
          </p:cNvSpPr>
          <p:nvPr/>
        </p:nvSpPr>
        <p:spPr bwMode="auto">
          <a:xfrm>
            <a:off x="611188" y="3644900"/>
            <a:ext cx="3917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latin typeface="宋体" panose="02010600030101010101" pitchFamily="2" charset="-122"/>
              </a:rPr>
              <a:t>IIR</a:t>
            </a:r>
            <a:r>
              <a:rPr lang="zh-CN" altLang="en-US" sz="2800" b="1">
                <a:latin typeface="宋体" panose="02010600030101010101" pitchFamily="2" charset="-122"/>
              </a:rPr>
              <a:t>的脉冲传递函数为：</a:t>
            </a:r>
          </a:p>
        </p:txBody>
      </p:sp>
      <p:graphicFrame>
        <p:nvGraphicFramePr>
          <p:cNvPr id="15362" name="Object 9"/>
          <p:cNvGraphicFramePr>
            <a:graphicFrameLocks noChangeAspect="1"/>
          </p:cNvGraphicFramePr>
          <p:nvPr/>
        </p:nvGraphicFramePr>
        <p:xfrm>
          <a:off x="395288" y="4941888"/>
          <a:ext cx="3744912" cy="1103312"/>
        </p:xfrm>
        <a:graphic>
          <a:graphicData uri="http://schemas.openxmlformats.org/presentationml/2006/ole">
            <mc:AlternateContent xmlns:mc="http://schemas.openxmlformats.org/markup-compatibility/2006">
              <mc:Choice xmlns:v="urn:schemas-microsoft-com:vml" Requires="v">
                <p:oleObj spid="_x0000_s14338" name="公式" r:id="rId3" imgW="1422400" imgH="419100" progId="">
                  <p:embed/>
                </p:oleObj>
              </mc:Choice>
              <mc:Fallback>
                <p:oleObj name="公式" r:id="rId3" imgW="1422400" imgH="419100" progId="">
                  <p:embed/>
                  <p:pic>
                    <p:nvPicPr>
                      <p:cNvPr id="0" name="Picture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4941888"/>
                        <a:ext cx="3744912" cy="110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7" name="Text Box 14"/>
          <p:cNvSpPr txBox="1">
            <a:spLocks noChangeArrowheads="1"/>
          </p:cNvSpPr>
          <p:nvPr/>
        </p:nvSpPr>
        <p:spPr bwMode="auto">
          <a:xfrm>
            <a:off x="5235575" y="4527550"/>
            <a:ext cx="547688" cy="446088"/>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t>z</a:t>
            </a:r>
            <a:r>
              <a:rPr lang="en-US" altLang="zh-CN" sz="2800" b="1" baseline="30000"/>
              <a:t>-1</a:t>
            </a:r>
          </a:p>
        </p:txBody>
      </p:sp>
      <p:sp>
        <p:nvSpPr>
          <p:cNvPr id="15368" name="Line 15"/>
          <p:cNvSpPr>
            <a:spLocks noChangeShapeType="1"/>
          </p:cNvSpPr>
          <p:nvPr/>
        </p:nvSpPr>
        <p:spPr bwMode="auto">
          <a:xfrm>
            <a:off x="7210425" y="6054725"/>
            <a:ext cx="889000" cy="0"/>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369" name="Line 17"/>
          <p:cNvSpPr>
            <a:spLocks noChangeShapeType="1"/>
          </p:cNvSpPr>
          <p:nvPr/>
        </p:nvSpPr>
        <p:spPr bwMode="auto">
          <a:xfrm>
            <a:off x="5659438" y="4095750"/>
            <a:ext cx="568325"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370" name="Line 25"/>
          <p:cNvSpPr>
            <a:spLocks noChangeShapeType="1"/>
          </p:cNvSpPr>
          <p:nvPr/>
        </p:nvSpPr>
        <p:spPr bwMode="auto">
          <a:xfrm>
            <a:off x="5507038" y="5719763"/>
            <a:ext cx="0" cy="350837"/>
          </a:xfrm>
          <a:prstGeom prst="line">
            <a:avLst/>
          </a:prstGeom>
          <a:noFill/>
          <a:ln w="2857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371" name="Text Box 28"/>
          <p:cNvSpPr txBox="1">
            <a:spLocks noChangeArrowheads="1"/>
          </p:cNvSpPr>
          <p:nvPr/>
        </p:nvSpPr>
        <p:spPr bwMode="auto">
          <a:xfrm>
            <a:off x="5219700" y="5295900"/>
            <a:ext cx="576263" cy="446088"/>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t>z</a:t>
            </a:r>
            <a:r>
              <a:rPr lang="en-US" altLang="zh-CN" sz="2800" b="1" baseline="30000"/>
              <a:t>-1</a:t>
            </a:r>
          </a:p>
        </p:txBody>
      </p:sp>
      <p:sp>
        <p:nvSpPr>
          <p:cNvPr id="15372" name="Text Box 41"/>
          <p:cNvSpPr txBox="1">
            <a:spLocks noChangeArrowheads="1"/>
          </p:cNvSpPr>
          <p:nvPr/>
        </p:nvSpPr>
        <p:spPr bwMode="auto">
          <a:xfrm>
            <a:off x="7378700" y="4672013"/>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A</a:t>
            </a:r>
            <a:r>
              <a:rPr lang="en-US" altLang="zh-CN" sz="2000" b="1" baseline="-25000">
                <a:solidFill>
                  <a:schemeClr val="tx2"/>
                </a:solidFill>
              </a:rPr>
              <a:t>1</a:t>
            </a:r>
          </a:p>
        </p:txBody>
      </p:sp>
      <p:sp>
        <p:nvSpPr>
          <p:cNvPr id="15373" name="Text Box 42"/>
          <p:cNvSpPr txBox="1">
            <a:spLocks noChangeArrowheads="1"/>
          </p:cNvSpPr>
          <p:nvPr/>
        </p:nvSpPr>
        <p:spPr bwMode="auto">
          <a:xfrm>
            <a:off x="7378700" y="5607050"/>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tx2"/>
                </a:solidFill>
              </a:rPr>
              <a:t>A</a:t>
            </a:r>
            <a:r>
              <a:rPr lang="en-US" altLang="zh-CN" sz="2000" b="1" baseline="-25000">
                <a:solidFill>
                  <a:schemeClr val="tx2"/>
                </a:solidFill>
              </a:rPr>
              <a:t>2</a:t>
            </a:r>
          </a:p>
        </p:txBody>
      </p:sp>
      <p:sp>
        <p:nvSpPr>
          <p:cNvPr id="15374" name="Text Box 43"/>
          <p:cNvSpPr txBox="1">
            <a:spLocks noChangeArrowheads="1"/>
          </p:cNvSpPr>
          <p:nvPr/>
        </p:nvSpPr>
        <p:spPr bwMode="auto">
          <a:xfrm>
            <a:off x="7162800" y="6219825"/>
            <a:ext cx="1223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chemeClr val="tx2"/>
                </a:solidFill>
              </a:rPr>
              <a:t>反馈通道</a:t>
            </a:r>
            <a:endParaRPr lang="zh-CN" altLang="en-US" sz="2000" b="1" baseline="-25000">
              <a:solidFill>
                <a:schemeClr val="tx2"/>
              </a:solidFill>
            </a:endParaRPr>
          </a:p>
        </p:txBody>
      </p:sp>
      <p:sp>
        <p:nvSpPr>
          <p:cNvPr id="15375" name="Line 47"/>
          <p:cNvSpPr>
            <a:spLocks noChangeShapeType="1"/>
          </p:cNvSpPr>
          <p:nvPr/>
        </p:nvSpPr>
        <p:spPr bwMode="auto">
          <a:xfrm>
            <a:off x="5507038" y="6070600"/>
            <a:ext cx="720725"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376" name="Text Box 49"/>
          <p:cNvSpPr txBox="1">
            <a:spLocks noChangeArrowheads="1"/>
          </p:cNvSpPr>
          <p:nvPr/>
        </p:nvSpPr>
        <p:spPr bwMode="auto">
          <a:xfrm>
            <a:off x="5867400" y="5535613"/>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2</a:t>
            </a:r>
          </a:p>
        </p:txBody>
      </p:sp>
      <p:sp>
        <p:nvSpPr>
          <p:cNvPr id="15377" name="Text Box 55"/>
          <p:cNvSpPr txBox="1">
            <a:spLocks noChangeArrowheads="1"/>
          </p:cNvSpPr>
          <p:nvPr/>
        </p:nvSpPr>
        <p:spPr bwMode="auto">
          <a:xfrm>
            <a:off x="5867400" y="4672013"/>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1</a:t>
            </a:r>
          </a:p>
        </p:txBody>
      </p:sp>
      <p:sp>
        <p:nvSpPr>
          <p:cNvPr id="15378" name="Line 59"/>
          <p:cNvSpPr>
            <a:spLocks noChangeShapeType="1"/>
          </p:cNvSpPr>
          <p:nvPr/>
        </p:nvSpPr>
        <p:spPr bwMode="auto">
          <a:xfrm>
            <a:off x="5507038" y="4238625"/>
            <a:ext cx="0" cy="288925"/>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379" name="Text Box 61"/>
          <p:cNvSpPr txBox="1">
            <a:spLocks noChangeArrowheads="1"/>
          </p:cNvSpPr>
          <p:nvPr/>
        </p:nvSpPr>
        <p:spPr bwMode="auto">
          <a:xfrm>
            <a:off x="5867400" y="3663950"/>
            <a:ext cx="35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chemeClr val="folHlink"/>
                </a:solidFill>
              </a:rPr>
              <a:t>B</a:t>
            </a:r>
            <a:r>
              <a:rPr lang="en-US" altLang="zh-CN" sz="2000" b="1" baseline="-25000">
                <a:solidFill>
                  <a:schemeClr val="folHlink"/>
                </a:solidFill>
              </a:rPr>
              <a:t>0</a:t>
            </a:r>
          </a:p>
        </p:txBody>
      </p:sp>
      <p:sp>
        <p:nvSpPr>
          <p:cNvPr id="15380" name="Text Box 71"/>
          <p:cNvSpPr txBox="1">
            <a:spLocks noChangeArrowheads="1"/>
          </p:cNvSpPr>
          <p:nvPr/>
        </p:nvSpPr>
        <p:spPr bwMode="auto">
          <a:xfrm>
            <a:off x="5219700" y="6219825"/>
            <a:ext cx="1223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chemeClr val="folHlink"/>
                </a:solidFill>
              </a:rPr>
              <a:t>前向通道</a:t>
            </a:r>
            <a:endParaRPr lang="zh-CN" altLang="en-US" sz="2000" b="1" baseline="-25000">
              <a:solidFill>
                <a:schemeClr val="folHlink"/>
              </a:solidFill>
            </a:endParaRPr>
          </a:p>
        </p:txBody>
      </p:sp>
      <p:sp>
        <p:nvSpPr>
          <p:cNvPr id="15381" name="Text Box 72"/>
          <p:cNvSpPr txBox="1">
            <a:spLocks noChangeArrowheads="1"/>
          </p:cNvSpPr>
          <p:nvPr/>
        </p:nvSpPr>
        <p:spPr bwMode="auto">
          <a:xfrm>
            <a:off x="8135938" y="3663950"/>
            <a:ext cx="719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y(n)</a:t>
            </a:r>
            <a:endParaRPr lang="en-US" altLang="zh-CN" sz="2000" b="1" baseline="-25000">
              <a:solidFill>
                <a:srgbClr val="FF0000"/>
              </a:solidFill>
            </a:endParaRPr>
          </a:p>
        </p:txBody>
      </p:sp>
      <p:grpSp>
        <p:nvGrpSpPr>
          <p:cNvPr id="15382" name="Group 73"/>
          <p:cNvGrpSpPr>
            <a:grpSpLocks/>
          </p:cNvGrpSpPr>
          <p:nvPr/>
        </p:nvGrpSpPr>
        <p:grpSpPr bwMode="auto">
          <a:xfrm>
            <a:off x="5367338" y="3929063"/>
            <a:ext cx="287337" cy="304800"/>
            <a:chOff x="884" y="2508"/>
            <a:chExt cx="182" cy="197"/>
          </a:xfrm>
        </p:grpSpPr>
        <p:sp>
          <p:nvSpPr>
            <p:cNvPr id="15414" name="Oval 74"/>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15" name="Text Box 75"/>
            <p:cNvSpPr txBox="1">
              <a:spLocks noChangeArrowheads="1"/>
            </p:cNvSpPr>
            <p:nvPr/>
          </p:nvSpPr>
          <p:spPr bwMode="auto">
            <a:xfrm>
              <a:off x="910" y="2508"/>
              <a:ext cx="1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5383" name="Line 76"/>
          <p:cNvSpPr>
            <a:spLocks noChangeShapeType="1"/>
          </p:cNvSpPr>
          <p:nvPr/>
        </p:nvSpPr>
        <p:spPr bwMode="auto">
          <a:xfrm>
            <a:off x="4935538" y="4087813"/>
            <a:ext cx="419100" cy="9525"/>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384" name="Text Box 77"/>
          <p:cNvSpPr txBox="1">
            <a:spLocks noChangeArrowheads="1"/>
          </p:cNvSpPr>
          <p:nvPr/>
        </p:nvSpPr>
        <p:spPr bwMode="auto">
          <a:xfrm>
            <a:off x="5003800" y="3663950"/>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b="1">
                <a:solidFill>
                  <a:srgbClr val="FF0000"/>
                </a:solidFill>
              </a:rPr>
              <a:t>x(n)</a:t>
            </a:r>
            <a:endParaRPr lang="en-US" altLang="zh-CN" sz="2000" b="1" baseline="-25000">
              <a:solidFill>
                <a:srgbClr val="FF0000"/>
              </a:solidFill>
            </a:endParaRPr>
          </a:p>
        </p:txBody>
      </p:sp>
      <p:sp>
        <p:nvSpPr>
          <p:cNvPr id="15385" name="Line 78"/>
          <p:cNvSpPr>
            <a:spLocks noChangeShapeType="1"/>
          </p:cNvSpPr>
          <p:nvPr/>
        </p:nvSpPr>
        <p:spPr bwMode="auto">
          <a:xfrm>
            <a:off x="6370638" y="4238625"/>
            <a:ext cx="0" cy="720725"/>
          </a:xfrm>
          <a:prstGeom prst="line">
            <a:avLst/>
          </a:prstGeom>
          <a:noFill/>
          <a:ln w="28575">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386" name="Line 79"/>
          <p:cNvSpPr>
            <a:spLocks noChangeShapeType="1"/>
          </p:cNvSpPr>
          <p:nvPr/>
        </p:nvSpPr>
        <p:spPr bwMode="auto">
          <a:xfrm>
            <a:off x="5507038" y="4967288"/>
            <a:ext cx="0" cy="352425"/>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5387" name="Group 80"/>
          <p:cNvGrpSpPr>
            <a:grpSpLocks/>
          </p:cNvGrpSpPr>
          <p:nvPr/>
        </p:nvGrpSpPr>
        <p:grpSpPr bwMode="auto">
          <a:xfrm>
            <a:off x="6235700" y="3951288"/>
            <a:ext cx="287338" cy="304800"/>
            <a:chOff x="884" y="2508"/>
            <a:chExt cx="182" cy="197"/>
          </a:xfrm>
        </p:grpSpPr>
        <p:sp>
          <p:nvSpPr>
            <p:cNvPr id="15412" name="Oval 81"/>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13" name="Text Box 82"/>
            <p:cNvSpPr txBox="1">
              <a:spLocks noChangeArrowheads="1"/>
            </p:cNvSpPr>
            <p:nvPr/>
          </p:nvSpPr>
          <p:spPr bwMode="auto">
            <a:xfrm>
              <a:off x="910" y="2508"/>
              <a:ext cx="1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grpSp>
        <p:nvGrpSpPr>
          <p:cNvPr id="15388" name="Group 83"/>
          <p:cNvGrpSpPr>
            <a:grpSpLocks/>
          </p:cNvGrpSpPr>
          <p:nvPr/>
        </p:nvGrpSpPr>
        <p:grpSpPr bwMode="auto">
          <a:xfrm>
            <a:off x="6227763" y="4935538"/>
            <a:ext cx="287337" cy="304800"/>
            <a:chOff x="884" y="2508"/>
            <a:chExt cx="182" cy="197"/>
          </a:xfrm>
        </p:grpSpPr>
        <p:sp>
          <p:nvSpPr>
            <p:cNvPr id="15410" name="Oval 84"/>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11" name="Text Box 85"/>
            <p:cNvSpPr txBox="1">
              <a:spLocks noChangeArrowheads="1"/>
            </p:cNvSpPr>
            <p:nvPr/>
          </p:nvSpPr>
          <p:spPr bwMode="auto">
            <a:xfrm>
              <a:off x="910" y="2508"/>
              <a:ext cx="1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grpSp>
        <p:nvGrpSpPr>
          <p:cNvPr id="15389" name="Group 86"/>
          <p:cNvGrpSpPr>
            <a:grpSpLocks/>
          </p:cNvGrpSpPr>
          <p:nvPr/>
        </p:nvGrpSpPr>
        <p:grpSpPr bwMode="auto">
          <a:xfrm>
            <a:off x="6227763" y="5918200"/>
            <a:ext cx="287337" cy="304800"/>
            <a:chOff x="884" y="2508"/>
            <a:chExt cx="182" cy="197"/>
          </a:xfrm>
        </p:grpSpPr>
        <p:sp>
          <p:nvSpPr>
            <p:cNvPr id="15408" name="Oval 87"/>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09" name="Text Box 88"/>
            <p:cNvSpPr txBox="1">
              <a:spLocks noChangeArrowheads="1"/>
            </p:cNvSpPr>
            <p:nvPr/>
          </p:nvSpPr>
          <p:spPr bwMode="auto">
            <a:xfrm>
              <a:off x="910" y="2508"/>
              <a:ext cx="1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5390" name="Line 89"/>
          <p:cNvSpPr>
            <a:spLocks noChangeShapeType="1"/>
          </p:cNvSpPr>
          <p:nvPr/>
        </p:nvSpPr>
        <p:spPr bwMode="auto">
          <a:xfrm>
            <a:off x="5507038" y="5126038"/>
            <a:ext cx="720725" cy="0"/>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391" name="Line 90"/>
          <p:cNvSpPr>
            <a:spLocks noChangeShapeType="1"/>
          </p:cNvSpPr>
          <p:nvPr/>
        </p:nvSpPr>
        <p:spPr bwMode="auto">
          <a:xfrm>
            <a:off x="6524625" y="4095750"/>
            <a:ext cx="568325"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392" name="Line 92"/>
          <p:cNvSpPr>
            <a:spLocks noChangeShapeType="1"/>
          </p:cNvSpPr>
          <p:nvPr/>
        </p:nvSpPr>
        <p:spPr bwMode="auto">
          <a:xfrm>
            <a:off x="6354763" y="5224463"/>
            <a:ext cx="0" cy="720725"/>
          </a:xfrm>
          <a:prstGeom prst="line">
            <a:avLst/>
          </a:prstGeom>
          <a:noFill/>
          <a:ln w="28575">
            <a:solidFill>
              <a:schemeClr val="folHlink"/>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393" name="Line 93"/>
          <p:cNvSpPr>
            <a:spLocks noChangeShapeType="1"/>
          </p:cNvSpPr>
          <p:nvPr/>
        </p:nvSpPr>
        <p:spPr bwMode="auto">
          <a:xfrm>
            <a:off x="7224713" y="4181475"/>
            <a:ext cx="0" cy="720725"/>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5394" name="Group 94"/>
          <p:cNvGrpSpPr>
            <a:grpSpLocks/>
          </p:cNvGrpSpPr>
          <p:nvPr/>
        </p:nvGrpSpPr>
        <p:grpSpPr bwMode="auto">
          <a:xfrm>
            <a:off x="7089775" y="3894138"/>
            <a:ext cx="287338" cy="304800"/>
            <a:chOff x="884" y="2508"/>
            <a:chExt cx="182" cy="197"/>
          </a:xfrm>
        </p:grpSpPr>
        <p:sp>
          <p:nvSpPr>
            <p:cNvPr id="15406" name="Oval 95"/>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07" name="Text Box 96"/>
            <p:cNvSpPr txBox="1">
              <a:spLocks noChangeArrowheads="1"/>
            </p:cNvSpPr>
            <p:nvPr/>
          </p:nvSpPr>
          <p:spPr bwMode="auto">
            <a:xfrm>
              <a:off x="910" y="2508"/>
              <a:ext cx="1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grpSp>
        <p:nvGrpSpPr>
          <p:cNvPr id="15395" name="Group 97"/>
          <p:cNvGrpSpPr>
            <a:grpSpLocks/>
          </p:cNvGrpSpPr>
          <p:nvPr/>
        </p:nvGrpSpPr>
        <p:grpSpPr bwMode="auto">
          <a:xfrm>
            <a:off x="7081838" y="4878388"/>
            <a:ext cx="287337" cy="304800"/>
            <a:chOff x="884" y="2508"/>
            <a:chExt cx="182" cy="197"/>
          </a:xfrm>
        </p:grpSpPr>
        <p:sp>
          <p:nvSpPr>
            <p:cNvPr id="15404" name="Oval 98"/>
            <p:cNvSpPr>
              <a:spLocks noChangeArrowheads="1"/>
            </p:cNvSpPr>
            <p:nvPr/>
          </p:nvSpPr>
          <p:spPr bwMode="auto">
            <a:xfrm>
              <a:off x="884" y="2523"/>
              <a:ext cx="182" cy="181"/>
            </a:xfrm>
            <a:prstGeom prst="ellipse">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405" name="Text Box 99"/>
            <p:cNvSpPr txBox="1">
              <a:spLocks noChangeArrowheads="1"/>
            </p:cNvSpPr>
            <p:nvPr/>
          </p:nvSpPr>
          <p:spPr bwMode="auto">
            <a:xfrm>
              <a:off x="910" y="2508"/>
              <a:ext cx="1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000"/>
                <a:t>+</a:t>
              </a:r>
            </a:p>
          </p:txBody>
        </p:sp>
      </p:grpSp>
      <p:sp>
        <p:nvSpPr>
          <p:cNvPr id="15396" name="Line 103"/>
          <p:cNvSpPr>
            <a:spLocks noChangeShapeType="1"/>
          </p:cNvSpPr>
          <p:nvPr/>
        </p:nvSpPr>
        <p:spPr bwMode="auto">
          <a:xfrm>
            <a:off x="7378700" y="4086225"/>
            <a:ext cx="1476375"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397" name="Line 105"/>
          <p:cNvSpPr>
            <a:spLocks noChangeShapeType="1"/>
          </p:cNvSpPr>
          <p:nvPr/>
        </p:nvSpPr>
        <p:spPr bwMode="auto">
          <a:xfrm>
            <a:off x="7210425" y="5175250"/>
            <a:ext cx="0" cy="863600"/>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398" name="Line 106"/>
          <p:cNvSpPr>
            <a:spLocks noChangeShapeType="1"/>
          </p:cNvSpPr>
          <p:nvPr/>
        </p:nvSpPr>
        <p:spPr bwMode="auto">
          <a:xfrm>
            <a:off x="7378700" y="5072063"/>
            <a:ext cx="720725" cy="0"/>
          </a:xfrm>
          <a:prstGeom prst="line">
            <a:avLst/>
          </a:prstGeom>
          <a:noFill/>
          <a:ln w="28575">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399" name="Text Box 107"/>
          <p:cNvSpPr txBox="1">
            <a:spLocks noChangeArrowheads="1"/>
          </p:cNvSpPr>
          <p:nvPr/>
        </p:nvSpPr>
        <p:spPr bwMode="auto">
          <a:xfrm>
            <a:off x="7812088" y="4527550"/>
            <a:ext cx="547687" cy="446088"/>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t>z</a:t>
            </a:r>
            <a:r>
              <a:rPr lang="en-US" altLang="zh-CN" sz="2800" b="1" baseline="30000"/>
              <a:t>-1</a:t>
            </a:r>
          </a:p>
        </p:txBody>
      </p:sp>
      <p:sp>
        <p:nvSpPr>
          <p:cNvPr id="15400" name="Line 108"/>
          <p:cNvSpPr>
            <a:spLocks noChangeShapeType="1"/>
          </p:cNvSpPr>
          <p:nvPr/>
        </p:nvSpPr>
        <p:spPr bwMode="auto">
          <a:xfrm>
            <a:off x="8083550" y="5719763"/>
            <a:ext cx="0" cy="350837"/>
          </a:xfrm>
          <a:prstGeom prst="line">
            <a:avLst/>
          </a:prstGeom>
          <a:noFill/>
          <a:ln w="28575">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01" name="Text Box 109"/>
          <p:cNvSpPr txBox="1">
            <a:spLocks noChangeArrowheads="1"/>
          </p:cNvSpPr>
          <p:nvPr/>
        </p:nvSpPr>
        <p:spPr bwMode="auto">
          <a:xfrm>
            <a:off x="7796213" y="5295900"/>
            <a:ext cx="576262" cy="446088"/>
          </a:xfrm>
          <a:prstGeom prst="rect">
            <a:avLst/>
          </a:prstGeom>
          <a:solidFill>
            <a:srgbClr val="CCFFFF"/>
          </a:solidFill>
          <a:ln w="19050">
            <a:solidFill>
              <a:schemeClr val="hlink"/>
            </a:solidFill>
            <a:miter lim="800000"/>
            <a:headEnd/>
            <a:tailEnd/>
          </a:ln>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b="1"/>
              <a:t>z</a:t>
            </a:r>
            <a:r>
              <a:rPr lang="en-US" altLang="zh-CN" sz="2800" b="1" baseline="30000"/>
              <a:t>-1</a:t>
            </a:r>
          </a:p>
        </p:txBody>
      </p:sp>
      <p:sp>
        <p:nvSpPr>
          <p:cNvPr id="15402" name="Line 110"/>
          <p:cNvSpPr>
            <a:spLocks noChangeShapeType="1"/>
          </p:cNvSpPr>
          <p:nvPr/>
        </p:nvSpPr>
        <p:spPr bwMode="auto">
          <a:xfrm flipH="1">
            <a:off x="8099425" y="4095750"/>
            <a:ext cx="0" cy="431800"/>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03" name="Line 111"/>
          <p:cNvSpPr>
            <a:spLocks noChangeShapeType="1"/>
          </p:cNvSpPr>
          <p:nvPr/>
        </p:nvSpPr>
        <p:spPr bwMode="auto">
          <a:xfrm>
            <a:off x="8083550" y="4967288"/>
            <a:ext cx="0" cy="352425"/>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97026"/>
                                        </p:tgtEl>
                                        <p:attrNameLst>
                                          <p:attrName>style.visibility</p:attrName>
                                        </p:attrNameLst>
                                      </p:cBhvr>
                                      <p:to>
                                        <p:strVal val="visible"/>
                                      </p:to>
                                    </p:set>
                                    <p:animEffect transition="in" filter="slide(fromTop)">
                                      <p:cBhvr>
                                        <p:cTn id="7" dur="500"/>
                                        <p:tgtEl>
                                          <p:spTgt spid="897026"/>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97029"/>
                                        </p:tgtEl>
                                        <p:attrNameLst>
                                          <p:attrName>style.visibility</p:attrName>
                                        </p:attrNameLst>
                                      </p:cBhvr>
                                      <p:to>
                                        <p:strVal val="visible"/>
                                      </p:to>
                                    </p:set>
                                    <p:animEffect transition="in" filter="slide(fromBottom)">
                                      <p:cBhvr>
                                        <p:cTn id="11" dur="500"/>
                                        <p:tgtEl>
                                          <p:spTgt spid="897029"/>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897032"/>
                                        </p:tgtEl>
                                        <p:attrNameLst>
                                          <p:attrName>style.visibility</p:attrName>
                                        </p:attrNameLst>
                                      </p:cBhvr>
                                      <p:to>
                                        <p:strVal val="visible"/>
                                      </p:to>
                                    </p:set>
                                    <p:animEffect transition="in" filter="slide(fromBottom)">
                                      <p:cBhvr>
                                        <p:cTn id="15" dur="500"/>
                                        <p:tgtEl>
                                          <p:spTgt spid="897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026" grpId="0" animBg="1"/>
      <p:bldP spid="897029" grpId="0"/>
      <p:bldP spid="897032"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DC082D1-3FD8-4CBE-8855-DEFE542D1E24}" type="slidenum">
              <a:rPr lang="en-US" altLang="zh-CN" sz="1400"/>
              <a:pPr eaLnBrk="1" hangingPunct="1"/>
              <a:t>112</a:t>
            </a:fld>
            <a:endParaRPr lang="en-US" altLang="zh-CN" sz="1400"/>
          </a:p>
        </p:txBody>
      </p:sp>
      <p:sp>
        <p:nvSpPr>
          <p:cNvPr id="898050" name="Rectangle 2"/>
          <p:cNvSpPr>
            <a:spLocks noChangeArrowheads="1"/>
          </p:cNvSpPr>
          <p:nvPr/>
        </p:nvSpPr>
        <p:spPr bwMode="auto">
          <a:xfrm>
            <a:off x="684213" y="1628775"/>
            <a:ext cx="7796212"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编程时，将变量和系数都存放在</a:t>
            </a:r>
            <a:r>
              <a:rPr lang="en-US" altLang="zh-CN" sz="2800" b="1">
                <a:latin typeface="宋体" panose="02010600030101010101" pitchFamily="2" charset="-122"/>
              </a:rPr>
              <a:t>DARAM</a:t>
            </a:r>
            <a:r>
              <a:rPr lang="zh-CN" altLang="en-US" sz="2800" b="1">
                <a:latin typeface="宋体" panose="02010600030101010101" pitchFamily="2" charset="-122"/>
              </a:rPr>
              <a:t>中，并采用循环缓冲区方式寻址，共需开辟</a:t>
            </a:r>
            <a:r>
              <a:rPr lang="en-US" altLang="zh-CN" sz="2800" b="1">
                <a:latin typeface="宋体" panose="02010600030101010101" pitchFamily="2" charset="-122"/>
              </a:rPr>
              <a:t>4</a:t>
            </a:r>
            <a:r>
              <a:rPr lang="zh-CN" altLang="en-US" sz="2800" b="1">
                <a:latin typeface="宋体" panose="02010600030101010101" pitchFamily="2" charset="-122"/>
              </a:rPr>
              <a:t>个循环缓冲区，用来存放变量和系数。这</a:t>
            </a:r>
            <a:r>
              <a:rPr lang="en-US" altLang="zh-CN" sz="2800" b="1">
                <a:latin typeface="宋体" panose="02010600030101010101" pitchFamily="2" charset="-122"/>
              </a:rPr>
              <a:t>4</a:t>
            </a:r>
            <a:r>
              <a:rPr lang="zh-CN" altLang="en-US" sz="2800" b="1">
                <a:latin typeface="宋体" panose="02010600030101010101" pitchFamily="2" charset="-122"/>
              </a:rPr>
              <a:t>个循环缓冲区的结构如图所示：</a:t>
            </a:r>
            <a:endParaRPr lang="zh-CN" altLang="en-US" sz="2800" b="1"/>
          </a:p>
        </p:txBody>
      </p:sp>
      <p:sp>
        <p:nvSpPr>
          <p:cNvPr id="114692" name="Text Box 13"/>
          <p:cNvSpPr txBox="1">
            <a:spLocks noChangeArrowheads="1"/>
          </p:cNvSpPr>
          <p:nvPr/>
        </p:nvSpPr>
        <p:spPr bwMode="auto">
          <a:xfrm>
            <a:off x="1262063" y="4221163"/>
            <a:ext cx="1081087" cy="420687"/>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x(n-2)</a:t>
            </a:r>
            <a:endParaRPr lang="en-US" altLang="zh-CN" b="1" baseline="-25000">
              <a:solidFill>
                <a:srgbClr val="FF6600"/>
              </a:solidFill>
            </a:endParaRPr>
          </a:p>
        </p:txBody>
      </p:sp>
      <p:sp>
        <p:nvSpPr>
          <p:cNvPr id="114693" name="Text Box 14"/>
          <p:cNvSpPr txBox="1">
            <a:spLocks noChangeArrowheads="1"/>
          </p:cNvSpPr>
          <p:nvPr/>
        </p:nvSpPr>
        <p:spPr bwMode="auto">
          <a:xfrm>
            <a:off x="1262063" y="4621213"/>
            <a:ext cx="1081087" cy="420687"/>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x(n-1)</a:t>
            </a:r>
            <a:endParaRPr lang="en-US" altLang="zh-CN" b="1" baseline="-25000">
              <a:solidFill>
                <a:srgbClr val="FF6600"/>
              </a:solidFill>
            </a:endParaRPr>
          </a:p>
        </p:txBody>
      </p:sp>
      <p:sp>
        <p:nvSpPr>
          <p:cNvPr id="114694" name="Text Box 15"/>
          <p:cNvSpPr txBox="1">
            <a:spLocks noChangeArrowheads="1"/>
          </p:cNvSpPr>
          <p:nvPr/>
        </p:nvSpPr>
        <p:spPr bwMode="auto">
          <a:xfrm>
            <a:off x="1262063" y="5021263"/>
            <a:ext cx="1081087" cy="420687"/>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x(n)</a:t>
            </a:r>
            <a:endParaRPr lang="en-US" altLang="zh-CN" b="1" baseline="-25000">
              <a:solidFill>
                <a:srgbClr val="FF6600"/>
              </a:solidFill>
            </a:endParaRPr>
          </a:p>
        </p:txBody>
      </p:sp>
      <p:sp>
        <p:nvSpPr>
          <p:cNvPr id="114695" name="Text Box 17"/>
          <p:cNvSpPr txBox="1">
            <a:spLocks noChangeArrowheads="1"/>
          </p:cNvSpPr>
          <p:nvPr/>
        </p:nvSpPr>
        <p:spPr bwMode="auto">
          <a:xfrm>
            <a:off x="219075" y="494030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6600"/>
                </a:solidFill>
              </a:rPr>
              <a:t>AR2</a:t>
            </a:r>
            <a:endParaRPr lang="en-US" altLang="zh-CN" b="1" baseline="-25000">
              <a:solidFill>
                <a:srgbClr val="FF6600"/>
              </a:solidFill>
            </a:endParaRPr>
          </a:p>
        </p:txBody>
      </p:sp>
      <p:sp>
        <p:nvSpPr>
          <p:cNvPr id="114696" name="Line 18"/>
          <p:cNvSpPr>
            <a:spLocks noChangeShapeType="1"/>
          </p:cNvSpPr>
          <p:nvPr/>
        </p:nvSpPr>
        <p:spPr bwMode="auto">
          <a:xfrm>
            <a:off x="1011238" y="5156200"/>
            <a:ext cx="252412"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697" name="Text Box 19"/>
          <p:cNvSpPr txBox="1">
            <a:spLocks noChangeArrowheads="1"/>
          </p:cNvSpPr>
          <p:nvPr/>
        </p:nvSpPr>
        <p:spPr bwMode="auto">
          <a:xfrm>
            <a:off x="400050" y="42211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6600"/>
                </a:solidFill>
              </a:rPr>
              <a:t>X</a:t>
            </a:r>
            <a:endParaRPr lang="en-US" altLang="zh-CN" b="1" baseline="-25000">
              <a:solidFill>
                <a:srgbClr val="FF6600"/>
              </a:solidFill>
            </a:endParaRPr>
          </a:p>
        </p:txBody>
      </p:sp>
      <p:sp>
        <p:nvSpPr>
          <p:cNvPr id="114698" name="Text Box 20"/>
          <p:cNvSpPr txBox="1">
            <a:spLocks noChangeArrowheads="1"/>
          </p:cNvSpPr>
          <p:nvPr/>
        </p:nvSpPr>
        <p:spPr bwMode="auto">
          <a:xfrm>
            <a:off x="3419475" y="4221163"/>
            <a:ext cx="1081088" cy="420687"/>
          </a:xfrm>
          <a:prstGeom prst="rect">
            <a:avLst/>
          </a:prstGeom>
          <a:solidFill>
            <a:srgbClr val="FFFF99"/>
          </a:solidFill>
          <a:ln w="9525">
            <a:solidFill>
              <a:schemeClr val="fo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folHlink"/>
                </a:solidFill>
              </a:rPr>
              <a:t>y(n-2)</a:t>
            </a:r>
            <a:endParaRPr lang="en-US" altLang="zh-CN" b="1" baseline="-25000">
              <a:solidFill>
                <a:schemeClr val="folHlink"/>
              </a:solidFill>
            </a:endParaRPr>
          </a:p>
        </p:txBody>
      </p:sp>
      <p:sp>
        <p:nvSpPr>
          <p:cNvPr id="114699" name="Text Box 21"/>
          <p:cNvSpPr txBox="1">
            <a:spLocks noChangeArrowheads="1"/>
          </p:cNvSpPr>
          <p:nvPr/>
        </p:nvSpPr>
        <p:spPr bwMode="auto">
          <a:xfrm>
            <a:off x="3419475" y="4621213"/>
            <a:ext cx="1081088" cy="420687"/>
          </a:xfrm>
          <a:prstGeom prst="rect">
            <a:avLst/>
          </a:prstGeom>
          <a:solidFill>
            <a:srgbClr val="FFFF99"/>
          </a:solidFill>
          <a:ln w="9525">
            <a:solidFill>
              <a:schemeClr val="fo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folHlink"/>
                </a:solidFill>
              </a:rPr>
              <a:t>y(n-1)</a:t>
            </a:r>
            <a:endParaRPr lang="en-US" altLang="zh-CN" b="1" baseline="-25000">
              <a:solidFill>
                <a:schemeClr val="folHlink"/>
              </a:solidFill>
            </a:endParaRPr>
          </a:p>
        </p:txBody>
      </p:sp>
      <p:sp>
        <p:nvSpPr>
          <p:cNvPr id="114700" name="Text Box 22"/>
          <p:cNvSpPr txBox="1">
            <a:spLocks noChangeArrowheads="1"/>
          </p:cNvSpPr>
          <p:nvPr/>
        </p:nvSpPr>
        <p:spPr bwMode="auto">
          <a:xfrm>
            <a:off x="3419475" y="5021263"/>
            <a:ext cx="1081088" cy="420687"/>
          </a:xfrm>
          <a:prstGeom prst="rect">
            <a:avLst/>
          </a:prstGeom>
          <a:solidFill>
            <a:srgbClr val="FFFF99"/>
          </a:solidFill>
          <a:ln w="9525">
            <a:solidFill>
              <a:schemeClr val="fo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folHlink"/>
                </a:solidFill>
              </a:rPr>
              <a:t>y(n)</a:t>
            </a:r>
            <a:endParaRPr lang="en-US" altLang="zh-CN" b="1" baseline="-25000">
              <a:solidFill>
                <a:schemeClr val="folHlink"/>
              </a:solidFill>
            </a:endParaRPr>
          </a:p>
        </p:txBody>
      </p:sp>
      <p:sp>
        <p:nvSpPr>
          <p:cNvPr id="114701" name="Text Box 23"/>
          <p:cNvSpPr txBox="1">
            <a:spLocks noChangeArrowheads="1"/>
          </p:cNvSpPr>
          <p:nvPr/>
        </p:nvSpPr>
        <p:spPr bwMode="auto">
          <a:xfrm>
            <a:off x="2374900" y="46529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folHlink"/>
                </a:solidFill>
              </a:rPr>
              <a:t>AR4</a:t>
            </a:r>
            <a:endParaRPr lang="en-US" altLang="zh-CN" b="1" baseline="-25000">
              <a:solidFill>
                <a:schemeClr val="folHlink"/>
              </a:solidFill>
            </a:endParaRPr>
          </a:p>
        </p:txBody>
      </p:sp>
      <p:sp>
        <p:nvSpPr>
          <p:cNvPr id="114702" name="Line 24"/>
          <p:cNvSpPr>
            <a:spLocks noChangeShapeType="1"/>
          </p:cNvSpPr>
          <p:nvPr/>
        </p:nvSpPr>
        <p:spPr bwMode="auto">
          <a:xfrm flipV="1">
            <a:off x="3167063" y="4868863"/>
            <a:ext cx="254000" cy="1587"/>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703" name="Text Box 25"/>
          <p:cNvSpPr txBox="1">
            <a:spLocks noChangeArrowheads="1"/>
          </p:cNvSpPr>
          <p:nvPr/>
        </p:nvSpPr>
        <p:spPr bwMode="auto">
          <a:xfrm>
            <a:off x="2557463" y="42211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folHlink"/>
                </a:solidFill>
              </a:rPr>
              <a:t>Y</a:t>
            </a:r>
            <a:endParaRPr lang="en-US" altLang="zh-CN" b="1" baseline="-25000">
              <a:solidFill>
                <a:schemeClr val="folHlink"/>
              </a:solidFill>
            </a:endParaRPr>
          </a:p>
        </p:txBody>
      </p:sp>
      <p:sp>
        <p:nvSpPr>
          <p:cNvPr id="114704" name="Text Box 26"/>
          <p:cNvSpPr txBox="1">
            <a:spLocks noChangeArrowheads="1"/>
          </p:cNvSpPr>
          <p:nvPr/>
        </p:nvSpPr>
        <p:spPr bwMode="auto">
          <a:xfrm>
            <a:off x="5580063" y="4221163"/>
            <a:ext cx="1081087" cy="420687"/>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tx2"/>
                </a:solidFill>
              </a:rPr>
              <a:t>B2</a:t>
            </a:r>
            <a:endParaRPr lang="en-US" altLang="zh-CN" b="1" baseline="-25000">
              <a:solidFill>
                <a:schemeClr val="tx2"/>
              </a:solidFill>
            </a:endParaRPr>
          </a:p>
        </p:txBody>
      </p:sp>
      <p:sp>
        <p:nvSpPr>
          <p:cNvPr id="114705" name="Text Box 27"/>
          <p:cNvSpPr txBox="1">
            <a:spLocks noChangeArrowheads="1"/>
          </p:cNvSpPr>
          <p:nvPr/>
        </p:nvSpPr>
        <p:spPr bwMode="auto">
          <a:xfrm>
            <a:off x="5580063" y="4621213"/>
            <a:ext cx="1081087" cy="420687"/>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tx2"/>
                </a:solidFill>
              </a:rPr>
              <a:t>B1</a:t>
            </a:r>
            <a:endParaRPr lang="en-US" altLang="zh-CN" b="1" baseline="-25000">
              <a:solidFill>
                <a:schemeClr val="tx2"/>
              </a:solidFill>
            </a:endParaRPr>
          </a:p>
        </p:txBody>
      </p:sp>
      <p:sp>
        <p:nvSpPr>
          <p:cNvPr id="114706" name="Text Box 28"/>
          <p:cNvSpPr txBox="1">
            <a:spLocks noChangeArrowheads="1"/>
          </p:cNvSpPr>
          <p:nvPr/>
        </p:nvSpPr>
        <p:spPr bwMode="auto">
          <a:xfrm>
            <a:off x="5580063" y="5021263"/>
            <a:ext cx="1081087" cy="420687"/>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tx2"/>
                </a:solidFill>
              </a:rPr>
              <a:t>B0</a:t>
            </a:r>
            <a:endParaRPr lang="en-US" altLang="zh-CN" b="1" baseline="-25000">
              <a:solidFill>
                <a:schemeClr val="tx2"/>
              </a:solidFill>
            </a:endParaRPr>
          </a:p>
        </p:txBody>
      </p:sp>
      <p:sp>
        <p:nvSpPr>
          <p:cNvPr id="114707" name="Text Box 29"/>
          <p:cNvSpPr txBox="1">
            <a:spLocks noChangeArrowheads="1"/>
          </p:cNvSpPr>
          <p:nvPr/>
        </p:nvSpPr>
        <p:spPr bwMode="auto">
          <a:xfrm>
            <a:off x="4500563" y="494030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tx2"/>
                </a:solidFill>
              </a:rPr>
              <a:t>AR5</a:t>
            </a:r>
            <a:endParaRPr lang="en-US" altLang="zh-CN" b="1" baseline="-25000">
              <a:solidFill>
                <a:schemeClr val="tx2"/>
              </a:solidFill>
            </a:endParaRPr>
          </a:p>
        </p:txBody>
      </p:sp>
      <p:sp>
        <p:nvSpPr>
          <p:cNvPr id="114708" name="Line 30"/>
          <p:cNvSpPr>
            <a:spLocks noChangeShapeType="1"/>
          </p:cNvSpPr>
          <p:nvPr/>
        </p:nvSpPr>
        <p:spPr bwMode="auto">
          <a:xfrm>
            <a:off x="5292725" y="5156200"/>
            <a:ext cx="288925" cy="0"/>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709" name="Text Box 31"/>
          <p:cNvSpPr txBox="1">
            <a:spLocks noChangeArrowheads="1"/>
          </p:cNvSpPr>
          <p:nvPr/>
        </p:nvSpPr>
        <p:spPr bwMode="auto">
          <a:xfrm>
            <a:off x="4718050" y="42211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tx2"/>
                </a:solidFill>
              </a:rPr>
              <a:t>B</a:t>
            </a:r>
            <a:endParaRPr lang="en-US" altLang="zh-CN" b="1" baseline="-25000">
              <a:solidFill>
                <a:schemeClr val="tx2"/>
              </a:solidFill>
            </a:endParaRPr>
          </a:p>
        </p:txBody>
      </p:sp>
      <p:sp>
        <p:nvSpPr>
          <p:cNvPr id="114710" name="Text Box 32"/>
          <p:cNvSpPr txBox="1">
            <a:spLocks noChangeArrowheads="1"/>
          </p:cNvSpPr>
          <p:nvPr/>
        </p:nvSpPr>
        <p:spPr bwMode="auto">
          <a:xfrm>
            <a:off x="7702550" y="4221163"/>
            <a:ext cx="1081088" cy="420687"/>
          </a:xfrm>
          <a:prstGeom prst="rect">
            <a:avLst/>
          </a:prstGeom>
          <a:solidFill>
            <a:srgbClr val="FFFF99"/>
          </a:solidFill>
          <a:ln w="9525">
            <a:solidFill>
              <a:srgbClr val="FF00FF"/>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00FF"/>
                </a:solidFill>
              </a:rPr>
              <a:t>A2</a:t>
            </a:r>
            <a:endParaRPr lang="en-US" altLang="zh-CN" b="1" baseline="-25000">
              <a:solidFill>
                <a:srgbClr val="FF00FF"/>
              </a:solidFill>
            </a:endParaRPr>
          </a:p>
        </p:txBody>
      </p:sp>
      <p:sp>
        <p:nvSpPr>
          <p:cNvPr id="114711" name="Text Box 33"/>
          <p:cNvSpPr txBox="1">
            <a:spLocks noChangeArrowheads="1"/>
          </p:cNvSpPr>
          <p:nvPr/>
        </p:nvSpPr>
        <p:spPr bwMode="auto">
          <a:xfrm>
            <a:off x="7702550" y="4621213"/>
            <a:ext cx="1081088" cy="420687"/>
          </a:xfrm>
          <a:prstGeom prst="rect">
            <a:avLst/>
          </a:prstGeom>
          <a:solidFill>
            <a:srgbClr val="FFFF99"/>
          </a:solidFill>
          <a:ln w="9525">
            <a:solidFill>
              <a:srgbClr val="FF00FF"/>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00FF"/>
                </a:solidFill>
              </a:rPr>
              <a:t>A1</a:t>
            </a:r>
            <a:endParaRPr lang="en-US" altLang="zh-CN" b="1" baseline="-25000">
              <a:solidFill>
                <a:srgbClr val="FF00FF"/>
              </a:solidFill>
            </a:endParaRPr>
          </a:p>
        </p:txBody>
      </p:sp>
      <p:sp>
        <p:nvSpPr>
          <p:cNvPr id="114712" name="Text Box 34"/>
          <p:cNvSpPr txBox="1">
            <a:spLocks noChangeArrowheads="1"/>
          </p:cNvSpPr>
          <p:nvPr/>
        </p:nvSpPr>
        <p:spPr bwMode="auto">
          <a:xfrm>
            <a:off x="7702550" y="5021263"/>
            <a:ext cx="1081088" cy="420687"/>
          </a:xfrm>
          <a:prstGeom prst="rect">
            <a:avLst/>
          </a:prstGeom>
          <a:solidFill>
            <a:srgbClr val="FFFF99"/>
          </a:solidFill>
          <a:ln w="9525">
            <a:solidFill>
              <a:srgbClr val="FF00FF"/>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00FF"/>
                </a:solidFill>
              </a:rPr>
              <a:t>(</a:t>
            </a:r>
            <a:r>
              <a:rPr lang="zh-CN" altLang="en-US" b="1">
                <a:solidFill>
                  <a:srgbClr val="FF00FF"/>
                </a:solidFill>
              </a:rPr>
              <a:t>未用</a:t>
            </a:r>
            <a:r>
              <a:rPr lang="en-US" altLang="zh-CN" b="1">
                <a:solidFill>
                  <a:srgbClr val="FF00FF"/>
                </a:solidFill>
              </a:rPr>
              <a:t>)</a:t>
            </a:r>
            <a:endParaRPr lang="en-US" altLang="zh-CN" b="1" baseline="-25000">
              <a:solidFill>
                <a:srgbClr val="FF00FF"/>
              </a:solidFill>
            </a:endParaRPr>
          </a:p>
        </p:txBody>
      </p:sp>
      <p:sp>
        <p:nvSpPr>
          <p:cNvPr id="114713" name="Text Box 35"/>
          <p:cNvSpPr txBox="1">
            <a:spLocks noChangeArrowheads="1"/>
          </p:cNvSpPr>
          <p:nvPr/>
        </p:nvSpPr>
        <p:spPr bwMode="auto">
          <a:xfrm>
            <a:off x="6588125" y="46529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00FF"/>
                </a:solidFill>
              </a:rPr>
              <a:t>AR3</a:t>
            </a:r>
            <a:endParaRPr lang="en-US" altLang="zh-CN" b="1" baseline="-25000">
              <a:solidFill>
                <a:srgbClr val="FF00FF"/>
              </a:solidFill>
            </a:endParaRPr>
          </a:p>
        </p:txBody>
      </p:sp>
      <p:sp>
        <p:nvSpPr>
          <p:cNvPr id="114714" name="Line 36"/>
          <p:cNvSpPr>
            <a:spLocks noChangeShapeType="1"/>
          </p:cNvSpPr>
          <p:nvPr/>
        </p:nvSpPr>
        <p:spPr bwMode="auto">
          <a:xfrm>
            <a:off x="7380288" y="4868863"/>
            <a:ext cx="287337" cy="0"/>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715" name="Text Box 37"/>
          <p:cNvSpPr txBox="1">
            <a:spLocks noChangeArrowheads="1"/>
          </p:cNvSpPr>
          <p:nvPr/>
        </p:nvSpPr>
        <p:spPr bwMode="auto">
          <a:xfrm>
            <a:off x="6840538" y="4221163"/>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00FF"/>
                </a:solidFill>
              </a:rPr>
              <a:t>A</a:t>
            </a:r>
            <a:endParaRPr lang="en-US" altLang="zh-CN" b="1" baseline="-25000">
              <a:solidFill>
                <a:srgbClr val="FF00FF"/>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98050"/>
                                        </p:tgtEl>
                                        <p:attrNameLst>
                                          <p:attrName>style.visibility</p:attrName>
                                        </p:attrNameLst>
                                      </p:cBhvr>
                                      <p:to>
                                        <p:strVal val="visible"/>
                                      </p:to>
                                    </p:set>
                                    <p:animEffect transition="in" filter="blinds(horizontal)">
                                      <p:cBhvr>
                                        <p:cTn id="7" dur="500"/>
                                        <p:tgtEl>
                                          <p:spTgt spid="898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8050"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8F0CBA8-1AFA-40BE-9A8B-12CBA14EF3D1}" type="slidenum">
              <a:rPr lang="en-US" altLang="zh-CN" sz="1400"/>
              <a:pPr eaLnBrk="1" hangingPunct="1"/>
              <a:t>113</a:t>
            </a:fld>
            <a:endParaRPr lang="en-US" altLang="zh-CN" sz="1400"/>
          </a:p>
        </p:txBody>
      </p:sp>
      <p:sp>
        <p:nvSpPr>
          <p:cNvPr id="899074" name="Rectangle 2"/>
          <p:cNvSpPr>
            <a:spLocks noChangeArrowheads="1"/>
          </p:cNvSpPr>
          <p:nvPr/>
        </p:nvSpPr>
        <p:spPr bwMode="auto">
          <a:xfrm>
            <a:off x="304800" y="1219200"/>
            <a:ext cx="8534400" cy="531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10000"/>
              </a:spcBef>
            </a:pPr>
            <a:r>
              <a:rPr lang="zh-CN" altLang="en-US" b="1">
                <a:ea typeface="黑体" panose="02010609060101010101" pitchFamily="49" charset="-122"/>
              </a:rPr>
              <a:t>例</a:t>
            </a:r>
            <a:r>
              <a:rPr lang="en-US" altLang="zh-CN" b="1">
                <a:ea typeface="黑体" panose="02010609060101010101" pitchFamily="49" charset="-122"/>
              </a:rPr>
              <a:t>5-32</a:t>
            </a:r>
            <a:r>
              <a:rPr lang="en-US" altLang="zh-CN" b="1"/>
              <a:t>  </a:t>
            </a:r>
            <a:r>
              <a:rPr lang="zh-CN" altLang="en-US" b="1"/>
              <a:t>编写直接形式二阶</a:t>
            </a:r>
            <a:r>
              <a:rPr lang="en-US" altLang="zh-CN" b="1"/>
              <a:t>IIR</a:t>
            </a:r>
            <a:r>
              <a:rPr lang="zh-CN" altLang="en-US" b="1"/>
              <a:t>滤波器的源程序。</a:t>
            </a:r>
          </a:p>
          <a:p>
            <a:pPr algn="just">
              <a:lnSpc>
                <a:spcPct val="80000"/>
              </a:lnSpc>
              <a:spcBef>
                <a:spcPct val="10000"/>
              </a:spcBef>
            </a:pPr>
            <a:r>
              <a:rPr lang="zh-CN" altLang="en-US" b="1"/>
              <a:t>           </a:t>
            </a:r>
            <a:r>
              <a:rPr lang="en-US" altLang="zh-CN" b="1"/>
              <a:t>.title     “IIR3.asm” </a:t>
            </a:r>
            <a:r>
              <a:rPr lang="zh-CN" altLang="en-US" b="1"/>
              <a:t>；给汇编程序取名</a:t>
            </a:r>
          </a:p>
          <a:p>
            <a:pPr algn="just">
              <a:lnSpc>
                <a:spcPct val="80000"/>
              </a:lnSpc>
              <a:spcBef>
                <a:spcPct val="10000"/>
              </a:spcBef>
            </a:pPr>
            <a:r>
              <a:rPr lang="zh-CN" altLang="en-US" b="1"/>
              <a:t>           </a:t>
            </a:r>
            <a:r>
              <a:rPr lang="en-US" altLang="zh-CN" b="1">
                <a:solidFill>
                  <a:schemeClr val="folHlink"/>
                </a:solidFill>
              </a:rPr>
              <a:t>.mmregs</a:t>
            </a:r>
            <a:r>
              <a:rPr lang="en-US" altLang="zh-CN" b="1"/>
              <a:t>                  </a:t>
            </a:r>
            <a:r>
              <a:rPr lang="zh-CN" altLang="en-US" b="1"/>
              <a:t>；说明存储器映象寄存器</a:t>
            </a:r>
          </a:p>
          <a:p>
            <a:pPr algn="just">
              <a:lnSpc>
                <a:spcPct val="80000"/>
              </a:lnSpc>
              <a:spcBef>
                <a:spcPct val="10000"/>
              </a:spcBef>
            </a:pPr>
            <a:r>
              <a:rPr lang="zh-CN" altLang="en-US" b="1"/>
              <a:t>           </a:t>
            </a:r>
            <a:r>
              <a:rPr lang="en-US" altLang="zh-CN" b="1"/>
              <a:t>.def        start          </a:t>
            </a:r>
            <a:r>
              <a:rPr lang="zh-CN" altLang="en-US" b="1"/>
              <a:t>；定义标号</a:t>
            </a:r>
            <a:r>
              <a:rPr lang="en-US" altLang="zh-CN" b="1"/>
              <a:t>start</a:t>
            </a:r>
            <a:r>
              <a:rPr lang="zh-CN" altLang="en-US" b="1"/>
              <a:t>的起始位置</a:t>
            </a:r>
          </a:p>
          <a:p>
            <a:pPr algn="just">
              <a:lnSpc>
                <a:spcPct val="80000"/>
              </a:lnSpc>
              <a:spcBef>
                <a:spcPct val="10000"/>
              </a:spcBef>
            </a:pPr>
            <a:r>
              <a:rPr lang="en-US" altLang="zh-CN" b="1">
                <a:solidFill>
                  <a:schemeClr val="tx2"/>
                </a:solidFill>
              </a:rPr>
              <a:t>X        .usect     “X”,3        </a:t>
            </a:r>
            <a:r>
              <a:rPr lang="zh-CN" altLang="en-US" b="1">
                <a:solidFill>
                  <a:schemeClr val="tx2"/>
                </a:solidFill>
              </a:rPr>
              <a:t>；自定义</a:t>
            </a:r>
            <a:r>
              <a:rPr lang="en-US" altLang="zh-CN" b="1">
                <a:solidFill>
                  <a:schemeClr val="tx2"/>
                </a:solidFill>
              </a:rPr>
              <a:t>3</a:t>
            </a:r>
            <a:r>
              <a:rPr lang="zh-CN" altLang="en-US" b="1">
                <a:solidFill>
                  <a:schemeClr val="tx2"/>
                </a:solidFill>
              </a:rPr>
              <a:t>个单元的未初始化段</a:t>
            </a:r>
            <a:r>
              <a:rPr lang="en-US" altLang="zh-CN" b="1">
                <a:solidFill>
                  <a:schemeClr val="tx2"/>
                </a:solidFill>
              </a:rPr>
              <a:t>X</a:t>
            </a:r>
          </a:p>
          <a:p>
            <a:pPr algn="just">
              <a:lnSpc>
                <a:spcPct val="80000"/>
              </a:lnSpc>
              <a:spcBef>
                <a:spcPct val="10000"/>
              </a:spcBef>
            </a:pPr>
            <a:r>
              <a:rPr lang="en-US" altLang="zh-CN" b="1">
                <a:solidFill>
                  <a:schemeClr val="tx2"/>
                </a:solidFill>
              </a:rPr>
              <a:t>Y        .usect     “Y”,3        </a:t>
            </a:r>
            <a:r>
              <a:rPr lang="zh-CN" altLang="en-US" b="1">
                <a:solidFill>
                  <a:schemeClr val="tx2"/>
                </a:solidFill>
              </a:rPr>
              <a:t>；自定义</a:t>
            </a:r>
            <a:r>
              <a:rPr lang="en-US" altLang="zh-CN" b="1">
                <a:solidFill>
                  <a:schemeClr val="tx2"/>
                </a:solidFill>
              </a:rPr>
              <a:t>3</a:t>
            </a:r>
            <a:r>
              <a:rPr lang="zh-CN" altLang="en-US" b="1">
                <a:solidFill>
                  <a:schemeClr val="tx2"/>
                </a:solidFill>
              </a:rPr>
              <a:t>个单元的未初始化段</a:t>
            </a:r>
            <a:r>
              <a:rPr lang="en-US" altLang="zh-CN" b="1">
                <a:solidFill>
                  <a:schemeClr val="tx2"/>
                </a:solidFill>
              </a:rPr>
              <a:t>Y</a:t>
            </a:r>
          </a:p>
          <a:p>
            <a:pPr algn="just">
              <a:lnSpc>
                <a:spcPct val="80000"/>
              </a:lnSpc>
              <a:spcBef>
                <a:spcPct val="10000"/>
              </a:spcBef>
            </a:pPr>
            <a:r>
              <a:rPr lang="en-US" altLang="zh-CN" b="1">
                <a:solidFill>
                  <a:schemeClr val="tx2"/>
                </a:solidFill>
              </a:rPr>
              <a:t>B        .usect     “B”,3         </a:t>
            </a:r>
            <a:r>
              <a:rPr lang="zh-CN" altLang="en-US" b="1">
                <a:solidFill>
                  <a:schemeClr val="tx2"/>
                </a:solidFill>
              </a:rPr>
              <a:t>；自定义</a:t>
            </a:r>
            <a:r>
              <a:rPr lang="en-US" altLang="zh-CN" b="1">
                <a:solidFill>
                  <a:schemeClr val="tx2"/>
                </a:solidFill>
              </a:rPr>
              <a:t>3</a:t>
            </a:r>
            <a:r>
              <a:rPr lang="zh-CN" altLang="en-US" b="1">
                <a:solidFill>
                  <a:schemeClr val="tx2"/>
                </a:solidFill>
              </a:rPr>
              <a:t>个单元的未初始化段</a:t>
            </a:r>
            <a:r>
              <a:rPr lang="en-US" altLang="zh-CN" b="1">
                <a:solidFill>
                  <a:schemeClr val="tx2"/>
                </a:solidFill>
              </a:rPr>
              <a:t>B</a:t>
            </a:r>
          </a:p>
          <a:p>
            <a:pPr algn="just">
              <a:lnSpc>
                <a:spcPct val="80000"/>
              </a:lnSpc>
              <a:spcBef>
                <a:spcPct val="10000"/>
              </a:spcBef>
            </a:pPr>
            <a:r>
              <a:rPr lang="en-US" altLang="zh-CN" b="1">
                <a:solidFill>
                  <a:schemeClr val="tx2"/>
                </a:solidFill>
              </a:rPr>
              <a:t>A        .usect     “A”,3        </a:t>
            </a:r>
            <a:r>
              <a:rPr lang="zh-CN" altLang="en-US" b="1">
                <a:solidFill>
                  <a:schemeClr val="tx2"/>
                </a:solidFill>
              </a:rPr>
              <a:t>；自定义</a:t>
            </a:r>
            <a:r>
              <a:rPr lang="en-US" altLang="zh-CN" b="1">
                <a:solidFill>
                  <a:schemeClr val="tx2"/>
                </a:solidFill>
              </a:rPr>
              <a:t>3</a:t>
            </a:r>
            <a:r>
              <a:rPr lang="zh-CN" altLang="en-US" b="1">
                <a:solidFill>
                  <a:schemeClr val="tx2"/>
                </a:solidFill>
              </a:rPr>
              <a:t>个单元的未初始化段</a:t>
            </a:r>
            <a:r>
              <a:rPr lang="en-US" altLang="zh-CN" b="1">
                <a:solidFill>
                  <a:schemeClr val="tx2"/>
                </a:solidFill>
              </a:rPr>
              <a:t>A</a:t>
            </a:r>
          </a:p>
          <a:p>
            <a:pPr algn="just">
              <a:lnSpc>
                <a:spcPct val="80000"/>
              </a:lnSpc>
              <a:spcBef>
                <a:spcPct val="10000"/>
              </a:spcBef>
            </a:pPr>
            <a:r>
              <a:rPr lang="en-US" altLang="zh-CN" b="1">
                <a:solidFill>
                  <a:srgbClr val="FF6600"/>
                </a:solidFill>
              </a:rPr>
              <a:t>PA0    .set         0               </a:t>
            </a:r>
            <a:r>
              <a:rPr lang="zh-CN" altLang="en-US" b="1">
                <a:solidFill>
                  <a:srgbClr val="FF6600"/>
                </a:solidFill>
              </a:rPr>
              <a:t>；设置数据输出端口</a:t>
            </a:r>
            <a:r>
              <a:rPr lang="en-US" altLang="zh-CN" b="1">
                <a:solidFill>
                  <a:srgbClr val="FF6600"/>
                </a:solidFill>
              </a:rPr>
              <a:t>I/O</a:t>
            </a:r>
            <a:r>
              <a:rPr lang="zh-CN" altLang="en-US" b="1">
                <a:solidFill>
                  <a:srgbClr val="FF6600"/>
                </a:solidFill>
              </a:rPr>
              <a:t>，</a:t>
            </a:r>
            <a:r>
              <a:rPr lang="en-US" altLang="zh-CN" b="1">
                <a:solidFill>
                  <a:srgbClr val="FF6600"/>
                </a:solidFill>
              </a:rPr>
              <a:t>PA0=0</a:t>
            </a:r>
          </a:p>
          <a:p>
            <a:pPr algn="just">
              <a:lnSpc>
                <a:spcPct val="80000"/>
              </a:lnSpc>
              <a:spcBef>
                <a:spcPct val="10000"/>
              </a:spcBef>
            </a:pPr>
            <a:r>
              <a:rPr lang="en-US" altLang="zh-CN" b="1">
                <a:solidFill>
                  <a:srgbClr val="FF6600"/>
                </a:solidFill>
              </a:rPr>
              <a:t>PA1    .set         1               </a:t>
            </a:r>
            <a:r>
              <a:rPr lang="zh-CN" altLang="en-US" b="1">
                <a:solidFill>
                  <a:srgbClr val="FF6600"/>
                </a:solidFill>
              </a:rPr>
              <a:t>；设置数据输入端口</a:t>
            </a:r>
            <a:r>
              <a:rPr lang="en-US" altLang="zh-CN" b="1">
                <a:solidFill>
                  <a:srgbClr val="FF6600"/>
                </a:solidFill>
              </a:rPr>
              <a:t>I/O</a:t>
            </a:r>
            <a:r>
              <a:rPr lang="zh-CN" altLang="en-US" b="1">
                <a:solidFill>
                  <a:srgbClr val="FF6600"/>
                </a:solidFill>
              </a:rPr>
              <a:t>，</a:t>
            </a:r>
            <a:r>
              <a:rPr lang="en-US" altLang="zh-CN" b="1">
                <a:solidFill>
                  <a:srgbClr val="FF6600"/>
                </a:solidFill>
              </a:rPr>
              <a:t>PA1=1</a:t>
            </a:r>
          </a:p>
          <a:p>
            <a:pPr algn="just">
              <a:lnSpc>
                <a:spcPct val="80000"/>
              </a:lnSpc>
              <a:spcBef>
                <a:spcPct val="10000"/>
              </a:spcBef>
            </a:pPr>
            <a:r>
              <a:rPr lang="en-US" altLang="zh-CN" b="1"/>
              <a:t>           .data</a:t>
            </a:r>
          </a:p>
          <a:p>
            <a:pPr algn="just">
              <a:lnSpc>
                <a:spcPct val="80000"/>
              </a:lnSpc>
              <a:spcBef>
                <a:spcPct val="10000"/>
              </a:spcBef>
            </a:pPr>
            <a:r>
              <a:rPr lang="en-US" altLang="zh-CN" b="1"/>
              <a:t>table:  .word   0</a:t>
            </a:r>
            <a:r>
              <a:rPr lang="zh-CN" altLang="en-US" b="1"/>
              <a:t>，</a:t>
            </a:r>
            <a:r>
              <a:rPr lang="en-US" altLang="zh-CN" b="1"/>
              <a:t>0    </a:t>
            </a:r>
            <a:r>
              <a:rPr lang="zh-CN" altLang="en-US" b="1"/>
              <a:t>；为</a:t>
            </a:r>
            <a:r>
              <a:rPr lang="en-US" altLang="zh-CN" b="1"/>
              <a:t>x</a:t>
            </a:r>
            <a:r>
              <a:rPr lang="zh-CN" altLang="en-US" b="1"/>
              <a:t>（</a:t>
            </a:r>
            <a:r>
              <a:rPr lang="en-US" altLang="zh-CN" b="1"/>
              <a:t>n-2</a:t>
            </a:r>
            <a:r>
              <a:rPr lang="zh-CN" altLang="en-US" b="1"/>
              <a:t>），</a:t>
            </a:r>
            <a:r>
              <a:rPr lang="en-US" altLang="zh-CN" b="1"/>
              <a:t>x</a:t>
            </a:r>
            <a:r>
              <a:rPr lang="zh-CN" altLang="en-US" b="1"/>
              <a:t>（</a:t>
            </a:r>
            <a:r>
              <a:rPr lang="en-US" altLang="zh-CN" b="1"/>
              <a:t>n-1</a:t>
            </a:r>
            <a:r>
              <a:rPr lang="zh-CN" altLang="en-US" b="1"/>
              <a:t>）预留一单元空间</a:t>
            </a:r>
          </a:p>
          <a:p>
            <a:pPr algn="just">
              <a:lnSpc>
                <a:spcPct val="80000"/>
              </a:lnSpc>
              <a:spcBef>
                <a:spcPct val="10000"/>
              </a:spcBef>
            </a:pPr>
            <a:r>
              <a:rPr lang="zh-CN" altLang="en-US" b="1"/>
              <a:t>          </a:t>
            </a:r>
            <a:r>
              <a:rPr lang="en-US" altLang="zh-CN" b="1"/>
              <a:t>.word     0</a:t>
            </a:r>
            <a:r>
              <a:rPr lang="zh-CN" altLang="en-US" b="1"/>
              <a:t>，</a:t>
            </a:r>
            <a:r>
              <a:rPr lang="en-US" altLang="zh-CN" b="1"/>
              <a:t>0   </a:t>
            </a:r>
            <a:r>
              <a:rPr lang="zh-CN" altLang="en-US" b="1"/>
              <a:t>；为 </a:t>
            </a:r>
            <a:r>
              <a:rPr lang="en-US" altLang="zh-CN" b="1"/>
              <a:t>y</a:t>
            </a:r>
            <a:r>
              <a:rPr lang="zh-CN" altLang="en-US" b="1"/>
              <a:t>（</a:t>
            </a:r>
            <a:r>
              <a:rPr lang="en-US" altLang="zh-CN" b="1"/>
              <a:t>n-2</a:t>
            </a:r>
            <a:r>
              <a:rPr lang="zh-CN" altLang="en-US" b="1"/>
              <a:t>），</a:t>
            </a:r>
            <a:r>
              <a:rPr lang="en-US" altLang="zh-CN" b="1"/>
              <a:t>y</a:t>
            </a:r>
            <a:r>
              <a:rPr lang="zh-CN" altLang="en-US" b="1"/>
              <a:t>（</a:t>
            </a:r>
            <a:r>
              <a:rPr lang="en-US" altLang="zh-CN" b="1"/>
              <a:t>n-1</a:t>
            </a:r>
            <a:r>
              <a:rPr lang="zh-CN" altLang="en-US" b="1"/>
              <a:t>）预留一单元空间</a:t>
            </a:r>
          </a:p>
          <a:p>
            <a:pPr algn="just">
              <a:lnSpc>
                <a:spcPct val="80000"/>
              </a:lnSpc>
              <a:spcBef>
                <a:spcPct val="10000"/>
              </a:spcBef>
            </a:pPr>
            <a:r>
              <a:rPr lang="zh-CN" altLang="en-US" b="1"/>
              <a:t>          </a:t>
            </a:r>
            <a:r>
              <a:rPr lang="en-US" altLang="zh-CN" b="1"/>
              <a:t>.word      1*32768/10</a:t>
            </a:r>
            <a:r>
              <a:rPr lang="zh-CN" altLang="en-US" b="1"/>
              <a:t>，</a:t>
            </a:r>
            <a:r>
              <a:rPr lang="en-US" altLang="zh-CN" b="1"/>
              <a:t>2*32768/10</a:t>
            </a:r>
            <a:r>
              <a:rPr lang="zh-CN" altLang="en-US" b="1"/>
              <a:t>，</a:t>
            </a:r>
            <a:r>
              <a:rPr lang="en-US" altLang="zh-CN" b="1"/>
              <a:t>3*32768/10  </a:t>
            </a:r>
          </a:p>
          <a:p>
            <a:pPr algn="just">
              <a:lnSpc>
                <a:spcPct val="80000"/>
              </a:lnSpc>
              <a:spcBef>
                <a:spcPct val="10000"/>
              </a:spcBef>
            </a:pPr>
            <a:r>
              <a:rPr lang="en-US" altLang="zh-CN" b="1"/>
              <a:t>                                      </a:t>
            </a:r>
            <a:r>
              <a:rPr lang="zh-CN" altLang="en-US" b="1"/>
              <a:t>；放置系数</a:t>
            </a:r>
            <a:r>
              <a:rPr lang="en-US" altLang="zh-CN" b="1"/>
              <a:t>B2</a:t>
            </a:r>
            <a:r>
              <a:rPr lang="zh-CN" altLang="en-US" b="1"/>
              <a:t>，</a:t>
            </a:r>
            <a:r>
              <a:rPr lang="en-US" altLang="zh-CN" b="1"/>
              <a:t>B1</a:t>
            </a:r>
            <a:r>
              <a:rPr lang="zh-CN" altLang="en-US" b="1"/>
              <a:t>，</a:t>
            </a:r>
            <a:r>
              <a:rPr lang="en-US" altLang="zh-CN" b="1"/>
              <a:t>B0</a:t>
            </a:r>
          </a:p>
          <a:p>
            <a:pPr algn="just">
              <a:lnSpc>
                <a:spcPct val="80000"/>
              </a:lnSpc>
              <a:spcBef>
                <a:spcPct val="10000"/>
              </a:spcBef>
            </a:pPr>
            <a:r>
              <a:rPr lang="en-US" altLang="zh-CN" b="1"/>
              <a:t>          .word       5*32768/10</a:t>
            </a:r>
            <a:r>
              <a:rPr lang="zh-CN" altLang="en-US" b="1"/>
              <a:t>，</a:t>
            </a:r>
            <a:r>
              <a:rPr lang="en-US" altLang="zh-CN" b="1"/>
              <a:t>-4*32768/10  </a:t>
            </a:r>
            <a:r>
              <a:rPr lang="zh-CN" altLang="en-US" b="1"/>
              <a:t>；放置系数</a:t>
            </a:r>
            <a:r>
              <a:rPr lang="en-US" altLang="zh-CN" b="1"/>
              <a:t>A2</a:t>
            </a:r>
            <a:r>
              <a:rPr lang="zh-CN" altLang="en-US" b="1"/>
              <a:t>，</a:t>
            </a:r>
            <a:r>
              <a:rPr lang="en-US" altLang="zh-CN" b="1"/>
              <a:t>A1</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99074"/>
                                        </p:tgtEl>
                                        <p:attrNameLst>
                                          <p:attrName>style.visibility</p:attrName>
                                        </p:attrNameLst>
                                      </p:cBhvr>
                                      <p:to>
                                        <p:strVal val="visible"/>
                                      </p:to>
                                    </p:set>
                                    <p:animEffect transition="in" filter="blinds(vertical)">
                                      <p:cBhvr>
                                        <p:cTn id="7" dur="500"/>
                                        <p:tgtEl>
                                          <p:spTgt spid="899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074"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7989436-3C72-4C27-8636-0141C48B65A3}" type="slidenum">
              <a:rPr lang="en-US" altLang="zh-CN" sz="1400"/>
              <a:pPr eaLnBrk="1" hangingPunct="1"/>
              <a:t>114</a:t>
            </a:fld>
            <a:endParaRPr lang="en-US" altLang="zh-CN" sz="1400"/>
          </a:p>
        </p:txBody>
      </p:sp>
      <p:sp>
        <p:nvSpPr>
          <p:cNvPr id="900098" name="Rectangle 2"/>
          <p:cNvSpPr>
            <a:spLocks noChangeArrowheads="1"/>
          </p:cNvSpPr>
          <p:nvPr/>
        </p:nvSpPr>
        <p:spPr bwMode="auto">
          <a:xfrm>
            <a:off x="304800" y="1143000"/>
            <a:ext cx="84582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t>          .text</a:t>
            </a:r>
          </a:p>
          <a:p>
            <a:pPr algn="just"/>
            <a:r>
              <a:rPr lang="en-US" altLang="zh-CN" b="1"/>
              <a:t>start:  </a:t>
            </a:r>
            <a:r>
              <a:rPr lang="en-US" altLang="zh-CN" b="1">
                <a:solidFill>
                  <a:schemeClr val="folHlink"/>
                </a:solidFill>
              </a:rPr>
              <a:t>SSBX   FRCT         </a:t>
            </a:r>
            <a:r>
              <a:rPr lang="zh-CN" altLang="en-US" b="1">
                <a:solidFill>
                  <a:schemeClr val="folHlink"/>
                </a:solidFill>
              </a:rPr>
              <a:t>；指明进行小数乘法</a:t>
            </a:r>
          </a:p>
          <a:p>
            <a:pPr algn="just"/>
            <a:r>
              <a:rPr lang="zh-CN" altLang="en-US" b="1"/>
              <a:t>          </a:t>
            </a:r>
            <a:r>
              <a:rPr lang="en-US" altLang="zh-CN" b="1">
                <a:solidFill>
                  <a:schemeClr val="tx2"/>
                </a:solidFill>
              </a:rPr>
              <a:t>STM     #x,AR1        </a:t>
            </a:r>
            <a:r>
              <a:rPr lang="zh-CN" altLang="en-US" b="1">
                <a:solidFill>
                  <a:schemeClr val="tx2"/>
                </a:solidFill>
              </a:rPr>
              <a:t>；传送初始数据</a:t>
            </a:r>
            <a:r>
              <a:rPr lang="en-US" altLang="zh-CN" b="1">
                <a:solidFill>
                  <a:schemeClr val="tx2"/>
                </a:solidFill>
              </a:rPr>
              <a:t>x</a:t>
            </a:r>
            <a:r>
              <a:rPr lang="zh-CN" altLang="en-US" b="1">
                <a:solidFill>
                  <a:schemeClr val="tx2"/>
                </a:solidFill>
              </a:rPr>
              <a:t>（</a:t>
            </a:r>
            <a:r>
              <a:rPr lang="en-US" altLang="zh-CN" b="1">
                <a:solidFill>
                  <a:schemeClr val="tx2"/>
                </a:solidFill>
              </a:rPr>
              <a:t>n-2</a:t>
            </a:r>
            <a:r>
              <a:rPr lang="zh-CN" altLang="en-US" b="1">
                <a:solidFill>
                  <a:schemeClr val="tx2"/>
                </a:solidFill>
              </a:rPr>
              <a:t>），</a:t>
            </a:r>
            <a:r>
              <a:rPr lang="en-US" altLang="zh-CN" b="1">
                <a:solidFill>
                  <a:schemeClr val="tx2"/>
                </a:solidFill>
              </a:rPr>
              <a:t>x</a:t>
            </a:r>
            <a:r>
              <a:rPr lang="zh-CN" altLang="en-US" b="1">
                <a:solidFill>
                  <a:schemeClr val="tx2"/>
                </a:solidFill>
              </a:rPr>
              <a:t>（</a:t>
            </a:r>
            <a:r>
              <a:rPr lang="en-US" altLang="zh-CN" b="1">
                <a:solidFill>
                  <a:schemeClr val="tx2"/>
                </a:solidFill>
              </a:rPr>
              <a:t>n-1</a:t>
            </a:r>
            <a:r>
              <a:rPr lang="zh-CN" altLang="en-US" b="1">
                <a:solidFill>
                  <a:schemeClr val="tx2"/>
                </a:solidFill>
              </a:rPr>
              <a:t>） </a:t>
            </a:r>
          </a:p>
          <a:p>
            <a:pPr algn="just"/>
            <a:r>
              <a:rPr lang="zh-CN" altLang="en-US" b="1">
                <a:solidFill>
                  <a:schemeClr val="tx2"/>
                </a:solidFill>
              </a:rPr>
              <a:t>          </a:t>
            </a:r>
            <a:r>
              <a:rPr lang="en-US" altLang="zh-CN" b="1">
                <a:solidFill>
                  <a:schemeClr val="tx2"/>
                </a:solidFill>
              </a:rPr>
              <a:t>RPT      #1                </a:t>
            </a:r>
            <a:r>
              <a:rPr lang="zh-CN" altLang="en-US" b="1">
                <a:solidFill>
                  <a:schemeClr val="tx2"/>
                </a:solidFill>
              </a:rPr>
              <a:t>；重复二次下条指令</a:t>
            </a:r>
          </a:p>
          <a:p>
            <a:pPr algn="just"/>
            <a:r>
              <a:rPr lang="zh-CN" altLang="en-US" b="1">
                <a:solidFill>
                  <a:schemeClr val="tx2"/>
                </a:solidFill>
              </a:rPr>
              <a:t>          </a:t>
            </a:r>
            <a:r>
              <a:rPr lang="en-US" altLang="zh-CN" b="1">
                <a:solidFill>
                  <a:schemeClr val="tx2"/>
                </a:solidFill>
              </a:rPr>
              <a:t>MVPD  #table,*AR1+ </a:t>
            </a:r>
            <a:r>
              <a:rPr lang="zh-CN" altLang="en-US" b="1">
                <a:solidFill>
                  <a:schemeClr val="tx2"/>
                </a:solidFill>
              </a:rPr>
              <a:t>；</a:t>
            </a:r>
            <a:r>
              <a:rPr lang="en-US" altLang="zh-CN" b="1">
                <a:solidFill>
                  <a:schemeClr val="tx2"/>
                </a:solidFill>
              </a:rPr>
              <a:t>x</a:t>
            </a:r>
            <a:r>
              <a:rPr lang="zh-CN" altLang="en-US" b="1">
                <a:solidFill>
                  <a:schemeClr val="tx2"/>
                </a:solidFill>
              </a:rPr>
              <a:t>（</a:t>
            </a:r>
            <a:r>
              <a:rPr lang="en-US" altLang="zh-CN" b="1">
                <a:solidFill>
                  <a:schemeClr val="tx2"/>
                </a:solidFill>
              </a:rPr>
              <a:t>n-2</a:t>
            </a:r>
            <a:r>
              <a:rPr lang="zh-CN" altLang="en-US" b="1">
                <a:solidFill>
                  <a:schemeClr val="tx2"/>
                </a:solidFill>
              </a:rPr>
              <a:t>）</a:t>
            </a:r>
            <a:r>
              <a:rPr lang="en-US" altLang="zh-CN" b="1">
                <a:solidFill>
                  <a:schemeClr val="tx2"/>
                </a:solidFill>
              </a:rPr>
              <a:t>=0</a:t>
            </a:r>
            <a:r>
              <a:rPr lang="zh-CN" altLang="en-US" b="1">
                <a:solidFill>
                  <a:schemeClr val="tx2"/>
                </a:solidFill>
              </a:rPr>
              <a:t>，</a:t>
            </a:r>
            <a:r>
              <a:rPr lang="en-US" altLang="zh-CN" b="1">
                <a:solidFill>
                  <a:schemeClr val="tx2"/>
                </a:solidFill>
              </a:rPr>
              <a:t>x</a:t>
            </a:r>
            <a:r>
              <a:rPr lang="zh-CN" altLang="en-US" b="1">
                <a:solidFill>
                  <a:schemeClr val="tx2"/>
                </a:solidFill>
              </a:rPr>
              <a:t>（</a:t>
            </a:r>
            <a:r>
              <a:rPr lang="en-US" altLang="zh-CN" b="1">
                <a:solidFill>
                  <a:schemeClr val="tx2"/>
                </a:solidFill>
              </a:rPr>
              <a:t>n-1</a:t>
            </a:r>
            <a:r>
              <a:rPr lang="zh-CN" altLang="en-US" b="1">
                <a:solidFill>
                  <a:schemeClr val="tx2"/>
                </a:solidFill>
              </a:rPr>
              <a:t>）</a:t>
            </a:r>
            <a:r>
              <a:rPr lang="en-US" altLang="zh-CN" b="1">
                <a:solidFill>
                  <a:schemeClr val="tx2"/>
                </a:solidFill>
              </a:rPr>
              <a:t>=0</a:t>
            </a:r>
          </a:p>
          <a:p>
            <a:pPr algn="just"/>
            <a:r>
              <a:rPr lang="en-US" altLang="zh-CN" b="1"/>
              <a:t>          </a:t>
            </a:r>
            <a:r>
              <a:rPr lang="en-US" altLang="zh-CN" b="1">
                <a:solidFill>
                  <a:srgbClr val="FF00FF"/>
                </a:solidFill>
              </a:rPr>
              <a:t>STM     #Y,AR1       </a:t>
            </a:r>
            <a:r>
              <a:rPr lang="zh-CN" altLang="en-US" b="1">
                <a:solidFill>
                  <a:srgbClr val="FF00FF"/>
                </a:solidFill>
              </a:rPr>
              <a:t>；传送初始数据</a:t>
            </a:r>
            <a:r>
              <a:rPr lang="en-US" altLang="zh-CN" b="1">
                <a:solidFill>
                  <a:srgbClr val="FF00FF"/>
                </a:solidFill>
              </a:rPr>
              <a:t>y</a:t>
            </a:r>
            <a:r>
              <a:rPr lang="zh-CN" altLang="en-US" b="1">
                <a:solidFill>
                  <a:srgbClr val="FF00FF"/>
                </a:solidFill>
              </a:rPr>
              <a:t>（</a:t>
            </a:r>
            <a:r>
              <a:rPr lang="en-US" altLang="zh-CN" b="1">
                <a:solidFill>
                  <a:srgbClr val="FF00FF"/>
                </a:solidFill>
              </a:rPr>
              <a:t>n-2</a:t>
            </a:r>
            <a:r>
              <a:rPr lang="zh-CN" altLang="en-US" b="1">
                <a:solidFill>
                  <a:srgbClr val="FF00FF"/>
                </a:solidFill>
              </a:rPr>
              <a:t>），</a:t>
            </a:r>
            <a:r>
              <a:rPr lang="en-US" altLang="zh-CN" b="1">
                <a:solidFill>
                  <a:srgbClr val="FF00FF"/>
                </a:solidFill>
              </a:rPr>
              <a:t>y</a:t>
            </a:r>
            <a:r>
              <a:rPr lang="zh-CN" altLang="en-US" b="1">
                <a:solidFill>
                  <a:srgbClr val="FF00FF"/>
                </a:solidFill>
              </a:rPr>
              <a:t>（</a:t>
            </a:r>
            <a:r>
              <a:rPr lang="en-US" altLang="zh-CN" b="1">
                <a:solidFill>
                  <a:srgbClr val="FF00FF"/>
                </a:solidFill>
              </a:rPr>
              <a:t>n-1</a:t>
            </a:r>
            <a:r>
              <a:rPr lang="zh-CN" altLang="en-US" b="1">
                <a:solidFill>
                  <a:srgbClr val="FF00FF"/>
                </a:solidFill>
              </a:rPr>
              <a:t>）</a:t>
            </a:r>
          </a:p>
          <a:p>
            <a:pPr algn="just"/>
            <a:r>
              <a:rPr lang="zh-CN" altLang="en-US" b="1">
                <a:solidFill>
                  <a:srgbClr val="FF00FF"/>
                </a:solidFill>
              </a:rPr>
              <a:t>          </a:t>
            </a:r>
            <a:r>
              <a:rPr lang="en-US" altLang="zh-CN" b="1">
                <a:solidFill>
                  <a:srgbClr val="FF00FF"/>
                </a:solidFill>
              </a:rPr>
              <a:t>RPT      #1                </a:t>
            </a:r>
            <a:r>
              <a:rPr lang="zh-CN" altLang="en-US" b="1">
                <a:solidFill>
                  <a:srgbClr val="FF00FF"/>
                </a:solidFill>
              </a:rPr>
              <a:t>；重复二次下条指令 </a:t>
            </a:r>
          </a:p>
          <a:p>
            <a:pPr algn="just"/>
            <a:r>
              <a:rPr lang="zh-CN" altLang="en-US" b="1">
                <a:solidFill>
                  <a:srgbClr val="FF00FF"/>
                </a:solidFill>
              </a:rPr>
              <a:t>          </a:t>
            </a:r>
            <a:r>
              <a:rPr lang="en-US" altLang="zh-CN" b="1">
                <a:solidFill>
                  <a:srgbClr val="FF00FF"/>
                </a:solidFill>
              </a:rPr>
              <a:t>MVPD #table+2,*AR1+ </a:t>
            </a:r>
            <a:r>
              <a:rPr lang="zh-CN" altLang="en-US" b="1">
                <a:solidFill>
                  <a:srgbClr val="FF00FF"/>
                </a:solidFill>
              </a:rPr>
              <a:t>；</a:t>
            </a:r>
            <a:r>
              <a:rPr lang="en-US" altLang="zh-CN" b="1">
                <a:solidFill>
                  <a:srgbClr val="FF00FF"/>
                </a:solidFill>
              </a:rPr>
              <a:t>y</a:t>
            </a:r>
            <a:r>
              <a:rPr lang="zh-CN" altLang="en-US" b="1">
                <a:solidFill>
                  <a:srgbClr val="FF00FF"/>
                </a:solidFill>
              </a:rPr>
              <a:t>（</a:t>
            </a:r>
            <a:r>
              <a:rPr lang="en-US" altLang="zh-CN" b="1">
                <a:solidFill>
                  <a:srgbClr val="FF00FF"/>
                </a:solidFill>
              </a:rPr>
              <a:t>n-2</a:t>
            </a:r>
            <a:r>
              <a:rPr lang="zh-CN" altLang="en-US" b="1">
                <a:solidFill>
                  <a:srgbClr val="FF00FF"/>
                </a:solidFill>
              </a:rPr>
              <a:t>）</a:t>
            </a:r>
            <a:r>
              <a:rPr lang="en-US" altLang="zh-CN" b="1">
                <a:solidFill>
                  <a:srgbClr val="FF00FF"/>
                </a:solidFill>
              </a:rPr>
              <a:t>=0</a:t>
            </a:r>
            <a:r>
              <a:rPr lang="zh-CN" altLang="en-US" b="1">
                <a:solidFill>
                  <a:srgbClr val="FF00FF"/>
                </a:solidFill>
              </a:rPr>
              <a:t>，</a:t>
            </a:r>
            <a:r>
              <a:rPr lang="en-US" altLang="zh-CN" b="1">
                <a:solidFill>
                  <a:srgbClr val="FF00FF"/>
                </a:solidFill>
              </a:rPr>
              <a:t>y</a:t>
            </a:r>
            <a:r>
              <a:rPr lang="zh-CN" altLang="en-US" b="1">
                <a:solidFill>
                  <a:srgbClr val="FF00FF"/>
                </a:solidFill>
              </a:rPr>
              <a:t>（</a:t>
            </a:r>
            <a:r>
              <a:rPr lang="en-US" altLang="zh-CN" b="1">
                <a:solidFill>
                  <a:srgbClr val="FF00FF"/>
                </a:solidFill>
              </a:rPr>
              <a:t>n-1</a:t>
            </a:r>
            <a:r>
              <a:rPr lang="zh-CN" altLang="en-US" b="1">
                <a:solidFill>
                  <a:srgbClr val="FF00FF"/>
                </a:solidFill>
              </a:rPr>
              <a:t>）</a:t>
            </a:r>
            <a:r>
              <a:rPr lang="en-US" altLang="zh-CN" b="1">
                <a:solidFill>
                  <a:srgbClr val="FF00FF"/>
                </a:solidFill>
              </a:rPr>
              <a:t>=0</a:t>
            </a:r>
          </a:p>
          <a:p>
            <a:pPr algn="just"/>
            <a:r>
              <a:rPr lang="en-US" altLang="zh-CN" b="1"/>
              <a:t>          </a:t>
            </a:r>
            <a:r>
              <a:rPr lang="en-US" altLang="zh-CN" b="1">
                <a:solidFill>
                  <a:schemeClr val="folHlink"/>
                </a:solidFill>
              </a:rPr>
              <a:t>STM    #B,AR1        </a:t>
            </a:r>
            <a:r>
              <a:rPr lang="zh-CN" altLang="en-US" b="1">
                <a:solidFill>
                  <a:schemeClr val="folHlink"/>
                </a:solidFill>
              </a:rPr>
              <a:t>；传送系数</a:t>
            </a:r>
            <a:r>
              <a:rPr lang="en-US" altLang="zh-CN" b="1">
                <a:solidFill>
                  <a:schemeClr val="folHlink"/>
                </a:solidFill>
              </a:rPr>
              <a:t>B2</a:t>
            </a:r>
            <a:r>
              <a:rPr lang="zh-CN" altLang="en-US" b="1">
                <a:solidFill>
                  <a:schemeClr val="folHlink"/>
                </a:solidFill>
              </a:rPr>
              <a:t>，</a:t>
            </a:r>
            <a:r>
              <a:rPr lang="en-US" altLang="zh-CN" b="1">
                <a:solidFill>
                  <a:schemeClr val="folHlink"/>
                </a:solidFill>
              </a:rPr>
              <a:t>B1</a:t>
            </a:r>
            <a:r>
              <a:rPr lang="zh-CN" altLang="en-US" b="1">
                <a:solidFill>
                  <a:schemeClr val="folHlink"/>
                </a:solidFill>
              </a:rPr>
              <a:t>，</a:t>
            </a:r>
            <a:r>
              <a:rPr lang="en-US" altLang="zh-CN" b="1">
                <a:solidFill>
                  <a:schemeClr val="folHlink"/>
                </a:solidFill>
              </a:rPr>
              <a:t>B0</a:t>
            </a:r>
          </a:p>
          <a:p>
            <a:pPr algn="just"/>
            <a:r>
              <a:rPr lang="en-US" altLang="zh-CN" b="1">
                <a:solidFill>
                  <a:schemeClr val="folHlink"/>
                </a:solidFill>
              </a:rPr>
              <a:t>          RPT     #2                 </a:t>
            </a:r>
            <a:r>
              <a:rPr lang="zh-CN" altLang="en-US" b="1">
                <a:solidFill>
                  <a:schemeClr val="folHlink"/>
                </a:solidFill>
              </a:rPr>
              <a:t>；重复三次下条指令</a:t>
            </a:r>
          </a:p>
          <a:p>
            <a:pPr algn="just"/>
            <a:r>
              <a:rPr lang="zh-CN" altLang="en-US" b="1">
                <a:solidFill>
                  <a:schemeClr val="folHlink"/>
                </a:solidFill>
              </a:rPr>
              <a:t>          </a:t>
            </a:r>
            <a:r>
              <a:rPr lang="en-US" altLang="zh-CN" b="1">
                <a:solidFill>
                  <a:schemeClr val="folHlink"/>
                </a:solidFill>
              </a:rPr>
              <a:t>MVPD #table+4,*AR1+</a:t>
            </a:r>
            <a:r>
              <a:rPr lang="zh-CN" altLang="en-US" b="1">
                <a:solidFill>
                  <a:schemeClr val="folHlink"/>
                </a:solidFill>
              </a:rPr>
              <a:t>；</a:t>
            </a:r>
            <a:r>
              <a:rPr lang="zh-CN" altLang="en-US" sz="2000" b="1">
                <a:solidFill>
                  <a:schemeClr val="folHlink"/>
                </a:solidFill>
              </a:rPr>
              <a:t>系数</a:t>
            </a:r>
            <a:r>
              <a:rPr lang="en-US" altLang="zh-CN" sz="2000" b="1">
                <a:solidFill>
                  <a:schemeClr val="folHlink"/>
                </a:solidFill>
              </a:rPr>
              <a:t>B</a:t>
            </a:r>
            <a:r>
              <a:rPr lang="zh-CN" altLang="en-US" sz="2000" b="1">
                <a:solidFill>
                  <a:schemeClr val="folHlink"/>
                </a:solidFill>
              </a:rPr>
              <a:t>从程序存储器传到数据存储器</a:t>
            </a:r>
          </a:p>
          <a:p>
            <a:pPr algn="just"/>
            <a:r>
              <a:rPr lang="zh-CN" altLang="en-US" b="1"/>
              <a:t>          </a:t>
            </a:r>
            <a:r>
              <a:rPr lang="en-US" altLang="zh-CN" b="1">
                <a:solidFill>
                  <a:schemeClr val="tx2"/>
                </a:solidFill>
              </a:rPr>
              <a:t>STM   #A,AR1        </a:t>
            </a:r>
            <a:r>
              <a:rPr lang="zh-CN" altLang="en-US" b="1">
                <a:solidFill>
                  <a:schemeClr val="tx2"/>
                </a:solidFill>
              </a:rPr>
              <a:t>；传送系数</a:t>
            </a:r>
            <a:r>
              <a:rPr lang="en-US" altLang="zh-CN" b="1">
                <a:solidFill>
                  <a:schemeClr val="tx2"/>
                </a:solidFill>
              </a:rPr>
              <a:t>A2</a:t>
            </a:r>
            <a:r>
              <a:rPr lang="zh-CN" altLang="en-US" b="1">
                <a:solidFill>
                  <a:schemeClr val="tx2"/>
                </a:solidFill>
              </a:rPr>
              <a:t>，</a:t>
            </a:r>
            <a:r>
              <a:rPr lang="en-US" altLang="zh-CN" b="1">
                <a:solidFill>
                  <a:schemeClr val="tx2"/>
                </a:solidFill>
              </a:rPr>
              <a:t>A1</a:t>
            </a:r>
          </a:p>
          <a:p>
            <a:pPr algn="just"/>
            <a:r>
              <a:rPr lang="en-US" altLang="zh-CN" b="1">
                <a:solidFill>
                  <a:schemeClr val="tx2"/>
                </a:solidFill>
              </a:rPr>
              <a:t>          RPT    #1                 </a:t>
            </a:r>
            <a:r>
              <a:rPr lang="zh-CN" altLang="en-US" b="1">
                <a:solidFill>
                  <a:schemeClr val="tx2"/>
                </a:solidFill>
              </a:rPr>
              <a:t>；重复二次下条指令</a:t>
            </a:r>
          </a:p>
          <a:p>
            <a:pPr algn="just"/>
            <a:r>
              <a:rPr lang="zh-CN" altLang="en-US" b="1">
                <a:solidFill>
                  <a:schemeClr val="tx2"/>
                </a:solidFill>
              </a:rPr>
              <a:t>        </a:t>
            </a:r>
            <a:r>
              <a:rPr lang="en-US" altLang="zh-CN" b="1">
                <a:solidFill>
                  <a:schemeClr val="tx2"/>
                </a:solidFill>
              </a:rPr>
              <a:t>MVPD #table+7,*AR1+</a:t>
            </a:r>
            <a:r>
              <a:rPr lang="zh-CN" altLang="en-US" sz="2000" b="1">
                <a:solidFill>
                  <a:schemeClr val="tx2"/>
                </a:solidFill>
              </a:rPr>
              <a:t>；将系数</a:t>
            </a:r>
            <a:r>
              <a:rPr lang="en-US" altLang="zh-CN" sz="2000" b="1">
                <a:solidFill>
                  <a:schemeClr val="tx2"/>
                </a:solidFill>
              </a:rPr>
              <a:t>A</a:t>
            </a:r>
            <a:r>
              <a:rPr lang="zh-CN" altLang="en-US" sz="2000" b="1">
                <a:solidFill>
                  <a:schemeClr val="tx2"/>
                </a:solidFill>
              </a:rPr>
              <a:t>从程序存储器传到数据存储器</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00098"/>
                                        </p:tgtEl>
                                        <p:attrNameLst>
                                          <p:attrName>style.visibility</p:attrName>
                                        </p:attrNameLst>
                                      </p:cBhvr>
                                      <p:to>
                                        <p:strVal val="visible"/>
                                      </p:to>
                                    </p:set>
                                    <p:animEffect transition="in" filter="blinds(horizontal)">
                                      <p:cBhvr>
                                        <p:cTn id="7" dur="500"/>
                                        <p:tgtEl>
                                          <p:spTgt spid="900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0098"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6703CC1-A166-4F4D-BF70-30F20F97ED2A}" type="slidenum">
              <a:rPr lang="en-US" altLang="zh-CN" sz="1400"/>
              <a:pPr eaLnBrk="1" hangingPunct="1"/>
              <a:t>115</a:t>
            </a:fld>
            <a:endParaRPr lang="en-US" altLang="zh-CN" sz="1400"/>
          </a:p>
        </p:txBody>
      </p:sp>
      <p:sp>
        <p:nvSpPr>
          <p:cNvPr id="901122" name="Rectangle 2"/>
          <p:cNvSpPr>
            <a:spLocks noChangeArrowheads="1"/>
          </p:cNvSpPr>
          <p:nvPr/>
        </p:nvSpPr>
        <p:spPr bwMode="auto">
          <a:xfrm>
            <a:off x="228600" y="1752600"/>
            <a:ext cx="8686800" cy="319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a:t>STM  #X+2,AR2  </a:t>
            </a:r>
            <a:r>
              <a:rPr lang="zh-CN" altLang="en-US" b="1"/>
              <a:t>；辅助寄存器指针初始化，</a:t>
            </a:r>
            <a:r>
              <a:rPr lang="en-US" altLang="zh-CN" b="1"/>
              <a:t>AR2</a:t>
            </a:r>
            <a:r>
              <a:rPr lang="zh-CN" altLang="en-US" b="1"/>
              <a:t>指向</a:t>
            </a:r>
            <a:r>
              <a:rPr lang="en-US" altLang="zh-CN" b="1"/>
              <a:t>x</a:t>
            </a:r>
            <a:r>
              <a:rPr lang="zh-CN" altLang="en-US" b="1"/>
              <a:t>（</a:t>
            </a:r>
            <a:r>
              <a:rPr lang="en-US" altLang="zh-CN" b="1"/>
              <a:t>n</a:t>
            </a:r>
            <a:r>
              <a:rPr lang="zh-CN" altLang="en-US" b="1"/>
              <a:t>）</a:t>
            </a:r>
          </a:p>
          <a:p>
            <a:pPr>
              <a:spcBef>
                <a:spcPct val="50000"/>
              </a:spcBef>
            </a:pPr>
            <a:r>
              <a:rPr lang="en-US" altLang="zh-CN" b="1"/>
              <a:t>STM  #A+1,AR3  </a:t>
            </a:r>
            <a:r>
              <a:rPr lang="zh-CN" altLang="en-US" b="1"/>
              <a:t>；辅助寄存器指针初始化，</a:t>
            </a:r>
            <a:r>
              <a:rPr lang="en-US" altLang="zh-CN" b="1"/>
              <a:t>AR3</a:t>
            </a:r>
            <a:r>
              <a:rPr lang="zh-CN" altLang="en-US" b="1"/>
              <a:t>指向</a:t>
            </a:r>
            <a:r>
              <a:rPr lang="en-US" altLang="zh-CN" b="1"/>
              <a:t>A1  </a:t>
            </a:r>
          </a:p>
          <a:p>
            <a:pPr>
              <a:spcBef>
                <a:spcPct val="50000"/>
              </a:spcBef>
            </a:pPr>
            <a:r>
              <a:rPr lang="en-US" altLang="zh-CN" b="1"/>
              <a:t>STM  #Y+1,AR4  </a:t>
            </a:r>
            <a:r>
              <a:rPr lang="zh-CN" altLang="en-US" b="1"/>
              <a:t>；辅助寄存器指针初始化，</a:t>
            </a:r>
            <a:r>
              <a:rPr lang="en-US" altLang="zh-CN" b="1"/>
              <a:t>AR4</a:t>
            </a:r>
            <a:r>
              <a:rPr lang="zh-CN" altLang="en-US" b="1"/>
              <a:t>指向</a:t>
            </a:r>
            <a:r>
              <a:rPr lang="en-US" altLang="zh-CN" b="1"/>
              <a:t>y</a:t>
            </a:r>
            <a:r>
              <a:rPr lang="zh-CN" altLang="en-US" b="1"/>
              <a:t>（</a:t>
            </a:r>
            <a:r>
              <a:rPr lang="en-US" altLang="zh-CN" b="1"/>
              <a:t>n-1</a:t>
            </a:r>
            <a:r>
              <a:rPr lang="zh-CN" altLang="en-US" b="1"/>
              <a:t>）</a:t>
            </a:r>
          </a:p>
          <a:p>
            <a:pPr>
              <a:spcBef>
                <a:spcPct val="50000"/>
              </a:spcBef>
            </a:pPr>
            <a:r>
              <a:rPr lang="en-US" altLang="zh-CN" b="1"/>
              <a:t>STM  #B+2,AR5  </a:t>
            </a:r>
            <a:r>
              <a:rPr lang="zh-CN" altLang="en-US" b="1"/>
              <a:t>；辅助寄存器指针初始化，</a:t>
            </a:r>
            <a:r>
              <a:rPr lang="en-US" altLang="zh-CN" b="1"/>
              <a:t>AR5</a:t>
            </a:r>
            <a:r>
              <a:rPr lang="zh-CN" altLang="en-US" b="1"/>
              <a:t>指向</a:t>
            </a:r>
            <a:r>
              <a:rPr lang="en-US" altLang="zh-CN" b="1"/>
              <a:t>B0</a:t>
            </a:r>
          </a:p>
          <a:p>
            <a:pPr>
              <a:spcBef>
                <a:spcPct val="50000"/>
              </a:spcBef>
            </a:pPr>
            <a:r>
              <a:rPr lang="en-US" altLang="zh-CN" b="1"/>
              <a:t>STM  #3,BK         </a:t>
            </a:r>
            <a:r>
              <a:rPr lang="zh-CN" altLang="en-US" b="1"/>
              <a:t>；设置循环缓冲区长度，（</a:t>
            </a:r>
            <a:r>
              <a:rPr lang="en-US" altLang="zh-CN" b="1"/>
              <a:t>BK</a:t>
            </a:r>
            <a:r>
              <a:rPr lang="zh-CN" altLang="en-US" b="1"/>
              <a:t>）</a:t>
            </a:r>
            <a:r>
              <a:rPr lang="en-US" altLang="zh-CN" b="1"/>
              <a:t>=3</a:t>
            </a:r>
          </a:p>
          <a:p>
            <a:pPr>
              <a:spcBef>
                <a:spcPct val="50000"/>
              </a:spcBef>
            </a:pPr>
            <a:r>
              <a:rPr lang="en-US" altLang="zh-CN" b="1"/>
              <a:t>STM  #-1,AR0      </a:t>
            </a:r>
            <a:r>
              <a:rPr lang="zh-CN" altLang="en-US" b="1"/>
              <a:t>；设置间接寻址步长，（</a:t>
            </a:r>
            <a:r>
              <a:rPr lang="en-US" altLang="zh-CN" b="1"/>
              <a:t>AR0</a:t>
            </a:r>
            <a:r>
              <a:rPr lang="zh-CN" altLang="en-US" b="1"/>
              <a:t>）</a:t>
            </a:r>
            <a:r>
              <a:rPr lang="en-US" altLang="zh-CN" b="1"/>
              <a:t>=-1</a:t>
            </a:r>
          </a:p>
        </p:txBody>
      </p:sp>
      <p:sp>
        <p:nvSpPr>
          <p:cNvPr id="117764" name="Text Box 13"/>
          <p:cNvSpPr txBox="1">
            <a:spLocks noChangeArrowheads="1"/>
          </p:cNvSpPr>
          <p:nvPr/>
        </p:nvSpPr>
        <p:spPr bwMode="auto">
          <a:xfrm>
            <a:off x="1271588" y="542925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x(n-2)</a:t>
            </a:r>
            <a:endParaRPr lang="en-US" altLang="zh-CN" b="1" baseline="-25000">
              <a:solidFill>
                <a:srgbClr val="FF6600"/>
              </a:solidFill>
            </a:endParaRPr>
          </a:p>
        </p:txBody>
      </p:sp>
      <p:sp>
        <p:nvSpPr>
          <p:cNvPr id="117765" name="Text Box 14"/>
          <p:cNvSpPr txBox="1">
            <a:spLocks noChangeArrowheads="1"/>
          </p:cNvSpPr>
          <p:nvPr/>
        </p:nvSpPr>
        <p:spPr bwMode="auto">
          <a:xfrm>
            <a:off x="1271588" y="582930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x(n-1)</a:t>
            </a:r>
            <a:endParaRPr lang="en-US" altLang="zh-CN" b="1" baseline="-25000">
              <a:solidFill>
                <a:srgbClr val="FF6600"/>
              </a:solidFill>
            </a:endParaRPr>
          </a:p>
        </p:txBody>
      </p:sp>
      <p:sp>
        <p:nvSpPr>
          <p:cNvPr id="117766" name="Text Box 15"/>
          <p:cNvSpPr txBox="1">
            <a:spLocks noChangeArrowheads="1"/>
          </p:cNvSpPr>
          <p:nvPr/>
        </p:nvSpPr>
        <p:spPr bwMode="auto">
          <a:xfrm>
            <a:off x="1271588" y="622935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6600"/>
                </a:solidFill>
              </a:rPr>
              <a:t>x(n)</a:t>
            </a:r>
            <a:endParaRPr lang="en-US" altLang="zh-CN" b="1" baseline="-25000">
              <a:solidFill>
                <a:srgbClr val="FF6600"/>
              </a:solidFill>
            </a:endParaRPr>
          </a:p>
        </p:txBody>
      </p:sp>
      <p:sp>
        <p:nvSpPr>
          <p:cNvPr id="117767" name="Text Box 17"/>
          <p:cNvSpPr txBox="1">
            <a:spLocks noChangeArrowheads="1"/>
          </p:cNvSpPr>
          <p:nvPr/>
        </p:nvSpPr>
        <p:spPr bwMode="auto">
          <a:xfrm>
            <a:off x="228600" y="6148388"/>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6600"/>
                </a:solidFill>
              </a:rPr>
              <a:t>AR2</a:t>
            </a:r>
            <a:endParaRPr lang="en-US" altLang="zh-CN" b="1" baseline="-25000">
              <a:solidFill>
                <a:srgbClr val="FF6600"/>
              </a:solidFill>
            </a:endParaRPr>
          </a:p>
        </p:txBody>
      </p:sp>
      <p:sp>
        <p:nvSpPr>
          <p:cNvPr id="117768" name="Line 18"/>
          <p:cNvSpPr>
            <a:spLocks noChangeShapeType="1"/>
          </p:cNvSpPr>
          <p:nvPr/>
        </p:nvSpPr>
        <p:spPr bwMode="auto">
          <a:xfrm>
            <a:off x="1020763" y="6364288"/>
            <a:ext cx="252412"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7769" name="Text Box 19"/>
          <p:cNvSpPr txBox="1">
            <a:spLocks noChangeArrowheads="1"/>
          </p:cNvSpPr>
          <p:nvPr/>
        </p:nvSpPr>
        <p:spPr bwMode="auto">
          <a:xfrm>
            <a:off x="409575" y="542925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6600"/>
                </a:solidFill>
              </a:rPr>
              <a:t>X</a:t>
            </a:r>
            <a:endParaRPr lang="en-US" altLang="zh-CN" b="1" baseline="-25000">
              <a:solidFill>
                <a:srgbClr val="FF6600"/>
              </a:solidFill>
            </a:endParaRPr>
          </a:p>
        </p:txBody>
      </p:sp>
      <p:sp>
        <p:nvSpPr>
          <p:cNvPr id="117770" name="Text Box 20"/>
          <p:cNvSpPr txBox="1">
            <a:spLocks noChangeArrowheads="1"/>
          </p:cNvSpPr>
          <p:nvPr/>
        </p:nvSpPr>
        <p:spPr bwMode="auto">
          <a:xfrm>
            <a:off x="3429000" y="5429250"/>
            <a:ext cx="1081088" cy="420688"/>
          </a:xfrm>
          <a:prstGeom prst="rect">
            <a:avLst/>
          </a:prstGeom>
          <a:solidFill>
            <a:srgbClr val="FFFF99"/>
          </a:solidFill>
          <a:ln w="9525">
            <a:solidFill>
              <a:schemeClr val="fo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folHlink"/>
                </a:solidFill>
              </a:rPr>
              <a:t>y(n-2)</a:t>
            </a:r>
            <a:endParaRPr lang="en-US" altLang="zh-CN" b="1" baseline="-25000">
              <a:solidFill>
                <a:schemeClr val="folHlink"/>
              </a:solidFill>
            </a:endParaRPr>
          </a:p>
        </p:txBody>
      </p:sp>
      <p:sp>
        <p:nvSpPr>
          <p:cNvPr id="117771" name="Text Box 21"/>
          <p:cNvSpPr txBox="1">
            <a:spLocks noChangeArrowheads="1"/>
          </p:cNvSpPr>
          <p:nvPr/>
        </p:nvSpPr>
        <p:spPr bwMode="auto">
          <a:xfrm>
            <a:off x="3429000" y="5829300"/>
            <a:ext cx="1081088" cy="420688"/>
          </a:xfrm>
          <a:prstGeom prst="rect">
            <a:avLst/>
          </a:prstGeom>
          <a:solidFill>
            <a:srgbClr val="FFFF99"/>
          </a:solidFill>
          <a:ln w="9525">
            <a:solidFill>
              <a:schemeClr val="fo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folHlink"/>
                </a:solidFill>
              </a:rPr>
              <a:t>y(n-1)</a:t>
            </a:r>
            <a:endParaRPr lang="en-US" altLang="zh-CN" b="1" baseline="-25000">
              <a:solidFill>
                <a:schemeClr val="folHlink"/>
              </a:solidFill>
            </a:endParaRPr>
          </a:p>
        </p:txBody>
      </p:sp>
      <p:sp>
        <p:nvSpPr>
          <p:cNvPr id="117772" name="Text Box 22"/>
          <p:cNvSpPr txBox="1">
            <a:spLocks noChangeArrowheads="1"/>
          </p:cNvSpPr>
          <p:nvPr/>
        </p:nvSpPr>
        <p:spPr bwMode="auto">
          <a:xfrm>
            <a:off x="3429000" y="6229350"/>
            <a:ext cx="1081088" cy="420688"/>
          </a:xfrm>
          <a:prstGeom prst="rect">
            <a:avLst/>
          </a:prstGeom>
          <a:solidFill>
            <a:srgbClr val="FFFF99"/>
          </a:solidFill>
          <a:ln w="9525">
            <a:solidFill>
              <a:schemeClr val="fo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folHlink"/>
                </a:solidFill>
              </a:rPr>
              <a:t>y(n)</a:t>
            </a:r>
            <a:endParaRPr lang="en-US" altLang="zh-CN" b="1" baseline="-25000">
              <a:solidFill>
                <a:schemeClr val="folHlink"/>
              </a:solidFill>
            </a:endParaRPr>
          </a:p>
        </p:txBody>
      </p:sp>
      <p:sp>
        <p:nvSpPr>
          <p:cNvPr id="117773" name="Text Box 23"/>
          <p:cNvSpPr txBox="1">
            <a:spLocks noChangeArrowheads="1"/>
          </p:cNvSpPr>
          <p:nvPr/>
        </p:nvSpPr>
        <p:spPr bwMode="auto">
          <a:xfrm>
            <a:off x="2384425" y="586105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folHlink"/>
                </a:solidFill>
              </a:rPr>
              <a:t>AR4</a:t>
            </a:r>
            <a:endParaRPr lang="en-US" altLang="zh-CN" b="1" baseline="-25000">
              <a:solidFill>
                <a:schemeClr val="folHlink"/>
              </a:solidFill>
            </a:endParaRPr>
          </a:p>
        </p:txBody>
      </p:sp>
      <p:sp>
        <p:nvSpPr>
          <p:cNvPr id="117774" name="Line 24"/>
          <p:cNvSpPr>
            <a:spLocks noChangeShapeType="1"/>
          </p:cNvSpPr>
          <p:nvPr/>
        </p:nvSpPr>
        <p:spPr bwMode="auto">
          <a:xfrm flipV="1">
            <a:off x="3176588" y="6076950"/>
            <a:ext cx="254000" cy="1588"/>
          </a:xfrm>
          <a:prstGeom prst="line">
            <a:avLst/>
          </a:prstGeom>
          <a:noFill/>
          <a:ln w="2857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7775" name="Text Box 25"/>
          <p:cNvSpPr txBox="1">
            <a:spLocks noChangeArrowheads="1"/>
          </p:cNvSpPr>
          <p:nvPr/>
        </p:nvSpPr>
        <p:spPr bwMode="auto">
          <a:xfrm>
            <a:off x="2566988" y="542925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folHlink"/>
                </a:solidFill>
              </a:rPr>
              <a:t>Y</a:t>
            </a:r>
            <a:endParaRPr lang="en-US" altLang="zh-CN" b="1" baseline="-25000">
              <a:solidFill>
                <a:schemeClr val="folHlink"/>
              </a:solidFill>
            </a:endParaRPr>
          </a:p>
        </p:txBody>
      </p:sp>
      <p:sp>
        <p:nvSpPr>
          <p:cNvPr id="117776" name="Text Box 26"/>
          <p:cNvSpPr txBox="1">
            <a:spLocks noChangeArrowheads="1"/>
          </p:cNvSpPr>
          <p:nvPr/>
        </p:nvSpPr>
        <p:spPr bwMode="auto">
          <a:xfrm>
            <a:off x="5589588" y="542925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tx2"/>
                </a:solidFill>
              </a:rPr>
              <a:t>B2</a:t>
            </a:r>
            <a:endParaRPr lang="en-US" altLang="zh-CN" b="1" baseline="-25000">
              <a:solidFill>
                <a:schemeClr val="tx2"/>
              </a:solidFill>
            </a:endParaRPr>
          </a:p>
        </p:txBody>
      </p:sp>
      <p:sp>
        <p:nvSpPr>
          <p:cNvPr id="117777" name="Text Box 27"/>
          <p:cNvSpPr txBox="1">
            <a:spLocks noChangeArrowheads="1"/>
          </p:cNvSpPr>
          <p:nvPr/>
        </p:nvSpPr>
        <p:spPr bwMode="auto">
          <a:xfrm>
            <a:off x="5589588" y="582930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tx2"/>
                </a:solidFill>
              </a:rPr>
              <a:t>B1</a:t>
            </a:r>
            <a:endParaRPr lang="en-US" altLang="zh-CN" b="1" baseline="-25000">
              <a:solidFill>
                <a:schemeClr val="tx2"/>
              </a:solidFill>
            </a:endParaRPr>
          </a:p>
        </p:txBody>
      </p:sp>
      <p:sp>
        <p:nvSpPr>
          <p:cNvPr id="117778" name="Text Box 28"/>
          <p:cNvSpPr txBox="1">
            <a:spLocks noChangeArrowheads="1"/>
          </p:cNvSpPr>
          <p:nvPr/>
        </p:nvSpPr>
        <p:spPr bwMode="auto">
          <a:xfrm>
            <a:off x="5589588" y="6229350"/>
            <a:ext cx="1081087" cy="420688"/>
          </a:xfrm>
          <a:prstGeom prst="rect">
            <a:avLst/>
          </a:prstGeom>
          <a:solidFill>
            <a:srgbClr val="FFFF99"/>
          </a:solidFill>
          <a:ln w="9525">
            <a:solidFill>
              <a:schemeClr val="hlink"/>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chemeClr val="tx2"/>
                </a:solidFill>
              </a:rPr>
              <a:t>B0</a:t>
            </a:r>
            <a:endParaRPr lang="en-US" altLang="zh-CN" b="1" baseline="-25000">
              <a:solidFill>
                <a:schemeClr val="tx2"/>
              </a:solidFill>
            </a:endParaRPr>
          </a:p>
        </p:txBody>
      </p:sp>
      <p:sp>
        <p:nvSpPr>
          <p:cNvPr id="117779" name="Text Box 29"/>
          <p:cNvSpPr txBox="1">
            <a:spLocks noChangeArrowheads="1"/>
          </p:cNvSpPr>
          <p:nvPr/>
        </p:nvSpPr>
        <p:spPr bwMode="auto">
          <a:xfrm>
            <a:off x="4510088" y="6148388"/>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tx2"/>
                </a:solidFill>
              </a:rPr>
              <a:t>AR5</a:t>
            </a:r>
            <a:endParaRPr lang="en-US" altLang="zh-CN" b="1" baseline="-25000">
              <a:solidFill>
                <a:schemeClr val="tx2"/>
              </a:solidFill>
            </a:endParaRPr>
          </a:p>
        </p:txBody>
      </p:sp>
      <p:sp>
        <p:nvSpPr>
          <p:cNvPr id="117780" name="Line 30"/>
          <p:cNvSpPr>
            <a:spLocks noChangeShapeType="1"/>
          </p:cNvSpPr>
          <p:nvPr/>
        </p:nvSpPr>
        <p:spPr bwMode="auto">
          <a:xfrm>
            <a:off x="5302250" y="6364288"/>
            <a:ext cx="288925" cy="0"/>
          </a:xfrm>
          <a:prstGeom prst="line">
            <a:avLst/>
          </a:prstGeom>
          <a:noFill/>
          <a:ln w="28575">
            <a:solidFill>
              <a:schemeClr val="tx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7781" name="Text Box 31"/>
          <p:cNvSpPr txBox="1">
            <a:spLocks noChangeArrowheads="1"/>
          </p:cNvSpPr>
          <p:nvPr/>
        </p:nvSpPr>
        <p:spPr bwMode="auto">
          <a:xfrm>
            <a:off x="4727575" y="542925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chemeClr val="tx2"/>
                </a:solidFill>
              </a:rPr>
              <a:t>B</a:t>
            </a:r>
            <a:endParaRPr lang="en-US" altLang="zh-CN" b="1" baseline="-25000">
              <a:solidFill>
                <a:schemeClr val="tx2"/>
              </a:solidFill>
            </a:endParaRPr>
          </a:p>
        </p:txBody>
      </p:sp>
      <p:sp>
        <p:nvSpPr>
          <p:cNvPr id="117782" name="Text Box 32"/>
          <p:cNvSpPr txBox="1">
            <a:spLocks noChangeArrowheads="1"/>
          </p:cNvSpPr>
          <p:nvPr/>
        </p:nvSpPr>
        <p:spPr bwMode="auto">
          <a:xfrm>
            <a:off x="7712075" y="5429250"/>
            <a:ext cx="1081088" cy="420688"/>
          </a:xfrm>
          <a:prstGeom prst="rect">
            <a:avLst/>
          </a:prstGeom>
          <a:solidFill>
            <a:srgbClr val="FFFF99"/>
          </a:solidFill>
          <a:ln w="9525">
            <a:solidFill>
              <a:srgbClr val="FF00FF"/>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00FF"/>
                </a:solidFill>
              </a:rPr>
              <a:t>A2</a:t>
            </a:r>
            <a:endParaRPr lang="en-US" altLang="zh-CN" b="1" baseline="-25000">
              <a:solidFill>
                <a:srgbClr val="FF00FF"/>
              </a:solidFill>
            </a:endParaRPr>
          </a:p>
        </p:txBody>
      </p:sp>
      <p:sp>
        <p:nvSpPr>
          <p:cNvPr id="117783" name="Text Box 33"/>
          <p:cNvSpPr txBox="1">
            <a:spLocks noChangeArrowheads="1"/>
          </p:cNvSpPr>
          <p:nvPr/>
        </p:nvSpPr>
        <p:spPr bwMode="auto">
          <a:xfrm>
            <a:off x="7712075" y="5829300"/>
            <a:ext cx="1081088" cy="420688"/>
          </a:xfrm>
          <a:prstGeom prst="rect">
            <a:avLst/>
          </a:prstGeom>
          <a:solidFill>
            <a:srgbClr val="FFFF99"/>
          </a:solidFill>
          <a:ln w="9525">
            <a:solidFill>
              <a:srgbClr val="FF00FF"/>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00FF"/>
                </a:solidFill>
              </a:rPr>
              <a:t>A1</a:t>
            </a:r>
            <a:endParaRPr lang="en-US" altLang="zh-CN" b="1" baseline="-25000">
              <a:solidFill>
                <a:srgbClr val="FF00FF"/>
              </a:solidFill>
            </a:endParaRPr>
          </a:p>
        </p:txBody>
      </p:sp>
      <p:sp>
        <p:nvSpPr>
          <p:cNvPr id="117784" name="Text Box 34"/>
          <p:cNvSpPr txBox="1">
            <a:spLocks noChangeArrowheads="1"/>
          </p:cNvSpPr>
          <p:nvPr/>
        </p:nvSpPr>
        <p:spPr bwMode="auto">
          <a:xfrm>
            <a:off x="7712075" y="6229350"/>
            <a:ext cx="1081088" cy="420688"/>
          </a:xfrm>
          <a:prstGeom prst="rect">
            <a:avLst/>
          </a:prstGeom>
          <a:solidFill>
            <a:srgbClr val="FFFF99"/>
          </a:solidFill>
          <a:ln w="9525">
            <a:solidFill>
              <a:srgbClr val="FF00FF"/>
            </a:solidFill>
            <a:miter lim="800000"/>
            <a:headEnd/>
            <a:tailEnd/>
          </a:ln>
        </p:spPr>
        <p:txBody>
          <a:bodyPr t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1">
                <a:solidFill>
                  <a:srgbClr val="FF00FF"/>
                </a:solidFill>
              </a:rPr>
              <a:t>(</a:t>
            </a:r>
            <a:r>
              <a:rPr lang="zh-CN" altLang="en-US" b="1">
                <a:solidFill>
                  <a:srgbClr val="FF00FF"/>
                </a:solidFill>
              </a:rPr>
              <a:t>未用</a:t>
            </a:r>
            <a:r>
              <a:rPr lang="en-US" altLang="zh-CN" b="1">
                <a:solidFill>
                  <a:srgbClr val="FF00FF"/>
                </a:solidFill>
              </a:rPr>
              <a:t>)</a:t>
            </a:r>
            <a:endParaRPr lang="en-US" altLang="zh-CN" b="1" baseline="-25000">
              <a:solidFill>
                <a:srgbClr val="FF00FF"/>
              </a:solidFill>
            </a:endParaRPr>
          </a:p>
        </p:txBody>
      </p:sp>
      <p:sp>
        <p:nvSpPr>
          <p:cNvPr id="117785" name="Text Box 35"/>
          <p:cNvSpPr txBox="1">
            <a:spLocks noChangeArrowheads="1"/>
          </p:cNvSpPr>
          <p:nvPr/>
        </p:nvSpPr>
        <p:spPr bwMode="auto">
          <a:xfrm>
            <a:off x="6597650" y="586105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00FF"/>
                </a:solidFill>
              </a:rPr>
              <a:t>AR3</a:t>
            </a:r>
            <a:endParaRPr lang="en-US" altLang="zh-CN" b="1" baseline="-25000">
              <a:solidFill>
                <a:srgbClr val="FF00FF"/>
              </a:solidFill>
            </a:endParaRPr>
          </a:p>
        </p:txBody>
      </p:sp>
      <p:sp>
        <p:nvSpPr>
          <p:cNvPr id="117786" name="Line 36"/>
          <p:cNvSpPr>
            <a:spLocks noChangeShapeType="1"/>
          </p:cNvSpPr>
          <p:nvPr/>
        </p:nvSpPr>
        <p:spPr bwMode="auto">
          <a:xfrm>
            <a:off x="7389813" y="6076950"/>
            <a:ext cx="287337" cy="0"/>
          </a:xfrm>
          <a:prstGeom prst="line">
            <a:avLst/>
          </a:prstGeom>
          <a:noFill/>
          <a:ln w="28575">
            <a:solidFill>
              <a:srgbClr val="FF00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7787" name="Text Box 37"/>
          <p:cNvSpPr txBox="1">
            <a:spLocks noChangeArrowheads="1"/>
          </p:cNvSpPr>
          <p:nvPr/>
        </p:nvSpPr>
        <p:spPr bwMode="auto">
          <a:xfrm>
            <a:off x="6850063" y="5429250"/>
            <a:ext cx="866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r>
              <a:rPr lang="en-US" altLang="zh-CN" b="1">
                <a:solidFill>
                  <a:srgbClr val="FF00FF"/>
                </a:solidFill>
              </a:rPr>
              <a:t>A</a:t>
            </a:r>
            <a:endParaRPr lang="en-US" altLang="zh-CN" b="1" baseline="-25000">
              <a:solidFill>
                <a:srgbClr val="FF00FF"/>
              </a:solidFill>
            </a:endParaRP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901122"/>
                                        </p:tgtEl>
                                        <p:attrNameLst>
                                          <p:attrName>style.visibility</p:attrName>
                                        </p:attrNameLst>
                                      </p:cBhvr>
                                      <p:to>
                                        <p:strVal val="visible"/>
                                      </p:to>
                                    </p:set>
                                    <p:animEffect transition="in" filter="blinds(vertical)">
                                      <p:cBhvr>
                                        <p:cTn id="7" dur="500"/>
                                        <p:tgtEl>
                                          <p:spTgt spid="901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22"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A8BE3EC-4DCE-4A17-AC8B-07AA36CF1936}" type="slidenum">
              <a:rPr lang="en-US" altLang="zh-CN" sz="1400"/>
              <a:pPr eaLnBrk="1" hangingPunct="1"/>
              <a:t>116</a:t>
            </a:fld>
            <a:endParaRPr lang="en-US" altLang="zh-CN" sz="1400"/>
          </a:p>
        </p:txBody>
      </p:sp>
      <p:sp>
        <p:nvSpPr>
          <p:cNvPr id="902146" name="Rectangle 2"/>
          <p:cNvSpPr>
            <a:spLocks noChangeArrowheads="1"/>
          </p:cNvSpPr>
          <p:nvPr/>
        </p:nvSpPr>
        <p:spPr bwMode="auto">
          <a:xfrm>
            <a:off x="611188" y="1196975"/>
            <a:ext cx="8353425"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pPr>
            <a:r>
              <a:rPr lang="en-US" altLang="zh-CN" b="1"/>
              <a:t>IIR3</a:t>
            </a:r>
            <a:r>
              <a:rPr lang="zh-CN" altLang="en-US" b="1"/>
              <a:t>：</a:t>
            </a:r>
            <a:r>
              <a:rPr lang="en-US" altLang="zh-CN" b="1">
                <a:solidFill>
                  <a:srgbClr val="FF6600"/>
                </a:solidFill>
              </a:rPr>
              <a:t>PORTR PA1,*AR2 </a:t>
            </a:r>
            <a:r>
              <a:rPr lang="zh-CN" altLang="en-US" b="1">
                <a:solidFill>
                  <a:srgbClr val="FF6600"/>
                </a:solidFill>
              </a:rPr>
              <a:t>；从</a:t>
            </a:r>
            <a:r>
              <a:rPr lang="en-US" altLang="zh-CN" b="1">
                <a:solidFill>
                  <a:srgbClr val="FF6600"/>
                </a:solidFill>
              </a:rPr>
              <a:t>PA1</a:t>
            </a:r>
            <a:r>
              <a:rPr lang="zh-CN" altLang="en-US" b="1">
                <a:solidFill>
                  <a:srgbClr val="FF6600"/>
                </a:solidFill>
              </a:rPr>
              <a:t>口输入数据到</a:t>
            </a:r>
            <a:r>
              <a:rPr lang="en-US" altLang="zh-CN" b="1">
                <a:solidFill>
                  <a:srgbClr val="FF6600"/>
                </a:solidFill>
              </a:rPr>
              <a:t>x</a:t>
            </a:r>
            <a:r>
              <a:rPr lang="zh-CN" altLang="en-US" b="1">
                <a:solidFill>
                  <a:srgbClr val="FF6600"/>
                </a:solidFill>
              </a:rPr>
              <a:t>（</a:t>
            </a:r>
            <a:r>
              <a:rPr lang="en-US" altLang="zh-CN" b="1">
                <a:solidFill>
                  <a:srgbClr val="FF6600"/>
                </a:solidFill>
              </a:rPr>
              <a:t>n</a:t>
            </a:r>
            <a:r>
              <a:rPr lang="zh-CN" altLang="en-US" b="1">
                <a:solidFill>
                  <a:srgbClr val="FF6600"/>
                </a:solidFill>
              </a:rPr>
              <a:t>）</a:t>
            </a:r>
          </a:p>
          <a:p>
            <a:pPr>
              <a:lnSpc>
                <a:spcPct val="80000"/>
              </a:lnSpc>
              <a:spcBef>
                <a:spcPct val="50000"/>
              </a:spcBef>
            </a:pPr>
            <a:r>
              <a:rPr lang="zh-CN" altLang="en-US" b="1"/>
              <a:t>    </a:t>
            </a:r>
            <a:r>
              <a:rPr lang="en-US" altLang="zh-CN" b="1">
                <a:solidFill>
                  <a:schemeClr val="tx2"/>
                </a:solidFill>
              </a:rPr>
              <a:t>MPY  *AR2+0%,*AR5+0%,A</a:t>
            </a:r>
            <a:r>
              <a:rPr lang="en-US" altLang="zh-CN" b="1"/>
              <a:t> </a:t>
            </a:r>
            <a:r>
              <a:rPr lang="zh-CN" altLang="en-US" b="1"/>
              <a:t>；</a:t>
            </a:r>
            <a:r>
              <a:rPr lang="zh-CN" altLang="en-US" sz="2000" b="1"/>
              <a:t>计算前向通道，</a:t>
            </a:r>
            <a:r>
              <a:rPr lang="en-US" altLang="zh-CN" sz="2000" b="1"/>
              <a:t>A=x</a:t>
            </a:r>
            <a:r>
              <a:rPr lang="zh-CN" altLang="en-US" sz="2000" b="1"/>
              <a:t>（</a:t>
            </a:r>
            <a:r>
              <a:rPr lang="en-US" altLang="zh-CN" sz="2000" b="1"/>
              <a:t>n</a:t>
            </a:r>
            <a:r>
              <a:rPr lang="zh-CN" altLang="en-US" sz="2000" b="1"/>
              <a:t>）*</a:t>
            </a:r>
            <a:r>
              <a:rPr lang="en-US" altLang="zh-CN" sz="2000" b="1"/>
              <a:t>B0</a:t>
            </a:r>
          </a:p>
          <a:p>
            <a:pPr>
              <a:lnSpc>
                <a:spcPct val="80000"/>
              </a:lnSpc>
              <a:spcBef>
                <a:spcPct val="50000"/>
              </a:spcBef>
            </a:pPr>
            <a:r>
              <a:rPr lang="en-US" altLang="zh-CN" b="1"/>
              <a:t>    </a:t>
            </a:r>
            <a:r>
              <a:rPr lang="en-US" altLang="zh-CN" b="1">
                <a:solidFill>
                  <a:schemeClr val="tx2"/>
                </a:solidFill>
              </a:rPr>
              <a:t>MAC *AR2+0%,*AR5+0%,A</a:t>
            </a:r>
            <a:r>
              <a:rPr lang="en-US" altLang="zh-CN" b="1"/>
              <a:t> </a:t>
            </a:r>
            <a:r>
              <a:rPr lang="zh-CN" altLang="en-US" b="1"/>
              <a:t>；</a:t>
            </a:r>
            <a:r>
              <a:rPr lang="en-US" altLang="zh-CN" sz="2000" b="1"/>
              <a:t>A=x</a:t>
            </a:r>
            <a:r>
              <a:rPr lang="zh-CN" altLang="en-US" sz="2000" b="1"/>
              <a:t>（</a:t>
            </a:r>
            <a:r>
              <a:rPr lang="en-US" altLang="zh-CN" sz="2000" b="1"/>
              <a:t>n</a:t>
            </a:r>
            <a:r>
              <a:rPr lang="zh-CN" altLang="en-US" sz="2000" b="1"/>
              <a:t>）*</a:t>
            </a:r>
            <a:r>
              <a:rPr lang="en-US" altLang="zh-CN" sz="2000" b="1"/>
              <a:t>B0+x</a:t>
            </a:r>
            <a:r>
              <a:rPr lang="zh-CN" altLang="en-US" sz="2000" b="1"/>
              <a:t>（</a:t>
            </a:r>
            <a:r>
              <a:rPr lang="en-US" altLang="zh-CN" sz="2000" b="1"/>
              <a:t>n-1</a:t>
            </a:r>
            <a:r>
              <a:rPr lang="zh-CN" altLang="en-US" sz="2000" b="1"/>
              <a:t>）*</a:t>
            </a:r>
            <a:r>
              <a:rPr lang="en-US" altLang="zh-CN" sz="2000" b="1"/>
              <a:t>B1</a:t>
            </a:r>
          </a:p>
          <a:p>
            <a:pPr>
              <a:lnSpc>
                <a:spcPct val="80000"/>
              </a:lnSpc>
              <a:spcBef>
                <a:spcPct val="50000"/>
              </a:spcBef>
            </a:pPr>
            <a:r>
              <a:rPr lang="en-US" altLang="zh-CN" b="1"/>
              <a:t>   </a:t>
            </a:r>
            <a:r>
              <a:rPr lang="en-US" altLang="zh-CN" b="1">
                <a:solidFill>
                  <a:schemeClr val="tx2"/>
                </a:solidFill>
              </a:rPr>
              <a:t>MAC *AR2,*AR5+0%,A</a:t>
            </a:r>
            <a:r>
              <a:rPr lang="zh-CN" altLang="en-US" b="1">
                <a:solidFill>
                  <a:schemeClr val="tx2"/>
                </a:solidFill>
              </a:rPr>
              <a:t>；</a:t>
            </a:r>
            <a:r>
              <a:rPr lang="en-US" altLang="zh-CN" sz="1600" b="1"/>
              <a:t>A=x</a:t>
            </a:r>
            <a:r>
              <a:rPr lang="zh-CN" altLang="en-US" sz="1600" b="1"/>
              <a:t>（</a:t>
            </a:r>
            <a:r>
              <a:rPr lang="en-US" altLang="zh-CN" sz="1600" b="1"/>
              <a:t>n</a:t>
            </a:r>
            <a:r>
              <a:rPr lang="zh-CN" altLang="en-US" sz="1600" b="1"/>
              <a:t>）*</a:t>
            </a:r>
            <a:r>
              <a:rPr lang="en-US" altLang="zh-CN" sz="1600" b="1"/>
              <a:t>B0+x</a:t>
            </a:r>
            <a:r>
              <a:rPr lang="zh-CN" altLang="en-US" sz="1600" b="1"/>
              <a:t>（</a:t>
            </a:r>
            <a:r>
              <a:rPr lang="en-US" altLang="zh-CN" sz="1600" b="1"/>
              <a:t>n-1</a:t>
            </a:r>
            <a:r>
              <a:rPr lang="zh-CN" altLang="en-US" sz="1600" b="1"/>
              <a:t>）*</a:t>
            </a:r>
            <a:r>
              <a:rPr lang="en-US" altLang="zh-CN" sz="1600" b="1"/>
              <a:t>B1+x</a:t>
            </a:r>
            <a:r>
              <a:rPr lang="zh-CN" altLang="en-US" sz="1600" b="1"/>
              <a:t>（</a:t>
            </a:r>
            <a:r>
              <a:rPr lang="en-US" altLang="zh-CN" sz="1600" b="1"/>
              <a:t>n-2</a:t>
            </a:r>
            <a:r>
              <a:rPr lang="zh-CN" altLang="en-US" sz="1600" b="1"/>
              <a:t>）*</a:t>
            </a:r>
            <a:r>
              <a:rPr lang="en-US" altLang="zh-CN" sz="1600" b="1"/>
              <a:t>B2</a:t>
            </a:r>
          </a:p>
          <a:p>
            <a:pPr>
              <a:lnSpc>
                <a:spcPct val="80000"/>
              </a:lnSpc>
              <a:spcBef>
                <a:spcPct val="50000"/>
              </a:spcBef>
            </a:pPr>
            <a:r>
              <a:rPr lang="en-US" altLang="zh-CN" b="1"/>
              <a:t>   </a:t>
            </a:r>
            <a:r>
              <a:rPr lang="en-US" altLang="zh-CN" b="1">
                <a:solidFill>
                  <a:srgbClr val="FF00FF"/>
                </a:solidFill>
              </a:rPr>
              <a:t>MAC *AR4+0%,*AR3+0%,A</a:t>
            </a:r>
            <a:r>
              <a:rPr lang="en-US" altLang="zh-CN" b="1"/>
              <a:t> </a:t>
            </a:r>
            <a:r>
              <a:rPr lang="zh-CN" altLang="en-US" b="1"/>
              <a:t>；</a:t>
            </a:r>
            <a:r>
              <a:rPr lang="zh-CN" altLang="en-US" sz="1800" b="1"/>
              <a:t>计算反馈通道</a:t>
            </a:r>
            <a:r>
              <a:rPr lang="en-US" altLang="zh-CN" sz="1800" b="1"/>
              <a:t>,A=A+y</a:t>
            </a:r>
            <a:r>
              <a:rPr lang="zh-CN" altLang="en-US" sz="1800" b="1"/>
              <a:t>（</a:t>
            </a:r>
            <a:r>
              <a:rPr lang="en-US" altLang="zh-CN" sz="1800" b="1"/>
              <a:t>n-1</a:t>
            </a:r>
            <a:r>
              <a:rPr lang="zh-CN" altLang="en-US" sz="1800" b="1"/>
              <a:t>）*</a:t>
            </a:r>
            <a:r>
              <a:rPr lang="en-US" altLang="zh-CN" sz="1800" b="1"/>
              <a:t>A1</a:t>
            </a:r>
          </a:p>
          <a:p>
            <a:pPr>
              <a:lnSpc>
                <a:spcPct val="80000"/>
              </a:lnSpc>
              <a:spcBef>
                <a:spcPct val="50000"/>
              </a:spcBef>
            </a:pPr>
            <a:r>
              <a:rPr lang="en-US" altLang="zh-CN" b="1"/>
              <a:t>   </a:t>
            </a:r>
            <a:r>
              <a:rPr lang="en-US" altLang="zh-CN" b="1">
                <a:solidFill>
                  <a:srgbClr val="FF00FF"/>
                </a:solidFill>
              </a:rPr>
              <a:t>MAC  *AR4+0%,*AR3+0%,A</a:t>
            </a:r>
            <a:r>
              <a:rPr lang="en-US" altLang="zh-CN" b="1"/>
              <a:t> </a:t>
            </a:r>
            <a:r>
              <a:rPr lang="zh-CN" altLang="en-US" b="1"/>
              <a:t>；</a:t>
            </a:r>
            <a:r>
              <a:rPr lang="en-US" altLang="zh-CN" b="1"/>
              <a:t>A=A+y</a:t>
            </a:r>
            <a:r>
              <a:rPr lang="zh-CN" altLang="en-US" b="1"/>
              <a:t>（</a:t>
            </a:r>
            <a:r>
              <a:rPr lang="en-US" altLang="zh-CN" b="1"/>
              <a:t>n-2</a:t>
            </a:r>
            <a:r>
              <a:rPr lang="zh-CN" altLang="en-US" b="1"/>
              <a:t>）*</a:t>
            </a:r>
            <a:r>
              <a:rPr lang="en-US" altLang="zh-CN" b="1"/>
              <a:t>A2</a:t>
            </a:r>
          </a:p>
          <a:p>
            <a:pPr>
              <a:lnSpc>
                <a:spcPct val="80000"/>
              </a:lnSpc>
              <a:spcBef>
                <a:spcPct val="50000"/>
              </a:spcBef>
            </a:pPr>
            <a:r>
              <a:rPr lang="en-US" altLang="zh-CN" b="1"/>
              <a:t>   </a:t>
            </a:r>
            <a:r>
              <a:rPr lang="en-US" altLang="zh-CN" b="1">
                <a:solidFill>
                  <a:srgbClr val="FF00FF"/>
                </a:solidFill>
              </a:rPr>
              <a:t>MAR  *AR3+0%</a:t>
            </a:r>
            <a:r>
              <a:rPr lang="en-US" altLang="zh-CN" b="1"/>
              <a:t>       </a:t>
            </a:r>
            <a:r>
              <a:rPr lang="zh-CN" altLang="en-US" b="1"/>
              <a:t>；</a:t>
            </a:r>
            <a:r>
              <a:rPr lang="en-US" altLang="zh-CN" b="1"/>
              <a:t>AR3</a:t>
            </a:r>
            <a:r>
              <a:rPr lang="zh-CN" altLang="en-US" b="1"/>
              <a:t>指向</a:t>
            </a:r>
            <a:r>
              <a:rPr lang="en-US" altLang="zh-CN" b="1"/>
              <a:t>A1</a:t>
            </a:r>
          </a:p>
          <a:p>
            <a:pPr>
              <a:lnSpc>
                <a:spcPct val="80000"/>
              </a:lnSpc>
              <a:spcBef>
                <a:spcPct val="50000"/>
              </a:spcBef>
            </a:pPr>
            <a:r>
              <a:rPr lang="en-US" altLang="zh-CN" b="1"/>
              <a:t>   </a:t>
            </a:r>
            <a:r>
              <a:rPr lang="en-US" altLang="zh-CN" b="1">
                <a:solidFill>
                  <a:srgbClr val="FF0000"/>
                </a:solidFill>
              </a:rPr>
              <a:t>STH    A,*AR4          </a:t>
            </a:r>
            <a:r>
              <a:rPr lang="zh-CN" altLang="en-US" b="1">
                <a:solidFill>
                  <a:srgbClr val="FF0000"/>
                </a:solidFill>
              </a:rPr>
              <a:t>；保存</a:t>
            </a:r>
            <a:r>
              <a:rPr lang="en-US" altLang="zh-CN" b="1">
                <a:solidFill>
                  <a:srgbClr val="FF0000"/>
                </a:solidFill>
              </a:rPr>
              <a:t>y</a:t>
            </a:r>
            <a:r>
              <a:rPr lang="zh-CN" altLang="en-US" b="1">
                <a:solidFill>
                  <a:srgbClr val="FF0000"/>
                </a:solidFill>
              </a:rPr>
              <a:t>（</a:t>
            </a:r>
            <a:r>
              <a:rPr lang="en-US" altLang="zh-CN" b="1">
                <a:solidFill>
                  <a:srgbClr val="FF0000"/>
                </a:solidFill>
              </a:rPr>
              <a:t>n</a:t>
            </a:r>
            <a:r>
              <a:rPr lang="zh-CN" altLang="en-US" b="1">
                <a:solidFill>
                  <a:srgbClr val="FF0000"/>
                </a:solidFill>
              </a:rPr>
              <a:t>）</a:t>
            </a:r>
          </a:p>
          <a:p>
            <a:pPr>
              <a:lnSpc>
                <a:spcPct val="80000"/>
              </a:lnSpc>
              <a:spcBef>
                <a:spcPct val="50000"/>
              </a:spcBef>
            </a:pPr>
            <a:r>
              <a:rPr lang="zh-CN" altLang="en-US" b="1"/>
              <a:t>   </a:t>
            </a:r>
            <a:r>
              <a:rPr lang="en-US" altLang="zh-CN" b="1"/>
              <a:t>BD      IIR3                </a:t>
            </a:r>
            <a:r>
              <a:rPr lang="zh-CN" altLang="en-US" b="1"/>
              <a:t>；执行完下条指令后循环</a:t>
            </a:r>
          </a:p>
          <a:p>
            <a:pPr>
              <a:lnSpc>
                <a:spcPct val="80000"/>
              </a:lnSpc>
              <a:spcBef>
                <a:spcPct val="50000"/>
              </a:spcBef>
            </a:pPr>
            <a:r>
              <a:rPr lang="zh-CN" altLang="en-US" b="1"/>
              <a:t>   </a:t>
            </a:r>
            <a:r>
              <a:rPr lang="en-US" altLang="zh-CN" b="1">
                <a:solidFill>
                  <a:srgbClr val="FF6600"/>
                </a:solidFill>
              </a:rPr>
              <a:t>PORTW   *AR4,PA0 </a:t>
            </a:r>
            <a:r>
              <a:rPr lang="zh-CN" altLang="en-US" b="1">
                <a:solidFill>
                  <a:srgbClr val="FF6600"/>
                </a:solidFill>
              </a:rPr>
              <a:t>；输出</a:t>
            </a:r>
            <a:r>
              <a:rPr lang="en-US" altLang="zh-CN" b="1">
                <a:solidFill>
                  <a:srgbClr val="FF6600"/>
                </a:solidFill>
              </a:rPr>
              <a:t>y</a:t>
            </a:r>
            <a:r>
              <a:rPr lang="zh-CN" altLang="en-US" b="1">
                <a:solidFill>
                  <a:srgbClr val="FF6600"/>
                </a:solidFill>
              </a:rPr>
              <a:t>（</a:t>
            </a:r>
            <a:r>
              <a:rPr lang="en-US" altLang="zh-CN" b="1">
                <a:solidFill>
                  <a:srgbClr val="FF6600"/>
                </a:solidFill>
              </a:rPr>
              <a:t>n</a:t>
            </a:r>
            <a:r>
              <a:rPr lang="zh-CN" altLang="en-US" b="1">
                <a:solidFill>
                  <a:srgbClr val="FF6600"/>
                </a:solidFill>
              </a:rPr>
              <a:t>）到</a:t>
            </a:r>
            <a:r>
              <a:rPr lang="en-US" altLang="zh-CN" b="1">
                <a:solidFill>
                  <a:srgbClr val="FF6600"/>
                </a:solidFill>
              </a:rPr>
              <a:t>I/O</a:t>
            </a:r>
            <a:r>
              <a:rPr lang="zh-CN" altLang="en-US" b="1">
                <a:solidFill>
                  <a:srgbClr val="FF6600"/>
                </a:solidFill>
              </a:rPr>
              <a:t>端口</a:t>
            </a:r>
            <a:r>
              <a:rPr lang="en-US" altLang="zh-CN" b="1">
                <a:solidFill>
                  <a:srgbClr val="FF6600"/>
                </a:solidFill>
              </a:rPr>
              <a:t>PA0</a:t>
            </a:r>
          </a:p>
          <a:p>
            <a:pPr>
              <a:lnSpc>
                <a:spcPct val="80000"/>
              </a:lnSpc>
              <a:spcBef>
                <a:spcPct val="50000"/>
              </a:spcBef>
            </a:pPr>
            <a:r>
              <a:rPr lang="en-US" altLang="zh-CN" b="1"/>
              <a:t>  .end</a:t>
            </a:r>
          </a:p>
        </p:txBody>
      </p:sp>
      <p:sp>
        <p:nvSpPr>
          <p:cNvPr id="902147" name="Rectangle 3" descr="小棋盘"/>
          <p:cNvSpPr>
            <a:spLocks noChangeArrowheads="1"/>
          </p:cNvSpPr>
          <p:nvPr/>
        </p:nvSpPr>
        <p:spPr bwMode="auto">
          <a:xfrm>
            <a:off x="179388" y="3500438"/>
            <a:ext cx="576262" cy="16383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后向运算</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118789" name="AutoShape 4"/>
          <p:cNvSpPr>
            <a:spLocks/>
          </p:cNvSpPr>
          <p:nvPr/>
        </p:nvSpPr>
        <p:spPr bwMode="auto">
          <a:xfrm>
            <a:off x="827088" y="1700213"/>
            <a:ext cx="144462" cy="1223962"/>
          </a:xfrm>
          <a:prstGeom prst="leftBrace">
            <a:avLst>
              <a:gd name="adj1" fmla="val 70605"/>
              <a:gd name="adj2"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02149" name="Rectangle 5" descr="小棋盘"/>
          <p:cNvSpPr>
            <a:spLocks noChangeArrowheads="1"/>
          </p:cNvSpPr>
          <p:nvPr/>
        </p:nvSpPr>
        <p:spPr bwMode="auto">
          <a:xfrm>
            <a:off x="179388" y="1700213"/>
            <a:ext cx="576262" cy="163830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zh-CN" altLang="en-US" sz="2800" b="1">
                <a:solidFill>
                  <a:srgbClr val="FF0000"/>
                </a:solidFill>
                <a:latin typeface="宋体" panose="02010600030101010101" pitchFamily="2" charset="-122"/>
                <a:ea typeface="仿宋_GB2312" pitchFamily="49" charset="-122"/>
              </a:rPr>
              <a:t>前向运算</a:t>
            </a:r>
            <a:endParaRPr lang="zh-CN" altLang="en-US" sz="2800" b="1">
              <a:solidFill>
                <a:srgbClr val="FF0000"/>
              </a:solidFill>
              <a:latin typeface="宋体" panose="02010600030101010101" pitchFamily="2" charset="-122"/>
              <a:cs typeface="Times New Roman" panose="02020603050405020304" pitchFamily="18" charset="0"/>
            </a:endParaRPr>
          </a:p>
        </p:txBody>
      </p:sp>
      <p:sp>
        <p:nvSpPr>
          <p:cNvPr id="118791" name="AutoShape 6"/>
          <p:cNvSpPr>
            <a:spLocks/>
          </p:cNvSpPr>
          <p:nvPr/>
        </p:nvSpPr>
        <p:spPr bwMode="auto">
          <a:xfrm>
            <a:off x="755650" y="3213100"/>
            <a:ext cx="144463" cy="1225550"/>
          </a:xfrm>
          <a:prstGeom prst="leftBrace">
            <a:avLst>
              <a:gd name="adj1" fmla="val 70696"/>
              <a:gd name="adj2"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11879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0525" y="0"/>
            <a:ext cx="1047750"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93"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650" y="4076700"/>
            <a:ext cx="1265238"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02146"/>
                                        </p:tgtEl>
                                        <p:attrNameLst>
                                          <p:attrName>style.visibility</p:attrName>
                                        </p:attrNameLst>
                                      </p:cBhvr>
                                      <p:to>
                                        <p:strVal val="visible"/>
                                      </p:to>
                                    </p:set>
                                    <p:animEffect transition="in" filter="blinds(horizontal)">
                                      <p:cBhvr>
                                        <p:cTn id="7" dur="500"/>
                                        <p:tgtEl>
                                          <p:spTgt spid="902146"/>
                                        </p:tgtEl>
                                      </p:cBhvr>
                                    </p:animEffect>
                                  </p:childTnLst>
                                </p:cTn>
                              </p:par>
                            </p:childTnLst>
                          </p:cTn>
                        </p:par>
                        <p:par>
                          <p:cTn id="8" fill="hold" nodeType="afterGroup">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902147"/>
                                        </p:tgtEl>
                                        <p:attrNameLst>
                                          <p:attrName>style.visibility</p:attrName>
                                        </p:attrNameLst>
                                      </p:cBhvr>
                                      <p:to>
                                        <p:strVal val="visible"/>
                                      </p:to>
                                    </p:set>
                                    <p:animEffect transition="in" filter="slide(fromTop)">
                                      <p:cBhvr>
                                        <p:cTn id="11" dur="500"/>
                                        <p:tgtEl>
                                          <p:spTgt spid="902147"/>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902149"/>
                                        </p:tgtEl>
                                        <p:attrNameLst>
                                          <p:attrName>style.visibility</p:attrName>
                                        </p:attrNameLst>
                                      </p:cBhvr>
                                      <p:to>
                                        <p:strVal val="visible"/>
                                      </p:to>
                                    </p:set>
                                    <p:animEffect transition="in" filter="slide(fromTop)">
                                      <p:cBhvr>
                                        <p:cTn id="15" dur="500"/>
                                        <p:tgtEl>
                                          <p:spTgt spid="902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146" grpId="0"/>
      <p:bldP spid="902147" grpId="0" animBg="1"/>
      <p:bldP spid="90214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9F129EB-228E-4B6C-BE08-7271BBF545DA}" type="slidenum">
              <a:rPr lang="en-US" altLang="zh-CN" sz="1400"/>
              <a:pPr eaLnBrk="1" hangingPunct="1"/>
              <a:t>117</a:t>
            </a:fld>
            <a:endParaRPr lang="en-US" altLang="zh-CN" sz="1400"/>
          </a:p>
        </p:txBody>
      </p:sp>
      <p:sp>
        <p:nvSpPr>
          <p:cNvPr id="903170" name="Rectangle 2" descr="小棋盘"/>
          <p:cNvSpPr>
            <a:spLocks noChangeArrowheads="1"/>
          </p:cNvSpPr>
          <p:nvPr/>
        </p:nvSpPr>
        <p:spPr bwMode="auto">
          <a:xfrm>
            <a:off x="1600200" y="1143000"/>
            <a:ext cx="5257800" cy="539750"/>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3200" b="1">
                <a:solidFill>
                  <a:srgbClr val="FF0000"/>
                </a:solidFill>
                <a:latin typeface="宋体" panose="02010600030101010101" pitchFamily="2" charset="-122"/>
                <a:ea typeface="仿宋_GB2312" pitchFamily="49" charset="-122"/>
              </a:rPr>
              <a:t> 3</a:t>
            </a:r>
            <a:r>
              <a:rPr lang="zh-CN" altLang="en-US" sz="3200" b="1">
                <a:solidFill>
                  <a:srgbClr val="FF0000"/>
                </a:solidFill>
                <a:latin typeface="宋体" panose="02010600030101010101" pitchFamily="2" charset="-122"/>
                <a:ea typeface="仿宋_GB2312" pitchFamily="49" charset="-122"/>
              </a:rPr>
              <a:t>．高阶</a:t>
            </a:r>
            <a:r>
              <a:rPr lang="en-US" altLang="zh-CN" sz="3200" b="1">
                <a:solidFill>
                  <a:srgbClr val="FF0000"/>
                </a:solidFill>
                <a:latin typeface="宋体" panose="02010600030101010101" pitchFamily="2" charset="-122"/>
                <a:ea typeface="仿宋_GB2312" pitchFamily="49" charset="-122"/>
              </a:rPr>
              <a:t>IIR</a:t>
            </a:r>
            <a:r>
              <a:rPr lang="zh-CN" altLang="en-US" sz="3200" b="1">
                <a:solidFill>
                  <a:srgbClr val="FF0000"/>
                </a:solidFill>
                <a:latin typeface="宋体" panose="02010600030101010101" pitchFamily="2" charset="-122"/>
                <a:ea typeface="仿宋_GB2312" pitchFamily="49" charset="-122"/>
              </a:rPr>
              <a:t>滤波器的实现 </a:t>
            </a:r>
          </a:p>
        </p:txBody>
      </p:sp>
      <p:sp>
        <p:nvSpPr>
          <p:cNvPr id="903171" name="Rectangle 3"/>
          <p:cNvSpPr>
            <a:spLocks noChangeArrowheads="1"/>
          </p:cNvSpPr>
          <p:nvPr/>
        </p:nvSpPr>
        <p:spPr bwMode="auto">
          <a:xfrm>
            <a:off x="533400" y="1905000"/>
            <a:ext cx="81534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5113"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chemeClr val="tx2"/>
                </a:solidFill>
                <a:latin typeface="宋体" panose="02010600030101010101" pitchFamily="2" charset="-122"/>
              </a:rPr>
              <a:t>一个高阶</a:t>
            </a:r>
            <a:r>
              <a:rPr lang="en-US" altLang="zh-CN" sz="2800" b="1">
                <a:solidFill>
                  <a:schemeClr val="tx2"/>
                </a:solidFill>
                <a:latin typeface="宋体" panose="02010600030101010101" pitchFamily="2" charset="-122"/>
              </a:rPr>
              <a:t>IIR</a:t>
            </a:r>
            <a:r>
              <a:rPr lang="zh-CN" altLang="en-US" sz="2800" b="1">
                <a:solidFill>
                  <a:schemeClr val="tx2"/>
                </a:solidFill>
                <a:latin typeface="宋体" panose="02010600030101010101" pitchFamily="2" charset="-122"/>
              </a:rPr>
              <a:t>滤波器可以分解成若干个二阶基本节相级联。</a:t>
            </a:r>
          </a:p>
          <a:p>
            <a:pPr algn="just" eaLnBrk="1" hangingPunct="1"/>
            <a:r>
              <a:rPr lang="zh-CN" altLang="en-US" sz="2800" b="1">
                <a:latin typeface="宋体" panose="02010600030101010101" pitchFamily="2" charset="-122"/>
              </a:rPr>
              <a:t>由于调整每个二阶基本节的系数，只涉及到这个二阶节的一对极点和零点，不影响其他零、极点，因此便于调整系统的性能。</a:t>
            </a:r>
          </a:p>
          <a:p>
            <a:pPr algn="just" eaLnBrk="1" hangingPunct="1"/>
            <a:r>
              <a:rPr lang="zh-CN" altLang="en-US" sz="2800" b="1">
                <a:latin typeface="宋体" panose="02010600030101010101" pitchFamily="2" charset="-122"/>
              </a:rPr>
              <a:t>此外，</a:t>
            </a:r>
            <a:r>
              <a:rPr lang="zh-CN" altLang="en-US" sz="2800" b="1">
                <a:solidFill>
                  <a:srgbClr val="FF00FF"/>
                </a:solidFill>
                <a:latin typeface="宋体" panose="02010600030101010101" pitchFamily="2" charset="-122"/>
              </a:rPr>
              <a:t>由于字长有限，每个二阶基本节运算后都会带来一定的误差，合理安排各二阶基本节的前后次序，将使系统的精度得到优化。</a:t>
            </a:r>
          </a:p>
        </p:txBody>
      </p:sp>
      <p:sp>
        <p:nvSpPr>
          <p:cNvPr id="903172" name="Rectangle 4"/>
          <p:cNvSpPr>
            <a:spLocks noChangeArrowheads="1"/>
          </p:cNvSpPr>
          <p:nvPr/>
        </p:nvSpPr>
        <p:spPr bwMode="auto">
          <a:xfrm>
            <a:off x="611188" y="5516563"/>
            <a:ext cx="7924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chemeClr val="tx2"/>
                </a:solidFill>
                <a:latin typeface="宋体" panose="02010600030101010101" pitchFamily="2" charset="-122"/>
                <a:cs typeface="Times New Roman" panose="02020603050405020304" pitchFamily="18" charset="0"/>
              </a:rPr>
              <a:t>在迭代运算中对信号先衰减后增益，系统的动态范围和鲁棒性较好。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903170"/>
                                        </p:tgtEl>
                                        <p:attrNameLst>
                                          <p:attrName>style.visibility</p:attrName>
                                        </p:attrNameLst>
                                      </p:cBhvr>
                                      <p:to>
                                        <p:strVal val="visible"/>
                                      </p:to>
                                    </p:set>
                                    <p:animEffect transition="in" filter="slide(fromTop)">
                                      <p:cBhvr>
                                        <p:cTn id="7" dur="500"/>
                                        <p:tgtEl>
                                          <p:spTgt spid="903170"/>
                                        </p:tgtEl>
                                      </p:cBhvr>
                                    </p:animEffect>
                                  </p:childTnLst>
                                </p:cTn>
                              </p:par>
                            </p:childTnLst>
                          </p:cTn>
                        </p:par>
                        <p:par>
                          <p:cTn id="8" fill="hold" nodeType="afterGroup">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903171"/>
                                        </p:tgtEl>
                                        <p:attrNameLst>
                                          <p:attrName>style.visibility</p:attrName>
                                        </p:attrNameLst>
                                      </p:cBhvr>
                                      <p:to>
                                        <p:strVal val="visible"/>
                                      </p:to>
                                    </p:set>
                                    <p:animEffect transition="in" filter="blinds(vertical)">
                                      <p:cBhvr>
                                        <p:cTn id="11" dur="500"/>
                                        <p:tgtEl>
                                          <p:spTgt spid="903171"/>
                                        </p:tgtEl>
                                      </p:cBhvr>
                                    </p:animEffect>
                                  </p:childTnLst>
                                </p:cTn>
                              </p:par>
                            </p:childTnLst>
                          </p:cTn>
                        </p:par>
                        <p:par>
                          <p:cTn id="12" fill="hold" nodeType="afterGroup">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903172"/>
                                        </p:tgtEl>
                                        <p:attrNameLst>
                                          <p:attrName>style.visibility</p:attrName>
                                        </p:attrNameLst>
                                      </p:cBhvr>
                                      <p:to>
                                        <p:strVal val="visible"/>
                                      </p:to>
                                    </p:set>
                                    <p:animEffect transition="in" filter="slide(fromLeft)">
                                      <p:cBhvr>
                                        <p:cTn id="15" dur="500"/>
                                        <p:tgtEl>
                                          <p:spTgt spid="903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170" grpId="0" animBg="1"/>
      <p:bldP spid="903171" grpId="0"/>
      <p:bldP spid="903172"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0CA9ADD-E5D7-4C77-B46C-0FE4C0CFE782}" type="slidenum">
              <a:rPr lang="en-US" altLang="zh-CN" sz="1400"/>
              <a:pPr eaLnBrk="1" hangingPunct="1"/>
              <a:t>118</a:t>
            </a:fld>
            <a:endParaRPr lang="en-US" altLang="zh-CN" sz="1400"/>
          </a:p>
        </p:txBody>
      </p:sp>
      <p:sp>
        <p:nvSpPr>
          <p:cNvPr id="904194" name="Rectangle 2" descr="小棋盘"/>
          <p:cNvSpPr>
            <a:spLocks noChangeArrowheads="1"/>
          </p:cNvSpPr>
          <p:nvPr/>
        </p:nvSpPr>
        <p:spPr bwMode="auto">
          <a:xfrm>
            <a:off x="1295400" y="914400"/>
            <a:ext cx="6172200" cy="588963"/>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rgbClr val="FF0000"/>
                </a:solidFill>
                <a:latin typeface="宋体" panose="02010600030101010101" pitchFamily="2" charset="-122"/>
              </a:rPr>
              <a:t>对高</a:t>
            </a:r>
            <a:r>
              <a:rPr lang="zh-CN" altLang="en-US" sz="3200" b="1">
                <a:solidFill>
                  <a:srgbClr val="FF0000"/>
                </a:solidFill>
                <a:latin typeface="宋体" panose="02010600030101010101" pitchFamily="2" charset="-122"/>
                <a:cs typeface="Times New Roman" panose="02020603050405020304" pitchFamily="18" charset="0"/>
              </a:rPr>
              <a:t>阶</a:t>
            </a:r>
            <a:r>
              <a:rPr lang="en-US" altLang="zh-CN" sz="3200" b="1">
                <a:solidFill>
                  <a:srgbClr val="FF0000"/>
                </a:solidFill>
                <a:latin typeface="宋体" panose="02010600030101010101" pitchFamily="2" charset="-122"/>
                <a:cs typeface="Times New Roman" panose="02020603050405020304" pitchFamily="18" charset="0"/>
              </a:rPr>
              <a:t>IIR</a:t>
            </a:r>
            <a:r>
              <a:rPr lang="zh-CN" altLang="en-US" sz="3200" b="1">
                <a:solidFill>
                  <a:srgbClr val="FF0000"/>
                </a:solidFill>
                <a:latin typeface="宋体" panose="02010600030101010101" pitchFamily="2" charset="-122"/>
                <a:cs typeface="Times New Roman" panose="02020603050405020304" pitchFamily="18" charset="0"/>
              </a:rPr>
              <a:t>滤波器的</a:t>
            </a:r>
            <a:r>
              <a:rPr lang="zh-CN" altLang="en-US" sz="3200" b="1">
                <a:solidFill>
                  <a:srgbClr val="FF0000"/>
                </a:solidFill>
                <a:latin typeface="宋体" panose="02010600030101010101" pitchFamily="2" charset="-122"/>
              </a:rPr>
              <a:t>几点特殊处理</a:t>
            </a:r>
            <a:endParaRPr lang="zh-CN" altLang="en-US" sz="3200" b="1">
              <a:solidFill>
                <a:srgbClr val="FF0000"/>
              </a:solidFill>
              <a:latin typeface="宋体" panose="02010600030101010101" pitchFamily="2" charset="-122"/>
              <a:cs typeface="Times New Roman" panose="02020603050405020304" pitchFamily="18" charset="0"/>
            </a:endParaRPr>
          </a:p>
        </p:txBody>
      </p:sp>
      <p:sp>
        <p:nvSpPr>
          <p:cNvPr id="904195" name="Rectangle 3"/>
          <p:cNvSpPr>
            <a:spLocks noChangeArrowheads="1"/>
          </p:cNvSpPr>
          <p:nvPr/>
        </p:nvSpPr>
        <p:spPr bwMode="auto">
          <a:xfrm>
            <a:off x="457200" y="2286000"/>
            <a:ext cx="79248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8417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latin typeface="宋体" panose="02010600030101010101" pitchFamily="2" charset="-122"/>
              </a:rPr>
              <a:t>当出现一个或一个以上系数≥１，此时，既</a:t>
            </a:r>
            <a:r>
              <a:rPr lang="zh-CN" altLang="en-US" sz="2800" b="1">
                <a:solidFill>
                  <a:schemeClr val="tx2"/>
                </a:solidFill>
                <a:latin typeface="宋体" panose="02010600030101010101" pitchFamily="2" charset="-122"/>
              </a:rPr>
              <a:t>可以用最大的系数来定标，即用最大的系数去除所有的系数，也可以将此≥１的系数分解成两个＜１的系数进行运算和相加，</a:t>
            </a:r>
            <a:r>
              <a:rPr lang="zh-CN" altLang="en-US" sz="2800" b="1">
                <a:latin typeface="宋体" panose="02010600030101010101" pitchFamily="2" charset="-122"/>
              </a:rPr>
              <a:t>例如</a:t>
            </a:r>
            <a:r>
              <a:rPr lang="en-US" altLang="zh-CN" sz="2800" b="1">
                <a:latin typeface="宋体" panose="02010600030101010101" pitchFamily="2" charset="-122"/>
              </a:rPr>
              <a:t>B0=1.2</a:t>
            </a:r>
            <a:r>
              <a:rPr lang="zh-CN" altLang="en-US" sz="2800" b="1">
                <a:latin typeface="宋体" panose="02010600030101010101" pitchFamily="2" charset="-122"/>
              </a:rPr>
              <a:t>，则：</a:t>
            </a:r>
          </a:p>
          <a:p>
            <a:pPr algn="ctr" eaLnBrk="1" hangingPunct="1"/>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B0=x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B0/2</a:t>
            </a:r>
            <a:r>
              <a:rPr lang="zh-CN" altLang="en-US" sz="2800" b="1">
                <a:latin typeface="宋体" panose="02010600030101010101" pitchFamily="2" charset="-122"/>
              </a:rPr>
              <a:t>）</a:t>
            </a:r>
            <a:r>
              <a:rPr lang="en-US" altLang="zh-CN" sz="2800" b="1">
                <a:latin typeface="宋体" panose="02010600030101010101" pitchFamily="2" charset="-122"/>
              </a:rPr>
              <a:t>+x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B0/2</a:t>
            </a:r>
            <a:r>
              <a:rPr lang="zh-CN" altLang="en-US" sz="2800" b="1">
                <a:latin typeface="宋体" panose="02010600030101010101" pitchFamily="2" charset="-122"/>
              </a:rPr>
              <a:t>）</a:t>
            </a:r>
            <a:r>
              <a:rPr lang="en-US" altLang="zh-CN" sz="2800" b="1">
                <a:latin typeface="宋体" panose="02010600030101010101" pitchFamily="2" charset="-122"/>
              </a:rPr>
              <a:t>=0.6*x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r>
              <a:rPr lang="en-US" altLang="zh-CN" sz="2800" b="1">
                <a:latin typeface="宋体" panose="02010600030101010101" pitchFamily="2" charset="-122"/>
              </a:rPr>
              <a:t>+0.6*x</a:t>
            </a:r>
            <a:r>
              <a:rPr lang="zh-CN" altLang="en-US" sz="2800" b="1">
                <a:latin typeface="宋体" panose="02010600030101010101" pitchFamily="2" charset="-122"/>
              </a:rPr>
              <a:t>（</a:t>
            </a:r>
            <a:r>
              <a:rPr lang="en-US" altLang="zh-CN" sz="2800" b="1">
                <a:latin typeface="宋体" panose="02010600030101010101" pitchFamily="2" charset="-122"/>
              </a:rPr>
              <a:t>n</a:t>
            </a:r>
            <a:r>
              <a:rPr lang="zh-CN" altLang="en-US" sz="2800" b="1">
                <a:latin typeface="宋体" panose="02010600030101010101" pitchFamily="2" charset="-122"/>
              </a:rPr>
              <a:t>）</a:t>
            </a:r>
          </a:p>
          <a:p>
            <a:pPr algn="just" eaLnBrk="1" hangingPunct="1"/>
            <a:r>
              <a:rPr lang="zh-CN" altLang="en-US" sz="2800" b="1">
                <a:latin typeface="宋体" panose="02010600030101010101" pitchFamily="2" charset="-122"/>
              </a:rPr>
              <a:t>这样，将使所有的系数保持精度，而仅仅多开销一个机器周期。前面的例</a:t>
            </a:r>
            <a:r>
              <a:rPr lang="en-US" altLang="zh-CN" sz="2800" b="1">
                <a:latin typeface="宋体" panose="02010600030101010101" pitchFamily="2" charset="-122"/>
              </a:rPr>
              <a:t>5-31</a:t>
            </a:r>
            <a:r>
              <a:rPr lang="zh-CN" altLang="en-US" sz="2800" b="1">
                <a:latin typeface="宋体" panose="02010600030101010101" pitchFamily="2" charset="-122"/>
              </a:rPr>
              <a:t>中的系数</a:t>
            </a:r>
            <a:r>
              <a:rPr lang="en-US" altLang="zh-CN" sz="2800" b="1">
                <a:latin typeface="宋体" panose="02010600030101010101" pitchFamily="2" charset="-122"/>
              </a:rPr>
              <a:t>A1</a:t>
            </a:r>
            <a:r>
              <a:rPr lang="zh-CN" altLang="en-US" sz="2800" b="1">
                <a:latin typeface="宋体" panose="02010600030101010101" pitchFamily="2" charset="-122"/>
              </a:rPr>
              <a:t>为是这样处理的。</a:t>
            </a:r>
          </a:p>
        </p:txBody>
      </p:sp>
      <p:sp>
        <p:nvSpPr>
          <p:cNvPr id="904196" name="Rectangle 4" descr="小棋盘"/>
          <p:cNvSpPr>
            <a:spLocks noChangeArrowheads="1"/>
          </p:cNvSpPr>
          <p:nvPr/>
        </p:nvSpPr>
        <p:spPr bwMode="auto">
          <a:xfrm>
            <a:off x="1828800" y="1600200"/>
            <a:ext cx="4953000" cy="528638"/>
          </a:xfrm>
          <a:prstGeom prst="rect">
            <a:avLst/>
          </a:prstGeom>
          <a:pattFill prst="smCheck">
            <a:fgClr>
              <a:schemeClr val="accent1"/>
            </a:fgClr>
            <a:bgClr>
              <a:srgbClr val="FFFFFF"/>
            </a:bgClr>
          </a:pattFill>
          <a:ln w="9525">
            <a:solidFill>
              <a:schemeClr val="hlink"/>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0000"/>
                </a:solidFill>
                <a:latin typeface="宋体" panose="02010600030101010101" pitchFamily="2" charset="-122"/>
              </a:rPr>
              <a:t>（</a:t>
            </a:r>
            <a:r>
              <a:rPr lang="en-US" altLang="zh-CN" sz="2800" b="1">
                <a:solidFill>
                  <a:srgbClr val="FF0000"/>
                </a:solidFill>
                <a:latin typeface="宋体" panose="02010600030101010101" pitchFamily="2" charset="-122"/>
              </a:rPr>
              <a:t>1</a:t>
            </a:r>
            <a:r>
              <a:rPr lang="zh-CN" altLang="en-US" sz="2800" b="1">
                <a:solidFill>
                  <a:srgbClr val="FF0000"/>
                </a:solidFill>
                <a:latin typeface="宋体" panose="02010600030101010101" pitchFamily="2" charset="-122"/>
              </a:rPr>
              <a:t>）系数≥１时的定标方法</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904194"/>
                                        </p:tgtEl>
                                        <p:attrNameLst>
                                          <p:attrName>style.visibility</p:attrName>
                                        </p:attrNameLst>
                                      </p:cBhvr>
                                      <p:to>
                                        <p:strVal val="visible"/>
                                      </p:to>
                                    </p:set>
                                    <p:animEffect transition="in" filter="slide(fromTop)">
                                      <p:cBhvr>
                                        <p:cTn id="7" dur="500"/>
                                        <p:tgtEl>
                                          <p:spTgt spid="904194"/>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904196"/>
                                        </p:tgtEl>
                                        <p:attrNameLst>
                                          <p:attrName>style.visibility</p:attrName>
                                        </p:attrNameLst>
                                      </p:cBhvr>
                                      <p:to>
                                        <p:strVal val="visible"/>
                                      </p:to>
                                    </p:set>
                                    <p:animEffect transition="in" filter="slide(fromBottom)">
                                      <p:cBhvr>
                                        <p:cTn id="11" dur="500"/>
                                        <p:tgtEl>
                                          <p:spTgt spid="904196"/>
                                        </p:tgtEl>
                                      </p:cBhvr>
                                    </p:animEffect>
                                  </p:childTnLst>
                                </p:cTn>
                              </p:par>
                            </p:childTnLst>
                          </p:cTn>
                        </p:par>
                        <p:par>
                          <p:cTn id="12" fill="hold" nodeType="afterGroup">
                            <p:stCondLst>
                              <p:cond delay="1000"/>
                            </p:stCondLst>
                            <p:childTnLst>
                              <p:par>
                                <p:cTn id="13" presetID="3" presetClass="entr" presetSubtype="5" fill="hold" grpId="0" nodeType="afterEffect">
                                  <p:stCondLst>
                                    <p:cond delay="0"/>
                                  </p:stCondLst>
                                  <p:childTnLst>
                                    <p:set>
                                      <p:cBhvr>
                                        <p:cTn id="14" dur="1" fill="hold">
                                          <p:stCondLst>
                                            <p:cond delay="0"/>
                                          </p:stCondLst>
                                        </p:cTn>
                                        <p:tgtEl>
                                          <p:spTgt spid="904195"/>
                                        </p:tgtEl>
                                        <p:attrNameLst>
                                          <p:attrName>style.visibility</p:attrName>
                                        </p:attrNameLst>
                                      </p:cBhvr>
                                      <p:to>
                                        <p:strVal val="visible"/>
                                      </p:to>
                                    </p:set>
                                    <p:animEffect transition="in" filter="blinds(vertical)">
                                      <p:cBhvr>
                                        <p:cTn id="15" dur="500"/>
                                        <p:tgtEl>
                                          <p:spTgt spid="904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194" grpId="0" animBg="1"/>
      <p:bldP spid="904195" grpId="0"/>
      <p:bldP spid="904196"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091B9DB3-2DE1-4EAA-96A4-D23269341D28}" type="slidenum">
              <a:rPr lang="en-US" altLang="zh-CN" sz="1400"/>
              <a:pPr eaLnBrk="1" hangingPunct="1"/>
              <a:t>119</a:t>
            </a:fld>
            <a:endParaRPr lang="en-US" altLang="zh-CN" sz="1400"/>
          </a:p>
        </p:txBody>
      </p:sp>
      <p:sp>
        <p:nvSpPr>
          <p:cNvPr id="905218" name="Rectangle 2" descr="小棋盘"/>
          <p:cNvSpPr>
            <a:spLocks noChangeArrowheads="1"/>
          </p:cNvSpPr>
          <p:nvPr/>
        </p:nvSpPr>
        <p:spPr bwMode="auto">
          <a:xfrm>
            <a:off x="2286000" y="990600"/>
            <a:ext cx="3733800" cy="528638"/>
          </a:xfrm>
          <a:prstGeom prst="rect">
            <a:avLst/>
          </a:prstGeom>
          <a:pattFill prst="smCheck">
            <a:fgClr>
              <a:schemeClr val="accent1"/>
            </a:fgClr>
            <a:bgClr>
              <a:srgbClr val="FFFFFF"/>
            </a:bgClr>
          </a:pattFill>
          <a:ln w="9525">
            <a:solidFill>
              <a:srgbClr val="FF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0000"/>
                </a:solidFill>
                <a:latin typeface="宋体" panose="02010600030101010101" pitchFamily="2" charset="-122"/>
                <a:cs typeface="Times New Roman" panose="02020603050405020304" pitchFamily="18" charset="0"/>
              </a:rPr>
              <a:t>（</a:t>
            </a:r>
            <a:r>
              <a:rPr lang="en-US" altLang="zh-CN" sz="2800" b="1">
                <a:solidFill>
                  <a:srgbClr val="FF0000"/>
                </a:solidFill>
                <a:latin typeface="宋体" panose="02010600030101010101" pitchFamily="2" charset="-122"/>
                <a:cs typeface="Times New Roman" panose="02020603050405020304" pitchFamily="18" charset="0"/>
              </a:rPr>
              <a:t>2</a:t>
            </a:r>
            <a:r>
              <a:rPr lang="zh-CN" altLang="en-US" sz="2800" b="1">
                <a:solidFill>
                  <a:srgbClr val="FF0000"/>
                </a:solidFill>
                <a:latin typeface="宋体" panose="02010600030101010101" pitchFamily="2" charset="-122"/>
                <a:cs typeface="Times New Roman" panose="02020603050405020304" pitchFamily="18" charset="0"/>
              </a:rPr>
              <a:t>）对输入数据定标</a:t>
            </a:r>
            <a:r>
              <a:rPr lang="zh-CN" altLang="en-US" sz="2800" b="1">
                <a:solidFill>
                  <a:srgbClr val="FF0000"/>
                </a:solidFill>
                <a:latin typeface="宋体" panose="02010600030101010101" pitchFamily="2" charset="-122"/>
              </a:rPr>
              <a:t> </a:t>
            </a:r>
          </a:p>
        </p:txBody>
      </p:sp>
      <p:sp>
        <p:nvSpPr>
          <p:cNvPr id="905219" name="Rectangle 3"/>
          <p:cNvSpPr>
            <a:spLocks noChangeArrowheads="1"/>
          </p:cNvSpPr>
          <p:nvPr/>
        </p:nvSpPr>
        <p:spPr bwMode="auto">
          <a:xfrm>
            <a:off x="304800" y="1447800"/>
            <a:ext cx="851535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solidFill>
                  <a:schemeClr val="tx2"/>
                </a:solidFill>
                <a:latin typeface="宋体" panose="02010600030101010101" pitchFamily="2" charset="-122"/>
              </a:rPr>
              <a:t>一般地，从外设口输入一个数据加载到累加器</a:t>
            </a:r>
            <a:r>
              <a:rPr lang="en-US" altLang="zh-CN" sz="2800" b="1">
                <a:solidFill>
                  <a:schemeClr val="tx2"/>
                </a:solidFill>
                <a:latin typeface="宋体" panose="02010600030101010101" pitchFamily="2" charset="-122"/>
              </a:rPr>
              <a:t>A</a:t>
            </a:r>
            <a:r>
              <a:rPr lang="zh-CN" altLang="en-US" sz="2800" b="1">
                <a:solidFill>
                  <a:schemeClr val="tx2"/>
                </a:solidFill>
                <a:latin typeface="宋体" panose="02010600030101010101" pitchFamily="2" charset="-122"/>
              </a:rPr>
              <a:t>，可用以下指令：</a:t>
            </a:r>
            <a:endParaRPr lang="zh-CN" altLang="en-US" sz="2800" b="1">
              <a:solidFill>
                <a:schemeClr val="tx2"/>
              </a:solidFill>
            </a:endParaRPr>
          </a:p>
          <a:p>
            <a:pPr algn="just"/>
            <a:r>
              <a:rPr lang="en-US" altLang="zh-CN" sz="2800" b="1">
                <a:solidFill>
                  <a:schemeClr val="tx2"/>
                </a:solidFill>
                <a:latin typeface="宋体" panose="02010600030101010101" pitchFamily="2" charset="-122"/>
              </a:rPr>
              <a:t>PORTR   0001h,@Xin</a:t>
            </a:r>
            <a:endParaRPr lang="en-US" altLang="zh-CN" sz="2800" b="1">
              <a:solidFill>
                <a:schemeClr val="tx2"/>
              </a:solidFill>
            </a:endParaRPr>
          </a:p>
          <a:p>
            <a:pPr algn="just"/>
            <a:r>
              <a:rPr lang="en-US" altLang="zh-CN" sz="2800" b="1">
                <a:solidFill>
                  <a:schemeClr val="tx2"/>
                </a:solidFill>
                <a:latin typeface="宋体" panose="02010600030101010101" pitchFamily="2" charset="-122"/>
              </a:rPr>
              <a:t>LD      @Xin,16,A</a:t>
            </a:r>
            <a:endParaRPr lang="en-US" altLang="zh-CN" sz="2800" b="1">
              <a:solidFill>
                <a:schemeClr val="tx2"/>
              </a:solidFill>
            </a:endParaRPr>
          </a:p>
          <a:p>
            <a:pPr algn="just"/>
            <a:r>
              <a:rPr lang="zh-CN" altLang="en-US" sz="2800" b="1">
                <a:solidFill>
                  <a:srgbClr val="FF00FF"/>
                </a:solidFill>
                <a:latin typeface="宋体" panose="02010600030101010101" pitchFamily="2" charset="-122"/>
              </a:rPr>
              <a:t>如果运算过程中可能出现≥１的输出值，可在输入数据时将其缩小若干倍</a:t>
            </a:r>
            <a:r>
              <a:rPr lang="zh-CN" altLang="en-US" sz="2800" b="1">
                <a:latin typeface="宋体" panose="02010600030101010101" pitchFamily="2" charset="-122"/>
              </a:rPr>
              <a:t>，如：</a:t>
            </a:r>
            <a:endParaRPr lang="zh-CN" altLang="en-US" sz="2800" b="1"/>
          </a:p>
          <a:p>
            <a:pPr algn="just"/>
            <a:r>
              <a:rPr lang="en-US" altLang="zh-CN" sz="2800" b="1">
                <a:latin typeface="宋体" panose="02010600030101010101" pitchFamily="2" charset="-122"/>
              </a:rPr>
              <a:t>PORTR   0001h,@Xin</a:t>
            </a:r>
            <a:endParaRPr lang="en-US" altLang="zh-CN" sz="2800" b="1"/>
          </a:p>
          <a:p>
            <a:pPr algn="just"/>
            <a:r>
              <a:rPr lang="en-US" altLang="zh-CN" sz="2800" b="1">
                <a:latin typeface="宋体" panose="02010600030101010101" pitchFamily="2" charset="-122"/>
              </a:rPr>
              <a:t>LD      @Xin,16-3,A</a:t>
            </a:r>
            <a:endParaRPr lang="en-US" altLang="zh-CN" sz="2800" b="1"/>
          </a:p>
          <a:p>
            <a:pPr algn="just"/>
            <a:r>
              <a:rPr lang="zh-CN" altLang="en-US" sz="2800" b="1">
                <a:latin typeface="宋体" panose="02010600030101010101" pitchFamily="2" charset="-122"/>
              </a:rPr>
              <a:t>将输入数据除以</a:t>
            </a:r>
            <a:r>
              <a:rPr lang="en-US" altLang="zh-CN" sz="2800" b="1">
                <a:latin typeface="宋体" panose="02010600030101010101" pitchFamily="2" charset="-122"/>
              </a:rPr>
              <a:t>8</a:t>
            </a:r>
            <a:r>
              <a:rPr lang="zh-CN" altLang="en-US" sz="2800" b="1">
                <a:latin typeface="宋体" panose="02010600030101010101" pitchFamily="2" charset="-122"/>
              </a:rPr>
              <a:t>，将使输出值小于１。上面用多种不同的方法进行了滤波器的设计，在实现滤波器功能的前提下，程序的繁简和对存储器的使用情况是不同的，应用中应根据具体情况进行选择。</a:t>
            </a:r>
            <a:r>
              <a:rPr lang="zh-CN" altLang="en-US" sz="2800" b="1"/>
              <a:t> </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905218"/>
                                        </p:tgtEl>
                                        <p:attrNameLst>
                                          <p:attrName>style.visibility</p:attrName>
                                        </p:attrNameLst>
                                      </p:cBhvr>
                                      <p:to>
                                        <p:strVal val="visible"/>
                                      </p:to>
                                    </p:set>
                                    <p:animEffect transition="in" filter="slide(fromTop)">
                                      <p:cBhvr>
                                        <p:cTn id="7" dur="500"/>
                                        <p:tgtEl>
                                          <p:spTgt spid="905218"/>
                                        </p:tgtEl>
                                      </p:cBhvr>
                                    </p:animEffect>
                                  </p:childTnLst>
                                </p:cTn>
                              </p:par>
                            </p:childTnLst>
                          </p:cTn>
                        </p:par>
                        <p:par>
                          <p:cTn id="8" fill="hold" nodeType="afterGroup">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905219"/>
                                        </p:tgtEl>
                                        <p:attrNameLst>
                                          <p:attrName>style.visibility</p:attrName>
                                        </p:attrNameLst>
                                      </p:cBhvr>
                                      <p:to>
                                        <p:strVal val="visible"/>
                                      </p:to>
                                    </p:set>
                                    <p:animEffect transition="in" filter="blinds(vertical)">
                                      <p:cBhvr>
                                        <p:cTn id="11" dur="500"/>
                                        <p:tgtEl>
                                          <p:spTgt spid="905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18" grpId="0" animBg="1"/>
      <p:bldP spid="905219"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DE26FDD-6CFA-4BDC-8F40-B92AB4F887CB}" type="slidenum">
              <a:rPr lang="en-US" altLang="zh-CN" sz="1400"/>
              <a:pPr eaLnBrk="1" hangingPunct="1"/>
              <a:t>120</a:t>
            </a:fld>
            <a:endParaRPr lang="en-US" altLang="zh-CN" sz="1400"/>
          </a:p>
        </p:txBody>
      </p:sp>
      <p:sp>
        <p:nvSpPr>
          <p:cNvPr id="906242" name="WordArt 2"/>
          <p:cNvSpPr>
            <a:spLocks noChangeArrowheads="1" noChangeShapeType="1"/>
          </p:cNvSpPr>
          <p:nvPr/>
        </p:nvSpPr>
        <p:spPr bwMode="auto">
          <a:xfrm>
            <a:off x="1524000" y="2362200"/>
            <a:ext cx="5486400" cy="2514600"/>
          </a:xfrm>
          <a:prstGeom prst="rect">
            <a:avLst/>
          </a:prstGeom>
        </p:spPr>
        <p:txBody>
          <a:bodyPr wrap="none" fromWordArt="1">
            <a:prstTxWarp prst="textFadeUp">
              <a:avLst>
                <a:gd name="adj" fmla="val 9991"/>
              </a:avLst>
            </a:prstTxWarp>
          </a:bodyPr>
          <a:lstStyle/>
          <a:p>
            <a:pPr algn="ctr"/>
            <a:r>
              <a:rPr lang="zh-CN" altLang="en-US" sz="9600" b="1" i="1" kern="10">
                <a:ln w="34925">
                  <a:solidFill>
                    <a:schemeClr val="tx2"/>
                  </a:solidFill>
                  <a:miter lim="800000"/>
                  <a:headEnd/>
                  <a:tailEnd/>
                </a:ln>
                <a:solidFill>
                  <a:srgbClr val="00FF00"/>
                </a:solidFill>
                <a:effectLst>
                  <a:outerShdw dist="35921" dir="2700000" sy="50000" rotWithShape="0">
                    <a:srgbClr val="875B0D"/>
                  </a:outerShdw>
                </a:effectLst>
                <a:latin typeface="华文新魏" panose="02010800040101010101" pitchFamily="2" charset="-122"/>
                <a:ea typeface="华文新魏" panose="02010800040101010101" pitchFamily="2" charset="-122"/>
              </a:rPr>
              <a:t>谢 谢</a:t>
            </a:r>
          </a:p>
        </p:txBody>
      </p:sp>
    </p:spTree>
  </p:cSld>
  <p:clrMapOvr>
    <a:masterClrMapping/>
  </p:clrMapOvr>
  <p:transition spd="med">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906242"/>
                                        </p:tgtEl>
                                        <p:attrNameLst>
                                          <p:attrName>style.visibility</p:attrName>
                                        </p:attrNameLst>
                                      </p:cBhvr>
                                      <p:to>
                                        <p:strVal val="visible"/>
                                      </p:to>
                                    </p:set>
                                    <p:anim calcmode="lin" valueType="num">
                                      <p:cBhvr>
                                        <p:cTn id="7" dur="500" fill="hold"/>
                                        <p:tgtEl>
                                          <p:spTgt spid="906242"/>
                                        </p:tgtEl>
                                        <p:attrNameLst>
                                          <p:attrName>ppt_w</p:attrName>
                                        </p:attrNameLst>
                                      </p:cBhvr>
                                      <p:tavLst>
                                        <p:tav tm="0">
                                          <p:val>
                                            <p:fltVal val="0"/>
                                          </p:val>
                                        </p:tav>
                                        <p:tav tm="100000">
                                          <p:val>
                                            <p:strVal val="#ppt_w"/>
                                          </p:val>
                                        </p:tav>
                                      </p:tavLst>
                                    </p:anim>
                                    <p:anim calcmode="lin" valueType="num">
                                      <p:cBhvr>
                                        <p:cTn id="8" dur="500" fill="hold"/>
                                        <p:tgtEl>
                                          <p:spTgt spid="90624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6242" grpId="0" animBg="1"/>
    </p:bldLst>
  </p:timing>
</p:sld>
</file>

<file path=ppt/theme/theme1.xml><?xml version="1.0" encoding="utf-8"?>
<a:theme xmlns:a="http://schemas.openxmlformats.org/drawingml/2006/main" name="cjyppt052">
  <a:themeElements>
    <a:clrScheme name="">
      <a:dk1>
        <a:srgbClr val="0000CC"/>
      </a:dk1>
      <a:lt1>
        <a:srgbClr val="FFFFFF"/>
      </a:lt1>
      <a:dk2>
        <a:srgbClr val="008000"/>
      </a:dk2>
      <a:lt2>
        <a:srgbClr val="00FF00"/>
      </a:lt2>
      <a:accent1>
        <a:srgbClr val="FFFF00"/>
      </a:accent1>
      <a:accent2>
        <a:srgbClr val="FF99FF"/>
      </a:accent2>
      <a:accent3>
        <a:srgbClr val="FFFFFF"/>
      </a:accent3>
      <a:accent4>
        <a:srgbClr val="0000AE"/>
      </a:accent4>
      <a:accent5>
        <a:srgbClr val="FFFFAA"/>
      </a:accent5>
      <a:accent6>
        <a:srgbClr val="E78AE7"/>
      </a:accent6>
      <a:hlink>
        <a:srgbClr val="66FF33"/>
      </a:hlink>
      <a:folHlink>
        <a:srgbClr val="9900CC"/>
      </a:folHlink>
    </a:clrScheme>
    <a:fontScheme name="cjyppt05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cjyp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jyp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jyp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jyp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jyp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jyp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jyp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Settings\chenjy\Application Data\Microsoft\Templates\cjyppt052.pot</Template>
  <TotalTime>12062</TotalTime>
  <Words>16361</Words>
  <Application>Microsoft Office PowerPoint</Application>
  <PresentationFormat>全屏显示(4:3)</PresentationFormat>
  <Paragraphs>1884</Paragraphs>
  <Slides>120</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120</vt:i4>
      </vt:variant>
    </vt:vector>
  </HeadingPairs>
  <TitlesOfParts>
    <vt:vector size="125" baseType="lpstr">
      <vt:lpstr>华文新魏</vt:lpstr>
      <vt:lpstr>宋体</vt:lpstr>
      <vt:lpstr>Times New Roman</vt:lpstr>
      <vt:lpstr>cjyppt052</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sc-cdut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chenjy</dc:creator>
  <cp:lastModifiedBy>Yihong</cp:lastModifiedBy>
  <cp:revision>254</cp:revision>
  <dcterms:created xsi:type="dcterms:W3CDTF">2005-02-26T02:40:41Z</dcterms:created>
  <dcterms:modified xsi:type="dcterms:W3CDTF">2023-10-30T09:54:13Z</dcterms:modified>
</cp:coreProperties>
</file>