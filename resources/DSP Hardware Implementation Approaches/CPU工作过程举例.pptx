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1"/>
  </p:notesMasterIdLst>
  <p:sldIdLst>
    <p:sldId id="553" r:id="rId2"/>
    <p:sldId id="555" r:id="rId3"/>
    <p:sldId id="556" r:id="rId4"/>
    <p:sldId id="558" r:id="rId5"/>
    <p:sldId id="557" r:id="rId6"/>
    <p:sldId id="559" r:id="rId7"/>
    <p:sldId id="560" r:id="rId8"/>
    <p:sldId id="561" r:id="rId9"/>
    <p:sldId id="562" r:id="rId10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00"/>
    <a:srgbClr val="FFFF99"/>
    <a:srgbClr val="666633"/>
    <a:srgbClr val="FF9933"/>
    <a:srgbClr val="9900CC"/>
    <a:srgbClr val="FF00FF"/>
    <a:srgbClr val="FF9900"/>
    <a:srgbClr val="FF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46" autoAdjust="0"/>
    <p:restoredTop sz="95669" autoAdjust="0"/>
  </p:normalViewPr>
  <p:slideViewPr>
    <p:cSldViewPr>
      <p:cViewPr varScale="1">
        <p:scale>
          <a:sx n="63" d="100"/>
          <a:sy n="63" d="100"/>
        </p:scale>
        <p:origin x="1612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5" Type="http://schemas.openxmlformats.org/officeDocument/2006/relationships/slide" Target="slides/slide5.xml"/><Relationship Id="rId4" Type="http://schemas.openxmlformats.org/officeDocument/2006/relationships/slide" Target="slides/slide4.xml"/><Relationship Id="rId9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64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5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065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65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1D4D2F2D-6996-4AC7-A14B-D70C14CA1F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835739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5C50BF-EB26-46A7-892F-D43ABA3B1A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8470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F27C6-B4D6-4F71-8D2F-EFC4ACC41D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291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51B09-CE5A-4C3D-82AF-60F170A5255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9012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spcBef>
                <a:spcPct val="0"/>
              </a:spcBef>
              <a:defRPr kumimoji="0" sz="14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32" name="Rectangle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spcBef>
                <a:spcPct val="0"/>
              </a:spcBef>
              <a:defRPr kumimoji="0" sz="14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53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spcBef>
                <a:spcPct val="0"/>
              </a:spcBef>
              <a:defRPr kumimoji="0" sz="14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B1BF8FB9-FAB2-4A92-AFD8-D4C6B375EBF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6A86DF5-C8FF-9DE7-F5A0-F57E5FB72B5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825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389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9" r:id="rId2"/>
    <p:sldLayoutId id="2147483670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1888182" y="869945"/>
            <a:ext cx="52040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altLang="zh-CN" sz="3200" dirty="0">
                <a:solidFill>
                  <a:schemeClr val="accent2"/>
                </a:solidFill>
                <a:latin typeface="+mn-ea"/>
              </a:rPr>
              <a:t>CPU</a:t>
            </a:r>
            <a:r>
              <a:rPr lang="zh-CN" altLang="en-US" sz="3200" dirty="0">
                <a:solidFill>
                  <a:schemeClr val="accent2"/>
                </a:solidFill>
                <a:latin typeface="+mn-ea"/>
              </a:rPr>
              <a:t>工作过程举例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67544" y="1818343"/>
            <a:ext cx="4052729" cy="521300"/>
          </a:xfrm>
          <a:noFill/>
          <a:ln w="9525">
            <a:solidFill>
              <a:srgbClr val="FFFF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计算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  <a:ea typeface="+mn-ea"/>
              </a:rPr>
              <a:t>y=</a:t>
            </a:r>
            <a:r>
              <a:rPr lang="en-US" altLang="zh-CN" sz="2800" b="1" dirty="0" err="1">
                <a:solidFill>
                  <a:srgbClr val="FF0000"/>
                </a:solidFill>
                <a:latin typeface="+mn-ea"/>
                <a:ea typeface="+mn-ea"/>
              </a:rPr>
              <a:t>ax+b</a:t>
            </a:r>
            <a:r>
              <a:rPr lang="zh-CN" altLang="en-US" sz="2800" b="1" dirty="0">
                <a:solidFill>
                  <a:schemeClr val="tx1"/>
                </a:solidFill>
                <a:latin typeface="+mn-ea"/>
                <a:ea typeface="+mn-ea"/>
              </a:rPr>
              <a:t>。执行指令：</a:t>
            </a:r>
          </a:p>
        </p:txBody>
      </p:sp>
      <p:sp>
        <p:nvSpPr>
          <p:cNvPr id="2" name="矩形 1"/>
          <p:cNvSpPr/>
          <p:nvPr/>
        </p:nvSpPr>
        <p:spPr>
          <a:xfrm>
            <a:off x="5116164" y="1360536"/>
            <a:ext cx="342229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sz="2800" dirty="0">
                <a:latin typeface="+mn-ea"/>
                <a:ea typeface="+mn-ea"/>
              </a:rPr>
              <a:t>LD</a:t>
            </a:r>
            <a:r>
              <a:rPr lang="zh-CN" altLang="en-US" sz="2800" dirty="0">
                <a:latin typeface="+mn-ea"/>
                <a:ea typeface="+mn-ea"/>
              </a:rPr>
              <a:t>  </a:t>
            </a:r>
            <a:r>
              <a:rPr lang="en-US" altLang="zh-CN" sz="2800" dirty="0">
                <a:latin typeface="+mn-ea"/>
                <a:ea typeface="+mn-ea"/>
              </a:rPr>
              <a:t>*AR3+</a:t>
            </a:r>
            <a:r>
              <a:rPr lang="zh-CN" altLang="en-US" sz="2800" dirty="0">
                <a:latin typeface="+mn-ea"/>
                <a:ea typeface="+mn-ea"/>
              </a:rPr>
              <a:t>，</a:t>
            </a:r>
            <a:r>
              <a:rPr lang="en-US" altLang="zh-CN" sz="2800" dirty="0">
                <a:latin typeface="+mn-ea"/>
                <a:ea typeface="+mn-ea"/>
              </a:rPr>
              <a:t>A</a:t>
            </a:r>
            <a:br>
              <a:rPr lang="en-US" altLang="zh-CN" sz="2800" dirty="0">
                <a:latin typeface="+mn-ea"/>
                <a:ea typeface="+mn-ea"/>
              </a:rPr>
            </a:br>
            <a:r>
              <a:rPr lang="en-US" altLang="zh-CN" sz="2800" dirty="0">
                <a:latin typeface="+mn-ea"/>
                <a:ea typeface="+mn-ea"/>
              </a:rPr>
              <a:t>MAC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en-US" altLang="zh-CN" sz="2800" dirty="0">
                <a:latin typeface="+mn-ea"/>
                <a:ea typeface="+mn-ea"/>
              </a:rPr>
              <a:t>*AR3</a:t>
            </a:r>
            <a:r>
              <a:rPr lang="zh-CN" altLang="en-US" sz="2800" dirty="0">
                <a:latin typeface="+mn-ea"/>
                <a:ea typeface="+mn-ea"/>
              </a:rPr>
              <a:t>，</a:t>
            </a:r>
            <a:r>
              <a:rPr lang="en-US" altLang="zh-CN" sz="2800" dirty="0">
                <a:latin typeface="+mn-ea"/>
                <a:ea typeface="+mn-ea"/>
              </a:rPr>
              <a:t>*AR4+,A</a:t>
            </a:r>
            <a:br>
              <a:rPr lang="en-US" altLang="zh-CN" sz="2800" dirty="0">
                <a:latin typeface="+mn-ea"/>
                <a:ea typeface="+mn-ea"/>
              </a:rPr>
            </a:br>
            <a:r>
              <a:rPr lang="en-US" altLang="zh-CN" sz="2800" dirty="0">
                <a:latin typeface="+mn-ea"/>
                <a:ea typeface="+mn-ea"/>
              </a:rPr>
              <a:t>STL</a:t>
            </a:r>
            <a:r>
              <a:rPr lang="zh-CN" altLang="en-US" sz="2800" dirty="0">
                <a:latin typeface="+mn-ea"/>
                <a:ea typeface="+mn-ea"/>
              </a:rPr>
              <a:t> </a:t>
            </a:r>
            <a:r>
              <a:rPr lang="en-US" altLang="zh-CN" sz="2800" dirty="0">
                <a:latin typeface="+mn-ea"/>
                <a:ea typeface="+mn-ea"/>
              </a:rPr>
              <a:t>A</a:t>
            </a:r>
            <a:r>
              <a:rPr lang="zh-CN" altLang="en-US" sz="2800" dirty="0">
                <a:latin typeface="+mn-ea"/>
                <a:ea typeface="+mn-ea"/>
              </a:rPr>
              <a:t>，</a:t>
            </a:r>
            <a:r>
              <a:rPr lang="en-US" altLang="zh-CN" sz="2800" dirty="0">
                <a:latin typeface="+mn-ea"/>
                <a:ea typeface="+mn-ea"/>
              </a:rPr>
              <a:t>*AR4</a:t>
            </a:r>
            <a:endParaRPr lang="zh-CN" altLang="en-US" sz="2800" dirty="0">
              <a:latin typeface="+mn-ea"/>
              <a:ea typeface="+mn-ea"/>
            </a:endParaRPr>
          </a:p>
        </p:txBody>
      </p:sp>
      <p:sp>
        <p:nvSpPr>
          <p:cNvPr id="227" name="Text Box 24"/>
          <p:cNvSpPr txBox="1">
            <a:spLocks noChangeArrowheads="1"/>
          </p:cNvSpPr>
          <p:nvPr/>
        </p:nvSpPr>
        <p:spPr bwMode="auto">
          <a:xfrm>
            <a:off x="6427698" y="3266933"/>
            <a:ext cx="6215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+mn-ea"/>
                <a:ea typeface="+mn-ea"/>
              </a:rPr>
              <a:t>80h</a:t>
            </a:r>
            <a:endParaRPr lang="en-US" altLang="zh-CN" sz="2000" b="1" baseline="-250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228" name="Text Box 25"/>
          <p:cNvSpPr txBox="1">
            <a:spLocks noChangeArrowheads="1"/>
          </p:cNvSpPr>
          <p:nvPr/>
        </p:nvSpPr>
        <p:spPr bwMode="auto">
          <a:xfrm>
            <a:off x="6427698" y="3698733"/>
            <a:ext cx="6215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+mn-ea"/>
                <a:ea typeface="+mn-ea"/>
              </a:rPr>
              <a:t>81h</a:t>
            </a:r>
            <a:endParaRPr lang="en-US" altLang="zh-CN" sz="2000" b="1" baseline="-250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229" name="Text Box 26"/>
          <p:cNvSpPr txBox="1">
            <a:spLocks noChangeArrowheads="1"/>
          </p:cNvSpPr>
          <p:nvPr/>
        </p:nvSpPr>
        <p:spPr bwMode="auto">
          <a:xfrm>
            <a:off x="6453098" y="4090845"/>
            <a:ext cx="6215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+mn-ea"/>
                <a:ea typeface="+mn-ea"/>
              </a:rPr>
              <a:t>82h</a:t>
            </a:r>
            <a:endParaRPr lang="en-US" altLang="zh-CN" sz="2000" b="1" baseline="-250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230" name="Text Box 27"/>
          <p:cNvSpPr txBox="1">
            <a:spLocks noChangeArrowheads="1"/>
          </p:cNvSpPr>
          <p:nvPr/>
        </p:nvSpPr>
        <p:spPr bwMode="auto">
          <a:xfrm>
            <a:off x="6453098" y="4490895"/>
            <a:ext cx="6215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+mn-ea"/>
                <a:ea typeface="+mn-ea"/>
              </a:rPr>
              <a:t>83h</a:t>
            </a:r>
            <a:endParaRPr lang="en-US" altLang="zh-CN" sz="2000" b="1" baseline="-250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231" name="Text Box 42"/>
          <p:cNvSpPr txBox="1">
            <a:spLocks noChangeArrowheads="1"/>
          </p:cNvSpPr>
          <p:nvPr/>
        </p:nvSpPr>
        <p:spPr bwMode="auto">
          <a:xfrm>
            <a:off x="7092279" y="3267224"/>
            <a:ext cx="606231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7030A0"/>
                </a:solidFill>
                <a:latin typeface="+mn-ea"/>
              </a:rPr>
              <a:t>b</a:t>
            </a:r>
            <a:endParaRPr lang="en-US" altLang="zh-CN" sz="2000" b="1" baseline="-25000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sp>
        <p:nvSpPr>
          <p:cNvPr id="232" name="Text Box 43"/>
          <p:cNvSpPr txBox="1">
            <a:spLocks noChangeArrowheads="1"/>
          </p:cNvSpPr>
          <p:nvPr/>
        </p:nvSpPr>
        <p:spPr bwMode="auto">
          <a:xfrm>
            <a:off x="7092279" y="3667274"/>
            <a:ext cx="606231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7030A0"/>
                </a:solidFill>
                <a:latin typeface="+mn-ea"/>
                <a:ea typeface="+mn-ea"/>
              </a:rPr>
              <a:t>a</a:t>
            </a:r>
          </a:p>
        </p:txBody>
      </p:sp>
      <p:sp>
        <p:nvSpPr>
          <p:cNvPr id="233" name="Text Box 44"/>
          <p:cNvSpPr txBox="1">
            <a:spLocks noChangeArrowheads="1"/>
          </p:cNvSpPr>
          <p:nvPr/>
        </p:nvSpPr>
        <p:spPr bwMode="auto">
          <a:xfrm>
            <a:off x="7092279" y="4067324"/>
            <a:ext cx="606231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660066"/>
                </a:solidFill>
                <a:latin typeface="+mn-ea"/>
                <a:ea typeface="+mn-ea"/>
              </a:rPr>
              <a:t>x</a:t>
            </a:r>
          </a:p>
        </p:txBody>
      </p:sp>
      <p:sp>
        <p:nvSpPr>
          <p:cNvPr id="234" name="Text Box 45"/>
          <p:cNvSpPr txBox="1">
            <a:spLocks noChangeArrowheads="1"/>
          </p:cNvSpPr>
          <p:nvPr/>
        </p:nvSpPr>
        <p:spPr bwMode="auto">
          <a:xfrm>
            <a:off x="7092279" y="4468962"/>
            <a:ext cx="606231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660066"/>
                </a:solidFill>
                <a:latin typeface="+mn-ea"/>
                <a:ea typeface="+mn-ea"/>
              </a:rPr>
              <a:t>y</a:t>
            </a:r>
          </a:p>
        </p:txBody>
      </p:sp>
      <p:sp>
        <p:nvSpPr>
          <p:cNvPr id="247" name="Text Box 67"/>
          <p:cNvSpPr txBox="1">
            <a:spLocks noChangeArrowheads="1"/>
          </p:cNvSpPr>
          <p:nvPr/>
        </p:nvSpPr>
        <p:spPr bwMode="auto">
          <a:xfrm>
            <a:off x="5964523" y="4845489"/>
            <a:ext cx="22555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FF00FF"/>
                </a:solidFill>
              </a:rPr>
              <a:t>数据</a:t>
            </a:r>
            <a:r>
              <a:rPr lang="zh-CN" altLang="en-US" sz="2000" b="1" dirty="0">
                <a:solidFill>
                  <a:srgbClr val="FF00FF"/>
                </a:solidFill>
              </a:rPr>
              <a:t>存储器</a:t>
            </a:r>
            <a:r>
              <a:rPr lang="en-US" altLang="zh-CN" sz="2000" dirty="0">
                <a:solidFill>
                  <a:srgbClr val="FF6600"/>
                </a:solidFill>
              </a:rPr>
              <a:t>RAM</a:t>
            </a:r>
            <a:endParaRPr lang="zh-CN" altLang="en-US" sz="2000" b="1" dirty="0">
              <a:solidFill>
                <a:srgbClr val="FF00FF"/>
              </a:solidFill>
            </a:endParaRPr>
          </a:p>
        </p:txBody>
      </p:sp>
      <p:sp>
        <p:nvSpPr>
          <p:cNvPr id="251" name="矩形 250"/>
          <p:cNvSpPr/>
          <p:nvPr/>
        </p:nvSpPr>
        <p:spPr>
          <a:xfrm>
            <a:off x="215515" y="5245309"/>
            <a:ext cx="882097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9138" eaLnBrk="1" hangingPunct="1"/>
            <a:r>
              <a:rPr lang="zh-CN" altLang="en-US" sz="2800" dirty="0">
                <a:latin typeface="+mn-ea"/>
                <a:ea typeface="+mn-ea"/>
              </a:rPr>
              <a:t>假定这</a:t>
            </a:r>
            <a:r>
              <a:rPr lang="en-US" altLang="zh-CN" sz="2800" dirty="0">
                <a:latin typeface="+mn-ea"/>
                <a:ea typeface="+mn-ea"/>
              </a:rPr>
              <a:t>3</a:t>
            </a:r>
            <a:r>
              <a:rPr lang="zh-CN" altLang="en-US" sz="2800" dirty="0">
                <a:latin typeface="+mn-ea"/>
                <a:ea typeface="+mn-ea"/>
              </a:rPr>
              <a:t>条指令存放在程序存储器</a:t>
            </a:r>
            <a:r>
              <a:rPr lang="en-US" altLang="zh-CN" sz="2800" dirty="0">
                <a:latin typeface="+mn-ea"/>
                <a:ea typeface="+mn-ea"/>
              </a:rPr>
              <a:t>ROM</a:t>
            </a:r>
            <a:r>
              <a:rPr lang="zh-CN" altLang="en-US" sz="2800" dirty="0">
                <a:latin typeface="+mn-ea"/>
                <a:ea typeface="+mn-ea"/>
              </a:rPr>
              <a:t>中从</a:t>
            </a:r>
            <a:r>
              <a:rPr lang="en-US" altLang="zh-CN" sz="2800" dirty="0">
                <a:latin typeface="+mn-ea"/>
                <a:ea typeface="+mn-ea"/>
              </a:rPr>
              <a:t>2080h</a:t>
            </a:r>
            <a:r>
              <a:rPr lang="zh-CN" altLang="en-US" sz="2800" dirty="0">
                <a:latin typeface="+mn-ea"/>
                <a:ea typeface="+mn-ea"/>
              </a:rPr>
              <a:t>单元开始的地址，数据</a:t>
            </a:r>
            <a:r>
              <a:rPr lang="en-US" altLang="zh-CN" sz="2800" dirty="0">
                <a:latin typeface="+mn-ea"/>
                <a:ea typeface="+mn-ea"/>
              </a:rPr>
              <a:t>b</a:t>
            </a:r>
            <a:r>
              <a:rPr lang="zh-CN" altLang="en-US" sz="2800" dirty="0">
                <a:latin typeface="+mn-ea"/>
                <a:ea typeface="+mn-ea"/>
              </a:rPr>
              <a:t>、</a:t>
            </a:r>
            <a:r>
              <a:rPr lang="en-US" altLang="zh-CN" sz="2800" dirty="0">
                <a:latin typeface="+mn-ea"/>
                <a:ea typeface="+mn-ea"/>
              </a:rPr>
              <a:t>a</a:t>
            </a:r>
            <a:r>
              <a:rPr lang="zh-CN" altLang="en-US" sz="2800" dirty="0">
                <a:latin typeface="+mn-ea"/>
                <a:ea typeface="+mn-ea"/>
              </a:rPr>
              <a:t>、</a:t>
            </a:r>
            <a:r>
              <a:rPr lang="en-US" altLang="zh-CN" sz="2800" dirty="0">
                <a:latin typeface="+mn-ea"/>
                <a:ea typeface="+mn-ea"/>
              </a:rPr>
              <a:t>x</a:t>
            </a:r>
            <a:r>
              <a:rPr lang="zh-CN" altLang="en-US" sz="2800" dirty="0">
                <a:latin typeface="+mn-ea"/>
                <a:ea typeface="+mn-ea"/>
              </a:rPr>
              <a:t>、</a:t>
            </a:r>
            <a:r>
              <a:rPr lang="en-US" altLang="zh-CN" sz="2800" dirty="0">
                <a:latin typeface="+mn-ea"/>
                <a:ea typeface="+mn-ea"/>
              </a:rPr>
              <a:t>y</a:t>
            </a:r>
            <a:r>
              <a:rPr lang="zh-CN" altLang="en-US" sz="2800" dirty="0">
                <a:latin typeface="+mn-ea"/>
                <a:ea typeface="+mn-ea"/>
              </a:rPr>
              <a:t>存放在数据存储器</a:t>
            </a:r>
            <a:r>
              <a:rPr lang="en-US" altLang="zh-CN" sz="2800" dirty="0">
                <a:latin typeface="+mn-ea"/>
                <a:ea typeface="+mn-ea"/>
              </a:rPr>
              <a:t>RAM</a:t>
            </a:r>
            <a:r>
              <a:rPr lang="zh-CN" altLang="en-US" sz="2800" dirty="0">
                <a:latin typeface="+mn-ea"/>
                <a:ea typeface="+mn-ea"/>
              </a:rPr>
              <a:t>中从</a:t>
            </a:r>
            <a:r>
              <a:rPr lang="en-US" altLang="zh-CN" sz="2800" dirty="0">
                <a:latin typeface="+mn-ea"/>
                <a:ea typeface="+mn-ea"/>
              </a:rPr>
              <a:t>0080h</a:t>
            </a:r>
            <a:r>
              <a:rPr lang="zh-CN" altLang="en-US" sz="2800" dirty="0">
                <a:latin typeface="+mn-ea"/>
                <a:ea typeface="+mn-ea"/>
              </a:rPr>
              <a:t>单元开始的地址。且</a:t>
            </a:r>
            <a:r>
              <a:rPr lang="en-US" altLang="zh-CN" sz="2800" dirty="0">
                <a:latin typeface="+mn-ea"/>
                <a:ea typeface="+mn-ea"/>
              </a:rPr>
              <a:t>AR3=0080h</a:t>
            </a:r>
            <a:r>
              <a:rPr lang="zh-CN" altLang="en-US" sz="2800" dirty="0">
                <a:latin typeface="+mn-ea"/>
                <a:ea typeface="+mn-ea"/>
              </a:rPr>
              <a:t>，</a:t>
            </a:r>
            <a:r>
              <a:rPr lang="en-US" altLang="zh-CN" sz="2800" dirty="0">
                <a:latin typeface="+mn-ea"/>
                <a:ea typeface="+mn-ea"/>
              </a:rPr>
              <a:t>AR4=0082h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</a:p>
        </p:txBody>
      </p:sp>
      <p:sp>
        <p:nvSpPr>
          <p:cNvPr id="3" name="左大括号 2"/>
          <p:cNvSpPr/>
          <p:nvPr/>
        </p:nvSpPr>
        <p:spPr bwMode="auto">
          <a:xfrm>
            <a:off x="4626005" y="1607778"/>
            <a:ext cx="235948" cy="1008112"/>
          </a:xfrm>
          <a:prstGeom prst="leftBrace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8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9" name="Line 7"/>
          <p:cNvSpPr>
            <a:spLocks noChangeShapeType="1"/>
          </p:cNvSpPr>
          <p:nvPr/>
        </p:nvSpPr>
        <p:spPr bwMode="auto">
          <a:xfrm flipV="1">
            <a:off x="6155892" y="3502292"/>
            <a:ext cx="274841" cy="708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Line 7"/>
          <p:cNvSpPr>
            <a:spLocks noChangeShapeType="1"/>
          </p:cNvSpPr>
          <p:nvPr/>
        </p:nvSpPr>
        <p:spPr bwMode="auto">
          <a:xfrm flipV="1">
            <a:off x="6178214" y="4314871"/>
            <a:ext cx="274841" cy="708"/>
          </a:xfrm>
          <a:prstGeom prst="line">
            <a:avLst/>
          </a:prstGeom>
          <a:noFill/>
          <a:ln w="38100">
            <a:solidFill>
              <a:srgbClr val="C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5477671" y="3244106"/>
            <a:ext cx="63985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AR3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95980" y="4065178"/>
            <a:ext cx="6693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AR4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3" name="Line 7"/>
          <p:cNvSpPr>
            <a:spLocks noChangeShapeType="1"/>
          </p:cNvSpPr>
          <p:nvPr/>
        </p:nvSpPr>
        <p:spPr bwMode="auto">
          <a:xfrm flipV="1">
            <a:off x="7758941" y="3511334"/>
            <a:ext cx="274841" cy="708"/>
          </a:xfrm>
          <a:prstGeom prst="line">
            <a:avLst/>
          </a:prstGeom>
          <a:noFill/>
          <a:ln w="38100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" name="Line 7"/>
          <p:cNvSpPr>
            <a:spLocks noChangeShapeType="1"/>
          </p:cNvSpPr>
          <p:nvPr/>
        </p:nvSpPr>
        <p:spPr bwMode="auto">
          <a:xfrm flipV="1">
            <a:off x="7755836" y="3923338"/>
            <a:ext cx="274841" cy="708"/>
          </a:xfrm>
          <a:prstGeom prst="line">
            <a:avLst/>
          </a:prstGeom>
          <a:noFill/>
          <a:ln w="38100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5" name="Line 7"/>
          <p:cNvSpPr>
            <a:spLocks noChangeShapeType="1"/>
          </p:cNvSpPr>
          <p:nvPr/>
        </p:nvSpPr>
        <p:spPr bwMode="auto">
          <a:xfrm flipV="1">
            <a:off x="7772621" y="4326817"/>
            <a:ext cx="274841" cy="708"/>
          </a:xfrm>
          <a:prstGeom prst="line">
            <a:avLst/>
          </a:prstGeom>
          <a:noFill/>
          <a:ln w="38100">
            <a:solidFill>
              <a:srgbClr val="6666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063991" y="3149007"/>
            <a:ext cx="52302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DA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9" name="矩形 8"/>
          <p:cNvSpPr/>
          <p:nvPr/>
        </p:nvSpPr>
        <p:spPr>
          <a:xfrm>
            <a:off x="7705970" y="3151472"/>
            <a:ext cx="516080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+mn-ea"/>
                <a:ea typeface="+mn-ea"/>
              </a:rPr>
              <a:t>DB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3" name="Line 7"/>
          <p:cNvSpPr>
            <a:spLocks noChangeShapeType="1"/>
          </p:cNvSpPr>
          <p:nvPr/>
        </p:nvSpPr>
        <p:spPr bwMode="auto">
          <a:xfrm flipV="1">
            <a:off x="6169752" y="3914467"/>
            <a:ext cx="274841" cy="708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5256505" y="3635712"/>
            <a:ext cx="8820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AR3+1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072815" y="3561588"/>
            <a:ext cx="54987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DA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072815" y="3964873"/>
            <a:ext cx="514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CA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7713388" y="3579936"/>
            <a:ext cx="526802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+mn-ea"/>
                <a:ea typeface="+mn-ea"/>
              </a:rPr>
              <a:t>DB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716583" y="3961123"/>
            <a:ext cx="4865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66633"/>
                </a:solidFill>
                <a:latin typeface="+mn-ea"/>
                <a:ea typeface="+mn-ea"/>
              </a:rPr>
              <a:t>CB</a:t>
            </a:r>
            <a:endParaRPr lang="zh-CN" altLang="en-US" dirty="0">
              <a:solidFill>
                <a:srgbClr val="666633"/>
              </a:solidFill>
            </a:endParaRPr>
          </a:p>
        </p:txBody>
      </p:sp>
      <p:sp>
        <p:nvSpPr>
          <p:cNvPr id="49" name="Line 7"/>
          <p:cNvSpPr>
            <a:spLocks noChangeShapeType="1"/>
          </p:cNvSpPr>
          <p:nvPr/>
        </p:nvSpPr>
        <p:spPr bwMode="auto">
          <a:xfrm flipV="1">
            <a:off x="6168469" y="4701826"/>
            <a:ext cx="274841" cy="708"/>
          </a:xfrm>
          <a:prstGeom prst="line">
            <a:avLst/>
          </a:prstGeom>
          <a:noFill/>
          <a:ln w="38100">
            <a:solidFill>
              <a:srgbClr val="00B0F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5256505" y="4423032"/>
            <a:ext cx="8938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+mn-ea"/>
                <a:ea typeface="+mn-ea"/>
              </a:rPr>
              <a:t>AR4+1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6063069" y="4351828"/>
            <a:ext cx="51025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B0F0"/>
                </a:solidFill>
                <a:latin typeface="+mn-ea"/>
                <a:ea typeface="+mn-ea"/>
              </a:rPr>
              <a:t>EA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52" name="Line 7"/>
          <p:cNvSpPr>
            <a:spLocks noChangeShapeType="1"/>
          </p:cNvSpPr>
          <p:nvPr/>
        </p:nvSpPr>
        <p:spPr bwMode="auto">
          <a:xfrm flipH="1">
            <a:off x="7767776" y="4733713"/>
            <a:ext cx="262902" cy="5516"/>
          </a:xfrm>
          <a:prstGeom prst="line">
            <a:avLst/>
          </a:prstGeom>
          <a:noFill/>
          <a:ln w="38100">
            <a:solidFill>
              <a:srgbClr val="0070C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7709701" y="4373726"/>
            <a:ext cx="49023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en-US" altLang="zh-CN" dirty="0">
                <a:solidFill>
                  <a:srgbClr val="0070C0"/>
                </a:solidFill>
                <a:latin typeface="+mn-ea"/>
                <a:ea typeface="+mn-ea"/>
              </a:rPr>
              <a:t>EB</a:t>
            </a:r>
            <a:endParaRPr lang="zh-CN" altLang="en-US" dirty="0">
              <a:solidFill>
                <a:srgbClr val="0070C0"/>
              </a:solidFill>
              <a:latin typeface="+mn-ea"/>
              <a:ea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955472" y="2736426"/>
            <a:ext cx="7008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总线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559624" y="2700152"/>
            <a:ext cx="7008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总线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1" name="Text Box 52"/>
          <p:cNvSpPr txBox="1">
            <a:spLocks noChangeArrowheads="1"/>
          </p:cNvSpPr>
          <p:nvPr/>
        </p:nvSpPr>
        <p:spPr bwMode="auto">
          <a:xfrm>
            <a:off x="964315" y="3312976"/>
            <a:ext cx="938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+mn-ea"/>
                <a:ea typeface="+mn-ea"/>
              </a:rPr>
              <a:t>2080h</a:t>
            </a:r>
            <a:endParaRPr lang="en-US" altLang="zh-CN" sz="2000" b="1" baseline="-250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92" name="Text Box 56"/>
          <p:cNvSpPr txBox="1">
            <a:spLocks noChangeArrowheads="1"/>
          </p:cNvSpPr>
          <p:nvPr/>
        </p:nvSpPr>
        <p:spPr bwMode="auto">
          <a:xfrm>
            <a:off x="1890351" y="3319741"/>
            <a:ext cx="2455838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LD  *AR3+</a:t>
            </a:r>
            <a:r>
              <a:rPr lang="zh-CN" altLang="en-US" sz="2000" dirty="0">
                <a:solidFill>
                  <a:schemeClr val="folHlink"/>
                </a:solidFill>
                <a:latin typeface="+mn-ea"/>
                <a:ea typeface="+mn-ea"/>
              </a:rPr>
              <a:t>，</a:t>
            </a: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A</a:t>
            </a:r>
            <a:endParaRPr lang="en-US" altLang="zh-CN" sz="2000" b="1" baseline="-25000" dirty="0">
              <a:solidFill>
                <a:schemeClr val="folHlink"/>
              </a:solidFill>
              <a:latin typeface="+mn-ea"/>
              <a:ea typeface="+mn-ea"/>
            </a:endParaRPr>
          </a:p>
        </p:txBody>
      </p:sp>
      <p:sp>
        <p:nvSpPr>
          <p:cNvPr id="93" name="Text Box 57"/>
          <p:cNvSpPr txBox="1">
            <a:spLocks noChangeArrowheads="1"/>
          </p:cNvSpPr>
          <p:nvPr/>
        </p:nvSpPr>
        <p:spPr bwMode="auto">
          <a:xfrm>
            <a:off x="1890351" y="3719791"/>
            <a:ext cx="2455838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MAC *AR3</a:t>
            </a:r>
            <a:r>
              <a:rPr lang="zh-CN" altLang="en-US" sz="2000" dirty="0">
                <a:solidFill>
                  <a:schemeClr val="folHlink"/>
                </a:solidFill>
                <a:latin typeface="+mn-ea"/>
                <a:ea typeface="+mn-ea"/>
              </a:rPr>
              <a:t>，*</a:t>
            </a: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AR4+,A</a:t>
            </a:r>
            <a:endParaRPr lang="en-US" altLang="zh-CN" sz="2000" b="1" baseline="-25000" dirty="0">
              <a:solidFill>
                <a:schemeClr val="folHlink"/>
              </a:solidFill>
              <a:latin typeface="+mn-ea"/>
              <a:ea typeface="+mn-ea"/>
            </a:endParaRPr>
          </a:p>
        </p:txBody>
      </p:sp>
      <p:sp>
        <p:nvSpPr>
          <p:cNvPr id="94" name="Text Box 58"/>
          <p:cNvSpPr txBox="1">
            <a:spLocks noChangeArrowheads="1"/>
          </p:cNvSpPr>
          <p:nvPr/>
        </p:nvSpPr>
        <p:spPr bwMode="auto">
          <a:xfrm>
            <a:off x="1890351" y="4119841"/>
            <a:ext cx="2455838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STL A</a:t>
            </a:r>
            <a:r>
              <a:rPr lang="zh-CN" altLang="en-US" sz="2000" dirty="0">
                <a:solidFill>
                  <a:schemeClr val="folHlink"/>
                </a:solidFill>
                <a:latin typeface="+mn-ea"/>
                <a:ea typeface="+mn-ea"/>
              </a:rPr>
              <a:t>，*</a:t>
            </a: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AR4</a:t>
            </a:r>
          </a:p>
        </p:txBody>
      </p:sp>
      <p:sp>
        <p:nvSpPr>
          <p:cNvPr id="95" name="Text Box 67"/>
          <p:cNvSpPr txBox="1">
            <a:spLocks noChangeArrowheads="1"/>
          </p:cNvSpPr>
          <p:nvPr/>
        </p:nvSpPr>
        <p:spPr bwMode="auto">
          <a:xfrm>
            <a:off x="1799692" y="4804269"/>
            <a:ext cx="21023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FF"/>
                </a:solidFill>
              </a:rPr>
              <a:t>程序存储器</a:t>
            </a:r>
            <a:r>
              <a:rPr lang="en-US" altLang="zh-CN" sz="2000" dirty="0">
                <a:solidFill>
                  <a:srgbClr val="FF6600"/>
                </a:solidFill>
              </a:rPr>
              <a:t>ROM</a:t>
            </a:r>
            <a:endParaRPr lang="zh-CN" altLang="en-US" sz="2000" b="1" dirty="0">
              <a:solidFill>
                <a:srgbClr val="FF00FF"/>
              </a:solidFill>
            </a:endParaRPr>
          </a:p>
        </p:txBody>
      </p:sp>
      <p:sp>
        <p:nvSpPr>
          <p:cNvPr id="96" name="Text Box 52"/>
          <p:cNvSpPr txBox="1">
            <a:spLocks noChangeArrowheads="1"/>
          </p:cNvSpPr>
          <p:nvPr/>
        </p:nvSpPr>
        <p:spPr bwMode="auto">
          <a:xfrm>
            <a:off x="962727" y="3748744"/>
            <a:ext cx="938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+mn-ea"/>
                <a:ea typeface="+mn-ea"/>
              </a:rPr>
              <a:t>2081h</a:t>
            </a:r>
            <a:endParaRPr lang="en-US" altLang="zh-CN" sz="2000" b="1" baseline="-250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97" name="Text Box 52"/>
          <p:cNvSpPr txBox="1">
            <a:spLocks noChangeArrowheads="1"/>
          </p:cNvSpPr>
          <p:nvPr/>
        </p:nvSpPr>
        <p:spPr bwMode="auto">
          <a:xfrm>
            <a:off x="964315" y="4164066"/>
            <a:ext cx="938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chemeClr val="tx2"/>
                </a:solidFill>
                <a:latin typeface="+mn-ea"/>
                <a:ea typeface="+mn-ea"/>
              </a:rPr>
              <a:t>2082h</a:t>
            </a:r>
            <a:endParaRPr lang="en-US" altLang="zh-CN" sz="2000" b="1" baseline="-250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98" name="Line 7"/>
          <p:cNvSpPr>
            <a:spLocks noChangeShapeType="1"/>
          </p:cNvSpPr>
          <p:nvPr/>
        </p:nvSpPr>
        <p:spPr bwMode="auto">
          <a:xfrm flipV="1">
            <a:off x="754687" y="3553921"/>
            <a:ext cx="287090" cy="769"/>
          </a:xfrm>
          <a:prstGeom prst="line">
            <a:avLst/>
          </a:prstGeom>
          <a:noFill/>
          <a:ln w="38100">
            <a:solidFill>
              <a:srgbClr val="FF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9" name="Line 7"/>
          <p:cNvSpPr>
            <a:spLocks noChangeShapeType="1"/>
          </p:cNvSpPr>
          <p:nvPr/>
        </p:nvSpPr>
        <p:spPr bwMode="auto">
          <a:xfrm flipV="1">
            <a:off x="4422920" y="3565118"/>
            <a:ext cx="287090" cy="769"/>
          </a:xfrm>
          <a:prstGeom prst="line">
            <a:avLst/>
          </a:prstGeom>
          <a:noFill/>
          <a:ln w="38100">
            <a:solidFill>
              <a:srgbClr val="99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0" name="Line 7"/>
          <p:cNvSpPr>
            <a:spLocks noChangeShapeType="1"/>
          </p:cNvSpPr>
          <p:nvPr/>
        </p:nvSpPr>
        <p:spPr bwMode="auto">
          <a:xfrm flipV="1">
            <a:off x="4422920" y="3957566"/>
            <a:ext cx="287090" cy="769"/>
          </a:xfrm>
          <a:prstGeom prst="line">
            <a:avLst/>
          </a:prstGeom>
          <a:noFill/>
          <a:ln w="38100">
            <a:solidFill>
              <a:srgbClr val="99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1" name="Line 7"/>
          <p:cNvSpPr>
            <a:spLocks noChangeShapeType="1"/>
          </p:cNvSpPr>
          <p:nvPr/>
        </p:nvSpPr>
        <p:spPr bwMode="auto">
          <a:xfrm flipV="1">
            <a:off x="4422920" y="4344190"/>
            <a:ext cx="287090" cy="769"/>
          </a:xfrm>
          <a:prstGeom prst="line">
            <a:avLst/>
          </a:prstGeom>
          <a:noFill/>
          <a:ln w="38100">
            <a:solidFill>
              <a:srgbClr val="99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2" name="矩形 101"/>
          <p:cNvSpPr/>
          <p:nvPr/>
        </p:nvSpPr>
        <p:spPr>
          <a:xfrm>
            <a:off x="645550" y="3170840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9933"/>
                </a:solidFill>
                <a:latin typeface="+mn-ea"/>
                <a:ea typeface="+mn-ea"/>
              </a:rPr>
              <a:t>PA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103" name="矩形 102"/>
          <p:cNvSpPr/>
          <p:nvPr/>
        </p:nvSpPr>
        <p:spPr>
          <a:xfrm>
            <a:off x="4344289" y="3107825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9900CC"/>
                </a:solidFill>
                <a:latin typeface="+mn-ea"/>
                <a:ea typeface="+mn-ea"/>
              </a:rPr>
              <a:t>PB</a:t>
            </a:r>
            <a:endParaRPr lang="zh-CN" altLang="en-US" dirty="0">
              <a:solidFill>
                <a:srgbClr val="9900CC"/>
              </a:solidFill>
            </a:endParaRPr>
          </a:p>
        </p:txBody>
      </p:sp>
      <p:sp>
        <p:nvSpPr>
          <p:cNvPr id="104" name="Line 7"/>
          <p:cNvSpPr>
            <a:spLocks noChangeShapeType="1"/>
          </p:cNvSpPr>
          <p:nvPr/>
        </p:nvSpPr>
        <p:spPr bwMode="auto">
          <a:xfrm flipV="1">
            <a:off x="774282" y="3973643"/>
            <a:ext cx="287090" cy="769"/>
          </a:xfrm>
          <a:prstGeom prst="line">
            <a:avLst/>
          </a:prstGeom>
          <a:noFill/>
          <a:ln w="38100">
            <a:solidFill>
              <a:srgbClr val="FF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5" name="矩形 104"/>
          <p:cNvSpPr/>
          <p:nvPr/>
        </p:nvSpPr>
        <p:spPr>
          <a:xfrm>
            <a:off x="681243" y="3621304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9933"/>
                </a:solidFill>
                <a:latin typeface="+mn-ea"/>
                <a:ea typeface="+mn-ea"/>
              </a:rPr>
              <a:t>PA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106" name="Line 7"/>
          <p:cNvSpPr>
            <a:spLocks noChangeShapeType="1"/>
          </p:cNvSpPr>
          <p:nvPr/>
        </p:nvSpPr>
        <p:spPr bwMode="auto">
          <a:xfrm flipV="1">
            <a:off x="783406" y="4420634"/>
            <a:ext cx="287090" cy="769"/>
          </a:xfrm>
          <a:prstGeom prst="line">
            <a:avLst/>
          </a:prstGeom>
          <a:noFill/>
          <a:ln w="38100">
            <a:solidFill>
              <a:srgbClr val="FF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>
            <a:off x="675376" y="4059983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9933"/>
                </a:solidFill>
                <a:latin typeface="+mn-ea"/>
                <a:ea typeface="+mn-ea"/>
              </a:rPr>
              <a:t>PA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108" name="矩形 107"/>
          <p:cNvSpPr/>
          <p:nvPr/>
        </p:nvSpPr>
        <p:spPr>
          <a:xfrm>
            <a:off x="305769" y="3326069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9933"/>
                </a:solidFill>
                <a:latin typeface="+mn-ea"/>
                <a:ea typeface="+mn-ea"/>
              </a:rPr>
              <a:t>PC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109" name="矩形 108"/>
          <p:cNvSpPr/>
          <p:nvPr/>
        </p:nvSpPr>
        <p:spPr>
          <a:xfrm>
            <a:off x="129822" y="3726179"/>
            <a:ext cx="87790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9933"/>
                </a:solidFill>
                <a:latin typeface="+mn-ea"/>
                <a:ea typeface="+mn-ea"/>
              </a:rPr>
              <a:t>PC+1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110" name="矩形 109"/>
          <p:cNvSpPr/>
          <p:nvPr/>
        </p:nvSpPr>
        <p:spPr>
          <a:xfrm>
            <a:off x="115594" y="4184188"/>
            <a:ext cx="90616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9933"/>
                </a:solidFill>
                <a:latin typeface="+mn-ea"/>
                <a:ea typeface="+mn-ea"/>
              </a:rPr>
              <a:t>PC+2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111" name="矩形 110"/>
          <p:cNvSpPr/>
          <p:nvPr/>
        </p:nvSpPr>
        <p:spPr>
          <a:xfrm>
            <a:off x="478916" y="2807060"/>
            <a:ext cx="7008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总线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2" name="矩形 111"/>
          <p:cNvSpPr/>
          <p:nvPr/>
        </p:nvSpPr>
        <p:spPr>
          <a:xfrm>
            <a:off x="4216048" y="2762219"/>
            <a:ext cx="7008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总线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13" name="矩形 112"/>
          <p:cNvSpPr/>
          <p:nvPr/>
        </p:nvSpPr>
        <p:spPr>
          <a:xfrm>
            <a:off x="4344288" y="3548184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9900CC"/>
                </a:solidFill>
                <a:latin typeface="+mn-ea"/>
                <a:ea typeface="+mn-ea"/>
              </a:rPr>
              <a:t>PB</a:t>
            </a:r>
            <a:endParaRPr lang="zh-CN" altLang="en-US" dirty="0">
              <a:solidFill>
                <a:srgbClr val="9900CC"/>
              </a:solidFill>
            </a:endParaRPr>
          </a:p>
        </p:txBody>
      </p:sp>
      <p:sp>
        <p:nvSpPr>
          <p:cNvPr id="114" name="矩形 113"/>
          <p:cNvSpPr/>
          <p:nvPr/>
        </p:nvSpPr>
        <p:spPr>
          <a:xfrm>
            <a:off x="4344289" y="3977379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9900CC"/>
                </a:solidFill>
                <a:latin typeface="+mn-ea"/>
                <a:ea typeface="+mn-ea"/>
              </a:rPr>
              <a:t>PB</a:t>
            </a:r>
            <a:endParaRPr lang="zh-CN" altLang="en-US" dirty="0">
              <a:solidFill>
                <a:srgbClr val="9900CC"/>
              </a:solidFill>
            </a:endParaRPr>
          </a:p>
        </p:txBody>
      </p:sp>
      <p:sp>
        <p:nvSpPr>
          <p:cNvPr id="11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538461" y="6129300"/>
            <a:ext cx="514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0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59240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Box 52"/>
          <p:cNvSpPr txBox="1">
            <a:spLocks noChangeArrowheads="1"/>
          </p:cNvSpPr>
          <p:nvPr/>
        </p:nvSpPr>
        <p:spPr bwMode="auto">
          <a:xfrm>
            <a:off x="3521201" y="4947704"/>
            <a:ext cx="938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FF9933"/>
                </a:solidFill>
                <a:latin typeface="+mn-ea"/>
                <a:ea typeface="+mn-ea"/>
              </a:rPr>
              <a:t>2080h</a:t>
            </a:r>
            <a:endParaRPr lang="en-US" altLang="zh-CN" sz="2000" b="1" baseline="-25000" dirty="0">
              <a:solidFill>
                <a:srgbClr val="FF9933"/>
              </a:solidFill>
              <a:latin typeface="+mn-ea"/>
              <a:ea typeface="+mn-ea"/>
            </a:endParaRPr>
          </a:p>
        </p:txBody>
      </p:sp>
      <p:sp>
        <p:nvSpPr>
          <p:cNvPr id="238" name="Text Box 56"/>
          <p:cNvSpPr txBox="1">
            <a:spLocks noChangeArrowheads="1"/>
          </p:cNvSpPr>
          <p:nvPr/>
        </p:nvSpPr>
        <p:spPr bwMode="auto">
          <a:xfrm>
            <a:off x="4499992" y="4733529"/>
            <a:ext cx="2455838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LD  *AR3+</a:t>
            </a:r>
            <a:r>
              <a:rPr lang="zh-CN" altLang="en-US" sz="2000" dirty="0">
                <a:solidFill>
                  <a:schemeClr val="folHlink"/>
                </a:solidFill>
                <a:latin typeface="+mn-ea"/>
                <a:ea typeface="+mn-ea"/>
              </a:rPr>
              <a:t>，</a:t>
            </a: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A</a:t>
            </a:r>
            <a:endParaRPr lang="en-US" altLang="zh-CN" sz="2000" b="1" baseline="-25000" dirty="0">
              <a:solidFill>
                <a:schemeClr val="folHlink"/>
              </a:solidFill>
              <a:latin typeface="+mn-ea"/>
              <a:ea typeface="+mn-ea"/>
            </a:endParaRPr>
          </a:p>
        </p:txBody>
      </p:sp>
      <p:sp>
        <p:nvSpPr>
          <p:cNvPr id="239" name="Text Box 57"/>
          <p:cNvSpPr txBox="1">
            <a:spLocks noChangeArrowheads="1"/>
          </p:cNvSpPr>
          <p:nvPr/>
        </p:nvSpPr>
        <p:spPr bwMode="auto">
          <a:xfrm>
            <a:off x="4499992" y="5133579"/>
            <a:ext cx="2455838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MAC *AR3</a:t>
            </a:r>
            <a:r>
              <a:rPr lang="zh-CN" altLang="en-US" sz="2000" dirty="0">
                <a:solidFill>
                  <a:schemeClr val="folHlink"/>
                </a:solidFill>
                <a:latin typeface="+mn-ea"/>
                <a:ea typeface="+mn-ea"/>
              </a:rPr>
              <a:t>，*</a:t>
            </a: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AR4+,A</a:t>
            </a:r>
            <a:endParaRPr lang="en-US" altLang="zh-CN" sz="2000" b="1" baseline="-25000" dirty="0">
              <a:solidFill>
                <a:schemeClr val="folHlink"/>
              </a:solidFill>
              <a:latin typeface="+mn-ea"/>
              <a:ea typeface="+mn-ea"/>
            </a:endParaRPr>
          </a:p>
        </p:txBody>
      </p:sp>
      <p:sp>
        <p:nvSpPr>
          <p:cNvPr id="240" name="Text Box 58"/>
          <p:cNvSpPr txBox="1">
            <a:spLocks noChangeArrowheads="1"/>
          </p:cNvSpPr>
          <p:nvPr/>
        </p:nvSpPr>
        <p:spPr bwMode="auto">
          <a:xfrm>
            <a:off x="4499992" y="5533629"/>
            <a:ext cx="2455838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STL A</a:t>
            </a:r>
            <a:r>
              <a:rPr lang="zh-CN" altLang="en-US" sz="2000" dirty="0">
                <a:solidFill>
                  <a:schemeClr val="folHlink"/>
                </a:solidFill>
                <a:latin typeface="+mn-ea"/>
                <a:ea typeface="+mn-ea"/>
              </a:rPr>
              <a:t>，*</a:t>
            </a: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AR4</a:t>
            </a:r>
          </a:p>
        </p:txBody>
      </p:sp>
      <p:sp>
        <p:nvSpPr>
          <p:cNvPr id="245" name="Text Box 67"/>
          <p:cNvSpPr txBox="1">
            <a:spLocks noChangeArrowheads="1"/>
          </p:cNvSpPr>
          <p:nvPr/>
        </p:nvSpPr>
        <p:spPr bwMode="auto">
          <a:xfrm>
            <a:off x="4499992" y="6022562"/>
            <a:ext cx="21023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FF"/>
                </a:solidFill>
              </a:rPr>
              <a:t>程序存储器</a:t>
            </a:r>
            <a:r>
              <a:rPr lang="en-US" altLang="zh-CN" sz="2000" dirty="0">
                <a:solidFill>
                  <a:srgbClr val="FF6600"/>
                </a:solidFill>
              </a:rPr>
              <a:t>ROM</a:t>
            </a:r>
            <a:endParaRPr lang="zh-CN" altLang="en-US" sz="2000" b="1" dirty="0">
              <a:solidFill>
                <a:srgbClr val="FF00FF"/>
              </a:solidFill>
            </a:endParaRPr>
          </a:p>
        </p:txBody>
      </p:sp>
      <p:sp>
        <p:nvSpPr>
          <p:cNvPr id="251" name="矩形 250"/>
          <p:cNvSpPr/>
          <p:nvPr/>
        </p:nvSpPr>
        <p:spPr>
          <a:xfrm>
            <a:off x="116110" y="1048726"/>
            <a:ext cx="8820979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9138" eaLnBrk="1" hangingPunct="1"/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、执行第一条指令：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LD  *AR3+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A</a:t>
            </a:r>
          </a:p>
          <a:p>
            <a:pPr indent="719138" eaLnBrk="1" hangingPunct="1"/>
            <a:r>
              <a:rPr lang="zh-CN" altLang="en-US" sz="2800" dirty="0">
                <a:latin typeface="+mn-ea"/>
                <a:ea typeface="+mn-ea"/>
              </a:rPr>
              <a:t>（</a:t>
            </a:r>
            <a:r>
              <a:rPr lang="en-US" altLang="zh-CN" sz="2800" dirty="0">
                <a:latin typeface="+mn-ea"/>
                <a:ea typeface="+mn-ea"/>
              </a:rPr>
              <a:t>1</a:t>
            </a:r>
            <a:r>
              <a:rPr lang="zh-CN" altLang="en-US" sz="2800" dirty="0">
                <a:latin typeface="+mn-ea"/>
                <a:ea typeface="+mn-ea"/>
              </a:rPr>
              <a:t>）</a:t>
            </a:r>
            <a:r>
              <a:rPr lang="en-US" altLang="zh-CN" sz="2800" dirty="0">
                <a:latin typeface="+mn-ea"/>
                <a:ea typeface="+mn-ea"/>
              </a:rPr>
              <a:t>CPU</a:t>
            </a:r>
            <a:r>
              <a:rPr lang="zh-CN" altLang="en-US" sz="2800" dirty="0">
                <a:latin typeface="+mn-ea"/>
                <a:ea typeface="+mn-ea"/>
              </a:rPr>
              <a:t>的程序地址产生逻辑（</a:t>
            </a:r>
            <a:r>
              <a:rPr lang="en-US" altLang="zh-CN" sz="2800" dirty="0">
                <a:latin typeface="+mn-ea"/>
                <a:ea typeface="+mn-ea"/>
              </a:rPr>
              <a:t>PAGEN</a:t>
            </a:r>
            <a:r>
              <a:rPr lang="zh-CN" altLang="en-US" sz="2800" dirty="0">
                <a:latin typeface="+mn-ea"/>
                <a:ea typeface="+mn-ea"/>
              </a:rPr>
              <a:t>）先将程序计数器指针所指地址</a:t>
            </a:r>
            <a:r>
              <a:rPr lang="en-US" altLang="zh-CN" sz="2800" dirty="0">
                <a:latin typeface="+mn-ea"/>
                <a:ea typeface="+mn-ea"/>
              </a:rPr>
              <a:t>PC=2080h</a:t>
            </a:r>
            <a:r>
              <a:rPr lang="zh-CN" altLang="en-US" sz="2800" dirty="0">
                <a:latin typeface="+mn-ea"/>
                <a:ea typeface="+mn-ea"/>
              </a:rPr>
              <a:t>放到地址总线</a:t>
            </a:r>
            <a:r>
              <a:rPr lang="en-US" altLang="zh-CN" sz="2800" dirty="0">
                <a:latin typeface="+mn-ea"/>
                <a:ea typeface="+mn-ea"/>
              </a:rPr>
              <a:t>PA</a:t>
            </a:r>
            <a:r>
              <a:rPr lang="zh-CN" altLang="en-US" sz="2800" dirty="0">
                <a:latin typeface="+mn-ea"/>
                <a:ea typeface="+mn-ea"/>
              </a:rPr>
              <a:t>上</a:t>
            </a:r>
            <a:r>
              <a:rPr lang="zh-CN" altLang="en-US" sz="2800" dirty="0">
                <a:solidFill>
                  <a:srgbClr val="FF0000"/>
                </a:solidFill>
              </a:rPr>
              <a:t>①</a:t>
            </a:r>
            <a:r>
              <a:rPr lang="zh-CN" altLang="en-US" sz="2800" dirty="0">
                <a:latin typeface="+mn-ea"/>
                <a:ea typeface="+mn-ea"/>
              </a:rPr>
              <a:t>，程序存储器</a:t>
            </a:r>
            <a:r>
              <a:rPr lang="en-US" altLang="zh-CN" sz="2800" dirty="0">
                <a:latin typeface="+mn-ea"/>
                <a:ea typeface="+mn-ea"/>
              </a:rPr>
              <a:t>ROM</a:t>
            </a:r>
            <a:r>
              <a:rPr lang="zh-CN" altLang="en-US" sz="2800" dirty="0">
                <a:latin typeface="+mn-ea"/>
                <a:ea typeface="+mn-ea"/>
              </a:rPr>
              <a:t>译码该地址，找到该单元中存放的程序代码，将其放到程序总线</a:t>
            </a:r>
            <a:r>
              <a:rPr lang="en-US" altLang="zh-CN" sz="2800" dirty="0">
                <a:latin typeface="+mn-ea"/>
                <a:ea typeface="+mn-ea"/>
              </a:rPr>
              <a:t>PB</a:t>
            </a:r>
            <a:r>
              <a:rPr lang="zh-CN" altLang="en-US" sz="2800" dirty="0">
                <a:latin typeface="+mn-ea"/>
                <a:ea typeface="+mn-ea"/>
              </a:rPr>
              <a:t>上</a:t>
            </a:r>
            <a:r>
              <a:rPr lang="en-US" altLang="zh-CN" sz="2800" dirty="0">
                <a:solidFill>
                  <a:srgbClr val="FF0000"/>
                </a:solidFill>
              </a:rPr>
              <a:t>②</a:t>
            </a:r>
            <a:r>
              <a:rPr lang="zh-CN" altLang="en-US" sz="2800" dirty="0">
                <a:latin typeface="+mn-ea"/>
                <a:ea typeface="+mn-ea"/>
              </a:rPr>
              <a:t>，系统控制接口接收到该代码并将其送到指令译码器译码。同时使</a:t>
            </a:r>
            <a:r>
              <a:rPr lang="en-US" altLang="zh-CN" sz="2800" dirty="0">
                <a:latin typeface="+mn-ea"/>
                <a:ea typeface="+mn-ea"/>
              </a:rPr>
              <a:t>PC</a:t>
            </a:r>
            <a:r>
              <a:rPr lang="zh-CN" altLang="en-US" sz="2800" dirty="0">
                <a:latin typeface="+mn-ea"/>
                <a:ea typeface="+mn-ea"/>
              </a:rPr>
              <a:t>指针加</a:t>
            </a:r>
            <a:r>
              <a:rPr lang="en-US" altLang="zh-CN" sz="2800" dirty="0">
                <a:latin typeface="+mn-ea"/>
                <a:ea typeface="+mn-ea"/>
              </a:rPr>
              <a:t>1</a:t>
            </a:r>
            <a:r>
              <a:rPr lang="zh-CN" altLang="en-US" sz="2800" dirty="0">
                <a:latin typeface="+mn-ea"/>
                <a:ea typeface="+mn-ea"/>
              </a:rPr>
              <a:t>，指向</a:t>
            </a:r>
            <a:r>
              <a:rPr lang="en-US" altLang="zh-CN" sz="2800" dirty="0">
                <a:latin typeface="+mn-ea"/>
                <a:ea typeface="+mn-ea"/>
              </a:rPr>
              <a:t>PC=2081h</a:t>
            </a:r>
            <a:r>
              <a:rPr lang="en-US" altLang="zh-CN" sz="2800" dirty="0">
                <a:solidFill>
                  <a:srgbClr val="FF0000"/>
                </a:solidFill>
              </a:rPr>
              <a:t>③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3591932" y="4977284"/>
            <a:ext cx="908060" cy="1"/>
          </a:xfrm>
          <a:prstGeom prst="line">
            <a:avLst/>
          </a:prstGeom>
          <a:noFill/>
          <a:ln w="38100">
            <a:solidFill>
              <a:srgbClr val="FF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" name="Line 7"/>
          <p:cNvSpPr>
            <a:spLocks noChangeShapeType="1"/>
          </p:cNvSpPr>
          <p:nvPr/>
        </p:nvSpPr>
        <p:spPr bwMode="auto">
          <a:xfrm flipV="1">
            <a:off x="6953930" y="4977283"/>
            <a:ext cx="630708" cy="0"/>
          </a:xfrm>
          <a:prstGeom prst="line">
            <a:avLst/>
          </a:prstGeom>
          <a:noFill/>
          <a:ln w="38100">
            <a:solidFill>
              <a:srgbClr val="99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756107" y="4601279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9933"/>
                </a:solidFill>
                <a:latin typeface="+mn-ea"/>
                <a:ea typeface="+mn-ea"/>
              </a:rPr>
              <a:t>PA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08964" y="4586105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9900CC"/>
                </a:solidFill>
                <a:latin typeface="+mn-ea"/>
                <a:ea typeface="+mn-ea"/>
              </a:rPr>
              <a:t>PB</a:t>
            </a:r>
            <a:endParaRPr lang="zh-CN" altLang="en-US" dirty="0">
              <a:solidFill>
                <a:srgbClr val="9900CC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6247" y="4601279"/>
            <a:ext cx="3414717" cy="707886"/>
          </a:xfrm>
          <a:prstGeom prst="rect">
            <a:avLst/>
          </a:prstGeom>
          <a:ln>
            <a:solidFill>
              <a:srgbClr val="FF9933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9933"/>
                </a:solidFill>
                <a:latin typeface="+mn-ea"/>
              </a:rPr>
              <a:t>程序地址产生逻辑（</a:t>
            </a:r>
            <a:r>
              <a:rPr lang="en-US" altLang="zh-CN" dirty="0">
                <a:solidFill>
                  <a:srgbClr val="FF9933"/>
                </a:solidFill>
                <a:latin typeface="+mn-ea"/>
              </a:rPr>
              <a:t>PAGEN</a:t>
            </a:r>
            <a:r>
              <a:rPr lang="zh-CN" altLang="en-US" dirty="0">
                <a:solidFill>
                  <a:srgbClr val="FF9933"/>
                </a:solidFill>
                <a:latin typeface="+mn-ea"/>
              </a:rPr>
              <a:t>）</a:t>
            </a:r>
            <a:endParaRPr lang="en-US" altLang="zh-CN" dirty="0">
              <a:solidFill>
                <a:srgbClr val="FF9933"/>
              </a:solidFill>
              <a:latin typeface="+mn-ea"/>
            </a:endParaRPr>
          </a:p>
          <a:p>
            <a:pPr algn="ctr"/>
            <a:r>
              <a:rPr lang="en-US" altLang="zh-CN" dirty="0">
                <a:solidFill>
                  <a:srgbClr val="FF9933"/>
                </a:solidFill>
              </a:rPr>
              <a:t>PC=2080h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584638" y="4776460"/>
            <a:ext cx="1475084" cy="400110"/>
          </a:xfrm>
          <a:prstGeom prst="rect">
            <a:avLst/>
          </a:prstGeom>
          <a:ln>
            <a:solidFill>
              <a:srgbClr val="FF9933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9900CC"/>
                </a:solidFill>
                <a:latin typeface="+mn-ea"/>
              </a:rPr>
              <a:t>指令译码器</a:t>
            </a:r>
            <a:endParaRPr lang="zh-CN" altLang="en-US" dirty="0">
              <a:solidFill>
                <a:srgbClr val="9900CC"/>
              </a:solidFill>
            </a:endParaRPr>
          </a:p>
        </p:txBody>
      </p:sp>
      <p:sp>
        <p:nvSpPr>
          <p:cNvPr id="63" name="Line 7"/>
          <p:cNvSpPr>
            <a:spLocks noChangeShapeType="1"/>
          </p:cNvSpPr>
          <p:nvPr/>
        </p:nvSpPr>
        <p:spPr bwMode="auto">
          <a:xfrm>
            <a:off x="1871700" y="5309166"/>
            <a:ext cx="0" cy="352082"/>
          </a:xfrm>
          <a:prstGeom prst="line">
            <a:avLst/>
          </a:prstGeom>
          <a:noFill/>
          <a:ln w="38100">
            <a:solidFill>
              <a:srgbClr val="FF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160991" y="5658765"/>
            <a:ext cx="3414717" cy="707886"/>
          </a:xfrm>
          <a:prstGeom prst="rect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9933"/>
                </a:solidFill>
                <a:latin typeface="+mn-ea"/>
              </a:rPr>
              <a:t>程序地址产生逻辑（</a:t>
            </a:r>
            <a:r>
              <a:rPr lang="en-US" altLang="zh-CN" dirty="0">
                <a:solidFill>
                  <a:srgbClr val="FF9933"/>
                </a:solidFill>
                <a:latin typeface="+mn-ea"/>
              </a:rPr>
              <a:t>PAGEN</a:t>
            </a:r>
            <a:r>
              <a:rPr lang="zh-CN" altLang="en-US" dirty="0">
                <a:solidFill>
                  <a:srgbClr val="FF9933"/>
                </a:solidFill>
                <a:latin typeface="+mn-ea"/>
              </a:rPr>
              <a:t>）</a:t>
            </a:r>
            <a:endParaRPr lang="en-US" altLang="zh-CN" dirty="0">
              <a:solidFill>
                <a:srgbClr val="FF9933"/>
              </a:solidFill>
              <a:latin typeface="+mn-ea"/>
            </a:endParaRPr>
          </a:p>
          <a:p>
            <a:pPr algn="ctr"/>
            <a:r>
              <a:rPr lang="en-US" altLang="zh-CN" dirty="0">
                <a:solidFill>
                  <a:srgbClr val="FF9933"/>
                </a:solidFill>
              </a:rPr>
              <a:t>PC=PC+1=2081h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783889" y="4279797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7" name="矩形 16"/>
          <p:cNvSpPr/>
          <p:nvPr/>
        </p:nvSpPr>
        <p:spPr>
          <a:xfrm>
            <a:off x="7063700" y="4242818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898197" y="5296626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③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9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172400" y="6245225"/>
            <a:ext cx="514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0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435554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矩形 250"/>
          <p:cNvSpPr/>
          <p:nvPr/>
        </p:nvSpPr>
        <p:spPr>
          <a:xfrm>
            <a:off x="16348" y="968144"/>
            <a:ext cx="882097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9138" eaLnBrk="1" hangingPunct="1"/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续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1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、执行第一条指令：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LD  *AR3+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A</a:t>
            </a:r>
          </a:p>
          <a:p>
            <a:pPr indent="719138" eaLnBrk="1" hangingPunct="1"/>
            <a:r>
              <a:rPr lang="zh-CN" altLang="en-US" sz="2800" dirty="0">
                <a:latin typeface="+mn-ea"/>
                <a:ea typeface="+mn-ea"/>
              </a:rPr>
              <a:t>（</a:t>
            </a:r>
            <a:r>
              <a:rPr lang="en-US" altLang="zh-CN" sz="2800" dirty="0">
                <a:latin typeface="+mn-ea"/>
                <a:ea typeface="+mn-ea"/>
              </a:rPr>
              <a:t>2</a:t>
            </a:r>
            <a:r>
              <a:rPr lang="zh-CN" altLang="en-US" sz="2800" dirty="0">
                <a:latin typeface="+mn-ea"/>
                <a:ea typeface="+mn-ea"/>
              </a:rPr>
              <a:t>）通过指令译码器译码指令</a:t>
            </a:r>
            <a:r>
              <a:rPr lang="en-US" altLang="zh-CN" sz="2800" dirty="0">
                <a:latin typeface="+mn-ea"/>
                <a:ea typeface="+mn-ea"/>
              </a:rPr>
              <a:t>LD  *AR3+</a:t>
            </a:r>
            <a:r>
              <a:rPr lang="zh-CN" altLang="en-US" sz="2800" dirty="0">
                <a:latin typeface="+mn-ea"/>
                <a:ea typeface="+mn-ea"/>
              </a:rPr>
              <a:t>，</a:t>
            </a:r>
            <a:r>
              <a:rPr lang="en-US" altLang="zh-CN" sz="2800" dirty="0">
                <a:latin typeface="+mn-ea"/>
                <a:ea typeface="+mn-ea"/>
              </a:rPr>
              <a:t>A</a:t>
            </a:r>
            <a:r>
              <a:rPr lang="zh-CN" altLang="en-US" sz="2800" dirty="0">
                <a:latin typeface="+mn-ea"/>
                <a:ea typeface="+mn-ea"/>
              </a:rPr>
              <a:t>，得知要将辅助寄存器</a:t>
            </a:r>
            <a:r>
              <a:rPr lang="en-US" altLang="zh-CN" sz="2800" dirty="0">
                <a:latin typeface="+mn-ea"/>
                <a:ea typeface="+mn-ea"/>
              </a:rPr>
              <a:t>AR3</a:t>
            </a:r>
            <a:r>
              <a:rPr lang="zh-CN" altLang="en-US" sz="2800" dirty="0">
                <a:latin typeface="+mn-ea"/>
                <a:ea typeface="+mn-ea"/>
              </a:rPr>
              <a:t>单元所指地址</a:t>
            </a:r>
            <a:r>
              <a:rPr lang="en-US" altLang="zh-CN" sz="2800" dirty="0">
                <a:latin typeface="+mn-ea"/>
                <a:ea typeface="+mn-ea"/>
              </a:rPr>
              <a:t>0080h</a:t>
            </a:r>
            <a:r>
              <a:rPr lang="zh-CN" altLang="en-US" sz="2800" dirty="0">
                <a:latin typeface="+mn-ea"/>
                <a:ea typeface="+mn-ea"/>
              </a:rPr>
              <a:t>中的数据</a:t>
            </a:r>
            <a:r>
              <a:rPr lang="en-US" altLang="zh-CN" sz="2800" dirty="0">
                <a:latin typeface="+mn-ea"/>
                <a:ea typeface="+mn-ea"/>
              </a:rPr>
              <a:t>b</a:t>
            </a:r>
            <a:r>
              <a:rPr lang="zh-CN" altLang="en-US" sz="2800" dirty="0">
                <a:latin typeface="+mn-ea"/>
                <a:ea typeface="+mn-ea"/>
              </a:rPr>
              <a:t>放到</a:t>
            </a:r>
            <a:r>
              <a:rPr lang="en-US" altLang="zh-CN" sz="2800" dirty="0">
                <a:latin typeface="+mn-ea"/>
                <a:ea typeface="+mn-ea"/>
              </a:rPr>
              <a:t>A</a:t>
            </a:r>
            <a:r>
              <a:rPr lang="zh-CN" altLang="en-US" sz="2800" dirty="0">
                <a:latin typeface="+mn-ea"/>
                <a:ea typeface="+mn-ea"/>
              </a:rPr>
              <a:t>累加器，便由数据地址产生逻辑（</a:t>
            </a:r>
            <a:r>
              <a:rPr lang="en-US" altLang="zh-CN" sz="2800" dirty="0">
                <a:latin typeface="+mn-ea"/>
                <a:ea typeface="+mn-ea"/>
              </a:rPr>
              <a:t>DAGEN</a:t>
            </a:r>
            <a:r>
              <a:rPr lang="zh-CN" altLang="en-US" sz="2800" dirty="0">
                <a:latin typeface="+mn-ea"/>
                <a:ea typeface="+mn-ea"/>
              </a:rPr>
              <a:t>）根据</a:t>
            </a:r>
            <a:r>
              <a:rPr lang="en-US" altLang="zh-CN" sz="2800" dirty="0">
                <a:latin typeface="+mn-ea"/>
                <a:ea typeface="+mn-ea"/>
              </a:rPr>
              <a:t>AR3=0080h</a:t>
            </a:r>
            <a:r>
              <a:rPr lang="zh-CN" altLang="en-US" sz="2800" dirty="0">
                <a:latin typeface="+mn-ea"/>
                <a:ea typeface="+mn-ea"/>
              </a:rPr>
              <a:t>产生地址</a:t>
            </a:r>
            <a:r>
              <a:rPr lang="en-US" altLang="zh-CN" sz="2800" dirty="0">
                <a:latin typeface="+mn-ea"/>
                <a:ea typeface="+mn-ea"/>
              </a:rPr>
              <a:t>0080h</a:t>
            </a:r>
            <a:r>
              <a:rPr lang="zh-CN" altLang="en-US" sz="2800" dirty="0">
                <a:latin typeface="+mn-ea"/>
                <a:ea typeface="+mn-ea"/>
              </a:rPr>
              <a:t>并将其放到地址总线</a:t>
            </a:r>
            <a:r>
              <a:rPr lang="en-US" altLang="zh-CN" sz="2800" dirty="0">
                <a:latin typeface="+mn-ea"/>
                <a:ea typeface="+mn-ea"/>
              </a:rPr>
              <a:t>DA</a:t>
            </a:r>
            <a:r>
              <a:rPr lang="zh-CN" altLang="en-US" sz="2800" dirty="0">
                <a:latin typeface="+mn-ea"/>
                <a:ea typeface="+mn-ea"/>
              </a:rPr>
              <a:t>上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①</a:t>
            </a:r>
            <a:r>
              <a:rPr lang="zh-CN" altLang="en-US" sz="2800" dirty="0">
                <a:latin typeface="+mn-ea"/>
                <a:ea typeface="+mn-ea"/>
              </a:rPr>
              <a:t>，数据存储器</a:t>
            </a:r>
            <a:r>
              <a:rPr lang="en-US" altLang="zh-CN" sz="2800" dirty="0">
                <a:latin typeface="+mn-ea"/>
                <a:ea typeface="+mn-ea"/>
              </a:rPr>
              <a:t>RAM</a:t>
            </a:r>
            <a:r>
              <a:rPr lang="zh-CN" altLang="en-US" sz="2800" dirty="0">
                <a:latin typeface="+mn-ea"/>
                <a:ea typeface="+mn-ea"/>
              </a:rPr>
              <a:t>译码该地址并找到该单元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②</a:t>
            </a:r>
            <a:r>
              <a:rPr lang="zh-CN" altLang="en-US" sz="2800" dirty="0">
                <a:latin typeface="+mn-ea"/>
                <a:ea typeface="+mn-ea"/>
              </a:rPr>
              <a:t>，将数据</a:t>
            </a:r>
            <a:r>
              <a:rPr lang="en-US" altLang="zh-CN" sz="2800" dirty="0">
                <a:latin typeface="+mn-ea"/>
                <a:ea typeface="+mn-ea"/>
              </a:rPr>
              <a:t>b</a:t>
            </a:r>
            <a:r>
              <a:rPr lang="zh-CN" altLang="en-US" sz="2800" dirty="0">
                <a:latin typeface="+mn-ea"/>
                <a:ea typeface="+mn-ea"/>
              </a:rPr>
              <a:t>放到</a:t>
            </a:r>
            <a:r>
              <a:rPr lang="en-US" altLang="zh-CN" sz="2800" dirty="0">
                <a:latin typeface="+mn-ea"/>
                <a:ea typeface="+mn-ea"/>
              </a:rPr>
              <a:t>DB</a:t>
            </a:r>
            <a:r>
              <a:rPr lang="zh-CN" altLang="en-US" sz="2800" dirty="0">
                <a:latin typeface="+mn-ea"/>
                <a:ea typeface="+mn-ea"/>
              </a:rPr>
              <a:t>总线上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③</a:t>
            </a:r>
            <a:r>
              <a:rPr lang="zh-CN" altLang="en-US" sz="2800" dirty="0">
                <a:latin typeface="+mn-ea"/>
                <a:ea typeface="+mn-ea"/>
              </a:rPr>
              <a:t>，再经</a:t>
            </a:r>
            <a:r>
              <a:rPr lang="en-US" altLang="zh-CN" sz="2800" dirty="0">
                <a:latin typeface="+mn-ea"/>
                <a:ea typeface="+mn-ea"/>
              </a:rPr>
              <a:t>40</a:t>
            </a:r>
            <a:r>
              <a:rPr lang="zh-CN" altLang="en-US" sz="2800" dirty="0">
                <a:latin typeface="+mn-ea"/>
                <a:ea typeface="+mn-ea"/>
              </a:rPr>
              <a:t>位</a:t>
            </a:r>
            <a:r>
              <a:rPr lang="en-US" altLang="zh-CN" sz="2800" dirty="0">
                <a:latin typeface="+mn-ea"/>
                <a:ea typeface="+mn-ea"/>
              </a:rPr>
              <a:t>ALU</a:t>
            </a:r>
            <a:r>
              <a:rPr lang="zh-CN" altLang="en-US" sz="2800" dirty="0">
                <a:latin typeface="+mn-ea"/>
                <a:ea typeface="+mn-ea"/>
              </a:rPr>
              <a:t>和多路选择器</a:t>
            </a:r>
            <a:r>
              <a:rPr lang="en-US" altLang="zh-CN" sz="2800" dirty="0">
                <a:latin typeface="+mn-ea"/>
                <a:ea typeface="+mn-ea"/>
              </a:rPr>
              <a:t>MUX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④</a:t>
            </a:r>
            <a:r>
              <a:rPr lang="zh-CN" altLang="en-US" sz="2800" dirty="0">
                <a:latin typeface="+mn-ea"/>
                <a:ea typeface="+mn-ea"/>
              </a:rPr>
              <a:t>输入</a:t>
            </a:r>
            <a:r>
              <a:rPr lang="en-US" altLang="zh-CN" sz="2800" dirty="0">
                <a:latin typeface="+mn-ea"/>
                <a:ea typeface="+mn-ea"/>
              </a:rPr>
              <a:t>A</a:t>
            </a:r>
            <a:r>
              <a:rPr lang="zh-CN" altLang="en-US" sz="2800" dirty="0">
                <a:latin typeface="+mn-ea"/>
                <a:ea typeface="+mn-ea"/>
              </a:rPr>
              <a:t>累加器，使</a:t>
            </a:r>
            <a:r>
              <a:rPr lang="en-US" altLang="zh-CN" sz="2800" dirty="0">
                <a:latin typeface="+mn-ea"/>
                <a:ea typeface="+mn-ea"/>
              </a:rPr>
              <a:t>A=b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⑤</a:t>
            </a:r>
            <a:r>
              <a:rPr lang="zh-CN" altLang="en-US" sz="2800" dirty="0">
                <a:latin typeface="+mn-ea"/>
                <a:ea typeface="+mn-ea"/>
              </a:rPr>
              <a:t>。然后</a:t>
            </a:r>
            <a:r>
              <a:rPr lang="en-US" altLang="zh-CN" sz="2800" dirty="0">
                <a:latin typeface="+mn-ea"/>
                <a:ea typeface="+mn-ea"/>
              </a:rPr>
              <a:t>AR3</a:t>
            </a:r>
            <a:r>
              <a:rPr lang="zh-CN" altLang="en-US" sz="2800" dirty="0">
                <a:latin typeface="+mn-ea"/>
                <a:ea typeface="+mn-ea"/>
              </a:rPr>
              <a:t>加</a:t>
            </a:r>
            <a:r>
              <a:rPr lang="en-US" altLang="zh-CN" sz="2800" dirty="0">
                <a:latin typeface="+mn-ea"/>
                <a:ea typeface="+mn-ea"/>
              </a:rPr>
              <a:t>1</a:t>
            </a:r>
            <a:r>
              <a:rPr lang="zh-CN" altLang="en-US" sz="2800" dirty="0">
                <a:latin typeface="+mn-ea"/>
                <a:ea typeface="+mn-ea"/>
              </a:rPr>
              <a:t>指向</a:t>
            </a:r>
            <a:r>
              <a:rPr lang="en-US" altLang="zh-CN" sz="2800" dirty="0">
                <a:latin typeface="+mn-ea"/>
                <a:ea typeface="+mn-ea"/>
              </a:rPr>
              <a:t>AR3=0081h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⑥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</a:p>
        </p:txBody>
      </p:sp>
      <p:sp>
        <p:nvSpPr>
          <p:cNvPr id="16" name="矩形 15"/>
          <p:cNvSpPr/>
          <p:nvPr/>
        </p:nvSpPr>
        <p:spPr>
          <a:xfrm>
            <a:off x="84372" y="4617482"/>
            <a:ext cx="3414717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ea"/>
              </a:rPr>
              <a:t>数据地址产生逻辑（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DAGEN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）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</a:rPr>
              <a:t>AR3=0080h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63" name="Line 7"/>
          <p:cNvSpPr>
            <a:spLocks noChangeShapeType="1"/>
          </p:cNvSpPr>
          <p:nvPr/>
        </p:nvSpPr>
        <p:spPr bwMode="auto">
          <a:xfrm>
            <a:off x="1769825" y="5325369"/>
            <a:ext cx="0" cy="352082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59116" y="5674968"/>
            <a:ext cx="3414717" cy="707886"/>
          </a:xfrm>
          <a:prstGeom prst="rect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ea"/>
              </a:rPr>
              <a:t>数据地址产生逻辑（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DAGEN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）</a:t>
            </a:r>
          </a:p>
          <a:p>
            <a:pPr algn="ctr"/>
            <a:r>
              <a:rPr lang="en-US" altLang="zh-CN" dirty="0">
                <a:solidFill>
                  <a:srgbClr val="FF0000"/>
                </a:solidFill>
                <a:latin typeface="+mn-ea"/>
              </a:rPr>
              <a:t>AR3=AR3+1=0081h</a:t>
            </a:r>
          </a:p>
        </p:txBody>
      </p:sp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3487472" y="4985790"/>
            <a:ext cx="90858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0080h</a:t>
            </a:r>
            <a:endParaRPr lang="en-US" altLang="zh-CN" sz="2000" b="1" baseline="-25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1" name="Text Box 42"/>
          <p:cNvSpPr txBox="1">
            <a:spLocks noChangeArrowheads="1"/>
          </p:cNvSpPr>
          <p:nvPr/>
        </p:nvSpPr>
        <p:spPr bwMode="auto">
          <a:xfrm>
            <a:off x="4442321" y="4767766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7030A0"/>
                </a:solidFill>
                <a:latin typeface="+mn-ea"/>
              </a:rPr>
              <a:t>b</a:t>
            </a:r>
            <a:endParaRPr lang="en-US" altLang="zh-CN" sz="2000" b="1" baseline="-25000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sp>
        <p:nvSpPr>
          <p:cNvPr id="22" name="Text Box 43"/>
          <p:cNvSpPr txBox="1">
            <a:spLocks noChangeArrowheads="1"/>
          </p:cNvSpPr>
          <p:nvPr/>
        </p:nvSpPr>
        <p:spPr bwMode="auto">
          <a:xfrm>
            <a:off x="4442321" y="5167816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7030A0"/>
                </a:solidFill>
                <a:latin typeface="+mn-ea"/>
                <a:ea typeface="+mn-ea"/>
              </a:rPr>
              <a:t>a</a:t>
            </a:r>
          </a:p>
        </p:txBody>
      </p:sp>
      <p:sp>
        <p:nvSpPr>
          <p:cNvPr id="23" name="Text Box 44"/>
          <p:cNvSpPr txBox="1">
            <a:spLocks noChangeArrowheads="1"/>
          </p:cNvSpPr>
          <p:nvPr/>
        </p:nvSpPr>
        <p:spPr bwMode="auto">
          <a:xfrm>
            <a:off x="4442321" y="5567866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660066"/>
                </a:solidFill>
                <a:latin typeface="+mn-ea"/>
                <a:ea typeface="+mn-ea"/>
              </a:rPr>
              <a:t>x</a:t>
            </a:r>
          </a:p>
        </p:txBody>
      </p:sp>
      <p:sp>
        <p:nvSpPr>
          <p:cNvPr id="24" name="Text Box 45"/>
          <p:cNvSpPr txBox="1">
            <a:spLocks noChangeArrowheads="1"/>
          </p:cNvSpPr>
          <p:nvPr/>
        </p:nvSpPr>
        <p:spPr bwMode="auto">
          <a:xfrm>
            <a:off x="4442321" y="5969504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660066"/>
                </a:solidFill>
                <a:latin typeface="+mn-ea"/>
                <a:ea typeface="+mn-ea"/>
              </a:rPr>
              <a:t>y</a:t>
            </a:r>
          </a:p>
        </p:txBody>
      </p:sp>
      <p:sp>
        <p:nvSpPr>
          <p:cNvPr id="25" name="Text Box 67"/>
          <p:cNvSpPr txBox="1">
            <a:spLocks noChangeArrowheads="1"/>
          </p:cNvSpPr>
          <p:nvPr/>
        </p:nvSpPr>
        <p:spPr bwMode="auto">
          <a:xfrm>
            <a:off x="3884512" y="6375820"/>
            <a:ext cx="21364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FF00FF"/>
                </a:solidFill>
              </a:rPr>
              <a:t>数据</a:t>
            </a:r>
            <a:r>
              <a:rPr lang="zh-CN" altLang="en-US" sz="2000" b="1" dirty="0">
                <a:solidFill>
                  <a:srgbClr val="FF00FF"/>
                </a:solidFill>
              </a:rPr>
              <a:t>存储器</a:t>
            </a:r>
            <a:r>
              <a:rPr lang="en-US" altLang="zh-CN" sz="2000" dirty="0">
                <a:solidFill>
                  <a:srgbClr val="FF6600"/>
                </a:solidFill>
              </a:rPr>
              <a:t>RAM</a:t>
            </a:r>
            <a:endParaRPr lang="zh-CN" altLang="en-US" sz="2000" b="1" dirty="0">
              <a:solidFill>
                <a:srgbClr val="FF00FF"/>
              </a:solidFill>
            </a:endParaRPr>
          </a:p>
        </p:txBody>
      </p:sp>
      <p:sp>
        <p:nvSpPr>
          <p:cNvPr id="26" name="Line 7"/>
          <p:cNvSpPr>
            <a:spLocks noChangeShapeType="1"/>
          </p:cNvSpPr>
          <p:nvPr/>
        </p:nvSpPr>
        <p:spPr bwMode="auto">
          <a:xfrm>
            <a:off x="3505934" y="5003541"/>
            <a:ext cx="936387" cy="219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 flipV="1">
            <a:off x="5477285" y="4978941"/>
            <a:ext cx="3026555" cy="9978"/>
          </a:xfrm>
          <a:prstGeom prst="line">
            <a:avLst/>
          </a:prstGeom>
          <a:noFill/>
          <a:ln w="38100">
            <a:solidFill>
              <a:schemeClr val="accent2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3676933" y="4644415"/>
            <a:ext cx="5312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DA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557327" y="4624614"/>
            <a:ext cx="772242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2"/>
                </a:solidFill>
                <a:latin typeface="+mn-ea"/>
                <a:ea typeface="+mn-ea"/>
              </a:rPr>
              <a:t>DB=b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grpSp>
        <p:nvGrpSpPr>
          <p:cNvPr id="49" name="Group 93"/>
          <p:cNvGrpSpPr>
            <a:grpSpLocks/>
          </p:cNvGrpSpPr>
          <p:nvPr/>
        </p:nvGrpSpPr>
        <p:grpSpPr bwMode="auto">
          <a:xfrm>
            <a:off x="7163400" y="5585177"/>
            <a:ext cx="1871662" cy="349249"/>
            <a:chOff x="-567" y="3621"/>
            <a:chExt cx="1360" cy="220"/>
          </a:xfrm>
        </p:grpSpPr>
        <p:sp>
          <p:nvSpPr>
            <p:cNvPr id="50" name="AutoShape 64"/>
            <p:cNvSpPr>
              <a:spLocks noChangeArrowheads="1"/>
            </p:cNvSpPr>
            <p:nvPr/>
          </p:nvSpPr>
          <p:spPr bwMode="auto">
            <a:xfrm>
              <a:off x="-567" y="3702"/>
              <a:ext cx="1360" cy="136"/>
            </a:xfrm>
            <a:custGeom>
              <a:avLst/>
              <a:gdLst>
                <a:gd name="T0" fmla="*/ 5 w 21600"/>
                <a:gd name="T1" fmla="*/ 0 h 21600"/>
                <a:gd name="T2" fmla="*/ 3 w 21600"/>
                <a:gd name="T3" fmla="*/ 0 h 21600"/>
                <a:gd name="T4" fmla="*/ 1 w 21600"/>
                <a:gd name="T5" fmla="*/ 0 h 21600"/>
                <a:gd name="T6" fmla="*/ 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447 h 21600"/>
                <a:gd name="T14" fmla="*/ 17105 w 21600"/>
                <a:gd name="T15" fmla="*/ 1715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Text Box 65"/>
            <p:cNvSpPr txBox="1">
              <a:spLocks noChangeArrowheads="1"/>
            </p:cNvSpPr>
            <p:nvPr/>
          </p:nvSpPr>
          <p:spPr bwMode="auto">
            <a:xfrm>
              <a:off x="-409" y="3702"/>
              <a:ext cx="18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>
                  <a:solidFill>
                    <a:schemeClr val="hlink"/>
                  </a:solidFill>
                </a:rPr>
                <a:t>Y</a:t>
              </a:r>
            </a:p>
          </p:txBody>
        </p:sp>
        <p:sp>
          <p:nvSpPr>
            <p:cNvPr id="52" name="Text Box 72"/>
            <p:cNvSpPr txBox="1">
              <a:spLocks noChangeArrowheads="1"/>
            </p:cNvSpPr>
            <p:nvPr/>
          </p:nvSpPr>
          <p:spPr bwMode="auto">
            <a:xfrm>
              <a:off x="407" y="3702"/>
              <a:ext cx="18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 dirty="0">
                  <a:solidFill>
                    <a:schemeClr val="hlink"/>
                  </a:solidFill>
                </a:rPr>
                <a:t>X</a:t>
              </a:r>
            </a:p>
          </p:txBody>
        </p:sp>
        <p:sp>
          <p:nvSpPr>
            <p:cNvPr id="53" name="Rectangle 73"/>
            <p:cNvSpPr>
              <a:spLocks noChangeArrowheads="1"/>
            </p:cNvSpPr>
            <p:nvPr/>
          </p:nvSpPr>
          <p:spPr bwMode="auto">
            <a:xfrm>
              <a:off x="-250" y="3702"/>
              <a:ext cx="658" cy="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4" name="Rectangle 74"/>
            <p:cNvSpPr>
              <a:spLocks noChangeArrowheads="1"/>
            </p:cNvSpPr>
            <p:nvPr/>
          </p:nvSpPr>
          <p:spPr bwMode="auto">
            <a:xfrm>
              <a:off x="-250" y="3621"/>
              <a:ext cx="658" cy="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5" name="Text Box 75"/>
            <p:cNvSpPr txBox="1">
              <a:spLocks noChangeArrowheads="1"/>
            </p:cNvSpPr>
            <p:nvPr/>
          </p:nvSpPr>
          <p:spPr bwMode="auto">
            <a:xfrm>
              <a:off x="-202" y="3725"/>
              <a:ext cx="568" cy="116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dirty="0">
                  <a:solidFill>
                    <a:schemeClr val="accent2"/>
                  </a:solidFill>
                </a:rPr>
                <a:t>40</a:t>
              </a:r>
              <a:r>
                <a:rPr lang="zh-CN" altLang="en-US" sz="1200" dirty="0">
                  <a:solidFill>
                    <a:schemeClr val="accent2"/>
                  </a:solidFill>
                </a:rPr>
                <a:t>位</a:t>
              </a:r>
              <a:r>
                <a:rPr lang="en-US" altLang="zh-CN" sz="1200" dirty="0">
                  <a:solidFill>
                    <a:schemeClr val="accent2"/>
                  </a:solidFill>
                </a:rPr>
                <a:t>ALU</a:t>
              </a:r>
            </a:p>
          </p:txBody>
        </p:sp>
      </p:grpSp>
      <p:sp>
        <p:nvSpPr>
          <p:cNvPr id="56" name="Text Box 86"/>
          <p:cNvSpPr txBox="1">
            <a:spLocks noChangeArrowheads="1"/>
          </p:cNvSpPr>
          <p:nvPr/>
        </p:nvSpPr>
        <p:spPr bwMode="auto">
          <a:xfrm>
            <a:off x="5523889" y="5474122"/>
            <a:ext cx="825042" cy="184666"/>
          </a:xfrm>
          <a:prstGeom prst="rect">
            <a:avLst/>
          </a:prstGeom>
          <a:solidFill>
            <a:srgbClr val="FFFF99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200" dirty="0">
                <a:solidFill>
                  <a:schemeClr val="accent2"/>
                </a:solidFill>
              </a:rPr>
              <a:t>累加器</a:t>
            </a:r>
            <a:r>
              <a:rPr lang="en-US" altLang="zh-CN" sz="1200" dirty="0">
                <a:solidFill>
                  <a:schemeClr val="accent2"/>
                </a:solidFill>
              </a:rPr>
              <a:t>A=b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57" name="Text Box 87"/>
          <p:cNvSpPr txBox="1">
            <a:spLocks noChangeArrowheads="1"/>
          </p:cNvSpPr>
          <p:nvPr/>
        </p:nvSpPr>
        <p:spPr bwMode="auto">
          <a:xfrm>
            <a:off x="6397819" y="5469489"/>
            <a:ext cx="663979" cy="184666"/>
          </a:xfrm>
          <a:prstGeom prst="rect">
            <a:avLst/>
          </a:prstGeom>
          <a:solidFill>
            <a:srgbClr val="FF00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200" dirty="0">
                <a:solidFill>
                  <a:schemeClr val="hlink"/>
                </a:solidFill>
              </a:rPr>
              <a:t>累加器</a:t>
            </a:r>
            <a:r>
              <a:rPr lang="en-US" altLang="zh-CN" sz="1200" dirty="0">
                <a:solidFill>
                  <a:schemeClr val="hlink"/>
                </a:solidFill>
              </a:rPr>
              <a:t>B</a:t>
            </a:r>
            <a:endParaRPr lang="zh-CN" altLang="en-US" sz="1200" dirty="0">
              <a:solidFill>
                <a:schemeClr val="hlink"/>
              </a:solidFill>
            </a:endParaRPr>
          </a:p>
        </p:txBody>
      </p:sp>
      <p:grpSp>
        <p:nvGrpSpPr>
          <p:cNvPr id="58" name="Group 91"/>
          <p:cNvGrpSpPr>
            <a:grpSpLocks/>
          </p:cNvGrpSpPr>
          <p:nvPr/>
        </p:nvGrpSpPr>
        <p:grpSpPr bwMode="auto">
          <a:xfrm>
            <a:off x="6058956" y="5799489"/>
            <a:ext cx="823913" cy="204788"/>
            <a:chOff x="907" y="3226"/>
            <a:chExt cx="519" cy="129"/>
          </a:xfrm>
        </p:grpSpPr>
        <p:sp>
          <p:nvSpPr>
            <p:cNvPr id="59" name="AutoShape 89"/>
            <p:cNvSpPr>
              <a:spLocks noChangeArrowheads="1"/>
            </p:cNvSpPr>
            <p:nvPr/>
          </p:nvSpPr>
          <p:spPr bwMode="auto">
            <a:xfrm rot="10800000">
              <a:off x="907" y="3226"/>
              <a:ext cx="519" cy="1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21 h 21600"/>
                <a:gd name="T14" fmla="*/ 17105 w 21600"/>
                <a:gd name="T15" fmla="*/ 1707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Text Box 90"/>
            <p:cNvSpPr txBox="1">
              <a:spLocks noChangeArrowheads="1"/>
            </p:cNvSpPr>
            <p:nvPr/>
          </p:nvSpPr>
          <p:spPr bwMode="auto">
            <a:xfrm>
              <a:off x="1019" y="3249"/>
              <a:ext cx="295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 dirty="0">
                  <a:solidFill>
                    <a:srgbClr val="FFC000"/>
                  </a:solidFill>
                </a:rPr>
                <a:t>MUX</a:t>
              </a:r>
            </a:p>
          </p:txBody>
        </p:sp>
      </p:grpSp>
      <p:grpSp>
        <p:nvGrpSpPr>
          <p:cNvPr id="61" name="Group 94"/>
          <p:cNvGrpSpPr>
            <a:grpSpLocks/>
          </p:cNvGrpSpPr>
          <p:nvPr/>
        </p:nvGrpSpPr>
        <p:grpSpPr bwMode="auto">
          <a:xfrm>
            <a:off x="8034075" y="5228060"/>
            <a:ext cx="895350" cy="195262"/>
            <a:chOff x="-723" y="2568"/>
            <a:chExt cx="519" cy="91"/>
          </a:xfrm>
        </p:grpSpPr>
        <p:sp>
          <p:nvSpPr>
            <p:cNvPr id="65" name="AutoShape 95"/>
            <p:cNvSpPr>
              <a:spLocks noChangeArrowheads="1"/>
            </p:cNvSpPr>
            <p:nvPr/>
          </p:nvSpPr>
          <p:spPr bwMode="auto">
            <a:xfrm>
              <a:off x="-723" y="2568"/>
              <a:ext cx="51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10 h 21600"/>
                <a:gd name="T14" fmla="*/ 17105 w 21600"/>
                <a:gd name="T15" fmla="*/ 170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Text Box 96"/>
            <p:cNvSpPr txBox="1">
              <a:spLocks noChangeArrowheads="1"/>
            </p:cNvSpPr>
            <p:nvPr/>
          </p:nvSpPr>
          <p:spPr bwMode="auto">
            <a:xfrm>
              <a:off x="-682" y="2568"/>
              <a:ext cx="453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000">
                  <a:solidFill>
                    <a:schemeClr val="tx2"/>
                  </a:solidFill>
                </a:rPr>
                <a:t>符号控制器</a:t>
              </a:r>
            </a:p>
          </p:txBody>
        </p:sp>
      </p:grpSp>
      <p:grpSp>
        <p:nvGrpSpPr>
          <p:cNvPr id="67" name="Group 97"/>
          <p:cNvGrpSpPr>
            <a:grpSpLocks/>
          </p:cNvGrpSpPr>
          <p:nvPr/>
        </p:nvGrpSpPr>
        <p:grpSpPr bwMode="auto">
          <a:xfrm>
            <a:off x="7121263" y="5231235"/>
            <a:ext cx="895350" cy="195262"/>
            <a:chOff x="-723" y="2568"/>
            <a:chExt cx="519" cy="91"/>
          </a:xfrm>
        </p:grpSpPr>
        <p:sp>
          <p:nvSpPr>
            <p:cNvPr id="68" name="AutoShape 98"/>
            <p:cNvSpPr>
              <a:spLocks noChangeArrowheads="1"/>
            </p:cNvSpPr>
            <p:nvPr/>
          </p:nvSpPr>
          <p:spPr bwMode="auto">
            <a:xfrm>
              <a:off x="-723" y="2568"/>
              <a:ext cx="51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10 h 21600"/>
                <a:gd name="T14" fmla="*/ 17105 w 21600"/>
                <a:gd name="T15" fmla="*/ 170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Text Box 99"/>
            <p:cNvSpPr txBox="1">
              <a:spLocks noChangeArrowheads="1"/>
            </p:cNvSpPr>
            <p:nvPr/>
          </p:nvSpPr>
          <p:spPr bwMode="auto">
            <a:xfrm>
              <a:off x="-682" y="2568"/>
              <a:ext cx="453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000">
                  <a:solidFill>
                    <a:schemeClr val="tx2"/>
                  </a:solidFill>
                </a:rPr>
                <a:t>符号控制器</a:t>
              </a:r>
            </a:p>
          </p:txBody>
        </p:sp>
      </p:grpSp>
      <p:sp>
        <p:nvSpPr>
          <p:cNvPr id="72" name="Line 153"/>
          <p:cNvSpPr>
            <a:spLocks noChangeShapeType="1"/>
          </p:cNvSpPr>
          <p:nvPr/>
        </p:nvSpPr>
        <p:spPr bwMode="auto">
          <a:xfrm flipH="1">
            <a:off x="6342661" y="6012215"/>
            <a:ext cx="3627" cy="225097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3" name="Line 154"/>
          <p:cNvSpPr>
            <a:spLocks noChangeShapeType="1"/>
          </p:cNvSpPr>
          <p:nvPr/>
        </p:nvSpPr>
        <p:spPr bwMode="auto">
          <a:xfrm flipH="1">
            <a:off x="5877981" y="5660438"/>
            <a:ext cx="1588" cy="431800"/>
          </a:xfrm>
          <a:prstGeom prst="line">
            <a:avLst/>
          </a:prstGeom>
          <a:noFill/>
          <a:ln w="19050">
            <a:solidFill>
              <a:srgbClr val="33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4" name="Line 155"/>
          <p:cNvSpPr>
            <a:spLocks noChangeShapeType="1"/>
          </p:cNvSpPr>
          <p:nvPr/>
        </p:nvSpPr>
        <p:spPr bwMode="auto">
          <a:xfrm>
            <a:off x="5877981" y="6083652"/>
            <a:ext cx="323850" cy="0"/>
          </a:xfrm>
          <a:prstGeom prst="line">
            <a:avLst/>
          </a:prstGeom>
          <a:noFill/>
          <a:ln w="19050">
            <a:solidFill>
              <a:srgbClr val="33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5" name="Line 156"/>
          <p:cNvSpPr>
            <a:spLocks noChangeShapeType="1"/>
          </p:cNvSpPr>
          <p:nvPr/>
        </p:nvSpPr>
        <p:spPr bwMode="auto">
          <a:xfrm flipH="1">
            <a:off x="6187544" y="5991577"/>
            <a:ext cx="0" cy="107950"/>
          </a:xfrm>
          <a:prstGeom prst="line">
            <a:avLst/>
          </a:prstGeom>
          <a:noFill/>
          <a:ln w="19050">
            <a:solidFill>
              <a:srgbClr val="33CCFF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6" name="Line 157"/>
          <p:cNvSpPr>
            <a:spLocks noChangeShapeType="1"/>
          </p:cNvSpPr>
          <p:nvPr/>
        </p:nvSpPr>
        <p:spPr bwMode="auto">
          <a:xfrm flipH="1">
            <a:off x="7001931" y="5651852"/>
            <a:ext cx="1588" cy="431800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7" name="Line 158"/>
          <p:cNvSpPr>
            <a:spLocks noChangeShapeType="1"/>
          </p:cNvSpPr>
          <p:nvPr/>
        </p:nvSpPr>
        <p:spPr bwMode="auto">
          <a:xfrm>
            <a:off x="6670144" y="6083652"/>
            <a:ext cx="323850" cy="0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" name="Line 159"/>
          <p:cNvSpPr>
            <a:spLocks noChangeShapeType="1"/>
          </p:cNvSpPr>
          <p:nvPr/>
        </p:nvSpPr>
        <p:spPr bwMode="auto">
          <a:xfrm flipH="1">
            <a:off x="6676315" y="5983639"/>
            <a:ext cx="0" cy="107950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9" name="Line 160"/>
          <p:cNvSpPr>
            <a:spLocks noChangeShapeType="1"/>
          </p:cNvSpPr>
          <p:nvPr/>
        </p:nvSpPr>
        <p:spPr bwMode="auto">
          <a:xfrm>
            <a:off x="6166906" y="5759802"/>
            <a:ext cx="308837" cy="0"/>
          </a:xfrm>
          <a:prstGeom prst="line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0" name="Line 161"/>
          <p:cNvSpPr>
            <a:spLocks noChangeShapeType="1"/>
          </p:cNvSpPr>
          <p:nvPr/>
        </p:nvSpPr>
        <p:spPr bwMode="auto">
          <a:xfrm flipH="1">
            <a:off x="6706656" y="5651852"/>
            <a:ext cx="0" cy="10795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1" name="Line 162"/>
          <p:cNvSpPr>
            <a:spLocks noChangeShapeType="1"/>
          </p:cNvSpPr>
          <p:nvPr/>
        </p:nvSpPr>
        <p:spPr bwMode="auto">
          <a:xfrm flipH="1">
            <a:off x="6166906" y="5651852"/>
            <a:ext cx="0" cy="107950"/>
          </a:xfrm>
          <a:prstGeom prst="line">
            <a:avLst/>
          </a:prstGeom>
          <a:noFill/>
          <a:ln w="19050">
            <a:solidFill>
              <a:schemeClr val="accent2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2" name="Line 163"/>
          <p:cNvSpPr>
            <a:spLocks noChangeShapeType="1"/>
          </p:cNvSpPr>
          <p:nvPr/>
        </p:nvSpPr>
        <p:spPr bwMode="auto">
          <a:xfrm>
            <a:off x="6490756" y="5761389"/>
            <a:ext cx="0" cy="71438"/>
          </a:xfrm>
          <a:prstGeom prst="line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6" name="Text Box 192"/>
          <p:cNvSpPr txBox="1">
            <a:spLocks noChangeArrowheads="1"/>
          </p:cNvSpPr>
          <p:nvPr/>
        </p:nvSpPr>
        <p:spPr bwMode="auto">
          <a:xfrm>
            <a:off x="5806544" y="5759802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/>
              <a:t>A</a:t>
            </a:r>
          </a:p>
        </p:txBody>
      </p:sp>
      <p:sp>
        <p:nvSpPr>
          <p:cNvPr id="87" name="Text Box 193"/>
          <p:cNvSpPr txBox="1">
            <a:spLocks noChangeArrowheads="1"/>
          </p:cNvSpPr>
          <p:nvPr/>
        </p:nvSpPr>
        <p:spPr bwMode="auto">
          <a:xfrm>
            <a:off x="6706656" y="5796314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/>
              <a:t>B</a:t>
            </a:r>
          </a:p>
        </p:txBody>
      </p:sp>
      <p:sp>
        <p:nvSpPr>
          <p:cNvPr id="90" name="Line 214"/>
          <p:cNvSpPr>
            <a:spLocks noChangeShapeType="1"/>
          </p:cNvSpPr>
          <p:nvPr/>
        </p:nvSpPr>
        <p:spPr bwMode="auto">
          <a:xfrm flipH="1">
            <a:off x="7546847" y="5431260"/>
            <a:ext cx="3175" cy="287337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1" name="Line 215"/>
          <p:cNvSpPr>
            <a:spLocks noChangeShapeType="1"/>
          </p:cNvSpPr>
          <p:nvPr/>
        </p:nvSpPr>
        <p:spPr bwMode="auto">
          <a:xfrm flipH="1">
            <a:off x="8546838" y="5431260"/>
            <a:ext cx="3175" cy="287337"/>
          </a:xfrm>
          <a:prstGeom prst="line">
            <a:avLst/>
          </a:prstGeom>
          <a:noFill/>
          <a:ln w="19050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2" name="Line 216"/>
          <p:cNvSpPr>
            <a:spLocks noChangeShapeType="1"/>
          </p:cNvSpPr>
          <p:nvPr/>
        </p:nvSpPr>
        <p:spPr bwMode="auto">
          <a:xfrm flipV="1">
            <a:off x="6516216" y="6237312"/>
            <a:ext cx="1444894" cy="7029"/>
          </a:xfrm>
          <a:prstGeom prst="line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3" name="Line 217"/>
          <p:cNvSpPr>
            <a:spLocks noChangeShapeType="1"/>
          </p:cNvSpPr>
          <p:nvPr/>
        </p:nvSpPr>
        <p:spPr bwMode="auto">
          <a:xfrm flipH="1" flipV="1">
            <a:off x="6525681" y="6012213"/>
            <a:ext cx="3632" cy="232883"/>
          </a:xfrm>
          <a:prstGeom prst="line">
            <a:avLst/>
          </a:prstGeom>
          <a:noFill/>
          <a:ln w="28575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4" name="Line 218"/>
          <p:cNvSpPr>
            <a:spLocks noChangeShapeType="1"/>
          </p:cNvSpPr>
          <p:nvPr/>
        </p:nvSpPr>
        <p:spPr bwMode="auto">
          <a:xfrm flipV="1">
            <a:off x="7961110" y="5944467"/>
            <a:ext cx="0" cy="288082"/>
          </a:xfrm>
          <a:prstGeom prst="line">
            <a:avLst/>
          </a:prstGeom>
          <a:noFill/>
          <a:ln w="28575" cap="sq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5" name="Text Box 219"/>
          <p:cNvSpPr txBox="1">
            <a:spLocks noChangeArrowheads="1"/>
          </p:cNvSpPr>
          <p:nvPr/>
        </p:nvSpPr>
        <p:spPr bwMode="auto">
          <a:xfrm>
            <a:off x="7035538" y="5504285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/>
              <a:t>Y</a:t>
            </a:r>
          </a:p>
        </p:txBody>
      </p:sp>
      <p:sp>
        <p:nvSpPr>
          <p:cNvPr id="96" name="Text Box 220"/>
          <p:cNvSpPr txBox="1">
            <a:spLocks noChangeArrowheads="1"/>
          </p:cNvSpPr>
          <p:nvPr/>
        </p:nvSpPr>
        <p:spPr bwMode="auto">
          <a:xfrm>
            <a:off x="8546838" y="5504285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chemeClr val="accent2"/>
                </a:solidFill>
              </a:rPr>
              <a:t>X</a:t>
            </a:r>
          </a:p>
        </p:txBody>
      </p:sp>
      <p:sp>
        <p:nvSpPr>
          <p:cNvPr id="102" name="Text Box 230"/>
          <p:cNvSpPr txBox="1">
            <a:spLocks noChangeArrowheads="1"/>
          </p:cNvSpPr>
          <p:nvPr/>
        </p:nvSpPr>
        <p:spPr bwMode="auto">
          <a:xfrm>
            <a:off x="8143477" y="5039178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chemeClr val="accent2"/>
                </a:solidFill>
              </a:rPr>
              <a:t>D</a:t>
            </a:r>
          </a:p>
        </p:txBody>
      </p:sp>
      <p:sp>
        <p:nvSpPr>
          <p:cNvPr id="109" name="Line 7"/>
          <p:cNvSpPr>
            <a:spLocks noChangeShapeType="1"/>
          </p:cNvSpPr>
          <p:nvPr/>
        </p:nvSpPr>
        <p:spPr bwMode="auto">
          <a:xfrm flipH="1">
            <a:off x="8487430" y="4993676"/>
            <a:ext cx="0" cy="231158"/>
          </a:xfrm>
          <a:prstGeom prst="line">
            <a:avLst/>
          </a:prstGeom>
          <a:noFill/>
          <a:ln w="38100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0" name="Line 160"/>
          <p:cNvSpPr>
            <a:spLocks noChangeShapeType="1"/>
          </p:cNvSpPr>
          <p:nvPr/>
        </p:nvSpPr>
        <p:spPr bwMode="auto">
          <a:xfrm flipV="1">
            <a:off x="6490756" y="5759802"/>
            <a:ext cx="214313" cy="336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1" name="Line 162"/>
          <p:cNvSpPr>
            <a:spLocks noChangeShapeType="1"/>
          </p:cNvSpPr>
          <p:nvPr/>
        </p:nvSpPr>
        <p:spPr bwMode="auto">
          <a:xfrm flipH="1">
            <a:off x="5936410" y="5367871"/>
            <a:ext cx="0" cy="107950"/>
          </a:xfrm>
          <a:prstGeom prst="line">
            <a:avLst/>
          </a:prstGeom>
          <a:noFill/>
          <a:ln w="19050">
            <a:solidFill>
              <a:schemeClr val="accent2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" name="Text Box 192"/>
          <p:cNvSpPr txBox="1">
            <a:spLocks noChangeArrowheads="1"/>
          </p:cNvSpPr>
          <p:nvPr/>
        </p:nvSpPr>
        <p:spPr bwMode="auto">
          <a:xfrm>
            <a:off x="5562216" y="5282027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chemeClr val="accent2"/>
                </a:solidFill>
              </a:rPr>
              <a:t>A=b</a:t>
            </a:r>
          </a:p>
        </p:txBody>
      </p:sp>
      <p:sp>
        <p:nvSpPr>
          <p:cNvPr id="62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16694" y="6285209"/>
            <a:ext cx="514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0" dirty="0"/>
              <a:t>18</a:t>
            </a:r>
          </a:p>
        </p:txBody>
      </p:sp>
      <p:sp>
        <p:nvSpPr>
          <p:cNvPr id="2" name="矩形 1"/>
          <p:cNvSpPr/>
          <p:nvPr/>
        </p:nvSpPr>
        <p:spPr>
          <a:xfrm>
            <a:off x="3676933" y="4389517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①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227394" y="4606256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③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000224" y="4766942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②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6939992" y="6240826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④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924218" y="5037872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⑤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835788" y="5309246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54016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Box 52"/>
          <p:cNvSpPr txBox="1">
            <a:spLocks noChangeArrowheads="1"/>
          </p:cNvSpPr>
          <p:nvPr/>
        </p:nvSpPr>
        <p:spPr bwMode="auto">
          <a:xfrm>
            <a:off x="3521201" y="4947704"/>
            <a:ext cx="938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FF9933"/>
                </a:solidFill>
                <a:latin typeface="+mn-ea"/>
                <a:ea typeface="+mn-ea"/>
              </a:rPr>
              <a:t>2081h</a:t>
            </a:r>
            <a:endParaRPr lang="en-US" altLang="zh-CN" sz="2000" b="1" baseline="-25000" dirty="0">
              <a:solidFill>
                <a:srgbClr val="FF9933"/>
              </a:solidFill>
              <a:latin typeface="+mn-ea"/>
              <a:ea typeface="+mn-ea"/>
            </a:endParaRPr>
          </a:p>
        </p:txBody>
      </p:sp>
      <p:sp>
        <p:nvSpPr>
          <p:cNvPr id="238" name="Text Box 56"/>
          <p:cNvSpPr txBox="1">
            <a:spLocks noChangeArrowheads="1"/>
          </p:cNvSpPr>
          <p:nvPr/>
        </p:nvSpPr>
        <p:spPr bwMode="auto">
          <a:xfrm>
            <a:off x="4499992" y="4378118"/>
            <a:ext cx="2455838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LD  *AR3+</a:t>
            </a:r>
            <a:r>
              <a:rPr lang="zh-CN" altLang="en-US" sz="2000" dirty="0">
                <a:solidFill>
                  <a:schemeClr val="folHlink"/>
                </a:solidFill>
                <a:latin typeface="+mn-ea"/>
                <a:ea typeface="+mn-ea"/>
              </a:rPr>
              <a:t>，</a:t>
            </a: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A</a:t>
            </a:r>
            <a:endParaRPr lang="en-US" altLang="zh-CN" sz="2000" b="1" baseline="-25000" dirty="0">
              <a:solidFill>
                <a:schemeClr val="folHlink"/>
              </a:solidFill>
              <a:latin typeface="+mn-ea"/>
              <a:ea typeface="+mn-ea"/>
            </a:endParaRPr>
          </a:p>
        </p:txBody>
      </p:sp>
      <p:sp>
        <p:nvSpPr>
          <p:cNvPr id="239" name="Text Box 57"/>
          <p:cNvSpPr txBox="1">
            <a:spLocks noChangeArrowheads="1"/>
          </p:cNvSpPr>
          <p:nvPr/>
        </p:nvSpPr>
        <p:spPr bwMode="auto">
          <a:xfrm>
            <a:off x="4499992" y="4778168"/>
            <a:ext cx="2455838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MAC *AR3</a:t>
            </a:r>
            <a:r>
              <a:rPr lang="zh-CN" altLang="en-US" sz="2000" dirty="0">
                <a:solidFill>
                  <a:schemeClr val="folHlink"/>
                </a:solidFill>
                <a:latin typeface="+mn-ea"/>
                <a:ea typeface="+mn-ea"/>
              </a:rPr>
              <a:t>，*</a:t>
            </a: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AR4+,A</a:t>
            </a:r>
            <a:endParaRPr lang="en-US" altLang="zh-CN" sz="2000" b="1" baseline="-25000" dirty="0">
              <a:solidFill>
                <a:schemeClr val="folHlink"/>
              </a:solidFill>
              <a:latin typeface="+mn-ea"/>
              <a:ea typeface="+mn-ea"/>
            </a:endParaRPr>
          </a:p>
        </p:txBody>
      </p:sp>
      <p:sp>
        <p:nvSpPr>
          <p:cNvPr id="240" name="Text Box 58"/>
          <p:cNvSpPr txBox="1">
            <a:spLocks noChangeArrowheads="1"/>
          </p:cNvSpPr>
          <p:nvPr/>
        </p:nvSpPr>
        <p:spPr bwMode="auto">
          <a:xfrm>
            <a:off x="4499992" y="5178218"/>
            <a:ext cx="2455838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STL A</a:t>
            </a:r>
            <a:r>
              <a:rPr lang="zh-CN" altLang="en-US" sz="2000" dirty="0">
                <a:solidFill>
                  <a:schemeClr val="folHlink"/>
                </a:solidFill>
                <a:latin typeface="+mn-ea"/>
                <a:ea typeface="+mn-ea"/>
              </a:rPr>
              <a:t>，*</a:t>
            </a: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AR4</a:t>
            </a:r>
          </a:p>
        </p:txBody>
      </p:sp>
      <p:sp>
        <p:nvSpPr>
          <p:cNvPr id="245" name="Text Box 67"/>
          <p:cNvSpPr txBox="1">
            <a:spLocks noChangeArrowheads="1"/>
          </p:cNvSpPr>
          <p:nvPr/>
        </p:nvSpPr>
        <p:spPr bwMode="auto">
          <a:xfrm>
            <a:off x="4572000" y="5658765"/>
            <a:ext cx="21023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FF"/>
                </a:solidFill>
              </a:rPr>
              <a:t>程序存储器</a:t>
            </a:r>
            <a:r>
              <a:rPr lang="en-US" altLang="zh-CN" sz="2000" dirty="0">
                <a:solidFill>
                  <a:srgbClr val="FF6600"/>
                </a:solidFill>
              </a:rPr>
              <a:t>ROM</a:t>
            </a:r>
            <a:endParaRPr lang="zh-CN" altLang="en-US" sz="2000" b="1" dirty="0">
              <a:solidFill>
                <a:srgbClr val="FF00FF"/>
              </a:solidFill>
            </a:endParaRPr>
          </a:p>
        </p:txBody>
      </p:sp>
      <p:sp>
        <p:nvSpPr>
          <p:cNvPr id="251" name="矩形 250"/>
          <p:cNvSpPr/>
          <p:nvPr/>
        </p:nvSpPr>
        <p:spPr>
          <a:xfrm>
            <a:off x="107504" y="1068648"/>
            <a:ext cx="882097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9138" eaLnBrk="1" hangingPunct="1"/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、执行第二条指令：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MAC *AR3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，*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AR4+,A</a:t>
            </a:r>
          </a:p>
          <a:p>
            <a:pPr indent="719138" eaLnBrk="1" hangingPunct="1"/>
            <a:r>
              <a:rPr lang="zh-CN" altLang="en-US" sz="2800" dirty="0">
                <a:latin typeface="+mn-ea"/>
                <a:ea typeface="+mn-ea"/>
              </a:rPr>
              <a:t>（</a:t>
            </a:r>
            <a:r>
              <a:rPr lang="en-US" altLang="zh-CN" sz="2800" dirty="0">
                <a:latin typeface="+mn-ea"/>
                <a:ea typeface="+mn-ea"/>
              </a:rPr>
              <a:t>1</a:t>
            </a:r>
            <a:r>
              <a:rPr lang="zh-CN" altLang="en-US" sz="2800" dirty="0">
                <a:latin typeface="+mn-ea"/>
                <a:ea typeface="+mn-ea"/>
              </a:rPr>
              <a:t>） </a:t>
            </a:r>
            <a:r>
              <a:rPr lang="en-US" altLang="zh-CN" sz="2800" dirty="0">
                <a:latin typeface="+mn-ea"/>
                <a:ea typeface="+mn-ea"/>
              </a:rPr>
              <a:t>CPU</a:t>
            </a:r>
            <a:r>
              <a:rPr lang="zh-CN" altLang="en-US" sz="2800" dirty="0">
                <a:latin typeface="+mn-ea"/>
                <a:ea typeface="+mn-ea"/>
              </a:rPr>
              <a:t>的程序地址产生逻辑（</a:t>
            </a:r>
            <a:r>
              <a:rPr lang="en-US" altLang="zh-CN" sz="2800" dirty="0">
                <a:latin typeface="+mn-ea"/>
                <a:ea typeface="+mn-ea"/>
              </a:rPr>
              <a:t>PAGEN</a:t>
            </a:r>
            <a:r>
              <a:rPr lang="zh-CN" altLang="en-US" sz="2800" dirty="0">
                <a:latin typeface="+mn-ea"/>
                <a:ea typeface="+mn-ea"/>
              </a:rPr>
              <a:t>）将</a:t>
            </a:r>
            <a:r>
              <a:rPr lang="en-US" altLang="zh-CN" sz="2800" dirty="0">
                <a:latin typeface="+mn-ea"/>
                <a:ea typeface="+mn-ea"/>
              </a:rPr>
              <a:t>PC=2081h</a:t>
            </a:r>
            <a:r>
              <a:rPr lang="zh-CN" altLang="en-US" sz="2800" dirty="0">
                <a:latin typeface="+mn-ea"/>
                <a:ea typeface="+mn-ea"/>
              </a:rPr>
              <a:t>放到地址总线</a:t>
            </a:r>
            <a:r>
              <a:rPr lang="en-US" altLang="zh-CN" sz="2800" dirty="0">
                <a:latin typeface="+mn-ea"/>
                <a:ea typeface="+mn-ea"/>
              </a:rPr>
              <a:t>PA</a:t>
            </a:r>
            <a:r>
              <a:rPr lang="zh-CN" altLang="en-US" sz="2800" dirty="0">
                <a:latin typeface="+mn-ea"/>
                <a:ea typeface="+mn-ea"/>
              </a:rPr>
              <a:t>上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①</a:t>
            </a:r>
            <a:r>
              <a:rPr lang="zh-CN" altLang="en-US" sz="2800" dirty="0">
                <a:latin typeface="+mn-ea"/>
                <a:ea typeface="+mn-ea"/>
              </a:rPr>
              <a:t>，程序存储器</a:t>
            </a:r>
            <a:r>
              <a:rPr lang="en-US" altLang="zh-CN" sz="2800" dirty="0">
                <a:latin typeface="+mn-ea"/>
                <a:ea typeface="+mn-ea"/>
              </a:rPr>
              <a:t>ROM</a:t>
            </a:r>
            <a:r>
              <a:rPr lang="zh-CN" altLang="en-US" sz="2800" dirty="0">
                <a:latin typeface="+mn-ea"/>
                <a:ea typeface="+mn-ea"/>
              </a:rPr>
              <a:t>译码该地址将第二条指令</a:t>
            </a:r>
            <a:r>
              <a:rPr lang="en-US" altLang="zh-CN" sz="2800" dirty="0">
                <a:latin typeface="+mn-ea"/>
                <a:ea typeface="+mn-ea"/>
              </a:rPr>
              <a:t>MAC *AR3</a:t>
            </a:r>
            <a:r>
              <a:rPr lang="zh-CN" altLang="en-US" sz="2800" dirty="0">
                <a:latin typeface="+mn-ea"/>
                <a:ea typeface="+mn-ea"/>
              </a:rPr>
              <a:t>，*</a:t>
            </a:r>
            <a:r>
              <a:rPr lang="en-US" altLang="zh-CN" sz="2800" dirty="0">
                <a:latin typeface="+mn-ea"/>
                <a:ea typeface="+mn-ea"/>
              </a:rPr>
              <a:t>AR4+,A</a:t>
            </a:r>
            <a:r>
              <a:rPr lang="zh-CN" altLang="en-US" sz="2800" dirty="0">
                <a:latin typeface="+mn-ea"/>
                <a:ea typeface="+mn-ea"/>
              </a:rPr>
              <a:t>对应的代码放到程序总线</a:t>
            </a:r>
            <a:r>
              <a:rPr lang="en-US" altLang="zh-CN" sz="2800" dirty="0">
                <a:latin typeface="+mn-ea"/>
                <a:ea typeface="+mn-ea"/>
              </a:rPr>
              <a:t>PB</a:t>
            </a:r>
            <a:r>
              <a:rPr lang="zh-CN" altLang="en-US" sz="2800" dirty="0">
                <a:latin typeface="+mn-ea"/>
                <a:ea typeface="+mn-ea"/>
              </a:rPr>
              <a:t>上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②</a:t>
            </a:r>
            <a:r>
              <a:rPr lang="zh-CN" altLang="en-US" sz="2800" dirty="0">
                <a:latin typeface="+mn-ea"/>
                <a:ea typeface="+mn-ea"/>
              </a:rPr>
              <a:t>，由指令译码器译码接收。同时使</a:t>
            </a:r>
            <a:r>
              <a:rPr lang="en-US" altLang="zh-CN" sz="2800" dirty="0">
                <a:latin typeface="+mn-ea"/>
                <a:ea typeface="+mn-ea"/>
              </a:rPr>
              <a:t>PC</a:t>
            </a:r>
            <a:r>
              <a:rPr lang="zh-CN" altLang="en-US" sz="2800" dirty="0">
                <a:latin typeface="+mn-ea"/>
                <a:ea typeface="+mn-ea"/>
              </a:rPr>
              <a:t>指针加</a:t>
            </a:r>
            <a:r>
              <a:rPr lang="en-US" altLang="zh-CN" sz="2800" dirty="0">
                <a:latin typeface="+mn-ea"/>
                <a:ea typeface="+mn-ea"/>
              </a:rPr>
              <a:t>1</a:t>
            </a:r>
            <a:r>
              <a:rPr lang="zh-CN" altLang="en-US" sz="2800" dirty="0">
                <a:latin typeface="+mn-ea"/>
                <a:ea typeface="+mn-ea"/>
              </a:rPr>
              <a:t>，指向</a:t>
            </a:r>
            <a:r>
              <a:rPr lang="en-US" altLang="zh-CN" sz="2800" dirty="0">
                <a:latin typeface="+mn-ea"/>
                <a:ea typeface="+mn-ea"/>
              </a:rPr>
              <a:t>PC=2082h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③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3591932" y="4977284"/>
            <a:ext cx="908060" cy="1"/>
          </a:xfrm>
          <a:prstGeom prst="line">
            <a:avLst/>
          </a:prstGeom>
          <a:noFill/>
          <a:ln w="38100">
            <a:solidFill>
              <a:srgbClr val="FF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" name="Line 7"/>
          <p:cNvSpPr>
            <a:spLocks noChangeShapeType="1"/>
          </p:cNvSpPr>
          <p:nvPr/>
        </p:nvSpPr>
        <p:spPr bwMode="auto">
          <a:xfrm flipV="1">
            <a:off x="6953930" y="4977283"/>
            <a:ext cx="630708" cy="0"/>
          </a:xfrm>
          <a:prstGeom prst="line">
            <a:avLst/>
          </a:prstGeom>
          <a:noFill/>
          <a:ln w="38100">
            <a:solidFill>
              <a:srgbClr val="99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756107" y="4601279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9933"/>
                </a:solidFill>
                <a:latin typeface="+mn-ea"/>
                <a:ea typeface="+mn-ea"/>
              </a:rPr>
              <a:t>PA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08964" y="4586105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9900CC"/>
                </a:solidFill>
                <a:latin typeface="+mn-ea"/>
                <a:ea typeface="+mn-ea"/>
              </a:rPr>
              <a:t>PB</a:t>
            </a:r>
            <a:endParaRPr lang="zh-CN" altLang="en-US" dirty="0">
              <a:solidFill>
                <a:srgbClr val="9900CC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6247" y="4601279"/>
            <a:ext cx="3414717" cy="707886"/>
          </a:xfrm>
          <a:prstGeom prst="rect">
            <a:avLst/>
          </a:prstGeom>
          <a:ln>
            <a:solidFill>
              <a:srgbClr val="FF9933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9933"/>
                </a:solidFill>
                <a:latin typeface="+mn-ea"/>
              </a:rPr>
              <a:t>程序地址产生逻辑（</a:t>
            </a:r>
            <a:r>
              <a:rPr lang="en-US" altLang="zh-CN" dirty="0">
                <a:solidFill>
                  <a:srgbClr val="FF9933"/>
                </a:solidFill>
                <a:latin typeface="+mn-ea"/>
              </a:rPr>
              <a:t>PAGEN</a:t>
            </a:r>
            <a:r>
              <a:rPr lang="zh-CN" altLang="en-US" dirty="0">
                <a:solidFill>
                  <a:srgbClr val="FF9933"/>
                </a:solidFill>
                <a:latin typeface="+mn-ea"/>
              </a:rPr>
              <a:t>）</a:t>
            </a:r>
            <a:endParaRPr lang="en-US" altLang="zh-CN" dirty="0">
              <a:solidFill>
                <a:srgbClr val="FF9933"/>
              </a:solidFill>
              <a:latin typeface="+mn-ea"/>
            </a:endParaRPr>
          </a:p>
          <a:p>
            <a:pPr algn="ctr"/>
            <a:r>
              <a:rPr lang="en-US" altLang="zh-CN" dirty="0">
                <a:solidFill>
                  <a:srgbClr val="FF9933"/>
                </a:solidFill>
              </a:rPr>
              <a:t>PC=2081h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584638" y="4776460"/>
            <a:ext cx="1475084" cy="400110"/>
          </a:xfrm>
          <a:prstGeom prst="rect">
            <a:avLst/>
          </a:prstGeom>
          <a:ln>
            <a:solidFill>
              <a:srgbClr val="FF9933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9900CC"/>
                </a:solidFill>
                <a:latin typeface="+mn-ea"/>
              </a:rPr>
              <a:t>指令译码器</a:t>
            </a:r>
            <a:endParaRPr lang="zh-CN" altLang="en-US" dirty="0">
              <a:solidFill>
                <a:srgbClr val="9900CC"/>
              </a:solidFill>
            </a:endParaRPr>
          </a:p>
        </p:txBody>
      </p:sp>
      <p:sp>
        <p:nvSpPr>
          <p:cNvPr id="63" name="Line 7"/>
          <p:cNvSpPr>
            <a:spLocks noChangeShapeType="1"/>
          </p:cNvSpPr>
          <p:nvPr/>
        </p:nvSpPr>
        <p:spPr bwMode="auto">
          <a:xfrm>
            <a:off x="1871700" y="5309166"/>
            <a:ext cx="0" cy="352082"/>
          </a:xfrm>
          <a:prstGeom prst="line">
            <a:avLst/>
          </a:prstGeom>
          <a:noFill/>
          <a:ln w="38100">
            <a:solidFill>
              <a:srgbClr val="FF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160991" y="5658765"/>
            <a:ext cx="3414717" cy="707886"/>
          </a:xfrm>
          <a:prstGeom prst="rect">
            <a:avLst/>
          </a:prstGeom>
          <a:ln>
            <a:solidFill>
              <a:schemeClr val="accent2">
                <a:lumMod val="20000"/>
                <a:lumOff val="8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9933"/>
                </a:solidFill>
                <a:latin typeface="+mn-ea"/>
              </a:rPr>
              <a:t>程序地址产生逻辑（</a:t>
            </a:r>
            <a:r>
              <a:rPr lang="en-US" altLang="zh-CN" dirty="0">
                <a:solidFill>
                  <a:srgbClr val="FF9933"/>
                </a:solidFill>
                <a:latin typeface="+mn-ea"/>
              </a:rPr>
              <a:t>PAGEN</a:t>
            </a:r>
            <a:r>
              <a:rPr lang="zh-CN" altLang="en-US" dirty="0">
                <a:solidFill>
                  <a:srgbClr val="FF9933"/>
                </a:solidFill>
                <a:latin typeface="+mn-ea"/>
              </a:rPr>
              <a:t>）</a:t>
            </a:r>
            <a:endParaRPr lang="en-US" altLang="zh-CN" dirty="0">
              <a:solidFill>
                <a:srgbClr val="FF9933"/>
              </a:solidFill>
              <a:latin typeface="+mn-ea"/>
            </a:endParaRPr>
          </a:p>
          <a:p>
            <a:pPr algn="ctr"/>
            <a:r>
              <a:rPr lang="en-US" altLang="zh-CN" dirty="0">
                <a:solidFill>
                  <a:srgbClr val="FF9933"/>
                </a:solidFill>
              </a:rPr>
              <a:t>PC=PC+1=2082h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172400" y="6245225"/>
            <a:ext cx="514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0" dirty="0"/>
              <a:t>19</a:t>
            </a:r>
          </a:p>
        </p:txBody>
      </p:sp>
      <p:sp>
        <p:nvSpPr>
          <p:cNvPr id="2" name="矩形 1"/>
          <p:cNvSpPr/>
          <p:nvPr/>
        </p:nvSpPr>
        <p:spPr>
          <a:xfrm>
            <a:off x="3757709" y="4319865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①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7008964" y="4276707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64730" y="5285152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4971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矩形 250"/>
          <p:cNvSpPr/>
          <p:nvPr/>
        </p:nvSpPr>
        <p:spPr>
          <a:xfrm>
            <a:off x="71500" y="806041"/>
            <a:ext cx="882097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9138" eaLnBrk="1" hangingPunct="1"/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续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、执行第二条指令：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MAC </a:t>
            </a:r>
            <a:r>
              <a:rPr lang="en-US" altLang="zh-CN" sz="2800" dirty="0">
                <a:solidFill>
                  <a:schemeClr val="accent2"/>
                </a:solidFill>
                <a:latin typeface="+mn-ea"/>
                <a:ea typeface="+mn-ea"/>
              </a:rPr>
              <a:t>*AR3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，*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AR4+,A</a:t>
            </a:r>
          </a:p>
          <a:p>
            <a:pPr indent="719138" eaLnBrk="1" hangingPunct="1"/>
            <a:r>
              <a:rPr lang="zh-CN" altLang="en-US" sz="2800" dirty="0">
                <a:latin typeface="+mn-ea"/>
                <a:ea typeface="+mn-ea"/>
              </a:rPr>
              <a:t>（</a:t>
            </a:r>
            <a:r>
              <a:rPr lang="en-US" altLang="zh-CN" sz="2800" dirty="0">
                <a:latin typeface="+mn-ea"/>
                <a:ea typeface="+mn-ea"/>
              </a:rPr>
              <a:t>2</a:t>
            </a:r>
            <a:r>
              <a:rPr lang="zh-CN" altLang="en-US" sz="2800" dirty="0">
                <a:latin typeface="+mn-ea"/>
                <a:ea typeface="+mn-ea"/>
              </a:rPr>
              <a:t>）通过指令译码器译码指令后，得知要将辅助寄存器</a:t>
            </a:r>
            <a:r>
              <a:rPr lang="en-US" altLang="zh-CN" sz="2800" dirty="0">
                <a:latin typeface="+mn-ea"/>
                <a:ea typeface="+mn-ea"/>
              </a:rPr>
              <a:t>AR3</a:t>
            </a:r>
            <a:r>
              <a:rPr lang="zh-CN" altLang="en-US" sz="2800" dirty="0">
                <a:latin typeface="+mn-ea"/>
                <a:ea typeface="+mn-ea"/>
              </a:rPr>
              <a:t>单元所指地址</a:t>
            </a:r>
            <a:r>
              <a:rPr lang="en-US" altLang="zh-CN" sz="2800" dirty="0">
                <a:latin typeface="+mn-ea"/>
                <a:ea typeface="+mn-ea"/>
              </a:rPr>
              <a:t>0081h</a:t>
            </a:r>
            <a:r>
              <a:rPr lang="zh-CN" altLang="en-US" sz="2800" dirty="0">
                <a:latin typeface="+mn-ea"/>
                <a:ea typeface="+mn-ea"/>
              </a:rPr>
              <a:t>中的数据</a:t>
            </a:r>
            <a:r>
              <a:rPr lang="en-US" altLang="zh-CN" sz="2800" dirty="0">
                <a:latin typeface="+mn-ea"/>
                <a:ea typeface="+mn-ea"/>
              </a:rPr>
              <a:t>a</a:t>
            </a:r>
            <a:r>
              <a:rPr lang="zh-CN" altLang="en-US" sz="2800" dirty="0">
                <a:latin typeface="+mn-ea"/>
                <a:ea typeface="+mn-ea"/>
              </a:rPr>
              <a:t>放到</a:t>
            </a:r>
            <a:r>
              <a:rPr lang="en-US" altLang="zh-CN" sz="2800" dirty="0">
                <a:latin typeface="+mn-ea"/>
                <a:ea typeface="+mn-ea"/>
              </a:rPr>
              <a:t>17×17</a:t>
            </a:r>
            <a:r>
              <a:rPr lang="zh-CN" altLang="en-US" sz="2800" dirty="0">
                <a:latin typeface="+mn-ea"/>
                <a:ea typeface="+mn-ea"/>
              </a:rPr>
              <a:t>乘法器的</a:t>
            </a:r>
            <a:r>
              <a:rPr lang="en-US" altLang="zh-CN" sz="2800" dirty="0">
                <a:latin typeface="+mn-ea"/>
                <a:ea typeface="+mn-ea"/>
              </a:rPr>
              <a:t>XM</a:t>
            </a:r>
            <a:r>
              <a:rPr lang="zh-CN" altLang="en-US" sz="2800" dirty="0">
                <a:latin typeface="+mn-ea"/>
                <a:ea typeface="+mn-ea"/>
              </a:rPr>
              <a:t>端，便由数据地址产生逻辑（</a:t>
            </a:r>
            <a:r>
              <a:rPr lang="en-US" altLang="zh-CN" sz="2800" dirty="0">
                <a:latin typeface="+mn-ea"/>
                <a:ea typeface="+mn-ea"/>
              </a:rPr>
              <a:t>DAGEN</a:t>
            </a:r>
            <a:r>
              <a:rPr lang="zh-CN" altLang="en-US" sz="2800" dirty="0">
                <a:latin typeface="+mn-ea"/>
                <a:ea typeface="+mn-ea"/>
              </a:rPr>
              <a:t>）根据</a:t>
            </a:r>
            <a:r>
              <a:rPr lang="en-US" altLang="zh-CN" sz="2800" dirty="0">
                <a:latin typeface="+mn-ea"/>
                <a:ea typeface="+mn-ea"/>
              </a:rPr>
              <a:t>AR3=0081h</a:t>
            </a:r>
            <a:r>
              <a:rPr lang="zh-CN" altLang="en-US" sz="2800" dirty="0">
                <a:latin typeface="+mn-ea"/>
                <a:ea typeface="+mn-ea"/>
              </a:rPr>
              <a:t>产生地址</a:t>
            </a:r>
            <a:r>
              <a:rPr lang="en-US" altLang="zh-CN" sz="2800" dirty="0">
                <a:latin typeface="+mn-ea"/>
                <a:ea typeface="+mn-ea"/>
              </a:rPr>
              <a:t>0081h</a:t>
            </a:r>
            <a:r>
              <a:rPr lang="zh-CN" altLang="en-US" sz="2800" dirty="0">
                <a:latin typeface="+mn-ea"/>
                <a:ea typeface="+mn-ea"/>
              </a:rPr>
              <a:t>并将其放到地址总线</a:t>
            </a:r>
            <a:r>
              <a:rPr lang="en-US" altLang="zh-CN" sz="2800" dirty="0">
                <a:latin typeface="+mn-ea"/>
                <a:ea typeface="+mn-ea"/>
              </a:rPr>
              <a:t>DA</a:t>
            </a:r>
            <a:r>
              <a:rPr lang="zh-CN" altLang="en-US" sz="2800" dirty="0">
                <a:latin typeface="+mn-ea"/>
                <a:ea typeface="+mn-ea"/>
              </a:rPr>
              <a:t>上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①</a:t>
            </a:r>
            <a:r>
              <a:rPr lang="zh-CN" altLang="en-US" sz="2800" dirty="0">
                <a:latin typeface="+mn-ea"/>
                <a:ea typeface="+mn-ea"/>
              </a:rPr>
              <a:t>，数据存储器</a:t>
            </a:r>
            <a:r>
              <a:rPr lang="en-US" altLang="zh-CN" sz="2800" dirty="0">
                <a:latin typeface="+mn-ea"/>
                <a:ea typeface="+mn-ea"/>
              </a:rPr>
              <a:t>RAM</a:t>
            </a:r>
            <a:r>
              <a:rPr lang="zh-CN" altLang="en-US" sz="2800" dirty="0">
                <a:latin typeface="+mn-ea"/>
                <a:ea typeface="+mn-ea"/>
              </a:rPr>
              <a:t>将数据</a:t>
            </a:r>
            <a:r>
              <a:rPr lang="en-US" altLang="zh-CN" sz="2800" dirty="0">
                <a:latin typeface="+mn-ea"/>
                <a:ea typeface="+mn-ea"/>
              </a:rPr>
              <a:t>a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②</a:t>
            </a:r>
            <a:r>
              <a:rPr lang="zh-CN" altLang="en-US" sz="2800" dirty="0">
                <a:latin typeface="+mn-ea"/>
                <a:ea typeface="+mn-ea"/>
              </a:rPr>
              <a:t>放到</a:t>
            </a:r>
            <a:r>
              <a:rPr lang="en-US" altLang="zh-CN" sz="2800" dirty="0">
                <a:latin typeface="+mn-ea"/>
                <a:ea typeface="+mn-ea"/>
              </a:rPr>
              <a:t>DB</a:t>
            </a:r>
            <a:r>
              <a:rPr lang="zh-CN" altLang="en-US" sz="2800" dirty="0">
                <a:latin typeface="+mn-ea"/>
                <a:ea typeface="+mn-ea"/>
              </a:rPr>
              <a:t>总线上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③</a:t>
            </a:r>
            <a:r>
              <a:rPr lang="zh-CN" altLang="en-US" sz="2800" dirty="0">
                <a:latin typeface="+mn-ea"/>
                <a:ea typeface="+mn-ea"/>
              </a:rPr>
              <a:t>。再经多路选择器</a:t>
            </a:r>
            <a:r>
              <a:rPr lang="en-US" altLang="zh-CN" sz="2800" dirty="0">
                <a:latin typeface="+mn-ea"/>
                <a:ea typeface="+mn-ea"/>
              </a:rPr>
              <a:t>MUX</a:t>
            </a:r>
            <a:r>
              <a:rPr lang="zh-CN" altLang="en-US" sz="2800" dirty="0">
                <a:latin typeface="+mn-ea"/>
                <a:ea typeface="+mn-ea"/>
              </a:rPr>
              <a:t>、</a:t>
            </a:r>
            <a:r>
              <a:rPr lang="en-US" altLang="zh-CN" sz="2800" dirty="0">
                <a:latin typeface="+mn-ea"/>
                <a:ea typeface="+mn-ea"/>
              </a:rPr>
              <a:t>T</a:t>
            </a:r>
            <a:r>
              <a:rPr lang="zh-CN" altLang="en-US" sz="2800" dirty="0">
                <a:latin typeface="+mn-ea"/>
                <a:ea typeface="+mn-ea"/>
              </a:rPr>
              <a:t>寄存器，</a:t>
            </a:r>
            <a:r>
              <a:rPr lang="en-US" altLang="zh-CN" sz="2800" dirty="0">
                <a:latin typeface="+mn-ea"/>
                <a:ea typeface="+mn-ea"/>
              </a:rPr>
              <a:t>T=a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④</a:t>
            </a:r>
            <a:r>
              <a:rPr lang="zh-CN" altLang="en-US" sz="2800" dirty="0">
                <a:latin typeface="+mn-ea"/>
                <a:ea typeface="+mn-ea"/>
              </a:rPr>
              <a:t>。最后经符号控制器输入到</a:t>
            </a:r>
            <a:r>
              <a:rPr lang="en-US" altLang="zh-CN" sz="2800" dirty="0">
                <a:latin typeface="+mn-ea"/>
                <a:ea typeface="+mn-ea"/>
              </a:rPr>
              <a:t>17×17</a:t>
            </a:r>
            <a:r>
              <a:rPr lang="zh-CN" altLang="en-US" sz="2800" dirty="0">
                <a:latin typeface="+mn-ea"/>
                <a:ea typeface="+mn-ea"/>
              </a:rPr>
              <a:t>乘法器的</a:t>
            </a:r>
            <a:r>
              <a:rPr lang="en-US" altLang="zh-CN" sz="2800" dirty="0">
                <a:latin typeface="+mn-ea"/>
                <a:ea typeface="+mn-ea"/>
              </a:rPr>
              <a:t>XM</a:t>
            </a:r>
            <a:r>
              <a:rPr lang="zh-CN" altLang="en-US" sz="2800" dirty="0">
                <a:latin typeface="+mn-ea"/>
                <a:ea typeface="+mn-ea"/>
              </a:rPr>
              <a:t>端，使</a:t>
            </a:r>
            <a:r>
              <a:rPr lang="en-US" altLang="zh-CN" sz="2800" dirty="0">
                <a:latin typeface="+mn-ea"/>
                <a:ea typeface="+mn-ea"/>
              </a:rPr>
              <a:t>XM=a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⑤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</a:p>
        </p:txBody>
      </p:sp>
      <p:sp>
        <p:nvSpPr>
          <p:cNvPr id="16" name="矩形 15"/>
          <p:cNvSpPr/>
          <p:nvPr/>
        </p:nvSpPr>
        <p:spPr>
          <a:xfrm>
            <a:off x="264219" y="4676273"/>
            <a:ext cx="3414717" cy="707886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ea"/>
              </a:rPr>
              <a:t>数据地址产生逻辑（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DAGEN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）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</a:rPr>
              <a:t>AR3=0081h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3667319" y="5044581"/>
            <a:ext cx="90858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0081h</a:t>
            </a:r>
            <a:endParaRPr lang="en-US" altLang="zh-CN" sz="2000" b="1" baseline="-25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1" name="Text Box 42"/>
          <p:cNvSpPr txBox="1">
            <a:spLocks noChangeArrowheads="1"/>
          </p:cNvSpPr>
          <p:nvPr/>
        </p:nvSpPr>
        <p:spPr bwMode="auto">
          <a:xfrm>
            <a:off x="4622168" y="4460793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7030A0"/>
                </a:solidFill>
                <a:latin typeface="+mn-ea"/>
              </a:rPr>
              <a:t>b</a:t>
            </a:r>
            <a:endParaRPr lang="en-US" altLang="zh-CN" sz="2000" b="1" baseline="-25000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sp>
        <p:nvSpPr>
          <p:cNvPr id="22" name="Text Box 43"/>
          <p:cNvSpPr txBox="1">
            <a:spLocks noChangeArrowheads="1"/>
          </p:cNvSpPr>
          <p:nvPr/>
        </p:nvSpPr>
        <p:spPr bwMode="auto">
          <a:xfrm>
            <a:off x="4622168" y="4860843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7030A0"/>
                </a:solidFill>
                <a:latin typeface="+mn-ea"/>
                <a:ea typeface="+mn-ea"/>
              </a:rPr>
              <a:t>a</a:t>
            </a:r>
          </a:p>
        </p:txBody>
      </p:sp>
      <p:sp>
        <p:nvSpPr>
          <p:cNvPr id="23" name="Text Box 44"/>
          <p:cNvSpPr txBox="1">
            <a:spLocks noChangeArrowheads="1"/>
          </p:cNvSpPr>
          <p:nvPr/>
        </p:nvSpPr>
        <p:spPr bwMode="auto">
          <a:xfrm>
            <a:off x="4622168" y="5260893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660066"/>
                </a:solidFill>
                <a:latin typeface="+mn-ea"/>
                <a:ea typeface="+mn-ea"/>
              </a:rPr>
              <a:t>x</a:t>
            </a:r>
          </a:p>
        </p:txBody>
      </p:sp>
      <p:sp>
        <p:nvSpPr>
          <p:cNvPr id="24" name="Text Box 45"/>
          <p:cNvSpPr txBox="1">
            <a:spLocks noChangeArrowheads="1"/>
          </p:cNvSpPr>
          <p:nvPr/>
        </p:nvSpPr>
        <p:spPr bwMode="auto">
          <a:xfrm>
            <a:off x="4622168" y="5662531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660066"/>
                </a:solidFill>
                <a:latin typeface="+mn-ea"/>
                <a:ea typeface="+mn-ea"/>
              </a:rPr>
              <a:t>y</a:t>
            </a:r>
          </a:p>
        </p:txBody>
      </p:sp>
      <p:sp>
        <p:nvSpPr>
          <p:cNvPr id="25" name="Text Box 67"/>
          <p:cNvSpPr txBox="1">
            <a:spLocks noChangeArrowheads="1"/>
          </p:cNvSpPr>
          <p:nvPr/>
        </p:nvSpPr>
        <p:spPr bwMode="auto">
          <a:xfrm>
            <a:off x="3986938" y="6087063"/>
            <a:ext cx="21364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FF00FF"/>
                </a:solidFill>
              </a:rPr>
              <a:t>数据</a:t>
            </a:r>
            <a:r>
              <a:rPr lang="zh-CN" altLang="en-US" sz="2000" b="1" dirty="0">
                <a:solidFill>
                  <a:srgbClr val="FF00FF"/>
                </a:solidFill>
              </a:rPr>
              <a:t>存储器</a:t>
            </a:r>
            <a:r>
              <a:rPr lang="en-US" altLang="zh-CN" sz="2000" dirty="0">
                <a:solidFill>
                  <a:srgbClr val="FF6600"/>
                </a:solidFill>
              </a:rPr>
              <a:t>RAM</a:t>
            </a:r>
            <a:endParaRPr lang="zh-CN" altLang="en-US" sz="2000" b="1" dirty="0">
              <a:solidFill>
                <a:srgbClr val="FF00FF"/>
              </a:solidFill>
            </a:endParaRPr>
          </a:p>
        </p:txBody>
      </p:sp>
      <p:sp>
        <p:nvSpPr>
          <p:cNvPr id="26" name="Line 7"/>
          <p:cNvSpPr>
            <a:spLocks noChangeShapeType="1"/>
          </p:cNvSpPr>
          <p:nvPr/>
        </p:nvSpPr>
        <p:spPr bwMode="auto">
          <a:xfrm>
            <a:off x="3685781" y="5062332"/>
            <a:ext cx="936387" cy="219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 flipV="1">
            <a:off x="5662234" y="5076766"/>
            <a:ext cx="1692188" cy="2710"/>
          </a:xfrm>
          <a:prstGeom prst="line">
            <a:avLst/>
          </a:prstGeom>
          <a:noFill/>
          <a:ln w="38100">
            <a:solidFill>
              <a:srgbClr val="FF9933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3848380" y="4703493"/>
            <a:ext cx="5312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DA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733351" y="4715856"/>
            <a:ext cx="772242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9933"/>
                </a:solidFill>
                <a:latin typeface="+mn-ea"/>
                <a:ea typeface="+mn-ea"/>
              </a:rPr>
              <a:t>DB=a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62" name="Line 55"/>
          <p:cNvSpPr>
            <a:spLocks noChangeShapeType="1"/>
          </p:cNvSpPr>
          <p:nvPr/>
        </p:nvSpPr>
        <p:spPr bwMode="auto">
          <a:xfrm>
            <a:off x="6958652" y="5175317"/>
            <a:ext cx="2070" cy="147337"/>
          </a:xfrm>
          <a:prstGeom prst="line">
            <a:avLst/>
          </a:prstGeom>
          <a:noFill/>
          <a:ln w="19050">
            <a:solidFill>
              <a:srgbClr val="9933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0" name="Line 56"/>
          <p:cNvSpPr>
            <a:spLocks noChangeShapeType="1"/>
          </p:cNvSpPr>
          <p:nvPr/>
        </p:nvSpPr>
        <p:spPr bwMode="auto">
          <a:xfrm>
            <a:off x="7238116" y="5076766"/>
            <a:ext cx="0" cy="245890"/>
          </a:xfrm>
          <a:prstGeom prst="line">
            <a:avLst/>
          </a:prstGeom>
          <a:noFill/>
          <a:ln w="19050">
            <a:solidFill>
              <a:srgbClr val="FF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71" name="Group 61"/>
          <p:cNvGrpSpPr>
            <a:grpSpLocks/>
          </p:cNvGrpSpPr>
          <p:nvPr/>
        </p:nvGrpSpPr>
        <p:grpSpPr bwMode="auto">
          <a:xfrm>
            <a:off x="6641635" y="5321068"/>
            <a:ext cx="823912" cy="204787"/>
            <a:chOff x="-723" y="2568"/>
            <a:chExt cx="519" cy="91"/>
          </a:xfrm>
        </p:grpSpPr>
        <p:sp>
          <p:nvSpPr>
            <p:cNvPr id="83" name="AutoShape 59"/>
            <p:cNvSpPr>
              <a:spLocks noChangeArrowheads="1"/>
            </p:cNvSpPr>
            <p:nvPr/>
          </p:nvSpPr>
          <p:spPr bwMode="auto">
            <a:xfrm>
              <a:off x="-723" y="2568"/>
              <a:ext cx="51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10 h 21600"/>
                <a:gd name="T14" fmla="*/ 17105 w 21600"/>
                <a:gd name="T15" fmla="*/ 170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Text Box 60"/>
            <p:cNvSpPr txBox="1">
              <a:spLocks noChangeArrowheads="1"/>
            </p:cNvSpPr>
            <p:nvPr/>
          </p:nvSpPr>
          <p:spPr bwMode="auto">
            <a:xfrm>
              <a:off x="-682" y="2568"/>
              <a:ext cx="45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 dirty="0">
                  <a:solidFill>
                    <a:srgbClr val="FF9933"/>
                  </a:solidFill>
                </a:rPr>
                <a:t>MUX</a:t>
              </a:r>
            </a:p>
          </p:txBody>
        </p:sp>
      </p:grpSp>
      <p:sp>
        <p:nvSpPr>
          <p:cNvPr id="85" name="Text Box 62"/>
          <p:cNvSpPr txBox="1">
            <a:spLocks noChangeArrowheads="1"/>
          </p:cNvSpPr>
          <p:nvPr/>
        </p:nvSpPr>
        <p:spPr bwMode="auto">
          <a:xfrm>
            <a:off x="6528128" y="5679065"/>
            <a:ext cx="1054949" cy="184666"/>
          </a:xfrm>
          <a:prstGeom prst="rect">
            <a:avLst/>
          </a:prstGeom>
          <a:solidFill>
            <a:schemeClr val="hlink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FF9933"/>
                </a:solidFill>
              </a:rPr>
              <a:t>T</a:t>
            </a:r>
            <a:r>
              <a:rPr lang="zh-CN" altLang="en-US" sz="1200" dirty="0">
                <a:solidFill>
                  <a:srgbClr val="FF9933"/>
                </a:solidFill>
              </a:rPr>
              <a:t>寄存器   </a:t>
            </a:r>
            <a:r>
              <a:rPr lang="en-US" altLang="zh-CN" sz="1200" dirty="0">
                <a:solidFill>
                  <a:srgbClr val="FF9933"/>
                </a:solidFill>
              </a:rPr>
              <a:t>T=a</a:t>
            </a:r>
            <a:endParaRPr lang="zh-CN" altLang="en-US" sz="1200" dirty="0">
              <a:solidFill>
                <a:srgbClr val="FF9933"/>
              </a:solidFill>
            </a:endParaRPr>
          </a:p>
        </p:txBody>
      </p:sp>
      <p:grpSp>
        <p:nvGrpSpPr>
          <p:cNvPr id="88" name="Group 66"/>
          <p:cNvGrpSpPr>
            <a:grpSpLocks/>
          </p:cNvGrpSpPr>
          <p:nvPr/>
        </p:nvGrpSpPr>
        <p:grpSpPr bwMode="auto">
          <a:xfrm>
            <a:off x="7627472" y="6071188"/>
            <a:ext cx="895350" cy="195262"/>
            <a:chOff x="-723" y="2568"/>
            <a:chExt cx="519" cy="91"/>
          </a:xfrm>
        </p:grpSpPr>
        <p:sp>
          <p:nvSpPr>
            <p:cNvPr id="89" name="AutoShape 67"/>
            <p:cNvSpPr>
              <a:spLocks noChangeArrowheads="1"/>
            </p:cNvSpPr>
            <p:nvPr/>
          </p:nvSpPr>
          <p:spPr bwMode="auto">
            <a:xfrm>
              <a:off x="-723" y="2568"/>
              <a:ext cx="51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10 h 21600"/>
                <a:gd name="T14" fmla="*/ 17105 w 21600"/>
                <a:gd name="T15" fmla="*/ 170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7" name="Text Box 68"/>
            <p:cNvSpPr txBox="1">
              <a:spLocks noChangeArrowheads="1"/>
            </p:cNvSpPr>
            <p:nvPr/>
          </p:nvSpPr>
          <p:spPr bwMode="auto">
            <a:xfrm>
              <a:off x="-682" y="2568"/>
              <a:ext cx="453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000" dirty="0">
                  <a:solidFill>
                    <a:schemeClr val="tx2"/>
                  </a:solidFill>
                </a:rPr>
                <a:t>符号控制器</a:t>
              </a:r>
            </a:p>
          </p:txBody>
        </p:sp>
      </p:grpSp>
      <p:sp>
        <p:nvSpPr>
          <p:cNvPr id="98" name="Text Box 69"/>
          <p:cNvSpPr txBox="1">
            <a:spLocks noChangeArrowheads="1"/>
          </p:cNvSpPr>
          <p:nvPr/>
        </p:nvSpPr>
        <p:spPr bwMode="auto">
          <a:xfrm>
            <a:off x="6660232" y="6453336"/>
            <a:ext cx="1589088" cy="184666"/>
          </a:xfrm>
          <a:prstGeom prst="rect">
            <a:avLst/>
          </a:prstGeom>
          <a:solidFill>
            <a:srgbClr val="FF00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chemeClr val="accent1"/>
                </a:solidFill>
              </a:rPr>
              <a:t>17×17</a:t>
            </a:r>
            <a:r>
              <a:rPr lang="zh-CN" altLang="en-US" sz="1200" dirty="0">
                <a:solidFill>
                  <a:schemeClr val="accent1"/>
                </a:solidFill>
              </a:rPr>
              <a:t>乘法器</a:t>
            </a:r>
          </a:p>
        </p:txBody>
      </p:sp>
      <p:grpSp>
        <p:nvGrpSpPr>
          <p:cNvPr id="105" name="Group 83"/>
          <p:cNvGrpSpPr>
            <a:grpSpLocks/>
          </p:cNvGrpSpPr>
          <p:nvPr/>
        </p:nvGrpSpPr>
        <p:grpSpPr bwMode="auto">
          <a:xfrm>
            <a:off x="6695610" y="6074363"/>
            <a:ext cx="895350" cy="195262"/>
            <a:chOff x="-723" y="2568"/>
            <a:chExt cx="519" cy="91"/>
          </a:xfrm>
        </p:grpSpPr>
        <p:sp>
          <p:nvSpPr>
            <p:cNvPr id="106" name="AutoShape 84"/>
            <p:cNvSpPr>
              <a:spLocks noChangeArrowheads="1"/>
            </p:cNvSpPr>
            <p:nvPr/>
          </p:nvSpPr>
          <p:spPr bwMode="auto">
            <a:xfrm>
              <a:off x="-723" y="2568"/>
              <a:ext cx="51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10 h 21600"/>
                <a:gd name="T14" fmla="*/ 17105 w 21600"/>
                <a:gd name="T15" fmla="*/ 170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7" name="Text Box 85"/>
            <p:cNvSpPr txBox="1">
              <a:spLocks noChangeArrowheads="1"/>
            </p:cNvSpPr>
            <p:nvPr/>
          </p:nvSpPr>
          <p:spPr bwMode="auto">
            <a:xfrm>
              <a:off x="-682" y="2568"/>
              <a:ext cx="453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000">
                  <a:solidFill>
                    <a:schemeClr val="tx2"/>
                  </a:solidFill>
                </a:rPr>
                <a:t>符号控制器</a:t>
              </a:r>
            </a:p>
          </p:txBody>
        </p:sp>
      </p:grpSp>
      <p:sp>
        <p:nvSpPr>
          <p:cNvPr id="111" name="Line 132"/>
          <p:cNvSpPr>
            <a:spLocks noChangeShapeType="1"/>
          </p:cNvSpPr>
          <p:nvPr/>
        </p:nvSpPr>
        <p:spPr bwMode="auto">
          <a:xfrm flipH="1">
            <a:off x="7068671" y="5536967"/>
            <a:ext cx="1588" cy="146871"/>
          </a:xfrm>
          <a:prstGeom prst="line">
            <a:avLst/>
          </a:prstGeom>
          <a:noFill/>
          <a:ln w="19050">
            <a:solidFill>
              <a:srgbClr val="FF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2" name="Line 133"/>
          <p:cNvSpPr>
            <a:spLocks noChangeShapeType="1"/>
          </p:cNvSpPr>
          <p:nvPr/>
        </p:nvSpPr>
        <p:spPr bwMode="auto">
          <a:xfrm flipH="1">
            <a:off x="7068672" y="5873026"/>
            <a:ext cx="0" cy="180975"/>
          </a:xfrm>
          <a:prstGeom prst="line">
            <a:avLst/>
          </a:prstGeom>
          <a:noFill/>
          <a:ln w="19050">
            <a:solidFill>
              <a:srgbClr val="FF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4" name="Line 135"/>
          <p:cNvSpPr>
            <a:spLocks noChangeShapeType="1"/>
          </p:cNvSpPr>
          <p:nvPr/>
        </p:nvSpPr>
        <p:spPr bwMode="auto">
          <a:xfrm flipH="1">
            <a:off x="7213135" y="5961650"/>
            <a:ext cx="0" cy="107950"/>
          </a:xfrm>
          <a:prstGeom prst="line">
            <a:avLst/>
          </a:prstGeom>
          <a:noFill/>
          <a:ln w="19050">
            <a:solidFill>
              <a:srgbClr val="FF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6" name="Line 140"/>
          <p:cNvSpPr>
            <a:spLocks noChangeShapeType="1"/>
          </p:cNvSpPr>
          <p:nvPr/>
        </p:nvSpPr>
        <p:spPr bwMode="auto">
          <a:xfrm>
            <a:off x="7354422" y="5961650"/>
            <a:ext cx="1588" cy="107951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8" name="Line 143"/>
          <p:cNvSpPr>
            <a:spLocks noChangeShapeType="1"/>
          </p:cNvSpPr>
          <p:nvPr/>
        </p:nvSpPr>
        <p:spPr bwMode="auto">
          <a:xfrm flipH="1">
            <a:off x="8076586" y="6268036"/>
            <a:ext cx="149" cy="182825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19" name="Line 144"/>
          <p:cNvSpPr>
            <a:spLocks noChangeShapeType="1"/>
          </p:cNvSpPr>
          <p:nvPr/>
        </p:nvSpPr>
        <p:spPr bwMode="auto">
          <a:xfrm>
            <a:off x="7475235" y="6638002"/>
            <a:ext cx="0" cy="174625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7" name="Text Box 181"/>
          <p:cNvSpPr txBox="1">
            <a:spLocks noChangeArrowheads="1"/>
          </p:cNvSpPr>
          <p:nvPr/>
        </p:nvSpPr>
        <p:spPr bwMode="auto">
          <a:xfrm>
            <a:off x="6347947" y="6087063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/>
              <a:t>SXM</a:t>
            </a:r>
          </a:p>
        </p:txBody>
      </p:sp>
      <p:sp>
        <p:nvSpPr>
          <p:cNvPr id="128" name="Line 182"/>
          <p:cNvSpPr>
            <a:spLocks noChangeShapeType="1"/>
          </p:cNvSpPr>
          <p:nvPr/>
        </p:nvSpPr>
        <p:spPr bwMode="auto">
          <a:xfrm>
            <a:off x="6673385" y="6195013"/>
            <a:ext cx="14287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2" name="Text Box 186"/>
          <p:cNvSpPr txBox="1">
            <a:spLocks noChangeArrowheads="1"/>
          </p:cNvSpPr>
          <p:nvPr/>
        </p:nvSpPr>
        <p:spPr bwMode="auto">
          <a:xfrm>
            <a:off x="7322842" y="5097736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FF9933"/>
                </a:solidFill>
              </a:rPr>
              <a:t>D</a:t>
            </a:r>
          </a:p>
        </p:txBody>
      </p:sp>
      <p:sp>
        <p:nvSpPr>
          <p:cNvPr id="133" name="Text Box 187"/>
          <p:cNvSpPr txBox="1">
            <a:spLocks noChangeArrowheads="1"/>
          </p:cNvSpPr>
          <p:nvPr/>
        </p:nvSpPr>
        <p:spPr bwMode="auto">
          <a:xfrm>
            <a:off x="6625824" y="5116508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/>
              <a:t>X</a:t>
            </a:r>
          </a:p>
        </p:txBody>
      </p:sp>
      <p:sp>
        <p:nvSpPr>
          <p:cNvPr id="134" name="Text Box 188"/>
          <p:cNvSpPr txBox="1">
            <a:spLocks noChangeArrowheads="1"/>
          </p:cNvSpPr>
          <p:nvPr/>
        </p:nvSpPr>
        <p:spPr bwMode="auto">
          <a:xfrm>
            <a:off x="6759110" y="5882266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FF9933"/>
                </a:solidFill>
              </a:rPr>
              <a:t>T</a:t>
            </a:r>
          </a:p>
        </p:txBody>
      </p:sp>
      <p:sp>
        <p:nvSpPr>
          <p:cNvPr id="136" name="Text Box 190"/>
          <p:cNvSpPr txBox="1">
            <a:spLocks noChangeArrowheads="1"/>
          </p:cNvSpPr>
          <p:nvPr/>
        </p:nvSpPr>
        <p:spPr bwMode="auto">
          <a:xfrm>
            <a:off x="6511239" y="6274387"/>
            <a:ext cx="69364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FF9933"/>
                </a:solidFill>
              </a:rPr>
              <a:t>XM=a</a:t>
            </a:r>
          </a:p>
        </p:txBody>
      </p:sp>
      <p:sp>
        <p:nvSpPr>
          <p:cNvPr id="137" name="Text Box 191"/>
          <p:cNvSpPr txBox="1">
            <a:spLocks noChangeArrowheads="1"/>
          </p:cNvSpPr>
          <p:nvPr/>
        </p:nvSpPr>
        <p:spPr bwMode="auto">
          <a:xfrm>
            <a:off x="8113247" y="6276818"/>
            <a:ext cx="32156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/>
              <a:t>YM</a:t>
            </a:r>
          </a:p>
        </p:txBody>
      </p:sp>
      <p:sp>
        <p:nvSpPr>
          <p:cNvPr id="141" name="Line 143"/>
          <p:cNvSpPr>
            <a:spLocks noChangeShapeType="1"/>
          </p:cNvSpPr>
          <p:nvPr/>
        </p:nvSpPr>
        <p:spPr bwMode="auto">
          <a:xfrm flipH="1">
            <a:off x="7129978" y="6265888"/>
            <a:ext cx="149" cy="182825"/>
          </a:xfrm>
          <a:prstGeom prst="line">
            <a:avLst/>
          </a:prstGeom>
          <a:noFill/>
          <a:ln w="19050">
            <a:solidFill>
              <a:srgbClr val="FF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5216933" y="4879421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3" name="矩形 2"/>
          <p:cNvSpPr/>
          <p:nvPr/>
        </p:nvSpPr>
        <p:spPr>
          <a:xfrm>
            <a:off x="3848380" y="4422186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①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825781" y="4468012"/>
            <a:ext cx="37788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③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071803" y="5546350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④</a:t>
            </a:r>
            <a:endParaRPr lang="zh-CN" altLang="en-US" dirty="0"/>
          </a:p>
        </p:txBody>
      </p:sp>
      <p:sp>
        <p:nvSpPr>
          <p:cNvPr id="4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441234" y="6299731"/>
            <a:ext cx="514400" cy="4762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0" dirty="0"/>
              <a:t>20</a:t>
            </a:r>
          </a:p>
        </p:txBody>
      </p:sp>
      <p:sp>
        <p:nvSpPr>
          <p:cNvPr id="6" name="矩形 5"/>
          <p:cNvSpPr/>
          <p:nvPr/>
        </p:nvSpPr>
        <p:spPr>
          <a:xfrm>
            <a:off x="6272476" y="6195013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8026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矩形 250"/>
          <p:cNvSpPr/>
          <p:nvPr/>
        </p:nvSpPr>
        <p:spPr>
          <a:xfrm>
            <a:off x="134655" y="906467"/>
            <a:ext cx="8820979" cy="3108543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indent="719138" eaLnBrk="1" hangingPunct="1"/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续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、执行第二条指令：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MAC *AR3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，</a:t>
            </a:r>
            <a:r>
              <a:rPr lang="zh-CN" altLang="en-US" sz="2800" dirty="0">
                <a:solidFill>
                  <a:schemeClr val="accent2"/>
                </a:solidFill>
                <a:latin typeface="+mn-ea"/>
                <a:ea typeface="+mn-ea"/>
              </a:rPr>
              <a:t>*</a:t>
            </a:r>
            <a:r>
              <a:rPr lang="en-US" altLang="zh-CN" sz="2800" dirty="0">
                <a:solidFill>
                  <a:schemeClr val="accent2"/>
                </a:solidFill>
                <a:latin typeface="+mn-ea"/>
                <a:ea typeface="+mn-ea"/>
              </a:rPr>
              <a:t>AR4+,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A</a:t>
            </a:r>
          </a:p>
          <a:p>
            <a:pPr indent="719138" eaLnBrk="1" hangingPunct="1"/>
            <a:r>
              <a:rPr lang="zh-CN" altLang="en-US" sz="2800" dirty="0">
                <a:latin typeface="+mn-ea"/>
                <a:ea typeface="+mn-ea"/>
              </a:rPr>
              <a:t>（</a:t>
            </a:r>
            <a:r>
              <a:rPr lang="en-US" altLang="zh-CN" sz="2800" dirty="0">
                <a:latin typeface="+mn-ea"/>
                <a:ea typeface="+mn-ea"/>
              </a:rPr>
              <a:t>3</a:t>
            </a:r>
            <a:r>
              <a:rPr lang="zh-CN" altLang="en-US" sz="2800" dirty="0">
                <a:latin typeface="+mn-ea"/>
                <a:ea typeface="+mn-ea"/>
              </a:rPr>
              <a:t>）译码指令后还得知要将辅助寄存器</a:t>
            </a:r>
            <a:r>
              <a:rPr lang="en-US" altLang="zh-CN" sz="2800" dirty="0">
                <a:latin typeface="+mn-ea"/>
                <a:ea typeface="+mn-ea"/>
              </a:rPr>
              <a:t>AR4</a:t>
            </a:r>
            <a:r>
              <a:rPr lang="zh-CN" altLang="en-US" sz="2800" dirty="0">
                <a:latin typeface="+mn-ea"/>
                <a:ea typeface="+mn-ea"/>
              </a:rPr>
              <a:t>单元所指地址</a:t>
            </a:r>
            <a:r>
              <a:rPr lang="en-US" altLang="zh-CN" sz="2800" dirty="0">
                <a:latin typeface="+mn-ea"/>
                <a:ea typeface="+mn-ea"/>
              </a:rPr>
              <a:t>0082h</a:t>
            </a:r>
            <a:r>
              <a:rPr lang="zh-CN" altLang="en-US" sz="2800" dirty="0">
                <a:latin typeface="+mn-ea"/>
                <a:ea typeface="+mn-ea"/>
              </a:rPr>
              <a:t>中的数据</a:t>
            </a:r>
            <a:r>
              <a:rPr lang="en-US" altLang="zh-CN" sz="2800" dirty="0">
                <a:latin typeface="+mn-ea"/>
                <a:ea typeface="+mn-ea"/>
              </a:rPr>
              <a:t>x</a:t>
            </a:r>
            <a:r>
              <a:rPr lang="zh-CN" altLang="en-US" sz="2800" dirty="0">
                <a:latin typeface="+mn-ea"/>
                <a:ea typeface="+mn-ea"/>
              </a:rPr>
              <a:t>放到</a:t>
            </a:r>
            <a:r>
              <a:rPr lang="en-US" altLang="zh-CN" sz="2800" dirty="0">
                <a:latin typeface="+mn-ea"/>
                <a:ea typeface="+mn-ea"/>
              </a:rPr>
              <a:t>17×17</a:t>
            </a:r>
            <a:r>
              <a:rPr lang="zh-CN" altLang="en-US" sz="2800" dirty="0">
                <a:latin typeface="+mn-ea"/>
                <a:ea typeface="+mn-ea"/>
              </a:rPr>
              <a:t>乘法器的</a:t>
            </a:r>
            <a:r>
              <a:rPr lang="en-US" altLang="zh-CN" sz="2800" dirty="0">
                <a:latin typeface="+mn-ea"/>
                <a:ea typeface="+mn-ea"/>
              </a:rPr>
              <a:t>YM</a:t>
            </a:r>
            <a:r>
              <a:rPr lang="zh-CN" altLang="en-US" sz="2800" dirty="0">
                <a:latin typeface="+mn-ea"/>
                <a:ea typeface="+mn-ea"/>
              </a:rPr>
              <a:t>端，便由数据地址产生逻辑（</a:t>
            </a:r>
            <a:r>
              <a:rPr lang="en-US" altLang="zh-CN" sz="2800" dirty="0">
                <a:latin typeface="+mn-ea"/>
                <a:ea typeface="+mn-ea"/>
              </a:rPr>
              <a:t>DAGEN</a:t>
            </a:r>
            <a:r>
              <a:rPr lang="zh-CN" altLang="en-US" sz="2800" dirty="0">
                <a:latin typeface="+mn-ea"/>
                <a:ea typeface="+mn-ea"/>
              </a:rPr>
              <a:t>）根据</a:t>
            </a:r>
            <a:r>
              <a:rPr lang="en-US" altLang="zh-CN" sz="2800" dirty="0">
                <a:latin typeface="+mn-ea"/>
                <a:ea typeface="+mn-ea"/>
              </a:rPr>
              <a:t>AR4=0082h</a:t>
            </a:r>
            <a:r>
              <a:rPr lang="zh-CN" altLang="en-US" sz="2800" dirty="0">
                <a:latin typeface="+mn-ea"/>
                <a:ea typeface="+mn-ea"/>
              </a:rPr>
              <a:t>，将地址</a:t>
            </a:r>
            <a:r>
              <a:rPr lang="en-US" altLang="zh-CN" sz="2800" dirty="0">
                <a:latin typeface="+mn-ea"/>
                <a:ea typeface="+mn-ea"/>
              </a:rPr>
              <a:t>0082h</a:t>
            </a:r>
            <a:r>
              <a:rPr lang="zh-CN" altLang="en-US" sz="2800" dirty="0">
                <a:latin typeface="+mn-ea"/>
                <a:ea typeface="+mn-ea"/>
              </a:rPr>
              <a:t>并放到地址总线</a:t>
            </a:r>
            <a:r>
              <a:rPr lang="en-US" altLang="zh-CN" sz="2800" dirty="0">
                <a:latin typeface="+mn-ea"/>
                <a:ea typeface="+mn-ea"/>
              </a:rPr>
              <a:t>CA</a:t>
            </a:r>
            <a:r>
              <a:rPr lang="zh-CN" altLang="en-US" sz="2800" dirty="0">
                <a:latin typeface="+mn-ea"/>
                <a:ea typeface="+mn-ea"/>
              </a:rPr>
              <a:t>上</a:t>
            </a:r>
            <a:r>
              <a:rPr lang="zh-CN" altLang="zh-CN" sz="2800" dirty="0">
                <a:solidFill>
                  <a:srgbClr val="FF0000"/>
                </a:solidFill>
              </a:rPr>
              <a:t>①</a:t>
            </a:r>
            <a:r>
              <a:rPr lang="zh-CN" altLang="zh-CN" sz="2800" dirty="0"/>
              <a:t> </a:t>
            </a:r>
            <a:r>
              <a:rPr lang="zh-CN" altLang="en-US" sz="2800" dirty="0">
                <a:latin typeface="+mn-ea"/>
                <a:ea typeface="+mn-ea"/>
              </a:rPr>
              <a:t>，</a:t>
            </a:r>
            <a:r>
              <a:rPr lang="en-US" altLang="zh-CN" sz="2800" dirty="0">
                <a:latin typeface="+mn-ea"/>
                <a:ea typeface="+mn-ea"/>
              </a:rPr>
              <a:t>RAM</a:t>
            </a:r>
            <a:r>
              <a:rPr lang="zh-CN" altLang="en-US" sz="2800" dirty="0">
                <a:latin typeface="+mn-ea"/>
                <a:ea typeface="+mn-ea"/>
              </a:rPr>
              <a:t>将数据</a:t>
            </a:r>
            <a:r>
              <a:rPr lang="en-US" altLang="zh-CN" sz="2800" dirty="0">
                <a:latin typeface="+mn-ea"/>
                <a:ea typeface="+mn-ea"/>
              </a:rPr>
              <a:t>x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②</a:t>
            </a:r>
            <a:r>
              <a:rPr lang="zh-CN" altLang="en-US" sz="2800" dirty="0">
                <a:latin typeface="+mn-ea"/>
                <a:ea typeface="+mn-ea"/>
              </a:rPr>
              <a:t>放到</a:t>
            </a:r>
            <a:r>
              <a:rPr lang="en-US" altLang="zh-CN" sz="2800" dirty="0">
                <a:latin typeface="+mn-ea"/>
                <a:ea typeface="+mn-ea"/>
              </a:rPr>
              <a:t>CB</a:t>
            </a:r>
            <a:r>
              <a:rPr lang="zh-CN" altLang="en-US" sz="2800" dirty="0">
                <a:latin typeface="+mn-ea"/>
                <a:ea typeface="+mn-ea"/>
              </a:rPr>
              <a:t>总线上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③</a:t>
            </a:r>
            <a:r>
              <a:rPr lang="zh-CN" altLang="en-US" sz="2800" dirty="0">
                <a:latin typeface="+mn-ea"/>
                <a:ea typeface="+mn-ea"/>
              </a:rPr>
              <a:t>，再经符号控制器输入到</a:t>
            </a:r>
            <a:r>
              <a:rPr lang="en-US" altLang="zh-CN" sz="2800" dirty="0">
                <a:latin typeface="+mn-ea"/>
                <a:ea typeface="+mn-ea"/>
              </a:rPr>
              <a:t>17×17</a:t>
            </a:r>
            <a:r>
              <a:rPr lang="zh-CN" altLang="en-US" sz="2800" dirty="0">
                <a:latin typeface="+mn-ea"/>
                <a:ea typeface="+mn-ea"/>
              </a:rPr>
              <a:t>乘法器的</a:t>
            </a:r>
            <a:r>
              <a:rPr lang="en-US" altLang="zh-CN" sz="2800" dirty="0">
                <a:latin typeface="+mn-ea"/>
                <a:ea typeface="+mn-ea"/>
              </a:rPr>
              <a:t>YM</a:t>
            </a:r>
            <a:r>
              <a:rPr lang="zh-CN" altLang="en-US" sz="2800" dirty="0">
                <a:latin typeface="+mn-ea"/>
                <a:ea typeface="+mn-ea"/>
              </a:rPr>
              <a:t>端，使</a:t>
            </a:r>
            <a:r>
              <a:rPr lang="en-US" altLang="zh-CN" sz="2800" dirty="0">
                <a:latin typeface="+mn-ea"/>
                <a:ea typeface="+mn-ea"/>
              </a:rPr>
              <a:t>YM=x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④</a:t>
            </a:r>
            <a:r>
              <a:rPr lang="zh-CN" altLang="en-US" sz="2800" dirty="0">
                <a:latin typeface="+mn-ea"/>
                <a:ea typeface="+mn-ea"/>
              </a:rPr>
              <a:t>。然后</a:t>
            </a:r>
            <a:r>
              <a:rPr lang="en-US" altLang="zh-CN" sz="2800" dirty="0">
                <a:latin typeface="+mn-ea"/>
                <a:ea typeface="+mn-ea"/>
              </a:rPr>
              <a:t>AR4</a:t>
            </a:r>
            <a:r>
              <a:rPr lang="zh-CN" altLang="en-US" sz="2800" dirty="0">
                <a:latin typeface="+mn-ea"/>
                <a:ea typeface="+mn-ea"/>
              </a:rPr>
              <a:t>加</a:t>
            </a:r>
            <a:r>
              <a:rPr lang="en-US" altLang="zh-CN" sz="2800" dirty="0">
                <a:latin typeface="+mn-ea"/>
                <a:ea typeface="+mn-ea"/>
              </a:rPr>
              <a:t>1</a:t>
            </a:r>
            <a:r>
              <a:rPr lang="zh-CN" altLang="en-US" sz="2800" dirty="0">
                <a:latin typeface="+mn-ea"/>
                <a:ea typeface="+mn-ea"/>
              </a:rPr>
              <a:t>指向</a:t>
            </a:r>
            <a:r>
              <a:rPr lang="en-US" altLang="zh-CN" sz="2800" dirty="0">
                <a:latin typeface="+mn-ea"/>
                <a:ea typeface="+mn-ea"/>
              </a:rPr>
              <a:t>AR4=0083h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⑤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</a:p>
        </p:txBody>
      </p:sp>
      <p:sp>
        <p:nvSpPr>
          <p:cNvPr id="16" name="矩形 15"/>
          <p:cNvSpPr/>
          <p:nvPr/>
        </p:nvSpPr>
        <p:spPr>
          <a:xfrm>
            <a:off x="331215" y="4636052"/>
            <a:ext cx="3414717" cy="707886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数据地址产生逻辑（</a:t>
            </a:r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DAGEN</a:t>
            </a:r>
            <a:r>
              <a:rPr lang="zh-CN" altLang="en-US" dirty="0">
                <a:solidFill>
                  <a:srgbClr val="C00000"/>
                </a:solidFill>
                <a:latin typeface="+mn-ea"/>
                <a:ea typeface="+mn-ea"/>
              </a:rPr>
              <a:t>）</a:t>
            </a:r>
            <a:endParaRPr lang="en-US" altLang="zh-CN" dirty="0">
              <a:solidFill>
                <a:srgbClr val="C00000"/>
              </a:solidFill>
              <a:latin typeface="+mn-ea"/>
              <a:ea typeface="+mn-ea"/>
            </a:endParaRPr>
          </a:p>
          <a:p>
            <a:pPr algn="ctr"/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AR4=0082h</a:t>
            </a:r>
            <a:endParaRPr lang="zh-CN" altLang="en-US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3734315" y="5004360"/>
            <a:ext cx="90858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C00000"/>
                </a:solidFill>
                <a:latin typeface="+mn-ea"/>
                <a:ea typeface="+mn-ea"/>
              </a:rPr>
              <a:t>0082h</a:t>
            </a:r>
            <a:endParaRPr lang="en-US" altLang="zh-CN" sz="2000" b="1" baseline="-25000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1" name="Text Box 42"/>
          <p:cNvSpPr txBox="1">
            <a:spLocks noChangeArrowheads="1"/>
          </p:cNvSpPr>
          <p:nvPr/>
        </p:nvSpPr>
        <p:spPr bwMode="auto">
          <a:xfrm>
            <a:off x="4689164" y="4027200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7030A0"/>
                </a:solidFill>
                <a:latin typeface="+mn-ea"/>
              </a:rPr>
              <a:t>b</a:t>
            </a:r>
            <a:endParaRPr lang="en-US" altLang="zh-CN" sz="2000" b="1" baseline="-25000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sp>
        <p:nvSpPr>
          <p:cNvPr id="22" name="Text Box 43"/>
          <p:cNvSpPr txBox="1">
            <a:spLocks noChangeArrowheads="1"/>
          </p:cNvSpPr>
          <p:nvPr/>
        </p:nvSpPr>
        <p:spPr bwMode="auto">
          <a:xfrm>
            <a:off x="4689164" y="4427250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7030A0"/>
                </a:solidFill>
                <a:latin typeface="+mn-ea"/>
                <a:ea typeface="+mn-ea"/>
              </a:rPr>
              <a:t>a</a:t>
            </a:r>
          </a:p>
        </p:txBody>
      </p:sp>
      <p:sp>
        <p:nvSpPr>
          <p:cNvPr id="23" name="Text Box 44"/>
          <p:cNvSpPr txBox="1">
            <a:spLocks noChangeArrowheads="1"/>
          </p:cNvSpPr>
          <p:nvPr/>
        </p:nvSpPr>
        <p:spPr bwMode="auto">
          <a:xfrm>
            <a:off x="4689164" y="4827300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660066"/>
                </a:solidFill>
                <a:latin typeface="+mn-ea"/>
                <a:ea typeface="+mn-ea"/>
              </a:rPr>
              <a:t>x</a:t>
            </a:r>
          </a:p>
        </p:txBody>
      </p:sp>
      <p:sp>
        <p:nvSpPr>
          <p:cNvPr id="24" name="Text Box 45"/>
          <p:cNvSpPr txBox="1">
            <a:spLocks noChangeArrowheads="1"/>
          </p:cNvSpPr>
          <p:nvPr/>
        </p:nvSpPr>
        <p:spPr bwMode="auto">
          <a:xfrm>
            <a:off x="4689164" y="5228938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660066"/>
                </a:solidFill>
                <a:latin typeface="+mn-ea"/>
                <a:ea typeface="+mn-ea"/>
              </a:rPr>
              <a:t>y</a:t>
            </a:r>
          </a:p>
        </p:txBody>
      </p:sp>
      <p:sp>
        <p:nvSpPr>
          <p:cNvPr id="25" name="Text Box 67"/>
          <p:cNvSpPr txBox="1">
            <a:spLocks noChangeArrowheads="1"/>
          </p:cNvSpPr>
          <p:nvPr/>
        </p:nvSpPr>
        <p:spPr bwMode="auto">
          <a:xfrm>
            <a:off x="4072324" y="5641310"/>
            <a:ext cx="21364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FF00FF"/>
                </a:solidFill>
              </a:rPr>
              <a:t>数据</a:t>
            </a:r>
            <a:r>
              <a:rPr lang="zh-CN" altLang="en-US" sz="2000" b="1" dirty="0">
                <a:solidFill>
                  <a:srgbClr val="FF00FF"/>
                </a:solidFill>
              </a:rPr>
              <a:t>存储器</a:t>
            </a:r>
            <a:r>
              <a:rPr lang="en-US" altLang="zh-CN" sz="2000" dirty="0">
                <a:solidFill>
                  <a:srgbClr val="FF6600"/>
                </a:solidFill>
              </a:rPr>
              <a:t>RAM</a:t>
            </a:r>
            <a:endParaRPr lang="zh-CN" altLang="en-US" sz="2000" b="1" dirty="0">
              <a:solidFill>
                <a:srgbClr val="FF00FF"/>
              </a:solidFill>
            </a:endParaRPr>
          </a:p>
        </p:txBody>
      </p:sp>
      <p:sp>
        <p:nvSpPr>
          <p:cNvPr id="26" name="Line 7"/>
          <p:cNvSpPr>
            <a:spLocks noChangeShapeType="1"/>
          </p:cNvSpPr>
          <p:nvPr/>
        </p:nvSpPr>
        <p:spPr bwMode="auto">
          <a:xfrm>
            <a:off x="3752777" y="5022111"/>
            <a:ext cx="936387" cy="219"/>
          </a:xfrm>
          <a:prstGeom prst="line">
            <a:avLst/>
          </a:prstGeom>
          <a:noFill/>
          <a:ln w="38100">
            <a:solidFill>
              <a:srgbClr val="C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>
              <a:solidFill>
                <a:srgbClr val="C00000"/>
              </a:solidFill>
            </a:endParaRPr>
          </a:p>
        </p:txBody>
      </p:sp>
      <p:sp>
        <p:nvSpPr>
          <p:cNvPr id="31" name="Line 7"/>
          <p:cNvSpPr>
            <a:spLocks noChangeShapeType="1"/>
          </p:cNvSpPr>
          <p:nvPr/>
        </p:nvSpPr>
        <p:spPr bwMode="auto">
          <a:xfrm flipV="1">
            <a:off x="5724128" y="5037991"/>
            <a:ext cx="2321869" cy="273"/>
          </a:xfrm>
          <a:prstGeom prst="line">
            <a:avLst/>
          </a:prstGeom>
          <a:noFill/>
          <a:ln w="38100">
            <a:solidFill>
              <a:srgbClr val="666633"/>
            </a:solidFill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3915376" y="4663272"/>
            <a:ext cx="5312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+mn-ea"/>
                <a:ea typeface="+mn-ea"/>
              </a:rPr>
              <a:t>CA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6681443" y="4663272"/>
            <a:ext cx="772242" cy="40011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666633"/>
                </a:solidFill>
                <a:latin typeface="+mn-ea"/>
                <a:ea typeface="+mn-ea"/>
              </a:rPr>
              <a:t>CB=x</a:t>
            </a:r>
            <a:endParaRPr lang="zh-CN" altLang="en-US" dirty="0">
              <a:solidFill>
                <a:srgbClr val="666633"/>
              </a:solidFill>
            </a:endParaRPr>
          </a:p>
        </p:txBody>
      </p:sp>
      <p:sp>
        <p:nvSpPr>
          <p:cNvPr id="62" name="Line 55"/>
          <p:cNvSpPr>
            <a:spLocks noChangeShapeType="1"/>
          </p:cNvSpPr>
          <p:nvPr/>
        </p:nvSpPr>
        <p:spPr bwMode="auto">
          <a:xfrm>
            <a:off x="6953458" y="5162438"/>
            <a:ext cx="2070" cy="147337"/>
          </a:xfrm>
          <a:prstGeom prst="line">
            <a:avLst/>
          </a:prstGeom>
          <a:noFill/>
          <a:ln w="19050">
            <a:solidFill>
              <a:srgbClr val="9933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0" name="Line 56"/>
          <p:cNvSpPr>
            <a:spLocks noChangeShapeType="1"/>
          </p:cNvSpPr>
          <p:nvPr/>
        </p:nvSpPr>
        <p:spPr bwMode="auto">
          <a:xfrm>
            <a:off x="7836324" y="5022111"/>
            <a:ext cx="9594" cy="1034610"/>
          </a:xfrm>
          <a:prstGeom prst="line">
            <a:avLst/>
          </a:prstGeom>
          <a:noFill/>
          <a:ln w="19050">
            <a:solidFill>
              <a:srgbClr val="6666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71" name="Group 61"/>
          <p:cNvGrpSpPr>
            <a:grpSpLocks/>
          </p:cNvGrpSpPr>
          <p:nvPr/>
        </p:nvGrpSpPr>
        <p:grpSpPr bwMode="auto">
          <a:xfrm>
            <a:off x="6636441" y="5308189"/>
            <a:ext cx="823912" cy="204787"/>
            <a:chOff x="-723" y="2568"/>
            <a:chExt cx="519" cy="91"/>
          </a:xfrm>
        </p:grpSpPr>
        <p:sp>
          <p:nvSpPr>
            <p:cNvPr id="83" name="AutoShape 59"/>
            <p:cNvSpPr>
              <a:spLocks noChangeArrowheads="1"/>
            </p:cNvSpPr>
            <p:nvPr/>
          </p:nvSpPr>
          <p:spPr bwMode="auto">
            <a:xfrm>
              <a:off x="-723" y="2568"/>
              <a:ext cx="51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10 h 21600"/>
                <a:gd name="T14" fmla="*/ 17105 w 21600"/>
                <a:gd name="T15" fmla="*/ 170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4" name="Text Box 60"/>
            <p:cNvSpPr txBox="1">
              <a:spLocks noChangeArrowheads="1"/>
            </p:cNvSpPr>
            <p:nvPr/>
          </p:nvSpPr>
          <p:spPr bwMode="auto">
            <a:xfrm>
              <a:off x="-682" y="2568"/>
              <a:ext cx="45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 dirty="0">
                  <a:solidFill>
                    <a:srgbClr val="FF9933"/>
                  </a:solidFill>
                </a:rPr>
                <a:t>MUX</a:t>
              </a:r>
            </a:p>
          </p:txBody>
        </p:sp>
      </p:grpSp>
      <p:sp>
        <p:nvSpPr>
          <p:cNvPr id="111" name="Line 132"/>
          <p:cNvSpPr>
            <a:spLocks noChangeShapeType="1"/>
          </p:cNvSpPr>
          <p:nvPr/>
        </p:nvSpPr>
        <p:spPr bwMode="auto">
          <a:xfrm flipH="1">
            <a:off x="7063477" y="5524088"/>
            <a:ext cx="1588" cy="146871"/>
          </a:xfrm>
          <a:prstGeom prst="line">
            <a:avLst/>
          </a:prstGeom>
          <a:noFill/>
          <a:ln w="19050">
            <a:solidFill>
              <a:srgbClr val="FF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3" name="Text Box 187"/>
          <p:cNvSpPr txBox="1">
            <a:spLocks noChangeArrowheads="1"/>
          </p:cNvSpPr>
          <p:nvPr/>
        </p:nvSpPr>
        <p:spPr bwMode="auto">
          <a:xfrm>
            <a:off x="6620630" y="5103629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/>
              <a:t>X</a:t>
            </a:r>
          </a:p>
        </p:txBody>
      </p:sp>
      <p:sp>
        <p:nvSpPr>
          <p:cNvPr id="45" name="矩形 44"/>
          <p:cNvSpPr/>
          <p:nvPr/>
        </p:nvSpPr>
        <p:spPr>
          <a:xfrm>
            <a:off x="328201" y="5848456"/>
            <a:ext cx="3414717" cy="707886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  <a:latin typeface="+mn-ea"/>
              </a:rPr>
              <a:t>数据地址产生逻辑（</a:t>
            </a:r>
            <a:r>
              <a:rPr lang="en-US" altLang="zh-CN" dirty="0">
                <a:solidFill>
                  <a:srgbClr val="C00000"/>
                </a:solidFill>
                <a:latin typeface="+mn-ea"/>
              </a:rPr>
              <a:t>DAGEN</a:t>
            </a:r>
            <a:r>
              <a:rPr lang="zh-CN" altLang="en-US" dirty="0">
                <a:solidFill>
                  <a:srgbClr val="C00000"/>
                </a:solidFill>
                <a:latin typeface="+mn-ea"/>
              </a:rPr>
              <a:t>）</a:t>
            </a:r>
          </a:p>
          <a:p>
            <a:pPr algn="ctr"/>
            <a:r>
              <a:rPr lang="en-US" altLang="zh-CN" dirty="0">
                <a:solidFill>
                  <a:srgbClr val="C00000"/>
                </a:solidFill>
                <a:latin typeface="+mn-ea"/>
              </a:rPr>
              <a:t>AR4=AR4+1=0083h</a:t>
            </a:r>
          </a:p>
        </p:txBody>
      </p:sp>
      <p:cxnSp>
        <p:nvCxnSpPr>
          <p:cNvPr id="6" name="直接箭头连接符 5"/>
          <p:cNvCxnSpPr>
            <a:endCxn id="45" idx="0"/>
          </p:cNvCxnSpPr>
          <p:nvPr/>
        </p:nvCxnSpPr>
        <p:spPr bwMode="auto">
          <a:xfrm>
            <a:off x="1979712" y="5344169"/>
            <a:ext cx="0" cy="504287"/>
          </a:xfrm>
          <a:prstGeom prst="straightConnector1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4" name="Text Box 62"/>
          <p:cNvSpPr txBox="1">
            <a:spLocks noChangeArrowheads="1"/>
          </p:cNvSpPr>
          <p:nvPr/>
        </p:nvSpPr>
        <p:spPr bwMode="auto">
          <a:xfrm>
            <a:off x="6564748" y="5670959"/>
            <a:ext cx="1054949" cy="184666"/>
          </a:xfrm>
          <a:prstGeom prst="rect">
            <a:avLst/>
          </a:prstGeom>
          <a:solidFill>
            <a:schemeClr val="hlink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FF9933"/>
                </a:solidFill>
              </a:rPr>
              <a:t>T</a:t>
            </a:r>
            <a:r>
              <a:rPr lang="zh-CN" altLang="en-US" sz="1200" dirty="0">
                <a:solidFill>
                  <a:srgbClr val="FF9933"/>
                </a:solidFill>
              </a:rPr>
              <a:t>寄存器   </a:t>
            </a:r>
            <a:r>
              <a:rPr lang="en-US" altLang="zh-CN" sz="1200" dirty="0">
                <a:solidFill>
                  <a:srgbClr val="FF9933"/>
                </a:solidFill>
              </a:rPr>
              <a:t>T=a</a:t>
            </a:r>
            <a:endParaRPr lang="zh-CN" altLang="en-US" sz="1200" dirty="0">
              <a:solidFill>
                <a:srgbClr val="FF9933"/>
              </a:solidFill>
            </a:endParaRPr>
          </a:p>
        </p:txBody>
      </p:sp>
      <p:grpSp>
        <p:nvGrpSpPr>
          <p:cNvPr id="55" name="Group 66"/>
          <p:cNvGrpSpPr>
            <a:grpSpLocks/>
          </p:cNvGrpSpPr>
          <p:nvPr/>
        </p:nvGrpSpPr>
        <p:grpSpPr bwMode="auto">
          <a:xfrm>
            <a:off x="7664092" y="6063082"/>
            <a:ext cx="895350" cy="195262"/>
            <a:chOff x="-723" y="2568"/>
            <a:chExt cx="519" cy="91"/>
          </a:xfrm>
        </p:grpSpPr>
        <p:sp>
          <p:nvSpPr>
            <p:cNvPr id="56" name="AutoShape 67"/>
            <p:cNvSpPr>
              <a:spLocks noChangeArrowheads="1"/>
            </p:cNvSpPr>
            <p:nvPr/>
          </p:nvSpPr>
          <p:spPr bwMode="auto">
            <a:xfrm>
              <a:off x="-723" y="2568"/>
              <a:ext cx="51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10 h 21600"/>
                <a:gd name="T14" fmla="*/ 17105 w 21600"/>
                <a:gd name="T15" fmla="*/ 170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7" name="Text Box 68"/>
            <p:cNvSpPr txBox="1">
              <a:spLocks noChangeArrowheads="1"/>
            </p:cNvSpPr>
            <p:nvPr/>
          </p:nvSpPr>
          <p:spPr bwMode="auto">
            <a:xfrm>
              <a:off x="-682" y="2568"/>
              <a:ext cx="453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000" dirty="0">
                  <a:solidFill>
                    <a:schemeClr val="tx2"/>
                  </a:solidFill>
                </a:rPr>
                <a:t>符号控制器</a:t>
              </a:r>
            </a:p>
          </p:txBody>
        </p:sp>
      </p:grpSp>
      <p:sp>
        <p:nvSpPr>
          <p:cNvPr id="58" name="Text Box 69"/>
          <p:cNvSpPr txBox="1">
            <a:spLocks noChangeArrowheads="1"/>
          </p:cNvSpPr>
          <p:nvPr/>
        </p:nvSpPr>
        <p:spPr bwMode="auto">
          <a:xfrm>
            <a:off x="6696852" y="6445230"/>
            <a:ext cx="1589088" cy="184666"/>
          </a:xfrm>
          <a:prstGeom prst="rect">
            <a:avLst/>
          </a:prstGeom>
          <a:solidFill>
            <a:srgbClr val="FF00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chemeClr val="accent1"/>
                </a:solidFill>
              </a:rPr>
              <a:t>17×17</a:t>
            </a:r>
            <a:r>
              <a:rPr lang="zh-CN" altLang="en-US" sz="1200" dirty="0">
                <a:solidFill>
                  <a:schemeClr val="accent1"/>
                </a:solidFill>
              </a:rPr>
              <a:t>乘法器</a:t>
            </a:r>
          </a:p>
        </p:txBody>
      </p:sp>
      <p:grpSp>
        <p:nvGrpSpPr>
          <p:cNvPr id="59" name="Group 83"/>
          <p:cNvGrpSpPr>
            <a:grpSpLocks/>
          </p:cNvGrpSpPr>
          <p:nvPr/>
        </p:nvGrpSpPr>
        <p:grpSpPr bwMode="auto">
          <a:xfrm>
            <a:off x="6732230" y="6066257"/>
            <a:ext cx="895350" cy="195262"/>
            <a:chOff x="-723" y="2568"/>
            <a:chExt cx="519" cy="91"/>
          </a:xfrm>
        </p:grpSpPr>
        <p:sp>
          <p:nvSpPr>
            <p:cNvPr id="60" name="AutoShape 84"/>
            <p:cNvSpPr>
              <a:spLocks noChangeArrowheads="1"/>
            </p:cNvSpPr>
            <p:nvPr/>
          </p:nvSpPr>
          <p:spPr bwMode="auto">
            <a:xfrm>
              <a:off x="-723" y="2568"/>
              <a:ext cx="51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10 h 21600"/>
                <a:gd name="T14" fmla="*/ 17105 w 21600"/>
                <a:gd name="T15" fmla="*/ 170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Text Box 85"/>
            <p:cNvSpPr txBox="1">
              <a:spLocks noChangeArrowheads="1"/>
            </p:cNvSpPr>
            <p:nvPr/>
          </p:nvSpPr>
          <p:spPr bwMode="auto">
            <a:xfrm>
              <a:off x="-682" y="2568"/>
              <a:ext cx="453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000">
                  <a:solidFill>
                    <a:schemeClr val="tx2"/>
                  </a:solidFill>
                </a:rPr>
                <a:t>符号控制器</a:t>
              </a:r>
            </a:p>
          </p:txBody>
        </p:sp>
      </p:grpSp>
      <p:sp>
        <p:nvSpPr>
          <p:cNvPr id="63" name="Line 133"/>
          <p:cNvSpPr>
            <a:spLocks noChangeShapeType="1"/>
          </p:cNvSpPr>
          <p:nvPr/>
        </p:nvSpPr>
        <p:spPr bwMode="auto">
          <a:xfrm flipH="1">
            <a:off x="7007842" y="5875746"/>
            <a:ext cx="0" cy="180975"/>
          </a:xfrm>
          <a:prstGeom prst="line">
            <a:avLst/>
          </a:prstGeom>
          <a:noFill/>
          <a:ln w="19050">
            <a:solidFill>
              <a:srgbClr val="FF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4" name="Line 135"/>
          <p:cNvSpPr>
            <a:spLocks noChangeShapeType="1"/>
          </p:cNvSpPr>
          <p:nvPr/>
        </p:nvSpPr>
        <p:spPr bwMode="auto">
          <a:xfrm flipH="1">
            <a:off x="7249755" y="5953544"/>
            <a:ext cx="0" cy="107950"/>
          </a:xfrm>
          <a:prstGeom prst="line">
            <a:avLst/>
          </a:prstGeom>
          <a:noFill/>
          <a:ln w="19050">
            <a:solidFill>
              <a:srgbClr val="FF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5" name="Line 140"/>
          <p:cNvSpPr>
            <a:spLocks noChangeShapeType="1"/>
          </p:cNvSpPr>
          <p:nvPr/>
        </p:nvSpPr>
        <p:spPr bwMode="auto">
          <a:xfrm>
            <a:off x="7391042" y="5953544"/>
            <a:ext cx="1588" cy="107951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6" name="Line 143"/>
          <p:cNvSpPr>
            <a:spLocks noChangeShapeType="1"/>
          </p:cNvSpPr>
          <p:nvPr/>
        </p:nvSpPr>
        <p:spPr bwMode="auto">
          <a:xfrm flipH="1">
            <a:off x="8113206" y="6259930"/>
            <a:ext cx="149" cy="182825"/>
          </a:xfrm>
          <a:prstGeom prst="line">
            <a:avLst/>
          </a:prstGeom>
          <a:noFill/>
          <a:ln w="19050">
            <a:solidFill>
              <a:srgbClr val="6666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7" name="Line 144"/>
          <p:cNvSpPr>
            <a:spLocks noChangeShapeType="1"/>
          </p:cNvSpPr>
          <p:nvPr/>
        </p:nvSpPr>
        <p:spPr bwMode="auto">
          <a:xfrm>
            <a:off x="7511855" y="6629896"/>
            <a:ext cx="0" cy="174625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8" name="Text Box 181"/>
          <p:cNvSpPr txBox="1">
            <a:spLocks noChangeArrowheads="1"/>
          </p:cNvSpPr>
          <p:nvPr/>
        </p:nvSpPr>
        <p:spPr bwMode="auto">
          <a:xfrm>
            <a:off x="6384567" y="6078957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/>
              <a:t>SXM</a:t>
            </a:r>
          </a:p>
        </p:txBody>
      </p:sp>
      <p:sp>
        <p:nvSpPr>
          <p:cNvPr id="69" name="Line 182"/>
          <p:cNvSpPr>
            <a:spLocks noChangeShapeType="1"/>
          </p:cNvSpPr>
          <p:nvPr/>
        </p:nvSpPr>
        <p:spPr bwMode="auto">
          <a:xfrm>
            <a:off x="6710005" y="6186907"/>
            <a:ext cx="14287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2" name="Text Box 188"/>
          <p:cNvSpPr txBox="1">
            <a:spLocks noChangeArrowheads="1"/>
          </p:cNvSpPr>
          <p:nvPr/>
        </p:nvSpPr>
        <p:spPr bwMode="auto">
          <a:xfrm>
            <a:off x="6636441" y="5864920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FF9933"/>
                </a:solidFill>
              </a:rPr>
              <a:t>T</a:t>
            </a:r>
          </a:p>
        </p:txBody>
      </p:sp>
      <p:sp>
        <p:nvSpPr>
          <p:cNvPr id="73" name="Text Box 190"/>
          <p:cNvSpPr txBox="1">
            <a:spLocks noChangeArrowheads="1"/>
          </p:cNvSpPr>
          <p:nvPr/>
        </p:nvSpPr>
        <p:spPr bwMode="auto">
          <a:xfrm>
            <a:off x="6547859" y="6266281"/>
            <a:ext cx="693641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FF9933"/>
                </a:solidFill>
              </a:rPr>
              <a:t>XM=a</a:t>
            </a:r>
          </a:p>
        </p:txBody>
      </p:sp>
      <p:sp>
        <p:nvSpPr>
          <p:cNvPr id="74" name="Text Box 191"/>
          <p:cNvSpPr txBox="1">
            <a:spLocks noChangeArrowheads="1"/>
          </p:cNvSpPr>
          <p:nvPr/>
        </p:nvSpPr>
        <p:spPr bwMode="auto">
          <a:xfrm>
            <a:off x="8193205" y="6266281"/>
            <a:ext cx="53178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666633"/>
                </a:solidFill>
              </a:rPr>
              <a:t>YM=x</a:t>
            </a:r>
          </a:p>
        </p:txBody>
      </p:sp>
      <p:sp>
        <p:nvSpPr>
          <p:cNvPr id="75" name="Line 143"/>
          <p:cNvSpPr>
            <a:spLocks noChangeShapeType="1"/>
          </p:cNvSpPr>
          <p:nvPr/>
        </p:nvSpPr>
        <p:spPr bwMode="auto">
          <a:xfrm flipH="1">
            <a:off x="7166598" y="6257782"/>
            <a:ext cx="149" cy="182825"/>
          </a:xfrm>
          <a:prstGeom prst="line">
            <a:avLst/>
          </a:prstGeom>
          <a:noFill/>
          <a:ln w="19050">
            <a:solidFill>
              <a:srgbClr val="FF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6" name="Text Box 188"/>
          <p:cNvSpPr txBox="1">
            <a:spLocks noChangeArrowheads="1"/>
          </p:cNvSpPr>
          <p:nvPr/>
        </p:nvSpPr>
        <p:spPr bwMode="auto">
          <a:xfrm>
            <a:off x="7911193" y="5769062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666633"/>
                </a:solidFill>
              </a:rPr>
              <a:t>C</a:t>
            </a:r>
          </a:p>
        </p:txBody>
      </p:sp>
      <p:sp>
        <p:nvSpPr>
          <p:cNvPr id="77" name="Line 56"/>
          <p:cNvSpPr>
            <a:spLocks noChangeShapeType="1"/>
          </p:cNvSpPr>
          <p:nvPr/>
        </p:nvSpPr>
        <p:spPr bwMode="auto">
          <a:xfrm>
            <a:off x="7207458" y="5160488"/>
            <a:ext cx="6075" cy="157594"/>
          </a:xfrm>
          <a:prstGeom prst="line">
            <a:avLst/>
          </a:prstGeom>
          <a:noFill/>
          <a:ln w="19050">
            <a:solidFill>
              <a:srgbClr val="FF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8" name="Text Box 186"/>
          <p:cNvSpPr txBox="1">
            <a:spLocks noChangeArrowheads="1"/>
          </p:cNvSpPr>
          <p:nvPr/>
        </p:nvSpPr>
        <p:spPr bwMode="auto">
          <a:xfrm>
            <a:off x="7181733" y="5103629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FF9933"/>
                </a:solidFill>
              </a:rPr>
              <a:t>D</a:t>
            </a:r>
          </a:p>
        </p:txBody>
      </p:sp>
      <p:sp>
        <p:nvSpPr>
          <p:cNvPr id="10" name="矩形 9"/>
          <p:cNvSpPr/>
          <p:nvPr/>
        </p:nvSpPr>
        <p:spPr>
          <a:xfrm>
            <a:off x="6792143" y="4404651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2" name="矩形 1"/>
          <p:cNvSpPr/>
          <p:nvPr/>
        </p:nvSpPr>
        <p:spPr>
          <a:xfrm>
            <a:off x="3915376" y="4386518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①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226792" y="4815038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②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8636875" y="6099145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④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65473" y="5426408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⑤</a:t>
            </a:r>
            <a:endParaRPr lang="zh-CN" altLang="en-US" dirty="0"/>
          </a:p>
        </p:txBody>
      </p:sp>
      <p:sp>
        <p:nvSpPr>
          <p:cNvPr id="5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55335" y="6407435"/>
            <a:ext cx="514400" cy="36909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0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426682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矩形 250"/>
          <p:cNvSpPr/>
          <p:nvPr/>
        </p:nvSpPr>
        <p:spPr>
          <a:xfrm>
            <a:off x="288419" y="913112"/>
            <a:ext cx="858131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9138" eaLnBrk="1" hangingPunct="1"/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续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、执行第二条指令：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MAC *AR3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，*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AR4+,A</a:t>
            </a:r>
          </a:p>
          <a:p>
            <a:pPr indent="719138" eaLnBrk="1" hangingPunct="1"/>
            <a:r>
              <a:rPr lang="zh-CN" altLang="en-US" sz="2800" dirty="0">
                <a:latin typeface="+mn-ea"/>
                <a:ea typeface="+mn-ea"/>
              </a:rPr>
              <a:t>（</a:t>
            </a:r>
            <a:r>
              <a:rPr lang="en-US" altLang="zh-CN" sz="2800" dirty="0">
                <a:latin typeface="+mn-ea"/>
                <a:ea typeface="+mn-ea"/>
              </a:rPr>
              <a:t>4</a:t>
            </a:r>
            <a:r>
              <a:rPr lang="zh-CN" altLang="en-US" sz="2800" dirty="0">
                <a:latin typeface="+mn-ea"/>
                <a:ea typeface="+mn-ea"/>
              </a:rPr>
              <a:t>） 此后</a:t>
            </a:r>
            <a:r>
              <a:rPr lang="en-US" altLang="zh-CN" sz="2800" dirty="0">
                <a:latin typeface="+mn-ea"/>
                <a:ea typeface="+mn-ea"/>
              </a:rPr>
              <a:t>17×17</a:t>
            </a:r>
            <a:r>
              <a:rPr lang="zh-CN" altLang="en-US" sz="2800" dirty="0">
                <a:latin typeface="+mn-ea"/>
                <a:ea typeface="+mn-ea"/>
              </a:rPr>
              <a:t>乘法器进行</a:t>
            </a:r>
            <a:r>
              <a:rPr lang="en-US" altLang="zh-CN" sz="2800" dirty="0">
                <a:latin typeface="+mn-ea"/>
                <a:ea typeface="+mn-ea"/>
              </a:rPr>
              <a:t>XM</a:t>
            </a:r>
            <a:r>
              <a:rPr lang="zh-CN" altLang="en-US" sz="2800" dirty="0">
                <a:latin typeface="+mn-ea"/>
                <a:ea typeface="+mn-ea"/>
              </a:rPr>
              <a:t>端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①</a:t>
            </a:r>
            <a:r>
              <a:rPr lang="zh-CN" altLang="en-US" sz="2800" dirty="0">
                <a:latin typeface="+mn-ea"/>
                <a:ea typeface="+mn-ea"/>
              </a:rPr>
              <a:t>与</a:t>
            </a:r>
            <a:r>
              <a:rPr lang="en-US" altLang="zh-CN" sz="2800" dirty="0">
                <a:latin typeface="+mn-ea"/>
                <a:ea typeface="+mn-ea"/>
              </a:rPr>
              <a:t>YM</a:t>
            </a:r>
            <a:r>
              <a:rPr lang="zh-CN" altLang="en-US" sz="2800" dirty="0">
                <a:latin typeface="+mn-ea"/>
                <a:ea typeface="+mn-ea"/>
              </a:rPr>
              <a:t>端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①</a:t>
            </a:r>
            <a:r>
              <a:rPr lang="zh-CN" altLang="en-US" sz="2800" dirty="0">
                <a:latin typeface="+mn-ea"/>
                <a:ea typeface="+mn-ea"/>
              </a:rPr>
              <a:t>输入数据的乘法计算，其结果经小数</a:t>
            </a:r>
            <a:r>
              <a:rPr lang="en-US" altLang="zh-CN" sz="2800" dirty="0">
                <a:latin typeface="+mn-ea"/>
                <a:ea typeface="+mn-ea"/>
              </a:rPr>
              <a:t>/</a:t>
            </a:r>
            <a:r>
              <a:rPr lang="zh-CN" altLang="en-US" sz="2800" dirty="0">
                <a:latin typeface="+mn-ea"/>
                <a:ea typeface="+mn-ea"/>
              </a:rPr>
              <a:t>整数运算控制输出后输入到</a:t>
            </a:r>
            <a:r>
              <a:rPr lang="en-US" altLang="zh-CN" sz="2800" dirty="0">
                <a:latin typeface="+mn-ea"/>
                <a:ea typeface="+mn-ea"/>
              </a:rPr>
              <a:t>40</a:t>
            </a:r>
            <a:r>
              <a:rPr lang="zh-CN" altLang="en-US" sz="2800" dirty="0">
                <a:latin typeface="+mn-ea"/>
                <a:ea typeface="+mn-ea"/>
              </a:rPr>
              <a:t>位加法器的</a:t>
            </a:r>
            <a:r>
              <a:rPr lang="en-US" altLang="zh-CN" sz="2800" dirty="0">
                <a:latin typeface="+mn-ea"/>
                <a:ea typeface="+mn-ea"/>
              </a:rPr>
              <a:t>XA</a:t>
            </a:r>
            <a:r>
              <a:rPr lang="zh-CN" altLang="en-US" sz="2800" dirty="0">
                <a:latin typeface="+mn-ea"/>
                <a:ea typeface="+mn-ea"/>
              </a:rPr>
              <a:t>端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②</a:t>
            </a:r>
            <a:r>
              <a:rPr lang="zh-CN" altLang="en-US" sz="2800" dirty="0">
                <a:latin typeface="+mn-ea"/>
                <a:ea typeface="+mn-ea"/>
              </a:rPr>
              <a:t>。此时</a:t>
            </a:r>
            <a:r>
              <a:rPr lang="en-US" altLang="zh-CN" sz="2800" dirty="0">
                <a:latin typeface="+mn-ea"/>
                <a:ea typeface="+mn-ea"/>
              </a:rPr>
              <a:t>A</a:t>
            </a:r>
            <a:r>
              <a:rPr lang="zh-CN" altLang="en-US" sz="2800" dirty="0">
                <a:latin typeface="+mn-ea"/>
                <a:ea typeface="+mn-ea"/>
              </a:rPr>
              <a:t>累加器输出</a:t>
            </a:r>
            <a:r>
              <a:rPr lang="en-US" altLang="zh-CN" sz="2800" dirty="0">
                <a:latin typeface="+mn-ea"/>
                <a:ea typeface="+mn-ea"/>
              </a:rPr>
              <a:t>b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③</a:t>
            </a:r>
            <a:r>
              <a:rPr lang="zh-CN" altLang="en-US" sz="2800" dirty="0">
                <a:latin typeface="+mn-ea"/>
                <a:ea typeface="+mn-ea"/>
              </a:rPr>
              <a:t>经多路选择器</a:t>
            </a:r>
            <a:r>
              <a:rPr lang="en-US" altLang="zh-CN" sz="2800" dirty="0">
                <a:latin typeface="+mn-ea"/>
                <a:ea typeface="+mn-ea"/>
              </a:rPr>
              <a:t>MUX</a:t>
            </a:r>
            <a:r>
              <a:rPr lang="zh-CN" altLang="en-US" sz="2800" dirty="0">
                <a:latin typeface="+mn-ea"/>
                <a:ea typeface="+mn-ea"/>
              </a:rPr>
              <a:t>输出到</a:t>
            </a:r>
            <a:r>
              <a:rPr lang="en-US" altLang="zh-CN" sz="2800" dirty="0">
                <a:latin typeface="+mn-ea"/>
                <a:ea typeface="+mn-ea"/>
              </a:rPr>
              <a:t>40</a:t>
            </a:r>
            <a:r>
              <a:rPr lang="zh-CN" altLang="en-US" sz="2800" dirty="0">
                <a:latin typeface="+mn-ea"/>
                <a:ea typeface="+mn-ea"/>
              </a:rPr>
              <a:t>位加法器的</a:t>
            </a:r>
            <a:r>
              <a:rPr lang="en-US" altLang="zh-CN" sz="2800" dirty="0">
                <a:latin typeface="+mn-ea"/>
                <a:ea typeface="+mn-ea"/>
              </a:rPr>
              <a:t>YA</a:t>
            </a:r>
            <a:r>
              <a:rPr lang="zh-CN" altLang="en-US" sz="2800" dirty="0">
                <a:latin typeface="+mn-ea"/>
                <a:ea typeface="+mn-ea"/>
              </a:rPr>
              <a:t>端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④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  <a:r>
              <a:rPr lang="en-US" altLang="zh-CN" sz="2800" dirty="0">
                <a:latin typeface="+mn-ea"/>
                <a:ea typeface="+mn-ea"/>
              </a:rPr>
              <a:t>40</a:t>
            </a:r>
            <a:r>
              <a:rPr lang="zh-CN" altLang="en-US" sz="2800" dirty="0">
                <a:latin typeface="+mn-ea"/>
                <a:ea typeface="+mn-ea"/>
              </a:rPr>
              <a:t>位加法器进行</a:t>
            </a:r>
            <a:r>
              <a:rPr lang="en-US" altLang="zh-CN" sz="2800" dirty="0">
                <a:latin typeface="+mn-ea"/>
                <a:ea typeface="+mn-ea"/>
              </a:rPr>
              <a:t>XA</a:t>
            </a:r>
            <a:r>
              <a:rPr lang="zh-CN" altLang="en-US" sz="2800" dirty="0">
                <a:latin typeface="+mn-ea"/>
                <a:ea typeface="+mn-ea"/>
              </a:rPr>
              <a:t>端与</a:t>
            </a:r>
            <a:r>
              <a:rPr lang="en-US" altLang="zh-CN" sz="2800" dirty="0">
                <a:latin typeface="+mn-ea"/>
                <a:ea typeface="+mn-ea"/>
              </a:rPr>
              <a:t>YA</a:t>
            </a:r>
            <a:r>
              <a:rPr lang="zh-CN" altLang="en-US" sz="2800" dirty="0">
                <a:latin typeface="+mn-ea"/>
                <a:ea typeface="+mn-ea"/>
              </a:rPr>
              <a:t>端相加计算，得到</a:t>
            </a:r>
            <a:r>
              <a:rPr lang="en-US" altLang="zh-CN" sz="2800" dirty="0" err="1">
                <a:latin typeface="+mn-ea"/>
                <a:ea typeface="+mn-ea"/>
              </a:rPr>
              <a:t>ax+b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⑤</a:t>
            </a:r>
            <a:r>
              <a:rPr lang="zh-CN" altLang="en-US" sz="2800" dirty="0">
                <a:latin typeface="+mn-ea"/>
                <a:ea typeface="+mn-ea"/>
              </a:rPr>
              <a:t>，再输出到</a:t>
            </a:r>
            <a:r>
              <a:rPr lang="en-US" altLang="zh-CN" sz="2800" dirty="0">
                <a:latin typeface="+mn-ea"/>
                <a:ea typeface="+mn-ea"/>
              </a:rPr>
              <a:t>40</a:t>
            </a:r>
            <a:r>
              <a:rPr lang="zh-CN" altLang="en-US" sz="2800" dirty="0">
                <a:latin typeface="+mn-ea"/>
                <a:ea typeface="+mn-ea"/>
              </a:rPr>
              <a:t>位的</a:t>
            </a:r>
            <a:r>
              <a:rPr lang="en-US" altLang="zh-CN" sz="2800" dirty="0">
                <a:latin typeface="+mn-ea"/>
                <a:ea typeface="+mn-ea"/>
              </a:rPr>
              <a:t>A</a:t>
            </a:r>
            <a:r>
              <a:rPr lang="zh-CN" altLang="en-US" sz="2800" dirty="0">
                <a:latin typeface="+mn-ea"/>
                <a:ea typeface="+mn-ea"/>
              </a:rPr>
              <a:t>累加器中保存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⑥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</a:p>
        </p:txBody>
      </p:sp>
      <p:sp>
        <p:nvSpPr>
          <p:cNvPr id="82" name="Text Box 70"/>
          <p:cNvSpPr txBox="1">
            <a:spLocks noChangeArrowheads="1"/>
          </p:cNvSpPr>
          <p:nvPr/>
        </p:nvSpPr>
        <p:spPr bwMode="auto">
          <a:xfrm>
            <a:off x="2192648" y="5500725"/>
            <a:ext cx="1368425" cy="184666"/>
          </a:xfrm>
          <a:prstGeom prst="rect">
            <a:avLst/>
          </a:prstGeom>
          <a:solidFill>
            <a:schemeClr val="hlink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200" dirty="0">
                <a:solidFill>
                  <a:schemeClr val="folHlink"/>
                </a:solidFill>
              </a:rPr>
              <a:t>小数</a:t>
            </a:r>
            <a:r>
              <a:rPr lang="en-US" altLang="zh-CN" sz="1200" dirty="0">
                <a:solidFill>
                  <a:schemeClr val="folHlink"/>
                </a:solidFill>
              </a:rPr>
              <a:t>/</a:t>
            </a:r>
            <a:r>
              <a:rPr lang="zh-CN" altLang="en-US" sz="1200" dirty="0">
                <a:solidFill>
                  <a:schemeClr val="folHlink"/>
                </a:solidFill>
              </a:rPr>
              <a:t>整数运算控制</a:t>
            </a:r>
          </a:p>
        </p:txBody>
      </p:sp>
      <p:grpSp>
        <p:nvGrpSpPr>
          <p:cNvPr id="85" name="Group 79"/>
          <p:cNvGrpSpPr>
            <a:grpSpLocks/>
          </p:cNvGrpSpPr>
          <p:nvPr/>
        </p:nvGrpSpPr>
        <p:grpSpPr bwMode="auto">
          <a:xfrm>
            <a:off x="2770498" y="6273821"/>
            <a:ext cx="1062037" cy="184150"/>
            <a:chOff x="-477" y="3929"/>
            <a:chExt cx="669" cy="116"/>
          </a:xfrm>
        </p:grpSpPr>
        <p:sp>
          <p:nvSpPr>
            <p:cNvPr id="86" name="Text Box 76"/>
            <p:cNvSpPr txBox="1">
              <a:spLocks noChangeArrowheads="1"/>
            </p:cNvSpPr>
            <p:nvPr/>
          </p:nvSpPr>
          <p:spPr bwMode="auto">
            <a:xfrm>
              <a:off x="-477" y="3929"/>
              <a:ext cx="271" cy="116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200"/>
                <a:t>零</a:t>
              </a:r>
            </a:p>
          </p:txBody>
        </p:sp>
        <p:sp>
          <p:nvSpPr>
            <p:cNvPr id="87" name="Text Box 77"/>
            <p:cNvSpPr txBox="1">
              <a:spLocks noChangeArrowheads="1"/>
            </p:cNvSpPr>
            <p:nvPr/>
          </p:nvSpPr>
          <p:spPr bwMode="auto">
            <a:xfrm>
              <a:off x="-241" y="3929"/>
              <a:ext cx="227" cy="116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200"/>
                <a:t>饱和</a:t>
              </a:r>
            </a:p>
          </p:txBody>
        </p:sp>
        <p:sp>
          <p:nvSpPr>
            <p:cNvPr id="88" name="Text Box 78"/>
            <p:cNvSpPr txBox="1">
              <a:spLocks noChangeArrowheads="1"/>
            </p:cNvSpPr>
            <p:nvPr/>
          </p:nvSpPr>
          <p:spPr bwMode="auto">
            <a:xfrm>
              <a:off x="-12" y="3929"/>
              <a:ext cx="204" cy="116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200"/>
                <a:t>取整</a:t>
              </a:r>
            </a:p>
          </p:txBody>
        </p:sp>
      </p:grpSp>
      <p:grpSp>
        <p:nvGrpSpPr>
          <p:cNvPr id="89" name="Group 80"/>
          <p:cNvGrpSpPr>
            <a:grpSpLocks/>
          </p:cNvGrpSpPr>
          <p:nvPr/>
        </p:nvGrpSpPr>
        <p:grpSpPr bwMode="auto">
          <a:xfrm>
            <a:off x="3711124" y="5496487"/>
            <a:ext cx="823913" cy="204787"/>
            <a:chOff x="-723" y="2568"/>
            <a:chExt cx="519" cy="91"/>
          </a:xfrm>
          <a:solidFill>
            <a:srgbClr val="FFFF99"/>
          </a:solidFill>
        </p:grpSpPr>
        <p:sp>
          <p:nvSpPr>
            <p:cNvPr id="90" name="AutoShape 81"/>
            <p:cNvSpPr>
              <a:spLocks noChangeArrowheads="1"/>
            </p:cNvSpPr>
            <p:nvPr/>
          </p:nvSpPr>
          <p:spPr bwMode="auto">
            <a:xfrm>
              <a:off x="-723" y="2568"/>
              <a:ext cx="51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10 h 21600"/>
                <a:gd name="T14" fmla="*/ 17105 w 21600"/>
                <a:gd name="T15" fmla="*/ 170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Text Box 82"/>
            <p:cNvSpPr txBox="1">
              <a:spLocks noChangeArrowheads="1"/>
            </p:cNvSpPr>
            <p:nvPr/>
          </p:nvSpPr>
          <p:spPr bwMode="auto">
            <a:xfrm>
              <a:off x="-610" y="2577"/>
              <a:ext cx="275" cy="68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 dirty="0">
                  <a:solidFill>
                    <a:schemeClr val="accent2"/>
                  </a:solidFill>
                </a:rPr>
                <a:t>MUX</a:t>
              </a:r>
            </a:p>
          </p:txBody>
        </p:sp>
      </p:grpSp>
      <p:sp>
        <p:nvSpPr>
          <p:cNvPr id="95" name="Text Box 86"/>
          <p:cNvSpPr txBox="1">
            <a:spLocks noChangeArrowheads="1"/>
          </p:cNvSpPr>
          <p:nvPr/>
        </p:nvSpPr>
        <p:spPr bwMode="auto">
          <a:xfrm>
            <a:off x="4254253" y="4780000"/>
            <a:ext cx="936625" cy="184666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200" dirty="0">
                <a:solidFill>
                  <a:schemeClr val="hlink"/>
                </a:solidFill>
              </a:rPr>
              <a:t>累加器</a:t>
            </a:r>
            <a:r>
              <a:rPr lang="en-US" altLang="zh-CN" sz="1200" dirty="0">
                <a:solidFill>
                  <a:schemeClr val="hlink"/>
                </a:solidFill>
              </a:rPr>
              <a:t>A</a:t>
            </a:r>
            <a:r>
              <a:rPr lang="zh-CN" altLang="en-US" sz="1200" dirty="0">
                <a:solidFill>
                  <a:schemeClr val="hlink"/>
                </a:solidFill>
              </a:rPr>
              <a:t>（</a:t>
            </a:r>
            <a:r>
              <a:rPr lang="en-US" altLang="zh-CN" sz="1200" dirty="0">
                <a:solidFill>
                  <a:schemeClr val="hlink"/>
                </a:solidFill>
              </a:rPr>
              <a:t>40</a:t>
            </a:r>
            <a:r>
              <a:rPr lang="zh-CN" altLang="en-US" sz="1200" dirty="0">
                <a:solidFill>
                  <a:schemeClr val="hlink"/>
                </a:solidFill>
              </a:rPr>
              <a:t>）</a:t>
            </a:r>
          </a:p>
        </p:txBody>
      </p:sp>
      <p:grpSp>
        <p:nvGrpSpPr>
          <p:cNvPr id="100" name="Group 100"/>
          <p:cNvGrpSpPr>
            <a:grpSpLocks/>
          </p:cNvGrpSpPr>
          <p:nvPr/>
        </p:nvGrpSpPr>
        <p:grpSpPr bwMode="auto">
          <a:xfrm>
            <a:off x="2059297" y="5699135"/>
            <a:ext cx="2552701" cy="890582"/>
            <a:chOff x="-676" y="3594"/>
            <a:chExt cx="1608" cy="561"/>
          </a:xfrm>
        </p:grpSpPr>
        <p:sp>
          <p:nvSpPr>
            <p:cNvPr id="101" name="AutoShape 101"/>
            <p:cNvSpPr>
              <a:spLocks noChangeArrowheads="1"/>
            </p:cNvSpPr>
            <p:nvPr/>
          </p:nvSpPr>
          <p:spPr bwMode="auto">
            <a:xfrm>
              <a:off x="-567" y="3702"/>
              <a:ext cx="1360" cy="136"/>
            </a:xfrm>
            <a:custGeom>
              <a:avLst/>
              <a:gdLst>
                <a:gd name="T0" fmla="*/ 5 w 21600"/>
                <a:gd name="T1" fmla="*/ 0 h 21600"/>
                <a:gd name="T2" fmla="*/ 3 w 21600"/>
                <a:gd name="T3" fmla="*/ 0 h 21600"/>
                <a:gd name="T4" fmla="*/ 1 w 21600"/>
                <a:gd name="T5" fmla="*/ 0 h 21600"/>
                <a:gd name="T6" fmla="*/ 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447 h 21600"/>
                <a:gd name="T14" fmla="*/ 17105 w 21600"/>
                <a:gd name="T15" fmla="*/ 1715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" name="Text Box 102"/>
            <p:cNvSpPr txBox="1">
              <a:spLocks noChangeArrowheads="1"/>
            </p:cNvSpPr>
            <p:nvPr/>
          </p:nvSpPr>
          <p:spPr bwMode="auto">
            <a:xfrm>
              <a:off x="-409" y="3702"/>
              <a:ext cx="18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 dirty="0">
                  <a:solidFill>
                    <a:schemeClr val="tx2"/>
                  </a:solidFill>
                </a:rPr>
                <a:t>XA</a:t>
              </a:r>
            </a:p>
          </p:txBody>
        </p:sp>
        <p:sp>
          <p:nvSpPr>
            <p:cNvPr id="103" name="Text Box 103"/>
            <p:cNvSpPr txBox="1">
              <a:spLocks noChangeArrowheads="1"/>
            </p:cNvSpPr>
            <p:nvPr/>
          </p:nvSpPr>
          <p:spPr bwMode="auto">
            <a:xfrm>
              <a:off x="407" y="3702"/>
              <a:ext cx="18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 dirty="0">
                  <a:solidFill>
                    <a:schemeClr val="accent2"/>
                  </a:solidFill>
                </a:rPr>
                <a:t>YA</a:t>
              </a:r>
            </a:p>
          </p:txBody>
        </p:sp>
        <p:sp>
          <p:nvSpPr>
            <p:cNvPr id="104" name="Rectangle 104"/>
            <p:cNvSpPr>
              <a:spLocks noChangeArrowheads="1"/>
            </p:cNvSpPr>
            <p:nvPr/>
          </p:nvSpPr>
          <p:spPr bwMode="auto">
            <a:xfrm>
              <a:off x="-250" y="3702"/>
              <a:ext cx="658" cy="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" name="Rectangle 105"/>
            <p:cNvSpPr>
              <a:spLocks noChangeArrowheads="1"/>
            </p:cNvSpPr>
            <p:nvPr/>
          </p:nvSpPr>
          <p:spPr bwMode="auto">
            <a:xfrm>
              <a:off x="-250" y="3621"/>
              <a:ext cx="658" cy="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" name="Text Box 106"/>
            <p:cNvSpPr txBox="1">
              <a:spLocks noChangeArrowheads="1"/>
            </p:cNvSpPr>
            <p:nvPr/>
          </p:nvSpPr>
          <p:spPr bwMode="auto">
            <a:xfrm>
              <a:off x="-202" y="3725"/>
              <a:ext cx="568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dirty="0">
                  <a:solidFill>
                    <a:schemeClr val="tx2"/>
                  </a:solidFill>
                </a:rPr>
                <a:t>40</a:t>
              </a:r>
              <a:r>
                <a:rPr lang="zh-CN" altLang="en-US" sz="1200" dirty="0">
                  <a:solidFill>
                    <a:schemeClr val="tx2"/>
                  </a:solidFill>
                </a:rPr>
                <a:t>位加法器</a:t>
              </a:r>
            </a:p>
          </p:txBody>
        </p:sp>
        <p:sp>
          <p:nvSpPr>
            <p:cNvPr id="239" name="Text Box 103"/>
            <p:cNvSpPr txBox="1">
              <a:spLocks noChangeArrowheads="1"/>
            </p:cNvSpPr>
            <p:nvPr/>
          </p:nvSpPr>
          <p:spPr bwMode="auto">
            <a:xfrm>
              <a:off x="696" y="3600"/>
              <a:ext cx="236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 dirty="0">
                  <a:solidFill>
                    <a:schemeClr val="accent2"/>
                  </a:solidFill>
                </a:rPr>
                <a:t>YA=b</a:t>
              </a:r>
            </a:p>
          </p:txBody>
        </p:sp>
        <p:sp>
          <p:nvSpPr>
            <p:cNvPr id="271" name="Text Box 102"/>
            <p:cNvSpPr txBox="1">
              <a:spLocks noChangeArrowheads="1"/>
            </p:cNvSpPr>
            <p:nvPr/>
          </p:nvSpPr>
          <p:spPr bwMode="auto">
            <a:xfrm>
              <a:off x="-676" y="3594"/>
              <a:ext cx="258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 dirty="0">
                  <a:solidFill>
                    <a:schemeClr val="tx2"/>
                  </a:solidFill>
                </a:rPr>
                <a:t>XA=ax</a:t>
              </a:r>
            </a:p>
          </p:txBody>
        </p:sp>
        <p:sp>
          <p:nvSpPr>
            <p:cNvPr id="272" name="Text Box 102"/>
            <p:cNvSpPr txBox="1">
              <a:spLocks noChangeArrowheads="1"/>
            </p:cNvSpPr>
            <p:nvPr/>
          </p:nvSpPr>
          <p:spPr bwMode="auto">
            <a:xfrm>
              <a:off x="612" y="4058"/>
              <a:ext cx="258" cy="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 dirty="0">
                  <a:solidFill>
                    <a:srgbClr val="FF0000"/>
                  </a:solidFill>
                </a:rPr>
                <a:t>Ax+b</a:t>
              </a:r>
            </a:p>
          </p:txBody>
        </p:sp>
      </p:grpSp>
      <p:sp>
        <p:nvSpPr>
          <p:cNvPr id="119" name="Line 144"/>
          <p:cNvSpPr>
            <a:spLocks noChangeShapeType="1"/>
          </p:cNvSpPr>
          <p:nvPr/>
        </p:nvSpPr>
        <p:spPr bwMode="auto">
          <a:xfrm>
            <a:off x="2880035" y="5319750"/>
            <a:ext cx="0" cy="174625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0" name="Line 145"/>
          <p:cNvSpPr>
            <a:spLocks noChangeShapeType="1"/>
          </p:cNvSpPr>
          <p:nvPr/>
        </p:nvSpPr>
        <p:spPr bwMode="auto">
          <a:xfrm>
            <a:off x="2556185" y="5697575"/>
            <a:ext cx="0" cy="174625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2" name="Line 147"/>
          <p:cNvSpPr>
            <a:spLocks noChangeShapeType="1"/>
          </p:cNvSpPr>
          <p:nvPr/>
        </p:nvSpPr>
        <p:spPr bwMode="auto">
          <a:xfrm>
            <a:off x="4165353" y="5697575"/>
            <a:ext cx="0" cy="174625"/>
          </a:xfrm>
          <a:prstGeom prst="line">
            <a:avLst/>
          </a:prstGeom>
          <a:noFill/>
          <a:ln w="19050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4" name="Line 150"/>
          <p:cNvSpPr>
            <a:spLocks noChangeShapeType="1"/>
          </p:cNvSpPr>
          <p:nvPr/>
        </p:nvSpPr>
        <p:spPr bwMode="auto">
          <a:xfrm>
            <a:off x="3276910" y="6092862"/>
            <a:ext cx="0" cy="174625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5" name="Line 151"/>
          <p:cNvSpPr>
            <a:spLocks noChangeShapeType="1"/>
          </p:cNvSpPr>
          <p:nvPr/>
        </p:nvSpPr>
        <p:spPr bwMode="auto">
          <a:xfrm>
            <a:off x="3276910" y="6461162"/>
            <a:ext cx="0" cy="174625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0" name="Line 166"/>
          <p:cNvSpPr>
            <a:spLocks noChangeShapeType="1"/>
          </p:cNvSpPr>
          <p:nvPr/>
        </p:nvSpPr>
        <p:spPr bwMode="auto">
          <a:xfrm flipH="1">
            <a:off x="4219327" y="5334020"/>
            <a:ext cx="4199" cy="147655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1" name="Line 167"/>
          <p:cNvSpPr>
            <a:spLocks noChangeShapeType="1"/>
          </p:cNvSpPr>
          <p:nvPr/>
        </p:nvSpPr>
        <p:spPr bwMode="auto">
          <a:xfrm flipH="1">
            <a:off x="4076452" y="4412724"/>
            <a:ext cx="6244" cy="1067363"/>
          </a:xfrm>
          <a:prstGeom prst="line">
            <a:avLst/>
          </a:prstGeom>
          <a:noFill/>
          <a:ln w="19050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2" name="Line 168"/>
          <p:cNvSpPr>
            <a:spLocks noChangeShapeType="1"/>
          </p:cNvSpPr>
          <p:nvPr/>
        </p:nvSpPr>
        <p:spPr bwMode="auto">
          <a:xfrm flipH="1">
            <a:off x="4362203" y="5192750"/>
            <a:ext cx="3175" cy="287337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3" name="Text Box 169"/>
          <p:cNvSpPr txBox="1">
            <a:spLocks noChangeArrowheads="1"/>
          </p:cNvSpPr>
          <p:nvPr/>
        </p:nvSpPr>
        <p:spPr bwMode="auto">
          <a:xfrm>
            <a:off x="4190753" y="5024475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/>
              <a:t>0</a:t>
            </a:r>
          </a:p>
        </p:txBody>
      </p:sp>
      <p:sp>
        <p:nvSpPr>
          <p:cNvPr id="165" name="Text Box 252"/>
          <p:cNvSpPr txBox="1">
            <a:spLocks noChangeArrowheads="1"/>
          </p:cNvSpPr>
          <p:nvPr/>
        </p:nvSpPr>
        <p:spPr bwMode="auto">
          <a:xfrm>
            <a:off x="4044406" y="5155986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/>
              <a:t>B</a:t>
            </a:r>
          </a:p>
        </p:txBody>
      </p:sp>
      <p:sp>
        <p:nvSpPr>
          <p:cNvPr id="166" name="Text Box 253"/>
          <p:cNvSpPr txBox="1">
            <a:spLocks noChangeArrowheads="1"/>
          </p:cNvSpPr>
          <p:nvPr/>
        </p:nvSpPr>
        <p:spPr bwMode="auto">
          <a:xfrm>
            <a:off x="3816103" y="5209018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chemeClr val="accent2"/>
                </a:solidFill>
              </a:rPr>
              <a:t>A</a:t>
            </a:r>
          </a:p>
        </p:txBody>
      </p:sp>
      <p:sp>
        <p:nvSpPr>
          <p:cNvPr id="167" name="Line 158"/>
          <p:cNvSpPr>
            <a:spLocks noChangeShapeType="1"/>
          </p:cNvSpPr>
          <p:nvPr/>
        </p:nvSpPr>
        <p:spPr bwMode="auto">
          <a:xfrm>
            <a:off x="4073277" y="4422160"/>
            <a:ext cx="852824" cy="4561"/>
          </a:xfrm>
          <a:prstGeom prst="line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96" name="Group 93"/>
          <p:cNvGrpSpPr>
            <a:grpSpLocks/>
          </p:cNvGrpSpPr>
          <p:nvPr/>
        </p:nvGrpSpPr>
        <p:grpSpPr bwMode="auto">
          <a:xfrm>
            <a:off x="6153091" y="4917190"/>
            <a:ext cx="1871662" cy="349249"/>
            <a:chOff x="-567" y="3621"/>
            <a:chExt cx="1360" cy="220"/>
          </a:xfrm>
        </p:grpSpPr>
        <p:sp>
          <p:nvSpPr>
            <p:cNvPr id="197" name="AutoShape 64"/>
            <p:cNvSpPr>
              <a:spLocks noChangeArrowheads="1"/>
            </p:cNvSpPr>
            <p:nvPr/>
          </p:nvSpPr>
          <p:spPr bwMode="auto">
            <a:xfrm>
              <a:off x="-567" y="3702"/>
              <a:ext cx="1360" cy="136"/>
            </a:xfrm>
            <a:custGeom>
              <a:avLst/>
              <a:gdLst>
                <a:gd name="T0" fmla="*/ 5 w 21600"/>
                <a:gd name="T1" fmla="*/ 0 h 21600"/>
                <a:gd name="T2" fmla="*/ 3 w 21600"/>
                <a:gd name="T3" fmla="*/ 0 h 21600"/>
                <a:gd name="T4" fmla="*/ 1 w 21600"/>
                <a:gd name="T5" fmla="*/ 0 h 21600"/>
                <a:gd name="T6" fmla="*/ 3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447 h 21600"/>
                <a:gd name="T14" fmla="*/ 17105 w 21600"/>
                <a:gd name="T15" fmla="*/ 17153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600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8" name="Text Box 65"/>
            <p:cNvSpPr txBox="1">
              <a:spLocks noChangeArrowheads="1"/>
            </p:cNvSpPr>
            <p:nvPr/>
          </p:nvSpPr>
          <p:spPr bwMode="auto">
            <a:xfrm>
              <a:off x="-409" y="3702"/>
              <a:ext cx="18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>
                  <a:solidFill>
                    <a:schemeClr val="hlink"/>
                  </a:solidFill>
                </a:rPr>
                <a:t>Y</a:t>
              </a:r>
            </a:p>
          </p:txBody>
        </p:sp>
        <p:sp>
          <p:nvSpPr>
            <p:cNvPr id="199" name="Text Box 72"/>
            <p:cNvSpPr txBox="1">
              <a:spLocks noChangeArrowheads="1"/>
            </p:cNvSpPr>
            <p:nvPr/>
          </p:nvSpPr>
          <p:spPr bwMode="auto">
            <a:xfrm>
              <a:off x="407" y="3702"/>
              <a:ext cx="18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 dirty="0">
                  <a:solidFill>
                    <a:schemeClr val="hlink"/>
                  </a:solidFill>
                </a:rPr>
                <a:t>X</a:t>
              </a:r>
            </a:p>
          </p:txBody>
        </p:sp>
        <p:sp>
          <p:nvSpPr>
            <p:cNvPr id="200" name="Rectangle 73"/>
            <p:cNvSpPr>
              <a:spLocks noChangeArrowheads="1"/>
            </p:cNvSpPr>
            <p:nvPr/>
          </p:nvSpPr>
          <p:spPr bwMode="auto">
            <a:xfrm>
              <a:off x="-250" y="3702"/>
              <a:ext cx="658" cy="2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1" name="Rectangle 74"/>
            <p:cNvSpPr>
              <a:spLocks noChangeArrowheads="1"/>
            </p:cNvSpPr>
            <p:nvPr/>
          </p:nvSpPr>
          <p:spPr bwMode="auto">
            <a:xfrm>
              <a:off x="-250" y="3621"/>
              <a:ext cx="658" cy="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2" name="Text Box 75"/>
            <p:cNvSpPr txBox="1">
              <a:spLocks noChangeArrowheads="1"/>
            </p:cNvSpPr>
            <p:nvPr/>
          </p:nvSpPr>
          <p:spPr bwMode="auto">
            <a:xfrm>
              <a:off x="-202" y="3725"/>
              <a:ext cx="568" cy="116"/>
            </a:xfrm>
            <a:prstGeom prst="rect">
              <a:avLst/>
            </a:prstGeom>
            <a:solidFill>
              <a:srgbClr val="FF6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200" dirty="0">
                  <a:solidFill>
                    <a:schemeClr val="accent2"/>
                  </a:solidFill>
                </a:rPr>
                <a:t>40</a:t>
              </a:r>
              <a:r>
                <a:rPr lang="zh-CN" altLang="en-US" sz="1200" dirty="0">
                  <a:solidFill>
                    <a:schemeClr val="accent2"/>
                  </a:solidFill>
                </a:rPr>
                <a:t>位</a:t>
              </a:r>
              <a:r>
                <a:rPr lang="en-US" altLang="zh-CN" sz="1200" dirty="0">
                  <a:solidFill>
                    <a:schemeClr val="accent2"/>
                  </a:solidFill>
                </a:rPr>
                <a:t>ALU</a:t>
              </a:r>
            </a:p>
          </p:txBody>
        </p:sp>
      </p:grpSp>
      <p:sp>
        <p:nvSpPr>
          <p:cNvPr id="203" name="Text Box 86"/>
          <p:cNvSpPr txBox="1">
            <a:spLocks noChangeArrowheads="1"/>
          </p:cNvSpPr>
          <p:nvPr/>
        </p:nvSpPr>
        <p:spPr bwMode="auto">
          <a:xfrm>
            <a:off x="4518106" y="4806135"/>
            <a:ext cx="820516" cy="184666"/>
          </a:xfrm>
          <a:prstGeom prst="rect">
            <a:avLst/>
          </a:prstGeom>
          <a:solidFill>
            <a:srgbClr val="FFFF99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200" dirty="0">
                <a:solidFill>
                  <a:schemeClr val="accent2"/>
                </a:solidFill>
              </a:rPr>
              <a:t>累加器</a:t>
            </a:r>
            <a:r>
              <a:rPr lang="en-US" altLang="zh-CN" sz="1200" dirty="0">
                <a:solidFill>
                  <a:schemeClr val="accent2"/>
                </a:solidFill>
              </a:rPr>
              <a:t>A=b</a:t>
            </a:r>
            <a:endParaRPr lang="zh-CN" altLang="en-US" sz="1200" dirty="0">
              <a:solidFill>
                <a:schemeClr val="accent2"/>
              </a:solidFill>
            </a:endParaRPr>
          </a:p>
        </p:txBody>
      </p:sp>
      <p:sp>
        <p:nvSpPr>
          <p:cNvPr id="204" name="Text Box 87"/>
          <p:cNvSpPr txBox="1">
            <a:spLocks noChangeArrowheads="1"/>
          </p:cNvSpPr>
          <p:nvPr/>
        </p:nvSpPr>
        <p:spPr bwMode="auto">
          <a:xfrm>
            <a:off x="5387510" y="4801502"/>
            <a:ext cx="663979" cy="184666"/>
          </a:xfrm>
          <a:prstGeom prst="rect">
            <a:avLst/>
          </a:prstGeom>
          <a:solidFill>
            <a:srgbClr val="FF00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200" dirty="0">
                <a:solidFill>
                  <a:schemeClr val="hlink"/>
                </a:solidFill>
              </a:rPr>
              <a:t>累加器</a:t>
            </a:r>
            <a:r>
              <a:rPr lang="en-US" altLang="zh-CN" sz="1200" dirty="0">
                <a:solidFill>
                  <a:schemeClr val="hlink"/>
                </a:solidFill>
              </a:rPr>
              <a:t>B</a:t>
            </a:r>
            <a:endParaRPr lang="zh-CN" altLang="en-US" sz="1200" dirty="0">
              <a:solidFill>
                <a:schemeClr val="hlink"/>
              </a:solidFill>
            </a:endParaRPr>
          </a:p>
        </p:txBody>
      </p:sp>
      <p:grpSp>
        <p:nvGrpSpPr>
          <p:cNvPr id="205" name="Group 91"/>
          <p:cNvGrpSpPr>
            <a:grpSpLocks/>
          </p:cNvGrpSpPr>
          <p:nvPr/>
        </p:nvGrpSpPr>
        <p:grpSpPr bwMode="auto">
          <a:xfrm>
            <a:off x="5029310" y="5342864"/>
            <a:ext cx="823913" cy="204788"/>
            <a:chOff x="907" y="3226"/>
            <a:chExt cx="519" cy="129"/>
          </a:xfrm>
        </p:grpSpPr>
        <p:sp>
          <p:nvSpPr>
            <p:cNvPr id="206" name="AutoShape 89"/>
            <p:cNvSpPr>
              <a:spLocks noChangeArrowheads="1"/>
            </p:cNvSpPr>
            <p:nvPr/>
          </p:nvSpPr>
          <p:spPr bwMode="auto">
            <a:xfrm rot="10800000">
              <a:off x="907" y="3226"/>
              <a:ext cx="519" cy="1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21 h 21600"/>
                <a:gd name="T14" fmla="*/ 17105 w 21600"/>
                <a:gd name="T15" fmla="*/ 1707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7" name="Text Box 90"/>
            <p:cNvSpPr txBox="1">
              <a:spLocks noChangeArrowheads="1"/>
            </p:cNvSpPr>
            <p:nvPr/>
          </p:nvSpPr>
          <p:spPr bwMode="auto">
            <a:xfrm>
              <a:off x="1019" y="3249"/>
              <a:ext cx="295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 dirty="0">
                  <a:solidFill>
                    <a:schemeClr val="accent2"/>
                  </a:solidFill>
                </a:rPr>
                <a:t>MUX</a:t>
              </a:r>
            </a:p>
          </p:txBody>
        </p:sp>
      </p:grpSp>
      <p:grpSp>
        <p:nvGrpSpPr>
          <p:cNvPr id="208" name="Group 94"/>
          <p:cNvGrpSpPr>
            <a:grpSpLocks/>
          </p:cNvGrpSpPr>
          <p:nvPr/>
        </p:nvGrpSpPr>
        <p:grpSpPr bwMode="auto">
          <a:xfrm>
            <a:off x="7023766" y="4560073"/>
            <a:ext cx="895350" cy="195262"/>
            <a:chOff x="-723" y="2568"/>
            <a:chExt cx="519" cy="91"/>
          </a:xfrm>
        </p:grpSpPr>
        <p:sp>
          <p:nvSpPr>
            <p:cNvPr id="209" name="AutoShape 95"/>
            <p:cNvSpPr>
              <a:spLocks noChangeArrowheads="1"/>
            </p:cNvSpPr>
            <p:nvPr/>
          </p:nvSpPr>
          <p:spPr bwMode="auto">
            <a:xfrm>
              <a:off x="-723" y="2568"/>
              <a:ext cx="51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10 h 21600"/>
                <a:gd name="T14" fmla="*/ 17105 w 21600"/>
                <a:gd name="T15" fmla="*/ 170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0" name="Text Box 96"/>
            <p:cNvSpPr txBox="1">
              <a:spLocks noChangeArrowheads="1"/>
            </p:cNvSpPr>
            <p:nvPr/>
          </p:nvSpPr>
          <p:spPr bwMode="auto">
            <a:xfrm>
              <a:off x="-682" y="2568"/>
              <a:ext cx="453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000">
                  <a:solidFill>
                    <a:schemeClr val="tx2"/>
                  </a:solidFill>
                </a:rPr>
                <a:t>符号控制器</a:t>
              </a:r>
            </a:p>
          </p:txBody>
        </p:sp>
      </p:grpSp>
      <p:grpSp>
        <p:nvGrpSpPr>
          <p:cNvPr id="211" name="Group 97"/>
          <p:cNvGrpSpPr>
            <a:grpSpLocks/>
          </p:cNvGrpSpPr>
          <p:nvPr/>
        </p:nvGrpSpPr>
        <p:grpSpPr bwMode="auto">
          <a:xfrm>
            <a:off x="6107605" y="4570070"/>
            <a:ext cx="895350" cy="199553"/>
            <a:chOff x="-723" y="2566"/>
            <a:chExt cx="519" cy="93"/>
          </a:xfrm>
        </p:grpSpPr>
        <p:sp>
          <p:nvSpPr>
            <p:cNvPr id="212" name="AutoShape 98"/>
            <p:cNvSpPr>
              <a:spLocks noChangeArrowheads="1"/>
            </p:cNvSpPr>
            <p:nvPr/>
          </p:nvSpPr>
          <p:spPr bwMode="auto">
            <a:xfrm>
              <a:off x="-723" y="2568"/>
              <a:ext cx="51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10 h 21600"/>
                <a:gd name="T14" fmla="*/ 17105 w 21600"/>
                <a:gd name="T15" fmla="*/ 170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3" name="Text Box 99"/>
            <p:cNvSpPr txBox="1">
              <a:spLocks noChangeArrowheads="1"/>
            </p:cNvSpPr>
            <p:nvPr/>
          </p:nvSpPr>
          <p:spPr bwMode="auto">
            <a:xfrm>
              <a:off x="-678" y="2566"/>
              <a:ext cx="453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000" dirty="0">
                  <a:solidFill>
                    <a:schemeClr val="tx2"/>
                  </a:solidFill>
                </a:rPr>
                <a:t>符号控制器</a:t>
              </a:r>
            </a:p>
          </p:txBody>
        </p:sp>
      </p:grpSp>
      <p:sp>
        <p:nvSpPr>
          <p:cNvPr id="214" name="Line 153"/>
          <p:cNvSpPr>
            <a:spLocks noChangeShapeType="1"/>
          </p:cNvSpPr>
          <p:nvPr/>
        </p:nvSpPr>
        <p:spPr bwMode="auto">
          <a:xfrm>
            <a:off x="5327404" y="5540989"/>
            <a:ext cx="0" cy="1108793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5" name="Line 154"/>
          <p:cNvSpPr>
            <a:spLocks noChangeShapeType="1"/>
          </p:cNvSpPr>
          <p:nvPr/>
        </p:nvSpPr>
        <p:spPr bwMode="auto">
          <a:xfrm>
            <a:off x="4846588" y="4986168"/>
            <a:ext cx="1747" cy="649445"/>
          </a:xfrm>
          <a:prstGeom prst="line">
            <a:avLst/>
          </a:prstGeom>
          <a:noFill/>
          <a:ln w="19050">
            <a:solidFill>
              <a:srgbClr val="33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6" name="Line 155"/>
          <p:cNvSpPr>
            <a:spLocks noChangeShapeType="1"/>
          </p:cNvSpPr>
          <p:nvPr/>
        </p:nvSpPr>
        <p:spPr bwMode="auto">
          <a:xfrm>
            <a:off x="4848335" y="5627027"/>
            <a:ext cx="323850" cy="0"/>
          </a:xfrm>
          <a:prstGeom prst="line">
            <a:avLst/>
          </a:prstGeom>
          <a:noFill/>
          <a:ln w="19050">
            <a:solidFill>
              <a:srgbClr val="33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7" name="Line 156"/>
          <p:cNvSpPr>
            <a:spLocks noChangeShapeType="1"/>
          </p:cNvSpPr>
          <p:nvPr/>
        </p:nvSpPr>
        <p:spPr bwMode="auto">
          <a:xfrm flipH="1">
            <a:off x="5157898" y="5534952"/>
            <a:ext cx="0" cy="107950"/>
          </a:xfrm>
          <a:prstGeom prst="line">
            <a:avLst/>
          </a:prstGeom>
          <a:noFill/>
          <a:ln w="19050">
            <a:solidFill>
              <a:srgbClr val="33CCFF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8" name="Line 157"/>
          <p:cNvSpPr>
            <a:spLocks noChangeShapeType="1"/>
          </p:cNvSpPr>
          <p:nvPr/>
        </p:nvSpPr>
        <p:spPr bwMode="auto">
          <a:xfrm>
            <a:off x="5965935" y="4964666"/>
            <a:ext cx="0" cy="662361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19" name="Line 158"/>
          <p:cNvSpPr>
            <a:spLocks noChangeShapeType="1"/>
          </p:cNvSpPr>
          <p:nvPr/>
        </p:nvSpPr>
        <p:spPr bwMode="auto">
          <a:xfrm>
            <a:off x="5640498" y="5627027"/>
            <a:ext cx="323850" cy="0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0" name="Line 159"/>
          <p:cNvSpPr>
            <a:spLocks noChangeShapeType="1"/>
          </p:cNvSpPr>
          <p:nvPr/>
        </p:nvSpPr>
        <p:spPr bwMode="auto">
          <a:xfrm flipH="1">
            <a:off x="5646669" y="5527014"/>
            <a:ext cx="0" cy="107950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1" name="Line 160"/>
          <p:cNvSpPr>
            <a:spLocks noChangeShapeType="1"/>
          </p:cNvSpPr>
          <p:nvPr/>
        </p:nvSpPr>
        <p:spPr bwMode="auto">
          <a:xfrm>
            <a:off x="5137260" y="5230995"/>
            <a:ext cx="308837" cy="0"/>
          </a:xfrm>
          <a:prstGeom prst="line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2" name="Line 161"/>
          <p:cNvSpPr>
            <a:spLocks noChangeShapeType="1"/>
          </p:cNvSpPr>
          <p:nvPr/>
        </p:nvSpPr>
        <p:spPr bwMode="auto">
          <a:xfrm>
            <a:off x="5675423" y="4974981"/>
            <a:ext cx="0" cy="285334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3" name="Line 162"/>
          <p:cNvSpPr>
            <a:spLocks noChangeShapeType="1"/>
          </p:cNvSpPr>
          <p:nvPr/>
        </p:nvSpPr>
        <p:spPr bwMode="auto">
          <a:xfrm flipH="1">
            <a:off x="5135715" y="4957987"/>
            <a:ext cx="1544" cy="285380"/>
          </a:xfrm>
          <a:prstGeom prst="line">
            <a:avLst/>
          </a:prstGeom>
          <a:noFill/>
          <a:ln w="19050">
            <a:solidFill>
              <a:schemeClr val="accent2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4" name="Line 163"/>
          <p:cNvSpPr>
            <a:spLocks noChangeShapeType="1"/>
          </p:cNvSpPr>
          <p:nvPr/>
        </p:nvSpPr>
        <p:spPr bwMode="auto">
          <a:xfrm>
            <a:off x="5456524" y="5243367"/>
            <a:ext cx="0" cy="104008"/>
          </a:xfrm>
          <a:prstGeom prst="line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5" name="Text Box 192"/>
          <p:cNvSpPr txBox="1">
            <a:spLocks noChangeArrowheads="1"/>
          </p:cNvSpPr>
          <p:nvPr/>
        </p:nvSpPr>
        <p:spPr bwMode="auto">
          <a:xfrm>
            <a:off x="4776898" y="5303177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/>
              <a:t>A</a:t>
            </a:r>
          </a:p>
        </p:txBody>
      </p:sp>
      <p:sp>
        <p:nvSpPr>
          <p:cNvPr id="226" name="Text Box 193"/>
          <p:cNvSpPr txBox="1">
            <a:spLocks noChangeArrowheads="1"/>
          </p:cNvSpPr>
          <p:nvPr/>
        </p:nvSpPr>
        <p:spPr bwMode="auto">
          <a:xfrm>
            <a:off x="5677010" y="5339689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/>
              <a:t>B</a:t>
            </a:r>
          </a:p>
        </p:txBody>
      </p:sp>
      <p:sp>
        <p:nvSpPr>
          <p:cNvPr id="227" name="Line 214"/>
          <p:cNvSpPr>
            <a:spLocks noChangeShapeType="1"/>
          </p:cNvSpPr>
          <p:nvPr/>
        </p:nvSpPr>
        <p:spPr bwMode="auto">
          <a:xfrm flipH="1">
            <a:off x="6536538" y="4763273"/>
            <a:ext cx="3175" cy="287337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" name="Line 215"/>
          <p:cNvSpPr>
            <a:spLocks noChangeShapeType="1"/>
          </p:cNvSpPr>
          <p:nvPr/>
        </p:nvSpPr>
        <p:spPr bwMode="auto">
          <a:xfrm flipH="1">
            <a:off x="7536529" y="4763273"/>
            <a:ext cx="3175" cy="287337"/>
          </a:xfrm>
          <a:prstGeom prst="line">
            <a:avLst/>
          </a:prstGeom>
          <a:noFill/>
          <a:ln w="19050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9" name="Line 216"/>
          <p:cNvSpPr>
            <a:spLocks noChangeShapeType="1"/>
          </p:cNvSpPr>
          <p:nvPr/>
        </p:nvSpPr>
        <p:spPr bwMode="auto">
          <a:xfrm flipV="1">
            <a:off x="5505907" y="5782601"/>
            <a:ext cx="1444894" cy="7029"/>
          </a:xfrm>
          <a:prstGeom prst="line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0" name="Line 217"/>
          <p:cNvSpPr>
            <a:spLocks noChangeShapeType="1"/>
          </p:cNvSpPr>
          <p:nvPr/>
        </p:nvSpPr>
        <p:spPr bwMode="auto">
          <a:xfrm flipH="1" flipV="1">
            <a:off x="5496035" y="5555588"/>
            <a:ext cx="3632" cy="232883"/>
          </a:xfrm>
          <a:prstGeom prst="line">
            <a:avLst/>
          </a:prstGeom>
          <a:noFill/>
          <a:ln w="28575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1" name="Line 218"/>
          <p:cNvSpPr>
            <a:spLocks noChangeShapeType="1"/>
          </p:cNvSpPr>
          <p:nvPr/>
        </p:nvSpPr>
        <p:spPr bwMode="auto">
          <a:xfrm flipH="1" flipV="1">
            <a:off x="6950800" y="5276480"/>
            <a:ext cx="0" cy="501358"/>
          </a:xfrm>
          <a:prstGeom prst="line">
            <a:avLst/>
          </a:prstGeom>
          <a:noFill/>
          <a:ln w="28575" cap="sq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2" name="Text Box 219"/>
          <p:cNvSpPr txBox="1">
            <a:spLocks noChangeArrowheads="1"/>
          </p:cNvSpPr>
          <p:nvPr/>
        </p:nvSpPr>
        <p:spPr bwMode="auto">
          <a:xfrm>
            <a:off x="6025229" y="4836298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/>
              <a:t>Y</a:t>
            </a:r>
          </a:p>
        </p:txBody>
      </p:sp>
      <p:sp>
        <p:nvSpPr>
          <p:cNvPr id="233" name="Text Box 220"/>
          <p:cNvSpPr txBox="1">
            <a:spLocks noChangeArrowheads="1"/>
          </p:cNvSpPr>
          <p:nvPr/>
        </p:nvSpPr>
        <p:spPr bwMode="auto">
          <a:xfrm>
            <a:off x="7536529" y="4836298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chemeClr val="accent2"/>
                </a:solidFill>
              </a:rPr>
              <a:t>X</a:t>
            </a:r>
          </a:p>
        </p:txBody>
      </p:sp>
      <p:sp>
        <p:nvSpPr>
          <p:cNvPr id="234" name="Text Box 230"/>
          <p:cNvSpPr txBox="1">
            <a:spLocks noChangeArrowheads="1"/>
          </p:cNvSpPr>
          <p:nvPr/>
        </p:nvSpPr>
        <p:spPr bwMode="auto">
          <a:xfrm>
            <a:off x="7133168" y="4371191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chemeClr val="accent2"/>
                </a:solidFill>
              </a:rPr>
              <a:t>D</a:t>
            </a:r>
          </a:p>
        </p:txBody>
      </p:sp>
      <p:sp>
        <p:nvSpPr>
          <p:cNvPr id="235" name="Line 7"/>
          <p:cNvSpPr>
            <a:spLocks noChangeShapeType="1"/>
          </p:cNvSpPr>
          <p:nvPr/>
        </p:nvSpPr>
        <p:spPr bwMode="auto">
          <a:xfrm flipH="1">
            <a:off x="7477121" y="4325689"/>
            <a:ext cx="0" cy="231158"/>
          </a:xfrm>
          <a:prstGeom prst="line">
            <a:avLst/>
          </a:prstGeom>
          <a:noFill/>
          <a:ln w="38100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6" name="Line 160"/>
          <p:cNvSpPr>
            <a:spLocks noChangeShapeType="1"/>
          </p:cNvSpPr>
          <p:nvPr/>
        </p:nvSpPr>
        <p:spPr bwMode="auto">
          <a:xfrm flipV="1">
            <a:off x="5461110" y="5230995"/>
            <a:ext cx="214313" cy="336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7" name="Line 162"/>
          <p:cNvSpPr>
            <a:spLocks noChangeShapeType="1"/>
          </p:cNvSpPr>
          <p:nvPr/>
        </p:nvSpPr>
        <p:spPr bwMode="auto">
          <a:xfrm>
            <a:off x="4920919" y="4419074"/>
            <a:ext cx="5182" cy="388760"/>
          </a:xfrm>
          <a:prstGeom prst="line">
            <a:avLst/>
          </a:prstGeom>
          <a:noFill/>
          <a:ln w="19050">
            <a:solidFill>
              <a:schemeClr val="accent2"/>
            </a:solidFill>
            <a:miter lim="800000"/>
            <a:headEnd type="non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8" name="Text Box 192"/>
          <p:cNvSpPr txBox="1">
            <a:spLocks noChangeArrowheads="1"/>
          </p:cNvSpPr>
          <p:nvPr/>
        </p:nvSpPr>
        <p:spPr bwMode="auto">
          <a:xfrm>
            <a:off x="4563732" y="4609251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chemeClr val="accent2"/>
                </a:solidFill>
              </a:rPr>
              <a:t>A=b</a:t>
            </a:r>
          </a:p>
        </p:txBody>
      </p:sp>
      <p:sp>
        <p:nvSpPr>
          <p:cNvPr id="247" name="Text Box 62"/>
          <p:cNvSpPr txBox="1">
            <a:spLocks noChangeArrowheads="1"/>
          </p:cNvSpPr>
          <p:nvPr/>
        </p:nvSpPr>
        <p:spPr bwMode="auto">
          <a:xfrm>
            <a:off x="1671242" y="4362665"/>
            <a:ext cx="1054949" cy="184666"/>
          </a:xfrm>
          <a:prstGeom prst="rect">
            <a:avLst/>
          </a:prstGeom>
          <a:solidFill>
            <a:schemeClr val="hlink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FF9933"/>
                </a:solidFill>
              </a:rPr>
              <a:t>T</a:t>
            </a:r>
            <a:r>
              <a:rPr lang="zh-CN" altLang="en-US" sz="1200" dirty="0">
                <a:solidFill>
                  <a:srgbClr val="FF9933"/>
                </a:solidFill>
              </a:rPr>
              <a:t>寄存器   </a:t>
            </a:r>
            <a:r>
              <a:rPr lang="en-US" altLang="zh-CN" sz="1200" dirty="0">
                <a:solidFill>
                  <a:srgbClr val="FF9933"/>
                </a:solidFill>
              </a:rPr>
              <a:t>T=a</a:t>
            </a:r>
            <a:endParaRPr lang="zh-CN" altLang="en-US" sz="1200" dirty="0">
              <a:solidFill>
                <a:srgbClr val="FF9933"/>
              </a:solidFill>
            </a:endParaRPr>
          </a:p>
        </p:txBody>
      </p:sp>
      <p:grpSp>
        <p:nvGrpSpPr>
          <p:cNvPr id="248" name="Group 66"/>
          <p:cNvGrpSpPr>
            <a:grpSpLocks/>
          </p:cNvGrpSpPr>
          <p:nvPr/>
        </p:nvGrpSpPr>
        <p:grpSpPr bwMode="auto">
          <a:xfrm>
            <a:off x="3028166" y="4754788"/>
            <a:ext cx="895350" cy="195262"/>
            <a:chOff x="-723" y="2568"/>
            <a:chExt cx="519" cy="91"/>
          </a:xfrm>
        </p:grpSpPr>
        <p:sp>
          <p:nvSpPr>
            <p:cNvPr id="249" name="AutoShape 67"/>
            <p:cNvSpPr>
              <a:spLocks noChangeArrowheads="1"/>
            </p:cNvSpPr>
            <p:nvPr/>
          </p:nvSpPr>
          <p:spPr bwMode="auto">
            <a:xfrm>
              <a:off x="-723" y="2568"/>
              <a:ext cx="51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10 h 21600"/>
                <a:gd name="T14" fmla="*/ 17105 w 21600"/>
                <a:gd name="T15" fmla="*/ 170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0" name="Text Box 68"/>
            <p:cNvSpPr txBox="1">
              <a:spLocks noChangeArrowheads="1"/>
            </p:cNvSpPr>
            <p:nvPr/>
          </p:nvSpPr>
          <p:spPr bwMode="auto">
            <a:xfrm>
              <a:off x="-682" y="2568"/>
              <a:ext cx="453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000" dirty="0">
                  <a:solidFill>
                    <a:schemeClr val="tx2"/>
                  </a:solidFill>
                </a:rPr>
                <a:t>符号控制器</a:t>
              </a:r>
            </a:p>
          </p:txBody>
        </p:sp>
      </p:grpSp>
      <p:sp>
        <p:nvSpPr>
          <p:cNvPr id="252" name="Text Box 69"/>
          <p:cNvSpPr txBox="1">
            <a:spLocks noChangeArrowheads="1"/>
          </p:cNvSpPr>
          <p:nvPr/>
        </p:nvSpPr>
        <p:spPr bwMode="auto">
          <a:xfrm>
            <a:off x="2060926" y="5136936"/>
            <a:ext cx="1589088" cy="184666"/>
          </a:xfrm>
          <a:prstGeom prst="rect">
            <a:avLst/>
          </a:prstGeom>
          <a:solidFill>
            <a:srgbClr val="FF00FF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chemeClr val="accent1"/>
                </a:solidFill>
              </a:rPr>
              <a:t>17×17</a:t>
            </a:r>
            <a:r>
              <a:rPr lang="zh-CN" altLang="en-US" sz="1200" dirty="0">
                <a:solidFill>
                  <a:schemeClr val="accent1"/>
                </a:solidFill>
              </a:rPr>
              <a:t>乘法器  </a:t>
            </a:r>
            <a:r>
              <a:rPr lang="en-US" altLang="zh-CN" sz="1200" dirty="0" err="1">
                <a:solidFill>
                  <a:srgbClr val="FF9933"/>
                </a:solidFill>
              </a:rPr>
              <a:t>a</a:t>
            </a:r>
            <a:r>
              <a:rPr lang="en-US" altLang="zh-CN" sz="1200" dirty="0" err="1"/>
              <a:t>×</a:t>
            </a:r>
            <a:r>
              <a:rPr lang="en-US" altLang="zh-CN" sz="1200" dirty="0" err="1">
                <a:solidFill>
                  <a:srgbClr val="666633"/>
                </a:solidFill>
              </a:rPr>
              <a:t>x</a:t>
            </a:r>
            <a:endParaRPr lang="zh-CN" altLang="en-US" sz="1200" dirty="0">
              <a:solidFill>
                <a:srgbClr val="666633"/>
              </a:solidFill>
            </a:endParaRPr>
          </a:p>
        </p:txBody>
      </p:sp>
      <p:grpSp>
        <p:nvGrpSpPr>
          <p:cNvPr id="253" name="Group 83"/>
          <p:cNvGrpSpPr>
            <a:grpSpLocks/>
          </p:cNvGrpSpPr>
          <p:nvPr/>
        </p:nvGrpSpPr>
        <p:grpSpPr bwMode="auto">
          <a:xfrm>
            <a:off x="1838724" y="4757963"/>
            <a:ext cx="895350" cy="195262"/>
            <a:chOff x="-723" y="2568"/>
            <a:chExt cx="519" cy="91"/>
          </a:xfrm>
        </p:grpSpPr>
        <p:sp>
          <p:nvSpPr>
            <p:cNvPr id="254" name="AutoShape 84"/>
            <p:cNvSpPr>
              <a:spLocks noChangeArrowheads="1"/>
            </p:cNvSpPr>
            <p:nvPr/>
          </p:nvSpPr>
          <p:spPr bwMode="auto">
            <a:xfrm>
              <a:off x="-723" y="2568"/>
              <a:ext cx="51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10 h 21600"/>
                <a:gd name="T14" fmla="*/ 17105 w 21600"/>
                <a:gd name="T15" fmla="*/ 170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5" name="Text Box 85"/>
            <p:cNvSpPr txBox="1">
              <a:spLocks noChangeArrowheads="1"/>
            </p:cNvSpPr>
            <p:nvPr/>
          </p:nvSpPr>
          <p:spPr bwMode="auto">
            <a:xfrm>
              <a:off x="-682" y="2568"/>
              <a:ext cx="453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000">
                  <a:solidFill>
                    <a:schemeClr val="tx2"/>
                  </a:solidFill>
                </a:rPr>
                <a:t>符号控制器</a:t>
              </a:r>
            </a:p>
          </p:txBody>
        </p:sp>
      </p:grpSp>
      <p:sp>
        <p:nvSpPr>
          <p:cNvPr id="256" name="Line 133"/>
          <p:cNvSpPr>
            <a:spLocks noChangeShapeType="1"/>
          </p:cNvSpPr>
          <p:nvPr/>
        </p:nvSpPr>
        <p:spPr bwMode="auto">
          <a:xfrm flipH="1">
            <a:off x="2114336" y="4567452"/>
            <a:ext cx="0" cy="180975"/>
          </a:xfrm>
          <a:prstGeom prst="line">
            <a:avLst/>
          </a:prstGeom>
          <a:noFill/>
          <a:ln w="19050">
            <a:solidFill>
              <a:srgbClr val="FF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7" name="Line 135"/>
          <p:cNvSpPr>
            <a:spLocks noChangeShapeType="1"/>
          </p:cNvSpPr>
          <p:nvPr/>
        </p:nvSpPr>
        <p:spPr bwMode="auto">
          <a:xfrm flipH="1">
            <a:off x="2356249" y="4645250"/>
            <a:ext cx="0" cy="107950"/>
          </a:xfrm>
          <a:prstGeom prst="line">
            <a:avLst/>
          </a:prstGeom>
          <a:noFill/>
          <a:ln w="19050">
            <a:solidFill>
              <a:srgbClr val="FF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8" name="Line 140"/>
          <p:cNvSpPr>
            <a:spLocks noChangeShapeType="1"/>
          </p:cNvSpPr>
          <p:nvPr/>
        </p:nvSpPr>
        <p:spPr bwMode="auto">
          <a:xfrm>
            <a:off x="2497536" y="4645250"/>
            <a:ext cx="1588" cy="107951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9" name="Line 143"/>
          <p:cNvSpPr>
            <a:spLocks noChangeShapeType="1"/>
          </p:cNvSpPr>
          <p:nvPr/>
        </p:nvSpPr>
        <p:spPr bwMode="auto">
          <a:xfrm flipH="1">
            <a:off x="3460108" y="4951636"/>
            <a:ext cx="149" cy="182825"/>
          </a:xfrm>
          <a:prstGeom prst="line">
            <a:avLst/>
          </a:prstGeom>
          <a:noFill/>
          <a:ln w="19050">
            <a:solidFill>
              <a:srgbClr val="6666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1" name="Text Box 181"/>
          <p:cNvSpPr txBox="1">
            <a:spLocks noChangeArrowheads="1"/>
          </p:cNvSpPr>
          <p:nvPr/>
        </p:nvSpPr>
        <p:spPr bwMode="auto">
          <a:xfrm>
            <a:off x="1491061" y="4770663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/>
              <a:t>SXM</a:t>
            </a:r>
          </a:p>
        </p:txBody>
      </p:sp>
      <p:sp>
        <p:nvSpPr>
          <p:cNvPr id="262" name="Line 182"/>
          <p:cNvSpPr>
            <a:spLocks noChangeShapeType="1"/>
          </p:cNvSpPr>
          <p:nvPr/>
        </p:nvSpPr>
        <p:spPr bwMode="auto">
          <a:xfrm>
            <a:off x="1816499" y="4878613"/>
            <a:ext cx="142875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3" name="Text Box 188"/>
          <p:cNvSpPr txBox="1">
            <a:spLocks noChangeArrowheads="1"/>
          </p:cNvSpPr>
          <p:nvPr/>
        </p:nvSpPr>
        <p:spPr bwMode="auto">
          <a:xfrm>
            <a:off x="1742935" y="4556626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FF9933"/>
                </a:solidFill>
              </a:rPr>
              <a:t>T</a:t>
            </a:r>
          </a:p>
        </p:txBody>
      </p:sp>
      <p:sp>
        <p:nvSpPr>
          <p:cNvPr id="264" name="Text Box 190"/>
          <p:cNvSpPr txBox="1">
            <a:spLocks noChangeArrowheads="1"/>
          </p:cNvSpPr>
          <p:nvPr/>
        </p:nvSpPr>
        <p:spPr bwMode="auto">
          <a:xfrm>
            <a:off x="1654353" y="4957987"/>
            <a:ext cx="693641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000" dirty="0">
                <a:solidFill>
                  <a:srgbClr val="FF9933"/>
                </a:solidFill>
              </a:rPr>
              <a:t>XM=a</a:t>
            </a:r>
          </a:p>
        </p:txBody>
      </p:sp>
      <p:sp>
        <p:nvSpPr>
          <p:cNvPr id="265" name="Text Box 191"/>
          <p:cNvSpPr txBox="1">
            <a:spLocks noChangeArrowheads="1"/>
          </p:cNvSpPr>
          <p:nvPr/>
        </p:nvSpPr>
        <p:spPr bwMode="auto">
          <a:xfrm>
            <a:off x="3476458" y="4957987"/>
            <a:ext cx="531783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000" dirty="0">
                <a:solidFill>
                  <a:srgbClr val="666633"/>
                </a:solidFill>
              </a:rPr>
              <a:t>YM=x</a:t>
            </a:r>
          </a:p>
        </p:txBody>
      </p:sp>
      <p:sp>
        <p:nvSpPr>
          <p:cNvPr id="266" name="Line 143"/>
          <p:cNvSpPr>
            <a:spLocks noChangeShapeType="1"/>
          </p:cNvSpPr>
          <p:nvPr/>
        </p:nvSpPr>
        <p:spPr bwMode="auto">
          <a:xfrm flipH="1">
            <a:off x="2273092" y="4949488"/>
            <a:ext cx="149" cy="182825"/>
          </a:xfrm>
          <a:prstGeom prst="line">
            <a:avLst/>
          </a:prstGeom>
          <a:noFill/>
          <a:ln w="19050">
            <a:solidFill>
              <a:srgbClr val="FF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67" name="Text Box 188"/>
          <p:cNvSpPr txBox="1">
            <a:spLocks noChangeArrowheads="1"/>
          </p:cNvSpPr>
          <p:nvPr/>
        </p:nvSpPr>
        <p:spPr bwMode="auto">
          <a:xfrm>
            <a:off x="3353111" y="4500561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666633"/>
                </a:solidFill>
              </a:rPr>
              <a:t>C</a:t>
            </a:r>
          </a:p>
        </p:txBody>
      </p:sp>
      <p:sp>
        <p:nvSpPr>
          <p:cNvPr id="270" name="Line 7"/>
          <p:cNvSpPr>
            <a:spLocks noChangeShapeType="1"/>
          </p:cNvSpPr>
          <p:nvPr/>
        </p:nvSpPr>
        <p:spPr bwMode="auto">
          <a:xfrm flipH="1">
            <a:off x="3404495" y="4506870"/>
            <a:ext cx="0" cy="231158"/>
          </a:xfrm>
          <a:prstGeom prst="line">
            <a:avLst/>
          </a:prstGeom>
          <a:noFill/>
          <a:ln w="38100">
            <a:solidFill>
              <a:srgbClr val="6666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3" name="Line 153"/>
          <p:cNvSpPr>
            <a:spLocks noChangeShapeType="1"/>
          </p:cNvSpPr>
          <p:nvPr/>
        </p:nvSpPr>
        <p:spPr bwMode="auto">
          <a:xfrm flipH="1" flipV="1">
            <a:off x="3276910" y="6633905"/>
            <a:ext cx="2059068" cy="15877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 type="non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4" name="矩形 273"/>
          <p:cNvSpPr/>
          <p:nvPr/>
        </p:nvSpPr>
        <p:spPr>
          <a:xfrm>
            <a:off x="3185650" y="4127428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666633"/>
                </a:solidFill>
              </a:rPr>
              <a:t>③</a:t>
            </a:r>
          </a:p>
        </p:txBody>
      </p:sp>
      <p:sp>
        <p:nvSpPr>
          <p:cNvPr id="275" name="矩形 274"/>
          <p:cNvSpPr/>
          <p:nvPr/>
        </p:nvSpPr>
        <p:spPr>
          <a:xfrm>
            <a:off x="2631282" y="5587624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10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55335" y="6407435"/>
            <a:ext cx="514400" cy="36909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0" dirty="0"/>
              <a:t>22</a:t>
            </a:r>
          </a:p>
        </p:txBody>
      </p:sp>
      <p:sp>
        <p:nvSpPr>
          <p:cNvPr id="4" name="矩形 3"/>
          <p:cNvSpPr/>
          <p:nvPr/>
        </p:nvSpPr>
        <p:spPr>
          <a:xfrm>
            <a:off x="2469570" y="4811697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①</a:t>
            </a:r>
            <a:endParaRPr lang="zh-CN" altLang="en-US" dirty="0"/>
          </a:p>
        </p:txBody>
      </p:sp>
      <p:sp>
        <p:nvSpPr>
          <p:cNvPr id="112" name="矩形 111"/>
          <p:cNvSpPr/>
          <p:nvPr/>
        </p:nvSpPr>
        <p:spPr>
          <a:xfrm>
            <a:off x="2884757" y="4829159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①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4496732" y="4077630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③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543185" y="5540989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④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301260" y="6008121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⑤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5104079" y="4891300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⑥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8402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Box 52"/>
          <p:cNvSpPr txBox="1">
            <a:spLocks noChangeArrowheads="1"/>
          </p:cNvSpPr>
          <p:nvPr/>
        </p:nvSpPr>
        <p:spPr bwMode="auto">
          <a:xfrm>
            <a:off x="3521201" y="4846460"/>
            <a:ext cx="938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FF9933"/>
                </a:solidFill>
                <a:latin typeface="+mn-ea"/>
                <a:ea typeface="+mn-ea"/>
              </a:rPr>
              <a:t>2082h</a:t>
            </a:r>
            <a:endParaRPr lang="en-US" altLang="zh-CN" sz="2000" b="1" baseline="-25000" dirty="0">
              <a:solidFill>
                <a:srgbClr val="FF9933"/>
              </a:solidFill>
              <a:latin typeface="+mn-ea"/>
              <a:ea typeface="+mn-ea"/>
            </a:endParaRPr>
          </a:p>
        </p:txBody>
      </p:sp>
      <p:sp>
        <p:nvSpPr>
          <p:cNvPr id="238" name="Text Box 56"/>
          <p:cNvSpPr txBox="1">
            <a:spLocks noChangeArrowheads="1"/>
          </p:cNvSpPr>
          <p:nvPr/>
        </p:nvSpPr>
        <p:spPr bwMode="auto">
          <a:xfrm>
            <a:off x="4499992" y="3877625"/>
            <a:ext cx="2455838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LD  *AR3+</a:t>
            </a:r>
            <a:r>
              <a:rPr lang="zh-CN" altLang="en-US" sz="2000" dirty="0">
                <a:solidFill>
                  <a:schemeClr val="folHlink"/>
                </a:solidFill>
                <a:latin typeface="+mn-ea"/>
                <a:ea typeface="+mn-ea"/>
              </a:rPr>
              <a:t>，</a:t>
            </a: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A</a:t>
            </a:r>
            <a:endParaRPr lang="en-US" altLang="zh-CN" sz="2000" b="1" baseline="-25000" dirty="0">
              <a:solidFill>
                <a:schemeClr val="folHlink"/>
              </a:solidFill>
              <a:latin typeface="+mn-ea"/>
              <a:ea typeface="+mn-ea"/>
            </a:endParaRPr>
          </a:p>
        </p:txBody>
      </p:sp>
      <p:sp>
        <p:nvSpPr>
          <p:cNvPr id="239" name="Text Box 57"/>
          <p:cNvSpPr txBox="1">
            <a:spLocks noChangeArrowheads="1"/>
          </p:cNvSpPr>
          <p:nvPr/>
        </p:nvSpPr>
        <p:spPr bwMode="auto">
          <a:xfrm>
            <a:off x="4499992" y="4277675"/>
            <a:ext cx="2455838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MAC *AR3</a:t>
            </a:r>
            <a:r>
              <a:rPr lang="zh-CN" altLang="en-US" sz="2000" dirty="0">
                <a:solidFill>
                  <a:schemeClr val="folHlink"/>
                </a:solidFill>
                <a:latin typeface="+mn-ea"/>
                <a:ea typeface="+mn-ea"/>
              </a:rPr>
              <a:t>，*</a:t>
            </a: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AR4+,A</a:t>
            </a:r>
            <a:endParaRPr lang="en-US" altLang="zh-CN" sz="2000" b="1" baseline="-25000" dirty="0">
              <a:solidFill>
                <a:schemeClr val="folHlink"/>
              </a:solidFill>
              <a:latin typeface="+mn-ea"/>
              <a:ea typeface="+mn-ea"/>
            </a:endParaRPr>
          </a:p>
        </p:txBody>
      </p:sp>
      <p:sp>
        <p:nvSpPr>
          <p:cNvPr id="240" name="Text Box 58"/>
          <p:cNvSpPr txBox="1">
            <a:spLocks noChangeArrowheads="1"/>
          </p:cNvSpPr>
          <p:nvPr/>
        </p:nvSpPr>
        <p:spPr bwMode="auto">
          <a:xfrm>
            <a:off x="4499992" y="4677725"/>
            <a:ext cx="2455838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STL A</a:t>
            </a:r>
            <a:r>
              <a:rPr lang="zh-CN" altLang="en-US" sz="2000" dirty="0">
                <a:solidFill>
                  <a:schemeClr val="folHlink"/>
                </a:solidFill>
                <a:latin typeface="+mn-ea"/>
                <a:ea typeface="+mn-ea"/>
              </a:rPr>
              <a:t>，*</a:t>
            </a:r>
            <a:r>
              <a:rPr lang="en-US" altLang="zh-CN" sz="2000" dirty="0">
                <a:solidFill>
                  <a:schemeClr val="folHlink"/>
                </a:solidFill>
                <a:latin typeface="+mn-ea"/>
                <a:ea typeface="+mn-ea"/>
              </a:rPr>
              <a:t>AR4</a:t>
            </a:r>
          </a:p>
        </p:txBody>
      </p:sp>
      <p:sp>
        <p:nvSpPr>
          <p:cNvPr id="245" name="Text Box 67"/>
          <p:cNvSpPr txBox="1">
            <a:spLocks noChangeArrowheads="1"/>
          </p:cNvSpPr>
          <p:nvPr/>
        </p:nvSpPr>
        <p:spPr bwMode="auto">
          <a:xfrm>
            <a:off x="4608004" y="5082832"/>
            <a:ext cx="21023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zh-CN" altLang="en-US" sz="2000" b="1" dirty="0">
                <a:solidFill>
                  <a:srgbClr val="FF00FF"/>
                </a:solidFill>
              </a:rPr>
              <a:t>程序存储器</a:t>
            </a:r>
            <a:r>
              <a:rPr lang="en-US" altLang="zh-CN" sz="2000" dirty="0">
                <a:solidFill>
                  <a:srgbClr val="FF6600"/>
                </a:solidFill>
              </a:rPr>
              <a:t>ROM</a:t>
            </a:r>
            <a:endParaRPr lang="zh-CN" altLang="en-US" sz="2000" b="1" dirty="0">
              <a:solidFill>
                <a:srgbClr val="FF00FF"/>
              </a:solidFill>
            </a:endParaRPr>
          </a:p>
        </p:txBody>
      </p:sp>
      <p:sp>
        <p:nvSpPr>
          <p:cNvPr id="251" name="矩形 250"/>
          <p:cNvSpPr/>
          <p:nvPr/>
        </p:nvSpPr>
        <p:spPr>
          <a:xfrm>
            <a:off x="503548" y="960454"/>
            <a:ext cx="7992887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9138" eaLnBrk="1" hangingPunct="1"/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、执行第三条指令：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STL A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，*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AR4</a:t>
            </a:r>
          </a:p>
          <a:p>
            <a:pPr indent="719138" eaLnBrk="1" hangingPunct="1"/>
            <a:r>
              <a:rPr lang="zh-CN" altLang="en-US" sz="2800" dirty="0">
                <a:latin typeface="+mn-ea"/>
                <a:ea typeface="+mn-ea"/>
              </a:rPr>
              <a:t>（</a:t>
            </a:r>
            <a:r>
              <a:rPr lang="en-US" altLang="zh-CN" sz="2800" dirty="0">
                <a:latin typeface="+mn-ea"/>
                <a:ea typeface="+mn-ea"/>
              </a:rPr>
              <a:t>1</a:t>
            </a:r>
            <a:r>
              <a:rPr lang="zh-CN" altLang="en-US" sz="2800" dirty="0">
                <a:latin typeface="+mn-ea"/>
                <a:ea typeface="+mn-ea"/>
              </a:rPr>
              <a:t>）</a:t>
            </a:r>
            <a:r>
              <a:rPr lang="en-US" altLang="zh-CN" sz="2800" dirty="0">
                <a:latin typeface="+mn-ea"/>
                <a:ea typeface="+mn-ea"/>
              </a:rPr>
              <a:t>CPU</a:t>
            </a:r>
            <a:r>
              <a:rPr lang="zh-CN" altLang="en-US" sz="2800" dirty="0">
                <a:latin typeface="+mn-ea"/>
                <a:ea typeface="+mn-ea"/>
              </a:rPr>
              <a:t>的程序地址产生逻辑（</a:t>
            </a:r>
            <a:r>
              <a:rPr lang="en-US" altLang="zh-CN" sz="2800" dirty="0">
                <a:latin typeface="+mn-ea"/>
                <a:ea typeface="+mn-ea"/>
              </a:rPr>
              <a:t>PAGEN</a:t>
            </a:r>
            <a:r>
              <a:rPr lang="zh-CN" altLang="en-US" sz="2800" dirty="0">
                <a:latin typeface="+mn-ea"/>
                <a:ea typeface="+mn-ea"/>
              </a:rPr>
              <a:t>）将</a:t>
            </a:r>
            <a:r>
              <a:rPr lang="en-US" altLang="zh-CN" sz="2800" dirty="0">
                <a:latin typeface="+mn-ea"/>
                <a:ea typeface="+mn-ea"/>
              </a:rPr>
              <a:t>PC=2082h</a:t>
            </a:r>
            <a:r>
              <a:rPr lang="zh-CN" altLang="en-US" sz="2800" dirty="0">
                <a:latin typeface="+mn-ea"/>
                <a:ea typeface="+mn-ea"/>
              </a:rPr>
              <a:t>放到地址总线</a:t>
            </a:r>
            <a:r>
              <a:rPr lang="en-US" altLang="zh-CN" sz="2800" dirty="0">
                <a:latin typeface="+mn-ea"/>
                <a:ea typeface="+mn-ea"/>
              </a:rPr>
              <a:t>PA</a:t>
            </a:r>
            <a:r>
              <a:rPr lang="zh-CN" altLang="en-US" sz="2800" dirty="0">
                <a:latin typeface="+mn-ea"/>
                <a:ea typeface="+mn-ea"/>
              </a:rPr>
              <a:t>上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①</a:t>
            </a:r>
            <a:r>
              <a:rPr lang="zh-CN" altLang="en-US" sz="2800" dirty="0">
                <a:latin typeface="+mn-ea"/>
                <a:ea typeface="+mn-ea"/>
              </a:rPr>
              <a:t>，程序存储器</a:t>
            </a:r>
            <a:r>
              <a:rPr lang="en-US" altLang="zh-CN" sz="2800" dirty="0">
                <a:latin typeface="+mn-ea"/>
                <a:ea typeface="+mn-ea"/>
              </a:rPr>
              <a:t>ROM</a:t>
            </a:r>
            <a:r>
              <a:rPr lang="zh-CN" altLang="en-US" sz="2800" dirty="0">
                <a:latin typeface="+mn-ea"/>
                <a:ea typeface="+mn-ea"/>
              </a:rPr>
              <a:t>译码该地址，将第三条指令</a:t>
            </a:r>
            <a:r>
              <a:rPr lang="en-US" altLang="zh-CN" sz="2800" dirty="0">
                <a:latin typeface="+mn-ea"/>
                <a:ea typeface="+mn-ea"/>
              </a:rPr>
              <a:t>STL A</a:t>
            </a:r>
            <a:r>
              <a:rPr lang="zh-CN" altLang="en-US" sz="2800" dirty="0">
                <a:latin typeface="+mn-ea"/>
                <a:ea typeface="+mn-ea"/>
              </a:rPr>
              <a:t>，*</a:t>
            </a:r>
            <a:r>
              <a:rPr lang="en-US" altLang="zh-CN" sz="2800" dirty="0">
                <a:latin typeface="+mn-ea"/>
                <a:ea typeface="+mn-ea"/>
              </a:rPr>
              <a:t>AR4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②</a:t>
            </a:r>
            <a:r>
              <a:rPr lang="zh-CN" altLang="en-US" sz="2800" dirty="0">
                <a:latin typeface="+mn-ea"/>
                <a:ea typeface="+mn-ea"/>
              </a:rPr>
              <a:t>对应的代码放到程序总线</a:t>
            </a:r>
            <a:r>
              <a:rPr lang="en-US" altLang="zh-CN" sz="2800" dirty="0">
                <a:latin typeface="+mn-ea"/>
                <a:ea typeface="+mn-ea"/>
              </a:rPr>
              <a:t>PB</a:t>
            </a:r>
            <a:r>
              <a:rPr lang="zh-CN" altLang="en-US" sz="2800" dirty="0">
                <a:latin typeface="+mn-ea"/>
                <a:ea typeface="+mn-ea"/>
              </a:rPr>
              <a:t>上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③</a:t>
            </a:r>
            <a:r>
              <a:rPr lang="zh-CN" altLang="en-US" sz="2800" dirty="0">
                <a:latin typeface="+mn-ea"/>
                <a:ea typeface="+mn-ea"/>
              </a:rPr>
              <a:t>，由指令译码器译码接收。同时使</a:t>
            </a:r>
            <a:r>
              <a:rPr lang="en-US" altLang="zh-CN" sz="2800" dirty="0">
                <a:latin typeface="+mn-ea"/>
                <a:ea typeface="+mn-ea"/>
              </a:rPr>
              <a:t>PC</a:t>
            </a:r>
            <a:r>
              <a:rPr lang="zh-CN" altLang="en-US" sz="2800" dirty="0">
                <a:latin typeface="+mn-ea"/>
                <a:ea typeface="+mn-ea"/>
              </a:rPr>
              <a:t>指针加</a:t>
            </a:r>
            <a:r>
              <a:rPr lang="en-US" altLang="zh-CN" sz="2800" dirty="0">
                <a:latin typeface="+mn-ea"/>
                <a:ea typeface="+mn-ea"/>
              </a:rPr>
              <a:t>1</a:t>
            </a:r>
            <a:r>
              <a:rPr lang="zh-CN" altLang="en-US" sz="2800" dirty="0">
                <a:latin typeface="+mn-ea"/>
                <a:ea typeface="+mn-ea"/>
              </a:rPr>
              <a:t>，指向</a:t>
            </a:r>
            <a:r>
              <a:rPr lang="en-US" altLang="zh-CN" sz="2800" dirty="0">
                <a:latin typeface="+mn-ea"/>
                <a:ea typeface="+mn-ea"/>
              </a:rPr>
              <a:t>PC=2083h</a:t>
            </a:r>
            <a:r>
              <a:rPr lang="zh-CN" altLang="zh-CN" sz="28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④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</a:p>
        </p:txBody>
      </p:sp>
      <p:sp>
        <p:nvSpPr>
          <p:cNvPr id="28" name="Line 7"/>
          <p:cNvSpPr>
            <a:spLocks noChangeShapeType="1"/>
          </p:cNvSpPr>
          <p:nvPr/>
        </p:nvSpPr>
        <p:spPr bwMode="auto">
          <a:xfrm>
            <a:off x="3591932" y="4876040"/>
            <a:ext cx="908060" cy="1"/>
          </a:xfrm>
          <a:prstGeom prst="line">
            <a:avLst/>
          </a:prstGeom>
          <a:noFill/>
          <a:ln w="38100">
            <a:solidFill>
              <a:srgbClr val="FF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6" name="Line 7"/>
          <p:cNvSpPr>
            <a:spLocks noChangeShapeType="1"/>
          </p:cNvSpPr>
          <p:nvPr/>
        </p:nvSpPr>
        <p:spPr bwMode="auto">
          <a:xfrm flipV="1">
            <a:off x="6953930" y="4858867"/>
            <a:ext cx="630708" cy="0"/>
          </a:xfrm>
          <a:prstGeom prst="line">
            <a:avLst/>
          </a:prstGeom>
          <a:noFill/>
          <a:ln w="38100">
            <a:solidFill>
              <a:srgbClr val="9900CC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756107" y="4500035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FF9933"/>
                </a:solidFill>
                <a:latin typeface="+mn-ea"/>
                <a:ea typeface="+mn-ea"/>
              </a:rPr>
              <a:t>PA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08964" y="4467689"/>
            <a:ext cx="444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9900CC"/>
                </a:solidFill>
                <a:latin typeface="+mn-ea"/>
                <a:ea typeface="+mn-ea"/>
              </a:rPr>
              <a:t>PB</a:t>
            </a:r>
            <a:endParaRPr lang="zh-CN" altLang="en-US" dirty="0">
              <a:solidFill>
                <a:srgbClr val="9900CC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6247" y="4500035"/>
            <a:ext cx="3414717" cy="707886"/>
          </a:xfrm>
          <a:prstGeom prst="rect">
            <a:avLst/>
          </a:prstGeom>
          <a:ln>
            <a:solidFill>
              <a:srgbClr val="FF9933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9933"/>
                </a:solidFill>
                <a:latin typeface="+mn-ea"/>
              </a:rPr>
              <a:t>程序地址产生逻辑（</a:t>
            </a:r>
            <a:r>
              <a:rPr lang="en-US" altLang="zh-CN" dirty="0">
                <a:solidFill>
                  <a:srgbClr val="FF9933"/>
                </a:solidFill>
                <a:latin typeface="+mn-ea"/>
              </a:rPr>
              <a:t>PAGEN</a:t>
            </a:r>
            <a:r>
              <a:rPr lang="zh-CN" altLang="en-US" dirty="0">
                <a:solidFill>
                  <a:srgbClr val="FF9933"/>
                </a:solidFill>
                <a:latin typeface="+mn-ea"/>
              </a:rPr>
              <a:t>）</a:t>
            </a:r>
            <a:endParaRPr lang="en-US" altLang="zh-CN" dirty="0">
              <a:solidFill>
                <a:srgbClr val="FF9933"/>
              </a:solidFill>
              <a:latin typeface="+mn-ea"/>
            </a:endParaRPr>
          </a:p>
          <a:p>
            <a:pPr algn="ctr"/>
            <a:r>
              <a:rPr lang="en-US" altLang="zh-CN" dirty="0">
                <a:solidFill>
                  <a:srgbClr val="FF9933"/>
                </a:solidFill>
              </a:rPr>
              <a:t>PC=2082h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7584638" y="4658044"/>
            <a:ext cx="1475084" cy="400110"/>
          </a:xfrm>
          <a:prstGeom prst="rect">
            <a:avLst/>
          </a:prstGeom>
          <a:ln>
            <a:solidFill>
              <a:srgbClr val="FF9933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9900CC"/>
                </a:solidFill>
                <a:latin typeface="+mn-ea"/>
              </a:rPr>
              <a:t>指令译码器</a:t>
            </a:r>
            <a:endParaRPr lang="zh-CN" altLang="en-US" dirty="0">
              <a:solidFill>
                <a:srgbClr val="9900CC"/>
              </a:solidFill>
            </a:endParaRPr>
          </a:p>
        </p:txBody>
      </p:sp>
      <p:sp>
        <p:nvSpPr>
          <p:cNvPr id="63" name="Line 7"/>
          <p:cNvSpPr>
            <a:spLocks noChangeShapeType="1"/>
          </p:cNvSpPr>
          <p:nvPr/>
        </p:nvSpPr>
        <p:spPr bwMode="auto">
          <a:xfrm>
            <a:off x="1871700" y="5207922"/>
            <a:ext cx="0" cy="352082"/>
          </a:xfrm>
          <a:prstGeom prst="line">
            <a:avLst/>
          </a:prstGeom>
          <a:noFill/>
          <a:ln w="38100">
            <a:solidFill>
              <a:srgbClr val="FF9933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4" name="矩形 63"/>
          <p:cNvSpPr/>
          <p:nvPr/>
        </p:nvSpPr>
        <p:spPr>
          <a:xfrm>
            <a:off x="160991" y="5557521"/>
            <a:ext cx="3414717" cy="707886"/>
          </a:xfrm>
          <a:prstGeom prst="rect">
            <a:avLst/>
          </a:prstGeom>
          <a:ln>
            <a:solidFill>
              <a:srgbClr val="92D050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9933"/>
                </a:solidFill>
                <a:latin typeface="+mn-ea"/>
              </a:rPr>
              <a:t>程序地址产生逻辑（</a:t>
            </a:r>
            <a:r>
              <a:rPr lang="en-US" altLang="zh-CN" dirty="0">
                <a:solidFill>
                  <a:srgbClr val="FF9933"/>
                </a:solidFill>
                <a:latin typeface="+mn-ea"/>
              </a:rPr>
              <a:t>PAGEN</a:t>
            </a:r>
            <a:r>
              <a:rPr lang="zh-CN" altLang="en-US" dirty="0">
                <a:solidFill>
                  <a:srgbClr val="FF9933"/>
                </a:solidFill>
                <a:latin typeface="+mn-ea"/>
              </a:rPr>
              <a:t>）</a:t>
            </a:r>
            <a:endParaRPr lang="en-US" altLang="zh-CN" dirty="0">
              <a:solidFill>
                <a:srgbClr val="FF9933"/>
              </a:solidFill>
              <a:latin typeface="+mn-ea"/>
            </a:endParaRPr>
          </a:p>
          <a:p>
            <a:pPr algn="ctr"/>
            <a:r>
              <a:rPr lang="en-US" altLang="zh-CN" dirty="0">
                <a:solidFill>
                  <a:srgbClr val="FF9933"/>
                </a:solidFill>
              </a:rPr>
              <a:t>PC=PC+1=2083h</a:t>
            </a:r>
            <a:endParaRPr lang="zh-CN" altLang="en-US" dirty="0">
              <a:solidFill>
                <a:srgbClr val="FF9933"/>
              </a:solidFill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55335" y="6407435"/>
            <a:ext cx="514400" cy="36909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0" dirty="0"/>
              <a:t>23</a:t>
            </a:r>
          </a:p>
        </p:txBody>
      </p:sp>
      <p:sp>
        <p:nvSpPr>
          <p:cNvPr id="3" name="矩形 2"/>
          <p:cNvSpPr/>
          <p:nvPr/>
        </p:nvSpPr>
        <p:spPr>
          <a:xfrm>
            <a:off x="3753566" y="4174087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①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6013231" y="4694138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②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7010566" y="4175987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③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931675" y="5200373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45678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矩形 250"/>
          <p:cNvSpPr/>
          <p:nvPr/>
        </p:nvSpPr>
        <p:spPr>
          <a:xfrm>
            <a:off x="16348" y="968144"/>
            <a:ext cx="8820979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19138" eaLnBrk="1" hangingPunct="1"/>
            <a:r>
              <a:rPr lang="zh-CN" altLang="en-US" sz="2800" dirty="0">
                <a:solidFill>
                  <a:srgbClr val="FF0000"/>
                </a:solidFill>
                <a:latin typeface="+mn-ea"/>
              </a:rPr>
              <a:t>续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、执行第三条指令：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STL A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，*</a:t>
            </a:r>
            <a:r>
              <a:rPr lang="en-US" altLang="zh-CN" sz="2800" dirty="0">
                <a:solidFill>
                  <a:srgbClr val="FF0000"/>
                </a:solidFill>
                <a:latin typeface="+mn-ea"/>
                <a:ea typeface="+mn-ea"/>
              </a:rPr>
              <a:t>AR4</a:t>
            </a:r>
          </a:p>
          <a:p>
            <a:pPr indent="719138" eaLnBrk="1" hangingPunct="1"/>
            <a:r>
              <a:rPr lang="zh-CN" altLang="en-US" sz="2800" dirty="0">
                <a:latin typeface="+mn-ea"/>
                <a:ea typeface="+mn-ea"/>
              </a:rPr>
              <a:t>（</a:t>
            </a:r>
            <a:r>
              <a:rPr lang="en-US" altLang="zh-CN" sz="2800" dirty="0">
                <a:latin typeface="+mn-ea"/>
                <a:ea typeface="+mn-ea"/>
              </a:rPr>
              <a:t>2</a:t>
            </a:r>
            <a:r>
              <a:rPr lang="zh-CN" altLang="en-US" sz="2800" dirty="0">
                <a:latin typeface="+mn-ea"/>
                <a:ea typeface="+mn-ea"/>
              </a:rPr>
              <a:t>）该指令将</a:t>
            </a:r>
            <a:r>
              <a:rPr lang="en-US" altLang="zh-CN" sz="2800" dirty="0">
                <a:latin typeface="+mn-ea"/>
                <a:ea typeface="+mn-ea"/>
              </a:rPr>
              <a:t>40</a:t>
            </a:r>
            <a:r>
              <a:rPr lang="zh-CN" altLang="en-US" sz="2800" dirty="0">
                <a:latin typeface="+mn-ea"/>
                <a:ea typeface="+mn-ea"/>
              </a:rPr>
              <a:t>位累加器</a:t>
            </a:r>
            <a:r>
              <a:rPr lang="en-US" altLang="zh-CN" sz="2800" dirty="0">
                <a:latin typeface="+mn-ea"/>
                <a:ea typeface="+mn-ea"/>
              </a:rPr>
              <a:t>A</a:t>
            </a:r>
            <a:r>
              <a:rPr lang="zh-CN" altLang="en-US" sz="2800" dirty="0">
                <a:latin typeface="+mn-ea"/>
                <a:ea typeface="+mn-ea"/>
              </a:rPr>
              <a:t>中的低</a:t>
            </a:r>
            <a:r>
              <a:rPr lang="en-US" altLang="zh-CN" sz="2800" dirty="0">
                <a:latin typeface="+mn-ea"/>
                <a:ea typeface="+mn-ea"/>
              </a:rPr>
              <a:t>16</a:t>
            </a:r>
            <a:r>
              <a:rPr lang="zh-CN" altLang="en-US" sz="2800" dirty="0">
                <a:latin typeface="+mn-ea"/>
                <a:ea typeface="+mn-ea"/>
              </a:rPr>
              <a:t>位数据放到数据存储器</a:t>
            </a:r>
            <a:r>
              <a:rPr lang="en-US" altLang="zh-CN" sz="2800" dirty="0">
                <a:latin typeface="+mn-ea"/>
                <a:ea typeface="+mn-ea"/>
              </a:rPr>
              <a:t>RAM</a:t>
            </a:r>
            <a:r>
              <a:rPr lang="zh-CN" altLang="en-US" sz="2800" dirty="0">
                <a:latin typeface="+mn-ea"/>
                <a:ea typeface="+mn-ea"/>
              </a:rPr>
              <a:t>中的由辅助寄存器</a:t>
            </a:r>
            <a:r>
              <a:rPr lang="en-US" altLang="zh-CN" sz="2800" dirty="0">
                <a:latin typeface="+mn-ea"/>
                <a:ea typeface="+mn-ea"/>
              </a:rPr>
              <a:t>AR4</a:t>
            </a:r>
            <a:r>
              <a:rPr lang="zh-CN" altLang="en-US" sz="2800" dirty="0">
                <a:latin typeface="+mn-ea"/>
                <a:ea typeface="+mn-ea"/>
              </a:rPr>
              <a:t>所指地址</a:t>
            </a:r>
            <a:r>
              <a:rPr lang="en-US" altLang="zh-CN" sz="2800" dirty="0">
                <a:latin typeface="+mn-ea"/>
                <a:ea typeface="+mn-ea"/>
              </a:rPr>
              <a:t>0084h</a:t>
            </a:r>
            <a:r>
              <a:rPr lang="zh-CN" altLang="en-US" sz="2800" dirty="0">
                <a:latin typeface="+mn-ea"/>
                <a:ea typeface="+mn-ea"/>
              </a:rPr>
              <a:t>中。数据地址产生逻辑（</a:t>
            </a:r>
            <a:r>
              <a:rPr lang="en-US" altLang="zh-CN" sz="2800" dirty="0">
                <a:latin typeface="+mn-ea"/>
                <a:ea typeface="+mn-ea"/>
              </a:rPr>
              <a:t>DAGEN</a:t>
            </a:r>
            <a:r>
              <a:rPr lang="zh-CN" altLang="en-US" sz="2800" dirty="0">
                <a:latin typeface="+mn-ea"/>
                <a:ea typeface="+mn-ea"/>
              </a:rPr>
              <a:t>）将</a:t>
            </a:r>
            <a:r>
              <a:rPr lang="en-US" altLang="zh-CN" sz="2800" dirty="0">
                <a:latin typeface="+mn-ea"/>
                <a:ea typeface="+mn-ea"/>
              </a:rPr>
              <a:t>AR4=0083h</a:t>
            </a:r>
            <a:r>
              <a:rPr lang="zh-CN" altLang="en-US" sz="2800" dirty="0">
                <a:latin typeface="+mn-ea"/>
                <a:ea typeface="+mn-ea"/>
              </a:rPr>
              <a:t>给出的地址</a:t>
            </a:r>
            <a:r>
              <a:rPr lang="en-US" altLang="zh-CN" sz="2800" dirty="0">
                <a:latin typeface="+mn-ea"/>
                <a:ea typeface="+mn-ea"/>
              </a:rPr>
              <a:t>0083h</a:t>
            </a:r>
            <a:r>
              <a:rPr lang="zh-CN" altLang="en-US" sz="2800" dirty="0">
                <a:latin typeface="+mn-ea"/>
                <a:ea typeface="+mn-ea"/>
              </a:rPr>
              <a:t>放到地址总线</a:t>
            </a:r>
            <a:r>
              <a:rPr lang="en-US" altLang="zh-CN" sz="2800" dirty="0">
                <a:latin typeface="+mn-ea"/>
                <a:ea typeface="+mn-ea"/>
              </a:rPr>
              <a:t>EA</a:t>
            </a:r>
            <a:r>
              <a:rPr lang="zh-CN" altLang="en-US" sz="2800" dirty="0">
                <a:latin typeface="+mn-ea"/>
                <a:ea typeface="+mn-ea"/>
              </a:rPr>
              <a:t>上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①</a:t>
            </a:r>
            <a:r>
              <a:rPr lang="zh-CN" altLang="en-US" sz="2800" dirty="0">
                <a:latin typeface="+mn-ea"/>
                <a:ea typeface="+mn-ea"/>
              </a:rPr>
              <a:t>，</a:t>
            </a:r>
            <a:r>
              <a:rPr lang="en-US" altLang="zh-CN" sz="2800" dirty="0">
                <a:latin typeface="+mn-ea"/>
                <a:ea typeface="+mn-ea"/>
              </a:rPr>
              <a:t>A</a:t>
            </a:r>
            <a:r>
              <a:rPr lang="zh-CN" altLang="en-US" sz="2800" dirty="0">
                <a:latin typeface="+mn-ea"/>
                <a:ea typeface="+mn-ea"/>
              </a:rPr>
              <a:t>累加器中的低</a:t>
            </a:r>
            <a:r>
              <a:rPr lang="en-US" altLang="zh-CN" sz="2800" dirty="0">
                <a:latin typeface="+mn-ea"/>
                <a:ea typeface="+mn-ea"/>
              </a:rPr>
              <a:t>16</a:t>
            </a:r>
            <a:r>
              <a:rPr lang="zh-CN" altLang="en-US" sz="2800" dirty="0">
                <a:latin typeface="+mn-ea"/>
                <a:ea typeface="+mn-ea"/>
              </a:rPr>
              <a:t>位数据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②</a:t>
            </a:r>
            <a:r>
              <a:rPr lang="zh-CN" altLang="en-US" sz="2800" dirty="0">
                <a:latin typeface="+mn-ea"/>
                <a:ea typeface="+mn-ea"/>
              </a:rPr>
              <a:t>经符号控制器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③</a:t>
            </a:r>
            <a:r>
              <a:rPr lang="zh-CN" altLang="en-US" sz="2800" dirty="0">
                <a:latin typeface="+mn-ea"/>
                <a:ea typeface="+mn-ea"/>
              </a:rPr>
              <a:t>、桶形移位寄存器、最高</a:t>
            </a:r>
            <a:r>
              <a:rPr lang="en-US" altLang="zh-CN" sz="2800" dirty="0">
                <a:latin typeface="+mn-ea"/>
                <a:ea typeface="+mn-ea"/>
              </a:rPr>
              <a:t>/</a:t>
            </a:r>
            <a:r>
              <a:rPr lang="zh-CN" altLang="en-US" sz="2800" dirty="0">
                <a:latin typeface="+mn-ea"/>
                <a:ea typeface="+mn-ea"/>
              </a:rPr>
              <a:t>最低有效字选择后，输出低</a:t>
            </a:r>
            <a:r>
              <a:rPr lang="en-US" altLang="zh-CN" sz="2800" dirty="0">
                <a:latin typeface="+mn-ea"/>
                <a:ea typeface="+mn-ea"/>
              </a:rPr>
              <a:t>16</a:t>
            </a:r>
            <a:r>
              <a:rPr lang="zh-CN" altLang="en-US" sz="2800" dirty="0">
                <a:latin typeface="+mn-ea"/>
                <a:ea typeface="+mn-ea"/>
              </a:rPr>
              <a:t>位数据到</a:t>
            </a:r>
            <a:r>
              <a:rPr lang="en-US" altLang="zh-CN" sz="2800" dirty="0">
                <a:latin typeface="+mn-ea"/>
                <a:ea typeface="+mn-ea"/>
              </a:rPr>
              <a:t>EB</a:t>
            </a:r>
            <a:r>
              <a:rPr lang="zh-CN" altLang="en-US" sz="2800" dirty="0">
                <a:latin typeface="+mn-ea"/>
                <a:ea typeface="+mn-ea"/>
              </a:rPr>
              <a:t>总线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④</a:t>
            </a:r>
            <a:r>
              <a:rPr lang="zh-CN" altLang="en-US" sz="2800" dirty="0">
                <a:latin typeface="+mn-ea"/>
                <a:ea typeface="+mn-ea"/>
              </a:rPr>
              <a:t>，并最后将其写入到</a:t>
            </a:r>
            <a:r>
              <a:rPr lang="en-US" altLang="zh-CN" sz="2800" dirty="0">
                <a:latin typeface="+mn-ea"/>
                <a:ea typeface="+mn-ea"/>
              </a:rPr>
              <a:t>RAM</a:t>
            </a:r>
            <a:r>
              <a:rPr lang="zh-CN" altLang="en-US" sz="2800" dirty="0">
                <a:latin typeface="+mn-ea"/>
                <a:ea typeface="+mn-ea"/>
              </a:rPr>
              <a:t>的</a:t>
            </a:r>
            <a:r>
              <a:rPr lang="en-US" altLang="zh-CN" sz="2800" dirty="0">
                <a:latin typeface="+mn-ea"/>
                <a:ea typeface="+mn-ea"/>
              </a:rPr>
              <a:t>0083h</a:t>
            </a:r>
            <a:r>
              <a:rPr lang="zh-CN" altLang="en-US" sz="2800" dirty="0">
                <a:latin typeface="+mn-ea"/>
                <a:ea typeface="+mn-ea"/>
              </a:rPr>
              <a:t>中</a:t>
            </a:r>
            <a:r>
              <a:rPr lang="zh-CN" altLang="en-US" sz="2800" dirty="0">
                <a:solidFill>
                  <a:srgbClr val="FF0000"/>
                </a:solidFill>
                <a:latin typeface="+mn-ea"/>
                <a:ea typeface="+mn-ea"/>
              </a:rPr>
              <a:t>⑤</a:t>
            </a:r>
            <a:r>
              <a:rPr lang="zh-CN" altLang="en-US" sz="2800" dirty="0">
                <a:latin typeface="+mn-ea"/>
                <a:ea typeface="+mn-ea"/>
              </a:rPr>
              <a:t>。使</a:t>
            </a:r>
            <a:r>
              <a:rPr lang="en-US" altLang="zh-CN" sz="2800" dirty="0">
                <a:latin typeface="+mn-ea"/>
                <a:ea typeface="+mn-ea"/>
              </a:rPr>
              <a:t>0083h</a:t>
            </a:r>
            <a:r>
              <a:rPr lang="zh-CN" altLang="en-US" sz="2800" dirty="0">
                <a:latin typeface="+mn-ea"/>
                <a:ea typeface="+mn-ea"/>
              </a:rPr>
              <a:t>中的内容为</a:t>
            </a:r>
            <a:r>
              <a:rPr lang="en-US" altLang="zh-CN" sz="2800" dirty="0">
                <a:latin typeface="+mn-ea"/>
                <a:ea typeface="+mn-ea"/>
              </a:rPr>
              <a:t>y=</a:t>
            </a:r>
            <a:r>
              <a:rPr lang="en-US" altLang="zh-CN" sz="2800" dirty="0" err="1">
                <a:latin typeface="+mn-ea"/>
                <a:ea typeface="+mn-ea"/>
              </a:rPr>
              <a:t>ax+b</a:t>
            </a:r>
            <a:r>
              <a:rPr lang="zh-CN" altLang="en-US" sz="2800" dirty="0">
                <a:latin typeface="+mn-ea"/>
                <a:ea typeface="+mn-ea"/>
              </a:rPr>
              <a:t>。</a:t>
            </a:r>
          </a:p>
        </p:txBody>
      </p:sp>
      <p:sp>
        <p:nvSpPr>
          <p:cNvPr id="215" name="Text Box 87"/>
          <p:cNvSpPr txBox="1">
            <a:spLocks noChangeArrowheads="1"/>
          </p:cNvSpPr>
          <p:nvPr/>
        </p:nvSpPr>
        <p:spPr bwMode="auto">
          <a:xfrm>
            <a:off x="5907511" y="5174794"/>
            <a:ext cx="1072356" cy="184666"/>
          </a:xfrm>
          <a:prstGeom prst="rect">
            <a:avLst/>
          </a:prstGeom>
          <a:solidFill>
            <a:srgbClr val="FF00FF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200" dirty="0">
                <a:solidFill>
                  <a:schemeClr val="hlink"/>
                </a:solidFill>
              </a:rPr>
              <a:t>累加器</a:t>
            </a:r>
            <a:r>
              <a:rPr lang="en-US" altLang="zh-CN" sz="1200" dirty="0">
                <a:solidFill>
                  <a:schemeClr val="hlink"/>
                </a:solidFill>
              </a:rPr>
              <a:t>B</a:t>
            </a:r>
            <a:r>
              <a:rPr lang="zh-CN" altLang="en-US" sz="1200" dirty="0">
                <a:solidFill>
                  <a:schemeClr val="hlink"/>
                </a:solidFill>
              </a:rPr>
              <a:t>（</a:t>
            </a:r>
            <a:r>
              <a:rPr lang="en-US" altLang="zh-CN" sz="1200" dirty="0">
                <a:solidFill>
                  <a:schemeClr val="hlink"/>
                </a:solidFill>
              </a:rPr>
              <a:t>40</a:t>
            </a:r>
            <a:r>
              <a:rPr lang="zh-CN" altLang="en-US" sz="1200" dirty="0">
                <a:solidFill>
                  <a:schemeClr val="hlink"/>
                </a:solidFill>
              </a:rPr>
              <a:t>）</a:t>
            </a:r>
          </a:p>
        </p:txBody>
      </p:sp>
      <p:grpSp>
        <p:nvGrpSpPr>
          <p:cNvPr id="216" name="Group 91"/>
          <p:cNvGrpSpPr>
            <a:grpSpLocks/>
          </p:cNvGrpSpPr>
          <p:nvPr/>
        </p:nvGrpSpPr>
        <p:grpSpPr bwMode="auto">
          <a:xfrm>
            <a:off x="5440786" y="5563838"/>
            <a:ext cx="823913" cy="204788"/>
            <a:chOff x="907" y="3226"/>
            <a:chExt cx="519" cy="129"/>
          </a:xfrm>
        </p:grpSpPr>
        <p:sp>
          <p:nvSpPr>
            <p:cNvPr id="217" name="AutoShape 89"/>
            <p:cNvSpPr>
              <a:spLocks noChangeArrowheads="1"/>
            </p:cNvSpPr>
            <p:nvPr/>
          </p:nvSpPr>
          <p:spPr bwMode="auto">
            <a:xfrm rot="10800000">
              <a:off x="907" y="3226"/>
              <a:ext cx="519" cy="1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21 h 21600"/>
                <a:gd name="T14" fmla="*/ 17105 w 21600"/>
                <a:gd name="T15" fmla="*/ 1707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8" name="Text Box 90"/>
            <p:cNvSpPr txBox="1">
              <a:spLocks noChangeArrowheads="1"/>
            </p:cNvSpPr>
            <p:nvPr/>
          </p:nvSpPr>
          <p:spPr bwMode="auto">
            <a:xfrm>
              <a:off x="1019" y="3249"/>
              <a:ext cx="295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altLang="zh-CN" sz="1000" dirty="0">
                  <a:solidFill>
                    <a:srgbClr val="FF0000"/>
                  </a:solidFill>
                </a:rPr>
                <a:t>MUX</a:t>
              </a:r>
            </a:p>
          </p:txBody>
        </p:sp>
      </p:grpSp>
      <p:grpSp>
        <p:nvGrpSpPr>
          <p:cNvPr id="219" name="Group 113"/>
          <p:cNvGrpSpPr>
            <a:grpSpLocks/>
          </p:cNvGrpSpPr>
          <p:nvPr/>
        </p:nvGrpSpPr>
        <p:grpSpPr bwMode="auto">
          <a:xfrm>
            <a:off x="7132267" y="5137676"/>
            <a:ext cx="895350" cy="195262"/>
            <a:chOff x="-723" y="2568"/>
            <a:chExt cx="519" cy="91"/>
          </a:xfrm>
        </p:grpSpPr>
        <p:sp>
          <p:nvSpPr>
            <p:cNvPr id="220" name="AutoShape 114"/>
            <p:cNvSpPr>
              <a:spLocks noChangeArrowheads="1"/>
            </p:cNvSpPr>
            <p:nvPr/>
          </p:nvSpPr>
          <p:spPr bwMode="auto">
            <a:xfrm>
              <a:off x="-723" y="2568"/>
              <a:ext cx="519" cy="91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4495 w 21600"/>
                <a:gd name="T13" fmla="*/ 4510 h 21600"/>
                <a:gd name="T14" fmla="*/ 17105 w 21600"/>
                <a:gd name="T15" fmla="*/ 17090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0" y="0"/>
                  </a:moveTo>
                  <a:lnTo>
                    <a:pt x="5400" y="21600"/>
                  </a:lnTo>
                  <a:lnTo>
                    <a:pt x="162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1" name="Text Box 115"/>
            <p:cNvSpPr txBox="1">
              <a:spLocks noChangeArrowheads="1"/>
            </p:cNvSpPr>
            <p:nvPr/>
          </p:nvSpPr>
          <p:spPr bwMode="auto">
            <a:xfrm>
              <a:off x="-682" y="2568"/>
              <a:ext cx="453" cy="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0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zh-CN" altLang="en-US" sz="1000" dirty="0">
                  <a:solidFill>
                    <a:schemeClr val="tx2"/>
                  </a:solidFill>
                </a:rPr>
                <a:t>符号控制器</a:t>
              </a:r>
            </a:p>
          </p:txBody>
        </p:sp>
      </p:grpSp>
      <p:sp>
        <p:nvSpPr>
          <p:cNvPr id="222" name="Text Box 116"/>
          <p:cNvSpPr txBox="1">
            <a:spLocks noChangeArrowheads="1"/>
          </p:cNvSpPr>
          <p:nvPr/>
        </p:nvSpPr>
        <p:spPr bwMode="auto">
          <a:xfrm>
            <a:off x="7250972" y="5580946"/>
            <a:ext cx="719137" cy="374650"/>
          </a:xfrm>
          <a:prstGeom prst="rect">
            <a:avLst/>
          </a:prstGeom>
          <a:solidFill>
            <a:schemeClr val="accent2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200" dirty="0">
                <a:solidFill>
                  <a:schemeClr val="accent1"/>
                </a:solidFill>
              </a:rPr>
              <a:t>桶形移位寄存器</a:t>
            </a:r>
          </a:p>
        </p:txBody>
      </p:sp>
      <p:sp>
        <p:nvSpPr>
          <p:cNvPr id="223" name="Text Box 117"/>
          <p:cNvSpPr txBox="1">
            <a:spLocks noChangeArrowheads="1"/>
          </p:cNvSpPr>
          <p:nvPr/>
        </p:nvSpPr>
        <p:spPr bwMode="auto">
          <a:xfrm>
            <a:off x="7229507" y="6177265"/>
            <a:ext cx="755650" cy="476250"/>
          </a:xfrm>
          <a:prstGeom prst="rect">
            <a:avLst/>
          </a:prstGeom>
          <a:solidFill>
            <a:schemeClr val="accent2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5000"/>
              </a:lnSpc>
            </a:pPr>
            <a:r>
              <a:rPr lang="zh-CN" altLang="en-US" sz="1200" dirty="0">
                <a:solidFill>
                  <a:schemeClr val="accent1"/>
                </a:solidFill>
              </a:rPr>
              <a:t>最高</a:t>
            </a:r>
            <a:r>
              <a:rPr lang="en-US" altLang="zh-CN" sz="1200" dirty="0">
                <a:solidFill>
                  <a:schemeClr val="accent1"/>
                </a:solidFill>
              </a:rPr>
              <a:t>/</a:t>
            </a:r>
            <a:r>
              <a:rPr lang="zh-CN" altLang="en-US" sz="1200" dirty="0">
                <a:solidFill>
                  <a:schemeClr val="accent1"/>
                </a:solidFill>
              </a:rPr>
              <a:t>最低有效字</a:t>
            </a:r>
          </a:p>
          <a:p>
            <a:pPr algn="ctr" eaLnBrk="1" hangingPunct="1">
              <a:lnSpc>
                <a:spcPct val="85000"/>
              </a:lnSpc>
            </a:pPr>
            <a:r>
              <a:rPr lang="zh-CN" altLang="en-US" sz="1200" dirty="0">
                <a:solidFill>
                  <a:schemeClr val="accent1"/>
                </a:solidFill>
              </a:rPr>
              <a:t>选择</a:t>
            </a:r>
          </a:p>
        </p:txBody>
      </p:sp>
      <p:sp>
        <p:nvSpPr>
          <p:cNvPr id="224" name="Line 148"/>
          <p:cNvSpPr>
            <a:spLocks noChangeShapeType="1"/>
          </p:cNvSpPr>
          <p:nvPr/>
        </p:nvSpPr>
        <p:spPr bwMode="auto">
          <a:xfrm>
            <a:off x="4882700" y="4801243"/>
            <a:ext cx="2599353" cy="2735"/>
          </a:xfrm>
          <a:prstGeom prst="line">
            <a:avLst/>
          </a:prstGeom>
          <a:noFill/>
          <a:ln w="2857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5" name="Line 154"/>
          <p:cNvSpPr>
            <a:spLocks noChangeShapeType="1"/>
          </p:cNvSpPr>
          <p:nvPr/>
        </p:nvSpPr>
        <p:spPr bwMode="auto">
          <a:xfrm flipH="1">
            <a:off x="5262983" y="5332693"/>
            <a:ext cx="1" cy="522779"/>
          </a:xfrm>
          <a:prstGeom prst="line">
            <a:avLst/>
          </a:prstGeom>
          <a:noFill/>
          <a:ln w="19050">
            <a:solidFill>
              <a:srgbClr val="33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6" name="Line 155"/>
          <p:cNvSpPr>
            <a:spLocks noChangeShapeType="1"/>
          </p:cNvSpPr>
          <p:nvPr/>
        </p:nvSpPr>
        <p:spPr bwMode="auto">
          <a:xfrm>
            <a:off x="5253409" y="5863876"/>
            <a:ext cx="323850" cy="0"/>
          </a:xfrm>
          <a:prstGeom prst="line">
            <a:avLst/>
          </a:prstGeom>
          <a:noFill/>
          <a:ln w="19050">
            <a:solidFill>
              <a:srgbClr val="33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7" name="Line 156"/>
          <p:cNvSpPr>
            <a:spLocks noChangeShapeType="1"/>
          </p:cNvSpPr>
          <p:nvPr/>
        </p:nvSpPr>
        <p:spPr bwMode="auto">
          <a:xfrm flipH="1">
            <a:off x="5569374" y="5755926"/>
            <a:ext cx="0" cy="107950"/>
          </a:xfrm>
          <a:prstGeom prst="line">
            <a:avLst/>
          </a:prstGeom>
          <a:noFill/>
          <a:ln w="19050">
            <a:solidFill>
              <a:srgbClr val="33CCFF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8" name="Line 157"/>
          <p:cNvSpPr>
            <a:spLocks noChangeShapeType="1"/>
          </p:cNvSpPr>
          <p:nvPr/>
        </p:nvSpPr>
        <p:spPr bwMode="auto">
          <a:xfrm>
            <a:off x="6385349" y="5347512"/>
            <a:ext cx="5188" cy="507960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9" name="Line 158"/>
          <p:cNvSpPr>
            <a:spLocks noChangeShapeType="1"/>
          </p:cNvSpPr>
          <p:nvPr/>
        </p:nvSpPr>
        <p:spPr bwMode="auto">
          <a:xfrm>
            <a:off x="6073439" y="5848001"/>
            <a:ext cx="323850" cy="0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0" name="Line 159"/>
          <p:cNvSpPr>
            <a:spLocks noChangeShapeType="1"/>
          </p:cNvSpPr>
          <p:nvPr/>
        </p:nvSpPr>
        <p:spPr bwMode="auto">
          <a:xfrm flipH="1">
            <a:off x="6071024" y="5747988"/>
            <a:ext cx="0" cy="107950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1" name="Line 160"/>
          <p:cNvSpPr>
            <a:spLocks noChangeShapeType="1"/>
          </p:cNvSpPr>
          <p:nvPr/>
        </p:nvSpPr>
        <p:spPr bwMode="auto">
          <a:xfrm>
            <a:off x="5569374" y="5485514"/>
            <a:ext cx="293796" cy="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2" name="Line 161"/>
          <p:cNvSpPr>
            <a:spLocks noChangeShapeType="1"/>
          </p:cNvSpPr>
          <p:nvPr/>
        </p:nvSpPr>
        <p:spPr bwMode="auto">
          <a:xfrm flipH="1">
            <a:off x="6154575" y="5368978"/>
            <a:ext cx="0" cy="10795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3" name="Line 162"/>
          <p:cNvSpPr>
            <a:spLocks noChangeShapeType="1"/>
          </p:cNvSpPr>
          <p:nvPr/>
        </p:nvSpPr>
        <p:spPr bwMode="auto">
          <a:xfrm flipH="1">
            <a:off x="5565908" y="5368978"/>
            <a:ext cx="0" cy="107950"/>
          </a:xfrm>
          <a:prstGeom prst="line">
            <a:avLst/>
          </a:prstGeom>
          <a:noFill/>
          <a:ln w="19050">
            <a:solidFill>
              <a:srgbClr val="FF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4" name="Line 163"/>
          <p:cNvSpPr>
            <a:spLocks noChangeShapeType="1"/>
          </p:cNvSpPr>
          <p:nvPr/>
        </p:nvSpPr>
        <p:spPr bwMode="auto">
          <a:xfrm>
            <a:off x="5872586" y="5487101"/>
            <a:ext cx="0" cy="71438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5" name="Line 164"/>
          <p:cNvSpPr>
            <a:spLocks noChangeShapeType="1"/>
          </p:cNvSpPr>
          <p:nvPr/>
        </p:nvSpPr>
        <p:spPr bwMode="auto">
          <a:xfrm flipH="1">
            <a:off x="5334825" y="4802829"/>
            <a:ext cx="1588" cy="376236"/>
          </a:xfrm>
          <a:prstGeom prst="line">
            <a:avLst/>
          </a:prstGeom>
          <a:noFill/>
          <a:ln w="28575">
            <a:solidFill>
              <a:srgbClr val="00B0F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6" name="Line 165"/>
          <p:cNvSpPr>
            <a:spLocks noChangeShapeType="1"/>
          </p:cNvSpPr>
          <p:nvPr/>
        </p:nvSpPr>
        <p:spPr bwMode="auto">
          <a:xfrm flipV="1">
            <a:off x="6300192" y="4910662"/>
            <a:ext cx="1022104" cy="5835"/>
          </a:xfrm>
          <a:prstGeom prst="line">
            <a:avLst/>
          </a:prstGeom>
          <a:noFill/>
          <a:ln w="2857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7" name="Text Box 192"/>
          <p:cNvSpPr txBox="1">
            <a:spLocks noChangeArrowheads="1"/>
          </p:cNvSpPr>
          <p:nvPr/>
        </p:nvSpPr>
        <p:spPr bwMode="auto">
          <a:xfrm>
            <a:off x="5188374" y="5506979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/>
              <a:t>A</a:t>
            </a:r>
          </a:p>
        </p:txBody>
      </p:sp>
      <p:sp>
        <p:nvSpPr>
          <p:cNvPr id="238" name="Text Box 193"/>
          <p:cNvSpPr txBox="1">
            <a:spLocks noChangeArrowheads="1"/>
          </p:cNvSpPr>
          <p:nvPr/>
        </p:nvSpPr>
        <p:spPr bwMode="auto">
          <a:xfrm>
            <a:off x="6088486" y="5560663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/>
              <a:t>B</a:t>
            </a:r>
          </a:p>
        </p:txBody>
      </p:sp>
      <p:sp>
        <p:nvSpPr>
          <p:cNvPr id="239" name="Line 194"/>
          <p:cNvSpPr>
            <a:spLocks noChangeShapeType="1"/>
          </p:cNvSpPr>
          <p:nvPr/>
        </p:nvSpPr>
        <p:spPr bwMode="auto">
          <a:xfrm flipH="1">
            <a:off x="6375824" y="4937178"/>
            <a:ext cx="0" cy="252412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0" name="Line 199"/>
          <p:cNvSpPr>
            <a:spLocks noChangeShapeType="1"/>
          </p:cNvSpPr>
          <p:nvPr/>
        </p:nvSpPr>
        <p:spPr bwMode="auto">
          <a:xfrm flipV="1">
            <a:off x="4734015" y="6729067"/>
            <a:ext cx="2899567" cy="8177"/>
          </a:xfrm>
          <a:prstGeom prst="line">
            <a:avLst/>
          </a:prstGeom>
          <a:noFill/>
          <a:ln w="19050">
            <a:solidFill>
              <a:srgbClr val="00CCFF"/>
            </a:solidFill>
            <a:miter lim="800000"/>
            <a:headEnd type="non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2" name="Line 202"/>
          <p:cNvSpPr>
            <a:spLocks noChangeShapeType="1"/>
          </p:cNvSpPr>
          <p:nvPr/>
        </p:nvSpPr>
        <p:spPr bwMode="auto">
          <a:xfrm>
            <a:off x="7889472" y="4843998"/>
            <a:ext cx="1587" cy="312289"/>
          </a:xfrm>
          <a:prstGeom prst="line">
            <a:avLst/>
          </a:prstGeom>
          <a:noFill/>
          <a:ln w="19050">
            <a:solidFill>
              <a:srgbClr val="FF99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3" name="Line 203"/>
          <p:cNvSpPr>
            <a:spLocks noChangeShapeType="1"/>
          </p:cNvSpPr>
          <p:nvPr/>
        </p:nvSpPr>
        <p:spPr bwMode="auto">
          <a:xfrm flipH="1">
            <a:off x="7673605" y="4827855"/>
            <a:ext cx="1030" cy="309822"/>
          </a:xfrm>
          <a:prstGeom prst="line">
            <a:avLst/>
          </a:prstGeom>
          <a:noFill/>
          <a:ln w="19050">
            <a:solidFill>
              <a:srgbClr val="92D05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4" name="Line 204"/>
          <p:cNvSpPr>
            <a:spLocks noChangeShapeType="1"/>
          </p:cNvSpPr>
          <p:nvPr/>
        </p:nvSpPr>
        <p:spPr bwMode="auto">
          <a:xfrm>
            <a:off x="7471125" y="4799517"/>
            <a:ext cx="4278" cy="334984"/>
          </a:xfrm>
          <a:prstGeom prst="line">
            <a:avLst/>
          </a:prstGeom>
          <a:noFill/>
          <a:ln w="28575">
            <a:solidFill>
              <a:srgbClr val="00B0F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5" name="Line 205"/>
          <p:cNvSpPr>
            <a:spLocks noChangeShapeType="1"/>
          </p:cNvSpPr>
          <p:nvPr/>
        </p:nvSpPr>
        <p:spPr bwMode="auto">
          <a:xfrm>
            <a:off x="7313242" y="4921776"/>
            <a:ext cx="0" cy="212725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6" name="Text Box 206"/>
          <p:cNvSpPr txBox="1">
            <a:spLocks noChangeArrowheads="1"/>
          </p:cNvSpPr>
          <p:nvPr/>
        </p:nvSpPr>
        <p:spPr bwMode="auto">
          <a:xfrm>
            <a:off x="7024317" y="4921776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/>
              <a:t>B</a:t>
            </a:r>
          </a:p>
        </p:txBody>
      </p:sp>
      <p:sp>
        <p:nvSpPr>
          <p:cNvPr id="247" name="Text Box 207"/>
          <p:cNvSpPr txBox="1">
            <a:spLocks noChangeArrowheads="1"/>
          </p:cNvSpPr>
          <p:nvPr/>
        </p:nvSpPr>
        <p:spPr bwMode="auto">
          <a:xfrm>
            <a:off x="7202118" y="4893221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48" name="Text Box 208"/>
          <p:cNvSpPr txBox="1">
            <a:spLocks noChangeArrowheads="1"/>
          </p:cNvSpPr>
          <p:nvPr/>
        </p:nvSpPr>
        <p:spPr bwMode="auto">
          <a:xfrm>
            <a:off x="7401350" y="4912013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/>
              <a:t>C</a:t>
            </a:r>
          </a:p>
        </p:txBody>
      </p:sp>
      <p:sp>
        <p:nvSpPr>
          <p:cNvPr id="249" name="Text Box 209"/>
          <p:cNvSpPr txBox="1">
            <a:spLocks noChangeArrowheads="1"/>
          </p:cNvSpPr>
          <p:nvPr/>
        </p:nvSpPr>
        <p:spPr bwMode="auto">
          <a:xfrm>
            <a:off x="7620401" y="4916498"/>
            <a:ext cx="36036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/>
              <a:t>D</a:t>
            </a:r>
          </a:p>
        </p:txBody>
      </p:sp>
      <p:sp>
        <p:nvSpPr>
          <p:cNvPr id="250" name="Line 212"/>
          <p:cNvSpPr>
            <a:spLocks noChangeShapeType="1"/>
          </p:cNvSpPr>
          <p:nvPr/>
        </p:nvSpPr>
        <p:spPr bwMode="auto">
          <a:xfrm flipH="1">
            <a:off x="7633582" y="6661273"/>
            <a:ext cx="0" cy="73025"/>
          </a:xfrm>
          <a:prstGeom prst="line">
            <a:avLst/>
          </a:prstGeom>
          <a:noFill/>
          <a:ln w="19050">
            <a:solidFill>
              <a:srgbClr val="00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3" name="Line 217"/>
          <p:cNvSpPr>
            <a:spLocks noChangeShapeType="1"/>
          </p:cNvSpPr>
          <p:nvPr/>
        </p:nvSpPr>
        <p:spPr bwMode="auto">
          <a:xfrm flipH="1" flipV="1">
            <a:off x="5907511" y="5760224"/>
            <a:ext cx="0" cy="142632"/>
          </a:xfrm>
          <a:prstGeom prst="line">
            <a:avLst/>
          </a:prstGeom>
          <a:noFill/>
          <a:ln w="28575">
            <a:solidFill>
              <a:schemeClr val="accent2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4" name="Line 231"/>
          <p:cNvSpPr>
            <a:spLocks noChangeShapeType="1"/>
          </p:cNvSpPr>
          <p:nvPr/>
        </p:nvSpPr>
        <p:spPr bwMode="auto">
          <a:xfrm flipH="1">
            <a:off x="7611334" y="5955596"/>
            <a:ext cx="0" cy="209550"/>
          </a:xfrm>
          <a:prstGeom prst="line">
            <a:avLst/>
          </a:prstGeom>
          <a:noFill/>
          <a:ln w="28575">
            <a:solidFill>
              <a:srgbClr val="00CCFF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5" name="Line 232"/>
          <p:cNvSpPr>
            <a:spLocks noChangeShapeType="1"/>
          </p:cNvSpPr>
          <p:nvPr/>
        </p:nvSpPr>
        <p:spPr bwMode="auto">
          <a:xfrm flipH="1">
            <a:off x="7600578" y="5332693"/>
            <a:ext cx="2" cy="234433"/>
          </a:xfrm>
          <a:prstGeom prst="line">
            <a:avLst/>
          </a:prstGeom>
          <a:noFill/>
          <a:ln w="28575">
            <a:solidFill>
              <a:srgbClr val="00CCFF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6" name="Text Box 233"/>
          <p:cNvSpPr txBox="1">
            <a:spLocks noChangeArrowheads="1"/>
          </p:cNvSpPr>
          <p:nvPr/>
        </p:nvSpPr>
        <p:spPr bwMode="auto">
          <a:xfrm>
            <a:off x="7581530" y="5982004"/>
            <a:ext cx="360363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>
                <a:solidFill>
                  <a:srgbClr val="00B0F0"/>
                </a:solidFill>
              </a:rPr>
              <a:t>S</a:t>
            </a:r>
          </a:p>
        </p:txBody>
      </p:sp>
      <p:sp>
        <p:nvSpPr>
          <p:cNvPr id="257" name="Line 234"/>
          <p:cNvSpPr>
            <a:spLocks noChangeShapeType="1"/>
          </p:cNvSpPr>
          <p:nvPr/>
        </p:nvSpPr>
        <p:spPr bwMode="auto">
          <a:xfrm flipH="1" flipV="1">
            <a:off x="7035072" y="6027034"/>
            <a:ext cx="569912" cy="7937"/>
          </a:xfrm>
          <a:prstGeom prst="line">
            <a:avLst/>
          </a:prstGeom>
          <a:noFill/>
          <a:ln w="19050">
            <a:solidFill>
              <a:srgbClr val="00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8" name="Line 217"/>
          <p:cNvSpPr>
            <a:spLocks noChangeShapeType="1"/>
          </p:cNvSpPr>
          <p:nvPr/>
        </p:nvSpPr>
        <p:spPr bwMode="auto">
          <a:xfrm flipH="1" flipV="1">
            <a:off x="5766176" y="5760224"/>
            <a:ext cx="3650" cy="529304"/>
          </a:xfrm>
          <a:prstGeom prst="line">
            <a:avLst/>
          </a:prstGeom>
          <a:noFill/>
          <a:ln w="28575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9" name="Text Box 86"/>
          <p:cNvSpPr txBox="1">
            <a:spLocks noChangeArrowheads="1"/>
          </p:cNvSpPr>
          <p:nvPr/>
        </p:nvSpPr>
        <p:spPr bwMode="auto">
          <a:xfrm>
            <a:off x="4770389" y="5174795"/>
            <a:ext cx="1092781" cy="184666"/>
          </a:xfrm>
          <a:prstGeom prst="rect">
            <a:avLst/>
          </a:prstGeom>
          <a:solidFill>
            <a:srgbClr val="FFFF99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1200">
                <a:solidFill>
                  <a:srgbClr val="FF0000"/>
                </a:solidFill>
              </a:rPr>
              <a:t>累加器</a:t>
            </a:r>
            <a:r>
              <a:rPr lang="en-US" altLang="zh-CN" sz="1200">
                <a:solidFill>
                  <a:srgbClr val="FF0000"/>
                </a:solidFill>
              </a:rPr>
              <a:t>A=ax+b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260" name="Text Box 102"/>
          <p:cNvSpPr txBox="1">
            <a:spLocks noChangeArrowheads="1"/>
          </p:cNvSpPr>
          <p:nvPr/>
        </p:nvSpPr>
        <p:spPr bwMode="auto">
          <a:xfrm>
            <a:off x="5343948" y="5991944"/>
            <a:ext cx="409575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1200" dirty="0" err="1">
                <a:solidFill>
                  <a:srgbClr val="FF0000"/>
                </a:solidFill>
              </a:rPr>
              <a:t>ax+b</a:t>
            </a:r>
            <a:endParaRPr lang="en-US" altLang="zh-CN" sz="1200" dirty="0">
              <a:solidFill>
                <a:srgbClr val="FF0000"/>
              </a:solidFill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5365373" y="4811818"/>
            <a:ext cx="10038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B0F0"/>
                </a:solidFill>
              </a:rPr>
              <a:t>y=</a:t>
            </a:r>
            <a:r>
              <a:rPr lang="en-US" altLang="zh-CN" dirty="0" err="1">
                <a:solidFill>
                  <a:srgbClr val="00B0F0"/>
                </a:solidFill>
              </a:rPr>
              <a:t>ax+b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262" name="Text Box 209"/>
          <p:cNvSpPr txBox="1">
            <a:spLocks noChangeArrowheads="1"/>
          </p:cNvSpPr>
          <p:nvPr/>
        </p:nvSpPr>
        <p:spPr bwMode="auto">
          <a:xfrm>
            <a:off x="4522338" y="5703072"/>
            <a:ext cx="36036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B0F0"/>
                </a:solidFill>
                <a:latin typeface="+mn-ea"/>
                <a:ea typeface="+mn-ea"/>
              </a:rPr>
              <a:t>EB</a:t>
            </a:r>
          </a:p>
        </p:txBody>
      </p:sp>
      <p:sp>
        <p:nvSpPr>
          <p:cNvPr id="263" name="矩形 262"/>
          <p:cNvSpPr/>
          <p:nvPr/>
        </p:nvSpPr>
        <p:spPr>
          <a:xfrm>
            <a:off x="5152255" y="6329950"/>
            <a:ext cx="100380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CN" dirty="0">
                <a:solidFill>
                  <a:srgbClr val="00B0F0"/>
                </a:solidFill>
              </a:rPr>
              <a:t>y=</a:t>
            </a:r>
            <a:r>
              <a:rPr lang="en-US" altLang="zh-CN" dirty="0" err="1">
                <a:solidFill>
                  <a:srgbClr val="00B0F0"/>
                </a:solidFill>
              </a:rPr>
              <a:t>ax+b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546397" y="5523305"/>
            <a:ext cx="1865080" cy="1015663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ea"/>
              </a:rPr>
              <a:t>数据地址产生逻辑（</a:t>
            </a:r>
            <a:r>
              <a:rPr lang="en-US" altLang="zh-CN" dirty="0">
                <a:solidFill>
                  <a:srgbClr val="FF0000"/>
                </a:solidFill>
                <a:latin typeface="+mn-ea"/>
              </a:rPr>
              <a:t>DAGEN</a:t>
            </a:r>
            <a:r>
              <a:rPr lang="zh-CN" altLang="en-US" dirty="0">
                <a:solidFill>
                  <a:srgbClr val="FF0000"/>
                </a:solidFill>
                <a:latin typeface="+mn-ea"/>
              </a:rPr>
              <a:t>）</a:t>
            </a:r>
            <a:endParaRPr lang="en-US" altLang="zh-CN" dirty="0">
              <a:solidFill>
                <a:srgbClr val="FF0000"/>
              </a:solidFill>
              <a:latin typeface="+mn-ea"/>
            </a:endParaRPr>
          </a:p>
          <a:p>
            <a:pPr algn="ctr"/>
            <a:r>
              <a:rPr lang="en-US" altLang="zh-CN" dirty="0">
                <a:solidFill>
                  <a:srgbClr val="FF0000"/>
                </a:solidFill>
              </a:rPr>
              <a:t>AR4=0083h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65" name="Text Box 24"/>
          <p:cNvSpPr txBox="1">
            <a:spLocks noChangeArrowheads="1"/>
          </p:cNvSpPr>
          <p:nvPr/>
        </p:nvSpPr>
        <p:spPr bwMode="auto">
          <a:xfrm>
            <a:off x="2393015" y="6031137"/>
            <a:ext cx="90858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0083h</a:t>
            </a:r>
            <a:endParaRPr lang="en-US" altLang="zh-CN" sz="2000" b="1" baseline="-250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66" name="Text Box 42"/>
          <p:cNvSpPr txBox="1">
            <a:spLocks noChangeArrowheads="1"/>
          </p:cNvSpPr>
          <p:nvPr/>
        </p:nvSpPr>
        <p:spPr bwMode="auto">
          <a:xfrm>
            <a:off x="3347864" y="4632538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dirty="0">
                <a:solidFill>
                  <a:srgbClr val="7030A0"/>
                </a:solidFill>
                <a:latin typeface="+mn-ea"/>
              </a:rPr>
              <a:t>b</a:t>
            </a:r>
            <a:endParaRPr lang="en-US" altLang="zh-CN" sz="2000" b="1" baseline="-25000" dirty="0">
              <a:solidFill>
                <a:srgbClr val="7030A0"/>
              </a:solidFill>
              <a:latin typeface="+mn-ea"/>
              <a:ea typeface="+mn-ea"/>
            </a:endParaRPr>
          </a:p>
        </p:txBody>
      </p:sp>
      <p:sp>
        <p:nvSpPr>
          <p:cNvPr id="267" name="Text Box 43"/>
          <p:cNvSpPr txBox="1">
            <a:spLocks noChangeArrowheads="1"/>
          </p:cNvSpPr>
          <p:nvPr/>
        </p:nvSpPr>
        <p:spPr bwMode="auto">
          <a:xfrm>
            <a:off x="3347864" y="5032588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7030A0"/>
                </a:solidFill>
                <a:latin typeface="+mn-ea"/>
                <a:ea typeface="+mn-ea"/>
              </a:rPr>
              <a:t>a</a:t>
            </a:r>
          </a:p>
        </p:txBody>
      </p:sp>
      <p:sp>
        <p:nvSpPr>
          <p:cNvPr id="268" name="Text Box 44"/>
          <p:cNvSpPr txBox="1">
            <a:spLocks noChangeArrowheads="1"/>
          </p:cNvSpPr>
          <p:nvPr/>
        </p:nvSpPr>
        <p:spPr bwMode="auto">
          <a:xfrm>
            <a:off x="3347864" y="5432638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660066"/>
                </a:solidFill>
                <a:latin typeface="+mn-ea"/>
                <a:ea typeface="+mn-ea"/>
              </a:rPr>
              <a:t>x</a:t>
            </a:r>
          </a:p>
        </p:txBody>
      </p:sp>
      <p:sp>
        <p:nvSpPr>
          <p:cNvPr id="269" name="Text Box 45"/>
          <p:cNvSpPr txBox="1">
            <a:spLocks noChangeArrowheads="1"/>
          </p:cNvSpPr>
          <p:nvPr/>
        </p:nvSpPr>
        <p:spPr bwMode="auto">
          <a:xfrm>
            <a:off x="3347864" y="5834276"/>
            <a:ext cx="1034964" cy="400110"/>
          </a:xfrm>
          <a:prstGeom prst="rect">
            <a:avLst/>
          </a:prstGeom>
          <a:solidFill>
            <a:srgbClr val="CCFFFF"/>
          </a:solidFill>
          <a:ln w="9525">
            <a:solidFill>
              <a:srgbClr val="FF00FF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zh-CN" sz="2000" b="1" dirty="0">
                <a:solidFill>
                  <a:srgbClr val="660066"/>
                </a:solidFill>
                <a:latin typeface="+mn-ea"/>
                <a:ea typeface="+mn-ea"/>
              </a:rPr>
              <a:t>y</a:t>
            </a:r>
          </a:p>
        </p:txBody>
      </p:sp>
      <p:sp>
        <p:nvSpPr>
          <p:cNvPr id="270" name="Text Box 67"/>
          <p:cNvSpPr txBox="1">
            <a:spLocks noChangeArrowheads="1"/>
          </p:cNvSpPr>
          <p:nvPr/>
        </p:nvSpPr>
        <p:spPr bwMode="auto">
          <a:xfrm>
            <a:off x="1211412" y="4669224"/>
            <a:ext cx="21364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zh-CN" altLang="en-US" sz="2000" dirty="0">
                <a:solidFill>
                  <a:srgbClr val="FF00FF"/>
                </a:solidFill>
              </a:rPr>
              <a:t>数据</a:t>
            </a:r>
            <a:r>
              <a:rPr lang="zh-CN" altLang="en-US" sz="2000" b="1" dirty="0">
                <a:solidFill>
                  <a:srgbClr val="FF00FF"/>
                </a:solidFill>
              </a:rPr>
              <a:t>存储器</a:t>
            </a:r>
            <a:r>
              <a:rPr lang="en-US" altLang="zh-CN" sz="2000" dirty="0">
                <a:solidFill>
                  <a:srgbClr val="FF6600"/>
                </a:solidFill>
              </a:rPr>
              <a:t>RAM</a:t>
            </a:r>
            <a:endParaRPr lang="zh-CN" altLang="en-US" sz="2000" b="1" dirty="0">
              <a:solidFill>
                <a:srgbClr val="FF00FF"/>
              </a:solidFill>
            </a:endParaRPr>
          </a:p>
        </p:txBody>
      </p:sp>
      <p:sp>
        <p:nvSpPr>
          <p:cNvPr id="271" name="Line 7"/>
          <p:cNvSpPr>
            <a:spLocks noChangeShapeType="1"/>
          </p:cNvSpPr>
          <p:nvPr/>
        </p:nvSpPr>
        <p:spPr bwMode="auto">
          <a:xfrm>
            <a:off x="2411477" y="6048888"/>
            <a:ext cx="936387" cy="219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2" name="矩形 271"/>
          <p:cNvSpPr/>
          <p:nvPr/>
        </p:nvSpPr>
        <p:spPr>
          <a:xfrm>
            <a:off x="2574076" y="5690049"/>
            <a:ext cx="5312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EA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73" name="Line 199"/>
          <p:cNvSpPr>
            <a:spLocks noChangeShapeType="1"/>
          </p:cNvSpPr>
          <p:nvPr/>
        </p:nvSpPr>
        <p:spPr bwMode="auto">
          <a:xfrm flipV="1">
            <a:off x="4373937" y="6034971"/>
            <a:ext cx="369253" cy="10595"/>
          </a:xfrm>
          <a:prstGeom prst="line">
            <a:avLst/>
          </a:prstGeom>
          <a:noFill/>
          <a:ln w="19050">
            <a:solidFill>
              <a:srgbClr val="00CCFF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4" name="Line 200"/>
          <p:cNvSpPr>
            <a:spLocks noChangeShapeType="1"/>
          </p:cNvSpPr>
          <p:nvPr/>
        </p:nvSpPr>
        <p:spPr bwMode="auto">
          <a:xfrm flipH="1">
            <a:off x="4762185" y="6029740"/>
            <a:ext cx="1" cy="699327"/>
          </a:xfrm>
          <a:prstGeom prst="line">
            <a:avLst/>
          </a:prstGeom>
          <a:noFill/>
          <a:ln w="19050">
            <a:solidFill>
              <a:srgbClr val="00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75" name="Line 160"/>
          <p:cNvSpPr>
            <a:spLocks noChangeShapeType="1"/>
          </p:cNvSpPr>
          <p:nvPr/>
        </p:nvSpPr>
        <p:spPr bwMode="auto">
          <a:xfrm>
            <a:off x="5863170" y="5485514"/>
            <a:ext cx="293796" cy="0"/>
          </a:xfrm>
          <a:prstGeom prst="line">
            <a:avLst/>
          </a:prstGeom>
          <a:noFill/>
          <a:ln w="1905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4909746" y="4803978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②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8024476" y="5049799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③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794415" y="6361137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④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879333" y="5886897"/>
            <a:ext cx="4427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⑤</a:t>
            </a:r>
            <a:endParaRPr lang="zh-CN" altLang="en-US" dirty="0"/>
          </a:p>
        </p:txBody>
      </p:sp>
      <p:sp>
        <p:nvSpPr>
          <p:cNvPr id="65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355335" y="6407435"/>
            <a:ext cx="514400" cy="369091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400" b="0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907476738"/>
      </p:ext>
    </p:extLst>
  </p:cSld>
  <p:clrMapOvr>
    <a:masterClrMapping/>
  </p:clrMapOvr>
</p:sld>
</file>

<file path=ppt/theme/theme1.xml><?xml version="1.0" encoding="utf-8"?>
<a:theme xmlns:a="http://schemas.openxmlformats.org/drawingml/2006/main" name="cjy2015">
  <a:themeElements>
    <a:clrScheme name="">
      <a:dk1>
        <a:srgbClr val="3333FF"/>
      </a:dk1>
      <a:lt1>
        <a:srgbClr val="FFFFFF"/>
      </a:lt1>
      <a:dk2>
        <a:srgbClr val="FF00FF"/>
      </a:dk2>
      <a:lt2>
        <a:srgbClr val="FFFFFF"/>
      </a:lt2>
      <a:accent1>
        <a:srgbClr val="FFFFFF"/>
      </a:accent1>
      <a:accent2>
        <a:srgbClr val="008000"/>
      </a:accent2>
      <a:accent3>
        <a:srgbClr val="FFFFFF"/>
      </a:accent3>
      <a:accent4>
        <a:srgbClr val="2A2ADA"/>
      </a:accent4>
      <a:accent5>
        <a:srgbClr val="FFFFFF"/>
      </a:accent5>
      <a:accent6>
        <a:srgbClr val="007300"/>
      </a:accent6>
      <a:hlink>
        <a:srgbClr val="FFFFFF"/>
      </a:hlink>
      <a:folHlink>
        <a:srgbClr val="CC00CC"/>
      </a:folHlink>
    </a:clrScheme>
    <a:fontScheme name="cjy2015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0000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000000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0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宋体" panose="02010600030101010101" pitchFamily="2" charset="-122"/>
            <a:ea typeface="宋体" panose="02010600030101010101" pitchFamily="2" charset="-122"/>
          </a:defRPr>
        </a:defPPr>
      </a:lstStyle>
    </a:lnDef>
  </a:objectDefaults>
  <a:extraClrSchemeLst>
    <a:extraClrScheme>
      <a:clrScheme name="cjy2015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jy2015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jy2015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jy2015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jy2015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jy2015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jy2015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jy2015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jy2015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jy2015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jy2015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jy2015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jy2015 13">
        <a:dk1>
          <a:srgbClr val="3333FF"/>
        </a:dk1>
        <a:lt1>
          <a:srgbClr val="FFFFFF"/>
        </a:lt1>
        <a:dk2>
          <a:srgbClr val="FF00FF"/>
        </a:dk2>
        <a:lt2>
          <a:srgbClr val="FFFFFF"/>
        </a:lt2>
        <a:accent1>
          <a:srgbClr val="FFFFFF"/>
        </a:accent1>
        <a:accent2>
          <a:srgbClr val="FFFFFF"/>
        </a:accent2>
        <a:accent3>
          <a:srgbClr val="FFFFFF"/>
        </a:accent3>
        <a:accent4>
          <a:srgbClr val="2A2ADA"/>
        </a:accent4>
        <a:accent5>
          <a:srgbClr val="FFFFFF"/>
        </a:accent5>
        <a:accent6>
          <a:srgbClr val="E7E7E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jy2015 14">
        <a:dk1>
          <a:srgbClr val="3333FF"/>
        </a:dk1>
        <a:lt1>
          <a:srgbClr val="FFFFFF"/>
        </a:lt1>
        <a:dk2>
          <a:srgbClr val="FF00FF"/>
        </a:dk2>
        <a:lt2>
          <a:srgbClr val="FFFFFF"/>
        </a:lt2>
        <a:accent1>
          <a:srgbClr val="FFFFFF"/>
        </a:accent1>
        <a:accent2>
          <a:srgbClr val="FFFFFF"/>
        </a:accent2>
        <a:accent3>
          <a:srgbClr val="FFFFFF"/>
        </a:accent3>
        <a:accent4>
          <a:srgbClr val="2A2ADA"/>
        </a:accent4>
        <a:accent5>
          <a:srgbClr val="FFFFFF"/>
        </a:accent5>
        <a:accent6>
          <a:srgbClr val="E7E7E7"/>
        </a:accent6>
        <a:hlink>
          <a:srgbClr val="FFFFFF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jy2015 15">
        <a:dk1>
          <a:srgbClr val="3333FF"/>
        </a:dk1>
        <a:lt1>
          <a:srgbClr val="FFFFFF"/>
        </a:lt1>
        <a:dk2>
          <a:srgbClr val="FF00FF"/>
        </a:dk2>
        <a:lt2>
          <a:srgbClr val="FFFFFF"/>
        </a:lt2>
        <a:accent1>
          <a:srgbClr val="FFFFFF"/>
        </a:accent1>
        <a:accent2>
          <a:srgbClr val="FFFFFF"/>
        </a:accent2>
        <a:accent3>
          <a:srgbClr val="FFFFFF"/>
        </a:accent3>
        <a:accent4>
          <a:srgbClr val="2A2ADA"/>
        </a:accent4>
        <a:accent5>
          <a:srgbClr val="FFFFFF"/>
        </a:accent5>
        <a:accent6>
          <a:srgbClr val="E7E7E7"/>
        </a:accent6>
        <a:hlink>
          <a:srgbClr val="FF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jy2015 16">
        <a:dk1>
          <a:srgbClr val="3333FF"/>
        </a:dk1>
        <a:lt1>
          <a:srgbClr val="FFFFFF"/>
        </a:lt1>
        <a:dk2>
          <a:srgbClr val="FF00FF"/>
        </a:dk2>
        <a:lt2>
          <a:srgbClr val="FFFFFF"/>
        </a:lt2>
        <a:accent1>
          <a:srgbClr val="FFFFFF"/>
        </a:accent1>
        <a:accent2>
          <a:srgbClr val="FF00FF"/>
        </a:accent2>
        <a:accent3>
          <a:srgbClr val="FFFFFF"/>
        </a:accent3>
        <a:accent4>
          <a:srgbClr val="2A2ADA"/>
        </a:accent4>
        <a:accent5>
          <a:srgbClr val="FFFFFF"/>
        </a:accent5>
        <a:accent6>
          <a:srgbClr val="E700E7"/>
        </a:accent6>
        <a:hlink>
          <a:srgbClr val="FF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12520</TotalTime>
  <Words>1455</Words>
  <Application>Microsoft Office PowerPoint</Application>
  <PresentationFormat>全屏显示(4:3)</PresentationFormat>
  <Paragraphs>280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宋体</vt:lpstr>
      <vt:lpstr>Arial</vt:lpstr>
      <vt:lpstr>Times New Roman</vt:lpstr>
      <vt:lpstr>cjy2015</vt:lpstr>
      <vt:lpstr>计算y=ax+b。执行指令：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sc-cdut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chenjy</dc:creator>
  <cp:lastModifiedBy>zyh</cp:lastModifiedBy>
  <cp:revision>355</cp:revision>
  <dcterms:created xsi:type="dcterms:W3CDTF">2005-02-26T02:40:41Z</dcterms:created>
  <dcterms:modified xsi:type="dcterms:W3CDTF">2022-09-22T02:22:33Z</dcterms:modified>
</cp:coreProperties>
</file>